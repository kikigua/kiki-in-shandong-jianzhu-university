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3" r:id="rId1"/>
    <p:sldMasterId id="2147483705" r:id="rId2"/>
  </p:sldMasterIdLst>
  <p:notesMasterIdLst>
    <p:notesMasterId r:id="rId92"/>
  </p:notesMasterIdLst>
  <p:handoutMasterIdLst>
    <p:handoutMasterId r:id="rId93"/>
  </p:handoutMasterIdLst>
  <p:sldIdLst>
    <p:sldId id="1180" r:id="rId3"/>
    <p:sldId id="1159" r:id="rId4"/>
    <p:sldId id="1181" r:id="rId5"/>
    <p:sldId id="1183" r:id="rId6"/>
    <p:sldId id="1184" r:id="rId7"/>
    <p:sldId id="1185" r:id="rId8"/>
    <p:sldId id="1186" r:id="rId9"/>
    <p:sldId id="1187" r:id="rId10"/>
    <p:sldId id="1190" r:id="rId11"/>
    <p:sldId id="1188" r:id="rId12"/>
    <p:sldId id="1191" r:id="rId13"/>
    <p:sldId id="1193" r:id="rId14"/>
    <p:sldId id="1194" r:id="rId15"/>
    <p:sldId id="1192" r:id="rId16"/>
    <p:sldId id="1198" r:id="rId17"/>
    <p:sldId id="1195" r:id="rId18"/>
    <p:sldId id="1196" r:id="rId19"/>
    <p:sldId id="1197" r:id="rId20"/>
    <p:sldId id="1201" r:id="rId21"/>
    <p:sldId id="1199" r:id="rId22"/>
    <p:sldId id="1202" r:id="rId23"/>
    <p:sldId id="1200" r:id="rId24"/>
    <p:sldId id="1203" r:id="rId25"/>
    <p:sldId id="1204" r:id="rId26"/>
    <p:sldId id="1205" r:id="rId27"/>
    <p:sldId id="1206" r:id="rId28"/>
    <p:sldId id="1167" r:id="rId29"/>
    <p:sldId id="1207" r:id="rId30"/>
    <p:sldId id="1208" r:id="rId31"/>
    <p:sldId id="1209" r:id="rId32"/>
    <p:sldId id="1210" r:id="rId33"/>
    <p:sldId id="1211" r:id="rId34"/>
    <p:sldId id="1212" r:id="rId35"/>
    <p:sldId id="1213" r:id="rId36"/>
    <p:sldId id="1214" r:id="rId37"/>
    <p:sldId id="1225" r:id="rId38"/>
    <p:sldId id="1215" r:id="rId39"/>
    <p:sldId id="1216" r:id="rId40"/>
    <p:sldId id="1217" r:id="rId41"/>
    <p:sldId id="1218" r:id="rId42"/>
    <p:sldId id="1176" r:id="rId43"/>
    <p:sldId id="1227" r:id="rId44"/>
    <p:sldId id="1219" r:id="rId45"/>
    <p:sldId id="1221" r:id="rId46"/>
    <p:sldId id="1220" r:id="rId47"/>
    <p:sldId id="1222" r:id="rId48"/>
    <p:sldId id="1223" r:id="rId49"/>
    <p:sldId id="1224" r:id="rId50"/>
    <p:sldId id="1168" r:id="rId51"/>
    <p:sldId id="1170" r:id="rId52"/>
    <p:sldId id="1171" r:id="rId53"/>
    <p:sldId id="1228" r:id="rId54"/>
    <p:sldId id="1230" r:id="rId55"/>
    <p:sldId id="1229" r:id="rId56"/>
    <p:sldId id="1231" r:id="rId57"/>
    <p:sldId id="1232" r:id="rId58"/>
    <p:sldId id="1233" r:id="rId59"/>
    <p:sldId id="1234" r:id="rId60"/>
    <p:sldId id="1236" r:id="rId61"/>
    <p:sldId id="1264" r:id="rId62"/>
    <p:sldId id="1238" r:id="rId63"/>
    <p:sldId id="1237" r:id="rId64"/>
    <p:sldId id="1240" r:id="rId65"/>
    <p:sldId id="1241" r:id="rId66"/>
    <p:sldId id="1177" r:id="rId67"/>
    <p:sldId id="1235" r:id="rId68"/>
    <p:sldId id="1243" r:id="rId69"/>
    <p:sldId id="1242" r:id="rId70"/>
    <p:sldId id="1244" r:id="rId71"/>
    <p:sldId id="1245" r:id="rId72"/>
    <p:sldId id="1246" r:id="rId73"/>
    <p:sldId id="1247" r:id="rId74"/>
    <p:sldId id="1248" r:id="rId75"/>
    <p:sldId id="1249" r:id="rId76"/>
    <p:sldId id="1251" r:id="rId77"/>
    <p:sldId id="1239" r:id="rId78"/>
    <p:sldId id="1261" r:id="rId79"/>
    <p:sldId id="1262" r:id="rId80"/>
    <p:sldId id="1260" r:id="rId81"/>
    <p:sldId id="1179" r:id="rId82"/>
    <p:sldId id="1252" r:id="rId83"/>
    <p:sldId id="1256" r:id="rId84"/>
    <p:sldId id="1253" r:id="rId85"/>
    <p:sldId id="1258" r:id="rId86"/>
    <p:sldId id="1254" r:id="rId87"/>
    <p:sldId id="1259" r:id="rId88"/>
    <p:sldId id="1263" r:id="rId89"/>
    <p:sldId id="1265" r:id="rId90"/>
    <p:sldId id="1257" r:id="rId91"/>
  </p:sldIdLst>
  <p:sldSz cx="9144000" cy="6858000" type="screen4x3"/>
  <p:notesSz cx="6646863" cy="97774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0" userDrawn="1">
          <p15:clr>
            <a:srgbClr val="A4A3A4"/>
          </p15:clr>
        </p15:guide>
        <p15:guide id="2" pos="209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  <a:srgbClr val="00FF99"/>
    <a:srgbClr val="CCFFCC"/>
    <a:srgbClr val="00FFCC"/>
    <a:srgbClr val="CCFF99"/>
    <a:srgbClr val="3333FF"/>
    <a:srgbClr val="089C08"/>
    <a:srgbClr val="0066FF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26" autoAdjust="0"/>
    <p:restoredTop sz="96234" autoAdjust="0"/>
  </p:normalViewPr>
  <p:slideViewPr>
    <p:cSldViewPr>
      <p:cViewPr varScale="1">
        <p:scale>
          <a:sx n="107" d="100"/>
          <a:sy n="107" d="100"/>
        </p:scale>
        <p:origin x="13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40" d="100"/>
          <a:sy n="40" d="100"/>
        </p:scale>
        <p:origin x="-2366" y="-72"/>
      </p:cViewPr>
      <p:guideLst>
        <p:guide orient="horz" pos="3080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76" Type="http://schemas.openxmlformats.org/officeDocument/2006/relationships/slide" Target="slides/slide74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97" Type="http://schemas.openxmlformats.org/officeDocument/2006/relationships/tableStyles" Target="tableStyle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87" Type="http://schemas.openxmlformats.org/officeDocument/2006/relationships/slide" Target="slides/slide85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90" Type="http://schemas.openxmlformats.org/officeDocument/2006/relationships/slide" Target="slides/slide88.xml"/><Relationship Id="rId95" Type="http://schemas.openxmlformats.org/officeDocument/2006/relationships/viewProps" Target="viewProp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image" Target="../media/image12.wmf"/><Relationship Id="rId7" Type="http://schemas.openxmlformats.org/officeDocument/2006/relationships/image" Target="../media/image16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6" Type="http://schemas.openxmlformats.org/officeDocument/2006/relationships/image" Target="../media/image15.wmf"/><Relationship Id="rId5" Type="http://schemas.openxmlformats.org/officeDocument/2006/relationships/image" Target="../media/image14.wmf"/><Relationship Id="rId10" Type="http://schemas.openxmlformats.org/officeDocument/2006/relationships/image" Target="../media/image19.wmf"/><Relationship Id="rId4" Type="http://schemas.openxmlformats.org/officeDocument/2006/relationships/image" Target="../media/image13.wmf"/><Relationship Id="rId9" Type="http://schemas.openxmlformats.org/officeDocument/2006/relationships/image" Target="../media/image18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emf"/><Relationship Id="rId4" Type="http://schemas.openxmlformats.org/officeDocument/2006/relationships/image" Target="../media/image24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13" Type="http://schemas.openxmlformats.org/officeDocument/2006/relationships/image" Target="../media/image37.wmf"/><Relationship Id="rId3" Type="http://schemas.openxmlformats.org/officeDocument/2006/relationships/image" Target="../media/image27.wmf"/><Relationship Id="rId7" Type="http://schemas.openxmlformats.org/officeDocument/2006/relationships/image" Target="../media/image31.wmf"/><Relationship Id="rId12" Type="http://schemas.openxmlformats.org/officeDocument/2006/relationships/image" Target="../media/image36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Relationship Id="rId6" Type="http://schemas.openxmlformats.org/officeDocument/2006/relationships/image" Target="../media/image30.wmf"/><Relationship Id="rId11" Type="http://schemas.openxmlformats.org/officeDocument/2006/relationships/image" Target="../media/image35.wmf"/><Relationship Id="rId5" Type="http://schemas.openxmlformats.org/officeDocument/2006/relationships/image" Target="../media/image29.wmf"/><Relationship Id="rId10" Type="http://schemas.openxmlformats.org/officeDocument/2006/relationships/image" Target="../media/image34.wmf"/><Relationship Id="rId4" Type="http://schemas.openxmlformats.org/officeDocument/2006/relationships/image" Target="../media/image28.wmf"/><Relationship Id="rId9" Type="http://schemas.openxmlformats.org/officeDocument/2006/relationships/image" Target="../media/image33.wmf"/><Relationship Id="rId14" Type="http://schemas.openxmlformats.org/officeDocument/2006/relationships/image" Target="../media/image38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image" Target="../media/image39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Relationship Id="rId4" Type="http://schemas.openxmlformats.org/officeDocument/2006/relationships/image" Target="../media/image45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" Type="http://schemas.openxmlformats.org/officeDocument/2006/relationships/image" Target="../media/image46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52.wmf"/><Relationship Id="rId1" Type="http://schemas.openxmlformats.org/officeDocument/2006/relationships/image" Target="../media/image51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54.wmf"/><Relationship Id="rId1" Type="http://schemas.openxmlformats.org/officeDocument/2006/relationships/image" Target="../media/image53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image" Target="../media/image55.wmf"/><Relationship Id="rId1" Type="http://schemas.openxmlformats.org/officeDocument/2006/relationships/image" Target="../media/image47.wmf"/><Relationship Id="rId5" Type="http://schemas.openxmlformats.org/officeDocument/2006/relationships/image" Target="../media/image58.wmf"/><Relationship Id="rId4" Type="http://schemas.openxmlformats.org/officeDocument/2006/relationships/image" Target="../media/image57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13" Type="http://schemas.openxmlformats.org/officeDocument/2006/relationships/image" Target="../media/image71.wmf"/><Relationship Id="rId18" Type="http://schemas.openxmlformats.org/officeDocument/2006/relationships/image" Target="../media/image76.wmf"/><Relationship Id="rId3" Type="http://schemas.openxmlformats.org/officeDocument/2006/relationships/image" Target="../media/image61.wmf"/><Relationship Id="rId21" Type="http://schemas.openxmlformats.org/officeDocument/2006/relationships/image" Target="../media/image79.wmf"/><Relationship Id="rId7" Type="http://schemas.openxmlformats.org/officeDocument/2006/relationships/image" Target="../media/image65.wmf"/><Relationship Id="rId12" Type="http://schemas.openxmlformats.org/officeDocument/2006/relationships/image" Target="../media/image70.wmf"/><Relationship Id="rId17" Type="http://schemas.openxmlformats.org/officeDocument/2006/relationships/image" Target="../media/image75.wmf"/><Relationship Id="rId2" Type="http://schemas.openxmlformats.org/officeDocument/2006/relationships/image" Target="../media/image60.wmf"/><Relationship Id="rId16" Type="http://schemas.openxmlformats.org/officeDocument/2006/relationships/image" Target="../media/image74.wmf"/><Relationship Id="rId20" Type="http://schemas.openxmlformats.org/officeDocument/2006/relationships/image" Target="../media/image78.wmf"/><Relationship Id="rId1" Type="http://schemas.openxmlformats.org/officeDocument/2006/relationships/image" Target="../media/image59.wmf"/><Relationship Id="rId6" Type="http://schemas.openxmlformats.org/officeDocument/2006/relationships/image" Target="../media/image64.wmf"/><Relationship Id="rId11" Type="http://schemas.openxmlformats.org/officeDocument/2006/relationships/image" Target="../media/image69.wmf"/><Relationship Id="rId5" Type="http://schemas.openxmlformats.org/officeDocument/2006/relationships/image" Target="../media/image63.wmf"/><Relationship Id="rId15" Type="http://schemas.openxmlformats.org/officeDocument/2006/relationships/image" Target="../media/image73.wmf"/><Relationship Id="rId10" Type="http://schemas.openxmlformats.org/officeDocument/2006/relationships/image" Target="../media/image68.wmf"/><Relationship Id="rId19" Type="http://schemas.openxmlformats.org/officeDocument/2006/relationships/image" Target="../media/image77.wmf"/><Relationship Id="rId4" Type="http://schemas.openxmlformats.org/officeDocument/2006/relationships/image" Target="../media/image62.wmf"/><Relationship Id="rId9" Type="http://schemas.openxmlformats.org/officeDocument/2006/relationships/image" Target="../media/image67.wmf"/><Relationship Id="rId14" Type="http://schemas.openxmlformats.org/officeDocument/2006/relationships/image" Target="../media/image72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13" Type="http://schemas.openxmlformats.org/officeDocument/2006/relationships/image" Target="../media/image70.wmf"/><Relationship Id="rId18" Type="http://schemas.openxmlformats.org/officeDocument/2006/relationships/image" Target="../media/image73.wmf"/><Relationship Id="rId26" Type="http://schemas.openxmlformats.org/officeDocument/2006/relationships/image" Target="../media/image85.wmf"/><Relationship Id="rId3" Type="http://schemas.openxmlformats.org/officeDocument/2006/relationships/image" Target="../media/image61.wmf"/><Relationship Id="rId21" Type="http://schemas.openxmlformats.org/officeDocument/2006/relationships/image" Target="../media/image78.wmf"/><Relationship Id="rId7" Type="http://schemas.openxmlformats.org/officeDocument/2006/relationships/image" Target="../media/image65.wmf"/><Relationship Id="rId12" Type="http://schemas.openxmlformats.org/officeDocument/2006/relationships/image" Target="../media/image69.wmf"/><Relationship Id="rId17" Type="http://schemas.openxmlformats.org/officeDocument/2006/relationships/image" Target="../media/image72.wmf"/><Relationship Id="rId25" Type="http://schemas.openxmlformats.org/officeDocument/2006/relationships/image" Target="../media/image84.wmf"/><Relationship Id="rId2" Type="http://schemas.openxmlformats.org/officeDocument/2006/relationships/image" Target="../media/image60.wmf"/><Relationship Id="rId16" Type="http://schemas.openxmlformats.org/officeDocument/2006/relationships/image" Target="../media/image75.wmf"/><Relationship Id="rId20" Type="http://schemas.openxmlformats.org/officeDocument/2006/relationships/image" Target="../media/image77.wmf"/><Relationship Id="rId1" Type="http://schemas.openxmlformats.org/officeDocument/2006/relationships/image" Target="../media/image59.wmf"/><Relationship Id="rId6" Type="http://schemas.openxmlformats.org/officeDocument/2006/relationships/image" Target="../media/image64.wmf"/><Relationship Id="rId11" Type="http://schemas.openxmlformats.org/officeDocument/2006/relationships/image" Target="../media/image74.wmf"/><Relationship Id="rId24" Type="http://schemas.openxmlformats.org/officeDocument/2006/relationships/image" Target="../media/image83.wmf"/><Relationship Id="rId5" Type="http://schemas.openxmlformats.org/officeDocument/2006/relationships/image" Target="../media/image63.wmf"/><Relationship Id="rId15" Type="http://schemas.openxmlformats.org/officeDocument/2006/relationships/image" Target="../media/image80.wmf"/><Relationship Id="rId23" Type="http://schemas.openxmlformats.org/officeDocument/2006/relationships/image" Target="../media/image82.wmf"/><Relationship Id="rId28" Type="http://schemas.openxmlformats.org/officeDocument/2006/relationships/image" Target="../media/image87.wmf"/><Relationship Id="rId10" Type="http://schemas.openxmlformats.org/officeDocument/2006/relationships/image" Target="../media/image68.wmf"/><Relationship Id="rId19" Type="http://schemas.openxmlformats.org/officeDocument/2006/relationships/image" Target="../media/image76.wmf"/><Relationship Id="rId4" Type="http://schemas.openxmlformats.org/officeDocument/2006/relationships/image" Target="../media/image62.wmf"/><Relationship Id="rId9" Type="http://schemas.openxmlformats.org/officeDocument/2006/relationships/image" Target="../media/image67.wmf"/><Relationship Id="rId14" Type="http://schemas.openxmlformats.org/officeDocument/2006/relationships/image" Target="../media/image71.wmf"/><Relationship Id="rId22" Type="http://schemas.openxmlformats.org/officeDocument/2006/relationships/image" Target="../media/image81.wmf"/><Relationship Id="rId27" Type="http://schemas.openxmlformats.org/officeDocument/2006/relationships/image" Target="../media/image86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13" Type="http://schemas.openxmlformats.org/officeDocument/2006/relationships/image" Target="../media/image70.wmf"/><Relationship Id="rId18" Type="http://schemas.openxmlformats.org/officeDocument/2006/relationships/image" Target="../media/image73.wmf"/><Relationship Id="rId26" Type="http://schemas.openxmlformats.org/officeDocument/2006/relationships/image" Target="../media/image85.wmf"/><Relationship Id="rId3" Type="http://schemas.openxmlformats.org/officeDocument/2006/relationships/image" Target="../media/image61.wmf"/><Relationship Id="rId21" Type="http://schemas.openxmlformats.org/officeDocument/2006/relationships/image" Target="../media/image78.wmf"/><Relationship Id="rId7" Type="http://schemas.openxmlformats.org/officeDocument/2006/relationships/image" Target="../media/image65.wmf"/><Relationship Id="rId12" Type="http://schemas.openxmlformats.org/officeDocument/2006/relationships/image" Target="../media/image69.wmf"/><Relationship Id="rId17" Type="http://schemas.openxmlformats.org/officeDocument/2006/relationships/image" Target="../media/image72.wmf"/><Relationship Id="rId25" Type="http://schemas.openxmlformats.org/officeDocument/2006/relationships/image" Target="../media/image84.wmf"/><Relationship Id="rId2" Type="http://schemas.openxmlformats.org/officeDocument/2006/relationships/image" Target="../media/image60.wmf"/><Relationship Id="rId16" Type="http://schemas.openxmlformats.org/officeDocument/2006/relationships/image" Target="../media/image75.wmf"/><Relationship Id="rId20" Type="http://schemas.openxmlformats.org/officeDocument/2006/relationships/image" Target="../media/image77.wmf"/><Relationship Id="rId29" Type="http://schemas.openxmlformats.org/officeDocument/2006/relationships/image" Target="../media/image88.wmf"/><Relationship Id="rId1" Type="http://schemas.openxmlformats.org/officeDocument/2006/relationships/image" Target="../media/image59.wmf"/><Relationship Id="rId6" Type="http://schemas.openxmlformats.org/officeDocument/2006/relationships/image" Target="../media/image64.wmf"/><Relationship Id="rId11" Type="http://schemas.openxmlformats.org/officeDocument/2006/relationships/image" Target="../media/image74.wmf"/><Relationship Id="rId24" Type="http://schemas.openxmlformats.org/officeDocument/2006/relationships/image" Target="../media/image83.wmf"/><Relationship Id="rId5" Type="http://schemas.openxmlformats.org/officeDocument/2006/relationships/image" Target="../media/image63.wmf"/><Relationship Id="rId15" Type="http://schemas.openxmlformats.org/officeDocument/2006/relationships/image" Target="../media/image80.wmf"/><Relationship Id="rId23" Type="http://schemas.openxmlformats.org/officeDocument/2006/relationships/image" Target="../media/image82.wmf"/><Relationship Id="rId28" Type="http://schemas.openxmlformats.org/officeDocument/2006/relationships/image" Target="../media/image87.wmf"/><Relationship Id="rId10" Type="http://schemas.openxmlformats.org/officeDocument/2006/relationships/image" Target="../media/image68.wmf"/><Relationship Id="rId19" Type="http://schemas.openxmlformats.org/officeDocument/2006/relationships/image" Target="../media/image76.wmf"/><Relationship Id="rId31" Type="http://schemas.openxmlformats.org/officeDocument/2006/relationships/image" Target="../media/image90.wmf"/><Relationship Id="rId4" Type="http://schemas.openxmlformats.org/officeDocument/2006/relationships/image" Target="../media/image62.wmf"/><Relationship Id="rId9" Type="http://schemas.openxmlformats.org/officeDocument/2006/relationships/image" Target="../media/image67.wmf"/><Relationship Id="rId14" Type="http://schemas.openxmlformats.org/officeDocument/2006/relationships/image" Target="../media/image71.wmf"/><Relationship Id="rId22" Type="http://schemas.openxmlformats.org/officeDocument/2006/relationships/image" Target="../media/image81.wmf"/><Relationship Id="rId27" Type="http://schemas.openxmlformats.org/officeDocument/2006/relationships/image" Target="../media/image86.wmf"/><Relationship Id="rId30" Type="http://schemas.openxmlformats.org/officeDocument/2006/relationships/image" Target="../media/image89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13" Type="http://schemas.openxmlformats.org/officeDocument/2006/relationships/image" Target="../media/image70.wmf"/><Relationship Id="rId18" Type="http://schemas.openxmlformats.org/officeDocument/2006/relationships/image" Target="../media/image72.wmf"/><Relationship Id="rId26" Type="http://schemas.openxmlformats.org/officeDocument/2006/relationships/image" Target="../media/image84.wmf"/><Relationship Id="rId3" Type="http://schemas.openxmlformats.org/officeDocument/2006/relationships/image" Target="../media/image61.wmf"/><Relationship Id="rId21" Type="http://schemas.openxmlformats.org/officeDocument/2006/relationships/image" Target="../media/image77.wmf"/><Relationship Id="rId7" Type="http://schemas.openxmlformats.org/officeDocument/2006/relationships/image" Target="../media/image65.wmf"/><Relationship Id="rId12" Type="http://schemas.openxmlformats.org/officeDocument/2006/relationships/image" Target="../media/image69.wmf"/><Relationship Id="rId17" Type="http://schemas.openxmlformats.org/officeDocument/2006/relationships/image" Target="../media/image91.wmf"/><Relationship Id="rId25" Type="http://schemas.openxmlformats.org/officeDocument/2006/relationships/image" Target="../media/image83.wmf"/><Relationship Id="rId2" Type="http://schemas.openxmlformats.org/officeDocument/2006/relationships/image" Target="../media/image60.wmf"/><Relationship Id="rId16" Type="http://schemas.openxmlformats.org/officeDocument/2006/relationships/image" Target="../media/image75.wmf"/><Relationship Id="rId20" Type="http://schemas.openxmlformats.org/officeDocument/2006/relationships/image" Target="../media/image76.wmf"/><Relationship Id="rId29" Type="http://schemas.openxmlformats.org/officeDocument/2006/relationships/image" Target="../media/image87.wmf"/><Relationship Id="rId1" Type="http://schemas.openxmlformats.org/officeDocument/2006/relationships/image" Target="../media/image59.wmf"/><Relationship Id="rId6" Type="http://schemas.openxmlformats.org/officeDocument/2006/relationships/image" Target="../media/image64.wmf"/><Relationship Id="rId11" Type="http://schemas.openxmlformats.org/officeDocument/2006/relationships/image" Target="../media/image74.wmf"/><Relationship Id="rId24" Type="http://schemas.openxmlformats.org/officeDocument/2006/relationships/image" Target="../media/image82.wmf"/><Relationship Id="rId5" Type="http://schemas.openxmlformats.org/officeDocument/2006/relationships/image" Target="../media/image63.wmf"/><Relationship Id="rId15" Type="http://schemas.openxmlformats.org/officeDocument/2006/relationships/image" Target="../media/image80.wmf"/><Relationship Id="rId23" Type="http://schemas.openxmlformats.org/officeDocument/2006/relationships/image" Target="../media/image92.wmf"/><Relationship Id="rId28" Type="http://schemas.openxmlformats.org/officeDocument/2006/relationships/image" Target="../media/image86.wmf"/><Relationship Id="rId10" Type="http://schemas.openxmlformats.org/officeDocument/2006/relationships/image" Target="../media/image68.wmf"/><Relationship Id="rId19" Type="http://schemas.openxmlformats.org/officeDocument/2006/relationships/image" Target="../media/image73.wmf"/><Relationship Id="rId31" Type="http://schemas.openxmlformats.org/officeDocument/2006/relationships/image" Target="../media/image94.wmf"/><Relationship Id="rId4" Type="http://schemas.openxmlformats.org/officeDocument/2006/relationships/image" Target="../media/image62.wmf"/><Relationship Id="rId9" Type="http://schemas.openxmlformats.org/officeDocument/2006/relationships/image" Target="../media/image67.wmf"/><Relationship Id="rId14" Type="http://schemas.openxmlformats.org/officeDocument/2006/relationships/image" Target="../media/image71.wmf"/><Relationship Id="rId22" Type="http://schemas.openxmlformats.org/officeDocument/2006/relationships/image" Target="../media/image81.wmf"/><Relationship Id="rId27" Type="http://schemas.openxmlformats.org/officeDocument/2006/relationships/image" Target="../media/image85.wmf"/><Relationship Id="rId30" Type="http://schemas.openxmlformats.org/officeDocument/2006/relationships/image" Target="../media/image93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7.wmf"/><Relationship Id="rId2" Type="http://schemas.openxmlformats.org/officeDocument/2006/relationships/image" Target="../media/image96.wmf"/><Relationship Id="rId1" Type="http://schemas.openxmlformats.org/officeDocument/2006/relationships/image" Target="../media/image95.wmf"/><Relationship Id="rId4" Type="http://schemas.openxmlformats.org/officeDocument/2006/relationships/image" Target="../media/image98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wmf"/><Relationship Id="rId1" Type="http://schemas.openxmlformats.org/officeDocument/2006/relationships/image" Target="../media/image99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wmf"/><Relationship Id="rId1" Type="http://schemas.openxmlformats.org/officeDocument/2006/relationships/image" Target="../media/image99.w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wmf"/><Relationship Id="rId1" Type="http://schemas.openxmlformats.org/officeDocument/2006/relationships/image" Target="../media/image99.w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wmf"/><Relationship Id="rId1" Type="http://schemas.openxmlformats.org/officeDocument/2006/relationships/image" Target="../media/image99.wmf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wmf"/><Relationship Id="rId1" Type="http://schemas.openxmlformats.org/officeDocument/2006/relationships/image" Target="../media/image99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wmf"/><Relationship Id="rId2" Type="http://schemas.openxmlformats.org/officeDocument/2006/relationships/image" Target="../media/image100.wmf"/><Relationship Id="rId1" Type="http://schemas.openxmlformats.org/officeDocument/2006/relationships/image" Target="../media/image99.wmf"/><Relationship Id="rId6" Type="http://schemas.openxmlformats.org/officeDocument/2006/relationships/image" Target="../media/image104.wmf"/><Relationship Id="rId5" Type="http://schemas.openxmlformats.org/officeDocument/2006/relationships/image" Target="../media/image103.wmf"/><Relationship Id="rId4" Type="http://schemas.openxmlformats.org/officeDocument/2006/relationships/image" Target="../media/image102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wmf"/><Relationship Id="rId2" Type="http://schemas.openxmlformats.org/officeDocument/2006/relationships/image" Target="../media/image100.wmf"/><Relationship Id="rId1" Type="http://schemas.openxmlformats.org/officeDocument/2006/relationships/image" Target="../media/image99.wmf"/></Relationships>
</file>

<file path=ppt/drawings/_rels/vmlDrawing3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wmf"/><Relationship Id="rId3" Type="http://schemas.openxmlformats.org/officeDocument/2006/relationships/image" Target="../media/image108.wmf"/><Relationship Id="rId7" Type="http://schemas.openxmlformats.org/officeDocument/2006/relationships/image" Target="../media/image112.wmf"/><Relationship Id="rId2" Type="http://schemas.openxmlformats.org/officeDocument/2006/relationships/image" Target="../media/image107.wmf"/><Relationship Id="rId1" Type="http://schemas.openxmlformats.org/officeDocument/2006/relationships/image" Target="../media/image106.wmf"/><Relationship Id="rId6" Type="http://schemas.openxmlformats.org/officeDocument/2006/relationships/image" Target="../media/image111.wmf"/><Relationship Id="rId5" Type="http://schemas.openxmlformats.org/officeDocument/2006/relationships/image" Target="../media/image110.wmf"/><Relationship Id="rId10" Type="http://schemas.openxmlformats.org/officeDocument/2006/relationships/image" Target="../media/image115.wmf"/><Relationship Id="rId4" Type="http://schemas.openxmlformats.org/officeDocument/2006/relationships/image" Target="../media/image109.wmf"/><Relationship Id="rId9" Type="http://schemas.openxmlformats.org/officeDocument/2006/relationships/image" Target="../media/image114.w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wmf"/><Relationship Id="rId3" Type="http://schemas.openxmlformats.org/officeDocument/2006/relationships/image" Target="../media/image109.wmf"/><Relationship Id="rId7" Type="http://schemas.openxmlformats.org/officeDocument/2006/relationships/image" Target="../media/image113.wmf"/><Relationship Id="rId2" Type="http://schemas.openxmlformats.org/officeDocument/2006/relationships/image" Target="../media/image108.wmf"/><Relationship Id="rId1" Type="http://schemas.openxmlformats.org/officeDocument/2006/relationships/image" Target="../media/image116.wmf"/><Relationship Id="rId6" Type="http://schemas.openxmlformats.org/officeDocument/2006/relationships/image" Target="../media/image112.wmf"/><Relationship Id="rId5" Type="http://schemas.openxmlformats.org/officeDocument/2006/relationships/image" Target="../media/image111.wmf"/><Relationship Id="rId4" Type="http://schemas.openxmlformats.org/officeDocument/2006/relationships/image" Target="../media/image110.w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wmf"/><Relationship Id="rId3" Type="http://schemas.openxmlformats.org/officeDocument/2006/relationships/image" Target="../media/image109.wmf"/><Relationship Id="rId7" Type="http://schemas.openxmlformats.org/officeDocument/2006/relationships/image" Target="../media/image120.wmf"/><Relationship Id="rId2" Type="http://schemas.openxmlformats.org/officeDocument/2006/relationships/image" Target="../media/image108.wmf"/><Relationship Id="rId1" Type="http://schemas.openxmlformats.org/officeDocument/2006/relationships/image" Target="../media/image117.wmf"/><Relationship Id="rId6" Type="http://schemas.openxmlformats.org/officeDocument/2006/relationships/image" Target="../media/image119.wmf"/><Relationship Id="rId5" Type="http://schemas.openxmlformats.org/officeDocument/2006/relationships/image" Target="../media/image118.wmf"/><Relationship Id="rId4" Type="http://schemas.openxmlformats.org/officeDocument/2006/relationships/image" Target="../media/image110.wmf"/></Relationships>
</file>

<file path=ppt/drawings/_rels/vmlDrawing3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wmf"/><Relationship Id="rId1" Type="http://schemas.openxmlformats.org/officeDocument/2006/relationships/image" Target="../media/image122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97.wmf"/><Relationship Id="rId2" Type="http://schemas.openxmlformats.org/officeDocument/2006/relationships/image" Target="../media/image96.wmf"/><Relationship Id="rId1" Type="http://schemas.openxmlformats.org/officeDocument/2006/relationships/image" Target="../media/image124.wmf"/><Relationship Id="rId4" Type="http://schemas.openxmlformats.org/officeDocument/2006/relationships/image" Target="../media/image98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wmf"/><Relationship Id="rId2" Type="http://schemas.openxmlformats.org/officeDocument/2006/relationships/image" Target="../media/image126.wmf"/><Relationship Id="rId1" Type="http://schemas.openxmlformats.org/officeDocument/2006/relationships/image" Target="../media/image125.wmf"/><Relationship Id="rId5" Type="http://schemas.openxmlformats.org/officeDocument/2006/relationships/image" Target="../media/image129.wmf"/><Relationship Id="rId4" Type="http://schemas.openxmlformats.org/officeDocument/2006/relationships/image" Target="../media/image128.wmf"/></Relationships>
</file>

<file path=ppt/drawings/_rels/vmlDrawing3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wmf"/><Relationship Id="rId3" Type="http://schemas.openxmlformats.org/officeDocument/2006/relationships/image" Target="../media/image132.emf"/><Relationship Id="rId7" Type="http://schemas.openxmlformats.org/officeDocument/2006/relationships/image" Target="../media/image136.wmf"/><Relationship Id="rId2" Type="http://schemas.openxmlformats.org/officeDocument/2006/relationships/image" Target="../media/image131.emf"/><Relationship Id="rId1" Type="http://schemas.openxmlformats.org/officeDocument/2006/relationships/image" Target="../media/image130.emf"/><Relationship Id="rId6" Type="http://schemas.openxmlformats.org/officeDocument/2006/relationships/image" Target="../media/image135.emf"/><Relationship Id="rId5" Type="http://schemas.openxmlformats.org/officeDocument/2006/relationships/image" Target="../media/image134.emf"/><Relationship Id="rId4" Type="http://schemas.openxmlformats.org/officeDocument/2006/relationships/image" Target="../media/image133.e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wmf"/><Relationship Id="rId2" Type="http://schemas.openxmlformats.org/officeDocument/2006/relationships/image" Target="../media/image126.wmf"/><Relationship Id="rId1" Type="http://schemas.openxmlformats.org/officeDocument/2006/relationships/image" Target="../media/image125.wmf"/><Relationship Id="rId4" Type="http://schemas.openxmlformats.org/officeDocument/2006/relationships/image" Target="../media/image128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wmf"/><Relationship Id="rId2" Type="http://schemas.openxmlformats.org/officeDocument/2006/relationships/image" Target="../media/image140.wmf"/><Relationship Id="rId1" Type="http://schemas.openxmlformats.org/officeDocument/2006/relationships/image" Target="../media/image139.wmf"/><Relationship Id="rId4" Type="http://schemas.openxmlformats.org/officeDocument/2006/relationships/image" Target="../media/image142.w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emf"/><Relationship Id="rId2" Type="http://schemas.openxmlformats.org/officeDocument/2006/relationships/image" Target="../media/image144.emf"/><Relationship Id="rId1" Type="http://schemas.openxmlformats.org/officeDocument/2006/relationships/image" Target="../media/image143.emf"/><Relationship Id="rId5" Type="http://schemas.openxmlformats.org/officeDocument/2006/relationships/image" Target="../media/image147.wmf"/><Relationship Id="rId4" Type="http://schemas.openxmlformats.org/officeDocument/2006/relationships/image" Target="../media/image146.w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wmf"/><Relationship Id="rId2" Type="http://schemas.openxmlformats.org/officeDocument/2006/relationships/image" Target="../media/image149.emf"/><Relationship Id="rId1" Type="http://schemas.openxmlformats.org/officeDocument/2006/relationships/image" Target="../media/image148.emf"/><Relationship Id="rId6" Type="http://schemas.openxmlformats.org/officeDocument/2006/relationships/image" Target="../media/image153.wmf"/><Relationship Id="rId5" Type="http://schemas.openxmlformats.org/officeDocument/2006/relationships/image" Target="../media/image152.wmf"/><Relationship Id="rId4" Type="http://schemas.openxmlformats.org/officeDocument/2006/relationships/image" Target="../media/image151.wmf"/></Relationships>
</file>

<file path=ppt/drawings/_rels/vmlDrawing4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wmf"/><Relationship Id="rId3" Type="http://schemas.openxmlformats.org/officeDocument/2006/relationships/image" Target="../media/image156.wmf"/><Relationship Id="rId7" Type="http://schemas.openxmlformats.org/officeDocument/2006/relationships/image" Target="../media/image160.wmf"/><Relationship Id="rId2" Type="http://schemas.openxmlformats.org/officeDocument/2006/relationships/image" Target="../media/image155.emf"/><Relationship Id="rId1" Type="http://schemas.openxmlformats.org/officeDocument/2006/relationships/image" Target="../media/image154.wmf"/><Relationship Id="rId6" Type="http://schemas.openxmlformats.org/officeDocument/2006/relationships/image" Target="../media/image159.wmf"/><Relationship Id="rId5" Type="http://schemas.openxmlformats.org/officeDocument/2006/relationships/image" Target="../media/image158.wmf"/><Relationship Id="rId4" Type="http://schemas.openxmlformats.org/officeDocument/2006/relationships/image" Target="../media/image157.wmf"/><Relationship Id="rId9" Type="http://schemas.openxmlformats.org/officeDocument/2006/relationships/image" Target="../media/image162.wmf"/></Relationships>
</file>

<file path=ppt/drawings/_rels/vmlDrawing4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emf"/><Relationship Id="rId1" Type="http://schemas.openxmlformats.org/officeDocument/2006/relationships/image" Target="../media/image166.emf"/></Relationships>
</file>

<file path=ppt/drawings/_rels/vmlDrawing4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emf"/><Relationship Id="rId1" Type="http://schemas.openxmlformats.org/officeDocument/2006/relationships/image" Target="../media/image166.emf"/></Relationships>
</file>

<file path=ppt/drawings/_rels/vmlDrawing4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emf"/><Relationship Id="rId1" Type="http://schemas.openxmlformats.org/officeDocument/2006/relationships/image" Target="../media/image16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880307" cy="488871"/>
          </a:xfrm>
          <a:prstGeom prst="rect">
            <a:avLst/>
          </a:prstGeom>
        </p:spPr>
        <p:txBody>
          <a:bodyPr vert="horz" lIns="93845" tIns="46923" rIns="93845" bIns="46923" rtlCol="0"/>
          <a:lstStyle>
            <a:lvl1pPr algn="l">
              <a:defRPr sz="1200"/>
            </a:lvl1pPr>
          </a:lstStyle>
          <a:p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765020" y="0"/>
            <a:ext cx="2880307" cy="488871"/>
          </a:xfrm>
          <a:prstGeom prst="rect">
            <a:avLst/>
          </a:prstGeom>
        </p:spPr>
        <p:txBody>
          <a:bodyPr vert="horz" lIns="93845" tIns="46923" rIns="93845" bIns="46923" rtlCol="0"/>
          <a:lstStyle>
            <a:lvl1pPr algn="r">
              <a:defRPr sz="1200"/>
            </a:lvl1pPr>
          </a:lstStyle>
          <a:p>
            <a:fld id="{A5E30EAD-C028-4BD9-B53E-FB61903634D6}" type="datetimeFigureOut">
              <a:rPr lang="zh-CN" altLang="en-US" smtClean="0">
                <a:ea typeface="楷体" panose="02010609060101010101" pitchFamily="49" charset="-122"/>
              </a:rPr>
              <a:pPr/>
              <a:t>2019/12/3</a:t>
            </a:fld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2" y="9286847"/>
            <a:ext cx="2880307" cy="488871"/>
          </a:xfrm>
          <a:prstGeom prst="rect">
            <a:avLst/>
          </a:prstGeom>
        </p:spPr>
        <p:txBody>
          <a:bodyPr vert="horz" lIns="93845" tIns="46923" rIns="93845" bIns="46923" rtlCol="0" anchor="b"/>
          <a:lstStyle>
            <a:lvl1pPr algn="l">
              <a:defRPr sz="1200"/>
            </a:lvl1pPr>
          </a:lstStyle>
          <a:p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765020" y="9286847"/>
            <a:ext cx="2880307" cy="488871"/>
          </a:xfrm>
          <a:prstGeom prst="rect">
            <a:avLst/>
          </a:prstGeom>
        </p:spPr>
        <p:txBody>
          <a:bodyPr vert="horz" lIns="93845" tIns="46923" rIns="93845" bIns="46923" rtlCol="0" anchor="b"/>
          <a:lstStyle>
            <a:lvl1pPr algn="r">
              <a:defRPr sz="1200"/>
            </a:lvl1pPr>
          </a:lstStyle>
          <a:p>
            <a:fld id="{C64699E8-EF08-47AE-BE3F-E30BE8293189}" type="slidenum">
              <a:rPr lang="zh-CN" altLang="en-US" smtClean="0">
                <a:ea typeface="楷体" panose="02010609060101010101" pitchFamily="49" charset="-122"/>
              </a:rPr>
              <a:pPr/>
              <a:t>‹#›</a:t>
            </a:fld>
            <a:endParaRPr lang="zh-CN" altLang="en-US" dirty="0"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951930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880307" cy="488871"/>
          </a:xfrm>
          <a:prstGeom prst="rect">
            <a:avLst/>
          </a:prstGeom>
        </p:spPr>
        <p:txBody>
          <a:bodyPr vert="horz" lIns="93845" tIns="46923" rIns="93845" bIns="46923" rtlCol="0"/>
          <a:lstStyle>
            <a:lvl1pPr algn="l">
              <a:defRPr sz="1200">
                <a:ea typeface="楷体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765020" y="0"/>
            <a:ext cx="2880307" cy="488871"/>
          </a:xfrm>
          <a:prstGeom prst="rect">
            <a:avLst/>
          </a:prstGeom>
        </p:spPr>
        <p:txBody>
          <a:bodyPr vert="horz" lIns="93845" tIns="46923" rIns="93845" bIns="46923" rtlCol="0"/>
          <a:lstStyle>
            <a:lvl1pPr algn="r">
              <a:defRPr sz="1200">
                <a:ea typeface="楷体" panose="02010609060101010101" pitchFamily="49" charset="-122"/>
              </a:defRPr>
            </a:lvl1pPr>
          </a:lstStyle>
          <a:p>
            <a:fld id="{C0A42845-5B2E-4FB1-9BFA-DDCA7D2C383D}" type="datetimeFigureOut">
              <a:rPr lang="zh-CN" altLang="en-US" smtClean="0"/>
              <a:pPr/>
              <a:t>2019/12/3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881063" y="733425"/>
            <a:ext cx="4884737" cy="36655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845" tIns="46923" rIns="93845" bIns="46923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64687" y="4644272"/>
            <a:ext cx="5317490" cy="4399836"/>
          </a:xfrm>
          <a:prstGeom prst="rect">
            <a:avLst/>
          </a:prstGeom>
        </p:spPr>
        <p:txBody>
          <a:bodyPr vert="horz" lIns="93845" tIns="46923" rIns="93845" bIns="46923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2" y="9286847"/>
            <a:ext cx="2880307" cy="488871"/>
          </a:xfrm>
          <a:prstGeom prst="rect">
            <a:avLst/>
          </a:prstGeom>
        </p:spPr>
        <p:txBody>
          <a:bodyPr vert="horz" lIns="93845" tIns="46923" rIns="93845" bIns="46923" rtlCol="0" anchor="b"/>
          <a:lstStyle>
            <a:lvl1pPr algn="l">
              <a:defRPr sz="1200">
                <a:ea typeface="楷体" panose="02010609060101010101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765020" y="9286847"/>
            <a:ext cx="2880307" cy="488871"/>
          </a:xfrm>
          <a:prstGeom prst="rect">
            <a:avLst/>
          </a:prstGeom>
        </p:spPr>
        <p:txBody>
          <a:bodyPr vert="horz" lIns="93845" tIns="46923" rIns="93845" bIns="46923" rtlCol="0" anchor="b"/>
          <a:lstStyle>
            <a:lvl1pPr algn="r">
              <a:defRPr sz="1200">
                <a:ea typeface="楷体" panose="02010609060101010101" pitchFamily="49" charset="-122"/>
              </a:defRPr>
            </a:lvl1pPr>
          </a:lstStyle>
          <a:p>
            <a:fld id="{BFA2436C-F356-4793-A371-AF2BBC888C6D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67166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楷体" panose="02010609060101010101" pitchFamily="49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楷体" panose="02010609060101010101" pitchFamily="49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楷体" panose="02010609060101010101" pitchFamily="49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楷体" panose="02010609060101010101" pitchFamily="49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楷体" panose="02010609060101010101" pitchFamily="49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560F828-2FEB-4CC7-A44A-9B037391A445}" type="datetime1">
              <a:rPr lang="zh-CN" altLang="en-US" smtClean="0"/>
              <a:pPr/>
              <a:t>2019/12/3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8C6B97-FE2F-4688-94FD-0E346F26A191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>
              <a:defRPr sz="2800" baseline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3pPr>
            <a:lvl4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4pPr>
            <a:lvl5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2909F9-930B-4325-86DA-287B9AA3C658}" type="datetime1">
              <a:rPr lang="zh-CN" altLang="en-US" smtClean="0"/>
              <a:pPr/>
              <a:t>2019/12/3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6BF34B7-7EF9-46A0-98E1-2C3445F31A91}" type="datetime1">
              <a:rPr lang="zh-CN" altLang="en-US" smtClean="0"/>
              <a:pPr/>
              <a:t>2019/12/3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58800" y="1270000"/>
            <a:ext cx="3971925" cy="5000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>
                <a:ea typeface="楷体" panose="02010609060101010101" pitchFamily="49" charset="-122"/>
              </a:defRPr>
            </a:lvl3pPr>
            <a:lvl4pPr>
              <a:defRPr sz="1800">
                <a:ea typeface="楷体" panose="02010609060101010101" pitchFamily="49" charset="-122"/>
              </a:defRPr>
            </a:lvl4pPr>
            <a:lvl5pPr>
              <a:defRPr sz="1800">
                <a:ea typeface="楷体" panose="02010609060101010101" pitchFamily="49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3125" y="1270000"/>
            <a:ext cx="3973513" cy="50006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>
                <a:ea typeface="楷体" panose="02010609060101010101" pitchFamily="49" charset="-122"/>
              </a:defRPr>
            </a:lvl3pPr>
            <a:lvl4pPr>
              <a:defRPr sz="1800">
                <a:ea typeface="楷体" panose="02010609060101010101" pitchFamily="49" charset="-122"/>
              </a:defRPr>
            </a:lvl4pPr>
            <a:lvl5pPr>
              <a:defRPr sz="1800">
                <a:ea typeface="楷体" panose="02010609060101010101" pitchFamily="49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90BA619-5AA4-4EC1-A2A2-0CD9580ADDFA}" type="datetime1">
              <a:rPr lang="zh-CN" altLang="en-US" smtClean="0"/>
              <a:pPr/>
              <a:t>2019/12/3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>
                <a:ea typeface="楷体" panose="02010609060101010101" pitchFamily="49" charset="-122"/>
              </a:defRPr>
            </a:lvl3pPr>
            <a:lvl4pPr>
              <a:defRPr sz="1600">
                <a:ea typeface="楷体" panose="02010609060101010101" pitchFamily="49" charset="-122"/>
              </a:defRPr>
            </a:lvl4pPr>
            <a:lvl5pPr>
              <a:defRPr sz="1600">
                <a:ea typeface="楷体" panose="02010609060101010101" pitchFamily="49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>
                <a:ea typeface="楷体" panose="02010609060101010101" pitchFamily="49" charset="-122"/>
              </a:defRPr>
            </a:lvl3pPr>
            <a:lvl4pPr>
              <a:defRPr sz="1600">
                <a:ea typeface="楷体" panose="02010609060101010101" pitchFamily="49" charset="-122"/>
              </a:defRPr>
            </a:lvl4pPr>
            <a:lvl5pPr>
              <a:defRPr sz="1600">
                <a:ea typeface="楷体" panose="02010609060101010101" pitchFamily="49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6F1A1E5-772D-455F-9B96-8046842CF44D}" type="datetime1">
              <a:rPr lang="zh-CN" altLang="en-US" smtClean="0"/>
              <a:pPr/>
              <a:t>2019/12/3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1A97E10-8B2D-4814-A58A-7D7E5D63DF21}" type="datetime1">
              <a:rPr lang="zh-CN" altLang="en-US" smtClean="0"/>
              <a:pPr/>
              <a:t>2019/12/3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CA886B6-DA95-437F-8A1C-EFAEA35FE116}" type="datetime1">
              <a:rPr lang="zh-CN" altLang="en-US" smtClean="0"/>
              <a:pPr/>
              <a:t>2019/12/3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>
              <a:defRPr sz="2800"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>
              <a:defRPr sz="2400">
                <a:latin typeface="楷体" panose="02010609060101010101" pitchFamily="49" charset="-122"/>
                <a:ea typeface="楷体" panose="02010609060101010101" pitchFamily="49" charset="-122"/>
              </a:defRPr>
            </a:lvl3pPr>
            <a:lvl4pPr>
              <a:defRPr sz="2000">
                <a:latin typeface="楷体" panose="02010609060101010101" pitchFamily="49" charset="-122"/>
                <a:ea typeface="楷体" panose="02010609060101010101" pitchFamily="49" charset="-122"/>
              </a:defRPr>
            </a:lvl4pPr>
            <a:lvl5pPr>
              <a:defRPr sz="2000">
                <a:latin typeface="楷体" panose="02010609060101010101" pitchFamily="49" charset="-122"/>
                <a:ea typeface="楷体" panose="02010609060101010101" pitchFamily="49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9624419-BACC-42D5-BD8C-4A0FCC51336E}" type="datetime1">
              <a:rPr lang="zh-CN" altLang="en-US" smtClean="0"/>
              <a:pPr/>
              <a:t>2019/12/3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dirty="0" smtClean="0"/>
              <a:t>单击图标添加图片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2ECA437-1935-4E72-9CFA-F6FA1C18BDCD}" type="datetime1">
              <a:rPr lang="zh-CN" altLang="en-US" smtClean="0"/>
              <a:pPr/>
              <a:t>2019/12/3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3pPr>
              <a:defRPr>
                <a:ea typeface="楷体" panose="02010609060101010101" pitchFamily="49" charset="-122"/>
              </a:defRPr>
            </a:lvl3pPr>
            <a:lvl4pPr>
              <a:defRPr>
                <a:ea typeface="楷体" panose="02010609060101010101" pitchFamily="49" charset="-122"/>
              </a:defRPr>
            </a:lvl4pPr>
            <a:lvl5pPr>
              <a:defRPr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184E0D-DDF2-4230-A8EF-F7FF9766D486}" type="datetime1">
              <a:rPr lang="zh-CN" altLang="en-US" smtClean="0"/>
              <a:pPr/>
              <a:t>2019/12/3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32575" y="265113"/>
            <a:ext cx="2024063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58800" y="265113"/>
            <a:ext cx="5921375" cy="6005512"/>
          </a:xfrm>
        </p:spPr>
        <p:txBody>
          <a:bodyPr vert="eaVert"/>
          <a:lstStyle>
            <a:lvl3pPr>
              <a:defRPr>
                <a:ea typeface="楷体" panose="02010609060101010101" pitchFamily="49" charset="-122"/>
              </a:defRPr>
            </a:lvl3pPr>
            <a:lvl4pPr>
              <a:defRPr>
                <a:ea typeface="楷体" panose="02010609060101010101" pitchFamily="49" charset="-122"/>
              </a:defRPr>
            </a:lvl4pPr>
            <a:lvl5pPr>
              <a:defRPr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EFE4BA6-3D78-43DC-BA35-979B6CE3C4F5}" type="datetime1">
              <a:rPr lang="zh-CN" altLang="en-US" smtClean="0"/>
              <a:pPr/>
              <a:t>2019/12/3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D99B31B-C2BA-4F33-9139-A389207DC2E3}" type="datetime1">
              <a:rPr lang="zh-CN" altLang="en-US" smtClean="0"/>
              <a:pPr/>
              <a:t>2019/12/3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3pPr>
            <a:lvl4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4pPr>
            <a:lvl5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53EFCA1-84B7-4BAF-ABE5-2E9E0B6C08DB}" type="datetime1">
              <a:rPr lang="zh-CN" altLang="en-US" smtClean="0"/>
              <a:pPr/>
              <a:t>2019/12/3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4C8D21D-9904-417D-8637-187EACD16954}" type="datetime1">
              <a:rPr lang="zh-CN" altLang="en-US" smtClean="0"/>
              <a:pPr/>
              <a:t>2019/12/3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58800" y="1270000"/>
            <a:ext cx="3971925" cy="5000625"/>
          </a:xfrm>
        </p:spPr>
        <p:txBody>
          <a:bodyPr/>
          <a:lstStyle>
            <a:lvl1pPr>
              <a:defRPr sz="2800"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>
              <a:defRPr sz="2400"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>
              <a:defRPr sz="2000">
                <a:latin typeface="楷体" panose="02010609060101010101" pitchFamily="49" charset="-122"/>
                <a:ea typeface="楷体" panose="02010609060101010101" pitchFamily="49" charset="-122"/>
              </a:defRPr>
            </a:lvl3pPr>
            <a:lvl4pPr>
              <a:defRPr sz="1800">
                <a:latin typeface="楷体" panose="02010609060101010101" pitchFamily="49" charset="-122"/>
                <a:ea typeface="楷体" panose="02010609060101010101" pitchFamily="49" charset="-122"/>
              </a:defRPr>
            </a:lvl4pPr>
            <a:lvl5pPr>
              <a:defRPr sz="1800">
                <a:latin typeface="楷体" panose="02010609060101010101" pitchFamily="49" charset="-122"/>
                <a:ea typeface="楷体" panose="02010609060101010101" pitchFamily="49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3125" y="1270000"/>
            <a:ext cx="3973513" cy="5000625"/>
          </a:xfrm>
        </p:spPr>
        <p:txBody>
          <a:bodyPr/>
          <a:lstStyle>
            <a:lvl1pPr>
              <a:defRPr sz="2800"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>
              <a:defRPr sz="2400"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>
              <a:defRPr sz="2000">
                <a:latin typeface="楷体" panose="02010609060101010101" pitchFamily="49" charset="-122"/>
                <a:ea typeface="楷体" panose="02010609060101010101" pitchFamily="49" charset="-122"/>
              </a:defRPr>
            </a:lvl3pPr>
            <a:lvl4pPr>
              <a:defRPr sz="1800">
                <a:latin typeface="楷体" panose="02010609060101010101" pitchFamily="49" charset="-122"/>
                <a:ea typeface="楷体" panose="02010609060101010101" pitchFamily="49" charset="-122"/>
              </a:defRPr>
            </a:lvl4pPr>
            <a:lvl5pPr>
              <a:defRPr sz="1800">
                <a:latin typeface="楷体" panose="02010609060101010101" pitchFamily="49" charset="-122"/>
                <a:ea typeface="楷体" panose="02010609060101010101" pitchFamily="49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0C4F51-E2DC-4CB7-89FD-37CB0030D5AB}" type="datetime1">
              <a:rPr lang="zh-CN" altLang="en-US" smtClean="0"/>
              <a:pPr/>
              <a:t>2019/12/3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>
              <a:defRPr sz="2000"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>
              <a:defRPr sz="1800">
                <a:latin typeface="楷体" panose="02010609060101010101" pitchFamily="49" charset="-122"/>
                <a:ea typeface="楷体" panose="02010609060101010101" pitchFamily="49" charset="-122"/>
              </a:defRPr>
            </a:lvl3pPr>
            <a:lvl4pPr>
              <a:defRPr sz="1600">
                <a:latin typeface="楷体" panose="02010609060101010101" pitchFamily="49" charset="-122"/>
                <a:ea typeface="楷体" panose="02010609060101010101" pitchFamily="49" charset="-122"/>
              </a:defRPr>
            </a:lvl4pPr>
            <a:lvl5pPr>
              <a:defRPr sz="1600">
                <a:latin typeface="楷体" panose="02010609060101010101" pitchFamily="49" charset="-122"/>
                <a:ea typeface="楷体" panose="02010609060101010101" pitchFamily="49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>
              <a:defRPr sz="2000"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>
              <a:defRPr sz="1800">
                <a:latin typeface="楷体" panose="02010609060101010101" pitchFamily="49" charset="-122"/>
                <a:ea typeface="楷体" panose="02010609060101010101" pitchFamily="49" charset="-122"/>
              </a:defRPr>
            </a:lvl3pPr>
            <a:lvl4pPr>
              <a:defRPr sz="1600">
                <a:latin typeface="楷体" panose="02010609060101010101" pitchFamily="49" charset="-122"/>
                <a:ea typeface="楷体" panose="02010609060101010101" pitchFamily="49" charset="-122"/>
              </a:defRPr>
            </a:lvl4pPr>
            <a:lvl5pPr>
              <a:defRPr sz="1600">
                <a:latin typeface="楷体" panose="02010609060101010101" pitchFamily="49" charset="-122"/>
                <a:ea typeface="楷体" panose="02010609060101010101" pitchFamily="49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EE9743-8645-42E0-9658-23E345F24E71}" type="datetime1">
              <a:rPr lang="zh-CN" altLang="en-US" smtClean="0"/>
              <a:pPr/>
              <a:t>2019/12/3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40A6798-112B-4158-BD3D-194911585F9A}" type="datetime1">
              <a:rPr lang="zh-CN" altLang="en-US" smtClean="0"/>
              <a:pPr/>
              <a:t>2019/12/3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E03A358-D76A-4665-91E0-17C5DD676A78}" type="datetime1">
              <a:rPr lang="zh-CN" altLang="en-US" smtClean="0"/>
              <a:pPr/>
              <a:t>2019/12/3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>
              <a:defRPr sz="2800">
                <a:latin typeface="楷体" panose="02010609060101010101" pitchFamily="49" charset="-122"/>
                <a:ea typeface="楷体" panose="02010609060101010101" pitchFamily="49" charset="-122"/>
              </a:defRPr>
            </a:lvl2pPr>
            <a:lvl3pPr>
              <a:defRPr sz="2400">
                <a:latin typeface="楷体" panose="02010609060101010101" pitchFamily="49" charset="-122"/>
                <a:ea typeface="楷体" panose="02010609060101010101" pitchFamily="49" charset="-122"/>
              </a:defRPr>
            </a:lvl3pPr>
            <a:lvl4pPr>
              <a:defRPr sz="2000">
                <a:latin typeface="楷体" panose="02010609060101010101" pitchFamily="49" charset="-122"/>
                <a:ea typeface="楷体" panose="02010609060101010101" pitchFamily="49" charset="-122"/>
              </a:defRPr>
            </a:lvl4pPr>
            <a:lvl5pPr>
              <a:defRPr sz="2000">
                <a:latin typeface="楷体" panose="02010609060101010101" pitchFamily="49" charset="-122"/>
                <a:ea typeface="楷体" panose="02010609060101010101" pitchFamily="49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9BCE179-F51A-454A-A535-A44DAF6B1F65}" type="datetime1">
              <a:rPr lang="zh-CN" altLang="en-US" smtClean="0"/>
              <a:pPr/>
              <a:t>2019/12/3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9C3D878-C763-4D9A-AB5B-54F4CE8C6258}" type="datetime1">
              <a:rPr lang="zh-CN" altLang="en-US" smtClean="0"/>
              <a:pPr/>
              <a:t>2019/12/3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3pPr>
              <a:defRPr>
                <a:ea typeface="楷体" panose="02010609060101010101" pitchFamily="49" charset="-122"/>
              </a:defRPr>
            </a:lvl3pPr>
            <a:lvl4pPr>
              <a:defRPr>
                <a:ea typeface="楷体" panose="02010609060101010101" pitchFamily="49" charset="-122"/>
              </a:defRPr>
            </a:lvl4pPr>
            <a:lvl5pPr>
              <a:defRPr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C7226C2-007B-45ED-BEF1-65514977365D}" type="datetime1">
              <a:rPr lang="zh-CN" altLang="en-US" smtClean="0"/>
              <a:pPr/>
              <a:t>2019/12/3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32575" y="265113"/>
            <a:ext cx="2024063" cy="60055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58800" y="265113"/>
            <a:ext cx="5921375" cy="6005512"/>
          </a:xfrm>
        </p:spPr>
        <p:txBody>
          <a:bodyPr vert="eaVert"/>
          <a:lstStyle>
            <a:lvl3pPr>
              <a:defRPr>
                <a:ea typeface="楷体" panose="02010609060101010101" pitchFamily="49" charset="-122"/>
              </a:defRPr>
            </a:lvl3pPr>
            <a:lvl4pPr>
              <a:defRPr>
                <a:ea typeface="楷体" panose="02010609060101010101" pitchFamily="49" charset="-122"/>
              </a:defRPr>
            </a:lvl4pPr>
            <a:lvl5pPr>
              <a:defRPr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215E918-9A9C-4617-B284-8EC457E25802}" type="datetime1">
              <a:rPr lang="zh-CN" altLang="en-US" smtClean="0"/>
              <a:pPr/>
              <a:t>2019/12/3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3" descr="!interior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67813" cy="687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558800" y="1270000"/>
            <a:ext cx="8097838" cy="500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dirty="0" smtClean="0"/>
              <a:t>单击此处编辑母版文本样式</a:t>
            </a:r>
          </a:p>
          <a:p>
            <a:pPr lvl="1"/>
            <a:r>
              <a:rPr lang="zh-CN" dirty="0" smtClean="0"/>
              <a:t>第二级</a:t>
            </a:r>
          </a:p>
        </p:txBody>
      </p:sp>
      <p:sp>
        <p:nvSpPr>
          <p:cNvPr id="2052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356350"/>
            <a:ext cx="20574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929292"/>
                </a:solidFill>
                <a:ea typeface="楷体" panose="02010609060101010101" pitchFamily="49" charset="-122"/>
              </a:defRPr>
            </a:lvl1pPr>
          </a:lstStyle>
          <a:p>
            <a:fld id="{F92D4725-B538-4BAA-A6C5-7E6D37F53FF4}" type="datetime1">
              <a:rPr lang="zh-CN" altLang="en-US" smtClean="0"/>
              <a:pPr/>
              <a:t>2019/12/3</a:t>
            </a:fld>
            <a:endParaRPr lang="zh-CN" altLang="en-US" dirty="0"/>
          </a:p>
        </p:txBody>
      </p:sp>
      <p:sp>
        <p:nvSpPr>
          <p:cNvPr id="2053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32138" y="6381750"/>
            <a:ext cx="30861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929292"/>
                </a:solidFill>
              </a:defRPr>
            </a:lvl1pPr>
          </a:lstStyle>
          <a:p>
            <a:endParaRPr lang="en-US"/>
          </a:p>
        </p:txBody>
      </p:sp>
      <p:sp>
        <p:nvSpPr>
          <p:cNvPr id="2054" name="Slide Number Placeholder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5080" y="6356350"/>
            <a:ext cx="20574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600">
                <a:solidFill>
                  <a:srgbClr val="929292"/>
                </a:solidFill>
                <a:ea typeface="楷体" panose="02010609060101010101" pitchFamily="49" charset="-122"/>
              </a:defRPr>
            </a:lvl1pPr>
          </a:lstStyle>
          <a:p>
            <a:fld id="{7A533EC9-B2C2-43B1-8457-B56563A4677E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2055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558800" y="265113"/>
            <a:ext cx="8097838" cy="741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dirty="0" smtClean="0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Broadway" pitchFamily="82" charset="0"/>
          <a:ea typeface="微软雅黑" pitchFamily="34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Broadway" pitchFamily="82" charset="0"/>
          <a:ea typeface="微软雅黑" pitchFamily="34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Broadway" pitchFamily="82" charset="0"/>
          <a:ea typeface="微软雅黑" pitchFamily="34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Broadway" pitchFamily="82" charset="0"/>
          <a:ea typeface="微软雅黑" pitchFamily="34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Broadway" pitchFamily="82" charset="0"/>
          <a:ea typeface="微软雅黑" pitchFamily="34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Broadway" pitchFamily="82" charset="0"/>
          <a:ea typeface="微软雅黑" pitchFamily="34" charset="-122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Broadway" pitchFamily="82" charset="0"/>
          <a:ea typeface="微软雅黑" pitchFamily="34" charset="-122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Broadway" pitchFamily="82" charset="0"/>
          <a:ea typeface="微软雅黑" pitchFamily="34" charset="-122"/>
        </a:defRPr>
      </a:lvl9pPr>
    </p:titleStyle>
    <p:bodyStyle>
      <a:lvl1pPr marL="357188" indent="-357188" algn="l" rtl="0" eaLnBrk="1" fontAlgn="base" hangingPunct="1">
        <a:lnSpc>
          <a:spcPct val="110000"/>
        </a:lnSpc>
        <a:spcBef>
          <a:spcPts val="18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楷体" panose="02010609060101010101" pitchFamily="49" charset="-122"/>
          <a:cs typeface="+mn-cs"/>
        </a:defRPr>
      </a:lvl1pPr>
      <a:lvl2pPr marL="357188" indent="-357188" algn="l" rtl="0" eaLnBrk="1" fontAlgn="base" hangingPunct="1">
        <a:lnSpc>
          <a:spcPct val="130000"/>
        </a:lnSpc>
        <a:spcBef>
          <a:spcPts val="500"/>
        </a:spcBef>
        <a:spcAft>
          <a:spcPct val="0"/>
        </a:spcAft>
        <a:buFont typeface="Calibri" pitchFamily="34" charset="0"/>
        <a:buChar char=" "/>
        <a:defRPr sz="1400">
          <a:solidFill>
            <a:schemeClr val="tx1"/>
          </a:solidFill>
          <a:latin typeface="+mn-lt"/>
          <a:ea typeface="楷体" panose="02010609060101010101" pitchFamily="49" charset="-122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Calibri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Calibri" pitchFamily="34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Calibri" pitchFamily="34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Calibri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Calibri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Calibri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Calibri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3" descr="!interior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67813" cy="687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558800" y="1270000"/>
            <a:ext cx="8097838" cy="500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dirty="0" smtClean="0"/>
              <a:t>单击此处编辑母版文本样式</a:t>
            </a:r>
          </a:p>
          <a:p>
            <a:pPr lvl="1"/>
            <a:r>
              <a:rPr lang="zh-CN" dirty="0" smtClean="0"/>
              <a:t>第二级</a:t>
            </a:r>
          </a:p>
        </p:txBody>
      </p:sp>
      <p:sp>
        <p:nvSpPr>
          <p:cNvPr id="2052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356350"/>
            <a:ext cx="20574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929292"/>
                </a:solidFill>
                <a:ea typeface="楷体" panose="02010609060101010101" pitchFamily="49" charset="-122"/>
              </a:defRPr>
            </a:lvl1pPr>
          </a:lstStyle>
          <a:p>
            <a:fld id="{F70BA314-95EB-49BB-B4BC-91FF7693BEAE}" type="datetime1">
              <a:rPr lang="zh-CN" altLang="en-US" smtClean="0"/>
              <a:pPr/>
              <a:t>2019/12/3</a:t>
            </a:fld>
            <a:endParaRPr lang="zh-CN" altLang="en-US" dirty="0"/>
          </a:p>
        </p:txBody>
      </p:sp>
      <p:sp>
        <p:nvSpPr>
          <p:cNvPr id="2053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32138" y="6381750"/>
            <a:ext cx="308610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929292"/>
                </a:solidFill>
              </a:defRPr>
            </a:lvl1pPr>
          </a:lstStyle>
          <a:p>
            <a:endParaRPr lang="en-US"/>
          </a:p>
        </p:txBody>
      </p:sp>
      <p:sp>
        <p:nvSpPr>
          <p:cNvPr id="2055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558800" y="265113"/>
            <a:ext cx="8097838" cy="741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dirty="0" smtClean="0"/>
              <a:t>单击此处编辑母版标题样式</a:t>
            </a:r>
          </a:p>
        </p:txBody>
      </p:sp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245475" y="44450"/>
            <a:ext cx="900113" cy="92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Broadway" pitchFamily="82" charset="0"/>
          <a:ea typeface="微软雅黑" pitchFamily="34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Broadway" pitchFamily="82" charset="0"/>
          <a:ea typeface="微软雅黑" pitchFamily="34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Broadway" pitchFamily="82" charset="0"/>
          <a:ea typeface="微软雅黑" pitchFamily="34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Broadway" pitchFamily="82" charset="0"/>
          <a:ea typeface="微软雅黑" pitchFamily="34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Broadway" pitchFamily="82" charset="0"/>
          <a:ea typeface="微软雅黑" pitchFamily="34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Broadway" pitchFamily="82" charset="0"/>
          <a:ea typeface="微软雅黑" pitchFamily="34" charset="-122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Broadway" pitchFamily="82" charset="0"/>
          <a:ea typeface="微软雅黑" pitchFamily="34" charset="-122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Broadway" pitchFamily="82" charset="0"/>
          <a:ea typeface="微软雅黑" pitchFamily="34" charset="-122"/>
        </a:defRPr>
      </a:lvl9pPr>
    </p:titleStyle>
    <p:bodyStyle>
      <a:lvl1pPr marL="357188" indent="-357188" algn="l" rtl="0" eaLnBrk="1" fontAlgn="base" hangingPunct="1">
        <a:lnSpc>
          <a:spcPct val="110000"/>
        </a:lnSpc>
        <a:spcBef>
          <a:spcPts val="18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  <a:cs typeface="+mn-cs"/>
        </a:defRPr>
      </a:lvl1pPr>
      <a:lvl2pPr marL="357188" indent="-357188" algn="l" rtl="0" eaLnBrk="1" fontAlgn="base" hangingPunct="1">
        <a:lnSpc>
          <a:spcPct val="130000"/>
        </a:lnSpc>
        <a:spcBef>
          <a:spcPts val="500"/>
        </a:spcBef>
        <a:spcAft>
          <a:spcPct val="0"/>
        </a:spcAft>
        <a:buFont typeface="Calibri" pitchFamily="34" charset="0"/>
        <a:buChar char=" "/>
        <a:defRPr sz="1400">
          <a:solidFill>
            <a:schemeClr val="tx1"/>
          </a:solidFill>
          <a:latin typeface="楷体" panose="02010609060101010101" pitchFamily="49" charset="-122"/>
          <a:ea typeface="楷体" panose="02010609060101010101" pitchFamily="49" charset="-122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Calibri" pitchFamily="34" charset="0"/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Calibri" pitchFamily="34" charset="0"/>
        <a:buChar char="•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Calibri" pitchFamily="34" charset="0"/>
        <a:buChar char="•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Calibri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Calibri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Calibri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Calibri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4.w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9.png"/><Relationship Id="rId7" Type="http://schemas.openxmlformats.org/officeDocument/2006/relationships/image" Target="../media/image7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8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9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14.wmf"/><Relationship Id="rId18" Type="http://schemas.openxmlformats.org/officeDocument/2006/relationships/oleObject" Target="../embeddings/oleObject15.bin"/><Relationship Id="rId3" Type="http://schemas.openxmlformats.org/officeDocument/2006/relationships/image" Target="../media/image22.png"/><Relationship Id="rId21" Type="http://schemas.openxmlformats.org/officeDocument/2006/relationships/image" Target="../media/image18.wmf"/><Relationship Id="rId7" Type="http://schemas.openxmlformats.org/officeDocument/2006/relationships/image" Target="../media/image11.wmf"/><Relationship Id="rId12" Type="http://schemas.openxmlformats.org/officeDocument/2006/relationships/oleObject" Target="../embeddings/oleObject12.bin"/><Relationship Id="rId17" Type="http://schemas.openxmlformats.org/officeDocument/2006/relationships/image" Target="../media/image16.wmf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14.bin"/><Relationship Id="rId20" Type="http://schemas.openxmlformats.org/officeDocument/2006/relationships/oleObject" Target="../embeddings/oleObject16.bin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13.wmf"/><Relationship Id="rId5" Type="http://schemas.openxmlformats.org/officeDocument/2006/relationships/image" Target="../media/image10.wmf"/><Relationship Id="rId15" Type="http://schemas.openxmlformats.org/officeDocument/2006/relationships/image" Target="../media/image15.wmf"/><Relationship Id="rId23" Type="http://schemas.openxmlformats.org/officeDocument/2006/relationships/image" Target="../media/image19.wmf"/><Relationship Id="rId10" Type="http://schemas.openxmlformats.org/officeDocument/2006/relationships/oleObject" Target="../embeddings/oleObject11.bin"/><Relationship Id="rId19" Type="http://schemas.openxmlformats.org/officeDocument/2006/relationships/image" Target="../media/image17.wmf"/><Relationship Id="rId4" Type="http://schemas.openxmlformats.org/officeDocument/2006/relationships/oleObject" Target="../embeddings/oleObject8.bin"/><Relationship Id="rId9" Type="http://schemas.openxmlformats.org/officeDocument/2006/relationships/image" Target="../media/image12.wmf"/><Relationship Id="rId14" Type="http://schemas.openxmlformats.org/officeDocument/2006/relationships/oleObject" Target="../embeddings/oleObject13.bin"/><Relationship Id="rId22" Type="http://schemas.openxmlformats.org/officeDocument/2006/relationships/oleObject" Target="../embeddings/oleObject17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20.wmf"/><Relationship Id="rId4" Type="http://schemas.openxmlformats.org/officeDocument/2006/relationships/oleObject" Target="../embeddings/oleObject18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20.bin"/><Relationship Id="rId10" Type="http://schemas.openxmlformats.org/officeDocument/2006/relationships/image" Target="../media/image24.wmf"/><Relationship Id="rId4" Type="http://schemas.openxmlformats.org/officeDocument/2006/relationships/image" Target="../media/image21.emf"/><Relationship Id="rId9" Type="http://schemas.openxmlformats.org/officeDocument/2006/relationships/oleObject" Target="../embeddings/oleObject22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5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13" Type="http://schemas.openxmlformats.org/officeDocument/2006/relationships/oleObject" Target="../embeddings/oleObject28.bin"/><Relationship Id="rId18" Type="http://schemas.openxmlformats.org/officeDocument/2006/relationships/image" Target="../media/image32.wmf"/><Relationship Id="rId26" Type="http://schemas.openxmlformats.org/officeDocument/2006/relationships/image" Target="../media/image36.wmf"/><Relationship Id="rId3" Type="http://schemas.openxmlformats.org/officeDocument/2006/relationships/oleObject" Target="../embeddings/oleObject23.bin"/><Relationship Id="rId21" Type="http://schemas.openxmlformats.org/officeDocument/2006/relationships/oleObject" Target="../embeddings/oleObject32.bin"/><Relationship Id="rId7" Type="http://schemas.openxmlformats.org/officeDocument/2006/relationships/oleObject" Target="../embeddings/oleObject25.bin"/><Relationship Id="rId12" Type="http://schemas.openxmlformats.org/officeDocument/2006/relationships/image" Target="../media/image29.wmf"/><Relationship Id="rId17" Type="http://schemas.openxmlformats.org/officeDocument/2006/relationships/oleObject" Target="../embeddings/oleObject30.bin"/><Relationship Id="rId25" Type="http://schemas.openxmlformats.org/officeDocument/2006/relationships/oleObject" Target="../embeddings/oleObject34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31.wmf"/><Relationship Id="rId20" Type="http://schemas.openxmlformats.org/officeDocument/2006/relationships/image" Target="../media/image33.wmf"/><Relationship Id="rId29" Type="http://schemas.openxmlformats.org/officeDocument/2006/relationships/oleObject" Target="../embeddings/oleObject36.bin"/><Relationship Id="rId1" Type="http://schemas.openxmlformats.org/officeDocument/2006/relationships/vmlDrawing" Target="../drawings/vmlDrawing9.vml"/><Relationship Id="rId6" Type="http://schemas.openxmlformats.org/officeDocument/2006/relationships/image" Target="../media/image26.wmf"/><Relationship Id="rId11" Type="http://schemas.openxmlformats.org/officeDocument/2006/relationships/oleObject" Target="../embeddings/oleObject27.bin"/><Relationship Id="rId24" Type="http://schemas.openxmlformats.org/officeDocument/2006/relationships/image" Target="../media/image35.wmf"/><Relationship Id="rId5" Type="http://schemas.openxmlformats.org/officeDocument/2006/relationships/oleObject" Target="../embeddings/oleObject24.bin"/><Relationship Id="rId15" Type="http://schemas.openxmlformats.org/officeDocument/2006/relationships/oleObject" Target="../embeddings/oleObject29.bin"/><Relationship Id="rId23" Type="http://schemas.openxmlformats.org/officeDocument/2006/relationships/oleObject" Target="../embeddings/oleObject33.bin"/><Relationship Id="rId28" Type="http://schemas.openxmlformats.org/officeDocument/2006/relationships/image" Target="../media/image37.wmf"/><Relationship Id="rId10" Type="http://schemas.openxmlformats.org/officeDocument/2006/relationships/image" Target="../media/image28.wmf"/><Relationship Id="rId19" Type="http://schemas.openxmlformats.org/officeDocument/2006/relationships/oleObject" Target="../embeddings/oleObject31.bin"/><Relationship Id="rId4" Type="http://schemas.openxmlformats.org/officeDocument/2006/relationships/image" Target="../media/image25.wmf"/><Relationship Id="rId9" Type="http://schemas.openxmlformats.org/officeDocument/2006/relationships/oleObject" Target="../embeddings/oleObject26.bin"/><Relationship Id="rId14" Type="http://schemas.openxmlformats.org/officeDocument/2006/relationships/image" Target="../media/image30.wmf"/><Relationship Id="rId22" Type="http://schemas.openxmlformats.org/officeDocument/2006/relationships/image" Target="../media/image34.wmf"/><Relationship Id="rId27" Type="http://schemas.openxmlformats.org/officeDocument/2006/relationships/oleObject" Target="../embeddings/oleObject35.bin"/><Relationship Id="rId30" Type="http://schemas.openxmlformats.org/officeDocument/2006/relationships/image" Target="../media/image38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wmf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39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oleObject4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41.bin"/><Relationship Id="rId10" Type="http://schemas.openxmlformats.org/officeDocument/2006/relationships/image" Target="../media/image45.wmf"/><Relationship Id="rId4" Type="http://schemas.openxmlformats.org/officeDocument/2006/relationships/image" Target="../media/image42.wmf"/><Relationship Id="rId9" Type="http://schemas.openxmlformats.org/officeDocument/2006/relationships/oleObject" Target="../embeddings/oleObject43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46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wmf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7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47.wmf"/><Relationship Id="rId5" Type="http://schemas.openxmlformats.org/officeDocument/2006/relationships/oleObject" Target="../embeddings/oleObject46.bin"/><Relationship Id="rId4" Type="http://schemas.openxmlformats.org/officeDocument/2006/relationships/image" Target="../media/image46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oleObject50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49.bin"/><Relationship Id="rId4" Type="http://schemas.openxmlformats.org/officeDocument/2006/relationships/image" Target="../media/image46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52.wmf"/><Relationship Id="rId5" Type="http://schemas.openxmlformats.org/officeDocument/2006/relationships/oleObject" Target="../embeddings/oleObject52.bin"/><Relationship Id="rId4" Type="http://schemas.openxmlformats.org/officeDocument/2006/relationships/image" Target="../media/image51.w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54.bin"/><Relationship Id="rId4" Type="http://schemas.openxmlformats.org/officeDocument/2006/relationships/image" Target="../media/image53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3" Type="http://schemas.openxmlformats.org/officeDocument/2006/relationships/oleObject" Target="../embeddings/oleObject55.bin"/><Relationship Id="rId7" Type="http://schemas.openxmlformats.org/officeDocument/2006/relationships/oleObject" Target="../embeddings/oleObject57.bin"/><Relationship Id="rId12" Type="http://schemas.openxmlformats.org/officeDocument/2006/relationships/image" Target="../media/image58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55.wmf"/><Relationship Id="rId11" Type="http://schemas.openxmlformats.org/officeDocument/2006/relationships/oleObject" Target="../embeddings/oleObject59.bin"/><Relationship Id="rId5" Type="http://schemas.openxmlformats.org/officeDocument/2006/relationships/oleObject" Target="../embeddings/oleObject56.bin"/><Relationship Id="rId10" Type="http://schemas.openxmlformats.org/officeDocument/2006/relationships/image" Target="../media/image57.wmf"/><Relationship Id="rId4" Type="http://schemas.openxmlformats.org/officeDocument/2006/relationships/image" Target="../media/image47.wmf"/><Relationship Id="rId9" Type="http://schemas.openxmlformats.org/officeDocument/2006/relationships/oleObject" Target="../embeddings/oleObject58.bin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5.bin"/><Relationship Id="rId18" Type="http://schemas.openxmlformats.org/officeDocument/2006/relationships/image" Target="../media/image66.wmf"/><Relationship Id="rId26" Type="http://schemas.openxmlformats.org/officeDocument/2006/relationships/image" Target="../media/image70.wmf"/><Relationship Id="rId39" Type="http://schemas.openxmlformats.org/officeDocument/2006/relationships/oleObject" Target="../embeddings/oleObject81.bin"/><Relationship Id="rId3" Type="http://schemas.openxmlformats.org/officeDocument/2006/relationships/oleObject" Target="../embeddings/oleObject60.bin"/><Relationship Id="rId21" Type="http://schemas.openxmlformats.org/officeDocument/2006/relationships/oleObject" Target="../embeddings/oleObject69.bin"/><Relationship Id="rId34" Type="http://schemas.openxmlformats.org/officeDocument/2006/relationships/oleObject" Target="../embeddings/oleObject76.bin"/><Relationship Id="rId42" Type="http://schemas.openxmlformats.org/officeDocument/2006/relationships/image" Target="../media/image75.wmf"/><Relationship Id="rId47" Type="http://schemas.openxmlformats.org/officeDocument/2006/relationships/oleObject" Target="../embeddings/oleObject85.bin"/><Relationship Id="rId50" Type="http://schemas.openxmlformats.org/officeDocument/2006/relationships/image" Target="../media/image79.wmf"/><Relationship Id="rId7" Type="http://schemas.openxmlformats.org/officeDocument/2006/relationships/oleObject" Target="../embeddings/oleObject62.bin"/><Relationship Id="rId12" Type="http://schemas.openxmlformats.org/officeDocument/2006/relationships/image" Target="../media/image63.wmf"/><Relationship Id="rId17" Type="http://schemas.openxmlformats.org/officeDocument/2006/relationships/oleObject" Target="../embeddings/oleObject67.bin"/><Relationship Id="rId25" Type="http://schemas.openxmlformats.org/officeDocument/2006/relationships/oleObject" Target="../embeddings/oleObject71.bin"/><Relationship Id="rId33" Type="http://schemas.openxmlformats.org/officeDocument/2006/relationships/image" Target="../media/image73.wmf"/><Relationship Id="rId38" Type="http://schemas.openxmlformats.org/officeDocument/2006/relationships/oleObject" Target="../embeddings/oleObject80.bin"/><Relationship Id="rId46" Type="http://schemas.openxmlformats.org/officeDocument/2006/relationships/image" Target="../media/image77.wmf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65.wmf"/><Relationship Id="rId20" Type="http://schemas.openxmlformats.org/officeDocument/2006/relationships/image" Target="../media/image67.wmf"/><Relationship Id="rId29" Type="http://schemas.openxmlformats.org/officeDocument/2006/relationships/oleObject" Target="../embeddings/oleObject73.bin"/><Relationship Id="rId41" Type="http://schemas.openxmlformats.org/officeDocument/2006/relationships/oleObject" Target="../embeddings/oleObject82.bin"/><Relationship Id="rId1" Type="http://schemas.openxmlformats.org/officeDocument/2006/relationships/vmlDrawing" Target="../drawings/vmlDrawing18.vml"/><Relationship Id="rId6" Type="http://schemas.openxmlformats.org/officeDocument/2006/relationships/image" Target="../media/image60.wmf"/><Relationship Id="rId11" Type="http://schemas.openxmlformats.org/officeDocument/2006/relationships/oleObject" Target="../embeddings/oleObject64.bin"/><Relationship Id="rId24" Type="http://schemas.openxmlformats.org/officeDocument/2006/relationships/image" Target="../media/image69.wmf"/><Relationship Id="rId32" Type="http://schemas.openxmlformats.org/officeDocument/2006/relationships/oleObject" Target="../embeddings/oleObject75.bin"/><Relationship Id="rId37" Type="http://schemas.openxmlformats.org/officeDocument/2006/relationships/oleObject" Target="../embeddings/oleObject79.bin"/><Relationship Id="rId40" Type="http://schemas.openxmlformats.org/officeDocument/2006/relationships/image" Target="../media/image74.wmf"/><Relationship Id="rId45" Type="http://schemas.openxmlformats.org/officeDocument/2006/relationships/oleObject" Target="../embeddings/oleObject84.bin"/><Relationship Id="rId5" Type="http://schemas.openxmlformats.org/officeDocument/2006/relationships/oleObject" Target="../embeddings/oleObject61.bin"/><Relationship Id="rId15" Type="http://schemas.openxmlformats.org/officeDocument/2006/relationships/oleObject" Target="../embeddings/oleObject66.bin"/><Relationship Id="rId23" Type="http://schemas.openxmlformats.org/officeDocument/2006/relationships/oleObject" Target="../embeddings/oleObject70.bin"/><Relationship Id="rId28" Type="http://schemas.openxmlformats.org/officeDocument/2006/relationships/image" Target="../media/image71.wmf"/><Relationship Id="rId36" Type="http://schemas.openxmlformats.org/officeDocument/2006/relationships/oleObject" Target="../embeddings/oleObject78.bin"/><Relationship Id="rId49" Type="http://schemas.openxmlformats.org/officeDocument/2006/relationships/oleObject" Target="../embeddings/oleObject86.bin"/><Relationship Id="rId10" Type="http://schemas.openxmlformats.org/officeDocument/2006/relationships/image" Target="../media/image62.wmf"/><Relationship Id="rId19" Type="http://schemas.openxmlformats.org/officeDocument/2006/relationships/oleObject" Target="../embeddings/oleObject68.bin"/><Relationship Id="rId31" Type="http://schemas.openxmlformats.org/officeDocument/2006/relationships/image" Target="../media/image72.wmf"/><Relationship Id="rId44" Type="http://schemas.openxmlformats.org/officeDocument/2006/relationships/image" Target="../media/image76.wmf"/><Relationship Id="rId4" Type="http://schemas.openxmlformats.org/officeDocument/2006/relationships/image" Target="../media/image59.wmf"/><Relationship Id="rId9" Type="http://schemas.openxmlformats.org/officeDocument/2006/relationships/oleObject" Target="../embeddings/oleObject63.bin"/><Relationship Id="rId14" Type="http://schemas.openxmlformats.org/officeDocument/2006/relationships/image" Target="../media/image64.wmf"/><Relationship Id="rId22" Type="http://schemas.openxmlformats.org/officeDocument/2006/relationships/image" Target="../media/image68.wmf"/><Relationship Id="rId27" Type="http://schemas.openxmlformats.org/officeDocument/2006/relationships/oleObject" Target="../embeddings/oleObject72.bin"/><Relationship Id="rId30" Type="http://schemas.openxmlformats.org/officeDocument/2006/relationships/oleObject" Target="../embeddings/oleObject74.bin"/><Relationship Id="rId35" Type="http://schemas.openxmlformats.org/officeDocument/2006/relationships/oleObject" Target="../embeddings/oleObject77.bin"/><Relationship Id="rId43" Type="http://schemas.openxmlformats.org/officeDocument/2006/relationships/oleObject" Target="../embeddings/oleObject83.bin"/><Relationship Id="rId48" Type="http://schemas.openxmlformats.org/officeDocument/2006/relationships/image" Target="../media/image78.wmf"/><Relationship Id="rId8" Type="http://schemas.openxmlformats.org/officeDocument/2006/relationships/image" Target="../media/image61.wmf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92.bin"/><Relationship Id="rId18" Type="http://schemas.openxmlformats.org/officeDocument/2006/relationships/image" Target="../media/image66.wmf"/><Relationship Id="rId26" Type="http://schemas.openxmlformats.org/officeDocument/2006/relationships/image" Target="../media/image69.wmf"/><Relationship Id="rId39" Type="http://schemas.openxmlformats.org/officeDocument/2006/relationships/oleObject" Target="../embeddings/oleObject106.bin"/><Relationship Id="rId21" Type="http://schemas.openxmlformats.org/officeDocument/2006/relationships/oleObject" Target="../embeddings/oleObject96.bin"/><Relationship Id="rId34" Type="http://schemas.openxmlformats.org/officeDocument/2006/relationships/image" Target="../media/image75.wmf"/><Relationship Id="rId42" Type="http://schemas.openxmlformats.org/officeDocument/2006/relationships/image" Target="../media/image76.wmf"/><Relationship Id="rId47" Type="http://schemas.openxmlformats.org/officeDocument/2006/relationships/oleObject" Target="../embeddings/oleObject110.bin"/><Relationship Id="rId50" Type="http://schemas.openxmlformats.org/officeDocument/2006/relationships/oleObject" Target="../embeddings/oleObject113.bin"/><Relationship Id="rId55" Type="http://schemas.openxmlformats.org/officeDocument/2006/relationships/image" Target="../media/image82.wmf"/><Relationship Id="rId63" Type="http://schemas.openxmlformats.org/officeDocument/2006/relationships/image" Target="../media/image86.wmf"/><Relationship Id="rId7" Type="http://schemas.openxmlformats.org/officeDocument/2006/relationships/oleObject" Target="../embeddings/oleObject89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65.wmf"/><Relationship Id="rId20" Type="http://schemas.openxmlformats.org/officeDocument/2006/relationships/image" Target="../media/image67.wmf"/><Relationship Id="rId29" Type="http://schemas.openxmlformats.org/officeDocument/2006/relationships/oleObject" Target="../embeddings/oleObject100.bin"/><Relationship Id="rId41" Type="http://schemas.openxmlformats.org/officeDocument/2006/relationships/oleObject" Target="../embeddings/oleObject107.bin"/><Relationship Id="rId54" Type="http://schemas.openxmlformats.org/officeDocument/2006/relationships/oleObject" Target="../embeddings/oleObject116.bin"/><Relationship Id="rId62" Type="http://schemas.openxmlformats.org/officeDocument/2006/relationships/oleObject" Target="../embeddings/oleObject120.bin"/><Relationship Id="rId1" Type="http://schemas.openxmlformats.org/officeDocument/2006/relationships/vmlDrawing" Target="../drawings/vmlDrawing19.vml"/><Relationship Id="rId6" Type="http://schemas.openxmlformats.org/officeDocument/2006/relationships/image" Target="../media/image60.wmf"/><Relationship Id="rId11" Type="http://schemas.openxmlformats.org/officeDocument/2006/relationships/oleObject" Target="../embeddings/oleObject91.bin"/><Relationship Id="rId24" Type="http://schemas.openxmlformats.org/officeDocument/2006/relationships/image" Target="../media/image74.wmf"/><Relationship Id="rId32" Type="http://schemas.openxmlformats.org/officeDocument/2006/relationships/image" Target="../media/image80.wmf"/><Relationship Id="rId37" Type="http://schemas.openxmlformats.org/officeDocument/2006/relationships/image" Target="../media/image72.wmf"/><Relationship Id="rId40" Type="http://schemas.openxmlformats.org/officeDocument/2006/relationships/image" Target="../media/image73.wmf"/><Relationship Id="rId45" Type="http://schemas.openxmlformats.org/officeDocument/2006/relationships/oleObject" Target="../embeddings/oleObject109.bin"/><Relationship Id="rId53" Type="http://schemas.openxmlformats.org/officeDocument/2006/relationships/oleObject" Target="../embeddings/oleObject115.bin"/><Relationship Id="rId58" Type="http://schemas.openxmlformats.org/officeDocument/2006/relationships/oleObject" Target="../embeddings/oleObject118.bin"/><Relationship Id="rId66" Type="http://schemas.openxmlformats.org/officeDocument/2006/relationships/oleObject" Target="../embeddings/oleObject122.bin"/><Relationship Id="rId5" Type="http://schemas.openxmlformats.org/officeDocument/2006/relationships/oleObject" Target="../embeddings/oleObject88.bin"/><Relationship Id="rId15" Type="http://schemas.openxmlformats.org/officeDocument/2006/relationships/oleObject" Target="../embeddings/oleObject93.bin"/><Relationship Id="rId23" Type="http://schemas.openxmlformats.org/officeDocument/2006/relationships/oleObject" Target="../embeddings/oleObject97.bin"/><Relationship Id="rId28" Type="http://schemas.openxmlformats.org/officeDocument/2006/relationships/image" Target="../media/image70.wmf"/><Relationship Id="rId36" Type="http://schemas.openxmlformats.org/officeDocument/2006/relationships/oleObject" Target="../embeddings/oleObject104.bin"/><Relationship Id="rId49" Type="http://schemas.openxmlformats.org/officeDocument/2006/relationships/oleObject" Target="../embeddings/oleObject112.bin"/><Relationship Id="rId57" Type="http://schemas.openxmlformats.org/officeDocument/2006/relationships/image" Target="../media/image83.wmf"/><Relationship Id="rId61" Type="http://schemas.openxmlformats.org/officeDocument/2006/relationships/image" Target="../media/image85.wmf"/><Relationship Id="rId10" Type="http://schemas.openxmlformats.org/officeDocument/2006/relationships/image" Target="../media/image62.wmf"/><Relationship Id="rId19" Type="http://schemas.openxmlformats.org/officeDocument/2006/relationships/oleObject" Target="../embeddings/oleObject95.bin"/><Relationship Id="rId31" Type="http://schemas.openxmlformats.org/officeDocument/2006/relationships/oleObject" Target="../embeddings/oleObject101.bin"/><Relationship Id="rId44" Type="http://schemas.openxmlformats.org/officeDocument/2006/relationships/image" Target="../media/image77.wmf"/><Relationship Id="rId52" Type="http://schemas.openxmlformats.org/officeDocument/2006/relationships/image" Target="../media/image81.wmf"/><Relationship Id="rId60" Type="http://schemas.openxmlformats.org/officeDocument/2006/relationships/oleObject" Target="../embeddings/oleObject119.bin"/><Relationship Id="rId65" Type="http://schemas.openxmlformats.org/officeDocument/2006/relationships/image" Target="../media/image87.wmf"/><Relationship Id="rId4" Type="http://schemas.openxmlformats.org/officeDocument/2006/relationships/image" Target="../media/image59.wmf"/><Relationship Id="rId9" Type="http://schemas.openxmlformats.org/officeDocument/2006/relationships/oleObject" Target="../embeddings/oleObject90.bin"/><Relationship Id="rId14" Type="http://schemas.openxmlformats.org/officeDocument/2006/relationships/image" Target="../media/image64.wmf"/><Relationship Id="rId22" Type="http://schemas.openxmlformats.org/officeDocument/2006/relationships/image" Target="../media/image68.wmf"/><Relationship Id="rId27" Type="http://schemas.openxmlformats.org/officeDocument/2006/relationships/oleObject" Target="../embeddings/oleObject99.bin"/><Relationship Id="rId30" Type="http://schemas.openxmlformats.org/officeDocument/2006/relationships/image" Target="../media/image71.wmf"/><Relationship Id="rId35" Type="http://schemas.openxmlformats.org/officeDocument/2006/relationships/oleObject" Target="../embeddings/oleObject103.bin"/><Relationship Id="rId43" Type="http://schemas.openxmlformats.org/officeDocument/2006/relationships/oleObject" Target="../embeddings/oleObject108.bin"/><Relationship Id="rId48" Type="http://schemas.openxmlformats.org/officeDocument/2006/relationships/oleObject" Target="../embeddings/oleObject111.bin"/><Relationship Id="rId56" Type="http://schemas.openxmlformats.org/officeDocument/2006/relationships/oleObject" Target="../embeddings/oleObject117.bin"/><Relationship Id="rId64" Type="http://schemas.openxmlformats.org/officeDocument/2006/relationships/oleObject" Target="../embeddings/oleObject121.bin"/><Relationship Id="rId8" Type="http://schemas.openxmlformats.org/officeDocument/2006/relationships/image" Target="../media/image61.wmf"/><Relationship Id="rId51" Type="http://schemas.openxmlformats.org/officeDocument/2006/relationships/oleObject" Target="../embeddings/oleObject114.bin"/><Relationship Id="rId3" Type="http://schemas.openxmlformats.org/officeDocument/2006/relationships/oleObject" Target="../embeddings/oleObject87.bin"/><Relationship Id="rId12" Type="http://schemas.openxmlformats.org/officeDocument/2006/relationships/image" Target="../media/image63.wmf"/><Relationship Id="rId17" Type="http://schemas.openxmlformats.org/officeDocument/2006/relationships/oleObject" Target="../embeddings/oleObject94.bin"/><Relationship Id="rId25" Type="http://schemas.openxmlformats.org/officeDocument/2006/relationships/oleObject" Target="../embeddings/oleObject98.bin"/><Relationship Id="rId33" Type="http://schemas.openxmlformats.org/officeDocument/2006/relationships/oleObject" Target="../embeddings/oleObject102.bin"/><Relationship Id="rId38" Type="http://schemas.openxmlformats.org/officeDocument/2006/relationships/oleObject" Target="../embeddings/oleObject105.bin"/><Relationship Id="rId46" Type="http://schemas.openxmlformats.org/officeDocument/2006/relationships/image" Target="../media/image78.wmf"/><Relationship Id="rId59" Type="http://schemas.openxmlformats.org/officeDocument/2006/relationships/image" Target="../media/image84.wmf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28.bin"/><Relationship Id="rId18" Type="http://schemas.openxmlformats.org/officeDocument/2006/relationships/image" Target="../media/image66.wmf"/><Relationship Id="rId26" Type="http://schemas.openxmlformats.org/officeDocument/2006/relationships/image" Target="../media/image69.wmf"/><Relationship Id="rId39" Type="http://schemas.openxmlformats.org/officeDocument/2006/relationships/oleObject" Target="../embeddings/oleObject142.bin"/><Relationship Id="rId21" Type="http://schemas.openxmlformats.org/officeDocument/2006/relationships/oleObject" Target="../embeddings/oleObject132.bin"/><Relationship Id="rId34" Type="http://schemas.openxmlformats.org/officeDocument/2006/relationships/image" Target="../media/image75.wmf"/><Relationship Id="rId42" Type="http://schemas.openxmlformats.org/officeDocument/2006/relationships/image" Target="../media/image76.wmf"/><Relationship Id="rId47" Type="http://schemas.openxmlformats.org/officeDocument/2006/relationships/oleObject" Target="../embeddings/oleObject146.bin"/><Relationship Id="rId50" Type="http://schemas.openxmlformats.org/officeDocument/2006/relationships/oleObject" Target="../embeddings/oleObject149.bin"/><Relationship Id="rId55" Type="http://schemas.openxmlformats.org/officeDocument/2006/relationships/image" Target="../media/image82.wmf"/><Relationship Id="rId63" Type="http://schemas.openxmlformats.org/officeDocument/2006/relationships/image" Target="../media/image86.wmf"/><Relationship Id="rId68" Type="http://schemas.openxmlformats.org/officeDocument/2006/relationships/image" Target="../media/image88.wmf"/><Relationship Id="rId7" Type="http://schemas.openxmlformats.org/officeDocument/2006/relationships/oleObject" Target="../embeddings/oleObject125.bin"/><Relationship Id="rId71" Type="http://schemas.openxmlformats.org/officeDocument/2006/relationships/oleObject" Target="../embeddings/oleObject161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65.wmf"/><Relationship Id="rId29" Type="http://schemas.openxmlformats.org/officeDocument/2006/relationships/oleObject" Target="../embeddings/oleObject136.bin"/><Relationship Id="rId1" Type="http://schemas.openxmlformats.org/officeDocument/2006/relationships/vmlDrawing" Target="../drawings/vmlDrawing20.vml"/><Relationship Id="rId6" Type="http://schemas.openxmlformats.org/officeDocument/2006/relationships/image" Target="../media/image60.wmf"/><Relationship Id="rId11" Type="http://schemas.openxmlformats.org/officeDocument/2006/relationships/oleObject" Target="../embeddings/oleObject127.bin"/><Relationship Id="rId24" Type="http://schemas.openxmlformats.org/officeDocument/2006/relationships/image" Target="../media/image74.wmf"/><Relationship Id="rId32" Type="http://schemas.openxmlformats.org/officeDocument/2006/relationships/image" Target="../media/image80.wmf"/><Relationship Id="rId37" Type="http://schemas.openxmlformats.org/officeDocument/2006/relationships/image" Target="../media/image72.wmf"/><Relationship Id="rId40" Type="http://schemas.openxmlformats.org/officeDocument/2006/relationships/image" Target="../media/image73.wmf"/><Relationship Id="rId45" Type="http://schemas.openxmlformats.org/officeDocument/2006/relationships/oleObject" Target="../embeddings/oleObject145.bin"/><Relationship Id="rId53" Type="http://schemas.openxmlformats.org/officeDocument/2006/relationships/oleObject" Target="../embeddings/oleObject151.bin"/><Relationship Id="rId58" Type="http://schemas.openxmlformats.org/officeDocument/2006/relationships/oleObject" Target="../embeddings/oleObject154.bin"/><Relationship Id="rId66" Type="http://schemas.openxmlformats.org/officeDocument/2006/relationships/oleObject" Target="../embeddings/oleObject158.bin"/><Relationship Id="rId5" Type="http://schemas.openxmlformats.org/officeDocument/2006/relationships/oleObject" Target="../embeddings/oleObject124.bin"/><Relationship Id="rId15" Type="http://schemas.openxmlformats.org/officeDocument/2006/relationships/oleObject" Target="../embeddings/oleObject129.bin"/><Relationship Id="rId23" Type="http://schemas.openxmlformats.org/officeDocument/2006/relationships/oleObject" Target="../embeddings/oleObject133.bin"/><Relationship Id="rId28" Type="http://schemas.openxmlformats.org/officeDocument/2006/relationships/image" Target="../media/image70.wmf"/><Relationship Id="rId36" Type="http://schemas.openxmlformats.org/officeDocument/2006/relationships/oleObject" Target="../embeddings/oleObject140.bin"/><Relationship Id="rId49" Type="http://schemas.openxmlformats.org/officeDocument/2006/relationships/oleObject" Target="../embeddings/oleObject148.bin"/><Relationship Id="rId57" Type="http://schemas.openxmlformats.org/officeDocument/2006/relationships/image" Target="../media/image83.wmf"/><Relationship Id="rId61" Type="http://schemas.openxmlformats.org/officeDocument/2006/relationships/image" Target="../media/image85.wmf"/><Relationship Id="rId10" Type="http://schemas.openxmlformats.org/officeDocument/2006/relationships/image" Target="../media/image62.wmf"/><Relationship Id="rId19" Type="http://schemas.openxmlformats.org/officeDocument/2006/relationships/oleObject" Target="../embeddings/oleObject131.bin"/><Relationship Id="rId31" Type="http://schemas.openxmlformats.org/officeDocument/2006/relationships/oleObject" Target="../embeddings/oleObject137.bin"/><Relationship Id="rId44" Type="http://schemas.openxmlformats.org/officeDocument/2006/relationships/image" Target="../media/image77.wmf"/><Relationship Id="rId52" Type="http://schemas.openxmlformats.org/officeDocument/2006/relationships/image" Target="../media/image81.wmf"/><Relationship Id="rId60" Type="http://schemas.openxmlformats.org/officeDocument/2006/relationships/oleObject" Target="../embeddings/oleObject155.bin"/><Relationship Id="rId65" Type="http://schemas.openxmlformats.org/officeDocument/2006/relationships/image" Target="../media/image87.wmf"/><Relationship Id="rId4" Type="http://schemas.openxmlformats.org/officeDocument/2006/relationships/image" Target="../media/image59.wmf"/><Relationship Id="rId9" Type="http://schemas.openxmlformats.org/officeDocument/2006/relationships/oleObject" Target="../embeddings/oleObject126.bin"/><Relationship Id="rId14" Type="http://schemas.openxmlformats.org/officeDocument/2006/relationships/image" Target="../media/image64.wmf"/><Relationship Id="rId22" Type="http://schemas.openxmlformats.org/officeDocument/2006/relationships/image" Target="../media/image68.wmf"/><Relationship Id="rId27" Type="http://schemas.openxmlformats.org/officeDocument/2006/relationships/oleObject" Target="../embeddings/oleObject135.bin"/><Relationship Id="rId30" Type="http://schemas.openxmlformats.org/officeDocument/2006/relationships/image" Target="../media/image71.wmf"/><Relationship Id="rId35" Type="http://schemas.openxmlformats.org/officeDocument/2006/relationships/oleObject" Target="../embeddings/oleObject139.bin"/><Relationship Id="rId43" Type="http://schemas.openxmlformats.org/officeDocument/2006/relationships/oleObject" Target="../embeddings/oleObject144.bin"/><Relationship Id="rId48" Type="http://schemas.openxmlformats.org/officeDocument/2006/relationships/oleObject" Target="../embeddings/oleObject147.bin"/><Relationship Id="rId56" Type="http://schemas.openxmlformats.org/officeDocument/2006/relationships/oleObject" Target="../embeddings/oleObject153.bin"/><Relationship Id="rId64" Type="http://schemas.openxmlformats.org/officeDocument/2006/relationships/oleObject" Target="../embeddings/oleObject157.bin"/><Relationship Id="rId69" Type="http://schemas.openxmlformats.org/officeDocument/2006/relationships/oleObject" Target="../embeddings/oleObject160.bin"/><Relationship Id="rId8" Type="http://schemas.openxmlformats.org/officeDocument/2006/relationships/image" Target="../media/image61.wmf"/><Relationship Id="rId51" Type="http://schemas.openxmlformats.org/officeDocument/2006/relationships/oleObject" Target="../embeddings/oleObject150.bin"/><Relationship Id="rId72" Type="http://schemas.openxmlformats.org/officeDocument/2006/relationships/image" Target="../media/image90.wmf"/><Relationship Id="rId3" Type="http://schemas.openxmlformats.org/officeDocument/2006/relationships/oleObject" Target="../embeddings/oleObject123.bin"/><Relationship Id="rId12" Type="http://schemas.openxmlformats.org/officeDocument/2006/relationships/image" Target="../media/image63.wmf"/><Relationship Id="rId17" Type="http://schemas.openxmlformats.org/officeDocument/2006/relationships/oleObject" Target="../embeddings/oleObject130.bin"/><Relationship Id="rId25" Type="http://schemas.openxmlformats.org/officeDocument/2006/relationships/oleObject" Target="../embeddings/oleObject134.bin"/><Relationship Id="rId33" Type="http://schemas.openxmlformats.org/officeDocument/2006/relationships/oleObject" Target="../embeddings/oleObject138.bin"/><Relationship Id="rId38" Type="http://schemas.openxmlformats.org/officeDocument/2006/relationships/oleObject" Target="../embeddings/oleObject141.bin"/><Relationship Id="rId46" Type="http://schemas.openxmlformats.org/officeDocument/2006/relationships/image" Target="../media/image78.wmf"/><Relationship Id="rId59" Type="http://schemas.openxmlformats.org/officeDocument/2006/relationships/image" Target="../media/image84.wmf"/><Relationship Id="rId67" Type="http://schemas.openxmlformats.org/officeDocument/2006/relationships/oleObject" Target="../embeddings/oleObject159.bin"/><Relationship Id="rId20" Type="http://schemas.openxmlformats.org/officeDocument/2006/relationships/image" Target="../media/image67.wmf"/><Relationship Id="rId41" Type="http://schemas.openxmlformats.org/officeDocument/2006/relationships/oleObject" Target="../embeddings/oleObject143.bin"/><Relationship Id="rId54" Type="http://schemas.openxmlformats.org/officeDocument/2006/relationships/oleObject" Target="../embeddings/oleObject152.bin"/><Relationship Id="rId62" Type="http://schemas.openxmlformats.org/officeDocument/2006/relationships/oleObject" Target="../embeddings/oleObject156.bin"/><Relationship Id="rId70" Type="http://schemas.openxmlformats.org/officeDocument/2006/relationships/image" Target="../media/image89.wmf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67.bin"/><Relationship Id="rId18" Type="http://schemas.openxmlformats.org/officeDocument/2006/relationships/image" Target="../media/image66.wmf"/><Relationship Id="rId26" Type="http://schemas.openxmlformats.org/officeDocument/2006/relationships/image" Target="../media/image69.wmf"/><Relationship Id="rId39" Type="http://schemas.openxmlformats.org/officeDocument/2006/relationships/image" Target="../media/image72.wmf"/><Relationship Id="rId21" Type="http://schemas.openxmlformats.org/officeDocument/2006/relationships/oleObject" Target="../embeddings/oleObject171.bin"/><Relationship Id="rId34" Type="http://schemas.openxmlformats.org/officeDocument/2006/relationships/image" Target="../media/image75.wmf"/><Relationship Id="rId42" Type="http://schemas.openxmlformats.org/officeDocument/2006/relationships/oleObject" Target="../embeddings/oleObject182.bin"/><Relationship Id="rId47" Type="http://schemas.openxmlformats.org/officeDocument/2006/relationships/oleObject" Target="../embeddings/oleObject185.bin"/><Relationship Id="rId50" Type="http://schemas.openxmlformats.org/officeDocument/2006/relationships/oleObject" Target="../embeddings/oleObject188.bin"/><Relationship Id="rId55" Type="http://schemas.openxmlformats.org/officeDocument/2006/relationships/image" Target="../media/image82.wmf"/><Relationship Id="rId63" Type="http://schemas.openxmlformats.org/officeDocument/2006/relationships/image" Target="../media/image86.wmf"/><Relationship Id="rId68" Type="http://schemas.openxmlformats.org/officeDocument/2006/relationships/oleObject" Target="../embeddings/oleObject197.bin"/><Relationship Id="rId7" Type="http://schemas.openxmlformats.org/officeDocument/2006/relationships/oleObject" Target="../embeddings/oleObject164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65.wmf"/><Relationship Id="rId29" Type="http://schemas.openxmlformats.org/officeDocument/2006/relationships/oleObject" Target="../embeddings/oleObject175.bin"/><Relationship Id="rId1" Type="http://schemas.openxmlformats.org/officeDocument/2006/relationships/vmlDrawing" Target="../drawings/vmlDrawing21.vml"/><Relationship Id="rId6" Type="http://schemas.openxmlformats.org/officeDocument/2006/relationships/image" Target="../media/image60.wmf"/><Relationship Id="rId11" Type="http://schemas.openxmlformats.org/officeDocument/2006/relationships/oleObject" Target="../embeddings/oleObject166.bin"/><Relationship Id="rId24" Type="http://schemas.openxmlformats.org/officeDocument/2006/relationships/image" Target="../media/image74.wmf"/><Relationship Id="rId32" Type="http://schemas.openxmlformats.org/officeDocument/2006/relationships/image" Target="../media/image80.wmf"/><Relationship Id="rId37" Type="http://schemas.openxmlformats.org/officeDocument/2006/relationships/image" Target="../media/image91.wmf"/><Relationship Id="rId40" Type="http://schemas.openxmlformats.org/officeDocument/2006/relationships/oleObject" Target="../embeddings/oleObject181.bin"/><Relationship Id="rId45" Type="http://schemas.openxmlformats.org/officeDocument/2006/relationships/image" Target="../media/image77.wmf"/><Relationship Id="rId53" Type="http://schemas.openxmlformats.org/officeDocument/2006/relationships/image" Target="../media/image92.wmf"/><Relationship Id="rId58" Type="http://schemas.openxmlformats.org/officeDocument/2006/relationships/oleObject" Target="../embeddings/oleObject192.bin"/><Relationship Id="rId66" Type="http://schemas.openxmlformats.org/officeDocument/2006/relationships/oleObject" Target="../embeddings/oleObject196.bin"/><Relationship Id="rId5" Type="http://schemas.openxmlformats.org/officeDocument/2006/relationships/oleObject" Target="../embeddings/oleObject163.bin"/><Relationship Id="rId15" Type="http://schemas.openxmlformats.org/officeDocument/2006/relationships/oleObject" Target="../embeddings/oleObject168.bin"/><Relationship Id="rId23" Type="http://schemas.openxmlformats.org/officeDocument/2006/relationships/oleObject" Target="../embeddings/oleObject172.bin"/><Relationship Id="rId28" Type="http://schemas.openxmlformats.org/officeDocument/2006/relationships/image" Target="../media/image70.wmf"/><Relationship Id="rId36" Type="http://schemas.openxmlformats.org/officeDocument/2006/relationships/oleObject" Target="../embeddings/oleObject179.bin"/><Relationship Id="rId49" Type="http://schemas.openxmlformats.org/officeDocument/2006/relationships/oleObject" Target="../embeddings/oleObject187.bin"/><Relationship Id="rId57" Type="http://schemas.openxmlformats.org/officeDocument/2006/relationships/image" Target="../media/image83.wmf"/><Relationship Id="rId61" Type="http://schemas.openxmlformats.org/officeDocument/2006/relationships/image" Target="../media/image85.wmf"/><Relationship Id="rId10" Type="http://schemas.openxmlformats.org/officeDocument/2006/relationships/image" Target="../media/image62.wmf"/><Relationship Id="rId19" Type="http://schemas.openxmlformats.org/officeDocument/2006/relationships/oleObject" Target="../embeddings/oleObject170.bin"/><Relationship Id="rId31" Type="http://schemas.openxmlformats.org/officeDocument/2006/relationships/oleObject" Target="../embeddings/oleObject176.bin"/><Relationship Id="rId44" Type="http://schemas.openxmlformats.org/officeDocument/2006/relationships/oleObject" Target="../embeddings/oleObject183.bin"/><Relationship Id="rId52" Type="http://schemas.openxmlformats.org/officeDocument/2006/relationships/oleObject" Target="../embeddings/oleObject189.bin"/><Relationship Id="rId60" Type="http://schemas.openxmlformats.org/officeDocument/2006/relationships/oleObject" Target="../embeddings/oleObject193.bin"/><Relationship Id="rId65" Type="http://schemas.openxmlformats.org/officeDocument/2006/relationships/image" Target="../media/image87.wmf"/><Relationship Id="rId4" Type="http://schemas.openxmlformats.org/officeDocument/2006/relationships/image" Target="../media/image59.wmf"/><Relationship Id="rId9" Type="http://schemas.openxmlformats.org/officeDocument/2006/relationships/oleObject" Target="../embeddings/oleObject165.bin"/><Relationship Id="rId14" Type="http://schemas.openxmlformats.org/officeDocument/2006/relationships/image" Target="../media/image64.wmf"/><Relationship Id="rId22" Type="http://schemas.openxmlformats.org/officeDocument/2006/relationships/image" Target="../media/image68.wmf"/><Relationship Id="rId27" Type="http://schemas.openxmlformats.org/officeDocument/2006/relationships/oleObject" Target="../embeddings/oleObject174.bin"/><Relationship Id="rId30" Type="http://schemas.openxmlformats.org/officeDocument/2006/relationships/image" Target="../media/image71.wmf"/><Relationship Id="rId35" Type="http://schemas.openxmlformats.org/officeDocument/2006/relationships/oleObject" Target="../embeddings/oleObject178.bin"/><Relationship Id="rId43" Type="http://schemas.openxmlformats.org/officeDocument/2006/relationships/image" Target="../media/image76.wmf"/><Relationship Id="rId48" Type="http://schemas.openxmlformats.org/officeDocument/2006/relationships/oleObject" Target="../embeddings/oleObject186.bin"/><Relationship Id="rId56" Type="http://schemas.openxmlformats.org/officeDocument/2006/relationships/oleObject" Target="../embeddings/oleObject191.bin"/><Relationship Id="rId64" Type="http://schemas.openxmlformats.org/officeDocument/2006/relationships/oleObject" Target="../embeddings/oleObject195.bin"/><Relationship Id="rId69" Type="http://schemas.openxmlformats.org/officeDocument/2006/relationships/image" Target="../media/image94.wmf"/><Relationship Id="rId8" Type="http://schemas.openxmlformats.org/officeDocument/2006/relationships/image" Target="../media/image61.wmf"/><Relationship Id="rId51" Type="http://schemas.openxmlformats.org/officeDocument/2006/relationships/image" Target="../media/image81.wmf"/><Relationship Id="rId3" Type="http://schemas.openxmlformats.org/officeDocument/2006/relationships/oleObject" Target="../embeddings/oleObject162.bin"/><Relationship Id="rId12" Type="http://schemas.openxmlformats.org/officeDocument/2006/relationships/image" Target="../media/image63.wmf"/><Relationship Id="rId17" Type="http://schemas.openxmlformats.org/officeDocument/2006/relationships/oleObject" Target="../embeddings/oleObject169.bin"/><Relationship Id="rId25" Type="http://schemas.openxmlformats.org/officeDocument/2006/relationships/oleObject" Target="../embeddings/oleObject173.bin"/><Relationship Id="rId33" Type="http://schemas.openxmlformats.org/officeDocument/2006/relationships/oleObject" Target="../embeddings/oleObject177.bin"/><Relationship Id="rId38" Type="http://schemas.openxmlformats.org/officeDocument/2006/relationships/oleObject" Target="../embeddings/oleObject180.bin"/><Relationship Id="rId46" Type="http://schemas.openxmlformats.org/officeDocument/2006/relationships/oleObject" Target="../embeddings/oleObject184.bin"/><Relationship Id="rId59" Type="http://schemas.openxmlformats.org/officeDocument/2006/relationships/image" Target="../media/image84.wmf"/><Relationship Id="rId67" Type="http://schemas.openxmlformats.org/officeDocument/2006/relationships/image" Target="../media/image93.wmf"/><Relationship Id="rId20" Type="http://schemas.openxmlformats.org/officeDocument/2006/relationships/image" Target="../media/image67.wmf"/><Relationship Id="rId41" Type="http://schemas.openxmlformats.org/officeDocument/2006/relationships/image" Target="../media/image73.wmf"/><Relationship Id="rId54" Type="http://schemas.openxmlformats.org/officeDocument/2006/relationships/oleObject" Target="../embeddings/oleObject190.bin"/><Relationship Id="rId62" Type="http://schemas.openxmlformats.org/officeDocument/2006/relationships/oleObject" Target="../embeddings/oleObject194.bin"/><Relationship Id="rId70" Type="http://schemas.openxmlformats.org/officeDocument/2006/relationships/image" Target="../media/image5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wmf"/><Relationship Id="rId3" Type="http://schemas.openxmlformats.org/officeDocument/2006/relationships/oleObject" Target="../embeddings/oleObject198.bin"/><Relationship Id="rId7" Type="http://schemas.openxmlformats.org/officeDocument/2006/relationships/oleObject" Target="../embeddings/oleObject200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96.wmf"/><Relationship Id="rId5" Type="http://schemas.openxmlformats.org/officeDocument/2006/relationships/oleObject" Target="../embeddings/oleObject199.bin"/><Relationship Id="rId10" Type="http://schemas.openxmlformats.org/officeDocument/2006/relationships/image" Target="../media/image98.wmf"/><Relationship Id="rId4" Type="http://schemas.openxmlformats.org/officeDocument/2006/relationships/image" Target="../media/image95.wmf"/><Relationship Id="rId9" Type="http://schemas.openxmlformats.org/officeDocument/2006/relationships/oleObject" Target="../embeddings/oleObject201.bin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00.wmf"/><Relationship Id="rId5" Type="http://schemas.openxmlformats.org/officeDocument/2006/relationships/oleObject" Target="../embeddings/oleObject203.bin"/><Relationship Id="rId4" Type="http://schemas.openxmlformats.org/officeDocument/2006/relationships/image" Target="../media/image99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oleObject" Target="../embeddings/oleObject204.bin"/><Relationship Id="rId7" Type="http://schemas.openxmlformats.org/officeDocument/2006/relationships/image" Target="../media/image107.pn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00.wmf"/><Relationship Id="rId5" Type="http://schemas.openxmlformats.org/officeDocument/2006/relationships/oleObject" Target="../embeddings/oleObject205.bin"/><Relationship Id="rId4" Type="http://schemas.openxmlformats.org/officeDocument/2006/relationships/image" Target="../media/image99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6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00.wmf"/><Relationship Id="rId5" Type="http://schemas.openxmlformats.org/officeDocument/2006/relationships/oleObject" Target="../embeddings/oleObject207.bin"/><Relationship Id="rId4" Type="http://schemas.openxmlformats.org/officeDocument/2006/relationships/image" Target="../media/image99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8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00.wmf"/><Relationship Id="rId5" Type="http://schemas.openxmlformats.org/officeDocument/2006/relationships/oleObject" Target="../embeddings/oleObject209.bin"/><Relationship Id="rId4" Type="http://schemas.openxmlformats.org/officeDocument/2006/relationships/image" Target="../media/image99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7" Type="http://schemas.openxmlformats.org/officeDocument/2006/relationships/image" Target="../media/image100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211.bin"/><Relationship Id="rId5" Type="http://schemas.openxmlformats.org/officeDocument/2006/relationships/image" Target="../media/image99.wmf"/><Relationship Id="rId4" Type="http://schemas.openxmlformats.org/officeDocument/2006/relationships/oleObject" Target="../embeddings/oleObject210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wmf"/><Relationship Id="rId13" Type="http://schemas.openxmlformats.org/officeDocument/2006/relationships/oleObject" Target="../embeddings/oleObject217.bin"/><Relationship Id="rId3" Type="http://schemas.openxmlformats.org/officeDocument/2006/relationships/oleObject" Target="../embeddings/oleObject212.bin"/><Relationship Id="rId7" Type="http://schemas.openxmlformats.org/officeDocument/2006/relationships/oleObject" Target="../embeddings/oleObject214.bin"/><Relationship Id="rId12" Type="http://schemas.openxmlformats.org/officeDocument/2006/relationships/image" Target="../media/image103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00.wmf"/><Relationship Id="rId11" Type="http://schemas.openxmlformats.org/officeDocument/2006/relationships/oleObject" Target="../embeddings/oleObject216.bin"/><Relationship Id="rId5" Type="http://schemas.openxmlformats.org/officeDocument/2006/relationships/oleObject" Target="../embeddings/oleObject213.bin"/><Relationship Id="rId10" Type="http://schemas.openxmlformats.org/officeDocument/2006/relationships/image" Target="../media/image102.wmf"/><Relationship Id="rId4" Type="http://schemas.openxmlformats.org/officeDocument/2006/relationships/image" Target="../media/image99.wmf"/><Relationship Id="rId9" Type="http://schemas.openxmlformats.org/officeDocument/2006/relationships/oleObject" Target="../embeddings/oleObject215.bin"/><Relationship Id="rId14" Type="http://schemas.openxmlformats.org/officeDocument/2006/relationships/image" Target="../media/image104.w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0.bin"/><Relationship Id="rId3" Type="http://schemas.openxmlformats.org/officeDocument/2006/relationships/image" Target="../media/image115.png"/><Relationship Id="rId7" Type="http://schemas.openxmlformats.org/officeDocument/2006/relationships/image" Target="../media/image100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219.bin"/><Relationship Id="rId5" Type="http://schemas.openxmlformats.org/officeDocument/2006/relationships/image" Target="../media/image99.wmf"/><Relationship Id="rId4" Type="http://schemas.openxmlformats.org/officeDocument/2006/relationships/oleObject" Target="../embeddings/oleObject218.bin"/><Relationship Id="rId9" Type="http://schemas.openxmlformats.org/officeDocument/2006/relationships/image" Target="../media/image105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wmf"/><Relationship Id="rId13" Type="http://schemas.openxmlformats.org/officeDocument/2006/relationships/oleObject" Target="../embeddings/oleObject226.bin"/><Relationship Id="rId18" Type="http://schemas.openxmlformats.org/officeDocument/2006/relationships/image" Target="../media/image113.wmf"/><Relationship Id="rId3" Type="http://schemas.openxmlformats.org/officeDocument/2006/relationships/oleObject" Target="../embeddings/oleObject221.bin"/><Relationship Id="rId21" Type="http://schemas.openxmlformats.org/officeDocument/2006/relationships/oleObject" Target="../embeddings/oleObject230.bin"/><Relationship Id="rId7" Type="http://schemas.openxmlformats.org/officeDocument/2006/relationships/oleObject" Target="../embeddings/oleObject223.bin"/><Relationship Id="rId12" Type="http://schemas.openxmlformats.org/officeDocument/2006/relationships/image" Target="../media/image110.wmf"/><Relationship Id="rId17" Type="http://schemas.openxmlformats.org/officeDocument/2006/relationships/oleObject" Target="../embeddings/oleObject228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12.wmf"/><Relationship Id="rId20" Type="http://schemas.openxmlformats.org/officeDocument/2006/relationships/image" Target="../media/image114.wmf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07.wmf"/><Relationship Id="rId11" Type="http://schemas.openxmlformats.org/officeDocument/2006/relationships/oleObject" Target="../embeddings/oleObject225.bin"/><Relationship Id="rId5" Type="http://schemas.openxmlformats.org/officeDocument/2006/relationships/oleObject" Target="../embeddings/oleObject222.bin"/><Relationship Id="rId15" Type="http://schemas.openxmlformats.org/officeDocument/2006/relationships/oleObject" Target="../embeddings/oleObject227.bin"/><Relationship Id="rId10" Type="http://schemas.openxmlformats.org/officeDocument/2006/relationships/image" Target="../media/image109.wmf"/><Relationship Id="rId19" Type="http://schemas.openxmlformats.org/officeDocument/2006/relationships/oleObject" Target="../embeddings/oleObject229.bin"/><Relationship Id="rId4" Type="http://schemas.openxmlformats.org/officeDocument/2006/relationships/image" Target="../media/image106.wmf"/><Relationship Id="rId9" Type="http://schemas.openxmlformats.org/officeDocument/2006/relationships/oleObject" Target="../embeddings/oleObject224.bin"/><Relationship Id="rId14" Type="http://schemas.openxmlformats.org/officeDocument/2006/relationships/image" Target="../media/image111.wmf"/><Relationship Id="rId22" Type="http://schemas.openxmlformats.org/officeDocument/2006/relationships/image" Target="../media/image115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wmf"/><Relationship Id="rId13" Type="http://schemas.openxmlformats.org/officeDocument/2006/relationships/oleObject" Target="../embeddings/oleObject236.bin"/><Relationship Id="rId18" Type="http://schemas.openxmlformats.org/officeDocument/2006/relationships/image" Target="../media/image114.wmf"/><Relationship Id="rId3" Type="http://schemas.openxmlformats.org/officeDocument/2006/relationships/oleObject" Target="../embeddings/oleObject231.bin"/><Relationship Id="rId7" Type="http://schemas.openxmlformats.org/officeDocument/2006/relationships/oleObject" Target="../embeddings/oleObject233.bin"/><Relationship Id="rId12" Type="http://schemas.openxmlformats.org/officeDocument/2006/relationships/image" Target="../media/image111.wmf"/><Relationship Id="rId17" Type="http://schemas.openxmlformats.org/officeDocument/2006/relationships/oleObject" Target="../embeddings/oleObject238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13.wmf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08.wmf"/><Relationship Id="rId11" Type="http://schemas.openxmlformats.org/officeDocument/2006/relationships/oleObject" Target="../embeddings/oleObject235.bin"/><Relationship Id="rId5" Type="http://schemas.openxmlformats.org/officeDocument/2006/relationships/oleObject" Target="../embeddings/oleObject232.bin"/><Relationship Id="rId15" Type="http://schemas.openxmlformats.org/officeDocument/2006/relationships/oleObject" Target="../embeddings/oleObject237.bin"/><Relationship Id="rId10" Type="http://schemas.openxmlformats.org/officeDocument/2006/relationships/image" Target="../media/image110.wmf"/><Relationship Id="rId4" Type="http://schemas.openxmlformats.org/officeDocument/2006/relationships/image" Target="../media/image116.wmf"/><Relationship Id="rId9" Type="http://schemas.openxmlformats.org/officeDocument/2006/relationships/oleObject" Target="../embeddings/oleObject234.bin"/><Relationship Id="rId14" Type="http://schemas.openxmlformats.org/officeDocument/2006/relationships/image" Target="../media/image112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wmf"/><Relationship Id="rId13" Type="http://schemas.openxmlformats.org/officeDocument/2006/relationships/oleObject" Target="../embeddings/oleObject244.bin"/><Relationship Id="rId18" Type="http://schemas.openxmlformats.org/officeDocument/2006/relationships/image" Target="../media/image121.wmf"/><Relationship Id="rId3" Type="http://schemas.openxmlformats.org/officeDocument/2006/relationships/oleObject" Target="../embeddings/oleObject239.bin"/><Relationship Id="rId7" Type="http://schemas.openxmlformats.org/officeDocument/2006/relationships/oleObject" Target="../embeddings/oleObject241.bin"/><Relationship Id="rId12" Type="http://schemas.openxmlformats.org/officeDocument/2006/relationships/image" Target="../media/image118.wmf"/><Relationship Id="rId17" Type="http://schemas.openxmlformats.org/officeDocument/2006/relationships/oleObject" Target="../embeddings/oleObject246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20.wmf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08.wmf"/><Relationship Id="rId11" Type="http://schemas.openxmlformats.org/officeDocument/2006/relationships/oleObject" Target="../embeddings/oleObject243.bin"/><Relationship Id="rId5" Type="http://schemas.openxmlformats.org/officeDocument/2006/relationships/oleObject" Target="../embeddings/oleObject240.bin"/><Relationship Id="rId15" Type="http://schemas.openxmlformats.org/officeDocument/2006/relationships/oleObject" Target="../embeddings/oleObject245.bin"/><Relationship Id="rId10" Type="http://schemas.openxmlformats.org/officeDocument/2006/relationships/image" Target="../media/image110.wmf"/><Relationship Id="rId4" Type="http://schemas.openxmlformats.org/officeDocument/2006/relationships/image" Target="../media/image117.wmf"/><Relationship Id="rId9" Type="http://schemas.openxmlformats.org/officeDocument/2006/relationships/oleObject" Target="../embeddings/oleObject242.bin"/><Relationship Id="rId14" Type="http://schemas.openxmlformats.org/officeDocument/2006/relationships/image" Target="../media/image119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7" Type="http://schemas.openxmlformats.org/officeDocument/2006/relationships/image" Target="../media/image123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3.vml"/><Relationship Id="rId6" Type="http://schemas.openxmlformats.org/officeDocument/2006/relationships/oleObject" Target="../embeddings/oleObject248.bin"/><Relationship Id="rId5" Type="http://schemas.openxmlformats.org/officeDocument/2006/relationships/image" Target="../media/image122.wmf"/><Relationship Id="rId4" Type="http://schemas.openxmlformats.org/officeDocument/2006/relationships/oleObject" Target="../embeddings/oleObject247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wmf"/><Relationship Id="rId3" Type="http://schemas.openxmlformats.org/officeDocument/2006/relationships/oleObject" Target="../embeddings/oleObject249.bin"/><Relationship Id="rId7" Type="http://schemas.openxmlformats.org/officeDocument/2006/relationships/oleObject" Target="../embeddings/oleObject25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96.wmf"/><Relationship Id="rId5" Type="http://schemas.openxmlformats.org/officeDocument/2006/relationships/oleObject" Target="../embeddings/oleObject250.bin"/><Relationship Id="rId10" Type="http://schemas.openxmlformats.org/officeDocument/2006/relationships/image" Target="../media/image98.wmf"/><Relationship Id="rId4" Type="http://schemas.openxmlformats.org/officeDocument/2006/relationships/image" Target="../media/image124.wmf"/><Relationship Id="rId9" Type="http://schemas.openxmlformats.org/officeDocument/2006/relationships/oleObject" Target="../embeddings/oleObject252.bin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wmf"/><Relationship Id="rId3" Type="http://schemas.openxmlformats.org/officeDocument/2006/relationships/oleObject" Target="../embeddings/oleObject253.bin"/><Relationship Id="rId7" Type="http://schemas.openxmlformats.org/officeDocument/2006/relationships/oleObject" Target="../embeddings/oleObject255.bin"/><Relationship Id="rId12" Type="http://schemas.openxmlformats.org/officeDocument/2006/relationships/image" Target="../media/image129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126.wmf"/><Relationship Id="rId11" Type="http://schemas.openxmlformats.org/officeDocument/2006/relationships/oleObject" Target="../embeddings/oleObject257.bin"/><Relationship Id="rId5" Type="http://schemas.openxmlformats.org/officeDocument/2006/relationships/oleObject" Target="../embeddings/oleObject254.bin"/><Relationship Id="rId10" Type="http://schemas.openxmlformats.org/officeDocument/2006/relationships/image" Target="../media/image128.wmf"/><Relationship Id="rId4" Type="http://schemas.openxmlformats.org/officeDocument/2006/relationships/image" Target="../media/image125.wmf"/><Relationship Id="rId9" Type="http://schemas.openxmlformats.org/officeDocument/2006/relationships/oleObject" Target="../embeddings/oleObject256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emf"/><Relationship Id="rId13" Type="http://schemas.openxmlformats.org/officeDocument/2006/relationships/oleObject" Target="../embeddings/oleObject263.bin"/><Relationship Id="rId18" Type="http://schemas.openxmlformats.org/officeDocument/2006/relationships/image" Target="../media/image137.wmf"/><Relationship Id="rId3" Type="http://schemas.openxmlformats.org/officeDocument/2006/relationships/oleObject" Target="../embeddings/oleObject258.bin"/><Relationship Id="rId7" Type="http://schemas.openxmlformats.org/officeDocument/2006/relationships/oleObject" Target="../embeddings/oleObject260.bin"/><Relationship Id="rId12" Type="http://schemas.openxmlformats.org/officeDocument/2006/relationships/image" Target="../media/image134.emf"/><Relationship Id="rId17" Type="http://schemas.openxmlformats.org/officeDocument/2006/relationships/oleObject" Target="../embeddings/oleObject265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36.wmf"/><Relationship Id="rId1" Type="http://schemas.openxmlformats.org/officeDocument/2006/relationships/vmlDrawing" Target="../drawings/vmlDrawing36.vml"/><Relationship Id="rId6" Type="http://schemas.openxmlformats.org/officeDocument/2006/relationships/image" Target="../media/image131.emf"/><Relationship Id="rId11" Type="http://schemas.openxmlformats.org/officeDocument/2006/relationships/oleObject" Target="../embeddings/oleObject262.bin"/><Relationship Id="rId5" Type="http://schemas.openxmlformats.org/officeDocument/2006/relationships/oleObject" Target="../embeddings/oleObject259.bin"/><Relationship Id="rId15" Type="http://schemas.openxmlformats.org/officeDocument/2006/relationships/oleObject" Target="../embeddings/oleObject264.bin"/><Relationship Id="rId10" Type="http://schemas.openxmlformats.org/officeDocument/2006/relationships/image" Target="../media/image133.emf"/><Relationship Id="rId4" Type="http://schemas.openxmlformats.org/officeDocument/2006/relationships/image" Target="../media/image130.emf"/><Relationship Id="rId9" Type="http://schemas.openxmlformats.org/officeDocument/2006/relationships/oleObject" Target="../embeddings/oleObject261.bin"/><Relationship Id="rId14" Type="http://schemas.openxmlformats.org/officeDocument/2006/relationships/image" Target="../media/image135.e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5.bin"/><Relationship Id="rId3" Type="http://schemas.openxmlformats.org/officeDocument/2006/relationships/image" Target="../media/image138.png"/><Relationship Id="rId7" Type="http://schemas.openxmlformats.org/officeDocument/2006/relationships/image" Target="../media/image126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7.vml"/><Relationship Id="rId6" Type="http://schemas.openxmlformats.org/officeDocument/2006/relationships/oleObject" Target="../embeddings/oleObject254.bin"/><Relationship Id="rId11" Type="http://schemas.openxmlformats.org/officeDocument/2006/relationships/image" Target="../media/image128.wmf"/><Relationship Id="rId5" Type="http://schemas.openxmlformats.org/officeDocument/2006/relationships/image" Target="../media/image125.wmf"/><Relationship Id="rId10" Type="http://schemas.openxmlformats.org/officeDocument/2006/relationships/oleObject" Target="../embeddings/oleObject256.bin"/><Relationship Id="rId4" Type="http://schemas.openxmlformats.org/officeDocument/2006/relationships/oleObject" Target="../embeddings/oleObject253.bin"/><Relationship Id="rId9" Type="http://schemas.openxmlformats.org/officeDocument/2006/relationships/image" Target="../media/image127.wmf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8.bin"/><Relationship Id="rId3" Type="http://schemas.openxmlformats.org/officeDocument/2006/relationships/image" Target="../media/image145.png"/><Relationship Id="rId7" Type="http://schemas.openxmlformats.org/officeDocument/2006/relationships/image" Target="../media/image140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8.vml"/><Relationship Id="rId6" Type="http://schemas.openxmlformats.org/officeDocument/2006/relationships/oleObject" Target="../embeddings/oleObject267.bin"/><Relationship Id="rId11" Type="http://schemas.openxmlformats.org/officeDocument/2006/relationships/image" Target="../media/image142.wmf"/><Relationship Id="rId5" Type="http://schemas.openxmlformats.org/officeDocument/2006/relationships/image" Target="../media/image139.wmf"/><Relationship Id="rId10" Type="http://schemas.openxmlformats.org/officeDocument/2006/relationships/oleObject" Target="../embeddings/oleObject269.bin"/><Relationship Id="rId4" Type="http://schemas.openxmlformats.org/officeDocument/2006/relationships/oleObject" Target="../embeddings/oleObject266.bin"/><Relationship Id="rId9" Type="http://schemas.openxmlformats.org/officeDocument/2006/relationships/image" Target="../media/image141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emf"/><Relationship Id="rId3" Type="http://schemas.openxmlformats.org/officeDocument/2006/relationships/oleObject" Target="../embeddings/oleObject270.bin"/><Relationship Id="rId7" Type="http://schemas.openxmlformats.org/officeDocument/2006/relationships/oleObject" Target="../embeddings/oleObject272.bin"/><Relationship Id="rId12" Type="http://schemas.openxmlformats.org/officeDocument/2006/relationships/image" Target="../media/image147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144.emf"/><Relationship Id="rId11" Type="http://schemas.openxmlformats.org/officeDocument/2006/relationships/oleObject" Target="../embeddings/oleObject274.bin"/><Relationship Id="rId5" Type="http://schemas.openxmlformats.org/officeDocument/2006/relationships/oleObject" Target="../embeddings/oleObject271.bin"/><Relationship Id="rId10" Type="http://schemas.openxmlformats.org/officeDocument/2006/relationships/image" Target="../media/image146.wmf"/><Relationship Id="rId4" Type="http://schemas.openxmlformats.org/officeDocument/2006/relationships/image" Target="../media/image143.emf"/><Relationship Id="rId9" Type="http://schemas.openxmlformats.org/officeDocument/2006/relationships/oleObject" Target="../embeddings/oleObject273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wmf"/><Relationship Id="rId13" Type="http://schemas.openxmlformats.org/officeDocument/2006/relationships/oleObject" Target="../embeddings/oleObject280.bin"/><Relationship Id="rId3" Type="http://schemas.openxmlformats.org/officeDocument/2006/relationships/oleObject" Target="../embeddings/oleObject275.bin"/><Relationship Id="rId7" Type="http://schemas.openxmlformats.org/officeDocument/2006/relationships/oleObject" Target="../embeddings/oleObject277.bin"/><Relationship Id="rId12" Type="http://schemas.openxmlformats.org/officeDocument/2006/relationships/image" Target="../media/image152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149.emf"/><Relationship Id="rId11" Type="http://schemas.openxmlformats.org/officeDocument/2006/relationships/oleObject" Target="../embeddings/oleObject279.bin"/><Relationship Id="rId5" Type="http://schemas.openxmlformats.org/officeDocument/2006/relationships/oleObject" Target="../embeddings/oleObject276.bin"/><Relationship Id="rId10" Type="http://schemas.openxmlformats.org/officeDocument/2006/relationships/image" Target="../media/image151.wmf"/><Relationship Id="rId4" Type="http://schemas.openxmlformats.org/officeDocument/2006/relationships/image" Target="../media/image148.emf"/><Relationship Id="rId9" Type="http://schemas.openxmlformats.org/officeDocument/2006/relationships/oleObject" Target="../embeddings/oleObject278.bin"/><Relationship Id="rId14" Type="http://schemas.openxmlformats.org/officeDocument/2006/relationships/image" Target="../media/image153.w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wmf"/><Relationship Id="rId13" Type="http://schemas.openxmlformats.org/officeDocument/2006/relationships/oleObject" Target="../embeddings/oleObject286.bin"/><Relationship Id="rId18" Type="http://schemas.openxmlformats.org/officeDocument/2006/relationships/oleObject" Target="../embeddings/oleObject289.bin"/><Relationship Id="rId3" Type="http://schemas.openxmlformats.org/officeDocument/2006/relationships/oleObject" Target="../embeddings/oleObject281.bin"/><Relationship Id="rId21" Type="http://schemas.openxmlformats.org/officeDocument/2006/relationships/image" Target="../media/image162.wmf"/><Relationship Id="rId7" Type="http://schemas.openxmlformats.org/officeDocument/2006/relationships/oleObject" Target="../embeddings/oleObject283.bin"/><Relationship Id="rId12" Type="http://schemas.openxmlformats.org/officeDocument/2006/relationships/image" Target="../media/image158.wmf"/><Relationship Id="rId17" Type="http://schemas.openxmlformats.org/officeDocument/2006/relationships/image" Target="../media/image160.wmf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288.bin"/><Relationship Id="rId20" Type="http://schemas.openxmlformats.org/officeDocument/2006/relationships/oleObject" Target="../embeddings/oleObject290.bin"/><Relationship Id="rId1" Type="http://schemas.openxmlformats.org/officeDocument/2006/relationships/vmlDrawing" Target="../drawings/vmlDrawing41.vml"/><Relationship Id="rId6" Type="http://schemas.openxmlformats.org/officeDocument/2006/relationships/image" Target="../media/image155.emf"/><Relationship Id="rId11" Type="http://schemas.openxmlformats.org/officeDocument/2006/relationships/oleObject" Target="../embeddings/oleObject285.bin"/><Relationship Id="rId5" Type="http://schemas.openxmlformats.org/officeDocument/2006/relationships/oleObject" Target="../embeddings/oleObject282.bin"/><Relationship Id="rId15" Type="http://schemas.openxmlformats.org/officeDocument/2006/relationships/oleObject" Target="../embeddings/oleObject287.bin"/><Relationship Id="rId10" Type="http://schemas.openxmlformats.org/officeDocument/2006/relationships/image" Target="../media/image157.wmf"/><Relationship Id="rId19" Type="http://schemas.openxmlformats.org/officeDocument/2006/relationships/image" Target="../media/image161.wmf"/><Relationship Id="rId4" Type="http://schemas.openxmlformats.org/officeDocument/2006/relationships/image" Target="../media/image154.wmf"/><Relationship Id="rId9" Type="http://schemas.openxmlformats.org/officeDocument/2006/relationships/oleObject" Target="../embeddings/oleObject284.bin"/><Relationship Id="rId14" Type="http://schemas.openxmlformats.org/officeDocument/2006/relationships/image" Target="../media/image159.wmf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167.emf"/><Relationship Id="rId5" Type="http://schemas.openxmlformats.org/officeDocument/2006/relationships/oleObject" Target="../embeddings/oleObject292.bin"/><Relationship Id="rId4" Type="http://schemas.openxmlformats.org/officeDocument/2006/relationships/image" Target="../media/image166.emf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7" Type="http://schemas.openxmlformats.org/officeDocument/2006/relationships/image" Target="../media/image167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3.vml"/><Relationship Id="rId6" Type="http://schemas.openxmlformats.org/officeDocument/2006/relationships/oleObject" Target="../embeddings/oleObject292.bin"/><Relationship Id="rId5" Type="http://schemas.openxmlformats.org/officeDocument/2006/relationships/image" Target="../media/image166.emf"/><Relationship Id="rId4" Type="http://schemas.openxmlformats.org/officeDocument/2006/relationships/oleObject" Target="../embeddings/oleObject291.bin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png"/><Relationship Id="rId3" Type="http://schemas.openxmlformats.org/officeDocument/2006/relationships/image" Target="../media/image182.png"/><Relationship Id="rId7" Type="http://schemas.openxmlformats.org/officeDocument/2006/relationships/image" Target="../media/image167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4.vml"/><Relationship Id="rId6" Type="http://schemas.openxmlformats.org/officeDocument/2006/relationships/oleObject" Target="../embeddings/oleObject292.bin"/><Relationship Id="rId5" Type="http://schemas.openxmlformats.org/officeDocument/2006/relationships/image" Target="../media/image166.emf"/><Relationship Id="rId4" Type="http://schemas.openxmlformats.org/officeDocument/2006/relationships/oleObject" Target="../embeddings/oleObject291.bin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0.pn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50.pn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9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20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51520" y="1052736"/>
            <a:ext cx="864096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600" dirty="0" smtClean="0">
                <a:solidFill>
                  <a:srgbClr val="0000FF"/>
                </a:solidFill>
                <a:latin typeface="Times" pitchFamily="18" charset="0"/>
                <a:ea typeface="楷体" pitchFamily="49" charset="-122"/>
                <a:cs typeface="Times" pitchFamily="18" charset="0"/>
              </a:rPr>
              <a:t>定义 </a:t>
            </a:r>
            <a:r>
              <a:rPr lang="zh-CN" altLang="en-US" sz="26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设</a:t>
            </a:r>
            <a:r>
              <a:rPr lang="el-GR" altLang="zh-CN" sz="26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Ω</a:t>
            </a:r>
            <a:r>
              <a:rPr lang="zh-CN" altLang="en-US" sz="26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为试验</a:t>
            </a:r>
            <a:r>
              <a:rPr lang="en-US" altLang="zh-CN" sz="2600" i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E</a:t>
            </a:r>
            <a:r>
              <a:rPr lang="zh-CN" altLang="en-US" sz="26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的样本空间，</a:t>
            </a:r>
            <a:r>
              <a:rPr lang="en-US" altLang="zh-CN" sz="26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 </a:t>
            </a:r>
            <a:r>
              <a:rPr lang="en-US" altLang="zh-CN" sz="2400" i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B</a:t>
            </a:r>
            <a:r>
              <a:rPr lang="en-US" altLang="zh-CN" sz="2800" baseline="-25000" dirty="0" smtClean="0">
                <a:latin typeface="Times" pitchFamily="18" charset="0"/>
                <a:cs typeface="Times" pitchFamily="18" charset="0"/>
              </a:rPr>
              <a:t>1</a:t>
            </a:r>
            <a:r>
              <a:rPr lang="en-US" altLang="zh-CN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,</a:t>
            </a:r>
            <a:r>
              <a:rPr lang="en-US" altLang="zh-CN" sz="2400" i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 B</a:t>
            </a:r>
            <a:r>
              <a:rPr lang="en-US" altLang="zh-CN" sz="2800" baseline="-25000" dirty="0" smtClean="0">
                <a:latin typeface="Times" pitchFamily="18" charset="0"/>
                <a:cs typeface="Times" pitchFamily="18" charset="0"/>
              </a:rPr>
              <a:t>2</a:t>
            </a:r>
            <a:r>
              <a:rPr lang="en-US" altLang="zh-CN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,…,</a:t>
            </a:r>
            <a:r>
              <a:rPr lang="en-US" altLang="zh-CN" sz="2400" i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 </a:t>
            </a:r>
            <a:r>
              <a:rPr lang="en-US" altLang="zh-CN" sz="2400" i="1" dirty="0" err="1" smtClean="0">
                <a:latin typeface="Times" pitchFamily="18" charset="0"/>
                <a:ea typeface="楷体" pitchFamily="49" charset="-122"/>
                <a:cs typeface="Times" pitchFamily="18" charset="0"/>
              </a:rPr>
              <a:t>B</a:t>
            </a:r>
            <a:r>
              <a:rPr lang="en-US" altLang="zh-CN" sz="2800" i="1" baseline="-25000" dirty="0" err="1" smtClean="0">
                <a:latin typeface="Times" pitchFamily="18" charset="0"/>
                <a:cs typeface="Times" pitchFamily="18" charset="0"/>
              </a:rPr>
              <a:t>n</a:t>
            </a:r>
            <a:r>
              <a:rPr lang="zh-CN" altLang="en-US" sz="26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为一组事件，</a:t>
            </a:r>
            <a:endParaRPr lang="en-US" altLang="zh-CN" sz="2600" dirty="0" smtClean="0">
              <a:latin typeface="Times" pitchFamily="18" charset="0"/>
              <a:ea typeface="楷体" pitchFamily="49" charset="-122"/>
              <a:cs typeface="Times" pitchFamily="18" charset="0"/>
            </a:endParaRPr>
          </a:p>
          <a:p>
            <a:r>
              <a:rPr lang="en-US" altLang="zh-CN" sz="26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         </a:t>
            </a:r>
            <a:r>
              <a:rPr lang="zh-CN" altLang="en-US" sz="26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若</a:t>
            </a:r>
            <a:r>
              <a:rPr lang="en-US" altLang="zh-CN" sz="2400" i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B</a:t>
            </a:r>
            <a:r>
              <a:rPr lang="en-US" altLang="zh-CN" sz="2800" baseline="-25000" dirty="0" smtClean="0">
                <a:latin typeface="Times" pitchFamily="18" charset="0"/>
                <a:cs typeface="Times" pitchFamily="18" charset="0"/>
              </a:rPr>
              <a:t>1</a:t>
            </a:r>
            <a:r>
              <a:rPr lang="en-US" altLang="zh-CN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,</a:t>
            </a:r>
            <a:r>
              <a:rPr lang="en-US" altLang="zh-CN" sz="2400" i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 B</a:t>
            </a:r>
            <a:r>
              <a:rPr lang="en-US" altLang="zh-CN" sz="2800" baseline="-25000" dirty="0" smtClean="0">
                <a:latin typeface="Times" pitchFamily="18" charset="0"/>
                <a:cs typeface="Times" pitchFamily="18" charset="0"/>
              </a:rPr>
              <a:t>2</a:t>
            </a:r>
            <a:r>
              <a:rPr lang="en-US" altLang="zh-CN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,…,</a:t>
            </a:r>
            <a:r>
              <a:rPr lang="en-US" altLang="zh-CN" sz="2400" i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 </a:t>
            </a:r>
            <a:r>
              <a:rPr lang="en-US" altLang="zh-CN" sz="2400" i="1" dirty="0" err="1" smtClean="0">
                <a:latin typeface="Times" pitchFamily="18" charset="0"/>
                <a:ea typeface="楷体" pitchFamily="49" charset="-122"/>
                <a:cs typeface="Times" pitchFamily="18" charset="0"/>
              </a:rPr>
              <a:t>B</a:t>
            </a:r>
            <a:r>
              <a:rPr lang="en-US" altLang="zh-CN" sz="2800" i="1" baseline="-25000" dirty="0" err="1" smtClean="0">
                <a:latin typeface="Times" pitchFamily="18" charset="0"/>
                <a:cs typeface="Times" pitchFamily="18" charset="0"/>
              </a:rPr>
              <a:t>n</a:t>
            </a:r>
            <a:r>
              <a:rPr lang="zh-CN" altLang="en-US" sz="26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两两互斥且</a:t>
            </a:r>
            <a:r>
              <a:rPr lang="en-US" altLang="zh-CN" sz="2400" i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B</a:t>
            </a:r>
            <a:r>
              <a:rPr lang="en-US" altLang="zh-CN" sz="2800" baseline="-25000" dirty="0" smtClean="0">
                <a:latin typeface="Times" pitchFamily="18" charset="0"/>
                <a:cs typeface="Times" pitchFamily="18" charset="0"/>
              </a:rPr>
              <a:t>1</a:t>
            </a:r>
            <a:r>
              <a:rPr lang="en-US" altLang="zh-CN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 ∪</a:t>
            </a:r>
            <a:r>
              <a:rPr lang="en-US" altLang="zh-CN" sz="2400" i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 B</a:t>
            </a:r>
            <a:r>
              <a:rPr lang="en-US" altLang="zh-CN" sz="2800" baseline="-25000" dirty="0" smtClean="0">
                <a:latin typeface="Times" pitchFamily="18" charset="0"/>
                <a:cs typeface="Times" pitchFamily="18" charset="0"/>
              </a:rPr>
              <a:t>2</a:t>
            </a:r>
            <a:r>
              <a:rPr lang="en-US" altLang="zh-CN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 ∪ … ∪</a:t>
            </a:r>
            <a:r>
              <a:rPr lang="en-US" altLang="zh-CN" sz="2400" i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 </a:t>
            </a:r>
            <a:r>
              <a:rPr lang="en-US" altLang="zh-CN" sz="2400" i="1" dirty="0" err="1" smtClean="0">
                <a:latin typeface="Times" pitchFamily="18" charset="0"/>
                <a:ea typeface="楷体" pitchFamily="49" charset="-122"/>
                <a:cs typeface="Times" pitchFamily="18" charset="0"/>
              </a:rPr>
              <a:t>B</a:t>
            </a:r>
            <a:r>
              <a:rPr lang="en-US" altLang="zh-CN" sz="2800" i="1" baseline="-25000" dirty="0" err="1" smtClean="0">
                <a:latin typeface="Times" pitchFamily="18" charset="0"/>
                <a:cs typeface="Times" pitchFamily="18" charset="0"/>
              </a:rPr>
              <a:t>n</a:t>
            </a:r>
            <a:r>
              <a:rPr lang="en-US" altLang="zh-CN" sz="2800" i="1" baseline="-25000" dirty="0" smtClean="0">
                <a:latin typeface="Times" pitchFamily="18" charset="0"/>
                <a:cs typeface="Times" pitchFamily="18" charset="0"/>
              </a:rPr>
              <a:t> </a:t>
            </a:r>
            <a:r>
              <a:rPr lang="en-US" altLang="zh-CN" sz="26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=</a:t>
            </a:r>
            <a:r>
              <a:rPr lang="el-GR" altLang="zh-CN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 Ω</a:t>
            </a:r>
            <a:r>
              <a:rPr lang="zh-CN" altLang="en-US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，</a:t>
            </a:r>
            <a:endParaRPr lang="en-US" altLang="zh-CN" sz="2400" dirty="0" smtClean="0">
              <a:latin typeface="Times" pitchFamily="18" charset="0"/>
              <a:ea typeface="楷体" pitchFamily="49" charset="-122"/>
              <a:cs typeface="Times" pitchFamily="18" charset="0"/>
            </a:endParaRPr>
          </a:p>
          <a:p>
            <a:r>
              <a:rPr lang="en-US" altLang="zh-CN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          </a:t>
            </a:r>
            <a:r>
              <a:rPr lang="zh-CN" altLang="en-US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则称</a:t>
            </a:r>
            <a:r>
              <a:rPr lang="en-US" altLang="zh-CN" sz="2400" i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B</a:t>
            </a:r>
            <a:r>
              <a:rPr lang="en-US" altLang="zh-CN" sz="2800" baseline="-25000" dirty="0" smtClean="0">
                <a:latin typeface="Times" pitchFamily="18" charset="0"/>
                <a:cs typeface="Times" pitchFamily="18" charset="0"/>
              </a:rPr>
              <a:t>1</a:t>
            </a:r>
            <a:r>
              <a:rPr lang="en-US" altLang="zh-CN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 ,</a:t>
            </a:r>
            <a:r>
              <a:rPr lang="en-US" altLang="zh-CN" sz="2400" i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 B</a:t>
            </a:r>
            <a:r>
              <a:rPr lang="en-US" altLang="zh-CN" sz="2800" baseline="-25000" dirty="0" smtClean="0">
                <a:latin typeface="Times" pitchFamily="18" charset="0"/>
                <a:cs typeface="Times" pitchFamily="18" charset="0"/>
              </a:rPr>
              <a:t>2</a:t>
            </a:r>
            <a:r>
              <a:rPr lang="en-US" altLang="zh-CN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 , … ,</a:t>
            </a:r>
            <a:r>
              <a:rPr lang="en-US" altLang="zh-CN" sz="2400" i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 </a:t>
            </a:r>
            <a:r>
              <a:rPr lang="en-US" altLang="zh-CN" sz="2400" i="1" dirty="0" err="1" smtClean="0">
                <a:latin typeface="Times" pitchFamily="18" charset="0"/>
                <a:ea typeface="楷体" pitchFamily="49" charset="-122"/>
                <a:cs typeface="Times" pitchFamily="18" charset="0"/>
              </a:rPr>
              <a:t>B</a:t>
            </a:r>
            <a:r>
              <a:rPr lang="en-US" altLang="zh-CN" sz="2800" i="1" baseline="-25000" dirty="0" err="1" smtClean="0">
                <a:latin typeface="Times" pitchFamily="18" charset="0"/>
                <a:cs typeface="Times" pitchFamily="18" charset="0"/>
              </a:rPr>
              <a:t>n</a:t>
            </a:r>
            <a:r>
              <a:rPr lang="zh-CN" altLang="en-US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为样本空间</a:t>
            </a:r>
            <a:r>
              <a:rPr lang="el-GR" altLang="zh-CN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Ω</a:t>
            </a:r>
            <a:r>
              <a:rPr lang="zh-CN" altLang="en-US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的一个</a:t>
            </a:r>
            <a:r>
              <a:rPr lang="zh-CN" altLang="en-US" sz="2400" dirty="0" smtClean="0">
                <a:solidFill>
                  <a:srgbClr val="0000FF"/>
                </a:solidFill>
                <a:latin typeface="Times" pitchFamily="18" charset="0"/>
                <a:ea typeface="楷体" pitchFamily="49" charset="-122"/>
                <a:cs typeface="Times" pitchFamily="18" charset="0"/>
              </a:rPr>
              <a:t>划分</a:t>
            </a:r>
            <a:r>
              <a:rPr lang="zh-CN" altLang="en-US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。</a:t>
            </a:r>
            <a:endParaRPr lang="en-US" altLang="zh-CN" sz="2400" dirty="0" smtClean="0">
              <a:latin typeface="Times" pitchFamily="18" charset="0"/>
              <a:ea typeface="楷体" pitchFamily="49" charset="-122"/>
              <a:cs typeface="Times" pitchFamily="18" charset="0"/>
            </a:endParaRPr>
          </a:p>
          <a:p>
            <a:r>
              <a:rPr lang="zh-CN" altLang="en-US" sz="2400" dirty="0" smtClean="0">
                <a:solidFill>
                  <a:srgbClr val="0000FF"/>
                </a:solidFill>
                <a:latin typeface="Times" pitchFamily="18" charset="0"/>
                <a:ea typeface="楷体" pitchFamily="49" charset="-122"/>
                <a:cs typeface="Times" pitchFamily="18" charset="0"/>
              </a:rPr>
              <a:t> </a:t>
            </a:r>
            <a:endParaRPr lang="en-US" altLang="zh-CN" sz="2400" dirty="0" smtClean="0">
              <a:latin typeface="Times" pitchFamily="18" charset="0"/>
              <a:ea typeface="楷体" pitchFamily="49" charset="-122"/>
              <a:cs typeface="Times" pitchFamily="18" charset="0"/>
            </a:endParaRPr>
          </a:p>
        </p:txBody>
      </p:sp>
      <p:sp>
        <p:nvSpPr>
          <p:cNvPr id="5" name="圆角矩形 4"/>
          <p:cNvSpPr/>
          <p:nvPr/>
        </p:nvSpPr>
        <p:spPr bwMode="auto">
          <a:xfrm>
            <a:off x="971600" y="3068960"/>
            <a:ext cx="7488832" cy="1944216"/>
          </a:xfrm>
          <a:prstGeom prst="roundRect">
            <a:avLst/>
          </a:prstGeom>
          <a:ln>
            <a:noFill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zh-CN" altLang="en-US" sz="2800" dirty="0" smtClean="0">
                <a:solidFill>
                  <a:srgbClr val="FF3300"/>
                </a:solidFill>
                <a:latin typeface="Times" pitchFamily="18" charset="0"/>
                <a:ea typeface="楷体" pitchFamily="49" charset="-122"/>
                <a:cs typeface="Times" pitchFamily="18" charset="0"/>
              </a:rPr>
              <a:t>定理</a:t>
            </a:r>
            <a:r>
              <a:rPr lang="zh-CN" altLang="en-US" sz="2800" dirty="0" smtClean="0">
                <a:solidFill>
                  <a:srgbClr val="0000FF"/>
                </a:solidFill>
                <a:latin typeface="Times" pitchFamily="18" charset="0"/>
                <a:ea typeface="楷体" pitchFamily="49" charset="-122"/>
                <a:cs typeface="Times" pitchFamily="18" charset="0"/>
              </a:rPr>
              <a:t> </a:t>
            </a:r>
            <a:r>
              <a:rPr lang="zh-CN" altLang="en-US" sz="28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设</a:t>
            </a:r>
            <a:r>
              <a:rPr lang="el-GR" altLang="zh-CN" sz="2800" i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Ω</a:t>
            </a:r>
            <a:r>
              <a:rPr lang="zh-CN" altLang="en-US" sz="28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是试验</a:t>
            </a:r>
            <a:r>
              <a:rPr lang="en-US" altLang="zh-CN" sz="2800" i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E</a:t>
            </a:r>
            <a:r>
              <a:rPr lang="zh-CN" altLang="en-US" sz="28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的样本空间，</a:t>
            </a:r>
            <a:r>
              <a:rPr lang="en-US" altLang="zh-CN" sz="2800" i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A</a:t>
            </a:r>
            <a:r>
              <a:rPr lang="zh-CN" altLang="en-US" sz="28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为一个事件，</a:t>
            </a:r>
            <a:r>
              <a:rPr lang="en-US" altLang="zh-CN" sz="2800" i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 </a:t>
            </a:r>
          </a:p>
          <a:p>
            <a:r>
              <a:rPr lang="en-US" altLang="zh-CN" sz="2800" i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          B</a:t>
            </a:r>
            <a:r>
              <a:rPr lang="en-US" altLang="zh-CN" sz="3200" baseline="-25000" dirty="0" smtClean="0">
                <a:latin typeface="Times" pitchFamily="18" charset="0"/>
                <a:cs typeface="Times" pitchFamily="18" charset="0"/>
              </a:rPr>
              <a:t>1</a:t>
            </a:r>
            <a:r>
              <a:rPr lang="en-US" altLang="zh-CN" sz="28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,</a:t>
            </a:r>
            <a:r>
              <a:rPr lang="en-US" altLang="zh-CN" sz="2800" i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 B</a:t>
            </a:r>
            <a:r>
              <a:rPr lang="en-US" altLang="zh-CN" sz="3200" baseline="-25000" dirty="0" smtClean="0">
                <a:latin typeface="Times" pitchFamily="18" charset="0"/>
                <a:cs typeface="Times" pitchFamily="18" charset="0"/>
              </a:rPr>
              <a:t>2</a:t>
            </a:r>
            <a:r>
              <a:rPr lang="en-US" altLang="zh-CN" sz="28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,…,</a:t>
            </a:r>
            <a:r>
              <a:rPr lang="en-US" altLang="zh-CN" sz="2800" i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 </a:t>
            </a:r>
            <a:r>
              <a:rPr lang="en-US" altLang="zh-CN" sz="2800" i="1" dirty="0" err="1" smtClean="0">
                <a:latin typeface="Times" pitchFamily="18" charset="0"/>
                <a:ea typeface="楷体" pitchFamily="49" charset="-122"/>
                <a:cs typeface="Times" pitchFamily="18" charset="0"/>
              </a:rPr>
              <a:t>B</a:t>
            </a:r>
            <a:r>
              <a:rPr lang="en-US" altLang="zh-CN" sz="3200" i="1" baseline="-25000" dirty="0" err="1" smtClean="0">
                <a:latin typeface="Times" pitchFamily="18" charset="0"/>
                <a:cs typeface="Times" pitchFamily="18" charset="0"/>
              </a:rPr>
              <a:t>n</a:t>
            </a:r>
            <a:r>
              <a:rPr lang="zh-CN" altLang="en-US" sz="28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为</a:t>
            </a:r>
            <a:r>
              <a:rPr lang="el-GR" altLang="zh-CN" sz="28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Ω</a:t>
            </a:r>
            <a:r>
              <a:rPr lang="zh-CN" altLang="en-US" sz="28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的一个</a:t>
            </a:r>
            <a:r>
              <a:rPr lang="zh-CN" altLang="en-US" sz="2800" dirty="0" smtClean="0">
                <a:solidFill>
                  <a:srgbClr val="0000FF"/>
                </a:solidFill>
                <a:latin typeface="Times" pitchFamily="18" charset="0"/>
                <a:ea typeface="楷体" pitchFamily="49" charset="-122"/>
                <a:cs typeface="Times" pitchFamily="18" charset="0"/>
              </a:rPr>
              <a:t>划分</a:t>
            </a:r>
            <a:r>
              <a:rPr lang="zh-CN" altLang="en-US" sz="28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，且</a:t>
            </a:r>
            <a:r>
              <a:rPr lang="en-US" altLang="zh-CN" sz="28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P(</a:t>
            </a:r>
            <a:r>
              <a:rPr lang="en-US" altLang="zh-CN" sz="2800" i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B</a:t>
            </a:r>
            <a:r>
              <a:rPr lang="en-US" altLang="zh-CN" sz="3200" i="1" baseline="-25000" dirty="0" smtClean="0">
                <a:latin typeface="Times" pitchFamily="18" charset="0"/>
                <a:cs typeface="Times" pitchFamily="18" charset="0"/>
              </a:rPr>
              <a:t>i</a:t>
            </a:r>
            <a:r>
              <a:rPr lang="en-US" altLang="zh-CN" sz="28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)&gt;0</a:t>
            </a:r>
            <a:r>
              <a:rPr lang="zh-CN" altLang="en-US" sz="28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，</a:t>
            </a:r>
            <a:endParaRPr lang="en-US" altLang="zh-CN" sz="2800" dirty="0" smtClean="0">
              <a:latin typeface="Times" pitchFamily="18" charset="0"/>
              <a:ea typeface="楷体" pitchFamily="49" charset="-122"/>
              <a:cs typeface="Times" pitchFamily="18" charset="0"/>
            </a:endParaRPr>
          </a:p>
          <a:p>
            <a:pPr>
              <a:lnSpc>
                <a:spcPct val="170000"/>
              </a:lnSpc>
            </a:pPr>
            <a:r>
              <a:rPr lang="en-US" altLang="zh-CN" sz="28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          </a:t>
            </a:r>
            <a:r>
              <a:rPr lang="zh-CN" altLang="en-US" sz="28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则有</a:t>
            </a:r>
            <a:endParaRPr lang="en-US" altLang="zh-CN" sz="2800" dirty="0">
              <a:latin typeface="Times" pitchFamily="18" charset="0"/>
              <a:ea typeface="楷体" pitchFamily="49" charset="-122"/>
              <a:cs typeface="Times" pitchFamily="18" charset="0"/>
            </a:endParaRPr>
          </a:p>
        </p:txBody>
      </p:sp>
      <p:graphicFrame>
        <p:nvGraphicFramePr>
          <p:cNvPr id="1246211" name="Object 3"/>
          <p:cNvGraphicFramePr>
            <a:graphicFrameLocks noChangeAspect="1"/>
          </p:cNvGraphicFramePr>
          <p:nvPr/>
        </p:nvGraphicFramePr>
        <p:xfrm>
          <a:off x="2706787" y="4005064"/>
          <a:ext cx="3881437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796" name="Equation" r:id="rId3" imgW="1651000" imgH="431800" progId="Equation.DSMT4">
                  <p:embed/>
                </p:oleObj>
              </mc:Choice>
              <mc:Fallback>
                <p:oleObj name="Equation" r:id="rId3" imgW="1651000" imgH="431800" progId="Equation.DSMT4">
                  <p:embed/>
                  <p:pic>
                    <p:nvPicPr>
                      <p:cNvPr id="124621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6787" y="4005064"/>
                        <a:ext cx="3881437" cy="1008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664454" y="260648"/>
            <a:ext cx="793999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1-1.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全概率公式、条件概率公式、乘法公式</a:t>
            </a:r>
            <a:endParaRPr lang="zh-CN" altLang="en-US" sz="3200" b="1" dirty="0">
              <a:solidFill>
                <a:srgbClr val="0000FF"/>
              </a:solidFill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4261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 bwMode="auto">
          <a:xfrm>
            <a:off x="107504" y="1124744"/>
            <a:ext cx="8964488" cy="2520280"/>
          </a:xfrm>
          <a:prstGeom prst="roundRect">
            <a:avLst/>
          </a:prstGeom>
          <a:ln>
            <a:noFill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en-US" sz="2800" i="0" u="none" strike="noStrike" cap="none" normalizeH="0" baseline="0" dirty="0" smtClean="0">
                <a:ln>
                  <a:noFill/>
                </a:ln>
                <a:solidFill>
                  <a:srgbClr val="FF33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定理</a:t>
            </a:r>
            <a:r>
              <a:rPr kumimoji="0" lang="zh-CN" altLang="en-US" sz="2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 设</a:t>
            </a:r>
            <a:r>
              <a:rPr lang="el-GR" altLang="zh-CN" sz="28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Ω</a:t>
            </a:r>
            <a:r>
              <a:rPr lang="zh-CN" altLang="en-US" sz="28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是样本空间，</a:t>
            </a:r>
            <a:r>
              <a:rPr lang="en-US" altLang="zh-CN" sz="28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A</a:t>
            </a:r>
            <a:r>
              <a:rPr lang="zh-CN" altLang="en-US" sz="28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为一个事件，</a:t>
            </a:r>
            <a:r>
              <a:rPr lang="en-US" altLang="zh-CN" sz="2800" i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 </a:t>
            </a:r>
            <a:r>
              <a:rPr lang="en-US" altLang="zh-CN" sz="2800" i="1" dirty="0">
                <a:latin typeface="Times" pitchFamily="18" charset="0"/>
                <a:ea typeface="楷体" pitchFamily="49" charset="-122"/>
                <a:cs typeface="Times" pitchFamily="18" charset="0"/>
              </a:rPr>
              <a:t>B</a:t>
            </a:r>
            <a:r>
              <a:rPr lang="en-US" altLang="zh-CN" sz="3200" baseline="-25000" dirty="0">
                <a:latin typeface="Times" pitchFamily="18" charset="0"/>
                <a:cs typeface="Times" pitchFamily="18" charset="0"/>
              </a:rPr>
              <a:t>1</a:t>
            </a:r>
            <a:r>
              <a:rPr lang="en-US" altLang="zh-CN" sz="2800" dirty="0">
                <a:latin typeface="Times" pitchFamily="18" charset="0"/>
                <a:ea typeface="楷体" pitchFamily="49" charset="-122"/>
                <a:cs typeface="Times" pitchFamily="18" charset="0"/>
              </a:rPr>
              <a:t>,</a:t>
            </a:r>
            <a:r>
              <a:rPr lang="en-US" altLang="zh-CN" sz="2800" i="1" dirty="0">
                <a:latin typeface="Times" pitchFamily="18" charset="0"/>
                <a:ea typeface="楷体" pitchFamily="49" charset="-122"/>
                <a:cs typeface="Times" pitchFamily="18" charset="0"/>
              </a:rPr>
              <a:t> B</a:t>
            </a:r>
            <a:r>
              <a:rPr lang="en-US" altLang="zh-CN" sz="3200" baseline="-25000" dirty="0">
                <a:latin typeface="Times" pitchFamily="18" charset="0"/>
                <a:cs typeface="Times" pitchFamily="18" charset="0"/>
              </a:rPr>
              <a:t>2</a:t>
            </a:r>
            <a:r>
              <a:rPr lang="en-US" altLang="zh-CN" sz="2800" dirty="0">
                <a:latin typeface="Times" pitchFamily="18" charset="0"/>
                <a:ea typeface="楷体" pitchFamily="49" charset="-122"/>
                <a:cs typeface="Times" pitchFamily="18" charset="0"/>
              </a:rPr>
              <a:t>,…,</a:t>
            </a:r>
            <a:r>
              <a:rPr lang="en-US" altLang="zh-CN" sz="2800" i="1" dirty="0">
                <a:latin typeface="Times" pitchFamily="18" charset="0"/>
                <a:ea typeface="楷体" pitchFamily="49" charset="-122"/>
                <a:cs typeface="Times" pitchFamily="18" charset="0"/>
              </a:rPr>
              <a:t> </a:t>
            </a:r>
            <a:r>
              <a:rPr lang="en-US" altLang="zh-CN" sz="2800" i="1" dirty="0" err="1" smtClean="0">
                <a:latin typeface="Times" pitchFamily="18" charset="0"/>
                <a:ea typeface="楷体" pitchFamily="49" charset="-122"/>
                <a:cs typeface="Times" pitchFamily="18" charset="0"/>
              </a:rPr>
              <a:t>B</a:t>
            </a:r>
            <a:r>
              <a:rPr lang="en-US" altLang="zh-CN" sz="3200" i="1" baseline="-25000" dirty="0" err="1" smtClean="0">
                <a:latin typeface="Times" pitchFamily="18" charset="0"/>
                <a:cs typeface="Times" pitchFamily="18" charset="0"/>
              </a:rPr>
              <a:t>n</a:t>
            </a:r>
            <a:endParaRPr lang="en-US" altLang="zh-CN" sz="3200" i="1" baseline="-25000" dirty="0" smtClean="0">
              <a:latin typeface="Times" pitchFamily="18" charset="0"/>
              <a:cs typeface="Times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i="1" baseline="-25000" dirty="0">
                <a:latin typeface="Times" pitchFamily="18" charset="0"/>
                <a:ea typeface="楷体" pitchFamily="49" charset="-122"/>
                <a:cs typeface="Times" pitchFamily="18" charset="0"/>
              </a:rPr>
              <a:t> </a:t>
            </a:r>
            <a:r>
              <a:rPr lang="en-US" altLang="zh-CN" sz="3200" i="1" baseline="-250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            </a:t>
            </a:r>
            <a:r>
              <a:rPr lang="zh-CN" altLang="en-US" sz="28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为</a:t>
            </a:r>
            <a:r>
              <a:rPr lang="el-GR" altLang="zh-CN" sz="28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Ω</a:t>
            </a:r>
            <a:r>
              <a:rPr lang="zh-CN" altLang="en-US" sz="28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的一个划分，且</a:t>
            </a:r>
            <a:r>
              <a:rPr lang="en-US" altLang="zh-CN" sz="28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P(A)&gt;0</a:t>
            </a:r>
            <a:r>
              <a:rPr lang="zh-CN" altLang="en-US" sz="28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，</a:t>
            </a:r>
            <a:r>
              <a:rPr lang="en-US" altLang="zh-CN" sz="28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P(</a:t>
            </a:r>
            <a:r>
              <a:rPr lang="en-US" altLang="zh-CN" sz="2800" i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B</a:t>
            </a:r>
            <a:r>
              <a:rPr lang="en-US" altLang="zh-CN" sz="3200" i="1" baseline="-25000" dirty="0" smtClean="0">
                <a:latin typeface="Times" pitchFamily="18" charset="0"/>
                <a:cs typeface="Times" pitchFamily="18" charset="0"/>
              </a:rPr>
              <a:t>i</a:t>
            </a:r>
            <a:r>
              <a:rPr lang="en-US" altLang="zh-CN" sz="28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)&gt;0</a:t>
            </a:r>
            <a:r>
              <a:rPr lang="zh-CN" altLang="en-US" sz="28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，</a:t>
            </a:r>
            <a:r>
              <a:rPr lang="en-US" altLang="zh-CN" sz="2800" i="1" dirty="0" err="1" smtClean="0">
                <a:latin typeface="Times" pitchFamily="18" charset="0"/>
                <a:ea typeface="楷体" pitchFamily="49" charset="-122"/>
                <a:cs typeface="Times" pitchFamily="18" charset="0"/>
              </a:rPr>
              <a:t>i</a:t>
            </a:r>
            <a:r>
              <a:rPr lang="en-US" altLang="zh-CN" sz="28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=1,2,…,</a:t>
            </a:r>
            <a:r>
              <a:rPr lang="en-US" altLang="zh-CN" sz="2800" i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n</a:t>
            </a:r>
          </a:p>
          <a:p>
            <a:pPr eaLnBrk="0" fontAlgn="base" hangingPunct="0">
              <a:lnSpc>
                <a:spcPct val="18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28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  <a:ea typeface="楷体" pitchFamily="49" charset="-122"/>
                <a:cs typeface="Times" pitchFamily="18" charset="0"/>
              </a:rPr>
              <a:t> </a:t>
            </a:r>
            <a:r>
              <a:rPr kumimoji="0" lang="en-US" altLang="zh-CN" sz="280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  <a:ea typeface="楷体" pitchFamily="49" charset="-122"/>
                <a:cs typeface="Times" pitchFamily="18" charset="0"/>
              </a:rPr>
              <a:t> </a:t>
            </a:r>
            <a:r>
              <a:rPr kumimoji="0" lang="zh-CN" altLang="en-US" sz="280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  <a:ea typeface="楷体" pitchFamily="49" charset="-122"/>
                <a:cs typeface="Times" pitchFamily="18" charset="0"/>
              </a:rPr>
              <a:t>则</a:t>
            </a:r>
            <a:endParaRPr kumimoji="0" lang="zh-CN" altLang="en-US" sz="280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2724480"/>
              </p:ext>
            </p:extLst>
          </p:nvPr>
        </p:nvGraphicFramePr>
        <p:xfrm>
          <a:off x="852488" y="2133600"/>
          <a:ext cx="7988300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4979" name="Equation" r:id="rId3" imgW="2971800" imgH="558720" progId="Equation.DSMT4">
                  <p:embed/>
                </p:oleObj>
              </mc:Choice>
              <mc:Fallback>
                <p:oleObj name="Equation" r:id="rId3" imgW="2971800" imgH="558720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2488" y="2133600"/>
                        <a:ext cx="7988300" cy="1511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 bwMode="auto">
          <a:xfrm>
            <a:off x="852488" y="2133600"/>
            <a:ext cx="7988300" cy="1511424"/>
          </a:xfrm>
          <a:prstGeom prst="rect">
            <a:avLst/>
          </a:prstGeom>
          <a:noFill/>
          <a:ln w="28575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8" name="圆角矩形标注 7"/>
          <p:cNvSpPr/>
          <p:nvPr/>
        </p:nvSpPr>
        <p:spPr bwMode="auto">
          <a:xfrm>
            <a:off x="866216" y="3932932"/>
            <a:ext cx="2121608" cy="576188"/>
          </a:xfrm>
          <a:prstGeom prst="wedgeRoundRectCallout">
            <a:avLst>
              <a:gd name="adj1" fmla="val 16210"/>
              <a:gd name="adj2" fmla="val -34375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条件概率定义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3214199" y="3933056"/>
            <a:ext cx="4483666" cy="1728192"/>
            <a:chOff x="3214199" y="4077072"/>
            <a:chExt cx="4483666" cy="1728192"/>
          </a:xfrm>
        </p:grpSpPr>
        <p:sp>
          <p:nvSpPr>
            <p:cNvPr id="14" name="圆角矩形标注 13"/>
            <p:cNvSpPr/>
            <p:nvPr/>
          </p:nvSpPr>
          <p:spPr bwMode="auto">
            <a:xfrm>
              <a:off x="3214199" y="4077072"/>
              <a:ext cx="4483666" cy="1728192"/>
            </a:xfrm>
            <a:prstGeom prst="wedgeRoundRectCallout">
              <a:avLst>
                <a:gd name="adj1" fmla="val -22473"/>
                <a:gd name="adj2" fmla="val -42112"/>
                <a:gd name="adj3" fmla="val 16667"/>
              </a:avLst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None/>
                <a:tabLst/>
              </a:pPr>
              <a:r>
                <a:rPr kumimoji="0" lang="zh-CN" altLang="en-US" sz="24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楷体" panose="02010609060101010101" pitchFamily="49" charset="-122"/>
                  <a:ea typeface="楷体" panose="02010609060101010101" pitchFamily="49" charset="-122"/>
                </a:rPr>
                <a:t>分子用乘法公式，即：</a:t>
              </a:r>
              <a:endPara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endParaRP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None/>
                <a:tabLst/>
              </a:pPr>
              <a:endParaRPr lang="en-US" altLang="zh-CN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None/>
                <a:tabLst/>
              </a:pPr>
              <a:endParaRPr kumimoji="0" lang="en-US" altLang="zh-CN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endParaRP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None/>
                <a:tabLst/>
              </a:pPr>
              <a:r>
                <a:rPr lang="zh-CN" altLang="en-US" sz="2400" b="1" dirty="0" smtClean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分母用全概率公式</a:t>
              </a:r>
              <a:endPara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aphicFrame>
          <p:nvGraphicFramePr>
            <p:cNvPr id="15" name="对象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50434474"/>
                </p:ext>
              </p:extLst>
            </p:nvPr>
          </p:nvGraphicFramePr>
          <p:xfrm>
            <a:off x="3976764" y="4570834"/>
            <a:ext cx="3721100" cy="514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64980" name="Equation" r:id="rId5" imgW="1384200" imgH="190440" progId="Equation.DSMT4">
                    <p:embed/>
                  </p:oleObj>
                </mc:Choice>
                <mc:Fallback>
                  <p:oleObj name="Equation" r:id="rId5" imgW="1384200" imgH="1904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76764" y="4570834"/>
                          <a:ext cx="3721100" cy="5143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下箭头 16"/>
          <p:cNvSpPr/>
          <p:nvPr/>
        </p:nvSpPr>
        <p:spPr bwMode="auto">
          <a:xfrm flipV="1">
            <a:off x="2267744" y="2780928"/>
            <a:ext cx="288032" cy="998657"/>
          </a:xfrm>
          <a:prstGeom prst="down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18" name="下箭头 17"/>
          <p:cNvSpPr/>
          <p:nvPr/>
        </p:nvSpPr>
        <p:spPr bwMode="auto">
          <a:xfrm flipV="1">
            <a:off x="3707904" y="2780928"/>
            <a:ext cx="288032" cy="998657"/>
          </a:xfrm>
          <a:prstGeom prst="down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64454" y="260648"/>
            <a:ext cx="793999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1-1.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全概率公式、条件概率公式、乘法公式</a:t>
            </a:r>
            <a:endParaRPr lang="zh-CN" altLang="en-US" sz="3200" b="1" dirty="0">
              <a:solidFill>
                <a:srgbClr val="0000FF"/>
              </a:solidFill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2308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251520" y="1052736"/>
            <a:ext cx="8640960" cy="1643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例</a:t>
            </a:r>
            <a:r>
              <a:rPr lang="en-US" altLang="zh-CN" sz="2400" dirty="0" smtClean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1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. 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盒子里有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10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个乒乓球，其中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8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个新的。第一次比赛从中任意取出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2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个来用，比赛后仍放回盒中，第二次比赛时再从盒中取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2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个。求：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(1)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第二次取出的球都是新球的概率；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(2)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如果第二次取出的球全是新球，则第一次比赛用了两个新球的概率。</a:t>
            </a:r>
            <a:endParaRPr lang="en-US" altLang="zh-CN" sz="2400" dirty="0" smtClean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>
              <a:lnSpc>
                <a:spcPct val="20000"/>
              </a:lnSpc>
            </a:pPr>
            <a:endParaRPr lang="en-US" altLang="zh-CN" sz="2400" dirty="0" smtClean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664454" y="260648"/>
            <a:ext cx="793999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1-1.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全概率公式、条件概率公式、乘法公式</a:t>
            </a:r>
            <a:endParaRPr lang="zh-CN" altLang="en-US" sz="3200" b="1" dirty="0">
              <a:solidFill>
                <a:srgbClr val="0000FF"/>
              </a:solidFill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681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251520" y="1052736"/>
                <a:ext cx="8640960" cy="54921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 smtClean="0">
                    <a:solidFill>
                      <a:srgbClr val="0000FF"/>
                    </a:solidFill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例</a:t>
                </a:r>
                <a:r>
                  <a:rPr lang="en-US" altLang="zh-CN" sz="2400" dirty="0" smtClean="0">
                    <a:solidFill>
                      <a:srgbClr val="0000FF"/>
                    </a:solidFill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1</a:t>
                </a:r>
                <a:r>
                  <a:rPr lang="en-US" altLang="zh-CN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. </a:t>
                </a:r>
                <a:r>
                  <a:rPr lang="zh-CN" altLang="en-US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盒子里有</a:t>
                </a:r>
                <a:r>
                  <a:rPr lang="en-US" altLang="zh-CN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10</a:t>
                </a:r>
                <a:r>
                  <a:rPr lang="zh-CN" altLang="en-US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个乒乓球，其中</a:t>
                </a:r>
                <a:r>
                  <a:rPr lang="en-US" altLang="zh-CN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8</a:t>
                </a:r>
                <a:r>
                  <a:rPr lang="zh-CN" altLang="en-US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个新的。第一次比赛从中任意取出</a:t>
                </a:r>
                <a:r>
                  <a:rPr lang="en-US" altLang="zh-CN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2</a:t>
                </a:r>
                <a:r>
                  <a:rPr lang="zh-CN" altLang="en-US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个来用，比赛后仍放回盒中，第二次比赛时再从盒中取</a:t>
                </a:r>
                <a:r>
                  <a:rPr lang="en-US" altLang="zh-CN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2</a:t>
                </a:r>
                <a:r>
                  <a:rPr lang="zh-CN" altLang="en-US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个。求：</a:t>
                </a:r>
                <a:r>
                  <a:rPr lang="en-US" altLang="zh-CN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(1)</a:t>
                </a:r>
                <a:r>
                  <a:rPr lang="zh-CN" altLang="en-US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第二次取出的球都是新球的概率；</a:t>
                </a:r>
                <a:r>
                  <a:rPr lang="en-US" altLang="zh-CN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(2)</a:t>
                </a:r>
                <a:r>
                  <a:rPr lang="zh-CN" altLang="en-US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如果第二次取出的球全是新球，则第一次比赛用了两个新球的概率。</a:t>
                </a:r>
                <a:endParaRPr lang="en-US" altLang="zh-CN" sz="2400" dirty="0" smtClean="0">
                  <a:latin typeface="Times New Roman" pitchFamily="18" charset="0"/>
                  <a:ea typeface="楷体" pitchFamily="49" charset="-122"/>
                  <a:cs typeface="Times New Roman" pitchFamily="18" charset="0"/>
                </a:endParaRPr>
              </a:p>
              <a:p>
                <a:pPr>
                  <a:lnSpc>
                    <a:spcPct val="20000"/>
                  </a:lnSpc>
                </a:pPr>
                <a:endParaRPr lang="en-US" altLang="zh-CN" sz="2400" dirty="0" smtClean="0">
                  <a:latin typeface="Times New Roman" pitchFamily="18" charset="0"/>
                  <a:ea typeface="楷体" pitchFamily="49" charset="-122"/>
                  <a:cs typeface="Times New Roman" pitchFamily="18" charset="0"/>
                </a:endParaRPr>
              </a:p>
              <a:p>
                <a:r>
                  <a:rPr lang="zh-CN" altLang="en-US" sz="2400" dirty="0" smtClean="0">
                    <a:solidFill>
                      <a:srgbClr val="0000FF"/>
                    </a:solidFill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解</a:t>
                </a:r>
                <a:r>
                  <a:rPr lang="zh-CN" altLang="en-US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：设</a:t>
                </a:r>
                <a:r>
                  <a:rPr lang="en-US" altLang="zh-CN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A</a:t>
                </a:r>
                <a:r>
                  <a:rPr lang="en-US" altLang="zh-CN" sz="2400" baseline="-250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i</a:t>
                </a:r>
                <a:r>
                  <a:rPr lang="en-US" altLang="zh-CN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={</a:t>
                </a:r>
                <a:r>
                  <a:rPr lang="zh-CN" altLang="en-US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第一次取</a:t>
                </a:r>
                <a:r>
                  <a:rPr lang="en-US" altLang="zh-CN" sz="2400" dirty="0" err="1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i</a:t>
                </a:r>
                <a:r>
                  <a:rPr lang="zh-CN" altLang="en-US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个新球</a:t>
                </a:r>
                <a:r>
                  <a:rPr lang="en-US" altLang="zh-CN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}</a:t>
                </a:r>
                <a:r>
                  <a:rPr lang="zh-CN" altLang="en-US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；</a:t>
                </a:r>
                <a:r>
                  <a:rPr lang="en-US" altLang="zh-CN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B</a:t>
                </a:r>
                <a:r>
                  <a:rPr lang="zh-CN" altLang="en-US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为</a:t>
                </a:r>
                <a:r>
                  <a:rPr lang="en-US" altLang="zh-CN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={</a:t>
                </a:r>
                <a:r>
                  <a:rPr lang="zh-CN" altLang="en-US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第二次取两个新球</a:t>
                </a:r>
                <a:r>
                  <a:rPr lang="en-US" altLang="zh-CN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}</a:t>
                </a:r>
                <a:r>
                  <a:rPr lang="zh-CN" altLang="en-US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；</a:t>
                </a:r>
                <a:endParaRPr lang="en-US" altLang="zh-CN" sz="2400" dirty="0" smtClean="0">
                  <a:latin typeface="Times New Roman" pitchFamily="18" charset="0"/>
                  <a:ea typeface="楷体" pitchFamily="49" charset="-122"/>
                  <a:cs typeface="Times New Roman" pitchFamily="18" charset="0"/>
                </a:endParaRPr>
              </a:p>
              <a:p>
                <a:r>
                  <a:rPr lang="en-US" altLang="zh-CN" sz="2400" dirty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 </a:t>
                </a:r>
                <a:r>
                  <a:rPr lang="en-US" altLang="zh-CN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       (1)</a:t>
                </a:r>
                <a:endParaRPr lang="en-US" altLang="zh-CN" sz="2400" dirty="0">
                  <a:latin typeface="Times New Roman" pitchFamily="18" charset="0"/>
                  <a:ea typeface="楷体" pitchFamily="49" charset="-122"/>
                  <a:cs typeface="Times New Roman" pitchFamily="18" charset="0"/>
                </a:endParaRPr>
              </a:p>
              <a:p>
                <a:endParaRPr lang="en-US" altLang="zh-CN" sz="2400" dirty="0" smtClean="0">
                  <a:latin typeface="Times New Roman" pitchFamily="18" charset="0"/>
                  <a:ea typeface="楷体" pitchFamily="49" charset="-122"/>
                  <a:cs typeface="Times New Roman" pitchFamily="18" charset="0"/>
                </a:endParaRPr>
              </a:p>
              <a:p>
                <a:endParaRPr lang="en-US" altLang="zh-CN" sz="2400" dirty="0">
                  <a:latin typeface="Times New Roman" pitchFamily="18" charset="0"/>
                  <a:ea typeface="楷体" pitchFamily="49" charset="-122"/>
                  <a:cs typeface="Times New Roman" pitchFamily="18" charset="0"/>
                </a:endParaRPr>
              </a:p>
              <a:p>
                <a:endParaRPr lang="en-US" altLang="zh-CN" sz="2400" dirty="0" smtClean="0">
                  <a:latin typeface="Times New Roman" pitchFamily="18" charset="0"/>
                  <a:ea typeface="楷体" pitchFamily="49" charset="-122"/>
                  <a:cs typeface="Times New Roman" pitchFamily="18" charset="0"/>
                </a:endParaRPr>
              </a:p>
              <a:p>
                <a:endParaRPr lang="en-US" altLang="zh-CN" sz="2400" dirty="0">
                  <a:latin typeface="Times New Roman" pitchFamily="18" charset="0"/>
                  <a:ea typeface="楷体" pitchFamily="49" charset="-122"/>
                  <a:cs typeface="Times New Roman" pitchFamily="18" charset="0"/>
                </a:endParaRPr>
              </a:p>
              <a:p>
                <a:endParaRPr lang="en-US" altLang="zh-CN" sz="2400" dirty="0" smtClean="0">
                  <a:latin typeface="Times New Roman" pitchFamily="18" charset="0"/>
                  <a:ea typeface="楷体" pitchFamily="49" charset="-122"/>
                  <a:cs typeface="Times New Roman" pitchFamily="18" charset="0"/>
                </a:endParaRPr>
              </a:p>
              <a:p>
                <a:endParaRPr lang="en-US" altLang="zh-CN" sz="2400" dirty="0">
                  <a:latin typeface="Times New Roman" pitchFamily="18" charset="0"/>
                  <a:ea typeface="楷体" pitchFamily="49" charset="-122"/>
                  <a:cs typeface="Times New Roman" pitchFamily="18" charset="0"/>
                </a:endParaRPr>
              </a:p>
              <a:p>
                <a:r>
                  <a:rPr lang="zh-CN" altLang="en-US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         由全概率公式可得：</a:t>
                </a:r>
                <a:endParaRPr lang="en-US" altLang="zh-CN" sz="2400" dirty="0" smtClean="0">
                  <a:latin typeface="Times New Roman" pitchFamily="18" charset="0"/>
                  <a:ea typeface="楷体" pitchFamily="49" charset="-122"/>
                  <a:cs typeface="Times New Roman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 New Roman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𝐵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 New Roman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𝑖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2</m:t>
                        </m:r>
                      </m:sup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 New Roman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 New Roman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 New Roman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𝑃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(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𝐵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 New Roman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 New Roman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)</m:t>
                        </m:r>
                      </m:e>
                    </m:nary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 New Roman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784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2025</m:t>
                        </m:r>
                      </m:den>
                    </m:f>
                  </m:oMath>
                </a14:m>
                <a:r>
                  <a:rPr lang="en-US" altLang="zh-CN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=0.387</a:t>
                </a:r>
                <a:endParaRPr lang="en-US" altLang="zh-CN" sz="2400" dirty="0">
                  <a:latin typeface="Times New Roman" pitchFamily="18" charset="0"/>
                  <a:ea typeface="楷体" pitchFamily="49" charset="-122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052736"/>
                <a:ext cx="8640960" cy="5492145"/>
              </a:xfrm>
              <a:prstGeom prst="rect">
                <a:avLst/>
              </a:prstGeom>
              <a:blipFill>
                <a:blip r:embed="rId3"/>
                <a:stretch>
                  <a:fillRect l="-1058" t="-1221" r="-212" b="-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2051720" y="2977727"/>
          <a:ext cx="5257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127" r:id="rId4" imgW="2628900" imgH="457200" progId="Equation.DSMT4">
                  <p:embed/>
                </p:oleObj>
              </mc:Choice>
              <mc:Fallback>
                <p:oleObj r:id="rId4" imgW="2628900" imgH="457200" progId="Equation.DSMT4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720" y="2977727"/>
                        <a:ext cx="525780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051720" y="3810744"/>
          <a:ext cx="5435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128" r:id="rId6" imgW="2717800" imgH="457200" progId="Equation.DSMT4">
                  <p:embed/>
                </p:oleObj>
              </mc:Choice>
              <mc:Fallback>
                <p:oleObj r:id="rId6" imgW="2717800" imgH="45720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720" y="3810744"/>
                        <a:ext cx="543560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2051720" y="4674840"/>
          <a:ext cx="5257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129" r:id="rId8" imgW="2628900" imgH="457200" progId="Equation.DSMT4">
                  <p:embed/>
                </p:oleObj>
              </mc:Choice>
              <mc:Fallback>
                <p:oleObj r:id="rId8" imgW="2628900" imgH="45720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720" y="4674840"/>
                        <a:ext cx="525780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664454" y="260648"/>
            <a:ext cx="793999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1-1.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全概率公式、条件概率公式、乘法公式</a:t>
            </a:r>
            <a:endParaRPr lang="zh-CN" altLang="en-US" sz="3200" b="1" dirty="0">
              <a:solidFill>
                <a:srgbClr val="0000FF"/>
              </a:solidFill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2174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>
            <a:off x="664454" y="260648"/>
            <a:ext cx="793999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1-1.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全概率公式、条件概率公式、乘法公式</a:t>
            </a:r>
            <a:endParaRPr lang="zh-CN" altLang="en-US" sz="3200" b="1" dirty="0">
              <a:solidFill>
                <a:srgbClr val="0000FF"/>
              </a:solidFill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251520" y="1052736"/>
                <a:ext cx="8640960" cy="371890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 smtClean="0">
                    <a:solidFill>
                      <a:srgbClr val="0000FF"/>
                    </a:solidFill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例</a:t>
                </a:r>
                <a:r>
                  <a:rPr lang="en-US" altLang="zh-CN" sz="2400" dirty="0" smtClean="0">
                    <a:solidFill>
                      <a:srgbClr val="0000FF"/>
                    </a:solidFill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1</a:t>
                </a:r>
                <a:r>
                  <a:rPr lang="en-US" altLang="zh-CN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. </a:t>
                </a:r>
                <a:r>
                  <a:rPr lang="zh-CN" altLang="en-US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盒子里有</a:t>
                </a:r>
                <a:r>
                  <a:rPr lang="en-US" altLang="zh-CN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10</a:t>
                </a:r>
                <a:r>
                  <a:rPr lang="zh-CN" altLang="en-US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个乒乓球，其中</a:t>
                </a:r>
                <a:r>
                  <a:rPr lang="en-US" altLang="zh-CN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8</a:t>
                </a:r>
                <a:r>
                  <a:rPr lang="zh-CN" altLang="en-US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个新的。第一次比赛从中任意取出</a:t>
                </a:r>
                <a:r>
                  <a:rPr lang="en-US" altLang="zh-CN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2</a:t>
                </a:r>
                <a:r>
                  <a:rPr lang="zh-CN" altLang="en-US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个来用，比赛后仍放回盒中，第二次比赛时再从盒中取</a:t>
                </a:r>
                <a:r>
                  <a:rPr lang="en-US" altLang="zh-CN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2</a:t>
                </a:r>
                <a:r>
                  <a:rPr lang="zh-CN" altLang="en-US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个。求：</a:t>
                </a:r>
                <a:r>
                  <a:rPr lang="en-US" altLang="zh-CN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(1)</a:t>
                </a:r>
                <a:r>
                  <a:rPr lang="zh-CN" altLang="en-US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第二次取出的球都是新球的概率；</a:t>
                </a:r>
                <a:r>
                  <a:rPr lang="en-US" altLang="zh-CN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(2)</a:t>
                </a:r>
                <a:r>
                  <a:rPr lang="zh-CN" altLang="en-US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如果第二次取出的球全是新球，则第一次比赛用了两个新球的概率。</a:t>
                </a:r>
                <a:endParaRPr lang="en-US" altLang="zh-CN" sz="2400" dirty="0" smtClean="0">
                  <a:latin typeface="Times New Roman" pitchFamily="18" charset="0"/>
                  <a:ea typeface="楷体" pitchFamily="49" charset="-122"/>
                  <a:cs typeface="Times New Roman" pitchFamily="18" charset="0"/>
                </a:endParaRPr>
              </a:p>
              <a:p>
                <a:pPr>
                  <a:lnSpc>
                    <a:spcPct val="20000"/>
                  </a:lnSpc>
                </a:pPr>
                <a:endParaRPr lang="en-US" altLang="zh-CN" sz="2400" dirty="0" smtClean="0">
                  <a:latin typeface="Times New Roman" pitchFamily="18" charset="0"/>
                  <a:ea typeface="楷体" pitchFamily="49" charset="-122"/>
                  <a:cs typeface="Times New Roman" pitchFamily="18" charset="0"/>
                </a:endParaRPr>
              </a:p>
              <a:p>
                <a:r>
                  <a:rPr lang="zh-CN" altLang="en-US" sz="2400" dirty="0" smtClean="0">
                    <a:solidFill>
                      <a:srgbClr val="0000FF"/>
                    </a:solidFill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解</a:t>
                </a:r>
                <a:r>
                  <a:rPr lang="zh-CN" altLang="en-US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：设</a:t>
                </a:r>
                <a:r>
                  <a:rPr lang="en-US" altLang="zh-CN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A</a:t>
                </a:r>
                <a:r>
                  <a:rPr lang="en-US" altLang="zh-CN" sz="2400" baseline="-250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i</a:t>
                </a:r>
                <a:r>
                  <a:rPr lang="en-US" altLang="zh-CN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={</a:t>
                </a:r>
                <a:r>
                  <a:rPr lang="zh-CN" altLang="en-US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第一次取</a:t>
                </a:r>
                <a:r>
                  <a:rPr lang="en-US" altLang="zh-CN" sz="2400" dirty="0" err="1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i</a:t>
                </a:r>
                <a:r>
                  <a:rPr lang="zh-CN" altLang="en-US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个新球</a:t>
                </a:r>
                <a:r>
                  <a:rPr lang="en-US" altLang="zh-CN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}</a:t>
                </a:r>
                <a:r>
                  <a:rPr lang="zh-CN" altLang="en-US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；</a:t>
                </a:r>
                <a:r>
                  <a:rPr lang="en-US" altLang="zh-CN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B</a:t>
                </a:r>
                <a:r>
                  <a:rPr lang="zh-CN" altLang="en-US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为</a:t>
                </a:r>
                <a:r>
                  <a:rPr lang="en-US" altLang="zh-CN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={</a:t>
                </a:r>
                <a:r>
                  <a:rPr lang="zh-CN" altLang="en-US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第二次取两个新球</a:t>
                </a:r>
                <a:r>
                  <a:rPr lang="en-US" altLang="zh-CN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}</a:t>
                </a:r>
                <a:r>
                  <a:rPr lang="zh-CN" altLang="en-US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；</a:t>
                </a:r>
                <a:endParaRPr lang="en-US" altLang="zh-CN" sz="2400" dirty="0" smtClean="0">
                  <a:latin typeface="Times New Roman" pitchFamily="18" charset="0"/>
                  <a:ea typeface="楷体" pitchFamily="49" charset="-122"/>
                  <a:cs typeface="Times New Roman" pitchFamily="18" charset="0"/>
                </a:endParaRPr>
              </a:p>
              <a:p>
                <a:endParaRPr lang="en-US" altLang="zh-CN" sz="2400" dirty="0" smtClean="0">
                  <a:latin typeface="Times New Roman" pitchFamily="18" charset="0"/>
                  <a:ea typeface="楷体" pitchFamily="49" charset="-122"/>
                  <a:cs typeface="Times New Roman" pitchFamily="18" charset="0"/>
                </a:endParaRPr>
              </a:p>
              <a:p>
                <a:r>
                  <a:rPr lang="en-US" altLang="zh-CN" sz="2400" dirty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 </a:t>
                </a:r>
                <a:r>
                  <a:rPr lang="en-US" altLang="zh-CN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       (2)</a:t>
                </a:r>
                <a:r>
                  <a:rPr lang="zh-CN" altLang="en-US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由条件公式的定义以及乘法公式可得</a:t>
                </a:r>
                <a:endParaRPr lang="en-US" altLang="zh-CN" sz="2400" dirty="0" smtClean="0">
                  <a:latin typeface="Times New Roman" pitchFamily="18" charset="0"/>
                  <a:ea typeface="楷体" pitchFamily="49" charset="-122"/>
                  <a:cs typeface="Times New Roman" pitchFamily="18" charset="0"/>
                </a:endParaRPr>
              </a:p>
              <a:p>
                <a:endParaRPr lang="en-US" altLang="zh-CN" sz="2400" dirty="0">
                  <a:latin typeface="Times New Roman" pitchFamily="18" charset="0"/>
                  <a:ea typeface="楷体" pitchFamily="49" charset="-122"/>
                  <a:cs typeface="Times New Roman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楷体" pitchFamily="49" charset="-122"/>
                        <a:cs typeface="Times New Roman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 New Roman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 New Roman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|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𝐵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 New Roman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𝑃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 New Roman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 New Roman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𝐵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𝑃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(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𝐵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zh-CN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 New Roman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 New Roman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 New Roman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 New Roman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𝑃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(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𝐵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 New Roman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 New Roman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𝑃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(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𝐵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zh-CN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=0.387</a:t>
                </a:r>
                <a:endParaRPr lang="en-US" altLang="zh-CN" sz="2400" dirty="0">
                  <a:latin typeface="Times New Roman" pitchFamily="18" charset="0"/>
                  <a:ea typeface="楷体" pitchFamily="49" charset="-122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052736"/>
                <a:ext cx="8640960" cy="3718903"/>
              </a:xfrm>
              <a:prstGeom prst="rect">
                <a:avLst/>
              </a:prstGeom>
              <a:blipFill>
                <a:blip r:embed="rId2"/>
                <a:stretch>
                  <a:fillRect l="-1058" t="-1803" r="-2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461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>
            <a:off x="467544" y="260648"/>
            <a:ext cx="835196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1-2.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一维离散型随机变量的分布律与古典概型</a:t>
            </a:r>
            <a:endParaRPr lang="zh-CN" altLang="en-US" sz="3200" b="1" dirty="0">
              <a:solidFill>
                <a:srgbClr val="0000FF"/>
              </a:solidFill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51520" y="980728"/>
            <a:ext cx="8712968" cy="4124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Ø"/>
              <a:tabLst>
                <a:tab pos="900113" algn="l"/>
              </a:tabLst>
            </a:pPr>
            <a:r>
              <a:rPr lang="zh-CN" altLang="en-US" sz="26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</a:t>
            </a:r>
            <a:r>
              <a:rPr lang="zh-CN" altLang="en-US" sz="2800" dirty="0" smtClean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古典概型的定义</a:t>
            </a:r>
            <a:endParaRPr lang="en-US" altLang="zh-CN" sz="2600" dirty="0" smtClean="0">
              <a:solidFill>
                <a:srgbClr val="0000FF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>
              <a:buClr>
                <a:schemeClr val="tx1"/>
              </a:buClr>
              <a:tabLst>
                <a:tab pos="900113" algn="l"/>
              </a:tabLst>
            </a:pPr>
            <a:r>
              <a:rPr lang="en-US" altLang="zh-CN" sz="28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   (1) 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所有基本事件的总个数只有</a:t>
            </a:r>
            <a:r>
              <a:rPr lang="zh-CN" altLang="en-US" sz="2400" dirty="0" smtClean="0">
                <a:solidFill>
                  <a:srgbClr val="FF33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有限个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（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N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个）；</a:t>
            </a:r>
            <a:endParaRPr lang="en-US" altLang="zh-CN" sz="2400" dirty="0" smtClean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>
              <a:buClr>
                <a:schemeClr val="tx1"/>
              </a:buClr>
              <a:tabLst>
                <a:tab pos="900113" algn="l"/>
              </a:tabLst>
            </a:pP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    (2) 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每个基本事件的发生具有</a:t>
            </a:r>
            <a:r>
              <a:rPr lang="zh-CN" altLang="en-US" sz="2400" dirty="0" smtClean="0">
                <a:solidFill>
                  <a:srgbClr val="FF33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等可能性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。</a:t>
            </a:r>
            <a:endParaRPr lang="en-US" altLang="zh-CN" sz="2400" dirty="0" smtClean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>
              <a:buClr>
                <a:schemeClr val="tx1"/>
              </a:buClr>
              <a:tabLst>
                <a:tab pos="900113" algn="l"/>
              </a:tabLst>
            </a:pP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    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这种试验类型叫做</a:t>
            </a:r>
            <a:r>
              <a:rPr lang="zh-CN" altLang="en-US" sz="2400" dirty="0" smtClean="0">
                <a:solidFill>
                  <a:srgbClr val="FF33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古典概型</a:t>
            </a:r>
            <a:endParaRPr lang="en-US" altLang="zh-CN" sz="2200" dirty="0" smtClean="0">
              <a:latin typeface="楷体" pitchFamily="49" charset="-122"/>
              <a:ea typeface="楷体" pitchFamily="49" charset="-122"/>
            </a:endParaRPr>
          </a:p>
          <a:p>
            <a:pPr>
              <a:buClr>
                <a:schemeClr val="tx1"/>
              </a:buClr>
              <a:buFont typeface="Wingdings" pitchFamily="2" charset="2"/>
              <a:buChar char="Ø"/>
              <a:tabLst>
                <a:tab pos="900113" algn="l"/>
              </a:tabLst>
            </a:pPr>
            <a:r>
              <a:rPr lang="zh-CN" altLang="en-US" sz="2800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古典概率</a:t>
            </a:r>
            <a:endParaRPr lang="en-US" altLang="zh-CN" sz="2800" dirty="0" smtClean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  <a:p>
            <a:pPr marL="273050">
              <a:buClr>
                <a:schemeClr val="tx1"/>
              </a:buClr>
              <a:tabLst>
                <a:tab pos="900113" algn="l"/>
              </a:tabLst>
            </a:pPr>
            <a:r>
              <a:rPr lang="en-US" altLang="zh-CN" sz="2800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    </a:t>
            </a:r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在古典概型中，如果随机事件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A</a:t>
            </a:r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包含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M</a:t>
            </a:r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个基本事件，</a:t>
            </a:r>
            <a:endParaRPr lang="en-US" altLang="zh-CN" sz="2400" dirty="0" smtClean="0">
              <a:latin typeface="楷体" pitchFamily="49" charset="-122"/>
              <a:ea typeface="楷体" pitchFamily="49" charset="-122"/>
            </a:endParaRPr>
          </a:p>
          <a:p>
            <a:pPr marL="273050">
              <a:buClr>
                <a:schemeClr val="tx1"/>
              </a:buClr>
              <a:tabLst>
                <a:tab pos="900113" algn="l"/>
              </a:tabLst>
            </a:pPr>
            <a:r>
              <a:rPr lang="en-US" altLang="zh-CN" sz="2400" dirty="0" smtClean="0">
                <a:latin typeface="楷体" pitchFamily="49" charset="-122"/>
                <a:ea typeface="楷体" pitchFamily="49" charset="-122"/>
              </a:rPr>
              <a:t> </a:t>
            </a:r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则事件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A</a:t>
            </a:r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的</a:t>
            </a:r>
            <a:r>
              <a:rPr lang="zh-CN" altLang="en-US" sz="2400" dirty="0" smtClean="0">
                <a:solidFill>
                  <a:srgbClr val="FF3300"/>
                </a:solidFill>
                <a:latin typeface="楷体" pitchFamily="49" charset="-122"/>
                <a:ea typeface="楷体" pitchFamily="49" charset="-122"/>
              </a:rPr>
              <a:t>古典概率</a:t>
            </a:r>
            <a:r>
              <a:rPr lang="zh-CN" altLang="en-US" sz="2400" dirty="0" smtClean="0">
                <a:latin typeface="楷体" pitchFamily="49" charset="-122"/>
                <a:ea typeface="楷体" pitchFamily="49" charset="-122"/>
              </a:rPr>
              <a:t>为</a:t>
            </a:r>
            <a:endParaRPr lang="en-US" altLang="zh-CN" sz="2400" dirty="0" smtClean="0">
              <a:latin typeface="楷体" pitchFamily="49" charset="-122"/>
              <a:ea typeface="楷体" pitchFamily="49" charset="-122"/>
            </a:endParaRPr>
          </a:p>
          <a:p>
            <a:pPr marL="273050">
              <a:buClr>
                <a:schemeClr val="tx1"/>
              </a:buClr>
              <a:tabLst>
                <a:tab pos="900113" algn="l"/>
              </a:tabLst>
            </a:pPr>
            <a:endParaRPr lang="en-US" altLang="zh-CN" sz="2600" dirty="0" smtClean="0">
              <a:latin typeface="楷体" pitchFamily="49" charset="-122"/>
              <a:ea typeface="楷体" pitchFamily="49" charset="-122"/>
            </a:endParaRPr>
          </a:p>
          <a:p>
            <a:pPr marL="273050">
              <a:buClr>
                <a:schemeClr val="tx1"/>
              </a:buClr>
              <a:tabLst>
                <a:tab pos="900113" algn="l"/>
              </a:tabLst>
            </a:pPr>
            <a:endParaRPr lang="en-US" altLang="zh-CN" sz="2600" dirty="0" smtClean="0">
              <a:latin typeface="楷体" pitchFamily="49" charset="-122"/>
              <a:ea typeface="楷体" pitchFamily="49" charset="-122"/>
            </a:endParaRPr>
          </a:p>
          <a:p>
            <a:pPr marL="273050">
              <a:buClr>
                <a:schemeClr val="tx1"/>
              </a:buClr>
              <a:tabLst>
                <a:tab pos="900113" algn="l"/>
              </a:tabLst>
            </a:pPr>
            <a:endParaRPr lang="en-US" altLang="zh-CN" sz="2600" dirty="0" smtClean="0">
              <a:latin typeface="楷体" pitchFamily="49" charset="-122"/>
              <a:ea typeface="楷体" pitchFamily="49" charset="-122"/>
            </a:endParaRPr>
          </a:p>
        </p:txBody>
      </p:sp>
      <p:graphicFrame>
        <p:nvGraphicFramePr>
          <p:cNvPr id="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0688012"/>
              </p:ext>
            </p:extLst>
          </p:nvPr>
        </p:nvGraphicFramePr>
        <p:xfrm>
          <a:off x="1707034" y="3861406"/>
          <a:ext cx="5097214" cy="7917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911" name="Equation" r:id="rId3" imgW="2692080" imgH="419040" progId="Equation.DSMT4">
                  <p:embed/>
                </p:oleObj>
              </mc:Choice>
              <mc:Fallback>
                <p:oleObj name="Equation" r:id="rId3" imgW="2692080" imgH="419040" progId="Equation.DSMT4">
                  <p:embed/>
                  <p:pic>
                    <p:nvPicPr>
                      <p:cNvPr id="100660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7034" y="3861406"/>
                        <a:ext cx="5097214" cy="79173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 bwMode="auto">
          <a:xfrm>
            <a:off x="1619672" y="3861048"/>
            <a:ext cx="5328592" cy="792088"/>
          </a:xfrm>
          <a:prstGeom prst="rect">
            <a:avLst/>
          </a:prstGeom>
          <a:noFill/>
          <a:ln w="28575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49797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>
            <a:off x="467544" y="260648"/>
            <a:ext cx="835196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1-2.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一维离散型随机变量的分布律与古典概型</a:t>
            </a:r>
            <a:endParaRPr lang="zh-CN" altLang="en-US" sz="3200" b="1" dirty="0">
              <a:solidFill>
                <a:srgbClr val="0000FF"/>
              </a:solidFill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179512" y="1052736"/>
                <a:ext cx="8856984" cy="48939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tabLst>
                    <a:tab pos="900113" algn="l"/>
                  </a:tabLst>
                </a:pPr>
                <a:r>
                  <a:rPr lang="en-US" altLang="zh-CN" sz="2400" dirty="0" smtClean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1. 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离散型随机变量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X (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取有限个值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)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的</a:t>
                </a:r>
                <a:r>
                  <a:rPr lang="zh-CN" altLang="en-US" sz="2400" dirty="0" smtClean="0">
                    <a:solidFill>
                      <a:srgbClr val="FF3300"/>
                    </a:solidFill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分布律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常列表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(</a:t>
                </a:r>
                <a:r>
                  <a:rPr lang="zh-CN" altLang="en-US" sz="2400" dirty="0" smtClean="0">
                    <a:solidFill>
                      <a:srgbClr val="FF3300"/>
                    </a:solidFill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分布列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)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表示为</a:t>
                </a:r>
                <a:endParaRPr lang="en-US" altLang="zh-CN" sz="2400" dirty="0" smtClean="0">
                  <a:latin typeface="Times" panose="02020603050405020304" pitchFamily="18" charset="0"/>
                  <a:ea typeface="楷体" panose="02010609060101010101" pitchFamily="49" charset="-122"/>
                  <a:cs typeface="Times" panose="02020603050405020304" pitchFamily="18" charset="0"/>
                </a:endParaRPr>
              </a:p>
              <a:p>
                <a:pPr>
                  <a:tabLst>
                    <a:tab pos="900113" algn="l"/>
                  </a:tabLst>
                </a:pPr>
                <a:endParaRPr lang="en-US" altLang="zh-CN" sz="2400" dirty="0" smtClean="0">
                  <a:latin typeface="Times" panose="02020603050405020304" pitchFamily="18" charset="0"/>
                  <a:ea typeface="楷体" panose="02010609060101010101" pitchFamily="49" charset="-122"/>
                  <a:cs typeface="Times" panose="02020603050405020304" pitchFamily="18" charset="0"/>
                </a:endParaRPr>
              </a:p>
              <a:p>
                <a:pPr>
                  <a:tabLst>
                    <a:tab pos="900113" algn="l"/>
                  </a:tabLst>
                </a:pPr>
                <a:endParaRPr lang="en-US" altLang="zh-CN" sz="2400" dirty="0">
                  <a:latin typeface="Times" panose="02020603050405020304" pitchFamily="18" charset="0"/>
                  <a:ea typeface="楷体" panose="02010609060101010101" pitchFamily="49" charset="-122"/>
                  <a:cs typeface="Times" panose="02020603050405020304" pitchFamily="18" charset="0"/>
                </a:endParaRPr>
              </a:p>
              <a:p>
                <a:pPr>
                  <a:tabLst>
                    <a:tab pos="900113" algn="l"/>
                  </a:tabLst>
                </a:pPr>
                <a:endParaRPr lang="en-US" altLang="zh-CN" sz="2400" dirty="0" smtClean="0">
                  <a:latin typeface="Times" panose="02020603050405020304" pitchFamily="18" charset="0"/>
                  <a:ea typeface="楷体" panose="02010609060101010101" pitchFamily="49" charset="-122"/>
                  <a:cs typeface="Times" panose="02020603050405020304" pitchFamily="18" charset="0"/>
                </a:endParaRPr>
              </a:p>
              <a:p>
                <a:pPr>
                  <a:tabLst>
                    <a:tab pos="900113" algn="l"/>
                  </a:tabLst>
                </a:pPr>
                <a:endParaRPr lang="en-US" altLang="zh-CN" sz="2400" dirty="0">
                  <a:latin typeface="Times" panose="02020603050405020304" pitchFamily="18" charset="0"/>
                  <a:ea typeface="楷体" panose="02010609060101010101" pitchFamily="49" charset="-122"/>
                  <a:cs typeface="Times" panose="02020603050405020304" pitchFamily="18" charset="0"/>
                </a:endParaRPr>
              </a:p>
              <a:p>
                <a:pPr>
                  <a:tabLst>
                    <a:tab pos="900113" algn="l"/>
                  </a:tabLst>
                </a:pPr>
                <a:r>
                  <a:rPr lang="en-US" altLang="zh-CN" sz="2400" dirty="0" smtClean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2. 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离散型随机变量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X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的分布函数</a:t>
                </a:r>
                <a:endParaRPr lang="en-US" altLang="zh-CN" sz="2400" dirty="0" smtClean="0">
                  <a:latin typeface="Times" panose="02020603050405020304" pitchFamily="18" charset="0"/>
                  <a:ea typeface="楷体" panose="02010609060101010101" pitchFamily="49" charset="-122"/>
                  <a:cs typeface="Times" panose="02020603050405020304" pitchFamily="18" charset="0"/>
                </a:endParaRPr>
              </a:p>
              <a:p>
                <a:pPr>
                  <a:tabLst>
                    <a:tab pos="900113" algn="l"/>
                  </a:tabLst>
                </a:pPr>
                <a:endParaRPr lang="en-US" altLang="zh-CN" sz="2400" dirty="0">
                  <a:latin typeface="Times" panose="02020603050405020304" pitchFamily="18" charset="0"/>
                  <a:ea typeface="楷体" panose="02010609060101010101" pitchFamily="49" charset="-122"/>
                  <a:cs typeface="Times" panose="02020603050405020304" pitchFamily="18" charset="0"/>
                </a:endParaRPr>
              </a:p>
              <a:p>
                <a:pPr>
                  <a:tabLst>
                    <a:tab pos="900113" algn="l"/>
                  </a:tabLst>
                </a:pPr>
                <a:endParaRPr lang="en-US" altLang="zh-CN" sz="2400" dirty="0" smtClean="0">
                  <a:latin typeface="Times" panose="02020603050405020304" pitchFamily="18" charset="0"/>
                  <a:ea typeface="楷体" panose="02010609060101010101" pitchFamily="49" charset="-122"/>
                  <a:cs typeface="Times" panose="02020603050405020304" pitchFamily="18" charset="0"/>
                </a:endParaRPr>
              </a:p>
              <a:p>
                <a:pPr>
                  <a:tabLst>
                    <a:tab pos="900113" algn="l"/>
                  </a:tabLst>
                </a:pPr>
                <a:r>
                  <a:rPr lang="zh-CN" altLang="en-US" sz="2400" b="1" dirty="0" smtClean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     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这里</a:t>
                </a:r>
                <a:r>
                  <a:rPr lang="zh-CN" altLang="en-US" sz="2400" dirty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的和式是对不大于</a:t>
                </a:r>
                <a:r>
                  <a:rPr lang="en-US" altLang="zh-CN" sz="2400" i="1" dirty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x</a:t>
                </a:r>
                <a:r>
                  <a:rPr lang="zh-CN" altLang="en-US" sz="2400" dirty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的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一切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求和</a:t>
                </a:r>
                <a:r>
                  <a:rPr lang="zh-CN" altLang="en-US" sz="2400" dirty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。</a:t>
                </a:r>
                <a:endParaRPr lang="en-US" altLang="zh-CN" sz="2400" dirty="0">
                  <a:latin typeface="Times" panose="02020603050405020304" pitchFamily="18" charset="0"/>
                  <a:ea typeface="楷体" panose="02010609060101010101" pitchFamily="49" charset="-122"/>
                  <a:cs typeface="Times" panose="02020603050405020304" pitchFamily="18" charset="0"/>
                </a:endParaRPr>
              </a:p>
              <a:p>
                <a:pPr>
                  <a:tabLst>
                    <a:tab pos="900113" algn="l"/>
                  </a:tabLst>
                </a:pPr>
                <a:r>
                  <a:rPr lang="en-US" altLang="zh-CN" sz="2400" dirty="0" smtClean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3. 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求数学期望与方差</a:t>
                </a:r>
                <a:endParaRPr lang="en-US" altLang="zh-CN" sz="2400" dirty="0" smtClean="0">
                  <a:latin typeface="Times" panose="02020603050405020304" pitchFamily="18" charset="0"/>
                  <a:ea typeface="楷体" panose="02010609060101010101" pitchFamily="49" charset="-122"/>
                  <a:cs typeface="Times" panose="02020603050405020304" pitchFamily="18" charset="0"/>
                </a:endParaRPr>
              </a:p>
              <a:p>
                <a:pPr>
                  <a:tabLst>
                    <a:tab pos="900113" algn="l"/>
                  </a:tabLst>
                </a:pPr>
                <a:r>
                  <a:rPr lang="en-US" altLang="zh-CN" sz="2400" dirty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 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" panose="020206030504050203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sz="24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altLang="zh-CN" sz="2400" dirty="0" smtClean="0">
                  <a:latin typeface="Times" panose="02020603050405020304" pitchFamily="18" charset="0"/>
                  <a:ea typeface="楷体" panose="02010609060101010101" pitchFamily="49" charset="-122"/>
                  <a:cs typeface="Times" panose="02020603050405020304" pitchFamily="18" charset="0"/>
                </a:endParaRPr>
              </a:p>
              <a:p>
                <a:pPr>
                  <a:tabLst>
                    <a:tab pos="900113" algn="l"/>
                  </a:tabLst>
                </a:pPr>
                <a:r>
                  <a:rPr lang="en-US" altLang="zh-CN" sz="2400" dirty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 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" panose="02020603050405020304" pitchFamily="18" charset="0"/>
                      </a:rPr>
                      <m:t>𝐷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" panose="020206030504050203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" panose="020206030504050203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" panose="020206030504050203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" panose="020206030504050203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" panose="02020603050405020304" pitchFamily="18" charset="0"/>
                          </a:rPr>
                          <m:t>(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" panose="02020603050405020304" pitchFamily="18" charset="0"/>
                          </a:rPr>
                          <m:t>𝐸𝑋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" panose="020206030504050203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2400" dirty="0" smtClean="0">
                  <a:latin typeface="Times" panose="02020603050405020304" pitchFamily="18" charset="0"/>
                  <a:ea typeface="楷体" panose="02010609060101010101" pitchFamily="49" charset="-122"/>
                  <a:cs typeface="Times" panose="02020603050405020304" pitchFamily="18" charset="0"/>
                </a:endParaRPr>
              </a:p>
              <a:p>
                <a:pPr>
                  <a:tabLst>
                    <a:tab pos="900113" algn="l"/>
                  </a:tabLst>
                </a:pPr>
                <a:r>
                  <a:rPr lang="en-US" altLang="zh-CN" sz="2400" dirty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 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    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特别的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E(g(X))=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sz="24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" panose="02020603050405020304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" panose="02020603050405020304" pitchFamily="18" charset="0"/>
                              </a:rPr>
                              <m:t>𝑔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" panose="02020603050405020304" pitchFamily="18" charset="0"/>
                              </a:rPr>
                              <m:t>(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" panose="02020603050405020304" pitchFamily="18" charset="0"/>
                          </a:rPr>
                          <m:t>)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altLang="zh-CN" sz="2400" dirty="0" smtClean="0">
                  <a:latin typeface="Times" panose="02020603050405020304" pitchFamily="18" charset="0"/>
                  <a:ea typeface="楷体" panose="02010609060101010101" pitchFamily="49" charset="-122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1052736"/>
                <a:ext cx="8856984" cy="4893968"/>
              </a:xfrm>
              <a:prstGeom prst="rect">
                <a:avLst/>
              </a:prstGeom>
              <a:blipFill>
                <a:blip r:embed="rId3"/>
                <a:stretch>
                  <a:fillRect l="-1032" t="-1370" r="-688" b="-176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9537016"/>
              </p:ext>
            </p:extLst>
          </p:nvPr>
        </p:nvGraphicFramePr>
        <p:xfrm>
          <a:off x="5314900" y="1729831"/>
          <a:ext cx="2857500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1572" name="Equation" r:id="rId4" imgW="1269449" imgH="393529" progId="Equation.DSMT4">
                  <p:embed/>
                </p:oleObj>
              </mc:Choice>
              <mc:Fallback>
                <p:oleObj name="Equation" r:id="rId4" imgW="1269449" imgH="393529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4900" y="1729831"/>
                        <a:ext cx="2857500" cy="954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7214423"/>
              </p:ext>
            </p:extLst>
          </p:nvPr>
        </p:nvGraphicFramePr>
        <p:xfrm>
          <a:off x="833313" y="1718718"/>
          <a:ext cx="382587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1573" name="Equation" r:id="rId6" imgW="152334" imgH="139639" progId="Equation.DSMT4">
                  <p:embed/>
                </p:oleObj>
              </mc:Choice>
              <mc:Fallback>
                <p:oleObj name="Equation" r:id="rId6" imgW="152334" imgH="139639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3313" y="1718718"/>
                        <a:ext cx="382587" cy="388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5770484"/>
              </p:ext>
            </p:extLst>
          </p:nvPr>
        </p:nvGraphicFramePr>
        <p:xfrm>
          <a:off x="1454025" y="1659981"/>
          <a:ext cx="358775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1574" name="Equation" r:id="rId8" imgW="139639" imgH="190417" progId="Equation.DSMT4">
                  <p:embed/>
                </p:oleObj>
              </mc:Choice>
              <mc:Fallback>
                <p:oleObj name="Equation" r:id="rId8" imgW="139639" imgH="190417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4025" y="1659981"/>
                        <a:ext cx="358775" cy="519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4259676"/>
              </p:ext>
            </p:extLst>
          </p:nvPr>
        </p:nvGraphicFramePr>
        <p:xfrm>
          <a:off x="2092200" y="1675856"/>
          <a:ext cx="384175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1575" name="Equation" r:id="rId10" imgW="152334" imgH="190417" progId="Equation.DSMT4">
                  <p:embed/>
                </p:oleObj>
              </mc:Choice>
              <mc:Fallback>
                <p:oleObj name="Equation" r:id="rId10" imgW="152334" imgH="190417" progId="Equation.DSMT4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2200" y="1675856"/>
                        <a:ext cx="384175" cy="519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6839269"/>
              </p:ext>
            </p:extLst>
          </p:nvPr>
        </p:nvGraphicFramePr>
        <p:xfrm>
          <a:off x="3489200" y="1675856"/>
          <a:ext cx="384175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1576" name="Equation" r:id="rId12" imgW="152334" imgH="190417" progId="Equation.DSMT4">
                  <p:embed/>
                </p:oleObj>
              </mc:Choice>
              <mc:Fallback>
                <p:oleObj name="Equation" r:id="rId12" imgW="152334" imgH="190417" progId="Equation.DSMT4">
                  <p:embed/>
                  <p:pic>
                    <p:nvPicPr>
                      <p:cNvPr id="2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9200" y="1675856"/>
                        <a:ext cx="384175" cy="519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3108215"/>
              </p:ext>
            </p:extLst>
          </p:nvPr>
        </p:nvGraphicFramePr>
        <p:xfrm>
          <a:off x="855538" y="2294981"/>
          <a:ext cx="360362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1577" name="Equation" r:id="rId14" imgW="139700" imgH="139700" progId="Equation.DSMT4">
                  <p:embed/>
                </p:oleObj>
              </mc:Choice>
              <mc:Fallback>
                <p:oleObj name="Equation" r:id="rId14" imgW="139700" imgH="139700" progId="Equation.DSMT4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538" y="2294981"/>
                        <a:ext cx="360362" cy="388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8538685"/>
              </p:ext>
            </p:extLst>
          </p:nvPr>
        </p:nvGraphicFramePr>
        <p:xfrm>
          <a:off x="1428625" y="2164806"/>
          <a:ext cx="384175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1578" name="Equation" r:id="rId16" imgW="152334" imgH="190417" progId="Equation.DSMT4">
                  <p:embed/>
                </p:oleObj>
              </mc:Choice>
              <mc:Fallback>
                <p:oleObj name="Equation" r:id="rId16" imgW="152334" imgH="190417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8625" y="2164806"/>
                        <a:ext cx="384175" cy="519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5861558"/>
              </p:ext>
            </p:extLst>
          </p:nvPr>
        </p:nvGraphicFramePr>
        <p:xfrm>
          <a:off x="2136650" y="2164806"/>
          <a:ext cx="407988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1579" name="Equation" r:id="rId18" imgW="164957" imgH="190335" progId="Equation.DSMT4">
                  <p:embed/>
                </p:oleObj>
              </mc:Choice>
              <mc:Fallback>
                <p:oleObj name="Equation" r:id="rId18" imgW="164957" imgH="190335" progId="Equation.DSMT4">
                  <p:embed/>
                  <p:pic>
                    <p:nvPicPr>
                      <p:cNvPr id="23" name="对象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6650" y="2164806"/>
                        <a:ext cx="407988" cy="519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7609776"/>
              </p:ext>
            </p:extLst>
          </p:nvPr>
        </p:nvGraphicFramePr>
        <p:xfrm>
          <a:off x="3465388" y="2164806"/>
          <a:ext cx="407987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1580" name="Equation" r:id="rId20" imgW="164957" imgH="190335" progId="Equation.DSMT4">
                  <p:embed/>
                </p:oleObj>
              </mc:Choice>
              <mc:Fallback>
                <p:oleObj name="Equation" r:id="rId20" imgW="164957" imgH="190335" progId="Equation.DSMT4">
                  <p:embed/>
                  <p:pic>
                    <p:nvPicPr>
                      <p:cNvPr id="24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5388" y="2164806"/>
                        <a:ext cx="407987" cy="519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4576205"/>
              </p:ext>
            </p:extLst>
          </p:nvPr>
        </p:nvGraphicFramePr>
        <p:xfrm>
          <a:off x="689297" y="1628800"/>
          <a:ext cx="3324225" cy="1127126"/>
        </p:xfrm>
        <a:graphic>
          <a:graphicData uri="http://schemas.openxmlformats.org/drawingml/2006/table">
            <a:tbl>
              <a:tblPr/>
              <a:tblGrid>
                <a:gridCol w="665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5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3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51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51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35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5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zh-CN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300825"/>
              </p:ext>
            </p:extLst>
          </p:nvPr>
        </p:nvGraphicFramePr>
        <p:xfrm>
          <a:off x="2051720" y="3212976"/>
          <a:ext cx="5156200" cy="94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1581" name="Equation" r:id="rId22" imgW="2311200" imgH="393480" progId="Equation.DSMT4">
                  <p:embed/>
                </p:oleObj>
              </mc:Choice>
              <mc:Fallback>
                <p:oleObj name="Equation" r:id="rId22" imgW="2311200" imgH="393480" progId="Equation.DSMT4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720" y="3212976"/>
                        <a:ext cx="5156200" cy="9445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49382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>
            <a:off x="467544" y="260648"/>
            <a:ext cx="835196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1-2.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一维离散型随机变量的分布律与古典概型</a:t>
            </a:r>
            <a:endParaRPr lang="zh-CN" altLang="en-US" sz="3200" b="1" dirty="0">
              <a:solidFill>
                <a:srgbClr val="0000FF"/>
              </a:solidFill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79512" y="1052736"/>
            <a:ext cx="8856984" cy="90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900113" algn="l"/>
              </a:tabLst>
            </a:pPr>
            <a:r>
              <a:rPr lang="zh-CN" altLang="en-US" sz="2400" dirty="0" smtClean="0">
                <a:solidFill>
                  <a:srgbClr val="0000FF"/>
                </a:solidFill>
                <a:latin typeface="Times" panose="02020603050405020304" pitchFamily="18" charset="0"/>
                <a:ea typeface="楷体" panose="02010609060101010101" pitchFamily="49" charset="-122"/>
                <a:cs typeface="Times" panose="02020603050405020304" pitchFamily="18" charset="0"/>
              </a:rPr>
              <a:t>例</a:t>
            </a:r>
            <a:r>
              <a:rPr lang="en-US" altLang="zh-CN" sz="2400" dirty="0" smtClean="0">
                <a:solidFill>
                  <a:srgbClr val="0000FF"/>
                </a:solidFill>
                <a:latin typeface="Times" panose="02020603050405020304" pitchFamily="18" charset="0"/>
                <a:ea typeface="楷体" panose="02010609060101010101" pitchFamily="49" charset="-122"/>
                <a:cs typeface="Times" panose="02020603050405020304" pitchFamily="18" charset="0"/>
              </a:rPr>
              <a:t>2</a:t>
            </a:r>
            <a:r>
              <a:rPr lang="en-US" altLang="zh-CN" sz="2400" dirty="0" smtClean="0">
                <a:latin typeface="Times" panose="02020603050405020304" pitchFamily="18" charset="0"/>
                <a:ea typeface="楷体" panose="02010609060101010101" pitchFamily="49" charset="-122"/>
                <a:cs typeface="Times" panose="02020603050405020304" pitchFamily="18" charset="0"/>
              </a:rPr>
              <a:t>. </a:t>
            </a:r>
            <a:r>
              <a:rPr lang="zh-CN" altLang="en-US" sz="2400" dirty="0" smtClean="0">
                <a:latin typeface="Times" panose="02020603050405020304" pitchFamily="18" charset="0"/>
                <a:ea typeface="楷体" panose="02010609060101010101" pitchFamily="49" charset="-122"/>
                <a:cs typeface="Times" panose="02020603050405020304" pitchFamily="18" charset="0"/>
              </a:rPr>
              <a:t>袋中有</a:t>
            </a:r>
            <a:r>
              <a:rPr lang="en-US" altLang="zh-CN" sz="2400" dirty="0" smtClean="0">
                <a:latin typeface="Times" panose="02020603050405020304" pitchFamily="18" charset="0"/>
                <a:ea typeface="楷体" panose="02010609060101010101" pitchFamily="49" charset="-122"/>
                <a:cs typeface="Times" panose="02020603050405020304" pitchFamily="18" charset="0"/>
              </a:rPr>
              <a:t>5</a:t>
            </a:r>
            <a:r>
              <a:rPr lang="zh-CN" altLang="en-US" sz="2400" dirty="0" smtClean="0">
                <a:latin typeface="Times" panose="02020603050405020304" pitchFamily="18" charset="0"/>
                <a:ea typeface="楷体" panose="02010609060101010101" pitchFamily="49" charset="-122"/>
                <a:cs typeface="Times" panose="02020603050405020304" pitchFamily="18" charset="0"/>
              </a:rPr>
              <a:t>个球，分别编号</a:t>
            </a:r>
            <a:r>
              <a:rPr lang="en-US" altLang="zh-CN" sz="2400" dirty="0" smtClean="0">
                <a:latin typeface="Times" panose="02020603050405020304" pitchFamily="18" charset="0"/>
                <a:ea typeface="楷体" panose="02010609060101010101" pitchFamily="49" charset="-122"/>
                <a:cs typeface="Times" panose="02020603050405020304" pitchFamily="18" charset="0"/>
              </a:rPr>
              <a:t>1,2,3,4,5</a:t>
            </a:r>
            <a:r>
              <a:rPr lang="zh-CN" altLang="en-US" sz="2400" dirty="0" smtClean="0">
                <a:latin typeface="Times" panose="02020603050405020304" pitchFamily="18" charset="0"/>
                <a:ea typeface="楷体" panose="02010609060101010101" pitchFamily="49" charset="-122"/>
                <a:cs typeface="Times" panose="02020603050405020304" pitchFamily="18" charset="0"/>
              </a:rPr>
              <a:t>，从其中取</a:t>
            </a:r>
            <a:r>
              <a:rPr lang="en-US" altLang="zh-CN" sz="2400" dirty="0" smtClean="0">
                <a:latin typeface="Times" panose="02020603050405020304" pitchFamily="18" charset="0"/>
                <a:ea typeface="楷体" panose="02010609060101010101" pitchFamily="49" charset="-122"/>
                <a:cs typeface="Times" panose="02020603050405020304" pitchFamily="18" charset="0"/>
              </a:rPr>
              <a:t>3</a:t>
            </a:r>
            <a:r>
              <a:rPr lang="zh-CN" altLang="en-US" sz="2400" dirty="0" smtClean="0">
                <a:latin typeface="Times" panose="02020603050405020304" pitchFamily="18" charset="0"/>
                <a:ea typeface="楷体" panose="02010609060101010101" pitchFamily="49" charset="-122"/>
                <a:cs typeface="Times" panose="02020603050405020304" pitchFamily="18" charset="0"/>
              </a:rPr>
              <a:t>个球，求取出的</a:t>
            </a:r>
            <a:r>
              <a:rPr lang="en-US" altLang="zh-CN" sz="2400" dirty="0" smtClean="0">
                <a:latin typeface="Times" panose="02020603050405020304" pitchFamily="18" charset="0"/>
                <a:ea typeface="楷体" panose="02010609060101010101" pitchFamily="49" charset="-122"/>
                <a:cs typeface="Times" panose="02020603050405020304" pitchFamily="18" charset="0"/>
              </a:rPr>
              <a:t>3</a:t>
            </a:r>
            <a:r>
              <a:rPr lang="zh-CN" altLang="en-US" sz="2400" dirty="0" smtClean="0">
                <a:latin typeface="Times" panose="02020603050405020304" pitchFamily="18" charset="0"/>
                <a:ea typeface="楷体" panose="02010609060101010101" pitchFamily="49" charset="-122"/>
                <a:cs typeface="Times" panose="02020603050405020304" pitchFamily="18" charset="0"/>
              </a:rPr>
              <a:t>个球中最大号码</a:t>
            </a:r>
            <a:r>
              <a:rPr lang="en-US" altLang="zh-CN" sz="2400" dirty="0" smtClean="0">
                <a:latin typeface="Times" panose="02020603050405020304" pitchFamily="18" charset="0"/>
                <a:ea typeface="楷体" panose="02010609060101010101" pitchFamily="49" charset="-122"/>
                <a:cs typeface="Times" panose="02020603050405020304" pitchFamily="18" charset="0"/>
              </a:rPr>
              <a:t>X</a:t>
            </a:r>
            <a:r>
              <a:rPr lang="zh-CN" altLang="en-US" sz="2400" dirty="0" smtClean="0">
                <a:latin typeface="Times" panose="02020603050405020304" pitchFamily="18" charset="0"/>
                <a:ea typeface="楷体" panose="02010609060101010101" pitchFamily="49" charset="-122"/>
                <a:cs typeface="Times" panose="02020603050405020304" pitchFamily="18" charset="0"/>
              </a:rPr>
              <a:t>的分布律、数学期望、方差与标准差。</a:t>
            </a:r>
            <a:endParaRPr lang="en-US" altLang="zh-CN" sz="2400" dirty="0" smtClean="0">
              <a:latin typeface="Times" panose="02020603050405020304" pitchFamily="18" charset="0"/>
              <a:ea typeface="楷体" panose="02010609060101010101" pitchFamily="49" charset="-122"/>
              <a:cs typeface="Times" panose="02020603050405020304" pitchFamily="18" charset="0"/>
            </a:endParaRPr>
          </a:p>
          <a:p>
            <a:pPr>
              <a:lnSpc>
                <a:spcPct val="20000"/>
              </a:lnSpc>
              <a:tabLst>
                <a:tab pos="900113" algn="l"/>
              </a:tabLst>
            </a:pPr>
            <a:endParaRPr lang="en-US" altLang="zh-CN" sz="2400" dirty="0">
              <a:latin typeface="Times" panose="02020603050405020304" pitchFamily="18" charset="0"/>
              <a:ea typeface="楷体" panose="02010609060101010101" pitchFamily="49" charset="-122"/>
              <a:cs typeface="Times" panose="02020603050405020304" pitchFamily="18" charset="0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9625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>
            <a:off x="467544" y="260648"/>
            <a:ext cx="835196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1-2.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一维离散型随机变量的分布律与古典概型</a:t>
            </a:r>
            <a:endParaRPr lang="zh-CN" altLang="en-US" sz="3200" b="1" dirty="0">
              <a:solidFill>
                <a:srgbClr val="0000FF"/>
              </a:solidFill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179512" y="1052736"/>
                <a:ext cx="8856984" cy="42598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tabLst>
                    <a:tab pos="900113" algn="l"/>
                  </a:tabLst>
                </a:pPr>
                <a:r>
                  <a:rPr lang="zh-CN" altLang="en-US" sz="2400" dirty="0" smtClean="0">
                    <a:solidFill>
                      <a:srgbClr val="0000FF"/>
                    </a:solidFill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例</a:t>
                </a:r>
                <a:r>
                  <a:rPr lang="en-US" altLang="zh-CN" sz="2400" dirty="0" smtClean="0">
                    <a:solidFill>
                      <a:srgbClr val="0000FF"/>
                    </a:solidFill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2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. 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袋中有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5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个球，分别编号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1,2,3,4,5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，从其中取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3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个球，求取出的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3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个球中最大号码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X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的分布律、数学期望、方差与标准差。</a:t>
                </a:r>
                <a:endParaRPr lang="en-US" altLang="zh-CN" sz="2400" dirty="0" smtClean="0">
                  <a:latin typeface="Times" panose="02020603050405020304" pitchFamily="18" charset="0"/>
                  <a:ea typeface="楷体" panose="02010609060101010101" pitchFamily="49" charset="-122"/>
                  <a:cs typeface="Times" panose="02020603050405020304" pitchFamily="18" charset="0"/>
                </a:endParaRPr>
              </a:p>
              <a:p>
                <a:pPr>
                  <a:lnSpc>
                    <a:spcPct val="20000"/>
                  </a:lnSpc>
                  <a:tabLst>
                    <a:tab pos="900113" algn="l"/>
                  </a:tabLst>
                </a:pPr>
                <a:endParaRPr lang="en-US" altLang="zh-CN" sz="2400" dirty="0">
                  <a:latin typeface="Times" panose="02020603050405020304" pitchFamily="18" charset="0"/>
                  <a:ea typeface="楷体" panose="02010609060101010101" pitchFamily="49" charset="-122"/>
                  <a:cs typeface="Times" panose="02020603050405020304" pitchFamily="18" charset="0"/>
                </a:endParaRPr>
              </a:p>
              <a:p>
                <a:pPr>
                  <a:tabLst>
                    <a:tab pos="900113" algn="l"/>
                  </a:tabLst>
                </a:pPr>
                <a:r>
                  <a:rPr lang="zh-CN" altLang="en-US" sz="2400" dirty="0" smtClean="0">
                    <a:solidFill>
                      <a:srgbClr val="0000FF"/>
                    </a:solidFill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解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：</a:t>
                </a:r>
                <a:endParaRPr lang="en-US" altLang="zh-CN" sz="2400" dirty="0" smtClean="0">
                  <a:latin typeface="Times" panose="02020603050405020304" pitchFamily="18" charset="0"/>
                  <a:ea typeface="楷体" panose="02010609060101010101" pitchFamily="49" charset="-122"/>
                  <a:cs typeface="Times" panose="02020603050405020304" pitchFamily="18" charset="0"/>
                </a:endParaRPr>
              </a:p>
              <a:p>
                <a:pPr>
                  <a:tabLst>
                    <a:tab pos="900113" algn="l"/>
                  </a:tabLst>
                </a:pPr>
                <a:endParaRPr lang="en-US" altLang="zh-CN" sz="2400" dirty="0">
                  <a:latin typeface="Times" panose="02020603050405020304" pitchFamily="18" charset="0"/>
                  <a:ea typeface="楷体" panose="02010609060101010101" pitchFamily="49" charset="-122"/>
                  <a:cs typeface="Times" panose="02020603050405020304" pitchFamily="18" charset="0"/>
                </a:endParaRPr>
              </a:p>
              <a:p>
                <a:pPr>
                  <a:tabLst>
                    <a:tab pos="900113" algn="l"/>
                  </a:tabLst>
                </a:pPr>
                <a:endParaRPr lang="en-US" altLang="zh-CN" sz="2400" dirty="0" smtClean="0">
                  <a:latin typeface="Times" panose="02020603050405020304" pitchFamily="18" charset="0"/>
                  <a:ea typeface="楷体" panose="02010609060101010101" pitchFamily="49" charset="-122"/>
                  <a:cs typeface="Times" panose="02020603050405020304" pitchFamily="18" charset="0"/>
                </a:endParaRPr>
              </a:p>
              <a:p>
                <a:pPr>
                  <a:tabLst>
                    <a:tab pos="900113" algn="l"/>
                  </a:tabLst>
                </a:pPr>
                <a:endParaRPr lang="en-US" altLang="zh-CN" sz="2400" dirty="0">
                  <a:latin typeface="Times" panose="02020603050405020304" pitchFamily="18" charset="0"/>
                  <a:ea typeface="楷体" panose="02010609060101010101" pitchFamily="49" charset="-122"/>
                  <a:cs typeface="Times" panose="02020603050405020304" pitchFamily="18" charset="0"/>
                </a:endParaRPr>
              </a:p>
              <a:p>
                <a:pPr>
                  <a:tabLst>
                    <a:tab pos="900113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" panose="020206030504050203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" panose="020206030504050203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" panose="02020603050405020304" pitchFamily="18" charset="0"/>
                        </a:rPr>
                        <m:t>=3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" panose="02020603050405020304" pitchFamily="18" charset="0"/>
                        </a:rPr>
                        <m:t>×0.1+4×0.3+5×0.6=4.5</m:t>
                      </m:r>
                    </m:oMath>
                  </m:oMathPara>
                </a14:m>
                <a:endParaRPr lang="en-US" altLang="zh-CN" sz="2400" b="0" dirty="0" smtClean="0">
                  <a:latin typeface="Times" panose="02020603050405020304" pitchFamily="18" charset="0"/>
                  <a:ea typeface="Cambria Math" panose="02040503050406030204" pitchFamily="18" charset="0"/>
                  <a:cs typeface="Times" panose="02020603050405020304" pitchFamily="18" charset="0"/>
                </a:endParaRPr>
              </a:p>
              <a:p>
                <a:pPr>
                  <a:tabLst>
                    <a:tab pos="900113" algn="l"/>
                  </a:tabLst>
                </a:pP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" panose="020206030504050203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  <a:cs typeface="Times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  <a:cs typeface="Times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" panose="02020603050405020304" pitchFamily="18" charset="0"/>
                          </a:rPr>
                          <m:t>3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" panose="02020603050405020304" pitchFamily="18" charset="0"/>
                      </a:rPr>
                      <m:t>×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" panose="02020603050405020304" pitchFamily="18" charset="0"/>
                      </a:rPr>
                      <m:t>0.1+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" panose="02020603050405020304" pitchFamily="18" charset="0"/>
                          </a:rPr>
                          <m:t>4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" panose="02020603050405020304" pitchFamily="18" charset="0"/>
                      </a:rPr>
                      <m:t>×0.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" panose="02020603050405020304" pitchFamily="18" charset="0"/>
                      </a:rPr>
                      <m:t>3</m:t>
                    </m:r>
                  </m:oMath>
                </a14:m>
                <a:r>
                  <a:rPr lang="en-US" altLang="zh-CN" sz="2400" dirty="0" smtClean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" panose="02020603050405020304" pitchFamily="18" charset="0"/>
                          </a:rPr>
                          <m:t>5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" panose="02020603050405020304" pitchFamily="18" charset="0"/>
                      </a:rPr>
                      <m:t>×0.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" panose="02020603050405020304" pitchFamily="18" charset="0"/>
                      </a:rPr>
                      <m:t>6=</m:t>
                    </m:r>
                  </m:oMath>
                </a14:m>
                <a:r>
                  <a:rPr lang="en-US" altLang="zh-CN" sz="2400" dirty="0" smtClean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20.7</a:t>
                </a:r>
              </a:p>
              <a:p>
                <a:pPr>
                  <a:tabLst>
                    <a:tab pos="900113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" panose="020206030504050203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" panose="020206030504050203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" panose="020206030504050203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" panose="020206030504050203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" panose="020206030504050203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" panose="020206030504050203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" panose="02020603050405020304" pitchFamily="18" charset="0"/>
                                </a:rPr>
                                <m:t>𝐸𝑋</m:t>
                              </m:r>
                            </m:e>
                          </m:d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" panose="02020603050405020304" pitchFamily="18" charset="0"/>
                        </a:rPr>
                        <m:t>=0.45</m:t>
                      </m:r>
                    </m:oMath>
                  </m:oMathPara>
                </a14:m>
                <a:endParaRPr lang="en-US" altLang="zh-CN" sz="2400" dirty="0" smtClean="0">
                  <a:latin typeface="Times" panose="02020603050405020304" pitchFamily="18" charset="0"/>
                  <a:ea typeface="楷体" panose="02010609060101010101" pitchFamily="49" charset="-122"/>
                  <a:cs typeface="Times" panose="02020603050405020304" pitchFamily="18" charset="0"/>
                </a:endParaRPr>
              </a:p>
              <a:p>
                <a:pPr>
                  <a:tabLst>
                    <a:tab pos="900113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" panose="02020603050405020304" pitchFamily="18" charset="0"/>
                        </a:rPr>
                        <m:t>𝜎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" panose="020206030504050203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" panose="020206030504050203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" panose="020206030504050203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" panose="02020603050405020304" pitchFamily="18" charset="0"/>
                            </a:rPr>
                            <m:t>𝐷</m:t>
                          </m:r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" panose="020206030504050203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ra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" panose="02020603050405020304" pitchFamily="18" charset="0"/>
                            </a:rPr>
                            <m:t>3</m:t>
                          </m:r>
                          <m:rad>
                            <m:radPr>
                              <m:degHide m:val="on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" panose="020206030504050203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  <a:cs typeface="Times" panose="02020603050405020304" pitchFamily="18" charset="0"/>
                                </a:rPr>
                                <m:t>5</m:t>
                              </m:r>
                            </m:e>
                          </m:rad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" panose="020206030504050203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US" altLang="zh-CN" sz="2400" dirty="0" smtClean="0">
                  <a:latin typeface="Times" panose="02020603050405020304" pitchFamily="18" charset="0"/>
                  <a:ea typeface="楷体" panose="02010609060101010101" pitchFamily="49" charset="-122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1052736"/>
                <a:ext cx="8856984" cy="4259884"/>
              </a:xfrm>
              <a:prstGeom prst="rect">
                <a:avLst/>
              </a:prstGeom>
              <a:blipFill>
                <a:blip r:embed="rId3"/>
                <a:stretch>
                  <a:fillRect l="-1032" t="-15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059832" y="2135986"/>
          <a:ext cx="2493214" cy="8609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7025" r:id="rId4" imgW="1320800" imgH="457200" progId="Equation.3">
                  <p:embed/>
                </p:oleObj>
              </mc:Choice>
              <mc:Fallback>
                <p:oleObj r:id="rId4" imgW="1320800" imgH="457200" progId="Equation.3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2" y="2135986"/>
                        <a:ext cx="2493214" cy="86096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69139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>
            <a:off x="2108096" y="260648"/>
            <a:ext cx="505619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1-3.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加法公式与事件独立性</a:t>
            </a:r>
            <a:endParaRPr lang="zh-CN" altLang="en-US" sz="3200" b="1" dirty="0">
              <a:solidFill>
                <a:srgbClr val="0000FF"/>
              </a:solidFill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179512" y="1052736"/>
                <a:ext cx="8856984" cy="310854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Wingdings" panose="05000000000000000000" pitchFamily="2" charset="2"/>
                  <a:buChar char="Ø"/>
                  <a:tabLst>
                    <a:tab pos="900113" algn="l"/>
                  </a:tabLst>
                </a:pPr>
                <a:r>
                  <a:rPr lang="zh-CN" altLang="en-US" sz="2800" dirty="0" smtClean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加法公式：</a:t>
                </a:r>
                <a:endParaRPr lang="en-US" altLang="zh-CN" sz="2800" dirty="0" smtClean="0">
                  <a:latin typeface="Times" panose="02020603050405020304" pitchFamily="18" charset="0"/>
                  <a:ea typeface="楷体" panose="02010609060101010101" pitchFamily="49" charset="-122"/>
                  <a:cs typeface="Times" panose="02020603050405020304" pitchFamily="18" charset="0"/>
                </a:endParaRPr>
              </a:p>
              <a:p>
                <a:pPr>
                  <a:tabLst>
                    <a:tab pos="900113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" panose="02020603050405020304" pitchFamily="18" charset="0"/>
                            </a:rPr>
                            <m:t>𝐴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" panose="02020603050405020304" pitchFamily="18" charset="0"/>
                            </a:rPr>
                            <m:t>∪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" panose="020206030504050203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" panose="020206030504050203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" panose="020206030504050203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" panose="02020603050405020304" pitchFamily="18" charset="0"/>
                        </a:rPr>
                        <m:t>+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" panose="020206030504050203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" panose="02020603050405020304" pitchFamily="18" charset="0"/>
                        </a:rPr>
                        <m:t>−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" panose="02020603050405020304" pitchFamily="18" charset="0"/>
                            </a:rPr>
                            <m:t>𝐴𝐵</m:t>
                          </m:r>
                        </m:e>
                      </m:d>
                    </m:oMath>
                  </m:oMathPara>
                </a14:m>
                <a:endParaRPr lang="en-US" altLang="zh-CN" sz="2800" b="0" dirty="0" smtClean="0">
                  <a:latin typeface="Times" panose="02020603050405020304" pitchFamily="18" charset="0"/>
                  <a:ea typeface="楷体" panose="02010609060101010101" pitchFamily="49" charset="-122"/>
                  <a:cs typeface="Times" panose="02020603050405020304" pitchFamily="18" charset="0"/>
                </a:endParaRPr>
              </a:p>
              <a:p>
                <a:pPr>
                  <a:tabLst>
                    <a:tab pos="900113" algn="l"/>
                  </a:tabLst>
                </a:pPr>
                <a:endParaRPr lang="en-US" altLang="zh-CN" sz="2800" dirty="0">
                  <a:latin typeface="Times" panose="02020603050405020304" pitchFamily="18" charset="0"/>
                  <a:ea typeface="楷体" panose="02010609060101010101" pitchFamily="49" charset="-122"/>
                  <a:cs typeface="Times" panose="02020603050405020304" pitchFamily="18" charset="0"/>
                </a:endParaRPr>
              </a:p>
              <a:p>
                <a:pPr>
                  <a:tabLst>
                    <a:tab pos="900113" algn="l"/>
                  </a:tabLst>
                </a:pPr>
                <a:endParaRPr lang="en-US" altLang="zh-CN" sz="2800" b="0" dirty="0" smtClean="0">
                  <a:latin typeface="Times" panose="02020603050405020304" pitchFamily="18" charset="0"/>
                  <a:ea typeface="楷体" panose="02010609060101010101" pitchFamily="49" charset="-122"/>
                  <a:cs typeface="Times" panose="02020603050405020304" pitchFamily="18" charset="0"/>
                </a:endParaRPr>
              </a:p>
              <a:p>
                <a:pPr>
                  <a:tabLst>
                    <a:tab pos="900113" algn="l"/>
                  </a:tabLst>
                </a:pPr>
                <a:endParaRPr lang="en-US" altLang="zh-CN" sz="2800" b="0" dirty="0" smtClean="0">
                  <a:latin typeface="Times" panose="02020603050405020304" pitchFamily="18" charset="0"/>
                  <a:ea typeface="楷体" panose="02010609060101010101" pitchFamily="49" charset="-122"/>
                  <a:cs typeface="Times" panose="02020603050405020304" pitchFamily="18" charset="0"/>
                </a:endParaRPr>
              </a:p>
              <a:p>
                <a:pPr marL="457200" indent="-457200">
                  <a:buFont typeface="Wingdings" panose="05000000000000000000" pitchFamily="2" charset="2"/>
                  <a:buChar char="Ø"/>
                  <a:tabLst>
                    <a:tab pos="900113" algn="l"/>
                  </a:tabLst>
                </a:pPr>
                <a:r>
                  <a:rPr lang="zh-CN" altLang="en-US" sz="2800" dirty="0" smtClean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事件</a:t>
                </a:r>
                <a:r>
                  <a:rPr lang="en-US" altLang="zh-CN" sz="2800" dirty="0" smtClean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A</a:t>
                </a:r>
                <a:r>
                  <a:rPr lang="zh-CN" altLang="en-US" sz="2800" dirty="0" smtClean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与事件</a:t>
                </a:r>
                <a:r>
                  <a:rPr lang="en-US" altLang="zh-CN" sz="2800" dirty="0" smtClean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B</a:t>
                </a:r>
                <a:r>
                  <a:rPr lang="zh-CN" altLang="en-US" sz="2800" dirty="0" smtClean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相互独立：</a:t>
                </a:r>
                <a:endParaRPr lang="en-US" altLang="zh-CN" sz="2800" dirty="0" smtClean="0">
                  <a:latin typeface="Times" panose="02020603050405020304" pitchFamily="18" charset="0"/>
                  <a:ea typeface="楷体" panose="02010609060101010101" pitchFamily="49" charset="-122"/>
                  <a:cs typeface="Times" panose="02020603050405020304" pitchFamily="18" charset="0"/>
                </a:endParaRPr>
              </a:p>
              <a:p>
                <a:pPr>
                  <a:tabLst>
                    <a:tab pos="900113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" panose="020206030504050203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" panose="020206030504050203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  <a:cs typeface="Times" panose="020206030504050203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" panose="02020603050405020304" pitchFamily="18" charset="0"/>
                        </a:rPr>
                        <m:t>𝑃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" panose="02020603050405020304" pitchFamily="18" charset="0"/>
                        </a:rPr>
                        <m:t>(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" panose="02020603050405020304" pitchFamily="18" charset="0"/>
                        </a:rPr>
                        <m:t>𝐵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  <a:cs typeface="Times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dirty="0" smtClean="0">
                  <a:latin typeface="Times" panose="02020603050405020304" pitchFamily="18" charset="0"/>
                  <a:ea typeface="楷体" panose="02010609060101010101" pitchFamily="49" charset="-122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1052736"/>
                <a:ext cx="8856984" cy="3108543"/>
              </a:xfrm>
              <a:prstGeom prst="rect">
                <a:avLst/>
              </a:prstGeom>
              <a:blipFill>
                <a:blip r:embed="rId2"/>
                <a:stretch>
                  <a:fillRect l="-1170" t="-27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6573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251520" y="1052736"/>
            <a:ext cx="8640960" cy="5109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2600" b="1" dirty="0" smtClean="0">
              <a:solidFill>
                <a:srgbClr val="0000FF"/>
              </a:solidFill>
              <a:latin typeface="Times" pitchFamily="18" charset="0"/>
              <a:ea typeface="楷体" pitchFamily="49" charset="-122"/>
              <a:cs typeface="Times" pitchFamily="18" charset="0"/>
            </a:endParaRPr>
          </a:p>
          <a:p>
            <a:r>
              <a:rPr lang="en-US" altLang="zh-CN" sz="2400" b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(1)</a:t>
            </a:r>
            <a:r>
              <a:rPr lang="zh-CN" altLang="en-US" sz="2400" b="1" dirty="0">
                <a:latin typeface="Times" pitchFamily="18" charset="0"/>
                <a:ea typeface="楷体" pitchFamily="49" charset="-122"/>
                <a:cs typeface="Times" pitchFamily="18" charset="0"/>
              </a:rPr>
              <a:t> </a:t>
            </a:r>
            <a:r>
              <a:rPr lang="zh-CN" altLang="en-US" sz="2400" b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求未知参数：</a:t>
            </a:r>
            <a:endParaRPr lang="en-US" altLang="zh-CN" sz="2400" b="1" dirty="0" smtClean="0">
              <a:latin typeface="Times" pitchFamily="18" charset="0"/>
              <a:ea typeface="楷体" pitchFamily="49" charset="-122"/>
              <a:cs typeface="Times" pitchFamily="18" charset="0"/>
            </a:endParaRPr>
          </a:p>
          <a:p>
            <a:endParaRPr lang="en-US" altLang="zh-CN" sz="2400" b="1" dirty="0">
              <a:latin typeface="Times" pitchFamily="18" charset="0"/>
              <a:ea typeface="楷体" pitchFamily="49" charset="-122"/>
              <a:cs typeface="Times" pitchFamily="18" charset="0"/>
            </a:endParaRPr>
          </a:p>
          <a:p>
            <a:r>
              <a:rPr lang="en-US" altLang="zh-CN" sz="2400" b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(2) </a:t>
            </a:r>
            <a:r>
              <a:rPr lang="zh-CN" altLang="en-US" sz="2400" b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求分布函数：</a:t>
            </a:r>
            <a:endParaRPr lang="en-US" altLang="zh-CN" sz="2400" b="1" dirty="0" smtClean="0">
              <a:latin typeface="Times" pitchFamily="18" charset="0"/>
              <a:ea typeface="楷体" pitchFamily="49" charset="-122"/>
              <a:cs typeface="Times" pitchFamily="18" charset="0"/>
            </a:endParaRPr>
          </a:p>
          <a:p>
            <a:pPr marL="457200" indent="-9525">
              <a:buFont typeface="+mj-ea"/>
              <a:buAutoNum type="circleNumDbPlain"/>
            </a:pPr>
            <a:r>
              <a:rPr lang="en-US" altLang="zh-CN" sz="2400" b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 </a:t>
            </a:r>
            <a:r>
              <a:rPr lang="zh-CN" altLang="en-US" sz="2400" b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确定随机变量</a:t>
            </a:r>
            <a:r>
              <a:rPr lang="en-US" altLang="zh-CN" sz="2400" b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X</a:t>
            </a:r>
            <a:r>
              <a:rPr lang="zh-CN" altLang="en-US" sz="2400" b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的取值范围</a:t>
            </a:r>
            <a:r>
              <a:rPr lang="en-US" altLang="zh-CN" sz="2400" b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(</a:t>
            </a:r>
            <a:r>
              <a:rPr lang="en-US" altLang="zh-CN" sz="2400" b="1" dirty="0" err="1" smtClean="0">
                <a:latin typeface="Times" pitchFamily="18" charset="0"/>
                <a:ea typeface="楷体" pitchFamily="49" charset="-122"/>
                <a:cs typeface="Times" pitchFamily="18" charset="0"/>
              </a:rPr>
              <a:t>a,b</a:t>
            </a:r>
            <a:r>
              <a:rPr lang="en-US" altLang="zh-CN" sz="2400" b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)</a:t>
            </a:r>
            <a:r>
              <a:rPr lang="zh-CN" altLang="en-US" sz="2400" b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，即</a:t>
            </a:r>
            <a:r>
              <a:rPr lang="en-US" altLang="zh-CN" sz="2400" b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f(x)≠0</a:t>
            </a:r>
            <a:r>
              <a:rPr lang="zh-CN" altLang="en-US" sz="2400" b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的范围</a:t>
            </a:r>
            <a:r>
              <a:rPr lang="en-US" altLang="zh-CN" sz="2400" b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;</a:t>
            </a:r>
          </a:p>
          <a:p>
            <a:pPr marL="457200" indent="-9525">
              <a:buFont typeface="+mj-ea"/>
              <a:buAutoNum type="circleNumDbPlain"/>
            </a:pPr>
            <a:r>
              <a:rPr lang="en-US" altLang="zh-CN" sz="2400" b="1" dirty="0">
                <a:latin typeface="Times" pitchFamily="18" charset="0"/>
                <a:ea typeface="楷体" pitchFamily="49" charset="-122"/>
                <a:cs typeface="Times" pitchFamily="18" charset="0"/>
              </a:rPr>
              <a:t> </a:t>
            </a:r>
            <a:r>
              <a:rPr lang="zh-CN" altLang="en-US" sz="2400" b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当</a:t>
            </a:r>
            <a:r>
              <a:rPr lang="en-US" altLang="zh-CN" sz="2400" b="1" dirty="0" err="1" smtClean="0">
                <a:latin typeface="Times" pitchFamily="18" charset="0"/>
                <a:ea typeface="楷体" pitchFamily="49" charset="-122"/>
                <a:cs typeface="Times" pitchFamily="18" charset="0"/>
              </a:rPr>
              <a:t>x≤a</a:t>
            </a:r>
            <a:r>
              <a:rPr lang="zh-CN" altLang="en-US" sz="2400" b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时</a:t>
            </a:r>
            <a:r>
              <a:rPr lang="en-US" altLang="zh-CN" sz="2400" b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, F(x)=0;</a:t>
            </a:r>
          </a:p>
          <a:p>
            <a:pPr marL="457200" indent="-9525">
              <a:buFont typeface="+mj-ea"/>
              <a:buAutoNum type="circleNumDbPlain"/>
            </a:pPr>
            <a:r>
              <a:rPr lang="en-US" altLang="zh-CN" sz="2400" b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 </a:t>
            </a:r>
            <a:r>
              <a:rPr lang="zh-CN" altLang="en-US" sz="2400" b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当</a:t>
            </a:r>
            <a:r>
              <a:rPr lang="en-US" altLang="zh-CN" sz="2400" b="1" dirty="0" err="1" smtClean="0">
                <a:latin typeface="Times" pitchFamily="18" charset="0"/>
                <a:ea typeface="楷体" pitchFamily="49" charset="-122"/>
                <a:cs typeface="Times" pitchFamily="18" charset="0"/>
              </a:rPr>
              <a:t>x≥b</a:t>
            </a:r>
            <a:r>
              <a:rPr lang="zh-CN" altLang="en-US" sz="2400" b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时</a:t>
            </a:r>
            <a:r>
              <a:rPr lang="en-US" altLang="zh-CN" sz="2400" b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, F(x)=1;</a:t>
            </a:r>
          </a:p>
          <a:p>
            <a:pPr marL="457200" indent="-9525">
              <a:buFont typeface="+mj-ea"/>
              <a:buAutoNum type="circleNumDbPlain"/>
            </a:pPr>
            <a:r>
              <a:rPr lang="en-US" altLang="zh-CN" sz="2400" b="1" dirty="0">
                <a:latin typeface="Times" pitchFamily="18" charset="0"/>
                <a:ea typeface="楷体" pitchFamily="49" charset="-122"/>
                <a:cs typeface="Times" pitchFamily="18" charset="0"/>
              </a:rPr>
              <a:t> </a:t>
            </a:r>
            <a:r>
              <a:rPr lang="zh-CN" altLang="en-US" sz="2400" b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当</a:t>
            </a:r>
            <a:r>
              <a:rPr lang="en-US" altLang="zh-CN" sz="2400" b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a&lt;x&lt;b</a:t>
            </a:r>
            <a:r>
              <a:rPr lang="zh-CN" altLang="en-US" sz="2400" b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时，</a:t>
            </a:r>
            <a:endParaRPr lang="en-US" altLang="zh-CN" sz="2400" b="1" dirty="0" smtClean="0">
              <a:latin typeface="Times" pitchFamily="18" charset="0"/>
              <a:ea typeface="楷体" pitchFamily="49" charset="-122"/>
              <a:cs typeface="Times" pitchFamily="18" charset="0"/>
            </a:endParaRPr>
          </a:p>
          <a:p>
            <a:pPr marL="457200" indent="-9525">
              <a:buFont typeface="+mj-ea"/>
              <a:buAutoNum type="circleNumDbPlain"/>
            </a:pPr>
            <a:endParaRPr lang="en-US" altLang="zh-CN" sz="2400" b="1" dirty="0">
              <a:latin typeface="Times" pitchFamily="18" charset="0"/>
              <a:ea typeface="楷体" pitchFamily="49" charset="-122"/>
              <a:cs typeface="Times" pitchFamily="18" charset="0"/>
            </a:endParaRPr>
          </a:p>
          <a:p>
            <a:pPr marL="447675">
              <a:lnSpc>
                <a:spcPct val="75000"/>
              </a:lnSpc>
            </a:pPr>
            <a:endParaRPr lang="en-US" altLang="zh-CN" sz="2400" b="1" dirty="0">
              <a:latin typeface="Times" pitchFamily="18" charset="0"/>
              <a:ea typeface="楷体" pitchFamily="49" charset="-122"/>
              <a:cs typeface="Times" pitchFamily="18" charset="0"/>
            </a:endParaRPr>
          </a:p>
          <a:p>
            <a:pPr marL="457200" indent="-9525">
              <a:lnSpc>
                <a:spcPct val="75000"/>
              </a:lnSpc>
              <a:buFont typeface="+mj-ea"/>
              <a:buAutoNum type="circleNumDbPlain"/>
            </a:pPr>
            <a:endParaRPr lang="en-US" altLang="zh-CN" sz="2400" b="1" dirty="0" smtClean="0">
              <a:latin typeface="Times" pitchFamily="18" charset="0"/>
              <a:ea typeface="楷体" pitchFamily="49" charset="-122"/>
              <a:cs typeface="Times" pitchFamily="18" charset="0"/>
            </a:endParaRPr>
          </a:p>
          <a:p>
            <a:pPr marL="457200" indent="-9525">
              <a:buFont typeface="+mj-ea"/>
              <a:buAutoNum type="circleNumDbPlain"/>
            </a:pPr>
            <a:endParaRPr lang="en-US" altLang="zh-CN" sz="2400" b="1" dirty="0">
              <a:latin typeface="Times" pitchFamily="18" charset="0"/>
              <a:ea typeface="楷体" pitchFamily="49" charset="-122"/>
              <a:cs typeface="Times" pitchFamily="18" charset="0"/>
            </a:endParaRPr>
          </a:p>
          <a:p>
            <a:pPr marL="457200" indent="-9525">
              <a:buFont typeface="+mj-ea"/>
              <a:buAutoNum type="circleNumDbPlain"/>
            </a:pPr>
            <a:endParaRPr lang="en-US" altLang="zh-CN" sz="2400" b="1" dirty="0">
              <a:latin typeface="Times" pitchFamily="18" charset="0"/>
              <a:ea typeface="楷体" pitchFamily="49" charset="-122"/>
              <a:cs typeface="Times" pitchFamily="18" charset="0"/>
            </a:endParaRPr>
          </a:p>
          <a:p>
            <a:r>
              <a:rPr lang="en-US" altLang="zh-CN" sz="2400" b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(3)</a:t>
            </a:r>
          </a:p>
        </p:txBody>
      </p:sp>
      <p:graphicFrame>
        <p:nvGraphicFramePr>
          <p:cNvPr id="1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406558"/>
              </p:ext>
            </p:extLst>
          </p:nvPr>
        </p:nvGraphicFramePr>
        <p:xfrm>
          <a:off x="2798763" y="1412776"/>
          <a:ext cx="1773237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8382" name="Equation" r:id="rId3" imgW="939600" imgH="330120" progId="Equation.DSMT4">
                  <p:embed/>
                </p:oleObj>
              </mc:Choice>
              <mc:Fallback>
                <p:oleObj name="Equation" r:id="rId3" imgW="939600" imgH="330120" progId="Equation.DSMT4">
                  <p:embed/>
                  <p:pic>
                    <p:nvPicPr>
                      <p:cNvPr id="1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8763" y="1412776"/>
                        <a:ext cx="1773237" cy="6223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33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9293590"/>
              </p:ext>
            </p:extLst>
          </p:nvPr>
        </p:nvGraphicFramePr>
        <p:xfrm>
          <a:off x="1645518" y="3907284"/>
          <a:ext cx="4438650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8383" name="Equation" r:id="rId5" imgW="1815840" imgH="291960" progId="Equation.DSMT4">
                  <p:embed/>
                </p:oleObj>
              </mc:Choice>
              <mc:Fallback>
                <p:oleObj name="Equation" r:id="rId5" imgW="1815840" imgH="291960" progId="Equation.DSMT4">
                  <p:embed/>
                  <p:pic>
                    <p:nvPicPr>
                      <p:cNvPr id="16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5518" y="3907284"/>
                        <a:ext cx="4438650" cy="709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圆角矩形标注 18"/>
          <p:cNvSpPr/>
          <p:nvPr/>
        </p:nvSpPr>
        <p:spPr bwMode="auto">
          <a:xfrm>
            <a:off x="2987824" y="4874115"/>
            <a:ext cx="2121608" cy="576188"/>
          </a:xfrm>
          <a:prstGeom prst="wedgeRoundRectCallout">
            <a:avLst>
              <a:gd name="adj1" fmla="val 16210"/>
              <a:gd name="adj2" fmla="val -34375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r>
              <a:rPr kumimoji="0" lang="zh-CN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  <p:sp>
        <p:nvSpPr>
          <p:cNvPr id="20" name="下箭头 19"/>
          <p:cNvSpPr/>
          <p:nvPr/>
        </p:nvSpPr>
        <p:spPr bwMode="auto">
          <a:xfrm flipV="1">
            <a:off x="3995936" y="4386188"/>
            <a:ext cx="254656" cy="457200"/>
          </a:xfrm>
          <a:prstGeom prst="down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graphicFrame>
        <p:nvGraphicFramePr>
          <p:cNvPr id="21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7122206"/>
              </p:ext>
            </p:extLst>
          </p:nvPr>
        </p:nvGraphicFramePr>
        <p:xfrm>
          <a:off x="3116765" y="4771380"/>
          <a:ext cx="1863725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8384" name="Equation" r:id="rId7" imgW="761760" imgH="291960" progId="Equation.DSMT4">
                  <p:embed/>
                </p:oleObj>
              </mc:Choice>
              <mc:Fallback>
                <p:oleObj name="Equation" r:id="rId7" imgW="761760" imgH="291960" progId="Equation.DSMT4">
                  <p:embed/>
                  <p:pic>
                    <p:nvPicPr>
                      <p:cNvPr id="21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6765" y="4771380"/>
                        <a:ext cx="1863725" cy="709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6963102"/>
              </p:ext>
            </p:extLst>
          </p:nvPr>
        </p:nvGraphicFramePr>
        <p:xfrm>
          <a:off x="827584" y="5573936"/>
          <a:ext cx="5465762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8385" name="Equation" r:id="rId9" imgW="2234880" imgH="291960" progId="Equation.DSMT4">
                  <p:embed/>
                </p:oleObj>
              </mc:Choice>
              <mc:Fallback>
                <p:oleObj name="Equation" r:id="rId9" imgW="2234880" imgH="291960" progId="Equation.DSMT4">
                  <p:embed/>
                  <p:pic>
                    <p:nvPicPr>
                      <p:cNvPr id="22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5573936"/>
                        <a:ext cx="5465762" cy="709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1259632" y="260648"/>
            <a:ext cx="676875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 sz="3200" b="1" dirty="0" smtClean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2-1. </a:t>
            </a:r>
            <a:r>
              <a:rPr lang="zh-CN" altLang="en-US" sz="32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密度函数中</a:t>
            </a:r>
            <a:r>
              <a:rPr lang="zh-CN" altLang="en-US" sz="3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含有未知参数的</a:t>
            </a:r>
            <a:r>
              <a:rPr lang="zh-CN" altLang="en-US" sz="32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问题</a:t>
            </a:r>
            <a:endParaRPr lang="zh-CN" altLang="en-US" sz="3200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78049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51520" y="992341"/>
            <a:ext cx="8640960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900113" algn="l"/>
              </a:tabLst>
            </a:pPr>
            <a:r>
              <a:rPr lang="zh-CN" altLang="en-US" sz="26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例</a:t>
            </a:r>
            <a:r>
              <a:rPr lang="en-US" altLang="zh-CN" sz="26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3</a:t>
            </a:r>
            <a:r>
              <a:rPr lang="en-US" altLang="zh-CN" sz="2600" b="1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. </a:t>
            </a:r>
            <a:r>
              <a:rPr lang="zh-CN" altLang="en-US" sz="2600" b="1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随机变量</a:t>
            </a:r>
            <a:r>
              <a:rPr lang="en-US" altLang="zh-CN" sz="2600" b="1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X</a:t>
            </a:r>
            <a:r>
              <a:rPr lang="zh-CN" altLang="en-US" sz="2600" b="1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的概率密度为</a:t>
            </a:r>
            <a:endParaRPr lang="en-US" altLang="zh-CN" sz="2600" b="1" dirty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>
              <a:tabLst>
                <a:tab pos="900113" algn="l"/>
              </a:tabLst>
            </a:pPr>
            <a:endParaRPr lang="en-US" altLang="zh-CN" sz="2600" b="1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>
              <a:tabLst>
                <a:tab pos="900113" algn="l"/>
              </a:tabLst>
            </a:pPr>
            <a:endParaRPr lang="en-US" altLang="zh-CN" sz="2600" b="1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>
              <a:tabLst>
                <a:tab pos="900113" algn="l"/>
              </a:tabLst>
            </a:pPr>
            <a:endParaRPr lang="en-US" altLang="zh-CN" sz="2600" b="1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>
              <a:tabLst>
                <a:tab pos="900113" algn="l"/>
              </a:tabLst>
            </a:pP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       </a:t>
            </a:r>
            <a:r>
              <a:rPr lang="zh-CN" altLang="en-US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求</a:t>
            </a: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: (1)</a:t>
            </a:r>
            <a:r>
              <a:rPr lang="zh-CN" altLang="en-US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系数</a:t>
            </a: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A</a:t>
            </a:r>
            <a:r>
              <a:rPr lang="zh-CN" altLang="en-US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；</a:t>
            </a: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(2)</a:t>
            </a:r>
            <a:r>
              <a:rPr lang="zh-CN" altLang="en-US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随机变量落在</a:t>
            </a: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(-1/2,1/2)</a:t>
            </a:r>
            <a:r>
              <a:rPr lang="zh-CN" altLang="en-US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内的概率；</a:t>
            </a:r>
            <a:endParaRPr lang="en-US" altLang="zh-CN" sz="2600" b="1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  <a:sym typeface="Wingdings" pitchFamily="2" charset="2"/>
            </a:endParaRPr>
          </a:p>
          <a:p>
            <a:pPr marL="514350" indent="-514350">
              <a:tabLst>
                <a:tab pos="900113" algn="l"/>
              </a:tabLst>
            </a:pP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             (3) </a:t>
            </a:r>
            <a:r>
              <a:rPr lang="zh-CN" altLang="en-US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随机变量</a:t>
            </a: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X</a:t>
            </a:r>
            <a:r>
              <a:rPr lang="zh-CN" altLang="en-US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的分布函数。</a:t>
            </a:r>
            <a:endParaRPr lang="en-US" altLang="zh-CN" sz="2600" b="1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  <a:sym typeface="Wingdings" pitchFamily="2" charset="2"/>
            </a:endParaRPr>
          </a:p>
        </p:txBody>
      </p:sp>
      <p:graphicFrame>
        <p:nvGraphicFramePr>
          <p:cNvPr id="2341895" name="Object 7"/>
          <p:cNvGraphicFramePr>
            <a:graphicFrameLocks noChangeAspect="1"/>
          </p:cNvGraphicFramePr>
          <p:nvPr/>
        </p:nvGraphicFramePr>
        <p:xfrm>
          <a:off x="2268538" y="1484784"/>
          <a:ext cx="3167062" cy="1131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1120" name="公式" r:id="rId3" imgW="1917360" imgH="685800" progId="Equation.3">
                  <p:embed/>
                </p:oleObj>
              </mc:Choice>
              <mc:Fallback>
                <p:oleObj name="公式" r:id="rId3" imgW="1917360" imgH="685800" progId="Equation.3">
                  <p:embed/>
                  <p:pic>
                    <p:nvPicPr>
                      <p:cNvPr id="234189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1484784"/>
                        <a:ext cx="3167062" cy="1131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3"/>
          <p:cNvSpPr txBox="1">
            <a:spLocks noChangeArrowheads="1"/>
          </p:cNvSpPr>
          <p:nvPr/>
        </p:nvSpPr>
        <p:spPr bwMode="auto">
          <a:xfrm>
            <a:off x="1259632" y="260648"/>
            <a:ext cx="676875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 sz="3200" b="1" dirty="0" smtClean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2-1. </a:t>
            </a:r>
            <a:r>
              <a:rPr lang="zh-CN" altLang="en-US" sz="32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密度函数中</a:t>
            </a:r>
            <a:r>
              <a:rPr lang="zh-CN" altLang="en-US" sz="3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含有未知参数的</a:t>
            </a:r>
            <a:r>
              <a:rPr lang="zh-CN" altLang="en-US" sz="32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问题</a:t>
            </a:r>
            <a:endParaRPr lang="zh-CN" altLang="en-US" sz="3200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81189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51520" y="992341"/>
            <a:ext cx="8640960" cy="5293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900113" algn="l"/>
              </a:tabLst>
            </a:pPr>
            <a:r>
              <a:rPr lang="zh-CN" altLang="en-US" sz="26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例</a:t>
            </a:r>
            <a:r>
              <a:rPr lang="en-US" altLang="zh-CN" sz="26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3</a:t>
            </a:r>
            <a:r>
              <a:rPr lang="en-US" altLang="zh-CN" sz="2600" b="1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. </a:t>
            </a:r>
            <a:r>
              <a:rPr lang="zh-CN" altLang="en-US" sz="2600" b="1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随机变量</a:t>
            </a:r>
            <a:r>
              <a:rPr lang="en-US" altLang="zh-CN" sz="2600" b="1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X</a:t>
            </a:r>
            <a:r>
              <a:rPr lang="zh-CN" altLang="en-US" sz="2600" b="1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的概率密度为</a:t>
            </a:r>
            <a:endParaRPr lang="en-US" altLang="zh-CN" sz="2600" b="1" dirty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>
              <a:tabLst>
                <a:tab pos="900113" algn="l"/>
              </a:tabLst>
            </a:pPr>
            <a:endParaRPr lang="en-US" altLang="zh-CN" sz="2600" b="1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>
              <a:tabLst>
                <a:tab pos="900113" algn="l"/>
              </a:tabLst>
            </a:pPr>
            <a:endParaRPr lang="en-US" altLang="zh-CN" sz="2600" b="1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>
              <a:tabLst>
                <a:tab pos="900113" algn="l"/>
              </a:tabLst>
            </a:pPr>
            <a:endParaRPr lang="en-US" altLang="zh-CN" sz="2600" b="1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>
              <a:tabLst>
                <a:tab pos="900113" algn="l"/>
              </a:tabLst>
            </a:pP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       </a:t>
            </a:r>
            <a:r>
              <a:rPr lang="zh-CN" altLang="en-US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求</a:t>
            </a: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: (1)</a:t>
            </a:r>
            <a:r>
              <a:rPr lang="zh-CN" altLang="en-US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系数</a:t>
            </a: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A</a:t>
            </a:r>
            <a:r>
              <a:rPr lang="zh-CN" altLang="en-US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；</a:t>
            </a: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(2)</a:t>
            </a:r>
            <a:r>
              <a:rPr lang="zh-CN" altLang="en-US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随机变量落在</a:t>
            </a: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(-1/2,1/2)</a:t>
            </a:r>
            <a:r>
              <a:rPr lang="zh-CN" altLang="en-US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内的概率；</a:t>
            </a:r>
            <a:endParaRPr lang="en-US" altLang="zh-CN" sz="2600" b="1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  <a:sym typeface="Wingdings" pitchFamily="2" charset="2"/>
            </a:endParaRPr>
          </a:p>
          <a:p>
            <a:pPr marL="514350" indent="-514350">
              <a:tabLst>
                <a:tab pos="900113" algn="l"/>
              </a:tabLst>
            </a:pP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             (3) </a:t>
            </a:r>
            <a:r>
              <a:rPr lang="zh-CN" altLang="en-US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随机变量</a:t>
            </a: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X</a:t>
            </a:r>
            <a:r>
              <a:rPr lang="zh-CN" altLang="en-US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的分布函数。</a:t>
            </a:r>
            <a:endParaRPr lang="en-US" altLang="zh-CN" sz="2600" b="1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  <a:sym typeface="Wingdings" pitchFamily="2" charset="2"/>
            </a:endParaRPr>
          </a:p>
          <a:p>
            <a:pPr marL="514350" indent="-514350">
              <a:tabLst>
                <a:tab pos="900113" algn="l"/>
              </a:tabLst>
            </a:pPr>
            <a:endParaRPr lang="en-US" altLang="zh-CN" sz="2600" b="1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  <a:sym typeface="Wingdings" pitchFamily="2" charset="2"/>
            </a:endParaRPr>
          </a:p>
          <a:p>
            <a:pPr marL="514350" indent="-514350">
              <a:tabLst>
                <a:tab pos="900113" algn="l"/>
              </a:tabLst>
            </a:pPr>
            <a:r>
              <a:rPr lang="zh-CN" altLang="en-US" sz="26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解</a:t>
            </a:r>
            <a:r>
              <a:rPr lang="en-US" altLang="zh-CN" sz="26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:  </a:t>
            </a: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(1)</a:t>
            </a:r>
          </a:p>
          <a:p>
            <a:pPr marL="514350" indent="-514350">
              <a:tabLst>
                <a:tab pos="900113" algn="l"/>
              </a:tabLst>
            </a:pPr>
            <a:endParaRPr lang="en-US" altLang="zh-CN" sz="2600" b="1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  <a:sym typeface="Wingdings" pitchFamily="2" charset="2"/>
            </a:endParaRPr>
          </a:p>
          <a:p>
            <a:pPr marL="514350" indent="-514350">
              <a:tabLst>
                <a:tab pos="900113" algn="l"/>
              </a:tabLst>
            </a:pP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        (2)</a:t>
            </a:r>
          </a:p>
          <a:p>
            <a:pPr marL="514350" indent="-514350">
              <a:tabLst>
                <a:tab pos="900113" algn="l"/>
              </a:tabLst>
            </a:pPr>
            <a:endParaRPr lang="en-US" altLang="zh-CN" sz="2600" b="1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  <a:sym typeface="Wingdings" pitchFamily="2" charset="2"/>
            </a:endParaRPr>
          </a:p>
          <a:p>
            <a:pPr marL="514350" indent="-514350">
              <a:tabLst>
                <a:tab pos="900113" algn="l"/>
              </a:tabLst>
            </a:pPr>
            <a:endParaRPr lang="en-US" altLang="zh-CN" sz="2600" b="1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  <a:sym typeface="Wingdings" pitchFamily="2" charset="2"/>
            </a:endParaRPr>
          </a:p>
          <a:p>
            <a:pPr marL="514350" indent="-514350">
              <a:tabLst>
                <a:tab pos="900113" algn="l"/>
              </a:tabLst>
            </a:pP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(3)</a:t>
            </a:r>
          </a:p>
        </p:txBody>
      </p:sp>
      <p:graphicFrame>
        <p:nvGraphicFramePr>
          <p:cNvPr id="2341895" name="Object 7"/>
          <p:cNvGraphicFramePr>
            <a:graphicFrameLocks noChangeAspect="1"/>
          </p:cNvGraphicFramePr>
          <p:nvPr/>
        </p:nvGraphicFramePr>
        <p:xfrm>
          <a:off x="2268538" y="1484784"/>
          <a:ext cx="3167062" cy="1131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4774" name="公式" r:id="rId3" imgW="1917360" imgH="685800" progId="Equation.3">
                  <p:embed/>
                </p:oleObj>
              </mc:Choice>
              <mc:Fallback>
                <p:oleObj name="公式" r:id="rId3" imgW="1917360" imgH="685800" progId="Equation.3">
                  <p:embed/>
                  <p:pic>
                    <p:nvPicPr>
                      <p:cNvPr id="234189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1484784"/>
                        <a:ext cx="3167062" cy="1131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1896" name="Object 8"/>
          <p:cNvGraphicFramePr>
            <a:graphicFrameLocks noChangeAspect="1"/>
          </p:cNvGraphicFramePr>
          <p:nvPr/>
        </p:nvGraphicFramePr>
        <p:xfrm>
          <a:off x="1433141" y="3717032"/>
          <a:ext cx="2490787" cy="67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4775" name="Equation" r:id="rId5" imgW="1218960" imgH="330120" progId="Equation.DSMT4">
                  <p:embed/>
                </p:oleObj>
              </mc:Choice>
              <mc:Fallback>
                <p:oleObj name="Equation" r:id="rId5" imgW="1218960" imgH="330120" progId="Equation.DSMT4">
                  <p:embed/>
                  <p:pic>
                    <p:nvPicPr>
                      <p:cNvPr id="234189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3141" y="3717032"/>
                        <a:ext cx="2490787" cy="674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1897" name="Object 9"/>
          <p:cNvGraphicFramePr>
            <a:graphicFrameLocks noChangeAspect="1"/>
          </p:cNvGraphicFramePr>
          <p:nvPr/>
        </p:nvGraphicFramePr>
        <p:xfrm>
          <a:off x="4643438" y="3645024"/>
          <a:ext cx="1101725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4776" name="公式" r:id="rId7" imgW="672840" imgH="406080" progId="Equation.3">
                  <p:embed/>
                </p:oleObj>
              </mc:Choice>
              <mc:Fallback>
                <p:oleObj name="公式" r:id="rId7" imgW="672840" imgH="406080" progId="Equation.3">
                  <p:embed/>
                  <p:pic>
                    <p:nvPicPr>
                      <p:cNvPr id="234189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3645024"/>
                        <a:ext cx="1101725" cy="744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1898" name="Object 10"/>
          <p:cNvGraphicFramePr>
            <a:graphicFrameLocks noChangeAspect="1"/>
          </p:cNvGraphicFramePr>
          <p:nvPr/>
        </p:nvGraphicFramePr>
        <p:xfrm>
          <a:off x="1475656" y="4434954"/>
          <a:ext cx="2336800" cy="846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4777" name="公式" r:id="rId9" imgW="1231560" imgH="444240" progId="Equation.3">
                  <p:embed/>
                </p:oleObj>
              </mc:Choice>
              <mc:Fallback>
                <p:oleObj name="公式" r:id="rId9" imgW="1231560" imgH="444240" progId="Equation.3">
                  <p:embed/>
                  <p:pic>
                    <p:nvPicPr>
                      <p:cNvPr id="234189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4434954"/>
                        <a:ext cx="2336800" cy="846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1899" name="Object 11"/>
          <p:cNvGraphicFramePr>
            <a:graphicFrameLocks noChangeAspect="1"/>
          </p:cNvGraphicFramePr>
          <p:nvPr/>
        </p:nvGraphicFramePr>
        <p:xfrm>
          <a:off x="3858494" y="4365104"/>
          <a:ext cx="1898650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4778" name="公式" r:id="rId11" imgW="1028520" imgH="482400" progId="Equation.3">
                  <p:embed/>
                </p:oleObj>
              </mc:Choice>
              <mc:Fallback>
                <p:oleObj name="公式" r:id="rId11" imgW="1028520" imgH="482400" progId="Equation.3">
                  <p:embed/>
                  <p:pic>
                    <p:nvPicPr>
                      <p:cNvPr id="234189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8494" y="4365104"/>
                        <a:ext cx="1898650" cy="892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1900" name="Object 12"/>
          <p:cNvGraphicFramePr>
            <a:graphicFrameLocks noChangeAspect="1"/>
          </p:cNvGraphicFramePr>
          <p:nvPr/>
        </p:nvGraphicFramePr>
        <p:xfrm>
          <a:off x="5828581" y="4365104"/>
          <a:ext cx="59372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4779" name="公式" r:id="rId13" imgW="279360" imgH="406080" progId="Equation.3">
                  <p:embed/>
                </p:oleObj>
              </mc:Choice>
              <mc:Fallback>
                <p:oleObj name="公式" r:id="rId13" imgW="279360" imgH="406080" progId="Equation.3">
                  <p:embed/>
                  <p:pic>
                    <p:nvPicPr>
                      <p:cNvPr id="234190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8581" y="4365104"/>
                        <a:ext cx="593725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41901" name="Object 13"/>
          <p:cNvGraphicFramePr>
            <a:graphicFrameLocks noChangeAspect="1"/>
          </p:cNvGraphicFramePr>
          <p:nvPr/>
        </p:nvGraphicFramePr>
        <p:xfrm>
          <a:off x="858838" y="5581104"/>
          <a:ext cx="2386012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4780" name="公式" r:id="rId15" imgW="1346040" imgH="330120" progId="Equation.3">
                  <p:embed/>
                </p:oleObj>
              </mc:Choice>
              <mc:Fallback>
                <p:oleObj name="公式" r:id="rId15" imgW="1346040" imgH="330120" progId="Equation.3">
                  <p:embed/>
                  <p:pic>
                    <p:nvPicPr>
                      <p:cNvPr id="234190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8838" y="5581104"/>
                        <a:ext cx="2386012" cy="584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AutoShape 23"/>
          <p:cNvSpPr>
            <a:spLocks/>
          </p:cNvSpPr>
          <p:nvPr/>
        </p:nvSpPr>
        <p:spPr bwMode="auto">
          <a:xfrm>
            <a:off x="3419475" y="5230217"/>
            <a:ext cx="288925" cy="1296987"/>
          </a:xfrm>
          <a:prstGeom prst="leftBrace">
            <a:avLst>
              <a:gd name="adj1" fmla="val 37408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0" name="Object 24"/>
          <p:cNvGraphicFramePr>
            <a:graphicFrameLocks noChangeAspect="1"/>
          </p:cNvGraphicFramePr>
          <p:nvPr/>
        </p:nvGraphicFramePr>
        <p:xfrm>
          <a:off x="7019925" y="5157192"/>
          <a:ext cx="955675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4781" name="公式" r:id="rId17" imgW="469800" imgH="177480" progId="Equation.3">
                  <p:embed/>
                </p:oleObj>
              </mc:Choice>
              <mc:Fallback>
                <p:oleObj name="公式" r:id="rId17" imgW="469800" imgH="177480" progId="Equation.3">
                  <p:embed/>
                  <p:pic>
                    <p:nvPicPr>
                      <p:cNvPr id="2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9925" y="5157192"/>
                        <a:ext cx="955675" cy="361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5"/>
          <p:cNvGraphicFramePr>
            <a:graphicFrameLocks noChangeAspect="1"/>
          </p:cNvGraphicFramePr>
          <p:nvPr/>
        </p:nvGraphicFramePr>
        <p:xfrm>
          <a:off x="3924300" y="5285779"/>
          <a:ext cx="268288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4782" name="公式" r:id="rId19" imgW="126720" imgH="177480" progId="Equation.3">
                  <p:embed/>
                </p:oleObj>
              </mc:Choice>
              <mc:Fallback>
                <p:oleObj name="公式" r:id="rId19" imgW="126720" imgH="177480" progId="Equation.3">
                  <p:embed/>
                  <p:pic>
                    <p:nvPicPr>
                      <p:cNvPr id="21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5285779"/>
                        <a:ext cx="268288" cy="376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6"/>
          <p:cNvGraphicFramePr>
            <a:graphicFrameLocks noChangeAspect="1"/>
          </p:cNvGraphicFramePr>
          <p:nvPr/>
        </p:nvGraphicFramePr>
        <p:xfrm>
          <a:off x="7013575" y="5623917"/>
          <a:ext cx="1446213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4783" name="公式" r:id="rId21" imgW="711000" imgH="177480" progId="Equation.3">
                  <p:embed/>
                </p:oleObj>
              </mc:Choice>
              <mc:Fallback>
                <p:oleObj name="公式" r:id="rId21" imgW="711000" imgH="177480" progId="Equation.3">
                  <p:embed/>
                  <p:pic>
                    <p:nvPicPr>
                      <p:cNvPr id="22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3575" y="5623917"/>
                        <a:ext cx="1446213" cy="361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7"/>
          <p:cNvGraphicFramePr>
            <a:graphicFrameLocks noChangeAspect="1"/>
          </p:cNvGraphicFramePr>
          <p:nvPr/>
        </p:nvGraphicFramePr>
        <p:xfrm>
          <a:off x="3708400" y="5519142"/>
          <a:ext cx="1727200" cy="696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4784" name="公式" r:id="rId23" imgW="1130040" imgH="457200" progId="Equation.3">
                  <p:embed/>
                </p:oleObj>
              </mc:Choice>
              <mc:Fallback>
                <p:oleObj name="公式" r:id="rId23" imgW="1130040" imgH="457200" progId="Equation.3">
                  <p:embed/>
                  <p:pic>
                    <p:nvPicPr>
                      <p:cNvPr id="23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5519142"/>
                        <a:ext cx="1727200" cy="696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8"/>
          <p:cNvGraphicFramePr>
            <a:graphicFrameLocks noChangeAspect="1"/>
          </p:cNvGraphicFramePr>
          <p:nvPr/>
        </p:nvGraphicFramePr>
        <p:xfrm>
          <a:off x="5508625" y="5550892"/>
          <a:ext cx="1368425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4785" name="公式" r:id="rId25" imgW="939600" imgH="406080" progId="Equation.3">
                  <p:embed/>
                </p:oleObj>
              </mc:Choice>
              <mc:Fallback>
                <p:oleObj name="公式" r:id="rId25" imgW="939600" imgH="406080" progId="Equation.3">
                  <p:embed/>
                  <p:pic>
                    <p:nvPicPr>
                      <p:cNvPr id="24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5550892"/>
                        <a:ext cx="1368425" cy="592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9"/>
          <p:cNvGraphicFramePr>
            <a:graphicFrameLocks noChangeAspect="1"/>
          </p:cNvGraphicFramePr>
          <p:nvPr/>
        </p:nvGraphicFramePr>
        <p:xfrm>
          <a:off x="7267575" y="6311304"/>
          <a:ext cx="749300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4786" name="公式" r:id="rId27" imgW="368280" imgH="177480" progId="Equation.3">
                  <p:embed/>
                </p:oleObj>
              </mc:Choice>
              <mc:Fallback>
                <p:oleObj name="公式" r:id="rId27" imgW="368280" imgH="177480" progId="Equation.3">
                  <p:embed/>
                  <p:pic>
                    <p:nvPicPr>
                      <p:cNvPr id="25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7575" y="6311304"/>
                        <a:ext cx="749300" cy="361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30"/>
          <p:cNvGraphicFramePr>
            <a:graphicFrameLocks noChangeAspect="1"/>
          </p:cNvGraphicFramePr>
          <p:nvPr/>
        </p:nvGraphicFramePr>
        <p:xfrm>
          <a:off x="3792538" y="6395442"/>
          <a:ext cx="241300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4787" name="公式" r:id="rId29" imgW="114120" imgH="164880" progId="Equation.3">
                  <p:embed/>
                </p:oleObj>
              </mc:Choice>
              <mc:Fallback>
                <p:oleObj name="公式" r:id="rId29" imgW="114120" imgH="164880" progId="Equation.3">
                  <p:embed/>
                  <p:pic>
                    <p:nvPicPr>
                      <p:cNvPr id="26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2538" y="6395442"/>
                        <a:ext cx="241300" cy="349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3"/>
          <p:cNvSpPr txBox="1">
            <a:spLocks noChangeArrowheads="1"/>
          </p:cNvSpPr>
          <p:nvPr/>
        </p:nvSpPr>
        <p:spPr bwMode="auto">
          <a:xfrm>
            <a:off x="1259632" y="260648"/>
            <a:ext cx="6768752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 sz="3200" b="1" dirty="0" smtClean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2-1. </a:t>
            </a:r>
            <a:r>
              <a:rPr lang="zh-CN" altLang="en-US" sz="32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密度函数中</a:t>
            </a:r>
            <a:r>
              <a:rPr lang="zh-CN" altLang="en-US" sz="3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含有未知参数的</a:t>
            </a:r>
            <a:r>
              <a:rPr lang="zh-CN" altLang="en-US" sz="32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问题</a:t>
            </a:r>
            <a:endParaRPr lang="zh-CN" altLang="en-US" sz="3200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6174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41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41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1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41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41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1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41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41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251520" y="1052736"/>
            <a:ext cx="864096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600" b="1" dirty="0" smtClean="0">
                <a:solidFill>
                  <a:srgbClr val="0000FF"/>
                </a:solidFill>
                <a:latin typeface="Times" pitchFamily="18" charset="0"/>
                <a:ea typeface="楷体" pitchFamily="49" charset="-122"/>
                <a:cs typeface="Times" pitchFamily="18" charset="0"/>
              </a:rPr>
              <a:t>1.2 </a:t>
            </a:r>
            <a:r>
              <a:rPr lang="zh-CN" altLang="en-US" sz="2600" b="1" dirty="0" smtClean="0">
                <a:solidFill>
                  <a:srgbClr val="0000FF"/>
                </a:solidFill>
                <a:latin typeface="Times" pitchFamily="18" charset="0"/>
                <a:ea typeface="楷体" pitchFamily="49" charset="-122"/>
                <a:cs typeface="Times" pitchFamily="18" charset="0"/>
              </a:rPr>
              <a:t>分布函数中含有未知参数的问题。</a:t>
            </a:r>
            <a:endParaRPr lang="en-US" altLang="zh-CN" sz="2600" b="1" dirty="0" smtClean="0">
              <a:solidFill>
                <a:srgbClr val="0000FF"/>
              </a:solidFill>
              <a:latin typeface="Times" pitchFamily="18" charset="0"/>
              <a:ea typeface="楷体" pitchFamily="49" charset="-122"/>
              <a:cs typeface="Times" pitchFamily="18" charset="0"/>
            </a:endParaRPr>
          </a:p>
          <a:p>
            <a:pPr marL="514350" indent="-514350">
              <a:buAutoNum type="arabicPeriod" startAt="2"/>
            </a:pPr>
            <a:endParaRPr lang="en-US" altLang="zh-CN" sz="2600" b="1" dirty="0" smtClean="0">
              <a:solidFill>
                <a:srgbClr val="0000FF"/>
              </a:solidFill>
              <a:latin typeface="Times" pitchFamily="18" charset="0"/>
              <a:ea typeface="楷体" pitchFamily="49" charset="-122"/>
              <a:cs typeface="Times" pitchFamily="18" charset="0"/>
            </a:endParaRPr>
          </a:p>
          <a:p>
            <a:pPr marL="447675" indent="-447675"/>
            <a:r>
              <a:rPr lang="en-US" altLang="zh-CN" sz="2400" b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(1)</a:t>
            </a:r>
            <a:r>
              <a:rPr lang="zh-CN" altLang="en-US" sz="2400" b="1" dirty="0">
                <a:latin typeface="Times" pitchFamily="18" charset="0"/>
                <a:ea typeface="楷体" pitchFamily="49" charset="-122"/>
                <a:cs typeface="Times" pitchFamily="18" charset="0"/>
              </a:rPr>
              <a:t> </a:t>
            </a:r>
            <a:r>
              <a:rPr lang="zh-CN" altLang="en-US" sz="2400" b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求未知参数</a:t>
            </a:r>
            <a:r>
              <a:rPr lang="zh-CN" altLang="en-US" sz="2400" b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：                                          特别的如果是连续型随机变量还可以用到分布函数的连续性</a:t>
            </a:r>
            <a:endParaRPr lang="en-US" altLang="zh-CN" sz="2400" b="1" dirty="0" smtClean="0">
              <a:latin typeface="Times" pitchFamily="18" charset="0"/>
              <a:ea typeface="楷体" pitchFamily="49" charset="-122"/>
              <a:cs typeface="Times" pitchFamily="18" charset="0"/>
            </a:endParaRPr>
          </a:p>
          <a:p>
            <a:endParaRPr lang="en-US" altLang="zh-CN" sz="2400" b="1" dirty="0">
              <a:latin typeface="Times" pitchFamily="18" charset="0"/>
              <a:ea typeface="楷体" pitchFamily="49" charset="-122"/>
              <a:cs typeface="Times" pitchFamily="18" charset="0"/>
            </a:endParaRPr>
          </a:p>
          <a:p>
            <a:r>
              <a:rPr lang="en-US" altLang="zh-CN" sz="2400" b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(2) </a:t>
            </a:r>
            <a:r>
              <a:rPr lang="zh-CN" altLang="en-US" sz="2400" b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求密度函数：</a:t>
            </a:r>
            <a:endParaRPr lang="en-US" altLang="zh-CN" sz="2400" b="1" dirty="0">
              <a:latin typeface="Times" pitchFamily="18" charset="0"/>
              <a:ea typeface="楷体" pitchFamily="49" charset="-122"/>
              <a:cs typeface="Times" pitchFamily="18" charset="0"/>
            </a:endParaRPr>
          </a:p>
          <a:p>
            <a:pPr marL="447675"/>
            <a:endParaRPr lang="en-US" altLang="zh-CN" sz="2400" b="1" dirty="0">
              <a:latin typeface="Times" pitchFamily="18" charset="0"/>
              <a:ea typeface="楷体" pitchFamily="49" charset="-122"/>
              <a:cs typeface="Times" pitchFamily="18" charset="0"/>
            </a:endParaRPr>
          </a:p>
          <a:p>
            <a:r>
              <a:rPr lang="en-US" altLang="zh-CN" sz="2400" b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(3)</a:t>
            </a:r>
          </a:p>
        </p:txBody>
      </p:sp>
      <p:graphicFrame>
        <p:nvGraphicFramePr>
          <p:cNvPr id="22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7007254"/>
              </p:ext>
            </p:extLst>
          </p:nvPr>
        </p:nvGraphicFramePr>
        <p:xfrm>
          <a:off x="827584" y="3583236"/>
          <a:ext cx="5465762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0319" name="Equation" r:id="rId3" imgW="2234880" imgH="291960" progId="Equation.DSMT4">
                  <p:embed/>
                </p:oleObj>
              </mc:Choice>
              <mc:Fallback>
                <p:oleObj name="Equation" r:id="rId3" imgW="2234880" imgH="291960" progId="Equation.DSMT4">
                  <p:embed/>
                  <p:pic>
                    <p:nvPicPr>
                      <p:cNvPr id="22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3583236"/>
                        <a:ext cx="5465762" cy="709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9"/>
          <p:cNvGraphicFramePr>
            <a:graphicFrameLocks noChangeAspect="1"/>
          </p:cNvGraphicFramePr>
          <p:nvPr>
            <p:extLst/>
          </p:nvPr>
        </p:nvGraphicFramePr>
        <p:xfrm>
          <a:off x="2585770" y="1915493"/>
          <a:ext cx="3074988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0320" name="Equation" r:id="rId5" imgW="1257120" imgH="177480" progId="Equation.DSMT4">
                  <p:embed/>
                </p:oleObj>
              </mc:Choice>
              <mc:Fallback>
                <p:oleObj name="Equation" r:id="rId5" imgW="1257120" imgH="177480" progId="Equation.DSMT4">
                  <p:embed/>
                  <p:pic>
                    <p:nvPicPr>
                      <p:cNvPr id="1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5770" y="1915493"/>
                        <a:ext cx="3074988" cy="433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4585830"/>
              </p:ext>
            </p:extLst>
          </p:nvPr>
        </p:nvGraphicFramePr>
        <p:xfrm>
          <a:off x="2585770" y="2924944"/>
          <a:ext cx="173513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0321" name="Equation" r:id="rId7" imgW="761760" imgH="190440" progId="Equation.DSMT4">
                  <p:embed/>
                </p:oleObj>
              </mc:Choice>
              <mc:Fallback>
                <p:oleObj name="Equation" r:id="rId7" imgW="761760" imgH="190440" progId="Equation.DSMT4">
                  <p:embed/>
                  <p:pic>
                    <p:nvPicPr>
                      <p:cNvPr id="11" name="Object 1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5770" y="2924944"/>
                        <a:ext cx="1735138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1331640" y="260648"/>
            <a:ext cx="669674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 sz="3200" b="1" dirty="0" smtClean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2-2. </a:t>
            </a:r>
            <a:r>
              <a:rPr lang="zh-CN" altLang="en-US" sz="32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分布函数中</a:t>
            </a:r>
            <a:r>
              <a:rPr lang="zh-CN" altLang="en-US" sz="3200" b="1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含有未知参数的</a:t>
            </a:r>
            <a:r>
              <a:rPr lang="zh-CN" altLang="en-US" sz="32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问题</a:t>
            </a:r>
            <a:endParaRPr lang="zh-CN" altLang="en-US" sz="3200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5105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251520" y="1052736"/>
            <a:ext cx="8640960" cy="4924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600" dirty="0" smtClean="0">
                <a:solidFill>
                  <a:srgbClr val="0000FF"/>
                </a:solidFill>
                <a:latin typeface="Times" pitchFamily="18" charset="0"/>
                <a:ea typeface="楷体" pitchFamily="49" charset="-122"/>
                <a:cs typeface="Times" pitchFamily="18" charset="0"/>
              </a:rPr>
              <a:t>已知</a:t>
            </a:r>
            <a:r>
              <a:rPr lang="en-US" altLang="zh-CN" sz="2600" dirty="0" err="1" smtClean="0">
                <a:solidFill>
                  <a:srgbClr val="0000FF"/>
                </a:solidFill>
                <a:latin typeface="Times" pitchFamily="18" charset="0"/>
                <a:ea typeface="楷体" pitchFamily="49" charset="-122"/>
                <a:cs typeface="Times" pitchFamily="18" charset="0"/>
              </a:rPr>
              <a:t>X~f</a:t>
            </a:r>
            <a:r>
              <a:rPr lang="en-US" altLang="zh-CN" sz="2600" baseline="-25000" dirty="0" err="1" smtClean="0">
                <a:solidFill>
                  <a:srgbClr val="0000FF"/>
                </a:solidFill>
                <a:latin typeface="Times" pitchFamily="18" charset="0"/>
                <a:ea typeface="楷体" pitchFamily="49" charset="-122"/>
                <a:cs typeface="Times" pitchFamily="18" charset="0"/>
              </a:rPr>
              <a:t>x</a:t>
            </a:r>
            <a:r>
              <a:rPr lang="en-US" altLang="zh-CN" sz="2600" dirty="0" smtClean="0">
                <a:solidFill>
                  <a:srgbClr val="0000FF"/>
                </a:solidFill>
                <a:latin typeface="Times" pitchFamily="18" charset="0"/>
                <a:ea typeface="楷体" pitchFamily="49" charset="-122"/>
                <a:cs typeface="Times" pitchFamily="18" charset="0"/>
              </a:rPr>
              <a:t>(x), Y=g(X), </a:t>
            </a:r>
            <a:r>
              <a:rPr lang="zh-CN" altLang="en-US" sz="2600" dirty="0" smtClean="0">
                <a:solidFill>
                  <a:srgbClr val="0000FF"/>
                </a:solidFill>
                <a:latin typeface="Times" pitchFamily="18" charset="0"/>
                <a:ea typeface="楷体" pitchFamily="49" charset="-122"/>
                <a:cs typeface="Times" pitchFamily="18" charset="0"/>
              </a:rPr>
              <a:t>求</a:t>
            </a:r>
            <a:r>
              <a:rPr lang="en-US" altLang="zh-CN" sz="2600" dirty="0" smtClean="0">
                <a:solidFill>
                  <a:srgbClr val="0000FF"/>
                </a:solidFill>
                <a:latin typeface="Times" pitchFamily="18" charset="0"/>
                <a:ea typeface="楷体" pitchFamily="49" charset="-122"/>
                <a:cs typeface="Times" pitchFamily="18" charset="0"/>
              </a:rPr>
              <a:t>f</a:t>
            </a:r>
            <a:r>
              <a:rPr lang="en-US" altLang="zh-CN" sz="2600" baseline="-25000" dirty="0" smtClean="0">
                <a:solidFill>
                  <a:srgbClr val="0000FF"/>
                </a:solidFill>
                <a:latin typeface="Times" pitchFamily="18" charset="0"/>
                <a:ea typeface="楷体" pitchFamily="49" charset="-122"/>
                <a:cs typeface="Times" pitchFamily="18" charset="0"/>
              </a:rPr>
              <a:t>Y</a:t>
            </a:r>
            <a:r>
              <a:rPr lang="en-US" altLang="zh-CN" sz="2600" dirty="0" smtClean="0">
                <a:solidFill>
                  <a:srgbClr val="0000FF"/>
                </a:solidFill>
                <a:latin typeface="Times" pitchFamily="18" charset="0"/>
                <a:ea typeface="楷体" pitchFamily="49" charset="-122"/>
                <a:cs typeface="Times" pitchFamily="18" charset="0"/>
              </a:rPr>
              <a:t>(y)</a:t>
            </a:r>
          </a:p>
          <a:p>
            <a:pPr marL="514350" indent="-514350"/>
            <a:r>
              <a:rPr lang="en-US" altLang="zh-CN" sz="24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(1)</a:t>
            </a:r>
            <a:r>
              <a:rPr lang="zh-CN" altLang="en-US" sz="24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先求分布函数：</a:t>
            </a:r>
            <a:endParaRPr lang="en-US" altLang="zh-CN" sz="2400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514350" indent="-163513">
              <a:buFont typeface="+mj-ea"/>
              <a:buAutoNum type="circleNumDbPlain"/>
            </a:pP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首先</a:t>
            </a:r>
            <a:r>
              <a:rPr lang="zh-CN" altLang="en-US" sz="24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确定随机变量的取值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范围，假设为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[</a:t>
            </a:r>
            <a:r>
              <a:rPr lang="en-US" altLang="zh-CN" sz="2400" dirty="0" err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c,d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];</a:t>
            </a:r>
          </a:p>
          <a:p>
            <a:pPr marL="514350" indent="-163513">
              <a:buFont typeface="+mj-ea"/>
              <a:buAutoNum type="circleNumDbPlain"/>
            </a:pP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当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y</a:t>
            </a:r>
            <a:r>
              <a:rPr lang="en-US" altLang="zh-CN" sz="2400" dirty="0">
                <a:latin typeface="Times" pitchFamily="18" charset="0"/>
                <a:ea typeface="楷体" pitchFamily="49" charset="-122"/>
                <a:cs typeface="Times" pitchFamily="18" charset="0"/>
              </a:rPr>
              <a:t> ≤ 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c</a:t>
            </a:r>
            <a:r>
              <a:rPr lang="zh-CN" altLang="en-US" sz="24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时，</a:t>
            </a:r>
            <a:r>
              <a:rPr lang="en-US" altLang="zh-CN" sz="24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F</a:t>
            </a:r>
            <a:r>
              <a:rPr lang="en-US" altLang="zh-CN" sz="2400" baseline="-250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Y</a:t>
            </a:r>
            <a:r>
              <a:rPr lang="en-US" altLang="zh-CN" sz="24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(y)=0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;</a:t>
            </a:r>
          </a:p>
          <a:p>
            <a:pPr marL="514350" indent="-163513">
              <a:buFont typeface="+mj-ea"/>
              <a:buAutoNum type="circleNumDbPlain"/>
            </a:pP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当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y</a:t>
            </a:r>
            <a:r>
              <a:rPr lang="en-US" altLang="zh-CN" sz="2400" dirty="0">
                <a:latin typeface="Times" pitchFamily="18" charset="0"/>
                <a:ea typeface="楷体" pitchFamily="49" charset="-122"/>
                <a:cs typeface="Times" pitchFamily="18" charset="0"/>
              </a:rPr>
              <a:t> ≥ </a:t>
            </a:r>
            <a:r>
              <a:rPr lang="en-US" altLang="zh-CN" sz="24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d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时</a:t>
            </a:r>
            <a:r>
              <a:rPr lang="zh-CN" altLang="en-US" sz="24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，</a:t>
            </a:r>
            <a:r>
              <a:rPr lang="en-US" altLang="zh-CN" sz="24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F</a:t>
            </a:r>
            <a:r>
              <a:rPr lang="en-US" altLang="zh-CN" sz="2400" baseline="-250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Y</a:t>
            </a:r>
            <a:r>
              <a:rPr lang="en-US" altLang="zh-CN" sz="24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(y)=1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;</a:t>
            </a:r>
          </a:p>
          <a:p>
            <a:pPr marL="514350" indent="-163513">
              <a:buFont typeface="+mj-ea"/>
              <a:buAutoNum type="circleNumDbPlain"/>
            </a:pP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当</a:t>
            </a:r>
            <a:r>
              <a:rPr lang="en-US" altLang="zh-CN" sz="2400" dirty="0" err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c≤y≤d</a:t>
            </a:r>
            <a:r>
              <a:rPr lang="zh-CN" altLang="en-US" sz="24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时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，</a:t>
            </a:r>
            <a:endParaRPr lang="en-US" altLang="zh-CN" sz="2400" dirty="0" smtClean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514350" indent="-163513">
              <a:buFont typeface="+mj-ea"/>
              <a:buAutoNum type="circleNumDbPlain"/>
            </a:pPr>
            <a:endParaRPr lang="en-US" altLang="zh-CN" sz="2400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514350" indent="-163513">
              <a:buFont typeface="+mj-ea"/>
              <a:buAutoNum type="circleNumDbPlain"/>
            </a:pPr>
            <a:endParaRPr lang="en-US" altLang="zh-CN" sz="2400" dirty="0" smtClean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514350" indent="-163513">
              <a:buFont typeface="+mj-ea"/>
              <a:buAutoNum type="circleNumDbPlain"/>
            </a:pPr>
            <a:endParaRPr lang="en-US" altLang="zh-CN" sz="2400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514350" indent="-163513">
              <a:buFont typeface="+mj-ea"/>
              <a:buAutoNum type="circleNumDbPlain"/>
            </a:pPr>
            <a:endParaRPr lang="en-US" altLang="zh-CN" sz="2400" dirty="0" smtClean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514350" indent="-163513">
              <a:buFont typeface="+mj-ea"/>
              <a:buAutoNum type="circleNumDbPlain"/>
            </a:pPr>
            <a:endParaRPr lang="en-US" altLang="zh-CN" sz="2400" dirty="0" smtClean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514350" indent="-163513">
              <a:buFont typeface="+mj-ea"/>
              <a:buAutoNum type="circleNumDbPlain"/>
            </a:pPr>
            <a:endParaRPr lang="en-US" altLang="zh-CN" sz="2400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en-US" altLang="zh-CN" sz="24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(2)</a:t>
            </a:r>
            <a:r>
              <a:rPr lang="zh-CN" altLang="en-US" sz="24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再求密度函数：</a:t>
            </a:r>
            <a:endParaRPr lang="en-US" altLang="zh-CN" sz="2400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graphicFrame>
        <p:nvGraphicFramePr>
          <p:cNvPr id="7" name="Object 3"/>
          <p:cNvGraphicFramePr>
            <a:graphicFrameLocks noChangeAspect="1"/>
          </p:cNvGraphicFramePr>
          <p:nvPr>
            <p:extLst/>
          </p:nvPr>
        </p:nvGraphicFramePr>
        <p:xfrm>
          <a:off x="4372719" y="4505155"/>
          <a:ext cx="2791569" cy="436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3486" name="Equation" r:id="rId3" imgW="1231560" imgH="190440" progId="Equation.DSMT4">
                  <p:embed/>
                </p:oleObj>
              </mc:Choice>
              <mc:Fallback>
                <p:oleObj name="Equation" r:id="rId3" imgW="1231560" imgH="190440" progId="Equation.DSMT4">
                  <p:embed/>
                  <p:pic>
                    <p:nvPicPr>
                      <p:cNvPr id="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2719" y="4505155"/>
                        <a:ext cx="2791569" cy="436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"/>
          <p:cNvGraphicFramePr>
            <a:graphicFrameLocks noChangeAspect="1"/>
          </p:cNvGraphicFramePr>
          <p:nvPr>
            <p:extLst/>
          </p:nvPr>
        </p:nvGraphicFramePr>
        <p:xfrm>
          <a:off x="1714401" y="4508674"/>
          <a:ext cx="2676525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3487" name="Equation" r:id="rId5" imgW="1180800" imgH="177480" progId="Equation.DSMT4">
                  <p:embed/>
                </p:oleObj>
              </mc:Choice>
              <mc:Fallback>
                <p:oleObj name="Equation" r:id="rId5" imgW="1180800" imgH="177480" progId="Equation.DSMT4">
                  <p:embed/>
                  <p:pic>
                    <p:nvPicPr>
                      <p:cNvPr id="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401" y="4508674"/>
                        <a:ext cx="2676525" cy="4079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3"/>
          <p:cNvGraphicFramePr>
            <a:graphicFrameLocks noChangeAspect="1"/>
          </p:cNvGraphicFramePr>
          <p:nvPr>
            <p:extLst/>
          </p:nvPr>
        </p:nvGraphicFramePr>
        <p:xfrm>
          <a:off x="961597" y="4087069"/>
          <a:ext cx="4114459" cy="494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3488" name="Equation" r:id="rId7" imgW="1815840" imgH="215640" progId="Equation.DSMT4">
                  <p:embed/>
                </p:oleObj>
              </mc:Choice>
              <mc:Fallback>
                <p:oleObj name="Equation" r:id="rId7" imgW="1815840" imgH="215640" progId="Equation.DSMT4">
                  <p:embed/>
                  <p:pic>
                    <p:nvPicPr>
                      <p:cNvPr id="1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1597" y="4087069"/>
                        <a:ext cx="4114459" cy="494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圆角矩形标注 1"/>
          <p:cNvSpPr/>
          <p:nvPr/>
        </p:nvSpPr>
        <p:spPr bwMode="auto">
          <a:xfrm>
            <a:off x="1547664" y="3356992"/>
            <a:ext cx="1224136" cy="730077"/>
          </a:xfrm>
          <a:prstGeom prst="wedgeRoundRectCallou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分布函数的定义</a:t>
            </a:r>
          </a:p>
        </p:txBody>
      </p:sp>
      <p:sp>
        <p:nvSpPr>
          <p:cNvPr id="14" name="圆角矩形标注 13"/>
          <p:cNvSpPr/>
          <p:nvPr/>
        </p:nvSpPr>
        <p:spPr bwMode="auto">
          <a:xfrm>
            <a:off x="2987824" y="3741435"/>
            <a:ext cx="1080120" cy="345634"/>
          </a:xfrm>
          <a:prstGeom prst="wedgeRoundRectCallout">
            <a:avLst>
              <a:gd name="adj1" fmla="val -20833"/>
              <a:gd name="adj2" fmla="val 85843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r>
              <a:rPr kumimoji="0" lang="en-US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ea typeface="楷体" panose="02010609060101010101" pitchFamily="49" charset="-122"/>
                <a:cs typeface="Times" panose="02020603050405020304" pitchFamily="18" charset="0"/>
              </a:rPr>
              <a:t>Y=g(X)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ea typeface="楷体" panose="02010609060101010101" pitchFamily="49" charset="-122"/>
              <a:cs typeface="Times" panose="02020603050405020304" pitchFamily="18" charset="0"/>
            </a:endParaRPr>
          </a:p>
        </p:txBody>
      </p:sp>
      <p:sp>
        <p:nvSpPr>
          <p:cNvPr id="15" name="圆角矩形标注 14"/>
          <p:cNvSpPr/>
          <p:nvPr/>
        </p:nvSpPr>
        <p:spPr bwMode="auto">
          <a:xfrm>
            <a:off x="467544" y="4883566"/>
            <a:ext cx="2160240" cy="345634"/>
          </a:xfrm>
          <a:prstGeom prst="wedgeRoundRectCallout">
            <a:avLst>
              <a:gd name="adj1" fmla="val 14026"/>
              <a:gd name="adj2" fmla="val -77559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r>
              <a:rPr lang="zh-CN" altLang="en-US" dirty="0">
                <a:solidFill>
                  <a:schemeClr val="tx1"/>
                </a:solidFill>
                <a:latin typeface="Times" panose="02020603050405020304" pitchFamily="18" charset="0"/>
                <a:ea typeface="楷体" panose="02010609060101010101" pitchFamily="49" charset="-122"/>
                <a:cs typeface="Times" panose="02020603050405020304" pitchFamily="18" charset="0"/>
              </a:rPr>
              <a:t>解</a:t>
            </a:r>
            <a:r>
              <a:rPr lang="zh-CN" altLang="en-US" dirty="0" smtClean="0">
                <a:solidFill>
                  <a:schemeClr val="tx1"/>
                </a:solidFill>
                <a:latin typeface="Times" panose="02020603050405020304" pitchFamily="18" charset="0"/>
                <a:ea typeface="楷体" panose="02010609060101010101" pitchFamily="49" charset="-122"/>
                <a:cs typeface="Times" panose="02020603050405020304" pitchFamily="18" charset="0"/>
              </a:rPr>
              <a:t>出</a:t>
            </a:r>
            <a:r>
              <a:rPr lang="en-US" altLang="zh-CN" dirty="0" smtClean="0">
                <a:solidFill>
                  <a:schemeClr val="tx1"/>
                </a:solidFill>
                <a:latin typeface="Times" panose="02020603050405020304" pitchFamily="18" charset="0"/>
                <a:ea typeface="楷体" panose="02010609060101010101" pitchFamily="49" charset="-122"/>
                <a:cs typeface="Times" panose="02020603050405020304" pitchFamily="18" charset="0"/>
              </a:rPr>
              <a:t>X</a:t>
            </a:r>
            <a:r>
              <a:rPr lang="zh-CN" altLang="en-US" dirty="0" smtClean="0">
                <a:solidFill>
                  <a:schemeClr val="tx1"/>
                </a:solidFill>
                <a:latin typeface="Times" panose="02020603050405020304" pitchFamily="18" charset="0"/>
                <a:ea typeface="楷体" panose="02010609060101010101" pitchFamily="49" charset="-122"/>
                <a:cs typeface="Times" panose="02020603050405020304" pitchFamily="18" charset="0"/>
              </a:rPr>
              <a:t>的取值范围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ea typeface="楷体" panose="02010609060101010101" pitchFamily="49" charset="-122"/>
              <a:cs typeface="Times" panose="02020603050405020304" pitchFamily="18" charset="0"/>
            </a:endParaRPr>
          </a:p>
        </p:txBody>
      </p:sp>
      <p:sp>
        <p:nvSpPr>
          <p:cNvPr id="16" name="圆角矩形标注 15"/>
          <p:cNvSpPr/>
          <p:nvPr/>
        </p:nvSpPr>
        <p:spPr bwMode="auto">
          <a:xfrm>
            <a:off x="3203848" y="4883566"/>
            <a:ext cx="3528392" cy="345634"/>
          </a:xfrm>
          <a:prstGeom prst="wedgeRoundRectCallout">
            <a:avLst>
              <a:gd name="adj1" fmla="val -12271"/>
              <a:gd name="adj2" fmla="val -77559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ea typeface="楷体" panose="02010609060101010101" pitchFamily="49" charset="-122"/>
                <a:cs typeface="Times" panose="02020603050405020304" pitchFamily="18" charset="0"/>
              </a:rPr>
              <a:t>用</a:t>
            </a:r>
            <a:r>
              <a:rPr kumimoji="0" lang="en-US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ea typeface="楷体" panose="02010609060101010101" pitchFamily="49" charset="-122"/>
                <a:cs typeface="Times" panose="02020603050405020304" pitchFamily="18" charset="0"/>
              </a:rPr>
              <a:t>X</a:t>
            </a: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ea typeface="楷体" panose="02010609060101010101" pitchFamily="49" charset="-122"/>
                <a:cs typeface="Times" panose="02020603050405020304" pitchFamily="18" charset="0"/>
              </a:rPr>
              <a:t>的分布函数将概率表示出来</a:t>
            </a:r>
          </a:p>
        </p:txBody>
      </p:sp>
      <p:graphicFrame>
        <p:nvGraphicFramePr>
          <p:cNvPr id="17" name="Object 3"/>
          <p:cNvGraphicFramePr>
            <a:graphicFrameLocks noChangeAspect="1"/>
          </p:cNvGraphicFramePr>
          <p:nvPr>
            <p:extLst/>
          </p:nvPr>
        </p:nvGraphicFramePr>
        <p:xfrm>
          <a:off x="1584325" y="5869831"/>
          <a:ext cx="8804275" cy="87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3489" name="Equation" r:id="rId9" imgW="4025880" imgH="393480" progId="Equation.DSMT4">
                  <p:embed/>
                </p:oleObj>
              </mc:Choice>
              <mc:Fallback>
                <p:oleObj name="Equation" r:id="rId9" imgW="4025880" imgH="393480" progId="Equation.DSMT4">
                  <p:embed/>
                  <p:pic>
                    <p:nvPicPr>
                      <p:cNvPr id="1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4325" y="5869831"/>
                        <a:ext cx="8804275" cy="871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矩形 17"/>
          <p:cNvSpPr/>
          <p:nvPr/>
        </p:nvSpPr>
        <p:spPr>
          <a:xfrm>
            <a:off x="107504" y="260648"/>
            <a:ext cx="901881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3-1. </a:t>
            </a:r>
            <a:r>
              <a:rPr lang="zh-CN" altLang="en-US" sz="28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求连续性随机变量的函数的密度函数</a:t>
            </a:r>
            <a:r>
              <a:rPr lang="en-US" altLang="zh-CN" sz="28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(</a:t>
            </a:r>
            <a:r>
              <a:rPr lang="zh-CN" altLang="en-US" sz="28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已知密度函数</a:t>
            </a:r>
            <a:r>
              <a:rPr lang="en-US" altLang="zh-CN" sz="28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)</a:t>
            </a:r>
            <a:endParaRPr lang="zh-CN" altLang="en-US" sz="2800" b="1" dirty="0">
              <a:solidFill>
                <a:srgbClr val="0000FF"/>
              </a:solidFill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3919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3203848" y="260648"/>
            <a:ext cx="2304256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zh-CN" altLang="en-US" sz="3200" b="1" dirty="0" smtClean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 </a:t>
            </a:r>
            <a:endParaRPr lang="zh-CN" altLang="en-US" sz="3200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51520" y="992341"/>
            <a:ext cx="8640960" cy="2172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0000FF"/>
              </a:buClr>
              <a:tabLst>
                <a:tab pos="900113" algn="l"/>
              </a:tabLst>
            </a:pPr>
            <a:r>
              <a:rPr lang="zh-CN" altLang="en-US" sz="26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例</a:t>
            </a:r>
            <a:r>
              <a:rPr lang="en-US" altLang="zh-CN" sz="26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4</a:t>
            </a: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. </a:t>
            </a:r>
            <a:r>
              <a:rPr lang="zh-CN" altLang="en-US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设随机变量</a:t>
            </a: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X</a:t>
            </a:r>
            <a:r>
              <a:rPr lang="zh-CN" altLang="en-US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的概率密度为</a:t>
            </a:r>
            <a:endParaRPr lang="en-US" altLang="zh-CN" sz="2600" b="1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>
              <a:buAutoNum type="arabicPeriod" startAt="2"/>
              <a:tabLst>
                <a:tab pos="900113" algn="l"/>
              </a:tabLst>
            </a:pPr>
            <a:endParaRPr lang="en-US" altLang="zh-CN" sz="2600" b="1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>
              <a:tabLst>
                <a:tab pos="900113" algn="l"/>
              </a:tabLst>
            </a:pPr>
            <a:endParaRPr lang="en-US" altLang="zh-CN" sz="2600" b="1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>
              <a:tabLst>
                <a:tab pos="900113" algn="l"/>
              </a:tabLst>
            </a:pPr>
            <a:endParaRPr lang="en-US" altLang="zh-CN" sz="2600" b="1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>
              <a:tabLst>
                <a:tab pos="900113" algn="l"/>
              </a:tabLst>
            </a:pP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       </a:t>
            </a:r>
            <a:r>
              <a:rPr lang="zh-CN" altLang="en-US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求</a:t>
            </a:r>
            <a:r>
              <a:rPr lang="zh-CN" altLang="en-US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随机变量函数</a:t>
            </a: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Y=X</a:t>
            </a:r>
            <a:r>
              <a:rPr lang="en-US" altLang="zh-CN" sz="2600" b="1" baseline="300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2</a:t>
            </a: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+1</a:t>
            </a:r>
            <a:r>
              <a:rPr lang="zh-CN" altLang="en-US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的概率密度。</a:t>
            </a:r>
            <a:endParaRPr lang="en-US" altLang="zh-CN" sz="2600" b="1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  <a:sym typeface="Wingdings" pitchFamily="2" charset="2"/>
            </a:endParaRPr>
          </a:p>
          <a:p>
            <a:pPr marL="514350" indent="-514350">
              <a:lnSpc>
                <a:spcPct val="20000"/>
              </a:lnSpc>
              <a:tabLst>
                <a:tab pos="900113" algn="l"/>
              </a:tabLst>
            </a:pPr>
            <a:endParaRPr lang="en-US" altLang="zh-CN" sz="2600" b="1" dirty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  <a:sym typeface="Wingdings" pitchFamily="2" charset="2"/>
            </a:endParaRPr>
          </a:p>
        </p:txBody>
      </p:sp>
      <p:graphicFrame>
        <p:nvGraphicFramePr>
          <p:cNvPr id="2341895" name="Object 7"/>
          <p:cNvGraphicFramePr>
            <a:graphicFrameLocks noChangeAspect="1"/>
          </p:cNvGraphicFramePr>
          <p:nvPr>
            <p:extLst/>
          </p:nvPr>
        </p:nvGraphicFramePr>
        <p:xfrm>
          <a:off x="2236787" y="1556792"/>
          <a:ext cx="4002041" cy="936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4189" name="Equation" r:id="rId3" imgW="1955520" imgH="457200" progId="Equation.DSMT4">
                  <p:embed/>
                </p:oleObj>
              </mc:Choice>
              <mc:Fallback>
                <p:oleObj name="Equation" r:id="rId3" imgW="1955520" imgH="457200" progId="Equation.DSMT4">
                  <p:embed/>
                  <p:pic>
                    <p:nvPicPr>
                      <p:cNvPr id="234189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6787" y="1556792"/>
                        <a:ext cx="4002041" cy="9361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107504" y="260648"/>
            <a:ext cx="901881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3-1. </a:t>
            </a:r>
            <a:r>
              <a:rPr lang="zh-CN" altLang="en-US" sz="28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求连续性随机变量的函数的密度函数</a:t>
            </a:r>
            <a:r>
              <a:rPr lang="en-US" altLang="zh-CN" sz="28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(</a:t>
            </a:r>
            <a:r>
              <a:rPr lang="zh-CN" altLang="en-US" sz="28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已知密度函数</a:t>
            </a:r>
            <a:r>
              <a:rPr lang="en-US" altLang="zh-CN" sz="28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)</a:t>
            </a:r>
            <a:endParaRPr lang="zh-CN" altLang="en-US" sz="2800" b="1" dirty="0">
              <a:solidFill>
                <a:srgbClr val="0000FF"/>
              </a:solidFill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4617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51520" y="992341"/>
            <a:ext cx="8640960" cy="42965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0000FF"/>
              </a:buClr>
              <a:tabLst>
                <a:tab pos="900113" algn="l"/>
              </a:tabLst>
            </a:pPr>
            <a:r>
              <a:rPr lang="zh-CN" altLang="en-US" sz="26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例</a:t>
            </a:r>
            <a:r>
              <a:rPr lang="en-US" altLang="zh-CN" sz="26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4</a:t>
            </a: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. </a:t>
            </a:r>
            <a:r>
              <a:rPr lang="zh-CN" altLang="en-US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设随机变量</a:t>
            </a: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X</a:t>
            </a:r>
            <a:r>
              <a:rPr lang="zh-CN" altLang="en-US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的概率密度为</a:t>
            </a:r>
            <a:endParaRPr lang="en-US" altLang="zh-CN" sz="2600" b="1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>
              <a:buAutoNum type="arabicPeriod" startAt="2"/>
              <a:tabLst>
                <a:tab pos="900113" algn="l"/>
              </a:tabLst>
            </a:pPr>
            <a:endParaRPr lang="en-US" altLang="zh-CN" sz="2600" b="1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>
              <a:tabLst>
                <a:tab pos="900113" algn="l"/>
              </a:tabLst>
            </a:pPr>
            <a:endParaRPr lang="en-US" altLang="zh-CN" sz="2600" b="1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>
              <a:tabLst>
                <a:tab pos="900113" algn="l"/>
              </a:tabLst>
            </a:pPr>
            <a:endParaRPr lang="en-US" altLang="zh-CN" sz="2600" b="1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>
              <a:tabLst>
                <a:tab pos="900113" algn="l"/>
              </a:tabLst>
            </a:pP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       </a:t>
            </a:r>
            <a:r>
              <a:rPr lang="zh-CN" altLang="en-US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求</a:t>
            </a:r>
            <a:r>
              <a:rPr lang="zh-CN" altLang="en-US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随机变量函数</a:t>
            </a: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Y=X</a:t>
            </a:r>
            <a:r>
              <a:rPr lang="en-US" altLang="zh-CN" sz="2600" b="1" baseline="300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2</a:t>
            </a: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+1</a:t>
            </a:r>
            <a:r>
              <a:rPr lang="zh-CN" altLang="en-US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的概率密度。</a:t>
            </a:r>
            <a:endParaRPr lang="en-US" altLang="zh-CN" sz="2600" b="1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  <a:sym typeface="Wingdings" pitchFamily="2" charset="2"/>
            </a:endParaRPr>
          </a:p>
          <a:p>
            <a:pPr marL="514350" indent="-514350">
              <a:lnSpc>
                <a:spcPct val="20000"/>
              </a:lnSpc>
              <a:tabLst>
                <a:tab pos="900113" algn="l"/>
              </a:tabLst>
            </a:pPr>
            <a:endParaRPr lang="en-US" altLang="zh-CN" sz="2600" b="1" dirty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  <a:sym typeface="Wingdings" pitchFamily="2" charset="2"/>
            </a:endParaRPr>
          </a:p>
          <a:p>
            <a:pPr marL="514350" indent="-514350">
              <a:tabLst>
                <a:tab pos="900113" algn="l"/>
              </a:tabLst>
            </a:pPr>
            <a:r>
              <a:rPr lang="zh-CN" altLang="en-US" sz="26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解</a:t>
            </a:r>
            <a:r>
              <a:rPr lang="en-US" altLang="zh-CN" sz="26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: </a:t>
            </a: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(1) </a:t>
            </a:r>
            <a:r>
              <a:rPr lang="zh-CN" altLang="en-US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先求</a:t>
            </a: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Y</a:t>
            </a:r>
            <a:r>
              <a:rPr lang="zh-CN" altLang="en-US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的分布函数</a:t>
            </a: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F</a:t>
            </a:r>
            <a:r>
              <a:rPr lang="en-US" altLang="zh-CN" sz="2600" b="1" baseline="-250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Y</a:t>
            </a: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(y)</a:t>
            </a:r>
          </a:p>
          <a:p>
            <a:pPr marL="514350" indent="-163513">
              <a:buFont typeface="+mj-ea"/>
              <a:buAutoNum type="circleNumDbPlain"/>
            </a:pPr>
            <a:r>
              <a:rPr lang="en-US" altLang="zh-CN" sz="2800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en-US" altLang="zh-CN" sz="2800" b="1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Y</a:t>
            </a:r>
            <a:r>
              <a:rPr lang="zh-CN" altLang="en-US" sz="2800" b="1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的所有取值落在</a:t>
            </a:r>
            <a:r>
              <a:rPr lang="en-US" altLang="zh-CN" sz="2800" b="1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(1, 2)</a:t>
            </a:r>
            <a:r>
              <a:rPr lang="zh-CN" altLang="en-US" sz="2800" b="1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之间</a:t>
            </a:r>
            <a:r>
              <a:rPr lang="en-US" altLang="zh-CN" sz="2800" b="1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;</a:t>
            </a:r>
            <a:endParaRPr lang="en-US" altLang="zh-CN" sz="2800" b="1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514350" indent="-163513">
              <a:buFont typeface="+mj-ea"/>
              <a:buAutoNum type="circleNumDbPlain"/>
            </a:pPr>
            <a:r>
              <a:rPr lang="en-US" altLang="zh-CN" sz="2800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zh-CN" altLang="en-US" sz="2800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当</a:t>
            </a:r>
            <a:r>
              <a:rPr lang="en-US" altLang="zh-CN" sz="2800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y</a:t>
            </a:r>
            <a:r>
              <a:rPr lang="en-US" altLang="zh-CN" sz="2800" b="1" dirty="0">
                <a:latin typeface="Times" pitchFamily="18" charset="0"/>
                <a:ea typeface="楷体" pitchFamily="49" charset="-122"/>
                <a:cs typeface="Times" pitchFamily="18" charset="0"/>
              </a:rPr>
              <a:t> ≤ </a:t>
            </a:r>
            <a:r>
              <a:rPr lang="en-US" altLang="zh-CN" sz="2800" b="1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1</a:t>
            </a:r>
            <a:r>
              <a:rPr lang="zh-CN" altLang="en-US" sz="2800" b="1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时</a:t>
            </a:r>
            <a:r>
              <a:rPr lang="zh-CN" altLang="en-US" sz="2800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，</a:t>
            </a:r>
            <a:r>
              <a:rPr lang="en-US" altLang="zh-CN" sz="2800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F</a:t>
            </a:r>
            <a:r>
              <a:rPr lang="en-US" altLang="zh-CN" sz="2800" b="1" baseline="-250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Y</a:t>
            </a:r>
            <a:r>
              <a:rPr lang="en-US" altLang="zh-CN" sz="2800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(y)=0;</a:t>
            </a:r>
          </a:p>
          <a:p>
            <a:pPr marL="514350" indent="-163513">
              <a:buFont typeface="+mj-ea"/>
              <a:buAutoNum type="circleNumDbPlain"/>
            </a:pPr>
            <a:r>
              <a:rPr lang="en-US" altLang="zh-CN" sz="2800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zh-CN" altLang="en-US" sz="2800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当</a:t>
            </a:r>
            <a:r>
              <a:rPr lang="en-US" altLang="zh-CN" sz="2800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y</a:t>
            </a:r>
            <a:r>
              <a:rPr lang="en-US" altLang="zh-CN" sz="2800" b="1" dirty="0">
                <a:latin typeface="Times" pitchFamily="18" charset="0"/>
                <a:ea typeface="楷体" pitchFamily="49" charset="-122"/>
                <a:cs typeface="Times" pitchFamily="18" charset="0"/>
              </a:rPr>
              <a:t> ≥ </a:t>
            </a:r>
            <a:r>
              <a:rPr lang="en-US" altLang="zh-CN" sz="2800" b="1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2</a:t>
            </a:r>
            <a:r>
              <a:rPr lang="zh-CN" altLang="en-US" sz="2800" b="1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时</a:t>
            </a:r>
            <a:r>
              <a:rPr lang="zh-CN" altLang="en-US" sz="2800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，</a:t>
            </a:r>
            <a:r>
              <a:rPr lang="en-US" altLang="zh-CN" sz="2800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F</a:t>
            </a:r>
            <a:r>
              <a:rPr lang="en-US" altLang="zh-CN" sz="2800" b="1" baseline="-250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Y</a:t>
            </a:r>
            <a:r>
              <a:rPr lang="en-US" altLang="zh-CN" sz="2800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(y)=1;</a:t>
            </a:r>
          </a:p>
          <a:p>
            <a:pPr marL="514350" indent="-150813">
              <a:buFont typeface="+mj-ea"/>
              <a:buAutoNum type="circleNumDbPlain"/>
            </a:pPr>
            <a:r>
              <a:rPr lang="en-US" altLang="zh-CN" sz="2800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zh-CN" altLang="en-US" sz="2800" b="1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当</a:t>
            </a:r>
            <a:r>
              <a:rPr lang="en-US" altLang="zh-CN" sz="2800" b="1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1≤</a:t>
            </a:r>
            <a:r>
              <a:rPr lang="en-US" altLang="zh-CN" sz="2800" b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y</a:t>
            </a:r>
            <a:r>
              <a:rPr lang="en-US" altLang="zh-CN" sz="2800" b="1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≤2</a:t>
            </a:r>
            <a:r>
              <a:rPr lang="zh-CN" altLang="en-US" sz="2800" b="1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时，</a:t>
            </a:r>
            <a:endParaRPr lang="en-US" altLang="zh-CN" sz="2800" b="1" dirty="0" smtClean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graphicFrame>
        <p:nvGraphicFramePr>
          <p:cNvPr id="2341895" name="Object 7"/>
          <p:cNvGraphicFramePr>
            <a:graphicFrameLocks noChangeAspect="1"/>
          </p:cNvGraphicFramePr>
          <p:nvPr/>
        </p:nvGraphicFramePr>
        <p:xfrm>
          <a:off x="2236787" y="1556792"/>
          <a:ext cx="4002041" cy="936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427" name="Equation" r:id="rId3" imgW="1955520" imgH="457200" progId="Equation.DSMT4">
                  <p:embed/>
                </p:oleObj>
              </mc:Choice>
              <mc:Fallback>
                <p:oleObj name="Equation" r:id="rId3" imgW="1955520" imgH="457200" progId="Equation.DSMT4">
                  <p:embed/>
                  <p:pic>
                    <p:nvPicPr>
                      <p:cNvPr id="234189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6787" y="1556792"/>
                        <a:ext cx="4002041" cy="9361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"/>
          <p:cNvGraphicFramePr>
            <a:graphicFrameLocks noChangeAspect="1"/>
          </p:cNvGraphicFramePr>
          <p:nvPr>
            <p:extLst/>
          </p:nvPr>
        </p:nvGraphicFramePr>
        <p:xfrm>
          <a:off x="384175" y="5396632"/>
          <a:ext cx="794385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428" name="Equation" r:id="rId5" imgW="3314520" imgH="215640" progId="Equation.DSMT4">
                  <p:embed/>
                </p:oleObj>
              </mc:Choice>
              <mc:Fallback>
                <p:oleObj name="Equation" r:id="rId5" imgW="3314520" imgH="215640" progId="Equation.DSMT4">
                  <p:embed/>
                  <p:pic>
                    <p:nvPicPr>
                      <p:cNvPr id="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175" y="5396632"/>
                        <a:ext cx="7943850" cy="52387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"/>
          <p:cNvGraphicFramePr>
            <a:graphicFrameLocks noChangeAspect="1"/>
          </p:cNvGraphicFramePr>
          <p:nvPr>
            <p:extLst/>
          </p:nvPr>
        </p:nvGraphicFramePr>
        <p:xfrm>
          <a:off x="1187624" y="6001469"/>
          <a:ext cx="368300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5429" name="Equation" r:id="rId7" imgW="1536480" imgH="215640" progId="Equation.DSMT4">
                  <p:embed/>
                </p:oleObj>
              </mc:Choice>
              <mc:Fallback>
                <p:oleObj name="Equation" r:id="rId7" imgW="1536480" imgH="215640" progId="Equation.DSMT4">
                  <p:embed/>
                  <p:pic>
                    <p:nvPicPr>
                      <p:cNvPr id="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6001469"/>
                        <a:ext cx="3683000" cy="52387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107504" y="260648"/>
            <a:ext cx="901881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3-1. </a:t>
            </a:r>
            <a:r>
              <a:rPr lang="zh-CN" altLang="en-US" sz="28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求连续性随机变量的函数的密度函数</a:t>
            </a:r>
            <a:r>
              <a:rPr lang="en-US" altLang="zh-CN" sz="28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(</a:t>
            </a:r>
            <a:r>
              <a:rPr lang="zh-CN" altLang="en-US" sz="28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已知密度函数</a:t>
            </a:r>
            <a:r>
              <a:rPr lang="en-US" altLang="zh-CN" sz="28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)</a:t>
            </a:r>
            <a:endParaRPr lang="zh-CN" altLang="en-US" sz="2800" b="1" dirty="0">
              <a:solidFill>
                <a:srgbClr val="0000FF"/>
              </a:solidFill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2276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51520" y="992341"/>
            <a:ext cx="8640960" cy="25730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0000FF"/>
              </a:buClr>
              <a:tabLst>
                <a:tab pos="900113" algn="l"/>
              </a:tabLst>
            </a:pPr>
            <a:r>
              <a:rPr lang="zh-CN" altLang="en-US" sz="26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例</a:t>
            </a:r>
            <a:r>
              <a:rPr lang="en-US" altLang="zh-CN" sz="26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4</a:t>
            </a: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. </a:t>
            </a:r>
            <a:r>
              <a:rPr lang="zh-CN" altLang="en-US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设随机变量</a:t>
            </a: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X</a:t>
            </a:r>
            <a:r>
              <a:rPr lang="zh-CN" altLang="en-US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的概率密度为</a:t>
            </a:r>
            <a:endParaRPr lang="en-US" altLang="zh-CN" sz="2600" b="1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>
              <a:buAutoNum type="arabicPeriod" startAt="2"/>
              <a:tabLst>
                <a:tab pos="900113" algn="l"/>
              </a:tabLst>
            </a:pPr>
            <a:endParaRPr lang="en-US" altLang="zh-CN" sz="2600" b="1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>
              <a:tabLst>
                <a:tab pos="900113" algn="l"/>
              </a:tabLst>
            </a:pPr>
            <a:endParaRPr lang="en-US" altLang="zh-CN" sz="2600" b="1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>
              <a:tabLst>
                <a:tab pos="900113" algn="l"/>
              </a:tabLst>
            </a:pPr>
            <a:endParaRPr lang="en-US" altLang="zh-CN" sz="2600" b="1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>
              <a:tabLst>
                <a:tab pos="900113" algn="l"/>
              </a:tabLst>
            </a:pP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       </a:t>
            </a:r>
            <a:r>
              <a:rPr lang="zh-CN" altLang="en-US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求</a:t>
            </a:r>
            <a:r>
              <a:rPr lang="zh-CN" altLang="en-US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随机变量函数</a:t>
            </a: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Y=X</a:t>
            </a:r>
            <a:r>
              <a:rPr lang="en-US" altLang="zh-CN" sz="2600" b="1" baseline="300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2</a:t>
            </a: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+1</a:t>
            </a:r>
            <a:r>
              <a:rPr lang="zh-CN" altLang="en-US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的概率密度。</a:t>
            </a:r>
            <a:endParaRPr lang="en-US" altLang="zh-CN" sz="2600" b="1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  <a:sym typeface="Wingdings" pitchFamily="2" charset="2"/>
            </a:endParaRPr>
          </a:p>
          <a:p>
            <a:pPr marL="514350" indent="-514350">
              <a:lnSpc>
                <a:spcPct val="20000"/>
              </a:lnSpc>
              <a:tabLst>
                <a:tab pos="900113" algn="l"/>
              </a:tabLst>
            </a:pPr>
            <a:endParaRPr lang="en-US" altLang="zh-CN" sz="2600" b="1" dirty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  <a:sym typeface="Wingdings" pitchFamily="2" charset="2"/>
            </a:endParaRPr>
          </a:p>
          <a:p>
            <a:pPr marL="514350" indent="-514350">
              <a:tabLst>
                <a:tab pos="900113" algn="l"/>
              </a:tabLst>
            </a:pPr>
            <a:r>
              <a:rPr lang="zh-CN" altLang="en-US" sz="26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解</a:t>
            </a:r>
            <a:r>
              <a:rPr lang="en-US" altLang="zh-CN" sz="26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: </a:t>
            </a: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(2) </a:t>
            </a:r>
            <a:r>
              <a:rPr lang="zh-CN" altLang="en-US" sz="2600" b="1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再</a:t>
            </a:r>
            <a:r>
              <a:rPr lang="zh-CN" altLang="en-US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求</a:t>
            </a: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Y</a:t>
            </a:r>
            <a:r>
              <a:rPr lang="zh-CN" altLang="en-US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的密度函数</a:t>
            </a:r>
            <a:r>
              <a:rPr lang="en-US" altLang="zh-CN" sz="2600" b="1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f</a:t>
            </a:r>
            <a:r>
              <a:rPr lang="en-US" altLang="zh-CN" sz="2600" b="1" baseline="-250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Y</a:t>
            </a: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  <a:sym typeface="Wingdings" pitchFamily="2" charset="2"/>
              </a:rPr>
              <a:t>(y)</a:t>
            </a:r>
          </a:p>
        </p:txBody>
      </p:sp>
      <p:graphicFrame>
        <p:nvGraphicFramePr>
          <p:cNvPr id="2341895" name="Object 7"/>
          <p:cNvGraphicFramePr>
            <a:graphicFrameLocks noChangeAspect="1"/>
          </p:cNvGraphicFramePr>
          <p:nvPr/>
        </p:nvGraphicFramePr>
        <p:xfrm>
          <a:off x="2236787" y="1556792"/>
          <a:ext cx="4002041" cy="936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6451" name="Equation" r:id="rId3" imgW="1955520" imgH="457200" progId="Equation.DSMT4">
                  <p:embed/>
                </p:oleObj>
              </mc:Choice>
              <mc:Fallback>
                <p:oleObj name="Equation" r:id="rId3" imgW="1955520" imgH="457200" progId="Equation.DSMT4">
                  <p:embed/>
                  <p:pic>
                    <p:nvPicPr>
                      <p:cNvPr id="234189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6787" y="1556792"/>
                        <a:ext cx="4002041" cy="9361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"/>
          <p:cNvGraphicFramePr>
            <a:graphicFrameLocks noChangeAspect="1"/>
          </p:cNvGraphicFramePr>
          <p:nvPr>
            <p:extLst/>
          </p:nvPr>
        </p:nvGraphicFramePr>
        <p:xfrm>
          <a:off x="403225" y="3501008"/>
          <a:ext cx="8339138" cy="1509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6452" name="Equation" r:id="rId5" imgW="3479760" imgH="622080" progId="Equation.DSMT4">
                  <p:embed/>
                </p:oleObj>
              </mc:Choice>
              <mc:Fallback>
                <p:oleObj name="Equation" r:id="rId5" imgW="3479760" imgH="622080" progId="Equation.DSMT4">
                  <p:embed/>
                  <p:pic>
                    <p:nvPicPr>
                      <p:cNvPr id="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225" y="3501008"/>
                        <a:ext cx="8339138" cy="150971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"/>
          <p:cNvGraphicFramePr>
            <a:graphicFrameLocks noChangeAspect="1"/>
          </p:cNvGraphicFramePr>
          <p:nvPr>
            <p:extLst/>
          </p:nvPr>
        </p:nvGraphicFramePr>
        <p:xfrm>
          <a:off x="1205483" y="5013176"/>
          <a:ext cx="3438525" cy="1046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6453" name="Equation" r:id="rId7" imgW="1434960" imgH="431640" progId="Equation.DSMT4">
                  <p:embed/>
                </p:oleObj>
              </mc:Choice>
              <mc:Fallback>
                <p:oleObj name="Equation" r:id="rId7" imgW="1434960" imgH="431640" progId="Equation.DSMT4">
                  <p:embed/>
                  <p:pic>
                    <p:nvPicPr>
                      <p:cNvPr id="1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5483" y="5013176"/>
                        <a:ext cx="3438525" cy="104616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/>
        </p:nvSpPr>
        <p:spPr>
          <a:xfrm>
            <a:off x="107504" y="260648"/>
            <a:ext cx="901881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3-1. </a:t>
            </a:r>
            <a:r>
              <a:rPr lang="zh-CN" altLang="en-US" sz="28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求连续性随机变量的函数的密度函数</a:t>
            </a:r>
            <a:r>
              <a:rPr lang="en-US" altLang="zh-CN" sz="28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(</a:t>
            </a:r>
            <a:r>
              <a:rPr lang="zh-CN" altLang="en-US" sz="28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已知密度函数</a:t>
            </a:r>
            <a:r>
              <a:rPr lang="en-US" altLang="zh-CN" sz="28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)</a:t>
            </a:r>
            <a:endParaRPr lang="zh-CN" altLang="en-US" sz="2800" b="1" dirty="0">
              <a:solidFill>
                <a:srgbClr val="0000FF"/>
              </a:solidFill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5559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251520" y="1052736"/>
            <a:ext cx="8640960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600" dirty="0" smtClean="0">
                <a:solidFill>
                  <a:srgbClr val="0000FF"/>
                </a:solidFill>
                <a:latin typeface="Times" pitchFamily="18" charset="0"/>
                <a:ea typeface="楷体" pitchFamily="49" charset="-122"/>
                <a:cs typeface="Times" pitchFamily="18" charset="0"/>
              </a:rPr>
              <a:t>已知</a:t>
            </a:r>
            <a:r>
              <a:rPr lang="en-US" altLang="zh-CN" sz="2600" dirty="0" err="1" smtClean="0">
                <a:solidFill>
                  <a:srgbClr val="0000FF"/>
                </a:solidFill>
                <a:latin typeface="Times" pitchFamily="18" charset="0"/>
                <a:ea typeface="楷体" pitchFamily="49" charset="-122"/>
                <a:cs typeface="Times" pitchFamily="18" charset="0"/>
              </a:rPr>
              <a:t>X~F</a:t>
            </a:r>
            <a:r>
              <a:rPr lang="en-US" altLang="zh-CN" sz="2600" baseline="-25000" dirty="0" err="1" smtClean="0">
                <a:solidFill>
                  <a:srgbClr val="0000FF"/>
                </a:solidFill>
                <a:latin typeface="Times" pitchFamily="18" charset="0"/>
                <a:ea typeface="楷体" pitchFamily="49" charset="-122"/>
                <a:cs typeface="Times" pitchFamily="18" charset="0"/>
              </a:rPr>
              <a:t>x</a:t>
            </a:r>
            <a:r>
              <a:rPr lang="en-US" altLang="zh-CN" sz="2600" dirty="0" smtClean="0">
                <a:solidFill>
                  <a:srgbClr val="0000FF"/>
                </a:solidFill>
                <a:latin typeface="Times" pitchFamily="18" charset="0"/>
                <a:ea typeface="楷体" pitchFamily="49" charset="-122"/>
                <a:cs typeface="Times" pitchFamily="18" charset="0"/>
              </a:rPr>
              <a:t>(x), Y=g(X), </a:t>
            </a:r>
            <a:r>
              <a:rPr lang="zh-CN" altLang="en-US" sz="2600" dirty="0" smtClean="0">
                <a:solidFill>
                  <a:srgbClr val="0000FF"/>
                </a:solidFill>
                <a:latin typeface="Times" pitchFamily="18" charset="0"/>
                <a:ea typeface="楷体" pitchFamily="49" charset="-122"/>
                <a:cs typeface="Times" pitchFamily="18" charset="0"/>
              </a:rPr>
              <a:t>求</a:t>
            </a:r>
            <a:r>
              <a:rPr lang="en-US" altLang="zh-CN" sz="2600" dirty="0" smtClean="0">
                <a:solidFill>
                  <a:srgbClr val="0000FF"/>
                </a:solidFill>
                <a:latin typeface="Times" pitchFamily="18" charset="0"/>
                <a:ea typeface="楷体" pitchFamily="49" charset="-122"/>
                <a:cs typeface="Times" pitchFamily="18" charset="0"/>
              </a:rPr>
              <a:t>f</a:t>
            </a:r>
            <a:r>
              <a:rPr lang="en-US" altLang="zh-CN" sz="2600" baseline="-25000" dirty="0" smtClean="0">
                <a:solidFill>
                  <a:srgbClr val="0000FF"/>
                </a:solidFill>
                <a:latin typeface="Times" pitchFamily="18" charset="0"/>
                <a:ea typeface="楷体" pitchFamily="49" charset="-122"/>
                <a:cs typeface="Times" pitchFamily="18" charset="0"/>
              </a:rPr>
              <a:t>Y</a:t>
            </a:r>
            <a:r>
              <a:rPr lang="en-US" altLang="zh-CN" sz="2600" dirty="0" smtClean="0">
                <a:solidFill>
                  <a:srgbClr val="0000FF"/>
                </a:solidFill>
                <a:latin typeface="Times" pitchFamily="18" charset="0"/>
                <a:ea typeface="楷体" pitchFamily="49" charset="-122"/>
                <a:cs typeface="Times" pitchFamily="18" charset="0"/>
              </a:rPr>
              <a:t>(y)</a:t>
            </a:r>
          </a:p>
          <a:p>
            <a:pPr marL="514350" indent="-514350"/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有两种方法：</a:t>
            </a:r>
            <a:endParaRPr lang="en-US" altLang="zh-CN" sz="2400" dirty="0" smtClean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514350" indent="-514350">
              <a:lnSpc>
                <a:spcPct val="150000"/>
              </a:lnSpc>
            </a:pP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(1)                            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，然后按照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3-1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中的步骤求；</a:t>
            </a:r>
            <a:endParaRPr lang="en-US" altLang="zh-CN" sz="2400" dirty="0" smtClean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514350" indent="-514350">
              <a:lnSpc>
                <a:spcPct val="150000"/>
              </a:lnSpc>
            </a:pP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(2) 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在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3-1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中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(1)-4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中把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F</a:t>
            </a:r>
            <a:r>
              <a:rPr lang="en-US" altLang="zh-CN" sz="2400" baseline="-250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Y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(y)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直接算出来，然后利用</a:t>
            </a:r>
            <a:endParaRPr lang="en-US" altLang="zh-CN" sz="2400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graphicFrame>
        <p:nvGraphicFramePr>
          <p:cNvPr id="13" name="Object 3"/>
          <p:cNvGraphicFramePr>
            <a:graphicFrameLocks noChangeAspect="1"/>
          </p:cNvGraphicFramePr>
          <p:nvPr>
            <p:extLst/>
          </p:nvPr>
        </p:nvGraphicFramePr>
        <p:xfrm>
          <a:off x="755675" y="1985913"/>
          <a:ext cx="2016125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7364" name="Equation" r:id="rId3" imgW="888840" imgH="190440" progId="Equation.DSMT4">
                  <p:embed/>
                </p:oleObj>
              </mc:Choice>
              <mc:Fallback>
                <p:oleObj name="Equation" r:id="rId3" imgW="888840" imgH="190440" progId="Equation.DSMT4">
                  <p:embed/>
                  <p:pic>
                    <p:nvPicPr>
                      <p:cNvPr id="1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75" y="1985913"/>
                        <a:ext cx="2016125" cy="434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5615292"/>
              </p:ext>
            </p:extLst>
          </p:nvPr>
        </p:nvGraphicFramePr>
        <p:xfrm>
          <a:off x="6746056" y="2489969"/>
          <a:ext cx="19304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7365" name="Equation" r:id="rId5" imgW="850680" imgH="190440" progId="Equation.DSMT4">
                  <p:embed/>
                </p:oleObj>
              </mc:Choice>
              <mc:Fallback>
                <p:oleObj name="Equation" r:id="rId5" imgW="850680" imgH="190440" progId="Equation.DSMT4">
                  <p:embed/>
                  <p:pic>
                    <p:nvPicPr>
                      <p:cNvPr id="1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6056" y="2489969"/>
                        <a:ext cx="1930400" cy="434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107505" y="260648"/>
            <a:ext cx="90364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3-2. </a:t>
            </a:r>
            <a:r>
              <a:rPr lang="zh-CN" altLang="en-US" sz="28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求连续性随机变量的函数的密度函数</a:t>
            </a:r>
            <a:r>
              <a:rPr lang="en-US" altLang="zh-CN" sz="28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(</a:t>
            </a:r>
            <a:r>
              <a:rPr lang="zh-CN" altLang="en-US" sz="28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已知分布函数</a:t>
            </a:r>
            <a:r>
              <a:rPr lang="en-US" altLang="zh-CN" sz="28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)</a:t>
            </a:r>
            <a:endParaRPr lang="zh-CN" altLang="en-US" sz="2800" b="1" dirty="0">
              <a:solidFill>
                <a:srgbClr val="0000FF"/>
              </a:solidFill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7365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51520" y="992341"/>
            <a:ext cx="8640960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0000FF"/>
              </a:buClr>
              <a:tabLst>
                <a:tab pos="900113" algn="l"/>
              </a:tabLst>
            </a:pPr>
            <a:r>
              <a:rPr lang="zh-CN" altLang="en-US" sz="26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例</a:t>
            </a:r>
            <a:r>
              <a:rPr lang="en-US" altLang="zh-CN" sz="26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5</a:t>
            </a: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. </a:t>
            </a:r>
            <a:r>
              <a:rPr lang="zh-CN" altLang="en-US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设随机变量</a:t>
            </a: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X</a:t>
            </a:r>
            <a:r>
              <a:rPr lang="zh-CN" altLang="en-US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的分布函数为</a:t>
            </a: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F(x)=</a:t>
            </a:r>
            <a:r>
              <a:rPr lang="en-US" altLang="zh-CN" sz="2600" b="1" dirty="0" err="1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a+barctanx</a:t>
            </a: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, </a:t>
            </a:r>
            <a:r>
              <a:rPr lang="zh-CN" altLang="en-US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其中</a:t>
            </a:r>
            <a:r>
              <a:rPr lang="en-US" altLang="zh-CN" sz="2600" b="1" dirty="0" err="1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a,b</a:t>
            </a:r>
            <a:r>
              <a:rPr lang="zh-CN" altLang="en-US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为未知参数，求随机变量函数</a:t>
            </a: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Y=X</a:t>
            </a:r>
            <a:r>
              <a:rPr lang="en-US" altLang="zh-CN" sz="2600" b="1" baseline="300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2</a:t>
            </a: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+1</a:t>
            </a:r>
            <a:r>
              <a:rPr lang="zh-CN" altLang="en-US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的概率密度。</a:t>
            </a:r>
            <a:endParaRPr lang="en-US" altLang="zh-CN" sz="2600" b="1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>
              <a:buClr>
                <a:srgbClr val="0000FF"/>
              </a:buClr>
              <a:tabLst>
                <a:tab pos="900113" algn="l"/>
              </a:tabLst>
            </a:pPr>
            <a:endParaRPr lang="en-US" altLang="zh-CN" sz="2600" b="1" dirty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>
              <a:buClr>
                <a:srgbClr val="0000FF"/>
              </a:buClr>
              <a:tabLst>
                <a:tab pos="900113" algn="l"/>
              </a:tabLst>
            </a:pPr>
            <a:endParaRPr lang="en-US" altLang="zh-CN" sz="2600" b="1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>
              <a:buClr>
                <a:srgbClr val="0000FF"/>
              </a:buClr>
              <a:tabLst>
                <a:tab pos="900113" algn="l"/>
              </a:tabLst>
            </a:pPr>
            <a:endParaRPr lang="en-US" altLang="zh-CN" sz="2600" b="1" dirty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07505" y="260648"/>
            <a:ext cx="90364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3-2. </a:t>
            </a:r>
            <a:r>
              <a:rPr lang="zh-CN" altLang="en-US" sz="28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求连续性随机变量的函数的密度函数</a:t>
            </a:r>
            <a:r>
              <a:rPr lang="en-US" altLang="zh-CN" sz="28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(</a:t>
            </a:r>
            <a:r>
              <a:rPr lang="zh-CN" altLang="en-US" sz="28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已知分布函数</a:t>
            </a:r>
            <a:r>
              <a:rPr lang="en-US" altLang="zh-CN" sz="28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)</a:t>
            </a:r>
            <a:endParaRPr lang="zh-CN" altLang="en-US" sz="2800" b="1" dirty="0">
              <a:solidFill>
                <a:srgbClr val="0000FF"/>
              </a:solidFill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597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51520" y="992341"/>
            <a:ext cx="8640960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0000FF"/>
              </a:buClr>
              <a:tabLst>
                <a:tab pos="900113" algn="l"/>
              </a:tabLst>
            </a:pPr>
            <a:r>
              <a:rPr lang="zh-CN" altLang="en-US" sz="26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例</a:t>
            </a:r>
            <a:r>
              <a:rPr lang="en-US" altLang="zh-CN" sz="26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5</a:t>
            </a: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. </a:t>
            </a:r>
            <a:r>
              <a:rPr lang="zh-CN" altLang="en-US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设随机变量</a:t>
            </a: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X</a:t>
            </a:r>
            <a:r>
              <a:rPr lang="zh-CN" altLang="en-US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的分布函数为</a:t>
            </a: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F(x)=</a:t>
            </a:r>
            <a:r>
              <a:rPr lang="en-US" altLang="zh-CN" sz="2600" b="1" dirty="0" err="1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a+barctanx</a:t>
            </a: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, </a:t>
            </a:r>
            <a:r>
              <a:rPr lang="zh-CN" altLang="en-US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其中</a:t>
            </a:r>
            <a:r>
              <a:rPr lang="en-US" altLang="zh-CN" sz="2600" b="1" dirty="0" err="1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a,b</a:t>
            </a:r>
            <a:r>
              <a:rPr lang="zh-CN" altLang="en-US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为未知参数，求随机变量函数</a:t>
            </a: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Y=X</a:t>
            </a:r>
            <a:r>
              <a:rPr lang="en-US" altLang="zh-CN" sz="2600" b="1" baseline="300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2</a:t>
            </a: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+1</a:t>
            </a:r>
            <a:r>
              <a:rPr lang="zh-CN" altLang="en-US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的概率密度。</a:t>
            </a:r>
            <a:endParaRPr lang="en-US" altLang="zh-CN" sz="2600" b="1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>
              <a:buClr>
                <a:srgbClr val="0000FF"/>
              </a:buClr>
              <a:tabLst>
                <a:tab pos="900113" algn="l"/>
              </a:tabLst>
            </a:pPr>
            <a:r>
              <a:rPr lang="zh-CN" altLang="en-US" sz="26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解</a:t>
            </a:r>
            <a:r>
              <a:rPr lang="zh-CN" altLang="en-US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：</a:t>
            </a: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(1)</a:t>
            </a:r>
          </a:p>
          <a:p>
            <a:pPr>
              <a:buClr>
                <a:srgbClr val="0000FF"/>
              </a:buClr>
              <a:tabLst>
                <a:tab pos="900113" algn="l"/>
              </a:tabLst>
            </a:pPr>
            <a:endParaRPr lang="en-US" altLang="zh-CN" sz="2600" b="1" dirty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>
              <a:buClr>
                <a:srgbClr val="0000FF"/>
              </a:buClr>
              <a:tabLst>
                <a:tab pos="900113" algn="l"/>
              </a:tabLst>
            </a:pPr>
            <a:endParaRPr lang="en-US" altLang="zh-CN" sz="2600" b="1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>
              <a:buClr>
                <a:srgbClr val="0000FF"/>
              </a:buClr>
              <a:tabLst>
                <a:tab pos="900113" algn="l"/>
              </a:tabLst>
            </a:pPr>
            <a:endParaRPr lang="en-US" altLang="zh-CN" sz="2600" b="1" dirty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</p:txBody>
      </p:sp>
      <p:graphicFrame>
        <p:nvGraphicFramePr>
          <p:cNvPr id="8" name="Object 3"/>
          <p:cNvGraphicFramePr>
            <a:graphicFrameLocks noChangeAspect="1"/>
          </p:cNvGraphicFramePr>
          <p:nvPr>
            <p:extLst/>
          </p:nvPr>
        </p:nvGraphicFramePr>
        <p:xfrm>
          <a:off x="1473658" y="1844824"/>
          <a:ext cx="3106737" cy="156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8390" name="Equation" r:id="rId3" imgW="1371600" imgH="685800" progId="Equation.DSMT4">
                  <p:embed/>
                </p:oleObj>
              </mc:Choice>
              <mc:Fallback>
                <p:oleObj name="Equation" r:id="rId3" imgW="1371600" imgH="685800" progId="Equation.DSMT4">
                  <p:embed/>
                  <p:pic>
                    <p:nvPicPr>
                      <p:cNvPr id="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3658" y="1844824"/>
                        <a:ext cx="3106737" cy="156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"/>
          <p:cNvGraphicFramePr>
            <a:graphicFrameLocks noChangeAspect="1"/>
          </p:cNvGraphicFramePr>
          <p:nvPr>
            <p:extLst/>
          </p:nvPr>
        </p:nvGraphicFramePr>
        <p:xfrm>
          <a:off x="5165055" y="2236936"/>
          <a:ext cx="1927225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8391" name="Equation" r:id="rId5" imgW="850680" imgH="342720" progId="Equation.DSMT4">
                  <p:embed/>
                </p:oleObj>
              </mc:Choice>
              <mc:Fallback>
                <p:oleObj name="Equation" r:id="rId5" imgW="850680" imgH="342720" progId="Equation.DSMT4">
                  <p:embed/>
                  <p:pic>
                    <p:nvPicPr>
                      <p:cNvPr id="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5055" y="2236936"/>
                        <a:ext cx="1927225" cy="784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107505" y="260648"/>
            <a:ext cx="90364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3-2. </a:t>
            </a:r>
            <a:r>
              <a:rPr lang="zh-CN" altLang="en-US" sz="28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求连续性随机变量的函数的密度函数</a:t>
            </a:r>
            <a:r>
              <a:rPr lang="en-US" altLang="zh-CN" sz="28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(</a:t>
            </a:r>
            <a:r>
              <a:rPr lang="zh-CN" altLang="en-US" sz="28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已知分布函数</a:t>
            </a:r>
            <a:r>
              <a:rPr lang="en-US" altLang="zh-CN" sz="28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)</a:t>
            </a:r>
            <a:endParaRPr lang="zh-CN" altLang="en-US" sz="2800" b="1" dirty="0">
              <a:solidFill>
                <a:srgbClr val="0000FF"/>
              </a:solidFill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958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51520" y="992341"/>
            <a:ext cx="864096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0000FF"/>
              </a:buClr>
              <a:tabLst>
                <a:tab pos="900113" algn="l"/>
              </a:tabLst>
            </a:pPr>
            <a:r>
              <a:rPr lang="zh-CN" altLang="en-US" sz="26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例</a:t>
            </a:r>
            <a:r>
              <a:rPr lang="en-US" altLang="zh-CN" sz="26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5</a:t>
            </a: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. </a:t>
            </a:r>
            <a:r>
              <a:rPr lang="zh-CN" altLang="en-US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设随机变量</a:t>
            </a: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X</a:t>
            </a:r>
            <a:r>
              <a:rPr lang="zh-CN" altLang="en-US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的分布函数为</a:t>
            </a: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F(x)=</a:t>
            </a:r>
            <a:r>
              <a:rPr lang="en-US" altLang="zh-CN" sz="2600" b="1" dirty="0" err="1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a+barctanx</a:t>
            </a: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, </a:t>
            </a:r>
            <a:r>
              <a:rPr lang="zh-CN" altLang="en-US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其中</a:t>
            </a:r>
            <a:r>
              <a:rPr lang="en-US" altLang="zh-CN" sz="2600" b="1" dirty="0" err="1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a,b</a:t>
            </a:r>
            <a:r>
              <a:rPr lang="zh-CN" altLang="en-US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为未知参数，求随机变量函数</a:t>
            </a: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Y=X</a:t>
            </a:r>
            <a:r>
              <a:rPr lang="en-US" altLang="zh-CN" sz="2600" b="1" baseline="300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2</a:t>
            </a: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+1</a:t>
            </a:r>
            <a:r>
              <a:rPr lang="zh-CN" altLang="en-US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的概率密度。</a:t>
            </a:r>
            <a:endParaRPr lang="en-US" altLang="zh-CN" sz="2600" b="1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>
              <a:buClr>
                <a:srgbClr val="0000FF"/>
              </a:buClr>
              <a:tabLst>
                <a:tab pos="900113" algn="l"/>
              </a:tabLst>
            </a:pPr>
            <a:r>
              <a:rPr lang="zh-CN" altLang="en-US" sz="26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解</a:t>
            </a:r>
            <a:r>
              <a:rPr lang="zh-CN" altLang="en-US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：</a:t>
            </a: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 (2)</a:t>
            </a:r>
            <a:r>
              <a:rPr lang="zh-CN" altLang="en-US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先求分布函数</a:t>
            </a: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F</a:t>
            </a:r>
            <a:r>
              <a:rPr lang="en-US" altLang="zh-CN" sz="2600" b="1" baseline="-250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Y</a:t>
            </a: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(y)</a:t>
            </a:r>
          </a:p>
          <a:p>
            <a:pPr>
              <a:buClr>
                <a:srgbClr val="0000FF"/>
              </a:buClr>
              <a:tabLst>
                <a:tab pos="900113" algn="l"/>
              </a:tabLst>
            </a:pP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Y</a:t>
            </a:r>
            <a:r>
              <a:rPr lang="zh-CN" altLang="en-US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的所有取值均不小于</a:t>
            </a: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1</a:t>
            </a:r>
          </a:p>
          <a:p>
            <a:pPr>
              <a:buClr>
                <a:srgbClr val="0000FF"/>
              </a:buClr>
              <a:tabLst>
                <a:tab pos="900113" algn="l"/>
              </a:tabLst>
            </a:pPr>
            <a:r>
              <a:rPr lang="zh-CN" altLang="en-US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当</a:t>
            </a: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y</a:t>
            </a:r>
            <a:r>
              <a:rPr lang="en-US" altLang="zh-CN" sz="2400" b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≤1</a:t>
            </a:r>
            <a:r>
              <a:rPr lang="zh-CN" altLang="en-US" sz="2400" b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时，</a:t>
            </a:r>
            <a:r>
              <a:rPr lang="en-US" altLang="zh-CN" sz="2400" b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F</a:t>
            </a:r>
            <a:r>
              <a:rPr lang="en-US" altLang="zh-CN" sz="2400" b="1" baseline="-250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Y</a:t>
            </a:r>
            <a:r>
              <a:rPr lang="en-US" altLang="zh-CN" sz="2400" b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(y)=0</a:t>
            </a:r>
            <a:r>
              <a:rPr lang="zh-CN" altLang="en-US" sz="2400" b="1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，</a:t>
            </a:r>
            <a:endParaRPr lang="en-US" altLang="zh-CN" sz="2600" b="1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>
              <a:buClr>
                <a:srgbClr val="0000FF"/>
              </a:buClr>
              <a:tabLst>
                <a:tab pos="900113" algn="l"/>
              </a:tabLst>
            </a:pPr>
            <a:r>
              <a:rPr lang="zh-CN" altLang="en-US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当</a:t>
            </a:r>
            <a:r>
              <a:rPr lang="en-US" altLang="zh-CN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y&gt;1</a:t>
            </a:r>
            <a:r>
              <a:rPr lang="zh-CN" altLang="en-US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时</a:t>
            </a:r>
            <a:endParaRPr lang="en-US" altLang="zh-CN" sz="2600" b="1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>
              <a:buClr>
                <a:srgbClr val="0000FF"/>
              </a:buClr>
              <a:tabLst>
                <a:tab pos="900113" algn="l"/>
              </a:tabLst>
            </a:pPr>
            <a:endParaRPr lang="en-US" altLang="zh-CN" sz="2600" b="1" dirty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>
              <a:buClr>
                <a:srgbClr val="0000FF"/>
              </a:buClr>
              <a:tabLst>
                <a:tab pos="900113" algn="l"/>
              </a:tabLst>
            </a:pPr>
            <a:endParaRPr lang="en-US" altLang="zh-CN" sz="2600" b="1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>
              <a:buClr>
                <a:srgbClr val="0000FF"/>
              </a:buClr>
              <a:tabLst>
                <a:tab pos="900113" algn="l"/>
              </a:tabLst>
            </a:pPr>
            <a:endParaRPr lang="en-US" altLang="zh-CN" sz="2600" b="1" dirty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>
              <a:buClr>
                <a:srgbClr val="0000FF"/>
              </a:buClr>
              <a:tabLst>
                <a:tab pos="900113" algn="l"/>
              </a:tabLst>
            </a:pPr>
            <a:endParaRPr lang="en-US" altLang="zh-CN" sz="2600" b="1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>
              <a:buClr>
                <a:srgbClr val="0000FF"/>
              </a:buClr>
              <a:tabLst>
                <a:tab pos="900113" algn="l"/>
              </a:tabLst>
            </a:pPr>
            <a:endParaRPr lang="en-US" altLang="zh-CN" sz="2600" b="1" dirty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>
              <a:buClr>
                <a:srgbClr val="0000FF"/>
              </a:buClr>
              <a:tabLst>
                <a:tab pos="900113" algn="l"/>
              </a:tabLst>
            </a:pPr>
            <a:r>
              <a:rPr lang="zh-CN" altLang="en-US" sz="2600" b="1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再求密度函数</a:t>
            </a:r>
            <a:endParaRPr lang="en-US" altLang="zh-CN" sz="2600" b="1" dirty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</p:txBody>
      </p:sp>
      <p:graphicFrame>
        <p:nvGraphicFramePr>
          <p:cNvPr id="10" name="Object 3"/>
          <p:cNvGraphicFramePr>
            <a:graphicFrameLocks noChangeAspect="1"/>
          </p:cNvGraphicFramePr>
          <p:nvPr>
            <p:extLst/>
          </p:nvPr>
        </p:nvGraphicFramePr>
        <p:xfrm>
          <a:off x="384051" y="3356992"/>
          <a:ext cx="794385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9727" name="Equation" r:id="rId3" imgW="3314520" imgH="215640" progId="Equation.DSMT4">
                  <p:embed/>
                </p:oleObj>
              </mc:Choice>
              <mc:Fallback>
                <p:oleObj name="Equation" r:id="rId3" imgW="3314520" imgH="215640" progId="Equation.DSMT4">
                  <p:embed/>
                  <p:pic>
                    <p:nvPicPr>
                      <p:cNvPr id="1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051" y="3356992"/>
                        <a:ext cx="7943850" cy="52387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"/>
          <p:cNvGraphicFramePr>
            <a:graphicFrameLocks noChangeAspect="1"/>
          </p:cNvGraphicFramePr>
          <p:nvPr>
            <p:extLst/>
          </p:nvPr>
        </p:nvGraphicFramePr>
        <p:xfrm>
          <a:off x="681377" y="4382229"/>
          <a:ext cx="487045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9728" name="Equation" r:id="rId5" imgW="2031840" imgH="342720" progId="Equation.DSMT4">
                  <p:embed/>
                </p:oleObj>
              </mc:Choice>
              <mc:Fallback>
                <p:oleObj name="Equation" r:id="rId5" imgW="2031840" imgH="342720" progId="Equation.DSMT4">
                  <p:embed/>
                  <p:pic>
                    <p:nvPicPr>
                      <p:cNvPr id="1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377" y="4382229"/>
                        <a:ext cx="4870450" cy="83185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3"/>
          <p:cNvGraphicFramePr>
            <a:graphicFrameLocks noChangeAspect="1"/>
          </p:cNvGraphicFramePr>
          <p:nvPr>
            <p:extLst/>
          </p:nvPr>
        </p:nvGraphicFramePr>
        <p:xfrm>
          <a:off x="611560" y="3893195"/>
          <a:ext cx="3684588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9729" name="Equation" r:id="rId7" imgW="1536480" imgH="215640" progId="Equation.DSMT4">
                  <p:embed/>
                </p:oleObj>
              </mc:Choice>
              <mc:Fallback>
                <p:oleObj name="Equation" r:id="rId7" imgW="1536480" imgH="215640" progId="Equation.DSMT4">
                  <p:embed/>
                  <p:pic>
                    <p:nvPicPr>
                      <p:cNvPr id="1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3893195"/>
                        <a:ext cx="3684588" cy="52387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3"/>
          <p:cNvGraphicFramePr>
            <a:graphicFrameLocks noChangeAspect="1"/>
          </p:cNvGraphicFramePr>
          <p:nvPr>
            <p:extLst/>
          </p:nvPr>
        </p:nvGraphicFramePr>
        <p:xfrm>
          <a:off x="4361614" y="3813683"/>
          <a:ext cx="4530866" cy="5923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9730" name="Equation" r:id="rId9" imgW="2654280" imgH="342720" progId="Equation.DSMT4">
                  <p:embed/>
                </p:oleObj>
              </mc:Choice>
              <mc:Fallback>
                <p:oleObj name="Equation" r:id="rId9" imgW="2654280" imgH="342720" progId="Equation.DSMT4">
                  <p:embed/>
                  <p:pic>
                    <p:nvPicPr>
                      <p:cNvPr id="1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1614" y="3813683"/>
                        <a:ext cx="4530866" cy="592359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"/>
          <p:cNvGraphicFramePr>
            <a:graphicFrameLocks noChangeAspect="1"/>
          </p:cNvGraphicFramePr>
          <p:nvPr>
            <p:extLst/>
          </p:nvPr>
        </p:nvGraphicFramePr>
        <p:xfrm>
          <a:off x="2873350" y="5292725"/>
          <a:ext cx="3498850" cy="147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9731" name="Equation" r:id="rId11" imgW="1460160" imgH="609480" progId="Equation.DSMT4">
                  <p:embed/>
                </p:oleObj>
              </mc:Choice>
              <mc:Fallback>
                <p:oleObj name="Equation" r:id="rId11" imgW="1460160" imgH="609480" progId="Equation.DSMT4">
                  <p:embed/>
                  <p:pic>
                    <p:nvPicPr>
                      <p:cNvPr id="1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3350" y="5292725"/>
                        <a:ext cx="3498850" cy="147955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107505" y="260648"/>
            <a:ext cx="90364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3-2. </a:t>
            </a:r>
            <a:r>
              <a:rPr lang="zh-CN" altLang="en-US" sz="28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求连续性随机变量的函数的密度函数</a:t>
            </a:r>
            <a:r>
              <a:rPr lang="en-US" altLang="zh-CN" sz="28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(</a:t>
            </a:r>
            <a:r>
              <a:rPr lang="zh-CN" altLang="en-US" sz="28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已知分布函数</a:t>
            </a:r>
            <a:r>
              <a:rPr lang="en-US" altLang="zh-CN" sz="28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)</a:t>
            </a:r>
            <a:endParaRPr lang="zh-CN" altLang="en-US" sz="2800" b="1" dirty="0">
              <a:solidFill>
                <a:srgbClr val="0000FF"/>
              </a:solidFill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3744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2483768" y="251937"/>
            <a:ext cx="430278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4.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二维离散型随机变量</a:t>
            </a:r>
            <a:endParaRPr lang="zh-CN" altLang="en-US" sz="3200" b="1" dirty="0">
              <a:solidFill>
                <a:srgbClr val="0000FF"/>
              </a:solidFill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</p:txBody>
      </p:sp>
      <p:graphicFrame>
        <p:nvGraphicFramePr>
          <p:cNvPr id="7" name="Group 2"/>
          <p:cNvGraphicFramePr>
            <a:graphicFrameLocks noGrp="1"/>
          </p:cNvGraphicFramePr>
          <p:nvPr>
            <p:extLst/>
          </p:nvPr>
        </p:nvGraphicFramePr>
        <p:xfrm>
          <a:off x="1369714" y="1124744"/>
          <a:ext cx="5384800" cy="2842578"/>
        </p:xfrm>
        <a:graphic>
          <a:graphicData uri="http://schemas.openxmlformats.org/drawingml/2006/table">
            <a:tbl>
              <a:tblPr/>
              <a:tblGrid>
                <a:gridCol w="142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58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58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58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99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Object 54"/>
          <p:cNvGraphicFramePr>
            <a:graphicFrameLocks noChangeAspect="1"/>
          </p:cNvGraphicFramePr>
          <p:nvPr>
            <p:extLst/>
          </p:nvPr>
        </p:nvGraphicFramePr>
        <p:xfrm>
          <a:off x="2338089" y="1207294"/>
          <a:ext cx="242888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063" name="Equation" r:id="rId3" imgW="126835" imgH="139518" progId="Equation.DSMT4">
                  <p:embed/>
                </p:oleObj>
              </mc:Choice>
              <mc:Fallback>
                <p:oleObj name="Equation" r:id="rId3" imgW="126835" imgH="139518" progId="Equation.DSMT4">
                  <p:embed/>
                  <p:pic>
                    <p:nvPicPr>
                      <p:cNvPr id="8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8089" y="1207294"/>
                        <a:ext cx="242888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5"/>
          <p:cNvGraphicFramePr>
            <a:graphicFrameLocks noChangeAspect="1"/>
          </p:cNvGraphicFramePr>
          <p:nvPr>
            <p:extLst/>
          </p:nvPr>
        </p:nvGraphicFramePr>
        <p:xfrm>
          <a:off x="1674514" y="1535907"/>
          <a:ext cx="29845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064" name="Equation" r:id="rId5" imgW="152334" imgH="139639" progId="Equation.DSMT4">
                  <p:embed/>
                </p:oleObj>
              </mc:Choice>
              <mc:Fallback>
                <p:oleObj name="Equation" r:id="rId5" imgW="152334" imgH="139639" progId="Equation.DSMT4">
                  <p:embed/>
                  <p:pic>
                    <p:nvPicPr>
                      <p:cNvPr id="1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4514" y="1535907"/>
                        <a:ext cx="29845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6"/>
          <p:cNvGraphicFramePr>
            <a:graphicFrameLocks noChangeAspect="1"/>
          </p:cNvGraphicFramePr>
          <p:nvPr>
            <p:extLst/>
          </p:nvPr>
        </p:nvGraphicFramePr>
        <p:xfrm>
          <a:off x="3077864" y="1342232"/>
          <a:ext cx="2794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065" name="Equation" r:id="rId7" imgW="139639" imgH="190417" progId="Equation.DSMT4">
                  <p:embed/>
                </p:oleObj>
              </mc:Choice>
              <mc:Fallback>
                <p:oleObj name="Equation" r:id="rId7" imgW="139639" imgH="190417" progId="Equation.DSMT4">
                  <p:embed/>
                  <p:pic>
                    <p:nvPicPr>
                      <p:cNvPr id="11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7864" y="1342232"/>
                        <a:ext cx="27940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57"/>
          <p:cNvGraphicFramePr>
            <a:graphicFrameLocks noChangeAspect="1"/>
          </p:cNvGraphicFramePr>
          <p:nvPr>
            <p:extLst/>
          </p:nvPr>
        </p:nvGraphicFramePr>
        <p:xfrm>
          <a:off x="4124027" y="1313657"/>
          <a:ext cx="296862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066" name="Equation" r:id="rId9" imgW="152334" imgH="190417" progId="Equation.DSMT4">
                  <p:embed/>
                </p:oleObj>
              </mc:Choice>
              <mc:Fallback>
                <p:oleObj name="Equation" r:id="rId9" imgW="152334" imgH="190417" progId="Equation.DSMT4">
                  <p:embed/>
                  <p:pic>
                    <p:nvPicPr>
                      <p:cNvPr id="14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4027" y="1313657"/>
                        <a:ext cx="296862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58"/>
          <p:cNvGraphicFramePr>
            <a:graphicFrameLocks noChangeAspect="1"/>
          </p:cNvGraphicFramePr>
          <p:nvPr>
            <p:extLst/>
          </p:nvPr>
        </p:nvGraphicFramePr>
        <p:xfrm>
          <a:off x="5152727" y="3588544"/>
          <a:ext cx="298450" cy="204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067" name="Equation" r:id="rId11" imgW="152268" imgH="101512" progId="Equation.DSMT4">
                  <p:embed/>
                </p:oleObj>
              </mc:Choice>
              <mc:Fallback>
                <p:oleObj name="Equation" r:id="rId11" imgW="152268" imgH="101512" progId="Equation.DSMT4">
                  <p:embed/>
                  <p:pic>
                    <p:nvPicPr>
                      <p:cNvPr id="15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2727" y="3588544"/>
                        <a:ext cx="298450" cy="204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59"/>
          <p:cNvGraphicFramePr>
            <a:graphicFrameLocks noChangeAspect="1"/>
          </p:cNvGraphicFramePr>
          <p:nvPr>
            <p:extLst/>
          </p:nvPr>
        </p:nvGraphicFramePr>
        <p:xfrm>
          <a:off x="6053138" y="1343025"/>
          <a:ext cx="346075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068" name="Equation" r:id="rId13" imgW="177480" imgH="190440" progId="Equation.DSMT4">
                  <p:embed/>
                </p:oleObj>
              </mc:Choice>
              <mc:Fallback>
                <p:oleObj name="Equation" r:id="rId13" imgW="177480" imgH="190440" progId="Equation.DSMT4">
                  <p:embed/>
                  <p:pic>
                    <p:nvPicPr>
                      <p:cNvPr id="16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3138" y="1343025"/>
                        <a:ext cx="346075" cy="365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60"/>
          <p:cNvGraphicFramePr>
            <a:graphicFrameLocks noChangeAspect="1"/>
          </p:cNvGraphicFramePr>
          <p:nvPr>
            <p:extLst/>
          </p:nvPr>
        </p:nvGraphicFramePr>
        <p:xfrm>
          <a:off x="5092402" y="1416844"/>
          <a:ext cx="298450" cy="204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069" name="Equation" r:id="rId15" imgW="152268" imgH="101512" progId="Equation.DSMT4">
                  <p:embed/>
                </p:oleObj>
              </mc:Choice>
              <mc:Fallback>
                <p:oleObj name="Equation" r:id="rId15" imgW="152268" imgH="101512" progId="Equation.DSMT4">
                  <p:embed/>
                  <p:pic>
                    <p:nvPicPr>
                      <p:cNvPr id="17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2402" y="1416844"/>
                        <a:ext cx="298450" cy="204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61"/>
          <p:cNvGraphicFramePr>
            <a:graphicFrameLocks noChangeAspect="1"/>
          </p:cNvGraphicFramePr>
          <p:nvPr>
            <p:extLst/>
          </p:nvPr>
        </p:nvGraphicFramePr>
        <p:xfrm>
          <a:off x="1863427" y="1916907"/>
          <a:ext cx="3175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070" name="Equation" r:id="rId17" imgW="139639" imgH="190417" progId="Equation.DSMT4">
                  <p:embed/>
                </p:oleObj>
              </mc:Choice>
              <mc:Fallback>
                <p:oleObj name="Equation" r:id="rId17" imgW="139639" imgH="190417" progId="Equation.DSMT4">
                  <p:embed/>
                  <p:pic>
                    <p:nvPicPr>
                      <p:cNvPr id="19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3427" y="1916907"/>
                        <a:ext cx="317500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62"/>
          <p:cNvGraphicFramePr>
            <a:graphicFrameLocks noChangeAspect="1"/>
          </p:cNvGraphicFramePr>
          <p:nvPr>
            <p:extLst/>
          </p:nvPr>
        </p:nvGraphicFramePr>
        <p:xfrm>
          <a:off x="3058814" y="1910557"/>
          <a:ext cx="428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071" name="Equation" r:id="rId19" imgW="190417" imgH="190417" progId="Equation.DSMT4">
                  <p:embed/>
                </p:oleObj>
              </mc:Choice>
              <mc:Fallback>
                <p:oleObj name="Equation" r:id="rId19" imgW="190417" imgH="190417" progId="Equation.DSMT4">
                  <p:embed/>
                  <p:pic>
                    <p:nvPicPr>
                      <p:cNvPr id="2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8814" y="1910557"/>
                        <a:ext cx="428625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63"/>
          <p:cNvGraphicFramePr>
            <a:graphicFrameLocks noChangeAspect="1"/>
          </p:cNvGraphicFramePr>
          <p:nvPr>
            <p:extLst/>
          </p:nvPr>
        </p:nvGraphicFramePr>
        <p:xfrm>
          <a:off x="4052589" y="1947069"/>
          <a:ext cx="428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072" name="Equation" r:id="rId21" imgW="190417" imgH="190417" progId="Equation.DSMT4">
                  <p:embed/>
                </p:oleObj>
              </mc:Choice>
              <mc:Fallback>
                <p:oleObj name="Equation" r:id="rId21" imgW="190417" imgH="190417" progId="Equation.DSMT4">
                  <p:embed/>
                  <p:pic>
                    <p:nvPicPr>
                      <p:cNvPr id="21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2589" y="1947069"/>
                        <a:ext cx="428625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65"/>
          <p:cNvGraphicFramePr>
            <a:graphicFrameLocks noChangeAspect="1"/>
          </p:cNvGraphicFramePr>
          <p:nvPr>
            <p:extLst/>
          </p:nvPr>
        </p:nvGraphicFramePr>
        <p:xfrm>
          <a:off x="1858664" y="2450307"/>
          <a:ext cx="354013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073" name="Equation" r:id="rId23" imgW="152334" imgH="190417" progId="Equation.DSMT4">
                  <p:embed/>
                </p:oleObj>
              </mc:Choice>
              <mc:Fallback>
                <p:oleObj name="Equation" r:id="rId23" imgW="152334" imgH="190417" progId="Equation.DSMT4">
                  <p:embed/>
                  <p:pic>
                    <p:nvPicPr>
                      <p:cNvPr id="23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8664" y="2450307"/>
                        <a:ext cx="354013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66"/>
          <p:cNvGraphicFramePr>
            <a:graphicFrameLocks noChangeAspect="1"/>
          </p:cNvGraphicFramePr>
          <p:nvPr>
            <p:extLst/>
          </p:nvPr>
        </p:nvGraphicFramePr>
        <p:xfrm>
          <a:off x="3036589" y="2451894"/>
          <a:ext cx="465138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074" name="Equation" r:id="rId25" imgW="203112" imgH="190417" progId="Equation.DSMT4">
                  <p:embed/>
                </p:oleObj>
              </mc:Choice>
              <mc:Fallback>
                <p:oleObj name="Equation" r:id="rId25" imgW="203112" imgH="190417" progId="Equation.DSMT4">
                  <p:embed/>
                  <p:pic>
                    <p:nvPicPr>
                      <p:cNvPr id="24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6589" y="2451894"/>
                        <a:ext cx="465138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67"/>
          <p:cNvGraphicFramePr>
            <a:graphicFrameLocks noChangeAspect="1"/>
          </p:cNvGraphicFramePr>
          <p:nvPr>
            <p:extLst/>
          </p:nvPr>
        </p:nvGraphicFramePr>
        <p:xfrm>
          <a:off x="4079577" y="2434432"/>
          <a:ext cx="465137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075" name="Equation" r:id="rId27" imgW="203112" imgH="190417" progId="Equation.DSMT4">
                  <p:embed/>
                </p:oleObj>
              </mc:Choice>
              <mc:Fallback>
                <p:oleObj name="Equation" r:id="rId27" imgW="203112" imgH="190417" progId="Equation.DSMT4">
                  <p:embed/>
                  <p:pic>
                    <p:nvPicPr>
                      <p:cNvPr id="25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577" y="2434432"/>
                        <a:ext cx="465137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70"/>
          <p:cNvGraphicFramePr>
            <a:graphicFrameLocks noChangeAspect="1"/>
          </p:cNvGraphicFramePr>
          <p:nvPr>
            <p:extLst/>
          </p:nvPr>
        </p:nvGraphicFramePr>
        <p:xfrm>
          <a:off x="5140027" y="2588419"/>
          <a:ext cx="298450" cy="204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076" name="Equation" r:id="rId29" imgW="152268" imgH="101512" progId="Equation.DSMT4">
                  <p:embed/>
                </p:oleObj>
              </mc:Choice>
              <mc:Fallback>
                <p:oleObj name="Equation" r:id="rId29" imgW="152268" imgH="101512" progId="Equation.DSMT4">
                  <p:embed/>
                  <p:pic>
                    <p:nvPicPr>
                      <p:cNvPr id="28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0027" y="2588419"/>
                        <a:ext cx="298450" cy="204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75"/>
          <p:cNvGraphicFramePr>
            <a:graphicFrameLocks noChangeAspect="1"/>
          </p:cNvGraphicFramePr>
          <p:nvPr>
            <p:extLst/>
          </p:nvPr>
        </p:nvGraphicFramePr>
        <p:xfrm>
          <a:off x="6205239" y="3055144"/>
          <a:ext cx="149225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077" name="Equation" r:id="rId30" imgW="76068" imgH="152136" progId="Equation.DSMT4">
                  <p:embed/>
                </p:oleObj>
              </mc:Choice>
              <mc:Fallback>
                <p:oleObj name="Equation" r:id="rId30" imgW="76068" imgH="152136" progId="Equation.DSMT4">
                  <p:embed/>
                  <p:pic>
                    <p:nvPicPr>
                      <p:cNvPr id="33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5239" y="3055144"/>
                        <a:ext cx="149225" cy="29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77"/>
          <p:cNvGraphicFramePr>
            <a:graphicFrameLocks noChangeAspect="1"/>
          </p:cNvGraphicFramePr>
          <p:nvPr>
            <p:extLst/>
          </p:nvPr>
        </p:nvGraphicFramePr>
        <p:xfrm>
          <a:off x="1890713" y="3492500"/>
          <a:ext cx="34607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078" name="Equation" r:id="rId32" imgW="152280" imgH="190440" progId="Equation.DSMT4">
                  <p:embed/>
                </p:oleObj>
              </mc:Choice>
              <mc:Fallback>
                <p:oleObj name="Equation" r:id="rId32" imgW="152280" imgH="190440" progId="Equation.DSMT4">
                  <p:embed/>
                  <p:pic>
                    <p:nvPicPr>
                      <p:cNvPr id="35" name="Object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0713" y="3492500"/>
                        <a:ext cx="346075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81"/>
          <p:cNvGraphicFramePr>
            <a:graphicFrameLocks noChangeAspect="1"/>
          </p:cNvGraphicFramePr>
          <p:nvPr>
            <p:extLst/>
          </p:nvPr>
        </p:nvGraphicFramePr>
        <p:xfrm>
          <a:off x="5084464" y="2061369"/>
          <a:ext cx="298450" cy="204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079" name="Equation" r:id="rId34" imgW="152268" imgH="101512" progId="Equation.DSMT4">
                  <p:embed/>
                </p:oleObj>
              </mc:Choice>
              <mc:Fallback>
                <p:oleObj name="Equation" r:id="rId34" imgW="152268" imgH="101512" progId="Equation.DSMT4">
                  <p:embed/>
                  <p:pic>
                    <p:nvPicPr>
                      <p:cNvPr id="39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4464" y="2061369"/>
                        <a:ext cx="298450" cy="204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82"/>
          <p:cNvGraphicFramePr>
            <a:graphicFrameLocks noChangeAspect="1"/>
          </p:cNvGraphicFramePr>
          <p:nvPr>
            <p:extLst/>
          </p:nvPr>
        </p:nvGraphicFramePr>
        <p:xfrm>
          <a:off x="4228802" y="3004344"/>
          <a:ext cx="149225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080" name="Equation" r:id="rId35" imgW="76068" imgH="152136" progId="Equation.DSMT4">
                  <p:embed/>
                </p:oleObj>
              </mc:Choice>
              <mc:Fallback>
                <p:oleObj name="Equation" r:id="rId35" imgW="76068" imgH="152136" progId="Equation.DSMT4">
                  <p:embed/>
                  <p:pic>
                    <p:nvPicPr>
                      <p:cNvPr id="40" name="Object 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8802" y="3004344"/>
                        <a:ext cx="149225" cy="29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83"/>
          <p:cNvGraphicFramePr>
            <a:graphicFrameLocks noChangeAspect="1"/>
          </p:cNvGraphicFramePr>
          <p:nvPr>
            <p:extLst/>
          </p:nvPr>
        </p:nvGraphicFramePr>
        <p:xfrm>
          <a:off x="3217564" y="3028157"/>
          <a:ext cx="149225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081" name="Equation" r:id="rId36" imgW="76068" imgH="152136" progId="Equation.DSMT4">
                  <p:embed/>
                </p:oleObj>
              </mc:Choice>
              <mc:Fallback>
                <p:oleObj name="Equation" r:id="rId36" imgW="76068" imgH="152136" progId="Equation.DSMT4">
                  <p:embed/>
                  <p:pic>
                    <p:nvPicPr>
                      <p:cNvPr id="41" name="Object 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7564" y="3028157"/>
                        <a:ext cx="149225" cy="29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84"/>
          <p:cNvGraphicFramePr>
            <a:graphicFrameLocks noChangeAspect="1"/>
          </p:cNvGraphicFramePr>
          <p:nvPr>
            <p:extLst/>
          </p:nvPr>
        </p:nvGraphicFramePr>
        <p:xfrm>
          <a:off x="1980902" y="3077369"/>
          <a:ext cx="149225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082" name="Equation" r:id="rId37" imgW="76068" imgH="152136" progId="Equation.DSMT4">
                  <p:embed/>
                </p:oleObj>
              </mc:Choice>
              <mc:Fallback>
                <p:oleObj name="Equation" r:id="rId37" imgW="76068" imgH="152136" progId="Equation.DSMT4">
                  <p:embed/>
                  <p:pic>
                    <p:nvPicPr>
                      <p:cNvPr id="42" name="Object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0902" y="3077369"/>
                        <a:ext cx="149225" cy="29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86"/>
          <p:cNvGraphicFramePr>
            <a:graphicFrameLocks noChangeAspect="1"/>
          </p:cNvGraphicFramePr>
          <p:nvPr>
            <p:extLst/>
          </p:nvPr>
        </p:nvGraphicFramePr>
        <p:xfrm>
          <a:off x="5263852" y="3002757"/>
          <a:ext cx="149225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083" name="Equation" r:id="rId38" imgW="76068" imgH="152136" progId="Equation.DSMT4">
                  <p:embed/>
                </p:oleObj>
              </mc:Choice>
              <mc:Fallback>
                <p:oleObj name="Equation" r:id="rId38" imgW="76068" imgH="152136" progId="Equation.DSMT4">
                  <p:embed/>
                  <p:pic>
                    <p:nvPicPr>
                      <p:cNvPr id="44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3852" y="3002757"/>
                        <a:ext cx="149225" cy="29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Line 87"/>
          <p:cNvSpPr>
            <a:spLocks noChangeShapeType="1"/>
          </p:cNvSpPr>
          <p:nvPr/>
        </p:nvSpPr>
        <p:spPr bwMode="auto">
          <a:xfrm>
            <a:off x="1403648" y="1183592"/>
            <a:ext cx="1368152" cy="72008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0" name="Object 64"/>
          <p:cNvGraphicFramePr>
            <a:graphicFrameLocks noChangeAspect="1"/>
          </p:cNvGraphicFramePr>
          <p:nvPr>
            <p:extLst/>
          </p:nvPr>
        </p:nvGraphicFramePr>
        <p:xfrm>
          <a:off x="6056313" y="1943100"/>
          <a:ext cx="485775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084" name="Equation" r:id="rId39" imgW="215640" imgH="190440" progId="Equation.DSMT4">
                  <p:embed/>
                </p:oleObj>
              </mc:Choice>
              <mc:Fallback>
                <p:oleObj name="Equation" r:id="rId39" imgW="215640" imgH="190440" progId="Equation.DSMT4">
                  <p:embed/>
                  <p:pic>
                    <p:nvPicPr>
                      <p:cNvPr id="5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6313" y="1943100"/>
                        <a:ext cx="485775" cy="436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69"/>
          <p:cNvGraphicFramePr>
            <a:graphicFrameLocks noChangeAspect="1"/>
          </p:cNvGraphicFramePr>
          <p:nvPr>
            <p:extLst/>
          </p:nvPr>
        </p:nvGraphicFramePr>
        <p:xfrm>
          <a:off x="6027738" y="2473325"/>
          <a:ext cx="512762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085" name="Equation" r:id="rId41" imgW="228600" imgH="190440" progId="Equation.DSMT4">
                  <p:embed/>
                </p:oleObj>
              </mc:Choice>
              <mc:Fallback>
                <p:oleObj name="Equation" r:id="rId41" imgW="228600" imgH="190440" progId="Equation.DSMT4">
                  <p:embed/>
                  <p:pic>
                    <p:nvPicPr>
                      <p:cNvPr id="51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7738" y="2473325"/>
                        <a:ext cx="512762" cy="436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78"/>
          <p:cNvGraphicFramePr>
            <a:graphicFrameLocks noChangeAspect="1"/>
          </p:cNvGraphicFramePr>
          <p:nvPr>
            <p:extLst/>
          </p:nvPr>
        </p:nvGraphicFramePr>
        <p:xfrm>
          <a:off x="3108325" y="3535363"/>
          <a:ext cx="43815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086" name="Equation" r:id="rId43" imgW="190440" imgH="190440" progId="Equation.DSMT4">
                  <p:embed/>
                </p:oleObj>
              </mc:Choice>
              <mc:Fallback>
                <p:oleObj name="Equation" r:id="rId43" imgW="190440" imgH="190440" progId="Equation.DSMT4">
                  <p:embed/>
                  <p:pic>
                    <p:nvPicPr>
                      <p:cNvPr id="52" name="Object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8325" y="3535363"/>
                        <a:ext cx="438150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79"/>
          <p:cNvGraphicFramePr>
            <a:graphicFrameLocks noChangeAspect="1"/>
          </p:cNvGraphicFramePr>
          <p:nvPr>
            <p:extLst/>
          </p:nvPr>
        </p:nvGraphicFramePr>
        <p:xfrm>
          <a:off x="4127500" y="3494088"/>
          <a:ext cx="48577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087" name="Equation" r:id="rId45" imgW="215640" imgH="190440" progId="Equation.DSMT4">
                  <p:embed/>
                </p:oleObj>
              </mc:Choice>
              <mc:Fallback>
                <p:oleObj name="Equation" r:id="rId45" imgW="215640" imgH="190440" progId="Equation.DSMT4">
                  <p:embed/>
                  <p:pic>
                    <p:nvPicPr>
                      <p:cNvPr id="53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0" y="3494088"/>
                        <a:ext cx="485775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80"/>
          <p:cNvGraphicFramePr>
            <a:graphicFrameLocks noChangeAspect="1"/>
          </p:cNvGraphicFramePr>
          <p:nvPr>
            <p:extLst/>
          </p:nvPr>
        </p:nvGraphicFramePr>
        <p:xfrm>
          <a:off x="6008688" y="3482975"/>
          <a:ext cx="496887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088" name="Equation" r:id="rId47" imgW="215640" imgH="190440" progId="Equation.DSMT4">
                  <p:embed/>
                </p:oleObj>
              </mc:Choice>
              <mc:Fallback>
                <p:oleObj name="Equation" r:id="rId47" imgW="215640" imgH="190440" progId="Equation.DSMT4">
                  <p:embed/>
                  <p:pic>
                    <p:nvPicPr>
                      <p:cNvPr id="54" name="Object 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8688" y="3482975"/>
                        <a:ext cx="496887" cy="436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"/>
          <p:cNvGraphicFramePr>
            <a:graphicFrameLocks noChangeAspect="1"/>
          </p:cNvGraphicFramePr>
          <p:nvPr>
            <p:extLst/>
          </p:nvPr>
        </p:nvGraphicFramePr>
        <p:xfrm>
          <a:off x="3709690" y="4820444"/>
          <a:ext cx="1554162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8089" name="Equation" r:id="rId49" imgW="685800" imgH="380880" progId="Equation.DSMT4">
                  <p:embed/>
                </p:oleObj>
              </mc:Choice>
              <mc:Fallback>
                <p:oleObj name="Equation" r:id="rId49" imgW="685800" imgH="380880" progId="Equation.DSMT4">
                  <p:embed/>
                  <p:pic>
                    <p:nvPicPr>
                      <p:cNvPr id="3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9690" y="4820444"/>
                        <a:ext cx="1554162" cy="873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矩形 31"/>
          <p:cNvSpPr/>
          <p:nvPr/>
        </p:nvSpPr>
        <p:spPr>
          <a:xfrm>
            <a:off x="1614116" y="4941168"/>
            <a:ext cx="1733748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0000FF"/>
              </a:buClr>
              <a:tabLst>
                <a:tab pos="900113" algn="l"/>
              </a:tabLst>
            </a:pPr>
            <a:r>
              <a:rPr lang="zh-CN" altLang="en-US" sz="26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隐藏条件：</a:t>
            </a:r>
            <a:endParaRPr lang="en-US" altLang="zh-CN" sz="2600" dirty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8176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1255043" y="4653136"/>
            <a:ext cx="232945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1.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求边缘分布律</a:t>
            </a:r>
            <a:endParaRPr lang="en-US" altLang="zh-CN" sz="2400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graphicFrame>
        <p:nvGraphicFramePr>
          <p:cNvPr id="7" name="Group 2"/>
          <p:cNvGraphicFramePr>
            <a:graphicFrameLocks noGrp="1"/>
          </p:cNvGraphicFramePr>
          <p:nvPr>
            <p:extLst/>
          </p:nvPr>
        </p:nvGraphicFramePr>
        <p:xfrm>
          <a:off x="1369714" y="1124744"/>
          <a:ext cx="6370638" cy="3371216"/>
        </p:xfrm>
        <a:graphic>
          <a:graphicData uri="http://schemas.openxmlformats.org/drawingml/2006/table">
            <a:tbl>
              <a:tblPr/>
              <a:tblGrid>
                <a:gridCol w="142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58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58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58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58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699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Object 54"/>
          <p:cNvGraphicFramePr>
            <a:graphicFrameLocks noChangeAspect="1"/>
          </p:cNvGraphicFramePr>
          <p:nvPr/>
        </p:nvGraphicFramePr>
        <p:xfrm>
          <a:off x="2338089" y="1207294"/>
          <a:ext cx="242888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0014" name="Equation" r:id="rId3" imgW="126835" imgH="139518" progId="Equation.DSMT4">
                  <p:embed/>
                </p:oleObj>
              </mc:Choice>
              <mc:Fallback>
                <p:oleObj name="Equation" r:id="rId3" imgW="126835" imgH="139518" progId="Equation.DSMT4">
                  <p:embed/>
                  <p:pic>
                    <p:nvPicPr>
                      <p:cNvPr id="8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8089" y="1207294"/>
                        <a:ext cx="242888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5"/>
          <p:cNvGraphicFramePr>
            <a:graphicFrameLocks noChangeAspect="1"/>
          </p:cNvGraphicFramePr>
          <p:nvPr/>
        </p:nvGraphicFramePr>
        <p:xfrm>
          <a:off x="1674514" y="1535907"/>
          <a:ext cx="29845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0015" name="Equation" r:id="rId5" imgW="152334" imgH="139639" progId="Equation.DSMT4">
                  <p:embed/>
                </p:oleObj>
              </mc:Choice>
              <mc:Fallback>
                <p:oleObj name="Equation" r:id="rId5" imgW="152334" imgH="139639" progId="Equation.DSMT4">
                  <p:embed/>
                  <p:pic>
                    <p:nvPicPr>
                      <p:cNvPr id="1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4514" y="1535907"/>
                        <a:ext cx="29845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6"/>
          <p:cNvGraphicFramePr>
            <a:graphicFrameLocks noChangeAspect="1"/>
          </p:cNvGraphicFramePr>
          <p:nvPr/>
        </p:nvGraphicFramePr>
        <p:xfrm>
          <a:off x="3077864" y="1342232"/>
          <a:ext cx="2794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0016" name="Equation" r:id="rId7" imgW="139639" imgH="190417" progId="Equation.DSMT4">
                  <p:embed/>
                </p:oleObj>
              </mc:Choice>
              <mc:Fallback>
                <p:oleObj name="Equation" r:id="rId7" imgW="139639" imgH="190417" progId="Equation.DSMT4">
                  <p:embed/>
                  <p:pic>
                    <p:nvPicPr>
                      <p:cNvPr id="11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7864" y="1342232"/>
                        <a:ext cx="27940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57"/>
          <p:cNvGraphicFramePr>
            <a:graphicFrameLocks noChangeAspect="1"/>
          </p:cNvGraphicFramePr>
          <p:nvPr/>
        </p:nvGraphicFramePr>
        <p:xfrm>
          <a:off x="4124027" y="1313657"/>
          <a:ext cx="296862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0017" name="Equation" r:id="rId9" imgW="152334" imgH="190417" progId="Equation.DSMT4">
                  <p:embed/>
                </p:oleObj>
              </mc:Choice>
              <mc:Fallback>
                <p:oleObj name="Equation" r:id="rId9" imgW="152334" imgH="190417" progId="Equation.DSMT4">
                  <p:embed/>
                  <p:pic>
                    <p:nvPicPr>
                      <p:cNvPr id="14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4027" y="1313657"/>
                        <a:ext cx="296862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58"/>
          <p:cNvGraphicFramePr>
            <a:graphicFrameLocks noChangeAspect="1"/>
          </p:cNvGraphicFramePr>
          <p:nvPr/>
        </p:nvGraphicFramePr>
        <p:xfrm>
          <a:off x="5152727" y="3588544"/>
          <a:ext cx="298450" cy="204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0018" name="Equation" r:id="rId11" imgW="152268" imgH="101512" progId="Equation.DSMT4">
                  <p:embed/>
                </p:oleObj>
              </mc:Choice>
              <mc:Fallback>
                <p:oleObj name="Equation" r:id="rId11" imgW="152268" imgH="101512" progId="Equation.DSMT4">
                  <p:embed/>
                  <p:pic>
                    <p:nvPicPr>
                      <p:cNvPr id="15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2727" y="3588544"/>
                        <a:ext cx="298450" cy="204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59"/>
          <p:cNvGraphicFramePr>
            <a:graphicFrameLocks noChangeAspect="1"/>
          </p:cNvGraphicFramePr>
          <p:nvPr/>
        </p:nvGraphicFramePr>
        <p:xfrm>
          <a:off x="6053138" y="1343025"/>
          <a:ext cx="346075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0019" name="Equation" r:id="rId13" imgW="177480" imgH="190440" progId="Equation.DSMT4">
                  <p:embed/>
                </p:oleObj>
              </mc:Choice>
              <mc:Fallback>
                <p:oleObj name="Equation" r:id="rId13" imgW="177480" imgH="190440" progId="Equation.DSMT4">
                  <p:embed/>
                  <p:pic>
                    <p:nvPicPr>
                      <p:cNvPr id="16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3138" y="1343025"/>
                        <a:ext cx="346075" cy="365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60"/>
          <p:cNvGraphicFramePr>
            <a:graphicFrameLocks noChangeAspect="1"/>
          </p:cNvGraphicFramePr>
          <p:nvPr/>
        </p:nvGraphicFramePr>
        <p:xfrm>
          <a:off x="5092402" y="1416844"/>
          <a:ext cx="298450" cy="204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0020" name="Equation" r:id="rId15" imgW="152268" imgH="101512" progId="Equation.DSMT4">
                  <p:embed/>
                </p:oleObj>
              </mc:Choice>
              <mc:Fallback>
                <p:oleObj name="Equation" r:id="rId15" imgW="152268" imgH="101512" progId="Equation.DSMT4">
                  <p:embed/>
                  <p:pic>
                    <p:nvPicPr>
                      <p:cNvPr id="17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2402" y="1416844"/>
                        <a:ext cx="298450" cy="204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61"/>
          <p:cNvGraphicFramePr>
            <a:graphicFrameLocks noChangeAspect="1"/>
          </p:cNvGraphicFramePr>
          <p:nvPr/>
        </p:nvGraphicFramePr>
        <p:xfrm>
          <a:off x="1863427" y="1916907"/>
          <a:ext cx="3175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0021" name="Equation" r:id="rId17" imgW="139639" imgH="190417" progId="Equation.DSMT4">
                  <p:embed/>
                </p:oleObj>
              </mc:Choice>
              <mc:Fallback>
                <p:oleObj name="Equation" r:id="rId17" imgW="139639" imgH="190417" progId="Equation.DSMT4">
                  <p:embed/>
                  <p:pic>
                    <p:nvPicPr>
                      <p:cNvPr id="19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3427" y="1916907"/>
                        <a:ext cx="317500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62"/>
          <p:cNvGraphicFramePr>
            <a:graphicFrameLocks noChangeAspect="1"/>
          </p:cNvGraphicFramePr>
          <p:nvPr/>
        </p:nvGraphicFramePr>
        <p:xfrm>
          <a:off x="3058814" y="1910557"/>
          <a:ext cx="428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0022" name="Equation" r:id="rId19" imgW="190417" imgH="190417" progId="Equation.DSMT4">
                  <p:embed/>
                </p:oleObj>
              </mc:Choice>
              <mc:Fallback>
                <p:oleObj name="Equation" r:id="rId19" imgW="190417" imgH="190417" progId="Equation.DSMT4">
                  <p:embed/>
                  <p:pic>
                    <p:nvPicPr>
                      <p:cNvPr id="2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8814" y="1910557"/>
                        <a:ext cx="428625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63"/>
          <p:cNvGraphicFramePr>
            <a:graphicFrameLocks noChangeAspect="1"/>
          </p:cNvGraphicFramePr>
          <p:nvPr/>
        </p:nvGraphicFramePr>
        <p:xfrm>
          <a:off x="4052589" y="1947069"/>
          <a:ext cx="428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0023" name="Equation" r:id="rId21" imgW="190417" imgH="190417" progId="Equation.DSMT4">
                  <p:embed/>
                </p:oleObj>
              </mc:Choice>
              <mc:Fallback>
                <p:oleObj name="Equation" r:id="rId21" imgW="190417" imgH="190417" progId="Equation.DSMT4">
                  <p:embed/>
                  <p:pic>
                    <p:nvPicPr>
                      <p:cNvPr id="21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2589" y="1947069"/>
                        <a:ext cx="428625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64"/>
          <p:cNvGraphicFramePr>
            <a:graphicFrameLocks noChangeAspect="1"/>
          </p:cNvGraphicFramePr>
          <p:nvPr>
            <p:extLst/>
          </p:nvPr>
        </p:nvGraphicFramePr>
        <p:xfrm>
          <a:off x="6056313" y="1943100"/>
          <a:ext cx="485775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0024" name="Equation" r:id="rId23" imgW="215640" imgH="190440" progId="Equation.DSMT4">
                  <p:embed/>
                </p:oleObj>
              </mc:Choice>
              <mc:Fallback>
                <p:oleObj name="Equation" r:id="rId23" imgW="215640" imgH="190440" progId="Equation.DSMT4">
                  <p:embed/>
                  <p:pic>
                    <p:nvPicPr>
                      <p:cNvPr id="22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6313" y="1943100"/>
                        <a:ext cx="485775" cy="436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65"/>
          <p:cNvGraphicFramePr>
            <a:graphicFrameLocks noChangeAspect="1"/>
          </p:cNvGraphicFramePr>
          <p:nvPr/>
        </p:nvGraphicFramePr>
        <p:xfrm>
          <a:off x="1858664" y="2450307"/>
          <a:ext cx="354013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0025" name="Equation" r:id="rId25" imgW="152334" imgH="190417" progId="Equation.DSMT4">
                  <p:embed/>
                </p:oleObj>
              </mc:Choice>
              <mc:Fallback>
                <p:oleObj name="Equation" r:id="rId25" imgW="152334" imgH="190417" progId="Equation.DSMT4">
                  <p:embed/>
                  <p:pic>
                    <p:nvPicPr>
                      <p:cNvPr id="23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8664" y="2450307"/>
                        <a:ext cx="354013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66"/>
          <p:cNvGraphicFramePr>
            <a:graphicFrameLocks noChangeAspect="1"/>
          </p:cNvGraphicFramePr>
          <p:nvPr/>
        </p:nvGraphicFramePr>
        <p:xfrm>
          <a:off x="3036589" y="2451894"/>
          <a:ext cx="465138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0026" name="Equation" r:id="rId27" imgW="203112" imgH="190417" progId="Equation.DSMT4">
                  <p:embed/>
                </p:oleObj>
              </mc:Choice>
              <mc:Fallback>
                <p:oleObj name="Equation" r:id="rId27" imgW="203112" imgH="190417" progId="Equation.DSMT4">
                  <p:embed/>
                  <p:pic>
                    <p:nvPicPr>
                      <p:cNvPr id="24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6589" y="2451894"/>
                        <a:ext cx="465138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67"/>
          <p:cNvGraphicFramePr>
            <a:graphicFrameLocks noChangeAspect="1"/>
          </p:cNvGraphicFramePr>
          <p:nvPr/>
        </p:nvGraphicFramePr>
        <p:xfrm>
          <a:off x="4079577" y="2434432"/>
          <a:ext cx="465137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0027" name="Equation" r:id="rId29" imgW="203112" imgH="190417" progId="Equation.DSMT4">
                  <p:embed/>
                </p:oleObj>
              </mc:Choice>
              <mc:Fallback>
                <p:oleObj name="Equation" r:id="rId29" imgW="203112" imgH="190417" progId="Equation.DSMT4">
                  <p:embed/>
                  <p:pic>
                    <p:nvPicPr>
                      <p:cNvPr id="25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577" y="2434432"/>
                        <a:ext cx="465137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68"/>
          <p:cNvGraphicFramePr>
            <a:graphicFrameLocks noChangeAspect="1"/>
          </p:cNvGraphicFramePr>
          <p:nvPr>
            <p:extLst/>
          </p:nvPr>
        </p:nvGraphicFramePr>
        <p:xfrm>
          <a:off x="7073900" y="1309688"/>
          <a:ext cx="373063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0028" name="Equation" r:id="rId31" imgW="190440" imgH="190440" progId="Equation.DSMT4">
                  <p:embed/>
                </p:oleObj>
              </mc:Choice>
              <mc:Fallback>
                <p:oleObj name="Equation" r:id="rId31" imgW="190440" imgH="190440" progId="Equation.DSMT4">
                  <p:embed/>
                  <p:pic>
                    <p:nvPicPr>
                      <p:cNvPr id="26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3900" y="1309688"/>
                        <a:ext cx="373063" cy="384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69"/>
          <p:cNvGraphicFramePr>
            <a:graphicFrameLocks noChangeAspect="1"/>
          </p:cNvGraphicFramePr>
          <p:nvPr>
            <p:extLst/>
          </p:nvPr>
        </p:nvGraphicFramePr>
        <p:xfrm>
          <a:off x="6027738" y="2473325"/>
          <a:ext cx="512762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0029" name="Equation" r:id="rId33" imgW="228600" imgH="190440" progId="Equation.DSMT4">
                  <p:embed/>
                </p:oleObj>
              </mc:Choice>
              <mc:Fallback>
                <p:oleObj name="Equation" r:id="rId33" imgW="228600" imgH="190440" progId="Equation.DSMT4">
                  <p:embed/>
                  <p:pic>
                    <p:nvPicPr>
                      <p:cNvPr id="27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7738" y="2473325"/>
                        <a:ext cx="512762" cy="436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70"/>
          <p:cNvGraphicFramePr>
            <a:graphicFrameLocks noChangeAspect="1"/>
          </p:cNvGraphicFramePr>
          <p:nvPr/>
        </p:nvGraphicFramePr>
        <p:xfrm>
          <a:off x="5140027" y="2588419"/>
          <a:ext cx="298450" cy="204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0030" name="Equation" r:id="rId35" imgW="152268" imgH="101512" progId="Equation.DSMT4">
                  <p:embed/>
                </p:oleObj>
              </mc:Choice>
              <mc:Fallback>
                <p:oleObj name="Equation" r:id="rId35" imgW="152268" imgH="101512" progId="Equation.DSMT4">
                  <p:embed/>
                  <p:pic>
                    <p:nvPicPr>
                      <p:cNvPr id="28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0027" y="2588419"/>
                        <a:ext cx="298450" cy="204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73"/>
          <p:cNvGraphicFramePr>
            <a:graphicFrameLocks noChangeAspect="1"/>
          </p:cNvGraphicFramePr>
          <p:nvPr/>
        </p:nvGraphicFramePr>
        <p:xfrm>
          <a:off x="7314902" y="3010694"/>
          <a:ext cx="149225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0031" name="Equation" r:id="rId36" imgW="76068" imgH="152136" progId="Equation.DSMT4">
                  <p:embed/>
                </p:oleObj>
              </mc:Choice>
              <mc:Fallback>
                <p:oleObj name="Equation" r:id="rId36" imgW="76068" imgH="152136" progId="Equation.DSMT4">
                  <p:embed/>
                  <p:pic>
                    <p:nvPicPr>
                      <p:cNvPr id="31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4902" y="3010694"/>
                        <a:ext cx="149225" cy="29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75"/>
          <p:cNvGraphicFramePr>
            <a:graphicFrameLocks noChangeAspect="1"/>
          </p:cNvGraphicFramePr>
          <p:nvPr/>
        </p:nvGraphicFramePr>
        <p:xfrm>
          <a:off x="6205239" y="3055144"/>
          <a:ext cx="149225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0032" name="Equation" r:id="rId38" imgW="76068" imgH="152136" progId="Equation.DSMT4">
                  <p:embed/>
                </p:oleObj>
              </mc:Choice>
              <mc:Fallback>
                <p:oleObj name="Equation" r:id="rId38" imgW="76068" imgH="152136" progId="Equation.DSMT4">
                  <p:embed/>
                  <p:pic>
                    <p:nvPicPr>
                      <p:cNvPr id="33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5239" y="3055144"/>
                        <a:ext cx="149225" cy="29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77"/>
          <p:cNvGraphicFramePr>
            <a:graphicFrameLocks noChangeAspect="1"/>
          </p:cNvGraphicFramePr>
          <p:nvPr/>
        </p:nvGraphicFramePr>
        <p:xfrm>
          <a:off x="1890713" y="3492500"/>
          <a:ext cx="34607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0033" name="Equation" r:id="rId39" imgW="152280" imgH="190440" progId="Equation.DSMT4">
                  <p:embed/>
                </p:oleObj>
              </mc:Choice>
              <mc:Fallback>
                <p:oleObj name="Equation" r:id="rId39" imgW="152280" imgH="190440" progId="Equation.DSMT4">
                  <p:embed/>
                  <p:pic>
                    <p:nvPicPr>
                      <p:cNvPr id="35" name="Object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0713" y="3492500"/>
                        <a:ext cx="346075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78"/>
          <p:cNvGraphicFramePr>
            <a:graphicFrameLocks noChangeAspect="1"/>
          </p:cNvGraphicFramePr>
          <p:nvPr>
            <p:extLst/>
          </p:nvPr>
        </p:nvGraphicFramePr>
        <p:xfrm>
          <a:off x="3108325" y="3535363"/>
          <a:ext cx="43815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0034" name="Equation" r:id="rId41" imgW="190440" imgH="190440" progId="Equation.DSMT4">
                  <p:embed/>
                </p:oleObj>
              </mc:Choice>
              <mc:Fallback>
                <p:oleObj name="Equation" r:id="rId41" imgW="190440" imgH="190440" progId="Equation.DSMT4">
                  <p:embed/>
                  <p:pic>
                    <p:nvPicPr>
                      <p:cNvPr id="36" name="Object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8325" y="3535363"/>
                        <a:ext cx="438150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79"/>
          <p:cNvGraphicFramePr>
            <a:graphicFrameLocks noChangeAspect="1"/>
          </p:cNvGraphicFramePr>
          <p:nvPr>
            <p:extLst/>
          </p:nvPr>
        </p:nvGraphicFramePr>
        <p:xfrm>
          <a:off x="4127500" y="3494088"/>
          <a:ext cx="48577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0035" name="Equation" r:id="rId43" imgW="215640" imgH="190440" progId="Equation.DSMT4">
                  <p:embed/>
                </p:oleObj>
              </mc:Choice>
              <mc:Fallback>
                <p:oleObj name="Equation" r:id="rId43" imgW="215640" imgH="190440" progId="Equation.DSMT4">
                  <p:embed/>
                  <p:pic>
                    <p:nvPicPr>
                      <p:cNvPr id="37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0" y="3494088"/>
                        <a:ext cx="485775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80"/>
          <p:cNvGraphicFramePr>
            <a:graphicFrameLocks noChangeAspect="1"/>
          </p:cNvGraphicFramePr>
          <p:nvPr>
            <p:extLst/>
          </p:nvPr>
        </p:nvGraphicFramePr>
        <p:xfrm>
          <a:off x="6008688" y="3482975"/>
          <a:ext cx="496887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0036" name="Equation" r:id="rId45" imgW="215640" imgH="190440" progId="Equation.DSMT4">
                  <p:embed/>
                </p:oleObj>
              </mc:Choice>
              <mc:Fallback>
                <p:oleObj name="Equation" r:id="rId45" imgW="215640" imgH="190440" progId="Equation.DSMT4">
                  <p:embed/>
                  <p:pic>
                    <p:nvPicPr>
                      <p:cNvPr id="38" name="Object 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8688" y="3482975"/>
                        <a:ext cx="496887" cy="436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81"/>
          <p:cNvGraphicFramePr>
            <a:graphicFrameLocks noChangeAspect="1"/>
          </p:cNvGraphicFramePr>
          <p:nvPr/>
        </p:nvGraphicFramePr>
        <p:xfrm>
          <a:off x="5084464" y="2061369"/>
          <a:ext cx="298450" cy="204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0037" name="Equation" r:id="rId47" imgW="152268" imgH="101512" progId="Equation.DSMT4">
                  <p:embed/>
                </p:oleObj>
              </mc:Choice>
              <mc:Fallback>
                <p:oleObj name="Equation" r:id="rId47" imgW="152268" imgH="101512" progId="Equation.DSMT4">
                  <p:embed/>
                  <p:pic>
                    <p:nvPicPr>
                      <p:cNvPr id="39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4464" y="2061369"/>
                        <a:ext cx="298450" cy="204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82"/>
          <p:cNvGraphicFramePr>
            <a:graphicFrameLocks noChangeAspect="1"/>
          </p:cNvGraphicFramePr>
          <p:nvPr/>
        </p:nvGraphicFramePr>
        <p:xfrm>
          <a:off x="4228802" y="3004344"/>
          <a:ext cx="149225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0038" name="Equation" r:id="rId48" imgW="76068" imgH="152136" progId="Equation.DSMT4">
                  <p:embed/>
                </p:oleObj>
              </mc:Choice>
              <mc:Fallback>
                <p:oleObj name="Equation" r:id="rId48" imgW="76068" imgH="152136" progId="Equation.DSMT4">
                  <p:embed/>
                  <p:pic>
                    <p:nvPicPr>
                      <p:cNvPr id="40" name="Object 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8802" y="3004344"/>
                        <a:ext cx="149225" cy="29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83"/>
          <p:cNvGraphicFramePr>
            <a:graphicFrameLocks noChangeAspect="1"/>
          </p:cNvGraphicFramePr>
          <p:nvPr/>
        </p:nvGraphicFramePr>
        <p:xfrm>
          <a:off x="3217564" y="3028157"/>
          <a:ext cx="149225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0039" name="Equation" r:id="rId49" imgW="76068" imgH="152136" progId="Equation.DSMT4">
                  <p:embed/>
                </p:oleObj>
              </mc:Choice>
              <mc:Fallback>
                <p:oleObj name="Equation" r:id="rId49" imgW="76068" imgH="152136" progId="Equation.DSMT4">
                  <p:embed/>
                  <p:pic>
                    <p:nvPicPr>
                      <p:cNvPr id="41" name="Object 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7564" y="3028157"/>
                        <a:ext cx="149225" cy="29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84"/>
          <p:cNvGraphicFramePr>
            <a:graphicFrameLocks noChangeAspect="1"/>
          </p:cNvGraphicFramePr>
          <p:nvPr/>
        </p:nvGraphicFramePr>
        <p:xfrm>
          <a:off x="1980902" y="3077369"/>
          <a:ext cx="149225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0040" name="Equation" r:id="rId50" imgW="76068" imgH="152136" progId="Equation.DSMT4">
                  <p:embed/>
                </p:oleObj>
              </mc:Choice>
              <mc:Fallback>
                <p:oleObj name="Equation" r:id="rId50" imgW="76068" imgH="152136" progId="Equation.DSMT4">
                  <p:embed/>
                  <p:pic>
                    <p:nvPicPr>
                      <p:cNvPr id="42" name="Object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0902" y="3077369"/>
                        <a:ext cx="149225" cy="29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85"/>
          <p:cNvGraphicFramePr>
            <a:graphicFrameLocks noChangeAspect="1"/>
          </p:cNvGraphicFramePr>
          <p:nvPr>
            <p:extLst/>
          </p:nvPr>
        </p:nvGraphicFramePr>
        <p:xfrm>
          <a:off x="6924824" y="1827734"/>
          <a:ext cx="671512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0041" name="Equation" r:id="rId51" imgW="342720" imgH="330120" progId="Equation.DSMT4">
                  <p:embed/>
                </p:oleObj>
              </mc:Choice>
              <mc:Fallback>
                <p:oleObj name="Equation" r:id="rId51" imgW="342720" imgH="330120" progId="Equation.DSMT4">
                  <p:embed/>
                  <p:pic>
                    <p:nvPicPr>
                      <p:cNvPr id="43" name="Object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4824" y="1827734"/>
                        <a:ext cx="671512" cy="665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86"/>
          <p:cNvGraphicFramePr>
            <a:graphicFrameLocks noChangeAspect="1"/>
          </p:cNvGraphicFramePr>
          <p:nvPr/>
        </p:nvGraphicFramePr>
        <p:xfrm>
          <a:off x="5263852" y="3002757"/>
          <a:ext cx="149225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0042" name="Equation" r:id="rId53" imgW="76068" imgH="152136" progId="Equation.DSMT4">
                  <p:embed/>
                </p:oleObj>
              </mc:Choice>
              <mc:Fallback>
                <p:oleObj name="Equation" r:id="rId53" imgW="76068" imgH="152136" progId="Equation.DSMT4">
                  <p:embed/>
                  <p:pic>
                    <p:nvPicPr>
                      <p:cNvPr id="44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3852" y="3002757"/>
                        <a:ext cx="149225" cy="29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Line 87"/>
          <p:cNvSpPr>
            <a:spLocks noChangeShapeType="1"/>
          </p:cNvSpPr>
          <p:nvPr/>
        </p:nvSpPr>
        <p:spPr bwMode="auto">
          <a:xfrm>
            <a:off x="1403648" y="1183592"/>
            <a:ext cx="1368152" cy="72008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0" name="Object 85"/>
          <p:cNvGraphicFramePr>
            <a:graphicFrameLocks noChangeAspect="1"/>
          </p:cNvGraphicFramePr>
          <p:nvPr>
            <p:extLst/>
          </p:nvPr>
        </p:nvGraphicFramePr>
        <p:xfrm>
          <a:off x="6913563" y="2332038"/>
          <a:ext cx="695325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0043" name="Equation" r:id="rId54" imgW="355320" imgH="330120" progId="Equation.DSMT4">
                  <p:embed/>
                </p:oleObj>
              </mc:Choice>
              <mc:Fallback>
                <p:oleObj name="Equation" r:id="rId54" imgW="355320" imgH="330120" progId="Equation.DSMT4">
                  <p:embed/>
                  <p:pic>
                    <p:nvPicPr>
                      <p:cNvPr id="50" name="Object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3563" y="2332038"/>
                        <a:ext cx="695325" cy="665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/>
          </p:nvPr>
        </p:nvGraphicFramePr>
        <p:xfrm>
          <a:off x="6921631" y="3356992"/>
          <a:ext cx="674705" cy="6497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0044" name="Equation" r:id="rId56" imgW="342720" imgH="330120" progId="Equation.DSMT4">
                  <p:embed/>
                </p:oleObj>
              </mc:Choice>
              <mc:Fallback>
                <p:oleObj name="Equation" r:id="rId56" imgW="342720" imgH="330120" progId="Equation.DSMT4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57"/>
                      <a:stretch>
                        <a:fillRect/>
                      </a:stretch>
                    </p:blipFill>
                    <p:spPr>
                      <a:xfrm>
                        <a:off x="6921631" y="3356992"/>
                        <a:ext cx="674705" cy="6497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上弧形箭头 2"/>
          <p:cNvSpPr/>
          <p:nvPr/>
        </p:nvSpPr>
        <p:spPr bwMode="auto">
          <a:xfrm rot="19441006" flipH="1">
            <a:off x="6991908" y="823613"/>
            <a:ext cx="840586" cy="325438"/>
          </a:xfrm>
          <a:prstGeom prst="curved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4" name="圆角矩形 3"/>
          <p:cNvSpPr/>
          <p:nvPr/>
        </p:nvSpPr>
        <p:spPr bwMode="auto">
          <a:xfrm>
            <a:off x="7884368" y="548681"/>
            <a:ext cx="1197538" cy="938013"/>
          </a:xfrm>
          <a:prstGeom prst="round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r>
              <a:rPr kumimoji="0" lang="en-US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ea typeface="楷体" panose="02010609060101010101" pitchFamily="49" charset="-122"/>
                <a:cs typeface="Times" panose="02020603050405020304" pitchFamily="18" charset="0"/>
              </a:rPr>
              <a:t>X</a:t>
            </a: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ea typeface="楷体" panose="02010609060101010101" pitchFamily="49" charset="-122"/>
                <a:cs typeface="Times" panose="02020603050405020304" pitchFamily="18" charset="0"/>
              </a:rPr>
              <a:t>的边缘分布律：行和</a:t>
            </a:r>
          </a:p>
        </p:txBody>
      </p:sp>
      <p:graphicFrame>
        <p:nvGraphicFramePr>
          <p:cNvPr id="51" name="Object 68"/>
          <p:cNvGraphicFramePr>
            <a:graphicFrameLocks noChangeAspect="1"/>
          </p:cNvGraphicFramePr>
          <p:nvPr>
            <p:extLst/>
          </p:nvPr>
        </p:nvGraphicFramePr>
        <p:xfrm>
          <a:off x="1864518" y="4068222"/>
          <a:ext cx="398463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0045" name="Equation" r:id="rId58" imgW="203040" imgH="203040" progId="Equation.DSMT4">
                  <p:embed/>
                </p:oleObj>
              </mc:Choice>
              <mc:Fallback>
                <p:oleObj name="Equation" r:id="rId58" imgW="203040" imgH="203040" progId="Equation.DSMT4">
                  <p:embed/>
                  <p:pic>
                    <p:nvPicPr>
                      <p:cNvPr id="51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4518" y="4068222"/>
                        <a:ext cx="398463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85"/>
          <p:cNvGraphicFramePr>
            <a:graphicFrameLocks noChangeAspect="1"/>
          </p:cNvGraphicFramePr>
          <p:nvPr>
            <p:extLst/>
          </p:nvPr>
        </p:nvGraphicFramePr>
        <p:xfrm>
          <a:off x="3038996" y="3906000"/>
          <a:ext cx="596900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0046" name="Equation" r:id="rId60" imgW="304560" imgH="317160" progId="Equation.DSMT4">
                  <p:embed/>
                </p:oleObj>
              </mc:Choice>
              <mc:Fallback>
                <p:oleObj name="Equation" r:id="rId60" imgW="304560" imgH="317160" progId="Equation.DSMT4">
                  <p:embed/>
                  <p:pic>
                    <p:nvPicPr>
                      <p:cNvPr id="52" name="Object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8996" y="3906000"/>
                        <a:ext cx="596900" cy="639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85"/>
          <p:cNvGraphicFramePr>
            <a:graphicFrameLocks noChangeAspect="1"/>
          </p:cNvGraphicFramePr>
          <p:nvPr>
            <p:extLst/>
          </p:nvPr>
        </p:nvGraphicFramePr>
        <p:xfrm>
          <a:off x="3983038" y="3905250"/>
          <a:ext cx="622300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0047" name="Equation" r:id="rId62" imgW="317160" imgH="317160" progId="Equation.DSMT4">
                  <p:embed/>
                </p:oleObj>
              </mc:Choice>
              <mc:Fallback>
                <p:oleObj name="Equation" r:id="rId62" imgW="317160" imgH="317160" progId="Equation.DSMT4">
                  <p:embed/>
                  <p:pic>
                    <p:nvPicPr>
                      <p:cNvPr id="53" name="Object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3038" y="3905250"/>
                        <a:ext cx="622300" cy="639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85"/>
          <p:cNvGraphicFramePr>
            <a:graphicFrameLocks noChangeAspect="1"/>
          </p:cNvGraphicFramePr>
          <p:nvPr>
            <p:extLst/>
          </p:nvPr>
        </p:nvGraphicFramePr>
        <p:xfrm>
          <a:off x="5997575" y="3879850"/>
          <a:ext cx="620713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0048" name="Equation" r:id="rId64" imgW="317160" imgH="317160" progId="Equation.DSMT4">
                  <p:embed/>
                </p:oleObj>
              </mc:Choice>
              <mc:Fallback>
                <p:oleObj name="Equation" r:id="rId64" imgW="317160" imgH="317160" progId="Equation.DSMT4">
                  <p:embed/>
                  <p:pic>
                    <p:nvPicPr>
                      <p:cNvPr id="54" name="Object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7575" y="3879850"/>
                        <a:ext cx="620713" cy="639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58"/>
          <p:cNvGraphicFramePr>
            <a:graphicFrameLocks noChangeAspect="1"/>
          </p:cNvGraphicFramePr>
          <p:nvPr>
            <p:extLst/>
          </p:nvPr>
        </p:nvGraphicFramePr>
        <p:xfrm>
          <a:off x="5137646" y="4160316"/>
          <a:ext cx="298450" cy="204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0049" name="Equation" r:id="rId66" imgW="152268" imgH="101512" progId="Equation.DSMT4">
                  <p:embed/>
                </p:oleObj>
              </mc:Choice>
              <mc:Fallback>
                <p:oleObj name="Equation" r:id="rId66" imgW="152268" imgH="101512" progId="Equation.DSMT4">
                  <p:embed/>
                  <p:pic>
                    <p:nvPicPr>
                      <p:cNvPr id="55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7646" y="4160316"/>
                        <a:ext cx="298450" cy="204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上弧形箭头 55"/>
          <p:cNvSpPr/>
          <p:nvPr/>
        </p:nvSpPr>
        <p:spPr bwMode="auto">
          <a:xfrm rot="12440720" flipH="1">
            <a:off x="613969" y="3927250"/>
            <a:ext cx="981512" cy="325438"/>
          </a:xfrm>
          <a:prstGeom prst="curved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57" name="圆角矩形 56"/>
          <p:cNvSpPr/>
          <p:nvPr/>
        </p:nvSpPr>
        <p:spPr bwMode="auto">
          <a:xfrm>
            <a:off x="89917" y="2743837"/>
            <a:ext cx="1197538" cy="938013"/>
          </a:xfrm>
          <a:prstGeom prst="roundRect">
            <a:avLst/>
          </a:prstGeom>
          <a:solidFill>
            <a:srgbClr val="CC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r>
              <a:rPr kumimoji="0" lang="en-US" altLang="zh-CN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ea typeface="楷体" panose="02010609060101010101" pitchFamily="49" charset="-122"/>
                <a:cs typeface="Times" panose="02020603050405020304" pitchFamily="18" charset="0"/>
              </a:rPr>
              <a:t>Y</a:t>
            </a: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" panose="02020603050405020304" pitchFamily="18" charset="0"/>
                <a:ea typeface="楷体" panose="02010609060101010101" pitchFamily="49" charset="-122"/>
                <a:cs typeface="Times" panose="02020603050405020304" pitchFamily="18" charset="0"/>
              </a:rPr>
              <a:t>的边缘分布律：列和</a:t>
            </a:r>
          </a:p>
        </p:txBody>
      </p:sp>
      <p:sp>
        <p:nvSpPr>
          <p:cNvPr id="47" name="矩形 46"/>
          <p:cNvSpPr/>
          <p:nvPr/>
        </p:nvSpPr>
        <p:spPr>
          <a:xfrm>
            <a:off x="2483768" y="251937"/>
            <a:ext cx="430278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4.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二维离散型随机变量</a:t>
            </a:r>
            <a:endParaRPr lang="zh-CN" altLang="en-US" sz="3200" b="1" dirty="0">
              <a:solidFill>
                <a:srgbClr val="0000FF"/>
              </a:solidFill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746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154524" y="4623519"/>
            <a:ext cx="232945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2.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求条件概率</a:t>
            </a:r>
            <a:endParaRPr lang="en-US" altLang="zh-CN" sz="2400" dirty="0" smtClean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graphicFrame>
        <p:nvGraphicFramePr>
          <p:cNvPr id="7" name="Group 2"/>
          <p:cNvGraphicFramePr>
            <a:graphicFrameLocks noGrp="1"/>
          </p:cNvGraphicFramePr>
          <p:nvPr/>
        </p:nvGraphicFramePr>
        <p:xfrm>
          <a:off x="1369714" y="1124744"/>
          <a:ext cx="6370638" cy="3371216"/>
        </p:xfrm>
        <a:graphic>
          <a:graphicData uri="http://schemas.openxmlformats.org/drawingml/2006/table">
            <a:tbl>
              <a:tblPr/>
              <a:tblGrid>
                <a:gridCol w="142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58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58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58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58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699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Object 54"/>
          <p:cNvGraphicFramePr>
            <a:graphicFrameLocks noChangeAspect="1"/>
          </p:cNvGraphicFramePr>
          <p:nvPr/>
        </p:nvGraphicFramePr>
        <p:xfrm>
          <a:off x="2338089" y="1207294"/>
          <a:ext cx="242888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299" name="Equation" r:id="rId3" imgW="126835" imgH="139518" progId="Equation.DSMT4">
                  <p:embed/>
                </p:oleObj>
              </mc:Choice>
              <mc:Fallback>
                <p:oleObj name="Equation" r:id="rId3" imgW="126835" imgH="139518" progId="Equation.DSMT4">
                  <p:embed/>
                  <p:pic>
                    <p:nvPicPr>
                      <p:cNvPr id="8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8089" y="1207294"/>
                        <a:ext cx="242888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5"/>
          <p:cNvGraphicFramePr>
            <a:graphicFrameLocks noChangeAspect="1"/>
          </p:cNvGraphicFramePr>
          <p:nvPr/>
        </p:nvGraphicFramePr>
        <p:xfrm>
          <a:off x="1674514" y="1535907"/>
          <a:ext cx="29845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300" name="Equation" r:id="rId5" imgW="152334" imgH="139639" progId="Equation.DSMT4">
                  <p:embed/>
                </p:oleObj>
              </mc:Choice>
              <mc:Fallback>
                <p:oleObj name="Equation" r:id="rId5" imgW="152334" imgH="139639" progId="Equation.DSMT4">
                  <p:embed/>
                  <p:pic>
                    <p:nvPicPr>
                      <p:cNvPr id="1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4514" y="1535907"/>
                        <a:ext cx="29845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6"/>
          <p:cNvGraphicFramePr>
            <a:graphicFrameLocks noChangeAspect="1"/>
          </p:cNvGraphicFramePr>
          <p:nvPr/>
        </p:nvGraphicFramePr>
        <p:xfrm>
          <a:off x="3077864" y="1342232"/>
          <a:ext cx="2794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301" name="Equation" r:id="rId7" imgW="139639" imgH="190417" progId="Equation.DSMT4">
                  <p:embed/>
                </p:oleObj>
              </mc:Choice>
              <mc:Fallback>
                <p:oleObj name="Equation" r:id="rId7" imgW="139639" imgH="190417" progId="Equation.DSMT4">
                  <p:embed/>
                  <p:pic>
                    <p:nvPicPr>
                      <p:cNvPr id="11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7864" y="1342232"/>
                        <a:ext cx="27940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57"/>
          <p:cNvGraphicFramePr>
            <a:graphicFrameLocks noChangeAspect="1"/>
          </p:cNvGraphicFramePr>
          <p:nvPr/>
        </p:nvGraphicFramePr>
        <p:xfrm>
          <a:off x="4124027" y="1313657"/>
          <a:ext cx="296862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302" name="Equation" r:id="rId9" imgW="152334" imgH="190417" progId="Equation.DSMT4">
                  <p:embed/>
                </p:oleObj>
              </mc:Choice>
              <mc:Fallback>
                <p:oleObj name="Equation" r:id="rId9" imgW="152334" imgH="190417" progId="Equation.DSMT4">
                  <p:embed/>
                  <p:pic>
                    <p:nvPicPr>
                      <p:cNvPr id="14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4027" y="1313657"/>
                        <a:ext cx="296862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58"/>
          <p:cNvGraphicFramePr>
            <a:graphicFrameLocks noChangeAspect="1"/>
          </p:cNvGraphicFramePr>
          <p:nvPr/>
        </p:nvGraphicFramePr>
        <p:xfrm>
          <a:off x="5152727" y="3588544"/>
          <a:ext cx="298450" cy="204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303" name="Equation" r:id="rId11" imgW="152268" imgH="101512" progId="Equation.DSMT4">
                  <p:embed/>
                </p:oleObj>
              </mc:Choice>
              <mc:Fallback>
                <p:oleObj name="Equation" r:id="rId11" imgW="152268" imgH="101512" progId="Equation.DSMT4">
                  <p:embed/>
                  <p:pic>
                    <p:nvPicPr>
                      <p:cNvPr id="15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2727" y="3588544"/>
                        <a:ext cx="298450" cy="204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59"/>
          <p:cNvGraphicFramePr>
            <a:graphicFrameLocks noChangeAspect="1"/>
          </p:cNvGraphicFramePr>
          <p:nvPr/>
        </p:nvGraphicFramePr>
        <p:xfrm>
          <a:off x="6053138" y="1343025"/>
          <a:ext cx="346075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304" name="Equation" r:id="rId13" imgW="177480" imgH="190440" progId="Equation.DSMT4">
                  <p:embed/>
                </p:oleObj>
              </mc:Choice>
              <mc:Fallback>
                <p:oleObj name="Equation" r:id="rId13" imgW="177480" imgH="190440" progId="Equation.DSMT4">
                  <p:embed/>
                  <p:pic>
                    <p:nvPicPr>
                      <p:cNvPr id="16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3138" y="1343025"/>
                        <a:ext cx="346075" cy="365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60"/>
          <p:cNvGraphicFramePr>
            <a:graphicFrameLocks noChangeAspect="1"/>
          </p:cNvGraphicFramePr>
          <p:nvPr/>
        </p:nvGraphicFramePr>
        <p:xfrm>
          <a:off x="5092402" y="1416844"/>
          <a:ext cx="298450" cy="204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305" name="Equation" r:id="rId15" imgW="152268" imgH="101512" progId="Equation.DSMT4">
                  <p:embed/>
                </p:oleObj>
              </mc:Choice>
              <mc:Fallback>
                <p:oleObj name="Equation" r:id="rId15" imgW="152268" imgH="101512" progId="Equation.DSMT4">
                  <p:embed/>
                  <p:pic>
                    <p:nvPicPr>
                      <p:cNvPr id="17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2402" y="1416844"/>
                        <a:ext cx="298450" cy="204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61"/>
          <p:cNvGraphicFramePr>
            <a:graphicFrameLocks noChangeAspect="1"/>
          </p:cNvGraphicFramePr>
          <p:nvPr/>
        </p:nvGraphicFramePr>
        <p:xfrm>
          <a:off x="1863427" y="1916907"/>
          <a:ext cx="3175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306" name="Equation" r:id="rId17" imgW="139639" imgH="190417" progId="Equation.DSMT4">
                  <p:embed/>
                </p:oleObj>
              </mc:Choice>
              <mc:Fallback>
                <p:oleObj name="Equation" r:id="rId17" imgW="139639" imgH="190417" progId="Equation.DSMT4">
                  <p:embed/>
                  <p:pic>
                    <p:nvPicPr>
                      <p:cNvPr id="19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3427" y="1916907"/>
                        <a:ext cx="317500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62"/>
          <p:cNvGraphicFramePr>
            <a:graphicFrameLocks noChangeAspect="1"/>
          </p:cNvGraphicFramePr>
          <p:nvPr/>
        </p:nvGraphicFramePr>
        <p:xfrm>
          <a:off x="3058814" y="1910557"/>
          <a:ext cx="428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307" name="Equation" r:id="rId19" imgW="190417" imgH="190417" progId="Equation.DSMT4">
                  <p:embed/>
                </p:oleObj>
              </mc:Choice>
              <mc:Fallback>
                <p:oleObj name="Equation" r:id="rId19" imgW="190417" imgH="190417" progId="Equation.DSMT4">
                  <p:embed/>
                  <p:pic>
                    <p:nvPicPr>
                      <p:cNvPr id="2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8814" y="1910557"/>
                        <a:ext cx="428625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63"/>
          <p:cNvGraphicFramePr>
            <a:graphicFrameLocks noChangeAspect="1"/>
          </p:cNvGraphicFramePr>
          <p:nvPr/>
        </p:nvGraphicFramePr>
        <p:xfrm>
          <a:off x="4052589" y="1947069"/>
          <a:ext cx="428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308" name="Equation" r:id="rId21" imgW="190417" imgH="190417" progId="Equation.DSMT4">
                  <p:embed/>
                </p:oleObj>
              </mc:Choice>
              <mc:Fallback>
                <p:oleObj name="Equation" r:id="rId21" imgW="190417" imgH="190417" progId="Equation.DSMT4">
                  <p:embed/>
                  <p:pic>
                    <p:nvPicPr>
                      <p:cNvPr id="21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2589" y="1947069"/>
                        <a:ext cx="428625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64"/>
          <p:cNvGraphicFramePr>
            <a:graphicFrameLocks noChangeAspect="1"/>
          </p:cNvGraphicFramePr>
          <p:nvPr/>
        </p:nvGraphicFramePr>
        <p:xfrm>
          <a:off x="6056313" y="1943100"/>
          <a:ext cx="485775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309" name="Equation" r:id="rId23" imgW="215640" imgH="190440" progId="Equation.DSMT4">
                  <p:embed/>
                </p:oleObj>
              </mc:Choice>
              <mc:Fallback>
                <p:oleObj name="Equation" r:id="rId23" imgW="215640" imgH="190440" progId="Equation.DSMT4">
                  <p:embed/>
                  <p:pic>
                    <p:nvPicPr>
                      <p:cNvPr id="22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6313" y="1943100"/>
                        <a:ext cx="485775" cy="436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65"/>
          <p:cNvGraphicFramePr>
            <a:graphicFrameLocks noChangeAspect="1"/>
          </p:cNvGraphicFramePr>
          <p:nvPr/>
        </p:nvGraphicFramePr>
        <p:xfrm>
          <a:off x="1858664" y="2450307"/>
          <a:ext cx="354013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310" name="Equation" r:id="rId25" imgW="152334" imgH="190417" progId="Equation.DSMT4">
                  <p:embed/>
                </p:oleObj>
              </mc:Choice>
              <mc:Fallback>
                <p:oleObj name="Equation" r:id="rId25" imgW="152334" imgH="190417" progId="Equation.DSMT4">
                  <p:embed/>
                  <p:pic>
                    <p:nvPicPr>
                      <p:cNvPr id="23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8664" y="2450307"/>
                        <a:ext cx="354013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66"/>
          <p:cNvGraphicFramePr>
            <a:graphicFrameLocks noChangeAspect="1"/>
          </p:cNvGraphicFramePr>
          <p:nvPr/>
        </p:nvGraphicFramePr>
        <p:xfrm>
          <a:off x="3036589" y="2451894"/>
          <a:ext cx="465138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311" name="Equation" r:id="rId27" imgW="203112" imgH="190417" progId="Equation.DSMT4">
                  <p:embed/>
                </p:oleObj>
              </mc:Choice>
              <mc:Fallback>
                <p:oleObj name="Equation" r:id="rId27" imgW="203112" imgH="190417" progId="Equation.DSMT4">
                  <p:embed/>
                  <p:pic>
                    <p:nvPicPr>
                      <p:cNvPr id="24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6589" y="2451894"/>
                        <a:ext cx="465138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67"/>
          <p:cNvGraphicFramePr>
            <a:graphicFrameLocks noChangeAspect="1"/>
          </p:cNvGraphicFramePr>
          <p:nvPr/>
        </p:nvGraphicFramePr>
        <p:xfrm>
          <a:off x="4079577" y="2434432"/>
          <a:ext cx="465137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312" name="Equation" r:id="rId29" imgW="203112" imgH="190417" progId="Equation.DSMT4">
                  <p:embed/>
                </p:oleObj>
              </mc:Choice>
              <mc:Fallback>
                <p:oleObj name="Equation" r:id="rId29" imgW="203112" imgH="190417" progId="Equation.DSMT4">
                  <p:embed/>
                  <p:pic>
                    <p:nvPicPr>
                      <p:cNvPr id="25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577" y="2434432"/>
                        <a:ext cx="465137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68"/>
          <p:cNvGraphicFramePr>
            <a:graphicFrameLocks noChangeAspect="1"/>
          </p:cNvGraphicFramePr>
          <p:nvPr/>
        </p:nvGraphicFramePr>
        <p:xfrm>
          <a:off x="7073900" y="1309688"/>
          <a:ext cx="373063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313" name="Equation" r:id="rId31" imgW="190440" imgH="190440" progId="Equation.DSMT4">
                  <p:embed/>
                </p:oleObj>
              </mc:Choice>
              <mc:Fallback>
                <p:oleObj name="Equation" r:id="rId31" imgW="190440" imgH="190440" progId="Equation.DSMT4">
                  <p:embed/>
                  <p:pic>
                    <p:nvPicPr>
                      <p:cNvPr id="26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3900" y="1309688"/>
                        <a:ext cx="373063" cy="384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69"/>
          <p:cNvGraphicFramePr>
            <a:graphicFrameLocks noChangeAspect="1"/>
          </p:cNvGraphicFramePr>
          <p:nvPr/>
        </p:nvGraphicFramePr>
        <p:xfrm>
          <a:off x="6027738" y="2473325"/>
          <a:ext cx="512762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314" name="Equation" r:id="rId33" imgW="228600" imgH="190440" progId="Equation.DSMT4">
                  <p:embed/>
                </p:oleObj>
              </mc:Choice>
              <mc:Fallback>
                <p:oleObj name="Equation" r:id="rId33" imgW="228600" imgH="190440" progId="Equation.DSMT4">
                  <p:embed/>
                  <p:pic>
                    <p:nvPicPr>
                      <p:cNvPr id="27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7738" y="2473325"/>
                        <a:ext cx="512762" cy="436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70"/>
          <p:cNvGraphicFramePr>
            <a:graphicFrameLocks noChangeAspect="1"/>
          </p:cNvGraphicFramePr>
          <p:nvPr/>
        </p:nvGraphicFramePr>
        <p:xfrm>
          <a:off x="5140027" y="2588419"/>
          <a:ext cx="298450" cy="204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315" name="Equation" r:id="rId35" imgW="152268" imgH="101512" progId="Equation.DSMT4">
                  <p:embed/>
                </p:oleObj>
              </mc:Choice>
              <mc:Fallback>
                <p:oleObj name="Equation" r:id="rId35" imgW="152268" imgH="101512" progId="Equation.DSMT4">
                  <p:embed/>
                  <p:pic>
                    <p:nvPicPr>
                      <p:cNvPr id="28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0027" y="2588419"/>
                        <a:ext cx="298450" cy="204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73"/>
          <p:cNvGraphicFramePr>
            <a:graphicFrameLocks noChangeAspect="1"/>
          </p:cNvGraphicFramePr>
          <p:nvPr/>
        </p:nvGraphicFramePr>
        <p:xfrm>
          <a:off x="7314902" y="3010694"/>
          <a:ext cx="149225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316" name="Equation" r:id="rId36" imgW="76068" imgH="152136" progId="Equation.DSMT4">
                  <p:embed/>
                </p:oleObj>
              </mc:Choice>
              <mc:Fallback>
                <p:oleObj name="Equation" r:id="rId36" imgW="76068" imgH="152136" progId="Equation.DSMT4">
                  <p:embed/>
                  <p:pic>
                    <p:nvPicPr>
                      <p:cNvPr id="31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4902" y="3010694"/>
                        <a:ext cx="149225" cy="29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75"/>
          <p:cNvGraphicFramePr>
            <a:graphicFrameLocks noChangeAspect="1"/>
          </p:cNvGraphicFramePr>
          <p:nvPr/>
        </p:nvGraphicFramePr>
        <p:xfrm>
          <a:off x="6205239" y="3055144"/>
          <a:ext cx="149225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317" name="Equation" r:id="rId38" imgW="76068" imgH="152136" progId="Equation.DSMT4">
                  <p:embed/>
                </p:oleObj>
              </mc:Choice>
              <mc:Fallback>
                <p:oleObj name="Equation" r:id="rId38" imgW="76068" imgH="152136" progId="Equation.DSMT4">
                  <p:embed/>
                  <p:pic>
                    <p:nvPicPr>
                      <p:cNvPr id="33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5239" y="3055144"/>
                        <a:ext cx="149225" cy="29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77"/>
          <p:cNvGraphicFramePr>
            <a:graphicFrameLocks noChangeAspect="1"/>
          </p:cNvGraphicFramePr>
          <p:nvPr/>
        </p:nvGraphicFramePr>
        <p:xfrm>
          <a:off x="1890713" y="3492500"/>
          <a:ext cx="34607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318" name="Equation" r:id="rId39" imgW="152280" imgH="190440" progId="Equation.DSMT4">
                  <p:embed/>
                </p:oleObj>
              </mc:Choice>
              <mc:Fallback>
                <p:oleObj name="Equation" r:id="rId39" imgW="152280" imgH="190440" progId="Equation.DSMT4">
                  <p:embed/>
                  <p:pic>
                    <p:nvPicPr>
                      <p:cNvPr id="35" name="Object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0713" y="3492500"/>
                        <a:ext cx="346075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78"/>
          <p:cNvGraphicFramePr>
            <a:graphicFrameLocks noChangeAspect="1"/>
          </p:cNvGraphicFramePr>
          <p:nvPr/>
        </p:nvGraphicFramePr>
        <p:xfrm>
          <a:off x="3108325" y="3535363"/>
          <a:ext cx="43815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319" name="Equation" r:id="rId41" imgW="190440" imgH="190440" progId="Equation.DSMT4">
                  <p:embed/>
                </p:oleObj>
              </mc:Choice>
              <mc:Fallback>
                <p:oleObj name="Equation" r:id="rId41" imgW="190440" imgH="190440" progId="Equation.DSMT4">
                  <p:embed/>
                  <p:pic>
                    <p:nvPicPr>
                      <p:cNvPr id="36" name="Object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8325" y="3535363"/>
                        <a:ext cx="438150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79"/>
          <p:cNvGraphicFramePr>
            <a:graphicFrameLocks noChangeAspect="1"/>
          </p:cNvGraphicFramePr>
          <p:nvPr/>
        </p:nvGraphicFramePr>
        <p:xfrm>
          <a:off x="4127500" y="3494088"/>
          <a:ext cx="48577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320" name="Equation" r:id="rId43" imgW="215640" imgH="190440" progId="Equation.DSMT4">
                  <p:embed/>
                </p:oleObj>
              </mc:Choice>
              <mc:Fallback>
                <p:oleObj name="Equation" r:id="rId43" imgW="215640" imgH="190440" progId="Equation.DSMT4">
                  <p:embed/>
                  <p:pic>
                    <p:nvPicPr>
                      <p:cNvPr id="37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0" y="3494088"/>
                        <a:ext cx="485775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80"/>
          <p:cNvGraphicFramePr>
            <a:graphicFrameLocks noChangeAspect="1"/>
          </p:cNvGraphicFramePr>
          <p:nvPr/>
        </p:nvGraphicFramePr>
        <p:xfrm>
          <a:off x="6008688" y="3482975"/>
          <a:ext cx="496887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321" name="Equation" r:id="rId45" imgW="215640" imgH="190440" progId="Equation.DSMT4">
                  <p:embed/>
                </p:oleObj>
              </mc:Choice>
              <mc:Fallback>
                <p:oleObj name="Equation" r:id="rId45" imgW="215640" imgH="190440" progId="Equation.DSMT4">
                  <p:embed/>
                  <p:pic>
                    <p:nvPicPr>
                      <p:cNvPr id="38" name="Object 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8688" y="3482975"/>
                        <a:ext cx="496887" cy="436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81"/>
          <p:cNvGraphicFramePr>
            <a:graphicFrameLocks noChangeAspect="1"/>
          </p:cNvGraphicFramePr>
          <p:nvPr/>
        </p:nvGraphicFramePr>
        <p:xfrm>
          <a:off x="5084464" y="2061369"/>
          <a:ext cx="298450" cy="204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322" name="Equation" r:id="rId47" imgW="152268" imgH="101512" progId="Equation.DSMT4">
                  <p:embed/>
                </p:oleObj>
              </mc:Choice>
              <mc:Fallback>
                <p:oleObj name="Equation" r:id="rId47" imgW="152268" imgH="101512" progId="Equation.DSMT4">
                  <p:embed/>
                  <p:pic>
                    <p:nvPicPr>
                      <p:cNvPr id="39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4464" y="2061369"/>
                        <a:ext cx="298450" cy="204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82"/>
          <p:cNvGraphicFramePr>
            <a:graphicFrameLocks noChangeAspect="1"/>
          </p:cNvGraphicFramePr>
          <p:nvPr/>
        </p:nvGraphicFramePr>
        <p:xfrm>
          <a:off x="4228802" y="3004344"/>
          <a:ext cx="149225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323" name="Equation" r:id="rId48" imgW="76068" imgH="152136" progId="Equation.DSMT4">
                  <p:embed/>
                </p:oleObj>
              </mc:Choice>
              <mc:Fallback>
                <p:oleObj name="Equation" r:id="rId48" imgW="76068" imgH="152136" progId="Equation.DSMT4">
                  <p:embed/>
                  <p:pic>
                    <p:nvPicPr>
                      <p:cNvPr id="40" name="Object 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8802" y="3004344"/>
                        <a:ext cx="149225" cy="29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83"/>
          <p:cNvGraphicFramePr>
            <a:graphicFrameLocks noChangeAspect="1"/>
          </p:cNvGraphicFramePr>
          <p:nvPr/>
        </p:nvGraphicFramePr>
        <p:xfrm>
          <a:off x="3217564" y="3028157"/>
          <a:ext cx="149225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324" name="Equation" r:id="rId49" imgW="76068" imgH="152136" progId="Equation.DSMT4">
                  <p:embed/>
                </p:oleObj>
              </mc:Choice>
              <mc:Fallback>
                <p:oleObj name="Equation" r:id="rId49" imgW="76068" imgH="152136" progId="Equation.DSMT4">
                  <p:embed/>
                  <p:pic>
                    <p:nvPicPr>
                      <p:cNvPr id="41" name="Object 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7564" y="3028157"/>
                        <a:ext cx="149225" cy="29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84"/>
          <p:cNvGraphicFramePr>
            <a:graphicFrameLocks noChangeAspect="1"/>
          </p:cNvGraphicFramePr>
          <p:nvPr/>
        </p:nvGraphicFramePr>
        <p:xfrm>
          <a:off x="1980902" y="3077369"/>
          <a:ext cx="149225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325" name="Equation" r:id="rId50" imgW="76068" imgH="152136" progId="Equation.DSMT4">
                  <p:embed/>
                </p:oleObj>
              </mc:Choice>
              <mc:Fallback>
                <p:oleObj name="Equation" r:id="rId50" imgW="76068" imgH="152136" progId="Equation.DSMT4">
                  <p:embed/>
                  <p:pic>
                    <p:nvPicPr>
                      <p:cNvPr id="42" name="Object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0902" y="3077369"/>
                        <a:ext cx="149225" cy="29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85"/>
          <p:cNvGraphicFramePr>
            <a:graphicFrameLocks noChangeAspect="1"/>
          </p:cNvGraphicFramePr>
          <p:nvPr/>
        </p:nvGraphicFramePr>
        <p:xfrm>
          <a:off x="6924824" y="1827734"/>
          <a:ext cx="671512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326" name="Equation" r:id="rId51" imgW="342720" imgH="330120" progId="Equation.DSMT4">
                  <p:embed/>
                </p:oleObj>
              </mc:Choice>
              <mc:Fallback>
                <p:oleObj name="Equation" r:id="rId51" imgW="342720" imgH="330120" progId="Equation.DSMT4">
                  <p:embed/>
                  <p:pic>
                    <p:nvPicPr>
                      <p:cNvPr id="43" name="Object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4824" y="1827734"/>
                        <a:ext cx="671512" cy="665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86"/>
          <p:cNvGraphicFramePr>
            <a:graphicFrameLocks noChangeAspect="1"/>
          </p:cNvGraphicFramePr>
          <p:nvPr/>
        </p:nvGraphicFramePr>
        <p:xfrm>
          <a:off x="5263852" y="3002757"/>
          <a:ext cx="149225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327" name="Equation" r:id="rId53" imgW="76068" imgH="152136" progId="Equation.DSMT4">
                  <p:embed/>
                </p:oleObj>
              </mc:Choice>
              <mc:Fallback>
                <p:oleObj name="Equation" r:id="rId53" imgW="76068" imgH="152136" progId="Equation.DSMT4">
                  <p:embed/>
                  <p:pic>
                    <p:nvPicPr>
                      <p:cNvPr id="44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3852" y="3002757"/>
                        <a:ext cx="149225" cy="29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Line 87"/>
          <p:cNvSpPr>
            <a:spLocks noChangeShapeType="1"/>
          </p:cNvSpPr>
          <p:nvPr/>
        </p:nvSpPr>
        <p:spPr bwMode="auto">
          <a:xfrm>
            <a:off x="1403648" y="1183592"/>
            <a:ext cx="1368152" cy="72008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0" name="Object 85"/>
          <p:cNvGraphicFramePr>
            <a:graphicFrameLocks noChangeAspect="1"/>
          </p:cNvGraphicFramePr>
          <p:nvPr/>
        </p:nvGraphicFramePr>
        <p:xfrm>
          <a:off x="6913563" y="2332038"/>
          <a:ext cx="695325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328" name="Equation" r:id="rId54" imgW="355320" imgH="330120" progId="Equation.DSMT4">
                  <p:embed/>
                </p:oleObj>
              </mc:Choice>
              <mc:Fallback>
                <p:oleObj name="Equation" r:id="rId54" imgW="355320" imgH="330120" progId="Equation.DSMT4">
                  <p:embed/>
                  <p:pic>
                    <p:nvPicPr>
                      <p:cNvPr id="50" name="Object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3563" y="2332038"/>
                        <a:ext cx="695325" cy="665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6921631" y="3356992"/>
          <a:ext cx="674705" cy="6497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329" name="Equation" r:id="rId56" imgW="342720" imgH="330120" progId="Equation.DSMT4">
                  <p:embed/>
                </p:oleObj>
              </mc:Choice>
              <mc:Fallback>
                <p:oleObj name="Equation" r:id="rId56" imgW="342720" imgH="330120" progId="Equation.DSMT4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57"/>
                      <a:stretch>
                        <a:fillRect/>
                      </a:stretch>
                    </p:blipFill>
                    <p:spPr>
                      <a:xfrm>
                        <a:off x="6921631" y="3356992"/>
                        <a:ext cx="674705" cy="6497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68"/>
          <p:cNvGraphicFramePr>
            <a:graphicFrameLocks noChangeAspect="1"/>
          </p:cNvGraphicFramePr>
          <p:nvPr/>
        </p:nvGraphicFramePr>
        <p:xfrm>
          <a:off x="1864518" y="4068222"/>
          <a:ext cx="398463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330" name="Equation" r:id="rId58" imgW="203040" imgH="203040" progId="Equation.DSMT4">
                  <p:embed/>
                </p:oleObj>
              </mc:Choice>
              <mc:Fallback>
                <p:oleObj name="Equation" r:id="rId58" imgW="203040" imgH="203040" progId="Equation.DSMT4">
                  <p:embed/>
                  <p:pic>
                    <p:nvPicPr>
                      <p:cNvPr id="51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4518" y="4068222"/>
                        <a:ext cx="398463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85"/>
          <p:cNvGraphicFramePr>
            <a:graphicFrameLocks noChangeAspect="1"/>
          </p:cNvGraphicFramePr>
          <p:nvPr/>
        </p:nvGraphicFramePr>
        <p:xfrm>
          <a:off x="3038996" y="3906000"/>
          <a:ext cx="596900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331" name="Equation" r:id="rId60" imgW="304560" imgH="317160" progId="Equation.DSMT4">
                  <p:embed/>
                </p:oleObj>
              </mc:Choice>
              <mc:Fallback>
                <p:oleObj name="Equation" r:id="rId60" imgW="304560" imgH="317160" progId="Equation.DSMT4">
                  <p:embed/>
                  <p:pic>
                    <p:nvPicPr>
                      <p:cNvPr id="52" name="Object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8996" y="3906000"/>
                        <a:ext cx="596900" cy="639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85"/>
          <p:cNvGraphicFramePr>
            <a:graphicFrameLocks noChangeAspect="1"/>
          </p:cNvGraphicFramePr>
          <p:nvPr/>
        </p:nvGraphicFramePr>
        <p:xfrm>
          <a:off x="3983038" y="3905250"/>
          <a:ext cx="622300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332" name="Equation" r:id="rId62" imgW="317160" imgH="317160" progId="Equation.DSMT4">
                  <p:embed/>
                </p:oleObj>
              </mc:Choice>
              <mc:Fallback>
                <p:oleObj name="Equation" r:id="rId62" imgW="317160" imgH="317160" progId="Equation.DSMT4">
                  <p:embed/>
                  <p:pic>
                    <p:nvPicPr>
                      <p:cNvPr id="53" name="Object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3038" y="3905250"/>
                        <a:ext cx="622300" cy="639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85"/>
          <p:cNvGraphicFramePr>
            <a:graphicFrameLocks noChangeAspect="1"/>
          </p:cNvGraphicFramePr>
          <p:nvPr/>
        </p:nvGraphicFramePr>
        <p:xfrm>
          <a:off x="5997575" y="3879850"/>
          <a:ext cx="620713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333" name="Equation" r:id="rId64" imgW="317160" imgH="317160" progId="Equation.DSMT4">
                  <p:embed/>
                </p:oleObj>
              </mc:Choice>
              <mc:Fallback>
                <p:oleObj name="Equation" r:id="rId64" imgW="317160" imgH="317160" progId="Equation.DSMT4">
                  <p:embed/>
                  <p:pic>
                    <p:nvPicPr>
                      <p:cNvPr id="54" name="Object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7575" y="3879850"/>
                        <a:ext cx="620713" cy="639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58"/>
          <p:cNvGraphicFramePr>
            <a:graphicFrameLocks noChangeAspect="1"/>
          </p:cNvGraphicFramePr>
          <p:nvPr/>
        </p:nvGraphicFramePr>
        <p:xfrm>
          <a:off x="5137646" y="4160316"/>
          <a:ext cx="298450" cy="204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334" name="Equation" r:id="rId66" imgW="152268" imgH="101512" progId="Equation.DSMT4">
                  <p:embed/>
                </p:oleObj>
              </mc:Choice>
              <mc:Fallback>
                <p:oleObj name="Equation" r:id="rId66" imgW="152268" imgH="101512" progId="Equation.DSMT4">
                  <p:embed/>
                  <p:pic>
                    <p:nvPicPr>
                      <p:cNvPr id="55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7646" y="4160316"/>
                        <a:ext cx="298450" cy="204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3"/>
          <p:cNvGraphicFramePr>
            <a:graphicFrameLocks noChangeAspect="1"/>
          </p:cNvGraphicFramePr>
          <p:nvPr>
            <p:extLst/>
          </p:nvPr>
        </p:nvGraphicFramePr>
        <p:xfrm>
          <a:off x="1259632" y="4941168"/>
          <a:ext cx="6100762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335" name="Equation" r:id="rId67" imgW="2692080" imgH="368280" progId="Equation.DSMT4">
                  <p:embed/>
                </p:oleObj>
              </mc:Choice>
              <mc:Fallback>
                <p:oleObj name="Equation" r:id="rId67" imgW="2692080" imgH="368280" progId="Equation.DSMT4">
                  <p:embed/>
                  <p:pic>
                    <p:nvPicPr>
                      <p:cNvPr id="58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4941168"/>
                        <a:ext cx="6100762" cy="842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左大括号 4"/>
          <p:cNvSpPr/>
          <p:nvPr/>
        </p:nvSpPr>
        <p:spPr bwMode="auto">
          <a:xfrm>
            <a:off x="1093488" y="2450307"/>
            <a:ext cx="166143" cy="727075"/>
          </a:xfrm>
          <a:prstGeom prst="leftBrace">
            <a:avLst/>
          </a:prstGeom>
          <a:noFill/>
          <a:ln w="28575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graphicFrame>
        <p:nvGraphicFramePr>
          <p:cNvPr id="59" name="Object 3"/>
          <p:cNvGraphicFramePr>
            <a:graphicFrameLocks noChangeAspect="1"/>
          </p:cNvGraphicFramePr>
          <p:nvPr>
            <p:extLst/>
          </p:nvPr>
        </p:nvGraphicFramePr>
        <p:xfrm>
          <a:off x="-751" y="2636912"/>
          <a:ext cx="1044359" cy="288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336" name="Equation" r:id="rId69" imgW="558720" imgH="152280" progId="Equation.DSMT4">
                  <p:embed/>
                </p:oleObj>
              </mc:Choice>
              <mc:Fallback>
                <p:oleObj name="Equation" r:id="rId69" imgW="558720" imgH="152280" progId="Equation.DSMT4">
                  <p:embed/>
                  <p:pic>
                    <p:nvPicPr>
                      <p:cNvPr id="5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751" y="2636912"/>
                        <a:ext cx="1044359" cy="2882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任意多边形 62"/>
          <p:cNvSpPr/>
          <p:nvPr/>
        </p:nvSpPr>
        <p:spPr bwMode="auto">
          <a:xfrm>
            <a:off x="4124026" y="1019176"/>
            <a:ext cx="1429609" cy="294480"/>
          </a:xfrm>
          <a:custGeom>
            <a:avLst/>
            <a:gdLst>
              <a:gd name="connsiteX0" fmla="*/ 0 w 1331259"/>
              <a:gd name="connsiteY0" fmla="*/ 336177 h 363071"/>
              <a:gd name="connsiteX1" fmla="*/ 147918 w 1331259"/>
              <a:gd name="connsiteY1" fmla="*/ 201706 h 363071"/>
              <a:gd name="connsiteX2" fmla="*/ 215153 w 1331259"/>
              <a:gd name="connsiteY2" fmla="*/ 134471 h 363071"/>
              <a:gd name="connsiteX3" fmla="*/ 242048 w 1331259"/>
              <a:gd name="connsiteY3" fmla="*/ 107577 h 363071"/>
              <a:gd name="connsiteX4" fmla="*/ 322730 w 1331259"/>
              <a:gd name="connsiteY4" fmla="*/ 53789 h 363071"/>
              <a:gd name="connsiteX5" fmla="*/ 349624 w 1331259"/>
              <a:gd name="connsiteY5" fmla="*/ 26894 h 363071"/>
              <a:gd name="connsiteX6" fmla="*/ 430306 w 1331259"/>
              <a:gd name="connsiteY6" fmla="*/ 0 h 363071"/>
              <a:gd name="connsiteX7" fmla="*/ 591671 w 1331259"/>
              <a:gd name="connsiteY7" fmla="*/ 13447 h 363071"/>
              <a:gd name="connsiteX8" fmla="*/ 658906 w 1331259"/>
              <a:gd name="connsiteY8" fmla="*/ 26894 h 363071"/>
              <a:gd name="connsiteX9" fmla="*/ 766483 w 1331259"/>
              <a:gd name="connsiteY9" fmla="*/ 40341 h 363071"/>
              <a:gd name="connsiteX10" fmla="*/ 927848 w 1331259"/>
              <a:gd name="connsiteY10" fmla="*/ 94130 h 363071"/>
              <a:gd name="connsiteX11" fmla="*/ 968189 w 1331259"/>
              <a:gd name="connsiteY11" fmla="*/ 107577 h 363071"/>
              <a:gd name="connsiteX12" fmla="*/ 1008530 w 1331259"/>
              <a:gd name="connsiteY12" fmla="*/ 121024 h 363071"/>
              <a:gd name="connsiteX13" fmla="*/ 1183342 w 1331259"/>
              <a:gd name="connsiteY13" fmla="*/ 147918 h 363071"/>
              <a:gd name="connsiteX14" fmla="*/ 1223683 w 1331259"/>
              <a:gd name="connsiteY14" fmla="*/ 161365 h 363071"/>
              <a:gd name="connsiteX15" fmla="*/ 1290918 w 1331259"/>
              <a:gd name="connsiteY15" fmla="*/ 242047 h 363071"/>
              <a:gd name="connsiteX16" fmla="*/ 1304365 w 1331259"/>
              <a:gd name="connsiteY16" fmla="*/ 282389 h 363071"/>
              <a:gd name="connsiteX17" fmla="*/ 1317812 w 1331259"/>
              <a:gd name="connsiteY17" fmla="*/ 336177 h 363071"/>
              <a:gd name="connsiteX18" fmla="*/ 1331259 w 1331259"/>
              <a:gd name="connsiteY18" fmla="*/ 363071 h 363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331259" h="363071">
                <a:moveTo>
                  <a:pt x="0" y="336177"/>
                </a:moveTo>
                <a:cubicBezTo>
                  <a:pt x="42510" y="302169"/>
                  <a:pt x="119065" y="244986"/>
                  <a:pt x="147918" y="201706"/>
                </a:cubicBezTo>
                <a:cubicBezTo>
                  <a:pt x="194021" y="132552"/>
                  <a:pt x="151121" y="185696"/>
                  <a:pt x="215153" y="134471"/>
                </a:cubicBezTo>
                <a:cubicBezTo>
                  <a:pt x="225053" y="126551"/>
                  <a:pt x="231905" y="115184"/>
                  <a:pt x="242048" y="107577"/>
                </a:cubicBezTo>
                <a:cubicBezTo>
                  <a:pt x="267906" y="88184"/>
                  <a:pt x="299875" y="76645"/>
                  <a:pt x="322730" y="53789"/>
                </a:cubicBezTo>
                <a:cubicBezTo>
                  <a:pt x="331695" y="44824"/>
                  <a:pt x="338284" y="32564"/>
                  <a:pt x="349624" y="26894"/>
                </a:cubicBezTo>
                <a:cubicBezTo>
                  <a:pt x="374980" y="14216"/>
                  <a:pt x="430306" y="0"/>
                  <a:pt x="430306" y="0"/>
                </a:cubicBezTo>
                <a:cubicBezTo>
                  <a:pt x="484094" y="4482"/>
                  <a:pt x="538066" y="7141"/>
                  <a:pt x="591671" y="13447"/>
                </a:cubicBezTo>
                <a:cubicBezTo>
                  <a:pt x="614370" y="16117"/>
                  <a:pt x="636316" y="23419"/>
                  <a:pt x="658906" y="26894"/>
                </a:cubicBezTo>
                <a:cubicBezTo>
                  <a:pt x="694624" y="32389"/>
                  <a:pt x="730624" y="35859"/>
                  <a:pt x="766483" y="40341"/>
                </a:cubicBezTo>
                <a:lnTo>
                  <a:pt x="927848" y="94130"/>
                </a:lnTo>
                <a:lnTo>
                  <a:pt x="968189" y="107577"/>
                </a:lnTo>
                <a:cubicBezTo>
                  <a:pt x="981636" y="112059"/>
                  <a:pt x="994631" y="118244"/>
                  <a:pt x="1008530" y="121024"/>
                </a:cubicBezTo>
                <a:cubicBezTo>
                  <a:pt x="1111201" y="141558"/>
                  <a:pt x="1053086" y="131636"/>
                  <a:pt x="1183342" y="147918"/>
                </a:cubicBezTo>
                <a:cubicBezTo>
                  <a:pt x="1196789" y="152400"/>
                  <a:pt x="1211889" y="153502"/>
                  <a:pt x="1223683" y="161365"/>
                </a:cubicBezTo>
                <a:cubicBezTo>
                  <a:pt x="1254744" y="182073"/>
                  <a:pt x="1271073" y="212280"/>
                  <a:pt x="1290918" y="242047"/>
                </a:cubicBezTo>
                <a:cubicBezTo>
                  <a:pt x="1295400" y="255494"/>
                  <a:pt x="1300471" y="268760"/>
                  <a:pt x="1304365" y="282389"/>
                </a:cubicBezTo>
                <a:cubicBezTo>
                  <a:pt x="1309442" y="300159"/>
                  <a:pt x="1311968" y="318644"/>
                  <a:pt x="1317812" y="336177"/>
                </a:cubicBezTo>
                <a:cubicBezTo>
                  <a:pt x="1320981" y="345685"/>
                  <a:pt x="1326777" y="354106"/>
                  <a:pt x="1331259" y="363071"/>
                </a:cubicBezTo>
              </a:path>
            </a:pathLst>
          </a:custGeom>
          <a:noFill/>
          <a:ln w="28575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graphicFrame>
        <p:nvGraphicFramePr>
          <p:cNvPr id="64" name="Object 3"/>
          <p:cNvGraphicFramePr>
            <a:graphicFrameLocks noChangeAspect="1"/>
          </p:cNvGraphicFramePr>
          <p:nvPr>
            <p:extLst/>
          </p:nvPr>
        </p:nvGraphicFramePr>
        <p:xfrm>
          <a:off x="4371986" y="763811"/>
          <a:ext cx="995362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337" name="Equation" r:id="rId71" imgW="533160" imgH="152280" progId="Equation.DSMT4">
                  <p:embed/>
                </p:oleObj>
              </mc:Choice>
              <mc:Fallback>
                <p:oleObj name="Equation" r:id="rId71" imgW="533160" imgH="152280" progId="Equation.DSMT4">
                  <p:embed/>
                  <p:pic>
                    <p:nvPicPr>
                      <p:cNvPr id="6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1986" y="763811"/>
                        <a:ext cx="995362" cy="2889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" name="矩形 66"/>
          <p:cNvSpPr/>
          <p:nvPr/>
        </p:nvSpPr>
        <p:spPr bwMode="auto">
          <a:xfrm>
            <a:off x="4124027" y="2450307"/>
            <a:ext cx="1429608" cy="700087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cxnSp>
        <p:nvCxnSpPr>
          <p:cNvPr id="69" name="直接连接符 68"/>
          <p:cNvCxnSpPr>
            <a:stCxn id="5" idx="0"/>
          </p:cNvCxnSpPr>
          <p:nvPr/>
        </p:nvCxnSpPr>
        <p:spPr bwMode="auto">
          <a:xfrm>
            <a:off x="1259631" y="2450307"/>
            <a:ext cx="2864396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3">
                <a:lumMod val="40000"/>
                <a:lumOff val="60000"/>
              </a:schemeClr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71" name="直接连接符 70"/>
          <p:cNvCxnSpPr/>
          <p:nvPr/>
        </p:nvCxnSpPr>
        <p:spPr bwMode="auto">
          <a:xfrm>
            <a:off x="1259632" y="3140968"/>
            <a:ext cx="2864396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3">
                <a:lumMod val="60000"/>
                <a:lumOff val="40000"/>
              </a:schemeClr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73" name="直接连接符 72"/>
          <p:cNvCxnSpPr/>
          <p:nvPr/>
        </p:nvCxnSpPr>
        <p:spPr bwMode="auto">
          <a:xfrm>
            <a:off x="4124027" y="1294177"/>
            <a:ext cx="1" cy="1179148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3">
                <a:lumMod val="60000"/>
                <a:lumOff val="40000"/>
              </a:schemeClr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76" name="直接连接符 75"/>
          <p:cNvCxnSpPr>
            <a:stCxn id="63" idx="17"/>
          </p:cNvCxnSpPr>
          <p:nvPr/>
        </p:nvCxnSpPr>
        <p:spPr bwMode="auto">
          <a:xfrm>
            <a:off x="5539195" y="1291843"/>
            <a:ext cx="14440" cy="1158463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3">
                <a:lumMod val="60000"/>
                <a:lumOff val="40000"/>
              </a:schemeClr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sp>
        <p:nvSpPr>
          <p:cNvPr id="80" name="线形标注 2 79"/>
          <p:cNvSpPr/>
          <p:nvPr/>
        </p:nvSpPr>
        <p:spPr bwMode="auto">
          <a:xfrm>
            <a:off x="32315" y="692696"/>
            <a:ext cx="2739485" cy="358239"/>
          </a:xfrm>
          <a:prstGeom prst="borderCallout2">
            <a:avLst>
              <a:gd name="adj1" fmla="val 17676"/>
              <a:gd name="adj2" fmla="val 101604"/>
              <a:gd name="adj3" fmla="val 16602"/>
              <a:gd name="adj4" fmla="val 121445"/>
              <a:gd name="adj5" fmla="val 531261"/>
              <a:gd name="adj6" fmla="val 163502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r>
              <a:rPr lang="en-US" altLang="zh-CN" sz="2000" dirty="0" smtClean="0">
                <a:latin typeface="Times" panose="02020603050405020304" pitchFamily="18" charset="0"/>
                <a:ea typeface="楷体" panose="02010609060101010101" pitchFamily="49" charset="-122"/>
                <a:cs typeface="Times" panose="02020603050405020304" pitchFamily="18" charset="0"/>
              </a:rPr>
              <a:t>P(a&lt;X&lt;b, c&lt;Y&lt;d)=</a:t>
            </a:r>
            <a:r>
              <a:rPr lang="zh-CN" altLang="en-US" sz="2000" dirty="0" smtClean="0">
                <a:latin typeface="Times" panose="02020603050405020304" pitchFamily="18" charset="0"/>
                <a:ea typeface="楷体" panose="02010609060101010101" pitchFamily="49" charset="-122"/>
                <a:cs typeface="Times" panose="02020603050405020304" pitchFamily="18" charset="0"/>
              </a:rPr>
              <a:t>求和</a:t>
            </a:r>
            <a:endParaRPr kumimoji="0" lang="zh-CN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" panose="02020603050405020304" pitchFamily="18" charset="0"/>
              <a:ea typeface="楷体" panose="02010609060101010101" pitchFamily="49" charset="-122"/>
              <a:cs typeface="Times" panose="02020603050405020304" pitchFamily="18" charset="0"/>
            </a:endParaRPr>
          </a:p>
        </p:txBody>
      </p:sp>
      <p:cxnSp>
        <p:nvCxnSpPr>
          <p:cNvPr id="81" name="直接连接符 80"/>
          <p:cNvCxnSpPr/>
          <p:nvPr/>
        </p:nvCxnSpPr>
        <p:spPr bwMode="auto">
          <a:xfrm>
            <a:off x="5539195" y="2434432"/>
            <a:ext cx="2201157" cy="15874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3">
                <a:lumMod val="40000"/>
                <a:lumOff val="60000"/>
              </a:schemeClr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85" name="直接连接符 84"/>
          <p:cNvCxnSpPr/>
          <p:nvPr/>
        </p:nvCxnSpPr>
        <p:spPr bwMode="auto">
          <a:xfrm>
            <a:off x="5508104" y="3140968"/>
            <a:ext cx="2232248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accent3">
                <a:lumMod val="40000"/>
                <a:lumOff val="60000"/>
              </a:schemeClr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sp>
        <p:nvSpPr>
          <p:cNvPr id="86" name="右大括号 85"/>
          <p:cNvSpPr/>
          <p:nvPr/>
        </p:nvSpPr>
        <p:spPr bwMode="auto">
          <a:xfrm>
            <a:off x="7740352" y="2450306"/>
            <a:ext cx="143974" cy="700088"/>
          </a:xfrm>
          <a:prstGeom prst="rightBrace">
            <a:avLst/>
          </a:prstGeom>
          <a:noFill/>
          <a:ln w="28575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89" name="矩形 88"/>
          <p:cNvSpPr/>
          <p:nvPr/>
        </p:nvSpPr>
        <p:spPr bwMode="auto">
          <a:xfrm>
            <a:off x="7944702" y="2410569"/>
            <a:ext cx="1210817" cy="65839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schemeClr val="dk1"/>
                </a:solidFill>
                <a:latin typeface="Times" panose="02020603050405020304" pitchFamily="18" charset="0"/>
                <a:ea typeface="楷体" panose="02010609060101010101" pitchFamily="49" charset="-122"/>
                <a:cs typeface="Times" panose="02020603050405020304" pitchFamily="18" charset="0"/>
              </a:rPr>
              <a:t>P(a&lt;X&lt;b)=</a:t>
            </a:r>
            <a:r>
              <a:rPr lang="zh-CN" altLang="en-US" sz="2000" dirty="0">
                <a:solidFill>
                  <a:schemeClr val="dk1"/>
                </a:solidFill>
                <a:latin typeface="Times" panose="02020603050405020304" pitchFamily="18" charset="0"/>
                <a:ea typeface="楷体" panose="02010609060101010101" pitchFamily="49" charset="-122"/>
                <a:cs typeface="Times" panose="02020603050405020304" pitchFamily="18" charset="0"/>
              </a:rPr>
              <a:t>求和</a:t>
            </a:r>
          </a:p>
        </p:txBody>
      </p:sp>
      <p:sp>
        <p:nvSpPr>
          <p:cNvPr id="60" name="矩形 59"/>
          <p:cNvSpPr/>
          <p:nvPr/>
        </p:nvSpPr>
        <p:spPr>
          <a:xfrm>
            <a:off x="2483768" y="251937"/>
            <a:ext cx="430278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4.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二维离散型随机变量</a:t>
            </a:r>
            <a:endParaRPr lang="zh-CN" altLang="en-US" sz="3200" b="1" dirty="0">
              <a:solidFill>
                <a:srgbClr val="0000FF"/>
              </a:solidFill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9705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1255043" y="4653136"/>
            <a:ext cx="7709445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3.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判断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X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与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Y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是否相互独立</a:t>
            </a:r>
            <a:endParaRPr lang="en-US" altLang="zh-CN" sz="2400" dirty="0" smtClean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514350" indent="-514350"/>
            <a:endParaRPr lang="en-US" altLang="zh-CN" sz="2400" dirty="0" smtClean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514350" indent="-514350"/>
            <a:r>
              <a:rPr lang="en-US" altLang="zh-CN" sz="24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如果对于任意的</a:t>
            </a:r>
            <a:r>
              <a:rPr lang="en-US" altLang="zh-CN" sz="2400" dirty="0" err="1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与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j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下列等式均成立则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X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与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Y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相互独立</a:t>
            </a:r>
            <a:endParaRPr lang="en-US" altLang="zh-CN" sz="2400" dirty="0" smtClean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514350" indent="-514350">
              <a:lnSpc>
                <a:spcPct val="150000"/>
              </a:lnSpc>
            </a:pPr>
            <a:endParaRPr lang="en-US" altLang="zh-CN" sz="2400" dirty="0" smtClean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514350" indent="-514350"/>
            <a:r>
              <a:rPr lang="en-US" altLang="zh-CN" sz="24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 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存在一对</a:t>
            </a:r>
            <a:r>
              <a:rPr lang="en-US" altLang="zh-CN" sz="2400" dirty="0" err="1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, j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上述等式不成立则不独立。</a:t>
            </a:r>
            <a:endParaRPr lang="en-US" altLang="zh-CN" sz="2400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graphicFrame>
        <p:nvGraphicFramePr>
          <p:cNvPr id="7" name="Group 2"/>
          <p:cNvGraphicFramePr>
            <a:graphicFrameLocks noGrp="1"/>
          </p:cNvGraphicFramePr>
          <p:nvPr/>
        </p:nvGraphicFramePr>
        <p:xfrm>
          <a:off x="1369714" y="1124744"/>
          <a:ext cx="6370638" cy="3371216"/>
        </p:xfrm>
        <a:graphic>
          <a:graphicData uri="http://schemas.openxmlformats.org/drawingml/2006/table">
            <a:tbl>
              <a:tblPr/>
              <a:tblGrid>
                <a:gridCol w="142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58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58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58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58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699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zh-CN" alt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Object 54"/>
          <p:cNvGraphicFramePr>
            <a:graphicFrameLocks noChangeAspect="1"/>
          </p:cNvGraphicFramePr>
          <p:nvPr/>
        </p:nvGraphicFramePr>
        <p:xfrm>
          <a:off x="2338089" y="1207294"/>
          <a:ext cx="242888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1038" name="Equation" r:id="rId3" imgW="126835" imgH="139518" progId="Equation.DSMT4">
                  <p:embed/>
                </p:oleObj>
              </mc:Choice>
              <mc:Fallback>
                <p:oleObj name="Equation" r:id="rId3" imgW="126835" imgH="139518" progId="Equation.DSMT4">
                  <p:embed/>
                  <p:pic>
                    <p:nvPicPr>
                      <p:cNvPr id="8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8089" y="1207294"/>
                        <a:ext cx="242888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5"/>
          <p:cNvGraphicFramePr>
            <a:graphicFrameLocks noChangeAspect="1"/>
          </p:cNvGraphicFramePr>
          <p:nvPr/>
        </p:nvGraphicFramePr>
        <p:xfrm>
          <a:off x="1674514" y="1535907"/>
          <a:ext cx="29845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1039" name="Equation" r:id="rId5" imgW="152334" imgH="139639" progId="Equation.DSMT4">
                  <p:embed/>
                </p:oleObj>
              </mc:Choice>
              <mc:Fallback>
                <p:oleObj name="Equation" r:id="rId5" imgW="152334" imgH="139639" progId="Equation.DSMT4">
                  <p:embed/>
                  <p:pic>
                    <p:nvPicPr>
                      <p:cNvPr id="1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4514" y="1535907"/>
                        <a:ext cx="29845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6"/>
          <p:cNvGraphicFramePr>
            <a:graphicFrameLocks noChangeAspect="1"/>
          </p:cNvGraphicFramePr>
          <p:nvPr/>
        </p:nvGraphicFramePr>
        <p:xfrm>
          <a:off x="3077864" y="1342232"/>
          <a:ext cx="2794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1040" name="Equation" r:id="rId7" imgW="139639" imgH="190417" progId="Equation.DSMT4">
                  <p:embed/>
                </p:oleObj>
              </mc:Choice>
              <mc:Fallback>
                <p:oleObj name="Equation" r:id="rId7" imgW="139639" imgH="190417" progId="Equation.DSMT4">
                  <p:embed/>
                  <p:pic>
                    <p:nvPicPr>
                      <p:cNvPr id="11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7864" y="1342232"/>
                        <a:ext cx="27940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57"/>
          <p:cNvGraphicFramePr>
            <a:graphicFrameLocks noChangeAspect="1"/>
          </p:cNvGraphicFramePr>
          <p:nvPr/>
        </p:nvGraphicFramePr>
        <p:xfrm>
          <a:off x="4124027" y="1313657"/>
          <a:ext cx="296862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1041" name="Equation" r:id="rId9" imgW="152334" imgH="190417" progId="Equation.DSMT4">
                  <p:embed/>
                </p:oleObj>
              </mc:Choice>
              <mc:Fallback>
                <p:oleObj name="Equation" r:id="rId9" imgW="152334" imgH="190417" progId="Equation.DSMT4">
                  <p:embed/>
                  <p:pic>
                    <p:nvPicPr>
                      <p:cNvPr id="14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4027" y="1313657"/>
                        <a:ext cx="296862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58"/>
          <p:cNvGraphicFramePr>
            <a:graphicFrameLocks noChangeAspect="1"/>
          </p:cNvGraphicFramePr>
          <p:nvPr/>
        </p:nvGraphicFramePr>
        <p:xfrm>
          <a:off x="5152727" y="3588544"/>
          <a:ext cx="298450" cy="204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1042" name="Equation" r:id="rId11" imgW="152268" imgH="101512" progId="Equation.DSMT4">
                  <p:embed/>
                </p:oleObj>
              </mc:Choice>
              <mc:Fallback>
                <p:oleObj name="Equation" r:id="rId11" imgW="152268" imgH="101512" progId="Equation.DSMT4">
                  <p:embed/>
                  <p:pic>
                    <p:nvPicPr>
                      <p:cNvPr id="15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2727" y="3588544"/>
                        <a:ext cx="298450" cy="204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59"/>
          <p:cNvGraphicFramePr>
            <a:graphicFrameLocks noChangeAspect="1"/>
          </p:cNvGraphicFramePr>
          <p:nvPr/>
        </p:nvGraphicFramePr>
        <p:xfrm>
          <a:off x="6053138" y="1343025"/>
          <a:ext cx="346075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1043" name="Equation" r:id="rId13" imgW="177480" imgH="190440" progId="Equation.DSMT4">
                  <p:embed/>
                </p:oleObj>
              </mc:Choice>
              <mc:Fallback>
                <p:oleObj name="Equation" r:id="rId13" imgW="177480" imgH="190440" progId="Equation.DSMT4">
                  <p:embed/>
                  <p:pic>
                    <p:nvPicPr>
                      <p:cNvPr id="16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3138" y="1343025"/>
                        <a:ext cx="346075" cy="365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60"/>
          <p:cNvGraphicFramePr>
            <a:graphicFrameLocks noChangeAspect="1"/>
          </p:cNvGraphicFramePr>
          <p:nvPr/>
        </p:nvGraphicFramePr>
        <p:xfrm>
          <a:off x="5092402" y="1416844"/>
          <a:ext cx="298450" cy="204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1044" name="Equation" r:id="rId15" imgW="152268" imgH="101512" progId="Equation.DSMT4">
                  <p:embed/>
                </p:oleObj>
              </mc:Choice>
              <mc:Fallback>
                <p:oleObj name="Equation" r:id="rId15" imgW="152268" imgH="101512" progId="Equation.DSMT4">
                  <p:embed/>
                  <p:pic>
                    <p:nvPicPr>
                      <p:cNvPr id="17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2402" y="1416844"/>
                        <a:ext cx="298450" cy="204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61"/>
          <p:cNvGraphicFramePr>
            <a:graphicFrameLocks noChangeAspect="1"/>
          </p:cNvGraphicFramePr>
          <p:nvPr/>
        </p:nvGraphicFramePr>
        <p:xfrm>
          <a:off x="1863427" y="1916907"/>
          <a:ext cx="31750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1045" name="Equation" r:id="rId17" imgW="139639" imgH="190417" progId="Equation.DSMT4">
                  <p:embed/>
                </p:oleObj>
              </mc:Choice>
              <mc:Fallback>
                <p:oleObj name="Equation" r:id="rId17" imgW="139639" imgH="190417" progId="Equation.DSMT4">
                  <p:embed/>
                  <p:pic>
                    <p:nvPicPr>
                      <p:cNvPr id="19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3427" y="1916907"/>
                        <a:ext cx="317500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62"/>
          <p:cNvGraphicFramePr>
            <a:graphicFrameLocks noChangeAspect="1"/>
          </p:cNvGraphicFramePr>
          <p:nvPr/>
        </p:nvGraphicFramePr>
        <p:xfrm>
          <a:off x="3058814" y="1910557"/>
          <a:ext cx="428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1046" name="Equation" r:id="rId19" imgW="190417" imgH="190417" progId="Equation.DSMT4">
                  <p:embed/>
                </p:oleObj>
              </mc:Choice>
              <mc:Fallback>
                <p:oleObj name="Equation" r:id="rId19" imgW="190417" imgH="190417" progId="Equation.DSMT4">
                  <p:embed/>
                  <p:pic>
                    <p:nvPicPr>
                      <p:cNvPr id="2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8814" y="1910557"/>
                        <a:ext cx="428625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63"/>
          <p:cNvGraphicFramePr>
            <a:graphicFrameLocks noChangeAspect="1"/>
          </p:cNvGraphicFramePr>
          <p:nvPr/>
        </p:nvGraphicFramePr>
        <p:xfrm>
          <a:off x="4052589" y="1947069"/>
          <a:ext cx="4286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1047" name="Equation" r:id="rId21" imgW="190417" imgH="190417" progId="Equation.DSMT4">
                  <p:embed/>
                </p:oleObj>
              </mc:Choice>
              <mc:Fallback>
                <p:oleObj name="Equation" r:id="rId21" imgW="190417" imgH="190417" progId="Equation.DSMT4">
                  <p:embed/>
                  <p:pic>
                    <p:nvPicPr>
                      <p:cNvPr id="21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2589" y="1947069"/>
                        <a:ext cx="428625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64"/>
          <p:cNvGraphicFramePr>
            <a:graphicFrameLocks noChangeAspect="1"/>
          </p:cNvGraphicFramePr>
          <p:nvPr/>
        </p:nvGraphicFramePr>
        <p:xfrm>
          <a:off x="6056313" y="1943100"/>
          <a:ext cx="485775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1048" name="Equation" r:id="rId23" imgW="215640" imgH="190440" progId="Equation.DSMT4">
                  <p:embed/>
                </p:oleObj>
              </mc:Choice>
              <mc:Fallback>
                <p:oleObj name="Equation" r:id="rId23" imgW="215640" imgH="190440" progId="Equation.DSMT4">
                  <p:embed/>
                  <p:pic>
                    <p:nvPicPr>
                      <p:cNvPr id="22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6313" y="1943100"/>
                        <a:ext cx="485775" cy="436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65"/>
          <p:cNvGraphicFramePr>
            <a:graphicFrameLocks noChangeAspect="1"/>
          </p:cNvGraphicFramePr>
          <p:nvPr/>
        </p:nvGraphicFramePr>
        <p:xfrm>
          <a:off x="1858664" y="2450307"/>
          <a:ext cx="354013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1049" name="Equation" r:id="rId25" imgW="152334" imgH="190417" progId="Equation.DSMT4">
                  <p:embed/>
                </p:oleObj>
              </mc:Choice>
              <mc:Fallback>
                <p:oleObj name="Equation" r:id="rId25" imgW="152334" imgH="190417" progId="Equation.DSMT4">
                  <p:embed/>
                  <p:pic>
                    <p:nvPicPr>
                      <p:cNvPr id="23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8664" y="2450307"/>
                        <a:ext cx="354013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66"/>
          <p:cNvGraphicFramePr>
            <a:graphicFrameLocks noChangeAspect="1"/>
          </p:cNvGraphicFramePr>
          <p:nvPr/>
        </p:nvGraphicFramePr>
        <p:xfrm>
          <a:off x="3036589" y="2451894"/>
          <a:ext cx="465138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1050" name="Equation" r:id="rId27" imgW="203112" imgH="190417" progId="Equation.DSMT4">
                  <p:embed/>
                </p:oleObj>
              </mc:Choice>
              <mc:Fallback>
                <p:oleObj name="Equation" r:id="rId27" imgW="203112" imgH="190417" progId="Equation.DSMT4">
                  <p:embed/>
                  <p:pic>
                    <p:nvPicPr>
                      <p:cNvPr id="24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6589" y="2451894"/>
                        <a:ext cx="465138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67"/>
          <p:cNvGraphicFramePr>
            <a:graphicFrameLocks noChangeAspect="1"/>
          </p:cNvGraphicFramePr>
          <p:nvPr/>
        </p:nvGraphicFramePr>
        <p:xfrm>
          <a:off x="4079577" y="2434432"/>
          <a:ext cx="465137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1051" name="Equation" r:id="rId29" imgW="203112" imgH="190417" progId="Equation.DSMT4">
                  <p:embed/>
                </p:oleObj>
              </mc:Choice>
              <mc:Fallback>
                <p:oleObj name="Equation" r:id="rId29" imgW="203112" imgH="190417" progId="Equation.DSMT4">
                  <p:embed/>
                  <p:pic>
                    <p:nvPicPr>
                      <p:cNvPr id="25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577" y="2434432"/>
                        <a:ext cx="465137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68"/>
          <p:cNvGraphicFramePr>
            <a:graphicFrameLocks noChangeAspect="1"/>
          </p:cNvGraphicFramePr>
          <p:nvPr/>
        </p:nvGraphicFramePr>
        <p:xfrm>
          <a:off x="7073900" y="1309688"/>
          <a:ext cx="373063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1052" name="Equation" r:id="rId31" imgW="190440" imgH="190440" progId="Equation.DSMT4">
                  <p:embed/>
                </p:oleObj>
              </mc:Choice>
              <mc:Fallback>
                <p:oleObj name="Equation" r:id="rId31" imgW="190440" imgH="190440" progId="Equation.DSMT4">
                  <p:embed/>
                  <p:pic>
                    <p:nvPicPr>
                      <p:cNvPr id="26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3900" y="1309688"/>
                        <a:ext cx="373063" cy="384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69"/>
          <p:cNvGraphicFramePr>
            <a:graphicFrameLocks noChangeAspect="1"/>
          </p:cNvGraphicFramePr>
          <p:nvPr/>
        </p:nvGraphicFramePr>
        <p:xfrm>
          <a:off x="6027738" y="2473325"/>
          <a:ext cx="512762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1053" name="Equation" r:id="rId33" imgW="228600" imgH="190440" progId="Equation.DSMT4">
                  <p:embed/>
                </p:oleObj>
              </mc:Choice>
              <mc:Fallback>
                <p:oleObj name="Equation" r:id="rId33" imgW="228600" imgH="190440" progId="Equation.DSMT4">
                  <p:embed/>
                  <p:pic>
                    <p:nvPicPr>
                      <p:cNvPr id="27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7738" y="2473325"/>
                        <a:ext cx="512762" cy="436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70"/>
          <p:cNvGraphicFramePr>
            <a:graphicFrameLocks noChangeAspect="1"/>
          </p:cNvGraphicFramePr>
          <p:nvPr/>
        </p:nvGraphicFramePr>
        <p:xfrm>
          <a:off x="5140027" y="2588419"/>
          <a:ext cx="298450" cy="204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1054" name="Equation" r:id="rId35" imgW="152268" imgH="101512" progId="Equation.DSMT4">
                  <p:embed/>
                </p:oleObj>
              </mc:Choice>
              <mc:Fallback>
                <p:oleObj name="Equation" r:id="rId35" imgW="152268" imgH="101512" progId="Equation.DSMT4">
                  <p:embed/>
                  <p:pic>
                    <p:nvPicPr>
                      <p:cNvPr id="28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0027" y="2588419"/>
                        <a:ext cx="298450" cy="204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73"/>
          <p:cNvGraphicFramePr>
            <a:graphicFrameLocks noChangeAspect="1"/>
          </p:cNvGraphicFramePr>
          <p:nvPr>
            <p:extLst/>
          </p:nvPr>
        </p:nvGraphicFramePr>
        <p:xfrm>
          <a:off x="6718573" y="2974975"/>
          <a:ext cx="1093787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1055" name="Equation" r:id="rId36" imgW="558720" imgH="190440" progId="Equation.DSMT4">
                  <p:embed/>
                </p:oleObj>
              </mc:Choice>
              <mc:Fallback>
                <p:oleObj name="Equation" r:id="rId36" imgW="558720" imgH="190440" progId="Equation.DSMT4">
                  <p:embed/>
                  <p:pic>
                    <p:nvPicPr>
                      <p:cNvPr id="31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8573" y="2974975"/>
                        <a:ext cx="1093787" cy="373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75"/>
          <p:cNvGraphicFramePr>
            <a:graphicFrameLocks noChangeAspect="1"/>
          </p:cNvGraphicFramePr>
          <p:nvPr/>
        </p:nvGraphicFramePr>
        <p:xfrm>
          <a:off x="6205239" y="3055144"/>
          <a:ext cx="149225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1056" name="Equation" r:id="rId38" imgW="76068" imgH="152136" progId="Equation.DSMT4">
                  <p:embed/>
                </p:oleObj>
              </mc:Choice>
              <mc:Fallback>
                <p:oleObj name="Equation" r:id="rId38" imgW="76068" imgH="152136" progId="Equation.DSMT4">
                  <p:embed/>
                  <p:pic>
                    <p:nvPicPr>
                      <p:cNvPr id="33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5239" y="3055144"/>
                        <a:ext cx="149225" cy="29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77"/>
          <p:cNvGraphicFramePr>
            <a:graphicFrameLocks noChangeAspect="1"/>
          </p:cNvGraphicFramePr>
          <p:nvPr/>
        </p:nvGraphicFramePr>
        <p:xfrm>
          <a:off x="1890713" y="3492500"/>
          <a:ext cx="34607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1057" name="Equation" r:id="rId40" imgW="152280" imgH="190440" progId="Equation.DSMT4">
                  <p:embed/>
                </p:oleObj>
              </mc:Choice>
              <mc:Fallback>
                <p:oleObj name="Equation" r:id="rId40" imgW="152280" imgH="190440" progId="Equation.DSMT4">
                  <p:embed/>
                  <p:pic>
                    <p:nvPicPr>
                      <p:cNvPr id="35" name="Object 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0713" y="3492500"/>
                        <a:ext cx="346075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78"/>
          <p:cNvGraphicFramePr>
            <a:graphicFrameLocks noChangeAspect="1"/>
          </p:cNvGraphicFramePr>
          <p:nvPr/>
        </p:nvGraphicFramePr>
        <p:xfrm>
          <a:off x="3108325" y="3535363"/>
          <a:ext cx="438150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1058" name="Equation" r:id="rId42" imgW="190440" imgH="190440" progId="Equation.DSMT4">
                  <p:embed/>
                </p:oleObj>
              </mc:Choice>
              <mc:Fallback>
                <p:oleObj name="Equation" r:id="rId42" imgW="190440" imgH="190440" progId="Equation.DSMT4">
                  <p:embed/>
                  <p:pic>
                    <p:nvPicPr>
                      <p:cNvPr id="36" name="Object 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8325" y="3535363"/>
                        <a:ext cx="438150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79"/>
          <p:cNvGraphicFramePr>
            <a:graphicFrameLocks noChangeAspect="1"/>
          </p:cNvGraphicFramePr>
          <p:nvPr/>
        </p:nvGraphicFramePr>
        <p:xfrm>
          <a:off x="4127500" y="3494088"/>
          <a:ext cx="48577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1059" name="Equation" r:id="rId44" imgW="215640" imgH="190440" progId="Equation.DSMT4">
                  <p:embed/>
                </p:oleObj>
              </mc:Choice>
              <mc:Fallback>
                <p:oleObj name="Equation" r:id="rId44" imgW="215640" imgH="190440" progId="Equation.DSMT4">
                  <p:embed/>
                  <p:pic>
                    <p:nvPicPr>
                      <p:cNvPr id="37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7500" y="3494088"/>
                        <a:ext cx="485775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81"/>
          <p:cNvGraphicFramePr>
            <a:graphicFrameLocks noChangeAspect="1"/>
          </p:cNvGraphicFramePr>
          <p:nvPr/>
        </p:nvGraphicFramePr>
        <p:xfrm>
          <a:off x="5084464" y="2061369"/>
          <a:ext cx="298450" cy="204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1060" name="Equation" r:id="rId46" imgW="152268" imgH="101512" progId="Equation.DSMT4">
                  <p:embed/>
                </p:oleObj>
              </mc:Choice>
              <mc:Fallback>
                <p:oleObj name="Equation" r:id="rId46" imgW="152268" imgH="101512" progId="Equation.DSMT4">
                  <p:embed/>
                  <p:pic>
                    <p:nvPicPr>
                      <p:cNvPr id="39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4464" y="2061369"/>
                        <a:ext cx="298450" cy="204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82"/>
          <p:cNvGraphicFramePr>
            <a:graphicFrameLocks noChangeAspect="1"/>
          </p:cNvGraphicFramePr>
          <p:nvPr/>
        </p:nvGraphicFramePr>
        <p:xfrm>
          <a:off x="4228802" y="3004344"/>
          <a:ext cx="149225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1061" name="Equation" r:id="rId47" imgW="76068" imgH="152136" progId="Equation.DSMT4">
                  <p:embed/>
                </p:oleObj>
              </mc:Choice>
              <mc:Fallback>
                <p:oleObj name="Equation" r:id="rId47" imgW="76068" imgH="152136" progId="Equation.DSMT4">
                  <p:embed/>
                  <p:pic>
                    <p:nvPicPr>
                      <p:cNvPr id="40" name="Object 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8802" y="3004344"/>
                        <a:ext cx="149225" cy="29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83"/>
          <p:cNvGraphicFramePr>
            <a:graphicFrameLocks noChangeAspect="1"/>
          </p:cNvGraphicFramePr>
          <p:nvPr/>
        </p:nvGraphicFramePr>
        <p:xfrm>
          <a:off x="3217564" y="3028157"/>
          <a:ext cx="149225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1062" name="Equation" r:id="rId48" imgW="76068" imgH="152136" progId="Equation.DSMT4">
                  <p:embed/>
                </p:oleObj>
              </mc:Choice>
              <mc:Fallback>
                <p:oleObj name="Equation" r:id="rId48" imgW="76068" imgH="152136" progId="Equation.DSMT4">
                  <p:embed/>
                  <p:pic>
                    <p:nvPicPr>
                      <p:cNvPr id="41" name="Object 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7564" y="3028157"/>
                        <a:ext cx="149225" cy="29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84"/>
          <p:cNvGraphicFramePr>
            <a:graphicFrameLocks noChangeAspect="1"/>
          </p:cNvGraphicFramePr>
          <p:nvPr/>
        </p:nvGraphicFramePr>
        <p:xfrm>
          <a:off x="1980902" y="3077369"/>
          <a:ext cx="149225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1063" name="Equation" r:id="rId49" imgW="76068" imgH="152136" progId="Equation.DSMT4">
                  <p:embed/>
                </p:oleObj>
              </mc:Choice>
              <mc:Fallback>
                <p:oleObj name="Equation" r:id="rId49" imgW="76068" imgH="152136" progId="Equation.DSMT4">
                  <p:embed/>
                  <p:pic>
                    <p:nvPicPr>
                      <p:cNvPr id="42" name="Object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0902" y="3077369"/>
                        <a:ext cx="149225" cy="29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85"/>
          <p:cNvGraphicFramePr>
            <a:graphicFrameLocks noChangeAspect="1"/>
          </p:cNvGraphicFramePr>
          <p:nvPr/>
        </p:nvGraphicFramePr>
        <p:xfrm>
          <a:off x="6924824" y="1827734"/>
          <a:ext cx="671512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1064" name="Equation" r:id="rId50" imgW="342720" imgH="330120" progId="Equation.DSMT4">
                  <p:embed/>
                </p:oleObj>
              </mc:Choice>
              <mc:Fallback>
                <p:oleObj name="Equation" r:id="rId50" imgW="342720" imgH="330120" progId="Equation.DSMT4">
                  <p:embed/>
                  <p:pic>
                    <p:nvPicPr>
                      <p:cNvPr id="43" name="Object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4824" y="1827734"/>
                        <a:ext cx="671512" cy="665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86"/>
          <p:cNvGraphicFramePr>
            <a:graphicFrameLocks noChangeAspect="1"/>
          </p:cNvGraphicFramePr>
          <p:nvPr>
            <p:extLst/>
          </p:nvPr>
        </p:nvGraphicFramePr>
        <p:xfrm>
          <a:off x="5164138" y="2954338"/>
          <a:ext cx="34925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1065" name="Equation" r:id="rId52" imgW="177480" imgH="203040" progId="Equation.DSMT4">
                  <p:embed/>
                </p:oleObj>
              </mc:Choice>
              <mc:Fallback>
                <p:oleObj name="Equation" r:id="rId52" imgW="177480" imgH="203040" progId="Equation.DSMT4">
                  <p:embed/>
                  <p:pic>
                    <p:nvPicPr>
                      <p:cNvPr id="44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4138" y="2954338"/>
                        <a:ext cx="349250" cy="396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Line 87"/>
          <p:cNvSpPr>
            <a:spLocks noChangeShapeType="1"/>
          </p:cNvSpPr>
          <p:nvPr/>
        </p:nvSpPr>
        <p:spPr bwMode="auto">
          <a:xfrm>
            <a:off x="1403648" y="1183592"/>
            <a:ext cx="1368152" cy="720080"/>
          </a:xfrm>
          <a:prstGeom prst="line">
            <a:avLst/>
          </a:prstGeom>
          <a:noFill/>
          <a:ln w="19050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0" name="Object 85"/>
          <p:cNvGraphicFramePr>
            <a:graphicFrameLocks noChangeAspect="1"/>
          </p:cNvGraphicFramePr>
          <p:nvPr/>
        </p:nvGraphicFramePr>
        <p:xfrm>
          <a:off x="6913563" y="2332038"/>
          <a:ext cx="695325" cy="665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1066" name="Equation" r:id="rId54" imgW="355320" imgH="330120" progId="Equation.DSMT4">
                  <p:embed/>
                </p:oleObj>
              </mc:Choice>
              <mc:Fallback>
                <p:oleObj name="Equation" r:id="rId54" imgW="355320" imgH="330120" progId="Equation.DSMT4">
                  <p:embed/>
                  <p:pic>
                    <p:nvPicPr>
                      <p:cNvPr id="50" name="Object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3563" y="2332038"/>
                        <a:ext cx="695325" cy="665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6921631" y="3356992"/>
          <a:ext cx="674705" cy="6497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1067" name="Equation" r:id="rId56" imgW="342720" imgH="330120" progId="Equation.DSMT4">
                  <p:embed/>
                </p:oleObj>
              </mc:Choice>
              <mc:Fallback>
                <p:oleObj name="Equation" r:id="rId56" imgW="342720" imgH="330120" progId="Equation.DSMT4">
                  <p:embed/>
                  <p:pic>
                    <p:nvPicPr>
                      <p:cNvPr id="2" name="对象 1"/>
                      <p:cNvPicPr/>
                      <p:nvPr/>
                    </p:nvPicPr>
                    <p:blipFill>
                      <a:blip r:embed="rId57"/>
                      <a:stretch>
                        <a:fillRect/>
                      </a:stretch>
                    </p:blipFill>
                    <p:spPr>
                      <a:xfrm>
                        <a:off x="6921631" y="3356992"/>
                        <a:ext cx="674705" cy="6497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68"/>
          <p:cNvGraphicFramePr>
            <a:graphicFrameLocks noChangeAspect="1"/>
          </p:cNvGraphicFramePr>
          <p:nvPr/>
        </p:nvGraphicFramePr>
        <p:xfrm>
          <a:off x="1864518" y="4068222"/>
          <a:ext cx="398463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1068" name="Equation" r:id="rId58" imgW="203040" imgH="203040" progId="Equation.DSMT4">
                  <p:embed/>
                </p:oleObj>
              </mc:Choice>
              <mc:Fallback>
                <p:oleObj name="Equation" r:id="rId58" imgW="203040" imgH="203040" progId="Equation.DSMT4">
                  <p:embed/>
                  <p:pic>
                    <p:nvPicPr>
                      <p:cNvPr id="51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4518" y="4068222"/>
                        <a:ext cx="398463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85"/>
          <p:cNvGraphicFramePr>
            <a:graphicFrameLocks noChangeAspect="1"/>
          </p:cNvGraphicFramePr>
          <p:nvPr/>
        </p:nvGraphicFramePr>
        <p:xfrm>
          <a:off x="3038996" y="3906000"/>
          <a:ext cx="596900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1069" name="Equation" r:id="rId60" imgW="304560" imgH="317160" progId="Equation.DSMT4">
                  <p:embed/>
                </p:oleObj>
              </mc:Choice>
              <mc:Fallback>
                <p:oleObj name="Equation" r:id="rId60" imgW="304560" imgH="317160" progId="Equation.DSMT4">
                  <p:embed/>
                  <p:pic>
                    <p:nvPicPr>
                      <p:cNvPr id="52" name="Object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8996" y="3906000"/>
                        <a:ext cx="596900" cy="639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85"/>
          <p:cNvGraphicFramePr>
            <a:graphicFrameLocks noChangeAspect="1"/>
          </p:cNvGraphicFramePr>
          <p:nvPr/>
        </p:nvGraphicFramePr>
        <p:xfrm>
          <a:off x="3983038" y="3905250"/>
          <a:ext cx="622300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1070" name="Equation" r:id="rId62" imgW="317160" imgH="317160" progId="Equation.DSMT4">
                  <p:embed/>
                </p:oleObj>
              </mc:Choice>
              <mc:Fallback>
                <p:oleObj name="Equation" r:id="rId62" imgW="317160" imgH="317160" progId="Equation.DSMT4">
                  <p:embed/>
                  <p:pic>
                    <p:nvPicPr>
                      <p:cNvPr id="53" name="Object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3038" y="3905250"/>
                        <a:ext cx="622300" cy="639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85"/>
          <p:cNvGraphicFramePr>
            <a:graphicFrameLocks noChangeAspect="1"/>
          </p:cNvGraphicFramePr>
          <p:nvPr/>
        </p:nvGraphicFramePr>
        <p:xfrm>
          <a:off x="5997575" y="3879850"/>
          <a:ext cx="620713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1071" name="Equation" r:id="rId64" imgW="317160" imgH="317160" progId="Equation.DSMT4">
                  <p:embed/>
                </p:oleObj>
              </mc:Choice>
              <mc:Fallback>
                <p:oleObj name="Equation" r:id="rId64" imgW="317160" imgH="317160" progId="Equation.DSMT4">
                  <p:embed/>
                  <p:pic>
                    <p:nvPicPr>
                      <p:cNvPr id="54" name="Object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7575" y="3879850"/>
                        <a:ext cx="620713" cy="639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58"/>
          <p:cNvGraphicFramePr>
            <a:graphicFrameLocks noChangeAspect="1"/>
          </p:cNvGraphicFramePr>
          <p:nvPr>
            <p:extLst/>
          </p:nvPr>
        </p:nvGraphicFramePr>
        <p:xfrm>
          <a:off x="4738688" y="4059238"/>
          <a:ext cx="109537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1072" name="Equation" r:id="rId66" imgW="558720" imgH="203040" progId="Equation.DSMT4">
                  <p:embed/>
                </p:oleObj>
              </mc:Choice>
              <mc:Fallback>
                <p:oleObj name="Equation" r:id="rId66" imgW="558720" imgH="203040" progId="Equation.DSMT4">
                  <p:embed/>
                  <p:pic>
                    <p:nvPicPr>
                      <p:cNvPr id="55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8688" y="4059238"/>
                        <a:ext cx="1095375" cy="409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3"/>
          <p:cNvGraphicFramePr>
            <a:graphicFrameLocks noChangeAspect="1"/>
          </p:cNvGraphicFramePr>
          <p:nvPr>
            <p:extLst/>
          </p:nvPr>
        </p:nvGraphicFramePr>
        <p:xfrm>
          <a:off x="2157313" y="5877272"/>
          <a:ext cx="50069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1073" name="Equation" r:id="rId68" imgW="2209680" imgH="203040" progId="Equation.DSMT4">
                  <p:embed/>
                </p:oleObj>
              </mc:Choice>
              <mc:Fallback>
                <p:oleObj name="Equation" r:id="rId68" imgW="2209680" imgH="203040" progId="Equation.DSMT4">
                  <p:embed/>
                  <p:pic>
                    <p:nvPicPr>
                      <p:cNvPr id="4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7313" y="5877272"/>
                        <a:ext cx="5006975" cy="466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椭圆 4"/>
          <p:cNvSpPr/>
          <p:nvPr/>
        </p:nvSpPr>
        <p:spPr bwMode="auto">
          <a:xfrm>
            <a:off x="5084464" y="2974975"/>
            <a:ext cx="428924" cy="382017"/>
          </a:xfrm>
          <a:prstGeom prst="ellipse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cxnSp>
        <p:nvCxnSpPr>
          <p:cNvPr id="13" name="直接连接符 12"/>
          <p:cNvCxnSpPr/>
          <p:nvPr/>
        </p:nvCxnSpPr>
        <p:spPr bwMode="auto">
          <a:xfrm>
            <a:off x="5513388" y="3140968"/>
            <a:ext cx="1205185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直接连接符 31"/>
          <p:cNvCxnSpPr>
            <a:endCxn id="55" idx="0"/>
          </p:cNvCxnSpPr>
          <p:nvPr/>
        </p:nvCxnSpPr>
        <p:spPr bwMode="auto">
          <a:xfrm flipH="1">
            <a:off x="5286375" y="3375819"/>
            <a:ext cx="5705" cy="683419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4" name="矩形 33"/>
          <p:cNvSpPr/>
          <p:nvPr/>
        </p:nvSpPr>
        <p:spPr bwMode="auto">
          <a:xfrm>
            <a:off x="6718573" y="2909888"/>
            <a:ext cx="1093787" cy="465931"/>
          </a:xfrm>
          <a:prstGeom prst="rect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58" name="矩形 57"/>
          <p:cNvSpPr/>
          <p:nvPr/>
        </p:nvSpPr>
        <p:spPr bwMode="auto">
          <a:xfrm>
            <a:off x="4752032" y="4048453"/>
            <a:ext cx="1093787" cy="465931"/>
          </a:xfrm>
          <a:prstGeom prst="rect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cxnSp>
        <p:nvCxnSpPr>
          <p:cNvPr id="47" name="直接箭头连接符 46"/>
          <p:cNvCxnSpPr>
            <a:stCxn id="58" idx="3"/>
            <a:endCxn id="2" idx="0"/>
          </p:cNvCxnSpPr>
          <p:nvPr/>
        </p:nvCxnSpPr>
        <p:spPr bwMode="auto">
          <a:xfrm flipV="1">
            <a:off x="5845819" y="3356992"/>
            <a:ext cx="1413164" cy="924427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3300"/>
            </a:solidFill>
            <a:prstDash val="solid"/>
            <a:round/>
            <a:headEnd type="triangle"/>
            <a:tailEnd type="triangle"/>
          </a:ln>
          <a:effectLst/>
        </p:spPr>
      </p:cxnSp>
      <p:cxnSp>
        <p:nvCxnSpPr>
          <p:cNvPr id="59" name="直接箭头连接符 58"/>
          <p:cNvCxnSpPr/>
          <p:nvPr/>
        </p:nvCxnSpPr>
        <p:spPr bwMode="auto">
          <a:xfrm flipH="1" flipV="1">
            <a:off x="5513389" y="3348039"/>
            <a:ext cx="712786" cy="308941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3300"/>
            </a:solidFill>
            <a:prstDash val="solid"/>
            <a:round/>
            <a:headEnd type="none"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矩形 61"/>
              <p:cNvSpPr/>
              <p:nvPr/>
            </p:nvSpPr>
            <p:spPr>
              <a:xfrm>
                <a:off x="6124277" y="3502323"/>
                <a:ext cx="451221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14350" indent="-51435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×</m:t>
                      </m:r>
                    </m:oMath>
                  </m:oMathPara>
                </a14:m>
                <a:endParaRPr lang="en-US" altLang="zh-CN" sz="2400" b="1" dirty="0">
                  <a:solidFill>
                    <a:srgbClr val="FF0000"/>
                  </a:solidFill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62" name="矩形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4277" y="3502323"/>
                <a:ext cx="451221" cy="461665"/>
              </a:xfrm>
              <a:prstGeom prst="rect">
                <a:avLst/>
              </a:prstGeom>
              <a:blipFill rotWithShape="0">
                <a:blip r:embed="rId7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矩形 62"/>
          <p:cNvSpPr/>
          <p:nvPr/>
        </p:nvSpPr>
        <p:spPr>
          <a:xfrm>
            <a:off x="5889896" y="3068960"/>
            <a:ext cx="45122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en-US" altLang="zh-CN" sz="2800" b="1" dirty="0" smtClean="0">
                <a:solidFill>
                  <a:srgbClr val="FF0000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?</a:t>
            </a:r>
            <a:endParaRPr lang="en-US" altLang="zh-CN" sz="2800" b="1" dirty="0">
              <a:solidFill>
                <a:srgbClr val="FF0000"/>
              </a:solidFill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2483768" y="251937"/>
            <a:ext cx="430278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4.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二维离散型随机变量</a:t>
            </a:r>
            <a:endParaRPr lang="zh-CN" altLang="en-US" sz="3200" b="1" dirty="0">
              <a:solidFill>
                <a:srgbClr val="0000FF"/>
              </a:solidFill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98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2993603"/>
              </p:ext>
            </p:extLst>
          </p:nvPr>
        </p:nvGraphicFramePr>
        <p:xfrm>
          <a:off x="971600" y="1043707"/>
          <a:ext cx="3856038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2947" name="Equation" r:id="rId3" imgW="1701720" imgH="380880" progId="Equation.DSMT4">
                  <p:embed/>
                </p:oleObj>
              </mc:Choice>
              <mc:Fallback>
                <p:oleObj name="Equation" r:id="rId3" imgW="17017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600" y="1043707"/>
                        <a:ext cx="3856038" cy="873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矩形 46"/>
          <p:cNvSpPr/>
          <p:nvPr/>
        </p:nvSpPr>
        <p:spPr>
          <a:xfrm>
            <a:off x="611561" y="1196752"/>
            <a:ext cx="50405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4.</a:t>
            </a:r>
          </a:p>
        </p:txBody>
      </p:sp>
      <p:sp>
        <p:nvSpPr>
          <p:cNvPr id="48" name="矩形 47"/>
          <p:cNvSpPr/>
          <p:nvPr/>
        </p:nvSpPr>
        <p:spPr>
          <a:xfrm>
            <a:off x="611560" y="2012647"/>
            <a:ext cx="453650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5. 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求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Z=g(X,Y)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的分布律</a:t>
            </a:r>
            <a:endParaRPr lang="en-US" altLang="zh-CN" sz="2400" dirty="0" smtClean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514350" indent="-514350"/>
            <a:r>
              <a:rPr lang="en-US" altLang="zh-CN" sz="24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 (1) 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首先确定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Z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的取值</a:t>
            </a:r>
            <a:r>
              <a:rPr lang="en-US" altLang="zh-CN" sz="24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z</a:t>
            </a:r>
            <a:r>
              <a:rPr lang="en-US" altLang="zh-CN" sz="2400" baseline="-250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1</a:t>
            </a:r>
            <a:r>
              <a:rPr lang="en-US" altLang="zh-CN" sz="24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,z</a:t>
            </a:r>
            <a:r>
              <a:rPr lang="en-US" altLang="zh-CN" sz="2400" baseline="-250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2</a:t>
            </a:r>
            <a:r>
              <a:rPr lang="en-US" altLang="zh-CN" sz="24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,…,</a:t>
            </a:r>
            <a:r>
              <a:rPr lang="en-US" altLang="zh-CN" sz="2400" dirty="0" err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z</a:t>
            </a:r>
            <a:r>
              <a:rPr lang="en-US" altLang="zh-CN" sz="2400" baseline="-25000" dirty="0" err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k</a:t>
            </a:r>
            <a:r>
              <a:rPr lang="en-US" altLang="zh-CN" sz="24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endParaRPr lang="en-US" altLang="zh-CN" sz="2400" dirty="0" smtClean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514350" indent="-514350"/>
            <a:r>
              <a:rPr lang="en-US" altLang="zh-CN" sz="24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 (2) 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求出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Z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取各个值的概率。</a:t>
            </a:r>
            <a:endParaRPr lang="en-US" altLang="zh-CN" sz="2400" dirty="0" smtClean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611560" y="3308791"/>
            <a:ext cx="799288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6. 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求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Z</a:t>
            </a:r>
            <a:r>
              <a:rPr lang="en-US" altLang="zh-CN" sz="2400" baseline="-250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1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=g</a:t>
            </a:r>
            <a:r>
              <a:rPr lang="en-US" altLang="zh-CN" sz="2400" baseline="-250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1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(X,Y)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，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Z</a:t>
            </a:r>
            <a:r>
              <a:rPr lang="en-US" altLang="zh-CN" sz="2400" baseline="-250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2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=g</a:t>
            </a:r>
            <a:r>
              <a:rPr lang="en-US" altLang="zh-CN" sz="2400" baseline="-250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2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(X,Y)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的联合分布律</a:t>
            </a:r>
            <a:endParaRPr lang="en-US" altLang="zh-CN" sz="2400" dirty="0" smtClean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514350" indent="-514350"/>
            <a:r>
              <a:rPr lang="en-US" altLang="zh-CN" sz="24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 (1) 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首先确定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Z</a:t>
            </a:r>
            <a:r>
              <a:rPr lang="en-US" altLang="zh-CN" sz="2400" baseline="-250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1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的取值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a</a:t>
            </a:r>
            <a:r>
              <a:rPr lang="en-US" altLang="zh-CN" sz="2400" baseline="-250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1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,a</a:t>
            </a:r>
            <a:r>
              <a:rPr lang="en-US" altLang="zh-CN" sz="2400" baseline="-250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2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,…,a</a:t>
            </a:r>
            <a:r>
              <a:rPr lang="en-US" altLang="zh-CN" sz="2400" baseline="-250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s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以及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Z</a:t>
            </a:r>
            <a:r>
              <a:rPr lang="en-US" altLang="zh-CN" sz="2400" baseline="-250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2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的取值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b</a:t>
            </a:r>
            <a:r>
              <a:rPr lang="en-US" altLang="zh-CN" sz="2400" baseline="-250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1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,b</a:t>
            </a:r>
            <a:r>
              <a:rPr lang="en-US" altLang="zh-CN" sz="2400" baseline="-250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2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,…,</a:t>
            </a:r>
            <a:r>
              <a:rPr lang="en-US" altLang="zh-CN" sz="2400" dirty="0" err="1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b</a:t>
            </a:r>
            <a:r>
              <a:rPr lang="en-US" altLang="zh-CN" sz="2400" baseline="-25000" dirty="0" err="1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q</a:t>
            </a:r>
            <a:r>
              <a:rPr lang="en-US" altLang="zh-CN" sz="2400" baseline="-250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</a:p>
          <a:p>
            <a:pPr marL="514350" indent="-514350"/>
            <a:r>
              <a:rPr lang="en-US" altLang="zh-CN" sz="24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 (2) 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求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P(Z</a:t>
            </a:r>
            <a:r>
              <a:rPr lang="en-US" altLang="zh-CN" sz="2400" baseline="-250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1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=</a:t>
            </a:r>
            <a:r>
              <a:rPr lang="en-US" altLang="zh-CN" sz="2400" dirty="0" err="1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a</a:t>
            </a:r>
            <a:r>
              <a:rPr lang="en-US" altLang="zh-CN" sz="2400" baseline="-25000" dirty="0" err="1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, Z</a:t>
            </a:r>
            <a:r>
              <a:rPr lang="en-US" altLang="zh-CN" sz="2400" baseline="-250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2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=</a:t>
            </a:r>
            <a:r>
              <a:rPr lang="en-US" altLang="zh-CN" sz="2400" dirty="0" err="1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a</a:t>
            </a:r>
            <a:r>
              <a:rPr lang="en-US" altLang="zh-CN" sz="2400" baseline="-25000" dirty="0" err="1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j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)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，其中</a:t>
            </a:r>
            <a:r>
              <a:rPr lang="en-US" altLang="zh-CN" sz="2400" dirty="0" err="1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=1,2,…,s; j=1,2,…,q</a:t>
            </a:r>
          </a:p>
        </p:txBody>
      </p:sp>
      <p:sp>
        <p:nvSpPr>
          <p:cNvPr id="59" name="矩形 58"/>
          <p:cNvSpPr/>
          <p:nvPr/>
        </p:nvSpPr>
        <p:spPr>
          <a:xfrm>
            <a:off x="611560" y="4695527"/>
            <a:ext cx="799288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7. 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求</a:t>
            </a:r>
            <a:endParaRPr lang="en-US" altLang="zh-CN" sz="2400" dirty="0" smtClean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514350" indent="-514350"/>
            <a:r>
              <a:rPr lang="en-US" altLang="zh-CN" sz="24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endParaRPr lang="en-US" altLang="zh-CN" sz="2400" dirty="0" smtClean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514350" indent="-514350"/>
            <a:r>
              <a:rPr lang="en-US" altLang="zh-CN" sz="24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 (1)</a:t>
            </a:r>
          </a:p>
          <a:p>
            <a:pPr marL="514350" indent="-514350">
              <a:lnSpc>
                <a:spcPct val="150000"/>
              </a:lnSpc>
            </a:pPr>
            <a:r>
              <a:rPr lang="en-US" altLang="zh-CN" sz="24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 (2)</a:t>
            </a:r>
            <a:endParaRPr lang="en-US" altLang="zh-CN" sz="2400" dirty="0" smtClean="0">
              <a:latin typeface="楷体" panose="02010609060101010101" pitchFamily="49" charset="-122"/>
              <a:ea typeface="楷体" panose="02010609060101010101" pitchFamily="49" charset="-122"/>
              <a:cs typeface="Times New Roman" pitchFamily="18" charset="0"/>
            </a:endParaRPr>
          </a:p>
        </p:txBody>
      </p:sp>
      <p:graphicFrame>
        <p:nvGraphicFramePr>
          <p:cNvPr id="6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7417770"/>
              </p:ext>
            </p:extLst>
          </p:nvPr>
        </p:nvGraphicFramePr>
        <p:xfrm>
          <a:off x="1331640" y="4528666"/>
          <a:ext cx="2762250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2948" name="Equation" r:id="rId5" imgW="1218960" imgH="368280" progId="Equation.DSMT4">
                  <p:embed/>
                </p:oleObj>
              </mc:Choice>
              <mc:Fallback>
                <p:oleObj name="Equation" r:id="rId5" imgW="121896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4528666"/>
                        <a:ext cx="2762250" cy="844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5759159"/>
              </p:ext>
            </p:extLst>
          </p:nvPr>
        </p:nvGraphicFramePr>
        <p:xfrm>
          <a:off x="1407914" y="5470872"/>
          <a:ext cx="374015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2949" name="Equation" r:id="rId7" imgW="1650960" imgH="177480" progId="Equation.DSMT4">
                  <p:embed/>
                </p:oleObj>
              </mc:Choice>
              <mc:Fallback>
                <p:oleObj name="Equation" r:id="rId7" imgW="165096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7914" y="5470872"/>
                        <a:ext cx="374015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2766989"/>
              </p:ext>
            </p:extLst>
          </p:nvPr>
        </p:nvGraphicFramePr>
        <p:xfrm>
          <a:off x="1437481" y="5949280"/>
          <a:ext cx="5438775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2950" name="Equation" r:id="rId9" imgW="2400120" imgH="203040" progId="Equation.DSMT4">
                  <p:embed/>
                </p:oleObj>
              </mc:Choice>
              <mc:Fallback>
                <p:oleObj name="Equation" r:id="rId9" imgW="24001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7481" y="5949280"/>
                        <a:ext cx="5438775" cy="465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右弧形箭头 5"/>
          <p:cNvSpPr/>
          <p:nvPr/>
        </p:nvSpPr>
        <p:spPr bwMode="auto">
          <a:xfrm rot="10800000" flipH="1">
            <a:off x="7164288" y="1196752"/>
            <a:ext cx="1375176" cy="4945815"/>
          </a:xfrm>
          <a:prstGeom prst="curvedLef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483768" y="251937"/>
            <a:ext cx="430278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4.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二维离散型随机变量</a:t>
            </a:r>
            <a:endParaRPr lang="zh-CN" altLang="en-US" sz="3200" b="1" dirty="0">
              <a:solidFill>
                <a:srgbClr val="0000FF"/>
              </a:solidFill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3234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8" name="矩形 47"/>
              <p:cNvSpPr/>
              <p:nvPr/>
            </p:nvSpPr>
            <p:spPr>
              <a:xfrm>
                <a:off x="330552" y="1227094"/>
                <a:ext cx="8208912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14350" indent="-514350"/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8. 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由相关系数判别是否相互独立：</a:t>
                </a:r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 R(X,Y)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≠0</m:t>
                    </m:r>
                  </m:oMath>
                </a14:m>
                <a:r>
                  <a:rPr lang="zh-CN" altLang="en-US" sz="2400" dirty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则肯定不独立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。</a:t>
                </a:r>
                <a:endParaRPr lang="en-US" altLang="zh-CN" sz="2400" dirty="0" smtClean="0">
                  <a:latin typeface="Times" panose="02020603050405020304" pitchFamily="18" charset="0"/>
                  <a:ea typeface="楷体" panose="02010609060101010101" pitchFamily="49" charset="-122"/>
                  <a:cs typeface="Times" panose="02020603050405020304" pitchFamily="18" charset="0"/>
                </a:endParaRPr>
              </a:p>
              <a:p>
                <a:pPr marL="514350" indent="-514350"/>
                <a:r>
                  <a:rPr lang="en-US" altLang="zh-CN" sz="2400" dirty="0" smtClean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9. 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由协方差判别是否相互独立：</a:t>
                </a:r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 </a:t>
                </a:r>
                <a:r>
                  <a:rPr lang="en-US" altLang="zh-CN" sz="2400" dirty="0" err="1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cov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(X,Y</a:t>
                </a:r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)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itchFamily="18" charset="0"/>
                      </a:rPr>
                      <m:t>≠0</m:t>
                    </m:r>
                  </m:oMath>
                </a14:m>
                <a:r>
                  <a:rPr lang="zh-CN" altLang="en-US" sz="2400" dirty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则肯定不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独立。</a:t>
                </a:r>
                <a:endParaRPr lang="en-US" altLang="zh-CN" sz="2400" dirty="0" smtClean="0">
                  <a:latin typeface="Times" panose="02020603050405020304" pitchFamily="18" charset="0"/>
                  <a:ea typeface="楷体" panose="02010609060101010101" pitchFamily="49" charset="-122"/>
                  <a:cs typeface="Times" panose="02020603050405020304" pitchFamily="18" charset="0"/>
                </a:endParaRPr>
              </a:p>
              <a:p>
                <a:pPr marL="514350" indent="-514350"/>
                <a:r>
                  <a:rPr lang="en-US" altLang="zh-CN" sz="2400" dirty="0" smtClean="0">
                    <a:latin typeface="Times" panose="02020603050405020304" pitchFamily="18" charset="0"/>
                    <a:ea typeface="楷体" panose="02010609060101010101" pitchFamily="49" charset="-122"/>
                    <a:cs typeface="Times" panose="02020603050405020304" pitchFamily="18" charset="0"/>
                  </a:rPr>
                  <a:t>    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若</a:t>
                </a:r>
                <a:r>
                  <a:rPr lang="en-US" altLang="zh-CN" sz="2400" dirty="0" err="1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cov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(X,Y)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或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R(X,Y)=0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，则需要根据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3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进一步准确判别。</a:t>
                </a:r>
                <a:endParaRPr lang="en-US" altLang="zh-CN" sz="2400" dirty="0" smtClean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48" name="矩形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552" y="1227094"/>
                <a:ext cx="8208912" cy="1200329"/>
              </a:xfrm>
              <a:prstGeom prst="rect">
                <a:avLst/>
              </a:prstGeom>
              <a:blipFill>
                <a:blip r:embed="rId2"/>
                <a:stretch>
                  <a:fillRect l="-1114" t="-5584" r="-4826" b="-111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/>
          <p:cNvSpPr/>
          <p:nvPr/>
        </p:nvSpPr>
        <p:spPr>
          <a:xfrm>
            <a:off x="2483768" y="251937"/>
            <a:ext cx="430278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4.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二维离散型随机变量</a:t>
            </a:r>
            <a:endParaRPr lang="zh-CN" altLang="en-US" sz="3200" b="1" dirty="0">
              <a:solidFill>
                <a:srgbClr val="0000FF"/>
              </a:solidFill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6942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/>
          <p:cNvSpPr/>
          <p:nvPr/>
        </p:nvSpPr>
        <p:spPr>
          <a:xfrm>
            <a:off x="330552" y="1023119"/>
            <a:ext cx="820891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zh-CN" altLang="en-US" sz="2400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例</a:t>
            </a:r>
            <a:r>
              <a:rPr lang="en-US" altLang="zh-CN" sz="2400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6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. 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设二维随机变量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(X,Y)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的概率分布为：</a:t>
            </a:r>
            <a:endParaRPr lang="en-US" altLang="zh-CN" sz="2400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 </a:t>
            </a:r>
          </a:p>
          <a:p>
            <a:pPr marL="514350" indent="-514350"/>
            <a:endParaRPr lang="en-US" altLang="zh-CN" sz="2400" dirty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endParaRPr lang="en-US" altLang="zh-CN" sz="2400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endParaRPr lang="en-US" altLang="zh-CN" sz="2400" dirty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endParaRPr lang="en-US" altLang="zh-CN" sz="2400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其中</a:t>
            </a:r>
            <a:r>
              <a:rPr lang="en-US" altLang="zh-CN" sz="2400" dirty="0" err="1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a,b,c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为</a:t>
            </a:r>
            <a:r>
              <a:rPr lang="zh-CN" altLang="en-US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常数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，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且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EX=-0.2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，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P(Y≤0|X</a:t>
            </a:r>
            <a:r>
              <a:rPr lang="en-US" altLang="zh-CN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 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≤0)=0.5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，记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Z=X+Y,</a:t>
            </a:r>
          </a:p>
          <a:p>
            <a:pPr marL="514350" indent="-514350"/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求：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(1) </a:t>
            </a:r>
            <a:r>
              <a:rPr lang="en-US" altLang="zh-CN" sz="2400" dirty="0" err="1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a,b,c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的值；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(2)Z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的分布律。</a:t>
            </a:r>
            <a:endParaRPr lang="en-US" altLang="zh-CN" sz="2400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483768" y="251937"/>
            <a:ext cx="430278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4.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二维离散型随机变量</a:t>
            </a:r>
            <a:endParaRPr lang="zh-CN" altLang="en-US" sz="3200" b="1" dirty="0">
              <a:solidFill>
                <a:srgbClr val="0000FF"/>
              </a:solidFill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5757746"/>
              </p:ext>
            </p:extLst>
          </p:nvPr>
        </p:nvGraphicFramePr>
        <p:xfrm>
          <a:off x="1524000" y="1513592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72109214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33000241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90073155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9256018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-1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51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-1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1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a</a:t>
                      </a:r>
                      <a:endParaRPr lang="zh-CN" altLang="en-US" sz="1800" b="0" i="1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0.2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6428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0.1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b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0.2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5801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0.1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500755"/>
                  </a:ext>
                </a:extLst>
              </a:tr>
            </a:tbl>
          </a:graphicData>
        </a:graphic>
      </p:graphicFrame>
      <p:cxnSp>
        <p:nvCxnSpPr>
          <p:cNvPr id="6" name="直接连接符 5"/>
          <p:cNvCxnSpPr/>
          <p:nvPr/>
        </p:nvCxnSpPr>
        <p:spPr bwMode="auto">
          <a:xfrm>
            <a:off x="1524000" y="1513592"/>
            <a:ext cx="1535832" cy="34052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7152069"/>
              </p:ext>
            </p:extLst>
          </p:nvPr>
        </p:nvGraphicFramePr>
        <p:xfrm>
          <a:off x="2699792" y="1521591"/>
          <a:ext cx="221669" cy="25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541" r:id="rId3" imgW="139579" imgH="164957" progId="Equation.DSMT4">
                  <p:embed/>
                </p:oleObj>
              </mc:Choice>
              <mc:Fallback>
                <p:oleObj r:id="rId3" imgW="139579" imgH="164957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792" y="1521591"/>
                        <a:ext cx="221669" cy="2512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321697"/>
              </p:ext>
            </p:extLst>
          </p:nvPr>
        </p:nvGraphicFramePr>
        <p:xfrm>
          <a:off x="1599353" y="1556792"/>
          <a:ext cx="308351" cy="2842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5542" r:id="rId5" imgW="177492" imgH="164814" progId="Equation.DSMT4">
                  <p:embed/>
                </p:oleObj>
              </mc:Choice>
              <mc:Fallback>
                <p:oleObj r:id="rId5" imgW="177492" imgH="164814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9353" y="1556792"/>
                        <a:ext cx="308351" cy="28424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99711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/>
          <p:cNvSpPr/>
          <p:nvPr/>
        </p:nvSpPr>
        <p:spPr>
          <a:xfrm>
            <a:off x="330552" y="1023119"/>
            <a:ext cx="820891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zh-CN" altLang="en-US" sz="2400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例</a:t>
            </a:r>
            <a:r>
              <a:rPr lang="en-US" altLang="zh-CN" sz="2400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6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. 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设二维随机变量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(X,Y)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的概率分布为：</a:t>
            </a:r>
            <a:endParaRPr lang="en-US" altLang="zh-CN" sz="2400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 </a:t>
            </a:r>
          </a:p>
          <a:p>
            <a:pPr marL="514350" indent="-514350"/>
            <a:endParaRPr lang="en-US" altLang="zh-CN" sz="2400" dirty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endParaRPr lang="en-US" altLang="zh-CN" sz="2400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endParaRPr lang="en-US" altLang="zh-CN" sz="2400" dirty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endParaRPr lang="en-US" altLang="zh-CN" sz="2400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其中</a:t>
            </a:r>
            <a:r>
              <a:rPr lang="en-US" altLang="zh-CN" sz="2400" dirty="0" err="1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a,b,c</a:t>
            </a:r>
            <a:r>
              <a:rPr lang="zh-CN" altLang="en-US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为常数，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且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EX=-0.2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，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P(Y≤0|X</a:t>
            </a:r>
            <a:r>
              <a:rPr lang="en-US" altLang="zh-CN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 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≤0)=0.5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，记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Z=X+Y,</a:t>
            </a:r>
          </a:p>
          <a:p>
            <a:pPr marL="514350" indent="-514350"/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求：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(1) </a:t>
            </a:r>
            <a:r>
              <a:rPr lang="en-US" altLang="zh-CN" sz="2400" dirty="0" err="1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a,b,c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的值；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(2)Z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的分布律。</a:t>
            </a:r>
            <a:endParaRPr lang="en-US" altLang="zh-CN" sz="2400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r>
              <a:rPr lang="zh-CN" altLang="en-US" sz="2400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解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：</a:t>
            </a:r>
            <a:endParaRPr lang="en-US" altLang="zh-CN" sz="2400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483768" y="251937"/>
            <a:ext cx="430278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4.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二维离散型随机变量</a:t>
            </a:r>
            <a:endParaRPr lang="zh-CN" altLang="en-US" sz="3200" b="1" dirty="0">
              <a:solidFill>
                <a:srgbClr val="0000FF"/>
              </a:solidFill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524000" y="1513592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72109214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33000241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90073155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9256018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-1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51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-1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1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a</a:t>
                      </a:r>
                      <a:endParaRPr lang="zh-CN" altLang="en-US" sz="1800" b="0" i="1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0.2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6428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0.1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b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0.2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5801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0.1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500755"/>
                  </a:ext>
                </a:extLst>
              </a:tr>
            </a:tbl>
          </a:graphicData>
        </a:graphic>
      </p:graphicFrame>
      <p:cxnSp>
        <p:nvCxnSpPr>
          <p:cNvPr id="6" name="直接连接符 5"/>
          <p:cNvCxnSpPr/>
          <p:nvPr/>
        </p:nvCxnSpPr>
        <p:spPr bwMode="auto">
          <a:xfrm>
            <a:off x="1524000" y="1513592"/>
            <a:ext cx="1535832" cy="34052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699792" y="1521591"/>
          <a:ext cx="221669" cy="25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0649" r:id="rId3" imgW="139579" imgH="164957" progId="Equation.DSMT4">
                  <p:embed/>
                </p:oleObj>
              </mc:Choice>
              <mc:Fallback>
                <p:oleObj r:id="rId3" imgW="139579" imgH="164957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792" y="1521591"/>
                        <a:ext cx="221669" cy="2512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1599353" y="1556792"/>
          <a:ext cx="308351" cy="2842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0650" r:id="rId5" imgW="177492" imgH="164814" progId="Equation.DSMT4">
                  <p:embed/>
                </p:oleObj>
              </mc:Choice>
              <mc:Fallback>
                <p:oleObj r:id="rId5" imgW="177492" imgH="164814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9353" y="1556792"/>
                        <a:ext cx="308351" cy="28424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左大括号 14"/>
          <p:cNvSpPr/>
          <p:nvPr/>
        </p:nvSpPr>
        <p:spPr bwMode="auto">
          <a:xfrm>
            <a:off x="107504" y="4509120"/>
            <a:ext cx="360040" cy="1440160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442320" y="4337815"/>
                <a:ext cx="2401488" cy="17554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14350" indent="-51435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楷体" pitchFamily="49" charset="-122"/>
                              <a:cs typeface="Times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itchFamily="49" charset="-122"/>
                              <a:cs typeface="Times" panose="02020603050405020304" pitchFamily="18" charset="0"/>
                            </a:rPr>
                            <m:t>𝑖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itchFamily="49" charset="-122"/>
                              <a:cs typeface="Times" panose="02020603050405020304" pitchFamily="18" charset="0"/>
                            </a:rPr>
                            <m:t>,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itchFamily="49" charset="-122"/>
                              <a:cs typeface="Times" panose="020206030504050203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anose="020206030504050203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anose="020206030504050203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楷体" pitchFamily="49" charset="-122"/>
                          <a:cs typeface="Times" panose="02020603050405020304" pitchFamily="18" charset="0"/>
                        </a:rPr>
                        <m:t>=1</m:t>
                      </m:r>
                    </m:oMath>
                  </m:oMathPara>
                </a14:m>
                <a:endParaRPr lang="en-US" altLang="zh-CN" sz="2400" dirty="0" smtClean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pPr marL="514350" indent="-514350"/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EX=-0.2;</a:t>
                </a:r>
              </a:p>
              <a:p>
                <a:pPr marL="514350" indent="-514350"/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P(Y≤0|X ≤0)=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0.5;</a:t>
                </a:r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320" y="4337815"/>
                <a:ext cx="2401488" cy="1755481"/>
              </a:xfrm>
              <a:prstGeom prst="rect">
                <a:avLst/>
              </a:prstGeom>
              <a:blipFill>
                <a:blip r:embed="rId7"/>
                <a:stretch>
                  <a:fillRect l="-4061" r="-4061" b="-79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右箭头 15"/>
          <p:cNvSpPr/>
          <p:nvPr/>
        </p:nvSpPr>
        <p:spPr bwMode="auto">
          <a:xfrm>
            <a:off x="2411760" y="5013176"/>
            <a:ext cx="432048" cy="288032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19" name="左大括号 18"/>
          <p:cNvSpPr/>
          <p:nvPr/>
        </p:nvSpPr>
        <p:spPr bwMode="auto">
          <a:xfrm>
            <a:off x="3203848" y="4509120"/>
            <a:ext cx="360040" cy="1440160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/>
              <p:cNvSpPr/>
              <p:nvPr/>
            </p:nvSpPr>
            <p:spPr>
              <a:xfrm>
                <a:off x="3394648" y="4410846"/>
                <a:ext cx="3848672" cy="15384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14350" indent="-514350"/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a+b+c+0.6=1;</a:t>
                </a:r>
              </a:p>
              <a:p>
                <a:pPr marL="514350" indent="-514350"/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-1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" panose="02020603050405020304" pitchFamily="18" charset="0"/>
                      </a:rPr>
                      <m:t>×</m:t>
                    </m:r>
                  </m:oMath>
                </a14:m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(a+0.2)+1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" panose="02020603050405020304" pitchFamily="18" charset="0"/>
                      </a:rPr>
                      <m:t>×</m:t>
                    </m:r>
                  </m:oMath>
                </a14:m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(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c+0.1)=-0.2;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楷体" pitchFamily="49" charset="-122"/>
                              <a:cs typeface="Times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itchFamily="49" charset="-122"/>
                              <a:cs typeface="Times" panose="02020603050405020304" pitchFamily="18" charset="0"/>
                            </a:rPr>
                            <m:t>𝑎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itchFamily="49" charset="-122"/>
                              <a:cs typeface="Times" panose="02020603050405020304" pitchFamily="18" charset="0"/>
                            </a:rPr>
                            <m:t>+0.1+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itchFamily="49" charset="-122"/>
                              <a:cs typeface="Times" panose="02020603050405020304" pitchFamily="18" charset="0"/>
                            </a:rPr>
                            <m:t>𝑏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itchFamily="49" charset="-122"/>
                              <a:cs typeface="Times" panose="02020603050405020304" pitchFamily="18" charset="0"/>
                            </a:rPr>
                            <m:t>𝑎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itchFamily="49" charset="-122"/>
                              <a:cs typeface="Times" panose="02020603050405020304" pitchFamily="18" charset="0"/>
                            </a:rPr>
                            <m:t>+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itchFamily="49" charset="-122"/>
                              <a:cs typeface="Times" panose="02020603050405020304" pitchFamily="18" charset="0"/>
                            </a:rPr>
                            <m:t>𝑏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itchFamily="49" charset="-122"/>
                              <a:cs typeface="Times" panose="02020603050405020304" pitchFamily="18" charset="0"/>
                            </a:rPr>
                            <m:t>+0.5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楷体" pitchFamily="49" charset="-122"/>
                          <a:cs typeface="Times" panose="02020603050405020304" pitchFamily="18" charset="0"/>
                        </a:rPr>
                        <m:t>=0.5</m:t>
                      </m:r>
                    </m:oMath>
                  </m:oMathPara>
                </a14:m>
                <a:endParaRPr lang="en-US" altLang="zh-CN" sz="2400" dirty="0" smtClean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4648" y="4410846"/>
                <a:ext cx="3848672" cy="1538434"/>
              </a:xfrm>
              <a:prstGeom prst="rect">
                <a:avLst/>
              </a:prstGeom>
              <a:blipFill>
                <a:blip r:embed="rId8"/>
                <a:stretch>
                  <a:fillRect l="-2536" t="-31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右箭头 20"/>
          <p:cNvSpPr/>
          <p:nvPr/>
        </p:nvSpPr>
        <p:spPr bwMode="auto">
          <a:xfrm>
            <a:off x="7092280" y="4941168"/>
            <a:ext cx="432048" cy="288032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22" name="左大括号 21"/>
          <p:cNvSpPr/>
          <p:nvPr/>
        </p:nvSpPr>
        <p:spPr bwMode="auto">
          <a:xfrm>
            <a:off x="7596336" y="4679402"/>
            <a:ext cx="360040" cy="864096"/>
          </a:xfrm>
          <a:prstGeom prst="leftBrace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7924128" y="4509120"/>
            <a:ext cx="10403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a=0.2;</a:t>
            </a:r>
          </a:p>
          <a:p>
            <a:pPr marL="514350" indent="-514350"/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b=0.1;</a:t>
            </a:r>
          </a:p>
          <a:p>
            <a:pPr marL="514350" indent="-514350"/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c=0.1.</a:t>
            </a:r>
          </a:p>
        </p:txBody>
      </p:sp>
    </p:spTree>
    <p:extLst>
      <p:ext uri="{BB962C8B-B14F-4D97-AF65-F5344CB8AC3E}">
        <p14:creationId xmlns:p14="http://schemas.microsoft.com/office/powerpoint/2010/main" val="997380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/>
          <p:cNvSpPr/>
          <p:nvPr/>
        </p:nvSpPr>
        <p:spPr>
          <a:xfrm>
            <a:off x="330552" y="1023119"/>
            <a:ext cx="820891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zh-CN" altLang="en-US" sz="2400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例</a:t>
            </a:r>
            <a:r>
              <a:rPr lang="en-US" altLang="zh-CN" sz="2400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6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. 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设二维随机变量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(X,Y)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的概率分布为：</a:t>
            </a:r>
            <a:endParaRPr lang="en-US" altLang="zh-CN" sz="2400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 </a:t>
            </a:r>
          </a:p>
          <a:p>
            <a:pPr marL="514350" indent="-514350"/>
            <a:endParaRPr lang="en-US" altLang="zh-CN" sz="2400" dirty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endParaRPr lang="en-US" altLang="zh-CN" sz="2400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endParaRPr lang="en-US" altLang="zh-CN" sz="2400" dirty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endParaRPr lang="en-US" altLang="zh-CN" sz="2400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其中</a:t>
            </a:r>
            <a:r>
              <a:rPr lang="en-US" altLang="zh-CN" sz="2400" dirty="0" err="1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a,b,c</a:t>
            </a:r>
            <a:r>
              <a:rPr lang="zh-CN" altLang="en-US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为常数，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且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EX=-0.2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，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P(Y≤0|X</a:t>
            </a:r>
            <a:r>
              <a:rPr lang="en-US" altLang="zh-CN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 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≤0)=0.5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，记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Z=X+Y,</a:t>
            </a:r>
          </a:p>
          <a:p>
            <a:pPr marL="514350" indent="-514350"/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求：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(1) </a:t>
            </a:r>
            <a:r>
              <a:rPr lang="en-US" altLang="zh-CN" sz="2400" dirty="0" err="1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a,b,c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的值；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(2)Z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的分布律。</a:t>
            </a:r>
            <a:endParaRPr lang="en-US" altLang="zh-CN" sz="2400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r>
              <a:rPr lang="zh-CN" altLang="en-US" sz="2400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解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：</a:t>
            </a:r>
            <a:endParaRPr lang="en-US" altLang="zh-CN" sz="2400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483768" y="251937"/>
            <a:ext cx="430278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4.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二维离散型随机变量</a:t>
            </a:r>
            <a:endParaRPr lang="zh-CN" altLang="en-US" sz="3200" b="1" dirty="0">
              <a:solidFill>
                <a:srgbClr val="0000FF"/>
              </a:solidFill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524000" y="1513592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72109214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33000241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90073155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9256018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-1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51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-1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i="1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a</a:t>
                      </a:r>
                      <a:endParaRPr lang="zh-CN" altLang="en-US" sz="1800" b="0" i="1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0.2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6428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0.1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b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0.2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5801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0.1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500755"/>
                  </a:ext>
                </a:extLst>
              </a:tr>
            </a:tbl>
          </a:graphicData>
        </a:graphic>
      </p:graphicFrame>
      <p:cxnSp>
        <p:nvCxnSpPr>
          <p:cNvPr id="6" name="直接连接符 5"/>
          <p:cNvCxnSpPr/>
          <p:nvPr/>
        </p:nvCxnSpPr>
        <p:spPr bwMode="auto">
          <a:xfrm>
            <a:off x="1524000" y="1513592"/>
            <a:ext cx="1535832" cy="34052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699792" y="1521591"/>
          <a:ext cx="221669" cy="25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9629" r:id="rId3" imgW="139579" imgH="164957" progId="Equation.DSMT4">
                  <p:embed/>
                </p:oleObj>
              </mc:Choice>
              <mc:Fallback>
                <p:oleObj r:id="rId3" imgW="139579" imgH="164957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792" y="1521591"/>
                        <a:ext cx="221669" cy="2512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1599353" y="1556792"/>
          <a:ext cx="308351" cy="2842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9630" r:id="rId5" imgW="177492" imgH="164814" progId="Equation.DSMT4">
                  <p:embed/>
                </p:oleObj>
              </mc:Choice>
              <mc:Fallback>
                <p:oleObj r:id="rId5" imgW="177492" imgH="164814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9353" y="1556792"/>
                        <a:ext cx="308351" cy="28424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219586"/>
              </p:ext>
            </p:extLst>
          </p:nvPr>
        </p:nvGraphicFramePr>
        <p:xfrm>
          <a:off x="1403648" y="4806670"/>
          <a:ext cx="5704066" cy="1070602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559251">
                  <a:extLst>
                    <a:ext uri="{9D8B030D-6E8A-4147-A177-3AD203B41FA5}">
                      <a16:colId xmlns:a16="http://schemas.microsoft.com/office/drawing/2014/main" val="1275709502"/>
                    </a:ext>
                  </a:extLst>
                </a:gridCol>
                <a:gridCol w="1028673">
                  <a:extLst>
                    <a:ext uri="{9D8B030D-6E8A-4147-A177-3AD203B41FA5}">
                      <a16:colId xmlns:a16="http://schemas.microsoft.com/office/drawing/2014/main" val="1021147622"/>
                    </a:ext>
                  </a:extLst>
                </a:gridCol>
                <a:gridCol w="1028673">
                  <a:extLst>
                    <a:ext uri="{9D8B030D-6E8A-4147-A177-3AD203B41FA5}">
                      <a16:colId xmlns:a16="http://schemas.microsoft.com/office/drawing/2014/main" val="22073211"/>
                    </a:ext>
                  </a:extLst>
                </a:gridCol>
                <a:gridCol w="1028673">
                  <a:extLst>
                    <a:ext uri="{9D8B030D-6E8A-4147-A177-3AD203B41FA5}">
                      <a16:colId xmlns:a16="http://schemas.microsoft.com/office/drawing/2014/main" val="1189870501"/>
                    </a:ext>
                  </a:extLst>
                </a:gridCol>
                <a:gridCol w="1029398">
                  <a:extLst>
                    <a:ext uri="{9D8B030D-6E8A-4147-A177-3AD203B41FA5}">
                      <a16:colId xmlns:a16="http://schemas.microsoft.com/office/drawing/2014/main" val="1611503402"/>
                    </a:ext>
                  </a:extLst>
                </a:gridCol>
                <a:gridCol w="1029398">
                  <a:extLst>
                    <a:ext uri="{9D8B030D-6E8A-4147-A177-3AD203B41FA5}">
                      <a16:colId xmlns:a16="http://schemas.microsoft.com/office/drawing/2014/main" val="1226591875"/>
                    </a:ext>
                  </a:extLst>
                </a:gridCol>
              </a:tblGrid>
              <a:tr h="535301">
                <a:tc>
                  <a:txBody>
                    <a:bodyPr/>
                    <a:lstStyle/>
                    <a:p>
                      <a:pPr indent="66675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00" dirty="0" smtClean="0"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  <a:ea typeface="宋体" panose="02010600030101010101" pitchFamily="2" charset="-122"/>
                          <a:cs typeface="Times" panose="02020603050405020304" pitchFamily="18" charset="0"/>
                        </a:rPr>
                        <a:t>Z</a:t>
                      </a:r>
                      <a:endParaRPr lang="en-US" sz="2000" b="0" kern="100" dirty="0">
                        <a:solidFill>
                          <a:schemeClr val="tx1"/>
                        </a:solidFill>
                        <a:effectLst/>
                        <a:latin typeface="Times" panose="02020603050405020304" pitchFamily="18" charset="0"/>
                        <a:ea typeface="宋体" panose="02010600030101010101" pitchFamily="2" charset="-122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  </a:t>
                      </a:r>
                      <a:r>
                        <a:rPr lang="zh-CN" sz="2000" b="0" kern="100" dirty="0"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－</a:t>
                      </a:r>
                      <a:r>
                        <a:rPr lang="en-US" sz="2000" b="0" kern="100" dirty="0"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2</a:t>
                      </a:r>
                      <a:endParaRPr lang="zh-CN" sz="2000" b="0" kern="100" dirty="0">
                        <a:solidFill>
                          <a:schemeClr val="tx1"/>
                        </a:solidFill>
                        <a:effectLst/>
                        <a:latin typeface="Times" panose="02020603050405020304" pitchFamily="18" charset="0"/>
                        <a:ea typeface="宋体" panose="02010600030101010101" pitchFamily="2" charset="-122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   </a:t>
                      </a:r>
                      <a:r>
                        <a:rPr lang="zh-CN" sz="2000" b="0" kern="100" dirty="0"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－</a:t>
                      </a:r>
                      <a:r>
                        <a:rPr lang="en-US" sz="2000" b="0" kern="100" dirty="0"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</a:t>
                      </a:r>
                      <a:endParaRPr lang="zh-CN" sz="2000" b="0" kern="100" dirty="0">
                        <a:solidFill>
                          <a:schemeClr val="tx1"/>
                        </a:solidFill>
                        <a:effectLst/>
                        <a:latin typeface="Times" panose="02020603050405020304" pitchFamily="18" charset="0"/>
                        <a:ea typeface="宋体" panose="02010600030101010101" pitchFamily="2" charset="-122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00"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   0</a:t>
                      </a:r>
                      <a:endParaRPr lang="zh-CN" sz="2000" b="0" kern="100">
                        <a:solidFill>
                          <a:schemeClr val="tx1"/>
                        </a:solidFill>
                        <a:effectLst/>
                        <a:latin typeface="Times" panose="02020603050405020304" pitchFamily="18" charset="0"/>
                        <a:ea typeface="宋体" panose="02010600030101010101" pitchFamily="2" charset="-122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00"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   1</a:t>
                      </a:r>
                      <a:endParaRPr lang="zh-CN" sz="2000" b="0" kern="100">
                        <a:solidFill>
                          <a:schemeClr val="tx1"/>
                        </a:solidFill>
                        <a:effectLst/>
                        <a:latin typeface="Times" panose="02020603050405020304" pitchFamily="18" charset="0"/>
                        <a:ea typeface="宋体" panose="02010600030101010101" pitchFamily="2" charset="-122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00"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   2</a:t>
                      </a:r>
                      <a:endParaRPr lang="zh-CN" sz="2000" b="0" kern="100">
                        <a:solidFill>
                          <a:schemeClr val="tx1"/>
                        </a:solidFill>
                        <a:effectLst/>
                        <a:latin typeface="Times" panose="02020603050405020304" pitchFamily="18" charset="0"/>
                        <a:ea typeface="宋体" panose="02010600030101010101" pitchFamily="2" charset="-122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794399"/>
                  </a:ext>
                </a:extLst>
              </a:tr>
              <a:tr h="535301">
                <a:tc>
                  <a:txBody>
                    <a:bodyPr/>
                    <a:lstStyle/>
                    <a:p>
                      <a:pPr indent="66675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00" dirty="0" smtClean="0"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  <a:ea typeface="宋体" panose="02010600030101010101" pitchFamily="2" charset="-122"/>
                          <a:cs typeface="Times" panose="02020603050405020304" pitchFamily="18" charset="0"/>
                        </a:rPr>
                        <a:t>P</a:t>
                      </a:r>
                      <a:endParaRPr lang="en-US" sz="2000" b="0" kern="100" dirty="0">
                        <a:solidFill>
                          <a:schemeClr val="tx1"/>
                        </a:solidFill>
                        <a:effectLst/>
                        <a:latin typeface="Times" panose="02020603050405020304" pitchFamily="18" charset="0"/>
                        <a:ea typeface="宋体" panose="02010600030101010101" pitchFamily="2" charset="-122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  0.2</a:t>
                      </a:r>
                      <a:endParaRPr lang="zh-CN" sz="2000" b="0" kern="100" dirty="0">
                        <a:solidFill>
                          <a:schemeClr val="tx1"/>
                        </a:solidFill>
                        <a:effectLst/>
                        <a:latin typeface="Times" panose="02020603050405020304" pitchFamily="18" charset="0"/>
                        <a:ea typeface="宋体" panose="02010600030101010101" pitchFamily="2" charset="-122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   0.1</a:t>
                      </a:r>
                      <a:endParaRPr lang="zh-CN" sz="2000" b="0" kern="100" dirty="0">
                        <a:solidFill>
                          <a:schemeClr val="tx1"/>
                        </a:solidFill>
                        <a:effectLst/>
                        <a:latin typeface="Times" panose="02020603050405020304" pitchFamily="18" charset="0"/>
                        <a:ea typeface="宋体" panose="02010600030101010101" pitchFamily="2" charset="-122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   0.3</a:t>
                      </a:r>
                      <a:endParaRPr lang="zh-CN" sz="2000" b="0" kern="100" dirty="0">
                        <a:solidFill>
                          <a:schemeClr val="tx1"/>
                        </a:solidFill>
                        <a:effectLst/>
                        <a:latin typeface="Times" panose="02020603050405020304" pitchFamily="18" charset="0"/>
                        <a:ea typeface="宋体" panose="02010600030101010101" pitchFamily="2" charset="-122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   0.3</a:t>
                      </a:r>
                      <a:endParaRPr lang="zh-CN" sz="2000" b="0" kern="100" dirty="0">
                        <a:solidFill>
                          <a:schemeClr val="tx1"/>
                        </a:solidFill>
                        <a:effectLst/>
                        <a:latin typeface="Times" panose="02020603050405020304" pitchFamily="18" charset="0"/>
                        <a:ea typeface="宋体" panose="02010600030101010101" pitchFamily="2" charset="-122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2000" b="0" kern="100" dirty="0"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   0.1</a:t>
                      </a:r>
                      <a:endParaRPr lang="zh-CN" sz="2000" b="0" kern="100" dirty="0">
                        <a:solidFill>
                          <a:schemeClr val="tx1"/>
                        </a:solidFill>
                        <a:effectLst/>
                        <a:latin typeface="Times" panose="02020603050405020304" pitchFamily="18" charset="0"/>
                        <a:ea typeface="宋体" panose="02010600030101010101" pitchFamily="2" charset="-122"/>
                        <a:cs typeface="Times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89084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8948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/>
          <p:cNvSpPr/>
          <p:nvPr/>
        </p:nvSpPr>
        <p:spPr>
          <a:xfrm>
            <a:off x="330552" y="1023119"/>
            <a:ext cx="863393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zh-CN" altLang="en-US" sz="2400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7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. 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设二维随机变量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(X,Y)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的概率分布为：</a:t>
            </a:r>
            <a:endParaRPr lang="en-US" altLang="zh-CN" sz="2400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 </a:t>
            </a:r>
          </a:p>
          <a:p>
            <a:pPr marL="514350" indent="-514350"/>
            <a:endParaRPr lang="en-US" altLang="zh-CN" sz="2400" dirty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endParaRPr lang="en-US" altLang="zh-CN" sz="2400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endParaRPr lang="en-US" altLang="zh-CN" sz="2400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且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EX=0.75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，求：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(1) </a:t>
            </a:r>
            <a:r>
              <a:rPr lang="en-US" altLang="zh-CN" sz="2400" dirty="0" err="1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a,b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的值；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(2)Y=1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条件下，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X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的分布律</a:t>
            </a:r>
            <a:endParaRPr lang="en-US" altLang="zh-CN" sz="2400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(3)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协方差</a:t>
            </a:r>
            <a:r>
              <a:rPr lang="en-US" altLang="zh-CN" sz="2400" dirty="0" err="1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cov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(X,Y)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，并判断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X,Y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是否独立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?(4)Z=min(X,Y)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的分布。</a:t>
            </a:r>
            <a:endParaRPr lang="en-US" altLang="zh-CN" sz="2400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483768" y="251937"/>
            <a:ext cx="430278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4.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二维离散型随机变量</a:t>
            </a:r>
            <a:endParaRPr lang="zh-CN" altLang="en-US" sz="3200" b="1" dirty="0">
              <a:solidFill>
                <a:srgbClr val="0000FF"/>
              </a:solidFill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66511"/>
              </p:ext>
            </p:extLst>
          </p:nvPr>
        </p:nvGraphicFramePr>
        <p:xfrm>
          <a:off x="1524000" y="1513592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72109214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33000241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90073155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9256018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2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51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0.125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a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5801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b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0.25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0.25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500755"/>
                  </a:ext>
                </a:extLst>
              </a:tr>
            </a:tbl>
          </a:graphicData>
        </a:graphic>
      </p:graphicFrame>
      <p:cxnSp>
        <p:nvCxnSpPr>
          <p:cNvPr id="6" name="直接连接符 5"/>
          <p:cNvCxnSpPr/>
          <p:nvPr/>
        </p:nvCxnSpPr>
        <p:spPr bwMode="auto">
          <a:xfrm>
            <a:off x="1524000" y="1513592"/>
            <a:ext cx="1535832" cy="34052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699792" y="1521591"/>
          <a:ext cx="221669" cy="25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1672" r:id="rId3" imgW="139579" imgH="164957" progId="Equation.DSMT4">
                  <p:embed/>
                </p:oleObj>
              </mc:Choice>
              <mc:Fallback>
                <p:oleObj r:id="rId3" imgW="139579" imgH="164957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792" y="1521591"/>
                        <a:ext cx="221669" cy="2512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1599353" y="1556792"/>
          <a:ext cx="308351" cy="2842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1673" r:id="rId5" imgW="177492" imgH="164814" progId="Equation.DSMT4">
                  <p:embed/>
                </p:oleObj>
              </mc:Choice>
              <mc:Fallback>
                <p:oleObj r:id="rId5" imgW="177492" imgH="164814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9353" y="1556792"/>
                        <a:ext cx="308351" cy="28424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51933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8" name="矩形 47"/>
              <p:cNvSpPr/>
              <p:nvPr/>
            </p:nvSpPr>
            <p:spPr>
              <a:xfrm>
                <a:off x="330552" y="1023119"/>
                <a:ext cx="8633936" cy="52022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14350" indent="-514350"/>
                <a:r>
                  <a:rPr lang="zh-CN" altLang="en-US" sz="2400" dirty="0" smtClean="0">
                    <a:solidFill>
                      <a:srgbClr val="0000FF"/>
                    </a:solidFill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例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7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. 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设二维随机变量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(X,Y)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的概率分布为：</a:t>
                </a:r>
                <a:endParaRPr lang="en-US" altLang="zh-CN" sz="2400" dirty="0" smtClean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pPr marL="514350" indent="-514350"/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 </a:t>
                </a:r>
              </a:p>
              <a:p>
                <a:pPr marL="514350" indent="-514350"/>
                <a:endParaRPr lang="en-US" altLang="zh-CN" sz="2400" dirty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pPr marL="514350" indent="-514350"/>
                <a:endParaRPr lang="en-US" altLang="zh-CN" sz="2400" dirty="0" smtClean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pPr marL="514350" indent="-514350"/>
                <a:endParaRPr lang="en-US" altLang="zh-CN" sz="2400" dirty="0" smtClean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pPr marL="514350" indent="-514350"/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且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EX=0.75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，求：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(1) </a:t>
                </a:r>
                <a:r>
                  <a:rPr lang="en-US" altLang="zh-CN" sz="2400" dirty="0" err="1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a,b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的值；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(2)Y=1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条件下，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X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的分布律</a:t>
                </a:r>
                <a:endParaRPr lang="en-US" altLang="zh-CN" sz="2400" dirty="0" smtClean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pPr marL="514350" indent="-514350"/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(3)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协方差</a:t>
                </a:r>
                <a:r>
                  <a:rPr lang="en-US" altLang="zh-CN" sz="2400" dirty="0" err="1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cov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(X,Y)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，并判断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X,Y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是否独立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?(4)Z=min(X,Y)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的分布。</a:t>
                </a:r>
                <a:endParaRPr lang="en-US" altLang="zh-CN" sz="2400" dirty="0" smtClean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pPr marL="514350" indent="-514350"/>
                <a:endParaRPr lang="en-US" altLang="zh-CN" sz="2400" dirty="0" smtClean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pPr marL="514350" indent="-514350"/>
                <a:r>
                  <a:rPr lang="zh-CN" altLang="en-US" sz="2400" dirty="0" smtClean="0">
                    <a:solidFill>
                      <a:srgbClr val="0000FF"/>
                    </a:solidFill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解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：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(1) a+b+0.125+0.5=1;   b+0.25+0.25=0.75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。</a:t>
                </a:r>
                <a:endParaRPr lang="en-US" altLang="zh-CN" sz="2400" dirty="0" smtClean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pPr marL="514350" indent="-514350"/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 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       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解得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a=0.125; b=0.25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。</a:t>
                </a:r>
                <a:endParaRPr lang="en-US" altLang="zh-CN" sz="2400" dirty="0" smtClean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pPr marL="514350" indent="-514350"/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(2) P(X=0|Y=1)=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  <m:t>1/8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  <m:t>3/8</m:t>
                        </m:r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；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P(X=1|Y=1)=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  <m:t>1/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  <m:t>4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  <m:t>3/8</m:t>
                        </m:r>
                      </m:den>
                    </m:f>
                    <m:r>
                      <a:rPr lang="en-US" altLang="zh-CN" sz="2400" i="1">
                        <a:latin typeface="Cambria Math" panose="02040503050406030204" pitchFamily="18" charset="0"/>
                        <a:ea typeface="楷体" pitchFamily="49" charset="-122"/>
                        <a:cs typeface="Times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US" altLang="zh-CN" sz="2400" dirty="0" smtClean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pPr marL="514350" indent="-514350"/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 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     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则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X|Y=1~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anose="020206030504050203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anose="020206030504050203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anose="020206030504050203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" panose="020206030504050203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" panose="020206030504050203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" panose="020206030504050203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endParaRPr lang="en-US" altLang="zh-CN" sz="2400" dirty="0" smtClean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48" name="矩形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552" y="1023119"/>
                <a:ext cx="8633936" cy="5202258"/>
              </a:xfrm>
              <a:prstGeom prst="rect">
                <a:avLst/>
              </a:prstGeom>
              <a:blipFill>
                <a:blip r:embed="rId3"/>
                <a:stretch>
                  <a:fillRect l="-1059" t="-1290" r="-33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/>
          <p:cNvSpPr/>
          <p:nvPr/>
        </p:nvSpPr>
        <p:spPr>
          <a:xfrm>
            <a:off x="2483768" y="251937"/>
            <a:ext cx="430278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4.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二维离散型随机变量</a:t>
            </a:r>
            <a:endParaRPr lang="zh-CN" altLang="en-US" sz="3200" b="1" dirty="0">
              <a:solidFill>
                <a:srgbClr val="0000FF"/>
              </a:solidFill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524000" y="1513592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72109214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33000241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90073155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9256018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2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51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0.125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a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5801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b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0.25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0.25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500755"/>
                  </a:ext>
                </a:extLst>
              </a:tr>
            </a:tbl>
          </a:graphicData>
        </a:graphic>
      </p:graphicFrame>
      <p:cxnSp>
        <p:nvCxnSpPr>
          <p:cNvPr id="6" name="直接连接符 5"/>
          <p:cNvCxnSpPr/>
          <p:nvPr/>
        </p:nvCxnSpPr>
        <p:spPr bwMode="auto">
          <a:xfrm>
            <a:off x="1524000" y="1513592"/>
            <a:ext cx="1535832" cy="34052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699792" y="1521591"/>
          <a:ext cx="221669" cy="25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3711" r:id="rId4" imgW="139579" imgH="164957" progId="Equation.DSMT4">
                  <p:embed/>
                </p:oleObj>
              </mc:Choice>
              <mc:Fallback>
                <p:oleObj r:id="rId4" imgW="139579" imgH="164957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792" y="1521591"/>
                        <a:ext cx="221669" cy="2512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1599353" y="1556792"/>
          <a:ext cx="308351" cy="2842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3712" r:id="rId6" imgW="177492" imgH="164814" progId="Equation.DSMT4">
                  <p:embed/>
                </p:oleObj>
              </mc:Choice>
              <mc:Fallback>
                <p:oleObj r:id="rId6" imgW="177492" imgH="164814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9353" y="1556792"/>
                        <a:ext cx="308351" cy="28424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55174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/>
          <p:cNvSpPr/>
          <p:nvPr/>
        </p:nvSpPr>
        <p:spPr>
          <a:xfrm>
            <a:off x="330552" y="1023119"/>
            <a:ext cx="863393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zh-CN" altLang="en-US" sz="2400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7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. 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设二维随机变量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(X,Y)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的概率分布为：</a:t>
            </a:r>
            <a:endParaRPr lang="en-US" altLang="zh-CN" sz="2400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 </a:t>
            </a:r>
          </a:p>
          <a:p>
            <a:pPr marL="514350" indent="-514350"/>
            <a:endParaRPr lang="en-US" altLang="zh-CN" sz="2400" dirty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endParaRPr lang="en-US" altLang="zh-CN" sz="2400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endParaRPr lang="en-US" altLang="zh-CN" sz="2400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且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EX=0.75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，求：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(1) </a:t>
            </a:r>
            <a:r>
              <a:rPr lang="en-US" altLang="zh-CN" sz="2400" dirty="0" err="1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a,b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的值；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(2)Y=1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条件下，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X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的分布律</a:t>
            </a:r>
            <a:endParaRPr lang="en-US" altLang="zh-CN" sz="2400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(3)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协方差</a:t>
            </a:r>
            <a:r>
              <a:rPr lang="en-US" altLang="zh-CN" sz="2400" dirty="0" err="1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cov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(X,Y)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，并判断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X,Y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是否独立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?(4)Z=min(X,Y)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的分布。</a:t>
            </a:r>
            <a:endParaRPr lang="en-US" altLang="zh-CN" sz="2400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endParaRPr lang="en-US" altLang="zh-CN" sz="2400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r>
              <a:rPr lang="zh-CN" altLang="en-US" sz="2400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解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：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(3)                                                                 (4)</a:t>
            </a:r>
          </a:p>
          <a:p>
            <a:pPr marL="514350" indent="-514350"/>
            <a:endParaRPr lang="en-US" altLang="zh-CN" sz="2400" dirty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endParaRPr lang="en-US" altLang="zh-CN" sz="2400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endParaRPr lang="en-US" altLang="zh-CN" sz="2400" dirty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endParaRPr lang="en-US" altLang="zh-CN" sz="2400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r>
              <a:rPr lang="en-US" altLang="zh-CN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 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                                            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所以不独立。</a:t>
            </a:r>
            <a:endParaRPr lang="en-US" altLang="zh-CN" sz="2400" dirty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483768" y="251937"/>
            <a:ext cx="430278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4.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二维离散型随机变量</a:t>
            </a:r>
            <a:endParaRPr lang="zh-CN" altLang="en-US" sz="3200" b="1" dirty="0">
              <a:solidFill>
                <a:srgbClr val="0000FF"/>
              </a:solidFill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524000" y="1513592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72109214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33000241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90073155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9256018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2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51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0.125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a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5801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b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0.25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0.25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500755"/>
                  </a:ext>
                </a:extLst>
              </a:tr>
            </a:tbl>
          </a:graphicData>
        </a:graphic>
      </p:graphicFrame>
      <p:cxnSp>
        <p:nvCxnSpPr>
          <p:cNvPr id="6" name="直接连接符 5"/>
          <p:cNvCxnSpPr/>
          <p:nvPr/>
        </p:nvCxnSpPr>
        <p:spPr bwMode="auto">
          <a:xfrm>
            <a:off x="1524000" y="1513592"/>
            <a:ext cx="1535832" cy="34052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699792" y="1521591"/>
          <a:ext cx="221669" cy="25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3043" r:id="rId3" imgW="139579" imgH="164957" progId="Equation.DSMT4">
                  <p:embed/>
                </p:oleObj>
              </mc:Choice>
              <mc:Fallback>
                <p:oleObj r:id="rId3" imgW="139579" imgH="164957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792" y="1521591"/>
                        <a:ext cx="221669" cy="2512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1599353" y="1556792"/>
          <a:ext cx="308351" cy="2842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3044" r:id="rId5" imgW="177492" imgH="164814" progId="Equation.DSMT4">
                  <p:embed/>
                </p:oleObj>
              </mc:Choice>
              <mc:Fallback>
                <p:oleObj r:id="rId5" imgW="177492" imgH="164814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9353" y="1556792"/>
                        <a:ext cx="308351" cy="28424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0530050"/>
              </p:ext>
            </p:extLst>
          </p:nvPr>
        </p:nvGraphicFramePr>
        <p:xfrm>
          <a:off x="1683210" y="3861048"/>
          <a:ext cx="4328949" cy="7492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3045" r:id="rId7" imgW="2476500" imgH="431800" progId="Equation.DSMT4">
                  <p:embed/>
                </p:oleObj>
              </mc:Choice>
              <mc:Fallback>
                <p:oleObj r:id="rId7" imgW="2476500" imgH="4318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3210" y="3861048"/>
                        <a:ext cx="4328949" cy="74924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1800523"/>
              </p:ext>
            </p:extLst>
          </p:nvPr>
        </p:nvGraphicFramePr>
        <p:xfrm>
          <a:off x="1683210" y="4758486"/>
          <a:ext cx="3680878" cy="10332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3046" r:id="rId9" imgW="2171700" imgH="609600" progId="Equation.DSMT4">
                  <p:embed/>
                </p:oleObj>
              </mc:Choice>
              <mc:Fallback>
                <p:oleObj r:id="rId9" imgW="2171700" imgH="609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3210" y="4758486"/>
                        <a:ext cx="3680878" cy="103322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6882180"/>
              </p:ext>
            </p:extLst>
          </p:nvPr>
        </p:nvGraphicFramePr>
        <p:xfrm>
          <a:off x="1691680" y="5958106"/>
          <a:ext cx="2050718" cy="3512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3047" r:id="rId11" imgW="1371600" imgH="203200" progId="Equation.DSMT4">
                  <p:embed/>
                </p:oleObj>
              </mc:Choice>
              <mc:Fallback>
                <p:oleObj r:id="rId11" imgW="1371600" imgH="203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5958106"/>
                        <a:ext cx="2050718" cy="35121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3251462"/>
              </p:ext>
            </p:extLst>
          </p:nvPr>
        </p:nvGraphicFramePr>
        <p:xfrm>
          <a:off x="6819171" y="3861048"/>
          <a:ext cx="1857285" cy="11629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3048" r:id="rId13" imgW="1015559" imgH="634725" progId="Equation.DSMT4">
                  <p:embed/>
                </p:oleObj>
              </mc:Choice>
              <mc:Fallback>
                <p:oleObj r:id="rId13" imgW="1015559" imgH="634725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9171" y="3861048"/>
                        <a:ext cx="1857285" cy="116297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07699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/>
          <p:cNvSpPr/>
          <p:nvPr/>
        </p:nvSpPr>
        <p:spPr>
          <a:xfrm>
            <a:off x="330552" y="1023119"/>
            <a:ext cx="863393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zh-CN" altLang="en-US" sz="2400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例</a:t>
            </a:r>
            <a:r>
              <a:rPr lang="en-US" altLang="zh-CN" sz="2400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8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. 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已知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X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的分布律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P(X=</a:t>
            </a:r>
            <a:r>
              <a:rPr lang="en-US" altLang="zh-CN" sz="2400" dirty="0" err="1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i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)=0.5, </a:t>
            </a:r>
            <a:r>
              <a:rPr lang="en-US" altLang="zh-CN" sz="2400" dirty="0" err="1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i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=-1,1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，随机变量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Y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的分布律为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P(Y=0)=0.25, P(Y=1)=0.75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，且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P(X=Y)=0.25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，求</a:t>
            </a:r>
            <a:endParaRPr lang="en-US" altLang="zh-CN" sz="2400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r>
              <a:rPr lang="en-US" altLang="zh-CN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 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      (1) </a:t>
            </a:r>
            <a:r>
              <a:rPr lang="zh-CN" altLang="en-US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二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维随机变量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(X,Y)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的概率分布律；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(2) X, Y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的相关系数；</a:t>
            </a:r>
            <a:endParaRPr lang="en-US" altLang="zh-CN" sz="2400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r>
              <a:rPr lang="en-US" altLang="zh-CN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 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      (3) Z=max(X,Y)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的分布律。</a:t>
            </a:r>
            <a:endParaRPr lang="en-US" altLang="zh-CN" sz="2400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483768" y="251937"/>
            <a:ext cx="430278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4.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二维离散型随机变量</a:t>
            </a:r>
            <a:endParaRPr lang="zh-CN" altLang="en-US" sz="3200" b="1" dirty="0">
              <a:solidFill>
                <a:srgbClr val="0000FF"/>
              </a:solidFill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9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0837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/>
          <p:cNvSpPr/>
          <p:nvPr/>
        </p:nvSpPr>
        <p:spPr>
          <a:xfrm>
            <a:off x="330552" y="1023119"/>
            <a:ext cx="863393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zh-CN" altLang="en-US" sz="2400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例</a:t>
            </a:r>
            <a:r>
              <a:rPr lang="en-US" altLang="zh-CN" sz="2400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8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. 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已知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X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的分布律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P(X=</a:t>
            </a:r>
            <a:r>
              <a:rPr lang="en-US" altLang="zh-CN" sz="2400" dirty="0" err="1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i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)=0.5, </a:t>
            </a:r>
            <a:r>
              <a:rPr lang="en-US" altLang="zh-CN" sz="2400" dirty="0" err="1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i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=-1,1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，随机变量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Y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的分布律为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P(Y=0)=0.25, P(Y=1)=0.75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，且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P(X=Y)=0.25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，求</a:t>
            </a:r>
            <a:endParaRPr lang="en-US" altLang="zh-CN" sz="2400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r>
              <a:rPr lang="en-US" altLang="zh-CN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 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      (1) </a:t>
            </a:r>
            <a:r>
              <a:rPr lang="zh-CN" altLang="en-US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二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维随机变量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(X,Y)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的概率分布律；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(2) X, Y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的相关系数；</a:t>
            </a:r>
            <a:endParaRPr lang="en-US" altLang="zh-CN" sz="2400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r>
              <a:rPr lang="en-US" altLang="zh-CN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 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      (3) Z=max(X,Y)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的分布律。</a:t>
            </a:r>
            <a:endParaRPr lang="en-US" altLang="zh-CN" sz="2400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r>
              <a:rPr lang="zh-CN" altLang="en-US" sz="2400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解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：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(1)</a:t>
            </a:r>
          </a:p>
          <a:p>
            <a:pPr marL="514350" indent="-514350"/>
            <a:endParaRPr lang="en-US" altLang="zh-CN" sz="2400" dirty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endParaRPr lang="en-US" altLang="zh-CN" sz="2400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endParaRPr lang="en-US" altLang="zh-CN" sz="2400" dirty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endParaRPr lang="en-US" altLang="zh-CN" sz="2400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(2) EX=0, EY=0.75; EX</a:t>
            </a:r>
            <a:r>
              <a:rPr lang="en-US" altLang="zh-CN" sz="2400" baseline="300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2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=1, EY</a:t>
            </a:r>
            <a:r>
              <a:rPr lang="en-US" altLang="zh-CN" sz="2400" baseline="300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2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=0.75; DX=1, DY=3/16</a:t>
            </a:r>
          </a:p>
          <a:p>
            <a:pPr marL="514350" indent="-514350"/>
            <a:r>
              <a:rPr lang="en-US" altLang="zh-CN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 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     </a:t>
            </a:r>
            <a:r>
              <a:rPr lang="en-US" altLang="zh-CN" sz="2400" dirty="0" err="1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cov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(X,Y)=-1/4, R(X,Y)=</a:t>
            </a:r>
          </a:p>
          <a:p>
            <a:pPr marL="514350" indent="-514350"/>
            <a:endParaRPr lang="en-US" altLang="zh-CN" sz="2400" dirty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(3) P(Z=0)=P(-1,0)=0;    P(Z=1)=1</a:t>
            </a:r>
          </a:p>
          <a:p>
            <a:pPr marL="514350" indent="-514350"/>
            <a:r>
              <a:rPr lang="en-US" altLang="zh-CN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 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     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则</a:t>
            </a:r>
            <a:endParaRPr lang="en-US" altLang="zh-CN" sz="2400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483768" y="251937"/>
            <a:ext cx="430278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4.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二维离散型随机变量</a:t>
            </a:r>
            <a:endParaRPr lang="zh-CN" altLang="en-US" sz="3200" b="1" dirty="0">
              <a:solidFill>
                <a:srgbClr val="0000FF"/>
              </a:solidFill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表格 14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1524000" y="2564904"/>
              <a:ext cx="6096000" cy="150037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24000">
                      <a:extLst>
                        <a:ext uri="{9D8B030D-6E8A-4147-A177-3AD203B41FA5}">
                          <a16:colId xmlns:a16="http://schemas.microsoft.com/office/drawing/2014/main" val="3721092141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3330002412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1900731556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92560181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800" b="0" kern="1200" dirty="0" smtClean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0</a:t>
                          </a:r>
                          <a:endParaRPr lang="zh-CN" altLang="en-US" sz="1800" b="0" kern="120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800" b="0" kern="1200" dirty="0" smtClean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</a:t>
                          </a:r>
                          <a:endParaRPr lang="zh-CN" altLang="en-US" sz="1800" b="0" kern="120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" panose="020206030504050203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" panose="020206030504050203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CN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∙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800" b="0" kern="120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21510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800" b="0" kern="1200" dirty="0" smtClean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-1</a:t>
                          </a:r>
                          <a:endParaRPr lang="zh-CN" altLang="en-US" sz="1800" b="0" kern="120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800" b="0" i="0" kern="1200" dirty="0" smtClean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0</a:t>
                          </a:r>
                          <a:endParaRPr lang="zh-CN" altLang="en-US" sz="1800" b="0" i="0" kern="120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800" b="0" kern="1200" dirty="0" smtClean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1/2</a:t>
                          </a:r>
                          <a:endParaRPr lang="zh-CN" altLang="en-US" sz="1800" b="0" kern="120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800" b="0" kern="1200" dirty="0" smtClean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1/2</a:t>
                          </a:r>
                          <a:endParaRPr lang="zh-CN" altLang="en-US" sz="1800" b="0" kern="120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264281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800" b="0" kern="1200" dirty="0" smtClean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</a:t>
                          </a:r>
                          <a:endParaRPr lang="zh-CN" altLang="en-US" sz="1800" b="0" kern="120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800" b="0" kern="1200" dirty="0" smtClean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1/4</a:t>
                          </a:r>
                          <a:endParaRPr lang="zh-CN" altLang="en-US" sz="1800" b="0" kern="120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800" b="0" kern="1200" dirty="0" smtClean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1/4</a:t>
                          </a:r>
                          <a:endParaRPr lang="zh-CN" altLang="en-US" sz="1800" b="0" kern="120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800" b="0" kern="1200" dirty="0" smtClean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1/2</a:t>
                          </a:r>
                          <a:endParaRPr lang="zh-CN" altLang="en-US" sz="1800" b="0" kern="120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4580196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Times" panose="020206030504050203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∙</m:t>
                                    </m:r>
                                    <m:r>
                                      <a:rPr lang="en-US" altLang="zh-CN" sz="1800" b="0" i="1" kern="120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" panose="020206030504050203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800" b="0" kern="120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800" b="0" kern="1200" dirty="0" smtClean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1/4</a:t>
                          </a:r>
                          <a:endParaRPr lang="zh-CN" altLang="en-US" sz="1800" b="0" kern="120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800" b="0" kern="1200" dirty="0" smtClean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3/4</a:t>
                          </a:r>
                          <a:endParaRPr lang="zh-CN" altLang="en-US" sz="1800" b="0" kern="120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800" b="0" kern="1200" dirty="0" smtClean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</a:t>
                          </a:r>
                          <a:endParaRPr lang="zh-CN" altLang="en-US" sz="1800" b="0" kern="120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095007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表格 1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83036556"/>
                  </p:ext>
                </p:extLst>
              </p:nvPr>
            </p:nvGraphicFramePr>
            <p:xfrm>
              <a:off x="1524000" y="2564904"/>
              <a:ext cx="6096000" cy="150037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524000">
                      <a:extLst>
                        <a:ext uri="{9D8B030D-6E8A-4147-A177-3AD203B41FA5}">
                          <a16:colId xmlns:a16="http://schemas.microsoft.com/office/drawing/2014/main" val="3721092141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3330002412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1900731556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92560181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800" b="0" kern="1200" dirty="0" smtClean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0</a:t>
                          </a:r>
                          <a:endParaRPr lang="zh-CN" altLang="en-US" sz="1800" b="0" kern="120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800" b="0" kern="1200" dirty="0" smtClean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</a:t>
                          </a:r>
                          <a:endParaRPr lang="zh-CN" altLang="en-US" sz="1800" b="0" kern="120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800" t="-8197" r="-1200" b="-3245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21510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800" b="0" kern="1200" dirty="0" smtClean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-1</a:t>
                          </a:r>
                          <a:endParaRPr lang="zh-CN" altLang="en-US" sz="1800" b="0" kern="120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800" b="0" i="0" kern="1200" dirty="0" smtClean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0</a:t>
                          </a:r>
                          <a:endParaRPr lang="zh-CN" altLang="en-US" sz="1800" b="0" i="0" kern="120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800" b="0" kern="1200" dirty="0" smtClean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1/2</a:t>
                          </a:r>
                          <a:endParaRPr lang="zh-CN" altLang="en-US" sz="1800" b="0" kern="120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800" b="0" kern="1200" dirty="0" smtClean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1/2</a:t>
                          </a:r>
                          <a:endParaRPr lang="zh-CN" altLang="en-US" sz="1800" b="0" kern="120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264281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800" b="0" kern="1200" dirty="0" smtClean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</a:t>
                          </a:r>
                          <a:endParaRPr lang="zh-CN" altLang="en-US" sz="1800" b="0" kern="120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800" b="0" kern="1200" dirty="0" smtClean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1/4</a:t>
                          </a:r>
                          <a:endParaRPr lang="zh-CN" altLang="en-US" sz="1800" b="0" kern="120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800" b="0" kern="1200" dirty="0" smtClean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1/4</a:t>
                          </a:r>
                          <a:endParaRPr lang="zh-CN" altLang="en-US" sz="1800" b="0" kern="120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800" b="0" kern="1200" dirty="0" smtClean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1/2</a:t>
                          </a:r>
                          <a:endParaRPr lang="zh-CN" altLang="en-US" sz="1800" b="0" kern="120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45801966"/>
                      </a:ext>
                    </a:extLst>
                  </a:tr>
                  <a:tr h="38785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00" t="-293750" r="-301200" b="-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800" b="0" kern="1200" dirty="0" smtClean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1/4</a:t>
                          </a:r>
                          <a:endParaRPr lang="zh-CN" altLang="en-US" sz="1800" b="0" kern="120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800" b="0" kern="1200" dirty="0" smtClean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3/4</a:t>
                          </a:r>
                          <a:endParaRPr lang="zh-CN" altLang="en-US" sz="1800" b="0" kern="120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altLang="zh-CN" sz="1800" b="0" kern="1200" dirty="0" smtClean="0">
                              <a:solidFill>
                                <a:schemeClr val="tx1"/>
                              </a:solidFill>
                              <a:latin typeface="Times" panose="02020603050405020304" pitchFamily="18" charset="0"/>
                              <a:ea typeface="+mn-ea"/>
                              <a:cs typeface="Times" panose="02020603050405020304" pitchFamily="18" charset="0"/>
                            </a:rPr>
                            <a:t>1</a:t>
                          </a:r>
                          <a:endParaRPr lang="zh-CN" altLang="en-US" sz="1800" b="0" kern="1200" dirty="0">
                            <a:solidFill>
                              <a:schemeClr val="tx1"/>
                            </a:solidFill>
                            <a:latin typeface="Times" panose="02020603050405020304" pitchFamily="18" charset="0"/>
                            <a:ea typeface="+mn-ea"/>
                            <a:cs typeface="Times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09500755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6" name="直接连接符 15"/>
          <p:cNvCxnSpPr/>
          <p:nvPr/>
        </p:nvCxnSpPr>
        <p:spPr bwMode="auto">
          <a:xfrm>
            <a:off x="1524000" y="2564904"/>
            <a:ext cx="1535832" cy="34052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17" name="对象 16"/>
          <p:cNvGraphicFramePr>
            <a:graphicFrameLocks noChangeAspect="1"/>
          </p:cNvGraphicFramePr>
          <p:nvPr>
            <p:extLst/>
          </p:nvPr>
        </p:nvGraphicFramePr>
        <p:xfrm>
          <a:off x="2699792" y="2572903"/>
          <a:ext cx="221669" cy="25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9114" r:id="rId4" imgW="139579" imgH="164957" progId="Equation.DSMT4">
                  <p:embed/>
                </p:oleObj>
              </mc:Choice>
              <mc:Fallback>
                <p:oleObj r:id="rId4" imgW="139579" imgH="164957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9792" y="2572903"/>
                        <a:ext cx="221669" cy="2512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/>
          </p:nvPr>
        </p:nvGraphicFramePr>
        <p:xfrm>
          <a:off x="1599353" y="2608104"/>
          <a:ext cx="308351" cy="2842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9115" r:id="rId6" imgW="177492" imgH="164814" progId="Equation.DSMT4">
                  <p:embed/>
                </p:oleObj>
              </mc:Choice>
              <mc:Fallback>
                <p:oleObj r:id="rId6" imgW="177492" imgH="164814" progId="Equation.DSMT4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9353" y="2608104"/>
                        <a:ext cx="308351" cy="28424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>
            <p:extLst/>
          </p:nvPr>
        </p:nvGraphicFramePr>
        <p:xfrm>
          <a:off x="3995936" y="4616159"/>
          <a:ext cx="504056" cy="6130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9116" r:id="rId8" imgW="355446" imgH="431613" progId="Equation.DSMT4">
                  <p:embed/>
                </p:oleObj>
              </mc:Choice>
              <mc:Fallback>
                <p:oleObj r:id="rId8" imgW="355446" imgH="431613" progId="Equation.DSMT4">
                  <p:embed/>
                  <p:pic>
                    <p:nvPicPr>
                      <p:cNvPr id="2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936" y="4616159"/>
                        <a:ext cx="504056" cy="61304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表格 20"/>
          <p:cNvGraphicFramePr>
            <a:graphicFrameLocks noGrp="1"/>
          </p:cNvGraphicFramePr>
          <p:nvPr>
            <p:extLst/>
          </p:nvPr>
        </p:nvGraphicFramePr>
        <p:xfrm>
          <a:off x="2123728" y="5877272"/>
          <a:ext cx="1728192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096">
                  <a:extLst>
                    <a:ext uri="{9D8B030D-6E8A-4147-A177-3AD203B41FA5}">
                      <a16:colId xmlns:a16="http://schemas.microsoft.com/office/drawing/2014/main" val="249102905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743728395"/>
                    </a:ext>
                  </a:extLst>
                </a:gridCol>
              </a:tblGrid>
              <a:tr h="32917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Z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8498883"/>
                  </a:ext>
                </a:extLst>
              </a:tr>
              <a:tr h="36352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P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 smtClean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63081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9243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179512" y="1052736"/>
            <a:ext cx="914501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3538" indent="-363538">
              <a:buAutoNum type="arabicPeriod"/>
            </a:pP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密度函数中含有未知参数的问题</a:t>
            </a:r>
            <a:endParaRPr lang="en-US" altLang="zh-CN" sz="2400" dirty="0" smtClean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514350" indent="-514350">
              <a:buAutoNum type="arabicPeriod"/>
            </a:pPr>
            <a:endParaRPr lang="en-US" altLang="zh-CN" sz="2400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514350" indent="-514350">
              <a:buAutoNum type="arabicPeriod"/>
            </a:pPr>
            <a:endParaRPr lang="en-US" altLang="zh-CN" sz="2400" dirty="0" smtClean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363538" indent="-363538">
              <a:buAutoNum type="arabicPeriod"/>
            </a:pP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(X,Y)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服从区域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D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上的均匀分布，则其密度函数为</a:t>
            </a:r>
            <a:endParaRPr lang="en-US" altLang="zh-CN" sz="2400" dirty="0" smtClean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363538" indent="-363538">
              <a:buAutoNum type="arabicPeriod"/>
            </a:pPr>
            <a:endParaRPr lang="en-US" altLang="zh-CN" sz="2400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363538" indent="-363538">
              <a:buAutoNum type="arabicPeriod"/>
            </a:pPr>
            <a:endParaRPr lang="en-US" altLang="zh-CN" sz="2400" dirty="0" smtClean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363538" indent="-363538">
              <a:buAutoNum type="arabicPeriod"/>
            </a:pPr>
            <a:endParaRPr lang="en-US" altLang="zh-CN" sz="2400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graphicFrame>
        <p:nvGraphicFramePr>
          <p:cNvPr id="12" name="Object 19"/>
          <p:cNvGraphicFramePr>
            <a:graphicFrameLocks noChangeAspect="1"/>
          </p:cNvGraphicFramePr>
          <p:nvPr>
            <p:extLst/>
          </p:nvPr>
        </p:nvGraphicFramePr>
        <p:xfrm>
          <a:off x="2635063" y="1443087"/>
          <a:ext cx="322580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6436" name="Equation" r:id="rId3" imgW="1231560" imgH="215640" progId="Equation.DSMT4">
                  <p:embed/>
                </p:oleObj>
              </mc:Choice>
              <mc:Fallback>
                <p:oleObj name="Equation" r:id="rId3" imgW="1231560" imgH="215640" progId="Equation.DSMT4">
                  <p:embed/>
                  <p:pic>
                    <p:nvPicPr>
                      <p:cNvPr id="12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5063" y="1443087"/>
                        <a:ext cx="3225800" cy="574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0"/>
          <p:cNvGraphicFramePr>
            <a:graphicFrameLocks noChangeAspect="1"/>
          </p:cNvGraphicFramePr>
          <p:nvPr>
            <p:extLst/>
          </p:nvPr>
        </p:nvGraphicFramePr>
        <p:xfrm>
          <a:off x="611560" y="2515419"/>
          <a:ext cx="3735387" cy="1417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6437" name="Equation" r:id="rId5" imgW="1536480" imgH="583920" progId="Equation.DSMT4">
                  <p:embed/>
                </p:oleObj>
              </mc:Choice>
              <mc:Fallback>
                <p:oleObj name="Equation" r:id="rId5" imgW="1536480" imgH="583920" progId="Equation.DSMT4">
                  <p:embed/>
                  <p:pic>
                    <p:nvPicPr>
                      <p:cNvPr id="13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2515419"/>
                        <a:ext cx="3735387" cy="1417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6" name="组合 75"/>
          <p:cNvGrpSpPr/>
          <p:nvPr/>
        </p:nvGrpSpPr>
        <p:grpSpPr>
          <a:xfrm>
            <a:off x="4139952" y="2718223"/>
            <a:ext cx="4608089" cy="2582985"/>
            <a:chOff x="6948275" y="2515419"/>
            <a:chExt cx="3041342" cy="1986358"/>
          </a:xfrm>
        </p:grpSpPr>
        <p:grpSp>
          <p:nvGrpSpPr>
            <p:cNvPr id="77" name="Group 17"/>
            <p:cNvGrpSpPr>
              <a:grpSpLocks/>
            </p:cNvGrpSpPr>
            <p:nvPr/>
          </p:nvGrpSpPr>
          <p:grpSpPr bwMode="auto">
            <a:xfrm>
              <a:off x="6948275" y="2565452"/>
              <a:ext cx="3041342" cy="1936325"/>
              <a:chOff x="4204" y="1943"/>
              <a:chExt cx="1114" cy="656"/>
            </a:xfrm>
          </p:grpSpPr>
          <p:sp>
            <p:nvSpPr>
              <p:cNvPr id="80" name="AutoShape 18"/>
              <p:cNvSpPr>
                <a:spLocks noChangeAspect="1" noChangeArrowheads="1" noTextEdit="1"/>
              </p:cNvSpPr>
              <p:nvPr/>
            </p:nvSpPr>
            <p:spPr bwMode="auto">
              <a:xfrm>
                <a:off x="4204" y="2016"/>
                <a:ext cx="810" cy="58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81" name="Object 20"/>
              <p:cNvGraphicFramePr>
                <a:graphicFrameLocks noChangeAspect="1"/>
              </p:cNvGraphicFramePr>
              <p:nvPr/>
            </p:nvGraphicFramePr>
            <p:xfrm>
              <a:off x="5238" y="2414"/>
              <a:ext cx="80" cy="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76438" name="Equation" r:id="rId7" imgW="126835" imgH="139518" progId="Equation.DSMT4">
                      <p:embed/>
                    </p:oleObj>
                  </mc:Choice>
                  <mc:Fallback>
                    <p:oleObj name="Equation" r:id="rId7" imgW="126835" imgH="139518" progId="Equation.DSMT4">
                      <p:embed/>
                      <p:pic>
                        <p:nvPicPr>
                          <p:cNvPr id="81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38" y="2414"/>
                            <a:ext cx="80" cy="8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2" name="Object 21"/>
              <p:cNvGraphicFramePr>
                <a:graphicFrameLocks noChangeAspect="1"/>
              </p:cNvGraphicFramePr>
              <p:nvPr/>
            </p:nvGraphicFramePr>
            <p:xfrm>
              <a:off x="4358" y="1943"/>
              <a:ext cx="68" cy="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76439" name="Equation" r:id="rId9" imgW="139579" imgH="164957" progId="Equation.DSMT4">
                      <p:embed/>
                    </p:oleObj>
                  </mc:Choice>
                  <mc:Fallback>
                    <p:oleObj name="Equation" r:id="rId9" imgW="139579" imgH="164957" progId="Equation.DSMT4">
                      <p:embed/>
                      <p:pic>
                        <p:nvPicPr>
                          <p:cNvPr id="82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58" y="1943"/>
                            <a:ext cx="68" cy="8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3" name="Object 22"/>
              <p:cNvGraphicFramePr>
                <a:graphicFrameLocks noChangeAspect="1"/>
              </p:cNvGraphicFramePr>
              <p:nvPr/>
            </p:nvGraphicFramePr>
            <p:xfrm>
              <a:off x="4403" y="2408"/>
              <a:ext cx="80" cy="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76440" name="Equation" r:id="rId11" imgW="126835" imgH="139518" progId="Equation.DSMT4">
                      <p:embed/>
                    </p:oleObj>
                  </mc:Choice>
                  <mc:Fallback>
                    <p:oleObj name="Equation" r:id="rId11" imgW="126835" imgH="139518" progId="Equation.DSMT4">
                      <p:embed/>
                      <p:pic>
                        <p:nvPicPr>
                          <p:cNvPr id="83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03" y="2408"/>
                            <a:ext cx="80" cy="8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78" name="直接箭头连接符 77"/>
            <p:cNvCxnSpPr/>
            <p:nvPr/>
          </p:nvCxnSpPr>
          <p:spPr bwMode="auto">
            <a:xfrm>
              <a:off x="7037355" y="3919831"/>
              <a:ext cx="2905001" cy="1802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9" name="直接箭头连接符 78"/>
            <p:cNvCxnSpPr/>
            <p:nvPr/>
          </p:nvCxnSpPr>
          <p:spPr bwMode="auto">
            <a:xfrm flipV="1">
              <a:off x="7668344" y="2515419"/>
              <a:ext cx="0" cy="176793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84" name="任意多边形 83"/>
          <p:cNvSpPr/>
          <p:nvPr/>
        </p:nvSpPr>
        <p:spPr bwMode="auto">
          <a:xfrm>
            <a:off x="4688677" y="2742644"/>
            <a:ext cx="3193143" cy="1262903"/>
          </a:xfrm>
          <a:custGeom>
            <a:avLst/>
            <a:gdLst>
              <a:gd name="connsiteX0" fmla="*/ 0 w 3193143"/>
              <a:gd name="connsiteY0" fmla="*/ 1117760 h 1262903"/>
              <a:gd name="connsiteX1" fmla="*/ 638628 w 3193143"/>
              <a:gd name="connsiteY1" fmla="*/ 508160 h 1262903"/>
              <a:gd name="connsiteX2" fmla="*/ 986971 w 3193143"/>
              <a:gd name="connsiteY2" fmla="*/ 769417 h 1262903"/>
              <a:gd name="connsiteX3" fmla="*/ 1436914 w 3193143"/>
              <a:gd name="connsiteY3" fmla="*/ 160 h 1262903"/>
              <a:gd name="connsiteX4" fmla="*/ 2104571 w 3193143"/>
              <a:gd name="connsiteY4" fmla="*/ 696846 h 1262903"/>
              <a:gd name="connsiteX5" fmla="*/ 2873828 w 3193143"/>
              <a:gd name="connsiteY5" fmla="*/ 188846 h 1262903"/>
              <a:gd name="connsiteX6" fmla="*/ 3193143 w 3193143"/>
              <a:gd name="connsiteY6" fmla="*/ 1262903 h 1262903"/>
              <a:gd name="connsiteX7" fmla="*/ 3193143 w 3193143"/>
              <a:gd name="connsiteY7" fmla="*/ 1262903 h 1262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93143" h="1262903">
                <a:moveTo>
                  <a:pt x="0" y="1117760"/>
                </a:moveTo>
                <a:cubicBezTo>
                  <a:pt x="237066" y="841988"/>
                  <a:pt x="474133" y="566217"/>
                  <a:pt x="638628" y="508160"/>
                </a:cubicBezTo>
                <a:cubicBezTo>
                  <a:pt x="803123" y="450103"/>
                  <a:pt x="853923" y="854084"/>
                  <a:pt x="986971" y="769417"/>
                </a:cubicBezTo>
                <a:cubicBezTo>
                  <a:pt x="1120019" y="684750"/>
                  <a:pt x="1250647" y="12255"/>
                  <a:pt x="1436914" y="160"/>
                </a:cubicBezTo>
                <a:cubicBezTo>
                  <a:pt x="1623181" y="-11935"/>
                  <a:pt x="1865085" y="665398"/>
                  <a:pt x="2104571" y="696846"/>
                </a:cubicBezTo>
                <a:cubicBezTo>
                  <a:pt x="2344057" y="728294"/>
                  <a:pt x="2692399" y="94503"/>
                  <a:pt x="2873828" y="188846"/>
                </a:cubicBezTo>
                <a:cubicBezTo>
                  <a:pt x="3055257" y="283189"/>
                  <a:pt x="3193143" y="1262903"/>
                  <a:pt x="3193143" y="1262903"/>
                </a:cubicBezTo>
                <a:lnTo>
                  <a:pt x="3193143" y="1262903"/>
                </a:lnTo>
              </a:path>
            </a:pathLst>
          </a:custGeom>
          <a:noFill/>
          <a:ln w="28575" cap="flat" cmpd="sng" algn="ctr">
            <a:solidFill>
              <a:srgbClr val="00FF9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85" name="任意多边形 84"/>
          <p:cNvSpPr/>
          <p:nvPr/>
        </p:nvSpPr>
        <p:spPr bwMode="auto">
          <a:xfrm>
            <a:off x="4717705" y="3845890"/>
            <a:ext cx="3377779" cy="990289"/>
          </a:xfrm>
          <a:custGeom>
            <a:avLst/>
            <a:gdLst>
              <a:gd name="connsiteX0" fmla="*/ 0 w 3377779"/>
              <a:gd name="connsiteY0" fmla="*/ 0 h 990289"/>
              <a:gd name="connsiteX1" fmla="*/ 725715 w 3377779"/>
              <a:gd name="connsiteY1" fmla="*/ 769257 h 990289"/>
              <a:gd name="connsiteX2" fmla="*/ 1698172 w 3377779"/>
              <a:gd name="connsiteY2" fmla="*/ 116114 h 990289"/>
              <a:gd name="connsiteX3" fmla="*/ 1567543 w 3377779"/>
              <a:gd name="connsiteY3" fmla="*/ 928914 h 990289"/>
              <a:gd name="connsiteX4" fmla="*/ 2815772 w 3377779"/>
              <a:gd name="connsiteY4" fmla="*/ 478971 h 990289"/>
              <a:gd name="connsiteX5" fmla="*/ 3367315 w 3377779"/>
              <a:gd name="connsiteY5" fmla="*/ 986971 h 990289"/>
              <a:gd name="connsiteX6" fmla="*/ 3178629 w 3377779"/>
              <a:gd name="connsiteY6" fmla="*/ 174171 h 990289"/>
              <a:gd name="connsiteX7" fmla="*/ 3193143 w 3377779"/>
              <a:gd name="connsiteY7" fmla="*/ 116114 h 990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77779" h="990289">
                <a:moveTo>
                  <a:pt x="0" y="0"/>
                </a:moveTo>
                <a:cubicBezTo>
                  <a:pt x="221343" y="374952"/>
                  <a:pt x="442686" y="749905"/>
                  <a:pt x="725715" y="769257"/>
                </a:cubicBezTo>
                <a:cubicBezTo>
                  <a:pt x="1008744" y="788609"/>
                  <a:pt x="1557867" y="89505"/>
                  <a:pt x="1698172" y="116114"/>
                </a:cubicBezTo>
                <a:cubicBezTo>
                  <a:pt x="1838477" y="142723"/>
                  <a:pt x="1381276" y="868438"/>
                  <a:pt x="1567543" y="928914"/>
                </a:cubicBezTo>
                <a:cubicBezTo>
                  <a:pt x="1753810" y="989390"/>
                  <a:pt x="2515810" y="469295"/>
                  <a:pt x="2815772" y="478971"/>
                </a:cubicBezTo>
                <a:cubicBezTo>
                  <a:pt x="3115734" y="488647"/>
                  <a:pt x="3306839" y="1037771"/>
                  <a:pt x="3367315" y="986971"/>
                </a:cubicBezTo>
                <a:cubicBezTo>
                  <a:pt x="3427791" y="936171"/>
                  <a:pt x="3207658" y="319314"/>
                  <a:pt x="3178629" y="174171"/>
                </a:cubicBezTo>
                <a:cubicBezTo>
                  <a:pt x="3149600" y="29028"/>
                  <a:pt x="3171371" y="72571"/>
                  <a:pt x="3193143" y="116114"/>
                </a:cubicBezTo>
              </a:path>
            </a:pathLst>
          </a:custGeom>
          <a:noFill/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cxnSp>
        <p:nvCxnSpPr>
          <p:cNvPr id="86" name="直接连接符 85"/>
          <p:cNvCxnSpPr>
            <a:stCxn id="84" idx="0"/>
          </p:cNvCxnSpPr>
          <p:nvPr/>
        </p:nvCxnSpPr>
        <p:spPr bwMode="auto">
          <a:xfrm>
            <a:off x="4688677" y="3860404"/>
            <a:ext cx="27338" cy="68406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87" name="直接连接符 86"/>
          <p:cNvCxnSpPr/>
          <p:nvPr/>
        </p:nvCxnSpPr>
        <p:spPr bwMode="auto">
          <a:xfrm flipV="1">
            <a:off x="8095484" y="4567909"/>
            <a:ext cx="0" cy="15755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88" name="Object 22"/>
          <p:cNvGraphicFramePr>
            <a:graphicFrameLocks noChangeAspect="1"/>
          </p:cNvGraphicFramePr>
          <p:nvPr>
            <p:extLst/>
          </p:nvPr>
        </p:nvGraphicFramePr>
        <p:xfrm>
          <a:off x="4529109" y="4567908"/>
          <a:ext cx="330922" cy="337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6441" name="Equation" r:id="rId13" imgW="126720" imgH="139680" progId="Equation.DSMT4">
                  <p:embed/>
                </p:oleObj>
              </mc:Choice>
              <mc:Fallback>
                <p:oleObj name="Equation" r:id="rId13" imgW="126720" imgH="139680" progId="Equation.DSMT4">
                  <p:embed/>
                  <p:pic>
                    <p:nvPicPr>
                      <p:cNvPr id="88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9109" y="4567908"/>
                        <a:ext cx="330922" cy="33777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" name="Object 22"/>
          <p:cNvGraphicFramePr>
            <a:graphicFrameLocks noChangeAspect="1"/>
          </p:cNvGraphicFramePr>
          <p:nvPr>
            <p:extLst/>
          </p:nvPr>
        </p:nvGraphicFramePr>
        <p:xfrm>
          <a:off x="8056636" y="4208067"/>
          <a:ext cx="331787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6442" name="Equation" r:id="rId15" imgW="126720" imgH="177480" progId="Equation.DSMT4">
                  <p:embed/>
                </p:oleObj>
              </mc:Choice>
              <mc:Fallback>
                <p:oleObj name="Equation" r:id="rId15" imgW="126720" imgH="177480" progId="Equation.DSMT4">
                  <p:embed/>
                  <p:pic>
                    <p:nvPicPr>
                      <p:cNvPr id="89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56636" y="4208067"/>
                        <a:ext cx="331787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0" name="直接连接符 89"/>
          <p:cNvCxnSpPr/>
          <p:nvPr/>
        </p:nvCxnSpPr>
        <p:spPr bwMode="auto">
          <a:xfrm flipH="1">
            <a:off x="6984099" y="2736484"/>
            <a:ext cx="6481" cy="2280691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1" name="直接连接符 90"/>
          <p:cNvCxnSpPr>
            <a:stCxn id="84" idx="1"/>
          </p:cNvCxnSpPr>
          <p:nvPr/>
        </p:nvCxnSpPr>
        <p:spPr bwMode="auto">
          <a:xfrm flipH="1">
            <a:off x="4860031" y="3250804"/>
            <a:ext cx="467274" cy="88505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2" name="直接连接符 91"/>
          <p:cNvCxnSpPr>
            <a:stCxn id="84" idx="3"/>
          </p:cNvCxnSpPr>
          <p:nvPr/>
        </p:nvCxnSpPr>
        <p:spPr bwMode="auto">
          <a:xfrm flipH="1">
            <a:off x="5230964" y="2742804"/>
            <a:ext cx="894627" cy="180166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3" name="直接连接符 92"/>
          <p:cNvCxnSpPr/>
          <p:nvPr/>
        </p:nvCxnSpPr>
        <p:spPr bwMode="auto">
          <a:xfrm flipH="1">
            <a:off x="5940151" y="3250804"/>
            <a:ext cx="576064" cy="110108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4" name="直接连接符 93"/>
          <p:cNvCxnSpPr>
            <a:endCxn id="85" idx="3"/>
          </p:cNvCxnSpPr>
          <p:nvPr/>
        </p:nvCxnSpPr>
        <p:spPr bwMode="auto">
          <a:xfrm flipH="1">
            <a:off x="6285248" y="3250804"/>
            <a:ext cx="807031" cy="15240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5" name="直接连接符 94"/>
          <p:cNvCxnSpPr/>
          <p:nvPr/>
        </p:nvCxnSpPr>
        <p:spPr bwMode="auto">
          <a:xfrm flipH="1">
            <a:off x="7092279" y="3250804"/>
            <a:ext cx="648072" cy="129366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6" name="直接连接符 95"/>
          <p:cNvCxnSpPr>
            <a:stCxn id="85" idx="6"/>
          </p:cNvCxnSpPr>
          <p:nvPr/>
        </p:nvCxnSpPr>
        <p:spPr bwMode="auto">
          <a:xfrm flipH="1">
            <a:off x="7740351" y="4020061"/>
            <a:ext cx="155983" cy="33182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7" name="直接箭头连接符 96"/>
          <p:cNvCxnSpPr/>
          <p:nvPr/>
        </p:nvCxnSpPr>
        <p:spPr bwMode="auto">
          <a:xfrm flipH="1">
            <a:off x="7562505" y="2551684"/>
            <a:ext cx="177846" cy="30779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FF99"/>
            </a:solidFill>
            <a:prstDash val="solid"/>
            <a:round/>
            <a:headEnd type="none" w="med" len="med"/>
            <a:tailEnd type="triangle"/>
          </a:ln>
          <a:effectLst/>
        </p:spPr>
      </p:cxnSp>
      <p:graphicFrame>
        <p:nvGraphicFramePr>
          <p:cNvPr id="98" name="Object 22"/>
          <p:cNvGraphicFramePr>
            <a:graphicFrameLocks noChangeAspect="1"/>
          </p:cNvGraphicFramePr>
          <p:nvPr>
            <p:extLst/>
          </p:nvPr>
        </p:nvGraphicFramePr>
        <p:xfrm>
          <a:off x="7703530" y="2210124"/>
          <a:ext cx="862012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6443" name="Equation" r:id="rId17" imgW="330120" imgH="203040" progId="Equation.DSMT4">
                  <p:embed/>
                </p:oleObj>
              </mc:Choice>
              <mc:Fallback>
                <p:oleObj name="Equation" r:id="rId17" imgW="330120" imgH="203040" progId="Equation.DSMT4">
                  <p:embed/>
                  <p:pic>
                    <p:nvPicPr>
                      <p:cNvPr id="98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3530" y="2210124"/>
                        <a:ext cx="862012" cy="490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9" name="直接箭头连接符 98"/>
          <p:cNvCxnSpPr/>
          <p:nvPr/>
        </p:nvCxnSpPr>
        <p:spPr bwMode="auto">
          <a:xfrm flipV="1">
            <a:off x="6126485" y="4836179"/>
            <a:ext cx="320972" cy="28674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  <p:graphicFrame>
        <p:nvGraphicFramePr>
          <p:cNvPr id="100" name="Object 22"/>
          <p:cNvGraphicFramePr>
            <a:graphicFrameLocks noChangeAspect="1"/>
          </p:cNvGraphicFramePr>
          <p:nvPr>
            <p:extLst/>
          </p:nvPr>
        </p:nvGraphicFramePr>
        <p:xfrm>
          <a:off x="5652120" y="5026694"/>
          <a:ext cx="795337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6444" name="Equation" r:id="rId19" imgW="304560" imgH="203040" progId="Equation.DSMT4">
                  <p:embed/>
                </p:oleObj>
              </mc:Choice>
              <mc:Fallback>
                <p:oleObj name="Equation" r:id="rId19" imgW="304560" imgH="203040" progId="Equation.DSMT4">
                  <p:embed/>
                  <p:pic>
                    <p:nvPicPr>
                      <p:cNvPr id="10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2120" y="5026694"/>
                        <a:ext cx="795337" cy="490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" name="Object 10"/>
          <p:cNvGraphicFramePr>
            <a:graphicFrameLocks noChangeAspect="1"/>
          </p:cNvGraphicFramePr>
          <p:nvPr>
            <p:extLst/>
          </p:nvPr>
        </p:nvGraphicFramePr>
        <p:xfrm>
          <a:off x="677978" y="4548122"/>
          <a:ext cx="2595087" cy="6743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6445" name="Equation" r:id="rId21" imgW="927000" imgH="241200" progId="Equation.DSMT4">
                  <p:embed/>
                </p:oleObj>
              </mc:Choice>
              <mc:Fallback>
                <p:oleObj name="Equation" r:id="rId21" imgW="927000" imgH="241200" progId="Equation.DSMT4">
                  <p:embed/>
                  <p:pic>
                    <p:nvPicPr>
                      <p:cNvPr id="10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978" y="4548122"/>
                        <a:ext cx="2595087" cy="67435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矩形 31"/>
          <p:cNvSpPr/>
          <p:nvPr/>
        </p:nvSpPr>
        <p:spPr>
          <a:xfrm>
            <a:off x="2554912" y="251937"/>
            <a:ext cx="42493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5 </a:t>
            </a:r>
            <a:r>
              <a:rPr lang="zh-CN" altLang="en-US" sz="32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二维连续型随机变量</a:t>
            </a:r>
            <a:endParaRPr lang="zh-CN" altLang="en-US" sz="3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75431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179512" y="1052736"/>
            <a:ext cx="914501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3. 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边缘密度函数</a:t>
            </a:r>
            <a:endParaRPr lang="en-US" altLang="zh-CN" sz="2400" dirty="0" smtClean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r>
              <a:rPr lang="en-US" altLang="zh-CN" sz="24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  (1)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求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X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的边缘密度函数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f</a:t>
            </a:r>
            <a:r>
              <a:rPr lang="en-US" altLang="zh-CN" sz="2400" baseline="-250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X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(x)</a:t>
            </a:r>
          </a:p>
          <a:p>
            <a:r>
              <a:rPr lang="en-US" altLang="zh-CN" sz="24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       (</a:t>
            </a:r>
            <a:r>
              <a:rPr lang="en-US" altLang="zh-CN" sz="2400" dirty="0" err="1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)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确定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X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的取值范围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</a:t>
            </a:r>
            <a:r>
              <a:rPr lang="en-US" altLang="zh-CN" sz="2400" dirty="0" err="1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a,b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)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，即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f(</a:t>
            </a:r>
            <a:r>
              <a:rPr lang="en-US" altLang="zh-CN" sz="2400" dirty="0" err="1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x,y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)≠0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的区域对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x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轴的投影范围；</a:t>
            </a:r>
            <a:endParaRPr lang="en-US" altLang="zh-CN" sz="2400" dirty="0" smtClean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r>
              <a:rPr lang="en-US" altLang="zh-CN" sz="24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      </a:t>
            </a:r>
          </a:p>
          <a:p>
            <a:endParaRPr lang="en-US" altLang="zh-CN" sz="2400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endParaRPr lang="en-US" altLang="zh-CN" sz="2400" dirty="0" smtClean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endParaRPr lang="en-US" altLang="zh-CN" sz="2400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endParaRPr lang="en-US" altLang="zh-CN" sz="2400" dirty="0" smtClean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endParaRPr lang="en-US" altLang="zh-CN" sz="2400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endParaRPr lang="en-US" altLang="zh-CN" sz="2400" dirty="0" smtClean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endParaRPr lang="en-US" altLang="zh-CN" sz="2400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        (ii) </a:t>
            </a:r>
            <a:endParaRPr lang="en-US" altLang="zh-CN" sz="2400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graphicFrame>
        <p:nvGraphicFramePr>
          <p:cNvPr id="15" name="Object 10"/>
          <p:cNvGraphicFramePr>
            <a:graphicFrameLocks noChangeAspect="1"/>
          </p:cNvGraphicFramePr>
          <p:nvPr>
            <p:extLst/>
          </p:nvPr>
        </p:nvGraphicFramePr>
        <p:xfrm>
          <a:off x="507045" y="5589860"/>
          <a:ext cx="848995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7290" name="Equation" r:id="rId3" imgW="3492360" imgH="444240" progId="Equation.DSMT4">
                  <p:embed/>
                </p:oleObj>
              </mc:Choice>
              <mc:Fallback>
                <p:oleObj name="Equation" r:id="rId3" imgW="3492360" imgH="444240" progId="Equation.DSMT4">
                  <p:embed/>
                  <p:pic>
                    <p:nvPicPr>
                      <p:cNvPr id="15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045" y="5589860"/>
                        <a:ext cx="8489950" cy="1079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组合 24"/>
          <p:cNvGrpSpPr/>
          <p:nvPr/>
        </p:nvGrpSpPr>
        <p:grpSpPr>
          <a:xfrm>
            <a:off x="4139952" y="2718223"/>
            <a:ext cx="4608089" cy="2582985"/>
            <a:chOff x="6948275" y="2515419"/>
            <a:chExt cx="3041342" cy="1986358"/>
          </a:xfrm>
        </p:grpSpPr>
        <p:grpSp>
          <p:nvGrpSpPr>
            <p:cNvPr id="16" name="Group 17"/>
            <p:cNvGrpSpPr>
              <a:grpSpLocks/>
            </p:cNvGrpSpPr>
            <p:nvPr/>
          </p:nvGrpSpPr>
          <p:grpSpPr bwMode="auto">
            <a:xfrm>
              <a:off x="6948275" y="2565452"/>
              <a:ext cx="3041342" cy="1936325"/>
              <a:chOff x="4204" y="1943"/>
              <a:chExt cx="1114" cy="656"/>
            </a:xfrm>
          </p:grpSpPr>
          <p:sp>
            <p:nvSpPr>
              <p:cNvPr id="17" name="AutoShape 18"/>
              <p:cNvSpPr>
                <a:spLocks noChangeAspect="1" noChangeArrowheads="1" noTextEdit="1"/>
              </p:cNvSpPr>
              <p:nvPr/>
            </p:nvSpPr>
            <p:spPr bwMode="auto">
              <a:xfrm>
                <a:off x="4204" y="2016"/>
                <a:ext cx="810" cy="58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9" name="Object 20"/>
              <p:cNvGraphicFramePr>
                <a:graphicFrameLocks noChangeAspect="1"/>
              </p:cNvGraphicFramePr>
              <p:nvPr/>
            </p:nvGraphicFramePr>
            <p:xfrm>
              <a:off x="5238" y="2414"/>
              <a:ext cx="80" cy="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77291" name="Equation" r:id="rId5" imgW="126835" imgH="139518" progId="Equation.DSMT4">
                      <p:embed/>
                    </p:oleObj>
                  </mc:Choice>
                  <mc:Fallback>
                    <p:oleObj name="Equation" r:id="rId5" imgW="126835" imgH="139518" progId="Equation.DSMT4">
                      <p:embed/>
                      <p:pic>
                        <p:nvPicPr>
                          <p:cNvPr id="19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38" y="2414"/>
                            <a:ext cx="80" cy="8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" name="Object 21"/>
              <p:cNvGraphicFramePr>
                <a:graphicFrameLocks noChangeAspect="1"/>
              </p:cNvGraphicFramePr>
              <p:nvPr/>
            </p:nvGraphicFramePr>
            <p:xfrm>
              <a:off x="4358" y="1943"/>
              <a:ext cx="68" cy="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77292" name="Equation" r:id="rId7" imgW="139579" imgH="164957" progId="Equation.DSMT4">
                      <p:embed/>
                    </p:oleObj>
                  </mc:Choice>
                  <mc:Fallback>
                    <p:oleObj name="Equation" r:id="rId7" imgW="139579" imgH="164957" progId="Equation.DSMT4">
                      <p:embed/>
                      <p:pic>
                        <p:nvPicPr>
                          <p:cNvPr id="20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58" y="1943"/>
                            <a:ext cx="68" cy="8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" name="Object 22"/>
              <p:cNvGraphicFramePr>
                <a:graphicFrameLocks noChangeAspect="1"/>
              </p:cNvGraphicFramePr>
              <p:nvPr/>
            </p:nvGraphicFramePr>
            <p:xfrm>
              <a:off x="4403" y="2408"/>
              <a:ext cx="80" cy="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77293" name="Equation" r:id="rId9" imgW="126835" imgH="139518" progId="Equation.DSMT4">
                      <p:embed/>
                    </p:oleObj>
                  </mc:Choice>
                  <mc:Fallback>
                    <p:oleObj name="Equation" r:id="rId9" imgW="126835" imgH="139518" progId="Equation.DSMT4">
                      <p:embed/>
                      <p:pic>
                        <p:nvPicPr>
                          <p:cNvPr id="21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03" y="2408"/>
                            <a:ext cx="80" cy="8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3" name="直接箭头连接符 2"/>
            <p:cNvCxnSpPr/>
            <p:nvPr/>
          </p:nvCxnSpPr>
          <p:spPr bwMode="auto">
            <a:xfrm>
              <a:off x="7037355" y="3919831"/>
              <a:ext cx="2905001" cy="1802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" name="直接箭头连接符 4"/>
            <p:cNvCxnSpPr/>
            <p:nvPr/>
          </p:nvCxnSpPr>
          <p:spPr bwMode="auto">
            <a:xfrm flipV="1">
              <a:off x="7668344" y="2515419"/>
              <a:ext cx="0" cy="176793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28" name="任意多边形 27"/>
          <p:cNvSpPr/>
          <p:nvPr/>
        </p:nvSpPr>
        <p:spPr bwMode="auto">
          <a:xfrm>
            <a:off x="4688677" y="2742644"/>
            <a:ext cx="3193143" cy="1262903"/>
          </a:xfrm>
          <a:custGeom>
            <a:avLst/>
            <a:gdLst>
              <a:gd name="connsiteX0" fmla="*/ 0 w 3193143"/>
              <a:gd name="connsiteY0" fmla="*/ 1117760 h 1262903"/>
              <a:gd name="connsiteX1" fmla="*/ 638628 w 3193143"/>
              <a:gd name="connsiteY1" fmla="*/ 508160 h 1262903"/>
              <a:gd name="connsiteX2" fmla="*/ 986971 w 3193143"/>
              <a:gd name="connsiteY2" fmla="*/ 769417 h 1262903"/>
              <a:gd name="connsiteX3" fmla="*/ 1436914 w 3193143"/>
              <a:gd name="connsiteY3" fmla="*/ 160 h 1262903"/>
              <a:gd name="connsiteX4" fmla="*/ 2104571 w 3193143"/>
              <a:gd name="connsiteY4" fmla="*/ 696846 h 1262903"/>
              <a:gd name="connsiteX5" fmla="*/ 2873828 w 3193143"/>
              <a:gd name="connsiteY5" fmla="*/ 188846 h 1262903"/>
              <a:gd name="connsiteX6" fmla="*/ 3193143 w 3193143"/>
              <a:gd name="connsiteY6" fmla="*/ 1262903 h 1262903"/>
              <a:gd name="connsiteX7" fmla="*/ 3193143 w 3193143"/>
              <a:gd name="connsiteY7" fmla="*/ 1262903 h 1262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93143" h="1262903">
                <a:moveTo>
                  <a:pt x="0" y="1117760"/>
                </a:moveTo>
                <a:cubicBezTo>
                  <a:pt x="237066" y="841988"/>
                  <a:pt x="474133" y="566217"/>
                  <a:pt x="638628" y="508160"/>
                </a:cubicBezTo>
                <a:cubicBezTo>
                  <a:pt x="803123" y="450103"/>
                  <a:pt x="853923" y="854084"/>
                  <a:pt x="986971" y="769417"/>
                </a:cubicBezTo>
                <a:cubicBezTo>
                  <a:pt x="1120019" y="684750"/>
                  <a:pt x="1250647" y="12255"/>
                  <a:pt x="1436914" y="160"/>
                </a:cubicBezTo>
                <a:cubicBezTo>
                  <a:pt x="1623181" y="-11935"/>
                  <a:pt x="1865085" y="665398"/>
                  <a:pt x="2104571" y="696846"/>
                </a:cubicBezTo>
                <a:cubicBezTo>
                  <a:pt x="2344057" y="728294"/>
                  <a:pt x="2692399" y="94503"/>
                  <a:pt x="2873828" y="188846"/>
                </a:cubicBezTo>
                <a:cubicBezTo>
                  <a:pt x="3055257" y="283189"/>
                  <a:pt x="3193143" y="1262903"/>
                  <a:pt x="3193143" y="1262903"/>
                </a:cubicBezTo>
                <a:lnTo>
                  <a:pt x="3193143" y="1262903"/>
                </a:lnTo>
              </a:path>
            </a:pathLst>
          </a:custGeom>
          <a:noFill/>
          <a:ln w="28575" cap="flat" cmpd="sng" algn="ctr">
            <a:solidFill>
              <a:srgbClr val="00FF9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29" name="任意多边形 28"/>
          <p:cNvSpPr/>
          <p:nvPr/>
        </p:nvSpPr>
        <p:spPr bwMode="auto">
          <a:xfrm>
            <a:off x="4717705" y="3845890"/>
            <a:ext cx="3377779" cy="990289"/>
          </a:xfrm>
          <a:custGeom>
            <a:avLst/>
            <a:gdLst>
              <a:gd name="connsiteX0" fmla="*/ 0 w 3377779"/>
              <a:gd name="connsiteY0" fmla="*/ 0 h 990289"/>
              <a:gd name="connsiteX1" fmla="*/ 725715 w 3377779"/>
              <a:gd name="connsiteY1" fmla="*/ 769257 h 990289"/>
              <a:gd name="connsiteX2" fmla="*/ 1698172 w 3377779"/>
              <a:gd name="connsiteY2" fmla="*/ 116114 h 990289"/>
              <a:gd name="connsiteX3" fmla="*/ 1567543 w 3377779"/>
              <a:gd name="connsiteY3" fmla="*/ 928914 h 990289"/>
              <a:gd name="connsiteX4" fmla="*/ 2815772 w 3377779"/>
              <a:gd name="connsiteY4" fmla="*/ 478971 h 990289"/>
              <a:gd name="connsiteX5" fmla="*/ 3367315 w 3377779"/>
              <a:gd name="connsiteY5" fmla="*/ 986971 h 990289"/>
              <a:gd name="connsiteX6" fmla="*/ 3178629 w 3377779"/>
              <a:gd name="connsiteY6" fmla="*/ 174171 h 990289"/>
              <a:gd name="connsiteX7" fmla="*/ 3193143 w 3377779"/>
              <a:gd name="connsiteY7" fmla="*/ 116114 h 990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77779" h="990289">
                <a:moveTo>
                  <a:pt x="0" y="0"/>
                </a:moveTo>
                <a:cubicBezTo>
                  <a:pt x="221343" y="374952"/>
                  <a:pt x="442686" y="749905"/>
                  <a:pt x="725715" y="769257"/>
                </a:cubicBezTo>
                <a:cubicBezTo>
                  <a:pt x="1008744" y="788609"/>
                  <a:pt x="1557867" y="89505"/>
                  <a:pt x="1698172" y="116114"/>
                </a:cubicBezTo>
                <a:cubicBezTo>
                  <a:pt x="1838477" y="142723"/>
                  <a:pt x="1381276" y="868438"/>
                  <a:pt x="1567543" y="928914"/>
                </a:cubicBezTo>
                <a:cubicBezTo>
                  <a:pt x="1753810" y="989390"/>
                  <a:pt x="2515810" y="469295"/>
                  <a:pt x="2815772" y="478971"/>
                </a:cubicBezTo>
                <a:cubicBezTo>
                  <a:pt x="3115734" y="488647"/>
                  <a:pt x="3306839" y="1037771"/>
                  <a:pt x="3367315" y="986971"/>
                </a:cubicBezTo>
                <a:cubicBezTo>
                  <a:pt x="3427791" y="936171"/>
                  <a:pt x="3207658" y="319314"/>
                  <a:pt x="3178629" y="174171"/>
                </a:cubicBezTo>
                <a:cubicBezTo>
                  <a:pt x="3149600" y="29028"/>
                  <a:pt x="3171371" y="72571"/>
                  <a:pt x="3193143" y="116114"/>
                </a:cubicBezTo>
              </a:path>
            </a:pathLst>
          </a:custGeom>
          <a:noFill/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cxnSp>
        <p:nvCxnSpPr>
          <p:cNvPr id="33" name="直接连接符 32"/>
          <p:cNvCxnSpPr>
            <a:stCxn id="28" idx="0"/>
          </p:cNvCxnSpPr>
          <p:nvPr/>
        </p:nvCxnSpPr>
        <p:spPr bwMode="auto">
          <a:xfrm>
            <a:off x="4688677" y="3860404"/>
            <a:ext cx="27338" cy="68406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35" name="直接连接符 34"/>
          <p:cNvCxnSpPr/>
          <p:nvPr/>
        </p:nvCxnSpPr>
        <p:spPr bwMode="auto">
          <a:xfrm flipV="1">
            <a:off x="8095484" y="4567909"/>
            <a:ext cx="0" cy="15755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44" name="Object 22"/>
          <p:cNvGraphicFramePr>
            <a:graphicFrameLocks noChangeAspect="1"/>
          </p:cNvGraphicFramePr>
          <p:nvPr>
            <p:extLst/>
          </p:nvPr>
        </p:nvGraphicFramePr>
        <p:xfrm>
          <a:off x="4529109" y="4567908"/>
          <a:ext cx="330922" cy="337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7294" name="Equation" r:id="rId11" imgW="126720" imgH="139680" progId="Equation.DSMT4">
                  <p:embed/>
                </p:oleObj>
              </mc:Choice>
              <mc:Fallback>
                <p:oleObj name="Equation" r:id="rId11" imgW="126720" imgH="139680" progId="Equation.DSMT4">
                  <p:embed/>
                  <p:pic>
                    <p:nvPicPr>
                      <p:cNvPr id="44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9109" y="4567908"/>
                        <a:ext cx="330922" cy="33777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22"/>
          <p:cNvGraphicFramePr>
            <a:graphicFrameLocks noChangeAspect="1"/>
          </p:cNvGraphicFramePr>
          <p:nvPr>
            <p:extLst/>
          </p:nvPr>
        </p:nvGraphicFramePr>
        <p:xfrm>
          <a:off x="8056636" y="4208067"/>
          <a:ext cx="331787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7295" name="Equation" r:id="rId13" imgW="126720" imgH="177480" progId="Equation.DSMT4">
                  <p:embed/>
                </p:oleObj>
              </mc:Choice>
              <mc:Fallback>
                <p:oleObj name="Equation" r:id="rId13" imgW="126720" imgH="177480" progId="Equation.DSMT4">
                  <p:embed/>
                  <p:pic>
                    <p:nvPicPr>
                      <p:cNvPr id="45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56636" y="4208067"/>
                        <a:ext cx="331787" cy="428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9" name="直接连接符 38"/>
          <p:cNvCxnSpPr>
            <a:stCxn id="28" idx="1"/>
          </p:cNvCxnSpPr>
          <p:nvPr/>
        </p:nvCxnSpPr>
        <p:spPr bwMode="auto">
          <a:xfrm flipH="1">
            <a:off x="4860031" y="3250804"/>
            <a:ext cx="467274" cy="88505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1" name="直接连接符 40"/>
          <p:cNvCxnSpPr>
            <a:stCxn id="28" idx="3"/>
          </p:cNvCxnSpPr>
          <p:nvPr/>
        </p:nvCxnSpPr>
        <p:spPr bwMode="auto">
          <a:xfrm flipH="1">
            <a:off x="5230964" y="2742804"/>
            <a:ext cx="894627" cy="180166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1" name="直接连接符 50"/>
          <p:cNvCxnSpPr/>
          <p:nvPr/>
        </p:nvCxnSpPr>
        <p:spPr bwMode="auto">
          <a:xfrm flipH="1">
            <a:off x="5940151" y="3250804"/>
            <a:ext cx="576064" cy="110108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4" name="直接连接符 53"/>
          <p:cNvCxnSpPr>
            <a:endCxn id="29" idx="3"/>
          </p:cNvCxnSpPr>
          <p:nvPr/>
        </p:nvCxnSpPr>
        <p:spPr bwMode="auto">
          <a:xfrm flipH="1">
            <a:off x="6285248" y="3250804"/>
            <a:ext cx="807031" cy="15240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3" name="直接连接符 62"/>
          <p:cNvCxnSpPr/>
          <p:nvPr/>
        </p:nvCxnSpPr>
        <p:spPr bwMode="auto">
          <a:xfrm flipH="1">
            <a:off x="7092279" y="3250804"/>
            <a:ext cx="648072" cy="129366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6" name="直接连接符 65"/>
          <p:cNvCxnSpPr>
            <a:stCxn id="29" idx="6"/>
          </p:cNvCxnSpPr>
          <p:nvPr/>
        </p:nvCxnSpPr>
        <p:spPr bwMode="auto">
          <a:xfrm flipH="1">
            <a:off x="7740351" y="4020061"/>
            <a:ext cx="155983" cy="33182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1" name="直接箭头连接符 70"/>
          <p:cNvCxnSpPr/>
          <p:nvPr/>
        </p:nvCxnSpPr>
        <p:spPr bwMode="auto">
          <a:xfrm flipH="1">
            <a:off x="7562505" y="2551684"/>
            <a:ext cx="177846" cy="30779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FF99"/>
            </a:solidFill>
            <a:prstDash val="solid"/>
            <a:round/>
            <a:headEnd type="none" w="med" len="med"/>
            <a:tailEnd type="triangle"/>
          </a:ln>
          <a:effectLst/>
        </p:spPr>
      </p:cxnSp>
      <p:graphicFrame>
        <p:nvGraphicFramePr>
          <p:cNvPr id="72" name="Object 22"/>
          <p:cNvGraphicFramePr>
            <a:graphicFrameLocks noChangeAspect="1"/>
          </p:cNvGraphicFramePr>
          <p:nvPr>
            <p:extLst/>
          </p:nvPr>
        </p:nvGraphicFramePr>
        <p:xfrm>
          <a:off x="7703530" y="2210124"/>
          <a:ext cx="862012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7296" name="Equation" r:id="rId15" imgW="330120" imgH="203040" progId="Equation.DSMT4">
                  <p:embed/>
                </p:oleObj>
              </mc:Choice>
              <mc:Fallback>
                <p:oleObj name="Equation" r:id="rId15" imgW="330120" imgH="203040" progId="Equation.DSMT4">
                  <p:embed/>
                  <p:pic>
                    <p:nvPicPr>
                      <p:cNvPr id="72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3530" y="2210124"/>
                        <a:ext cx="862012" cy="490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3" name="直接箭头连接符 72"/>
          <p:cNvCxnSpPr/>
          <p:nvPr/>
        </p:nvCxnSpPr>
        <p:spPr bwMode="auto">
          <a:xfrm flipV="1">
            <a:off x="6126485" y="4836179"/>
            <a:ext cx="320972" cy="28674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  <p:graphicFrame>
        <p:nvGraphicFramePr>
          <p:cNvPr id="75" name="Object 22"/>
          <p:cNvGraphicFramePr>
            <a:graphicFrameLocks noChangeAspect="1"/>
          </p:cNvGraphicFramePr>
          <p:nvPr>
            <p:extLst/>
          </p:nvPr>
        </p:nvGraphicFramePr>
        <p:xfrm>
          <a:off x="5652120" y="5026694"/>
          <a:ext cx="795337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7297" name="Equation" r:id="rId17" imgW="304560" imgH="203040" progId="Equation.DSMT4">
                  <p:embed/>
                </p:oleObj>
              </mc:Choice>
              <mc:Fallback>
                <p:oleObj name="Equation" r:id="rId17" imgW="304560" imgH="203040" progId="Equation.DSMT4">
                  <p:embed/>
                  <p:pic>
                    <p:nvPicPr>
                      <p:cNvPr id="75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2120" y="5026694"/>
                        <a:ext cx="795337" cy="4905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4" name="直接连接符 33"/>
          <p:cNvCxnSpPr/>
          <p:nvPr/>
        </p:nvCxnSpPr>
        <p:spPr bwMode="auto">
          <a:xfrm flipH="1">
            <a:off x="6984099" y="2736484"/>
            <a:ext cx="6481" cy="2280691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2" name="矩形 31"/>
          <p:cNvSpPr/>
          <p:nvPr/>
        </p:nvSpPr>
        <p:spPr>
          <a:xfrm>
            <a:off x="2554912" y="251937"/>
            <a:ext cx="42493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5 </a:t>
            </a:r>
            <a:r>
              <a:rPr lang="zh-CN" altLang="en-US" sz="32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二维连续型随机变量</a:t>
            </a:r>
            <a:endParaRPr lang="zh-CN" altLang="en-US" sz="3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01349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179512" y="1052736"/>
            <a:ext cx="914501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3. 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边缘密度函数</a:t>
            </a:r>
            <a:endParaRPr lang="en-US" altLang="zh-CN" sz="2400" dirty="0" smtClean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r>
              <a:rPr lang="en-US" altLang="zh-CN" sz="24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  (2)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求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Y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的边缘密度函数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f</a:t>
            </a:r>
            <a:r>
              <a:rPr lang="en-US" altLang="zh-CN" sz="2400" baseline="-250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Y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(x)</a:t>
            </a:r>
          </a:p>
          <a:p>
            <a:r>
              <a:rPr lang="en-US" altLang="zh-CN" sz="24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  (</a:t>
            </a:r>
            <a:r>
              <a:rPr lang="en-US" altLang="zh-CN" sz="2400" dirty="0" err="1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)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确定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Y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的取值范围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(a</a:t>
            </a:r>
            <a:r>
              <a:rPr lang="en-US" altLang="zh-CN" sz="2400" baseline="-250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2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,b</a:t>
            </a:r>
            <a:r>
              <a:rPr lang="en-US" altLang="zh-CN" sz="2400" baseline="-250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2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)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，即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f(</a:t>
            </a:r>
            <a:r>
              <a:rPr lang="en-US" altLang="zh-CN" sz="2400" dirty="0" err="1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x,y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)≠0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的区域对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y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轴的投影范围；</a:t>
            </a:r>
            <a:endParaRPr lang="en-US" altLang="zh-CN" sz="2400" dirty="0" smtClean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r>
              <a:rPr lang="en-US" altLang="zh-CN" sz="24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 </a:t>
            </a:r>
          </a:p>
          <a:p>
            <a:endParaRPr lang="en-US" altLang="zh-CN" sz="2400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endParaRPr lang="en-US" altLang="zh-CN" sz="2400" dirty="0" smtClean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endParaRPr lang="en-US" altLang="zh-CN" sz="2400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endParaRPr lang="en-US" altLang="zh-CN" sz="2400" dirty="0" smtClean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endParaRPr lang="en-US" altLang="zh-CN" sz="2400" dirty="0" smtClean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endParaRPr lang="en-US" altLang="zh-CN" sz="2400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endParaRPr lang="en-US" altLang="zh-CN" sz="2400" dirty="0" smtClean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r>
              <a:rPr lang="en-US" altLang="zh-CN" sz="24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  (ii) </a:t>
            </a:r>
            <a:endParaRPr lang="en-US" altLang="zh-CN" sz="2400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graphicFrame>
        <p:nvGraphicFramePr>
          <p:cNvPr id="15" name="Object 10"/>
          <p:cNvGraphicFramePr>
            <a:graphicFrameLocks noChangeAspect="1"/>
          </p:cNvGraphicFramePr>
          <p:nvPr>
            <p:extLst/>
          </p:nvPr>
        </p:nvGraphicFramePr>
        <p:xfrm>
          <a:off x="92075" y="5661868"/>
          <a:ext cx="8985250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8314" name="Equation" r:id="rId3" imgW="3695400" imgH="444240" progId="Equation.DSMT4">
                  <p:embed/>
                </p:oleObj>
              </mc:Choice>
              <mc:Fallback>
                <p:oleObj name="Equation" r:id="rId3" imgW="3695400" imgH="444240" progId="Equation.DSMT4">
                  <p:embed/>
                  <p:pic>
                    <p:nvPicPr>
                      <p:cNvPr id="15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075" y="5661868"/>
                        <a:ext cx="8985250" cy="1079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组合 24"/>
          <p:cNvGrpSpPr/>
          <p:nvPr/>
        </p:nvGrpSpPr>
        <p:grpSpPr>
          <a:xfrm>
            <a:off x="4139952" y="2491579"/>
            <a:ext cx="4608089" cy="2809636"/>
            <a:chOff x="6948275" y="2341126"/>
            <a:chExt cx="3041342" cy="2160657"/>
          </a:xfrm>
        </p:grpSpPr>
        <p:grpSp>
          <p:nvGrpSpPr>
            <p:cNvPr id="16" name="Group 17"/>
            <p:cNvGrpSpPr>
              <a:grpSpLocks/>
            </p:cNvGrpSpPr>
            <p:nvPr/>
          </p:nvGrpSpPr>
          <p:grpSpPr bwMode="auto">
            <a:xfrm>
              <a:off x="6948275" y="2341126"/>
              <a:ext cx="3041342" cy="2160657"/>
              <a:chOff x="4204" y="1867"/>
              <a:chExt cx="1114" cy="732"/>
            </a:xfrm>
          </p:grpSpPr>
          <p:sp>
            <p:nvSpPr>
              <p:cNvPr id="17" name="AutoShape 18"/>
              <p:cNvSpPr>
                <a:spLocks noChangeAspect="1" noChangeArrowheads="1" noTextEdit="1"/>
              </p:cNvSpPr>
              <p:nvPr/>
            </p:nvSpPr>
            <p:spPr bwMode="auto">
              <a:xfrm>
                <a:off x="4204" y="2016"/>
                <a:ext cx="810" cy="58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9" name="Object 20"/>
              <p:cNvGraphicFramePr>
                <a:graphicFrameLocks noChangeAspect="1"/>
              </p:cNvGraphicFramePr>
              <p:nvPr/>
            </p:nvGraphicFramePr>
            <p:xfrm>
              <a:off x="5238" y="2414"/>
              <a:ext cx="80" cy="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78315" name="Equation" r:id="rId5" imgW="126835" imgH="139518" progId="Equation.DSMT4">
                      <p:embed/>
                    </p:oleObj>
                  </mc:Choice>
                  <mc:Fallback>
                    <p:oleObj name="Equation" r:id="rId5" imgW="126835" imgH="139518" progId="Equation.DSMT4">
                      <p:embed/>
                      <p:pic>
                        <p:nvPicPr>
                          <p:cNvPr id="19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38" y="2414"/>
                            <a:ext cx="80" cy="8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0" name="Object 21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4362" y="1867"/>
              <a:ext cx="68" cy="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78316" name="Equation" r:id="rId7" imgW="139579" imgH="164957" progId="Equation.DSMT4">
                      <p:embed/>
                    </p:oleObj>
                  </mc:Choice>
                  <mc:Fallback>
                    <p:oleObj name="Equation" r:id="rId7" imgW="139579" imgH="164957" progId="Equation.DSMT4">
                      <p:embed/>
                      <p:pic>
                        <p:nvPicPr>
                          <p:cNvPr id="20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62" y="1867"/>
                            <a:ext cx="68" cy="8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" name="Object 22"/>
              <p:cNvGraphicFramePr>
                <a:graphicFrameLocks noChangeAspect="1"/>
              </p:cNvGraphicFramePr>
              <p:nvPr/>
            </p:nvGraphicFramePr>
            <p:xfrm>
              <a:off x="4403" y="2408"/>
              <a:ext cx="80" cy="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78317" name="Equation" r:id="rId9" imgW="126835" imgH="139518" progId="Equation.DSMT4">
                      <p:embed/>
                    </p:oleObj>
                  </mc:Choice>
                  <mc:Fallback>
                    <p:oleObj name="Equation" r:id="rId9" imgW="126835" imgH="139518" progId="Equation.DSMT4">
                      <p:embed/>
                      <p:pic>
                        <p:nvPicPr>
                          <p:cNvPr id="21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03" y="2408"/>
                            <a:ext cx="80" cy="8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cxnSp>
          <p:nvCxnSpPr>
            <p:cNvPr id="3" name="直接箭头连接符 2"/>
            <p:cNvCxnSpPr/>
            <p:nvPr/>
          </p:nvCxnSpPr>
          <p:spPr bwMode="auto">
            <a:xfrm>
              <a:off x="7037355" y="3919831"/>
              <a:ext cx="2905001" cy="1802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5" name="直接箭头连接符 4"/>
            <p:cNvCxnSpPr/>
            <p:nvPr/>
          </p:nvCxnSpPr>
          <p:spPr bwMode="auto">
            <a:xfrm flipV="1">
              <a:off x="7668344" y="2508265"/>
              <a:ext cx="0" cy="193792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aphicFrame>
        <p:nvGraphicFramePr>
          <p:cNvPr id="44" name="Object 22"/>
          <p:cNvGraphicFramePr>
            <a:graphicFrameLocks noChangeAspect="1"/>
          </p:cNvGraphicFramePr>
          <p:nvPr>
            <p:extLst/>
          </p:nvPr>
        </p:nvGraphicFramePr>
        <p:xfrm>
          <a:off x="4791447" y="4820766"/>
          <a:ext cx="428625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8318" name="Equation" r:id="rId11" imgW="164880" imgH="228600" progId="Equation.DSMT4">
                  <p:embed/>
                </p:oleObj>
              </mc:Choice>
              <mc:Fallback>
                <p:oleObj name="Equation" r:id="rId11" imgW="164880" imgH="228600" progId="Equation.DSMT4">
                  <p:embed/>
                  <p:pic>
                    <p:nvPicPr>
                      <p:cNvPr id="44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1447" y="4820766"/>
                        <a:ext cx="428625" cy="552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22"/>
          <p:cNvGraphicFramePr>
            <a:graphicFrameLocks noChangeAspect="1"/>
          </p:cNvGraphicFramePr>
          <p:nvPr>
            <p:extLst/>
          </p:nvPr>
        </p:nvGraphicFramePr>
        <p:xfrm>
          <a:off x="4788024" y="2708920"/>
          <a:ext cx="398463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8319" name="Equation" r:id="rId13" imgW="152280" imgH="228600" progId="Equation.DSMT4">
                  <p:embed/>
                </p:oleObj>
              </mc:Choice>
              <mc:Fallback>
                <p:oleObj name="Equation" r:id="rId13" imgW="152280" imgH="228600" progId="Equation.DSMT4">
                  <p:embed/>
                  <p:pic>
                    <p:nvPicPr>
                      <p:cNvPr id="45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8024" y="2708920"/>
                        <a:ext cx="398463" cy="552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" name="Object 22"/>
          <p:cNvGraphicFramePr>
            <a:graphicFrameLocks noChangeAspect="1"/>
          </p:cNvGraphicFramePr>
          <p:nvPr>
            <p:extLst/>
          </p:nvPr>
        </p:nvGraphicFramePr>
        <p:xfrm>
          <a:off x="7710853" y="2875624"/>
          <a:ext cx="993775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8320" name="Equation" r:id="rId15" imgW="380880" imgH="228600" progId="Equation.DSMT4">
                  <p:embed/>
                </p:oleObj>
              </mc:Choice>
              <mc:Fallback>
                <p:oleObj name="Equation" r:id="rId15" imgW="380880" imgH="228600" progId="Equation.DSMT4">
                  <p:embed/>
                  <p:pic>
                    <p:nvPicPr>
                      <p:cNvPr id="72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0853" y="2875624"/>
                        <a:ext cx="993775" cy="552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Object 22"/>
          <p:cNvGraphicFramePr>
            <a:graphicFrameLocks noChangeAspect="1"/>
          </p:cNvGraphicFramePr>
          <p:nvPr>
            <p:extLst/>
          </p:nvPr>
        </p:nvGraphicFramePr>
        <p:xfrm>
          <a:off x="3856065" y="3742234"/>
          <a:ext cx="962025" cy="550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8321" name="Equation" r:id="rId17" imgW="368280" imgH="228600" progId="Equation.DSMT4">
                  <p:embed/>
                </p:oleObj>
              </mc:Choice>
              <mc:Fallback>
                <p:oleObj name="Equation" r:id="rId17" imgW="368280" imgH="228600" progId="Equation.DSMT4">
                  <p:embed/>
                  <p:pic>
                    <p:nvPicPr>
                      <p:cNvPr id="75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6065" y="3742234"/>
                        <a:ext cx="962025" cy="550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任意多边形 23"/>
          <p:cNvSpPr/>
          <p:nvPr/>
        </p:nvSpPr>
        <p:spPr bwMode="auto">
          <a:xfrm>
            <a:off x="5008507" y="2965166"/>
            <a:ext cx="1507709" cy="1831986"/>
          </a:xfrm>
          <a:custGeom>
            <a:avLst/>
            <a:gdLst>
              <a:gd name="connsiteX0" fmla="*/ 2236287 w 2250802"/>
              <a:gd name="connsiteY0" fmla="*/ 0 h 2467429"/>
              <a:gd name="connsiteX1" fmla="*/ 944516 w 2250802"/>
              <a:gd name="connsiteY1" fmla="*/ 580572 h 2467429"/>
              <a:gd name="connsiteX2" fmla="*/ 930002 w 2250802"/>
              <a:gd name="connsiteY2" fmla="*/ 1175657 h 2467429"/>
              <a:gd name="connsiteX3" fmla="*/ 1087 w 2250802"/>
              <a:gd name="connsiteY3" fmla="*/ 1727200 h 2467429"/>
              <a:gd name="connsiteX4" fmla="*/ 741316 w 2250802"/>
              <a:gd name="connsiteY4" fmla="*/ 2278743 h 2467429"/>
              <a:gd name="connsiteX5" fmla="*/ 668745 w 2250802"/>
              <a:gd name="connsiteY5" fmla="*/ 2423886 h 2467429"/>
              <a:gd name="connsiteX6" fmla="*/ 1728287 w 2250802"/>
              <a:gd name="connsiteY6" fmla="*/ 2249714 h 2467429"/>
              <a:gd name="connsiteX7" fmla="*/ 2250802 w 2250802"/>
              <a:gd name="connsiteY7" fmla="*/ 2467429 h 2467429"/>
              <a:gd name="connsiteX8" fmla="*/ 2250802 w 2250802"/>
              <a:gd name="connsiteY8" fmla="*/ 2467429 h 24674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50802" h="2467429">
                <a:moveTo>
                  <a:pt x="2236287" y="0"/>
                </a:moveTo>
                <a:cubicBezTo>
                  <a:pt x="1699258" y="192314"/>
                  <a:pt x="1162230" y="384629"/>
                  <a:pt x="944516" y="580572"/>
                </a:cubicBezTo>
                <a:cubicBezTo>
                  <a:pt x="726802" y="776515"/>
                  <a:pt x="1087240" y="984552"/>
                  <a:pt x="930002" y="1175657"/>
                </a:cubicBezTo>
                <a:cubicBezTo>
                  <a:pt x="772764" y="1366762"/>
                  <a:pt x="32535" y="1543352"/>
                  <a:pt x="1087" y="1727200"/>
                </a:cubicBezTo>
                <a:cubicBezTo>
                  <a:pt x="-30361" y="1911048"/>
                  <a:pt x="630040" y="2162629"/>
                  <a:pt x="741316" y="2278743"/>
                </a:cubicBezTo>
                <a:cubicBezTo>
                  <a:pt x="852592" y="2394857"/>
                  <a:pt x="504250" y="2428724"/>
                  <a:pt x="668745" y="2423886"/>
                </a:cubicBezTo>
                <a:cubicBezTo>
                  <a:pt x="833240" y="2419048"/>
                  <a:pt x="1464611" y="2242457"/>
                  <a:pt x="1728287" y="2249714"/>
                </a:cubicBezTo>
                <a:cubicBezTo>
                  <a:pt x="1991963" y="2256971"/>
                  <a:pt x="2250802" y="2467429"/>
                  <a:pt x="2250802" y="2467429"/>
                </a:cubicBezTo>
                <a:lnTo>
                  <a:pt x="2250802" y="2467429"/>
                </a:lnTo>
              </a:path>
            </a:pathLst>
          </a:cu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27" name="任意多边形 26"/>
          <p:cNvSpPr/>
          <p:nvPr/>
        </p:nvSpPr>
        <p:spPr bwMode="auto">
          <a:xfrm>
            <a:off x="6487886" y="2960914"/>
            <a:ext cx="1640297" cy="2108593"/>
          </a:xfrm>
          <a:custGeom>
            <a:avLst/>
            <a:gdLst>
              <a:gd name="connsiteX0" fmla="*/ 0 w 1640297"/>
              <a:gd name="connsiteY0" fmla="*/ 0 h 2108593"/>
              <a:gd name="connsiteX1" fmla="*/ 827314 w 1640297"/>
              <a:gd name="connsiteY1" fmla="*/ 449943 h 2108593"/>
              <a:gd name="connsiteX2" fmla="*/ 667657 w 1640297"/>
              <a:gd name="connsiteY2" fmla="*/ 1074057 h 2108593"/>
              <a:gd name="connsiteX3" fmla="*/ 1640114 w 1640297"/>
              <a:gd name="connsiteY3" fmla="*/ 899886 h 2108593"/>
              <a:gd name="connsiteX4" fmla="*/ 580571 w 1640297"/>
              <a:gd name="connsiteY4" fmla="*/ 1611086 h 2108593"/>
              <a:gd name="connsiteX5" fmla="*/ 290285 w 1640297"/>
              <a:gd name="connsiteY5" fmla="*/ 2104572 h 2108593"/>
              <a:gd name="connsiteX6" fmla="*/ 0 w 1640297"/>
              <a:gd name="connsiteY6" fmla="*/ 1857829 h 2108593"/>
              <a:gd name="connsiteX7" fmla="*/ 0 w 1640297"/>
              <a:gd name="connsiteY7" fmla="*/ 1857829 h 2108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40297" h="2108593">
                <a:moveTo>
                  <a:pt x="0" y="0"/>
                </a:moveTo>
                <a:cubicBezTo>
                  <a:pt x="358019" y="135467"/>
                  <a:pt x="716038" y="270934"/>
                  <a:pt x="827314" y="449943"/>
                </a:cubicBezTo>
                <a:cubicBezTo>
                  <a:pt x="938590" y="628953"/>
                  <a:pt x="532190" y="999067"/>
                  <a:pt x="667657" y="1074057"/>
                </a:cubicBezTo>
                <a:cubicBezTo>
                  <a:pt x="803124" y="1149048"/>
                  <a:pt x="1654628" y="810381"/>
                  <a:pt x="1640114" y="899886"/>
                </a:cubicBezTo>
                <a:cubicBezTo>
                  <a:pt x="1625600" y="989391"/>
                  <a:pt x="805542" y="1410305"/>
                  <a:pt x="580571" y="1611086"/>
                </a:cubicBezTo>
                <a:cubicBezTo>
                  <a:pt x="355600" y="1811867"/>
                  <a:pt x="387047" y="2063448"/>
                  <a:pt x="290285" y="2104572"/>
                </a:cubicBezTo>
                <a:cubicBezTo>
                  <a:pt x="193523" y="2145696"/>
                  <a:pt x="0" y="1857829"/>
                  <a:pt x="0" y="1857829"/>
                </a:cubicBezTo>
                <a:lnTo>
                  <a:pt x="0" y="1857829"/>
                </a:lnTo>
              </a:path>
            </a:pathLst>
          </a:custGeom>
          <a:noFill/>
          <a:ln w="28575" cap="flat" cmpd="sng" algn="ctr">
            <a:solidFill>
              <a:srgbClr val="00FF99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cxnSp>
        <p:nvCxnSpPr>
          <p:cNvPr id="46" name="直接箭头连接符 45"/>
          <p:cNvCxnSpPr/>
          <p:nvPr/>
        </p:nvCxnSpPr>
        <p:spPr bwMode="auto">
          <a:xfrm flipH="1">
            <a:off x="7414102" y="3280531"/>
            <a:ext cx="254242" cy="147543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FF99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8" name="直接箭头连接符 47"/>
          <p:cNvCxnSpPr>
            <a:stCxn id="75" idx="3"/>
          </p:cNvCxnSpPr>
          <p:nvPr/>
        </p:nvCxnSpPr>
        <p:spPr bwMode="auto">
          <a:xfrm flipV="1">
            <a:off x="4818090" y="3762103"/>
            <a:ext cx="695475" cy="255562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2" name="直接连接符 51"/>
          <p:cNvCxnSpPr>
            <a:endCxn id="27" idx="0"/>
          </p:cNvCxnSpPr>
          <p:nvPr/>
        </p:nvCxnSpPr>
        <p:spPr bwMode="auto">
          <a:xfrm>
            <a:off x="5230964" y="2960914"/>
            <a:ext cx="125692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55" name="直接连接符 54"/>
          <p:cNvCxnSpPr>
            <a:endCxn id="27" idx="5"/>
          </p:cNvCxnSpPr>
          <p:nvPr/>
        </p:nvCxnSpPr>
        <p:spPr bwMode="auto">
          <a:xfrm flipV="1">
            <a:off x="5230964" y="5065486"/>
            <a:ext cx="1547207" cy="402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49" name="直接连接符 48"/>
          <p:cNvCxnSpPr/>
          <p:nvPr/>
        </p:nvCxnSpPr>
        <p:spPr bwMode="auto">
          <a:xfrm>
            <a:off x="3995936" y="3465578"/>
            <a:ext cx="3960440" cy="3543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33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" name="直接连接符 3"/>
          <p:cNvCxnSpPr>
            <a:endCxn id="24" idx="1"/>
          </p:cNvCxnSpPr>
          <p:nvPr/>
        </p:nvCxnSpPr>
        <p:spPr bwMode="auto">
          <a:xfrm flipH="1">
            <a:off x="5641195" y="3063486"/>
            <a:ext cx="1136976" cy="33273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直接连接符 6"/>
          <p:cNvCxnSpPr>
            <a:endCxn id="24" idx="2"/>
          </p:cNvCxnSpPr>
          <p:nvPr/>
        </p:nvCxnSpPr>
        <p:spPr bwMode="auto">
          <a:xfrm flipH="1">
            <a:off x="5631473" y="3280531"/>
            <a:ext cx="1604823" cy="55752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直接连接符 8"/>
          <p:cNvCxnSpPr/>
          <p:nvPr/>
        </p:nvCxnSpPr>
        <p:spPr bwMode="auto">
          <a:xfrm flipH="1">
            <a:off x="5230964" y="3762103"/>
            <a:ext cx="2005332" cy="67500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直接连接符 10"/>
          <p:cNvCxnSpPr>
            <a:stCxn id="27" idx="2"/>
          </p:cNvCxnSpPr>
          <p:nvPr/>
        </p:nvCxnSpPr>
        <p:spPr bwMode="auto">
          <a:xfrm flipH="1">
            <a:off x="5796136" y="4034971"/>
            <a:ext cx="1359407" cy="69017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直接连接符 12"/>
          <p:cNvCxnSpPr>
            <a:endCxn id="24" idx="7"/>
          </p:cNvCxnSpPr>
          <p:nvPr/>
        </p:nvCxnSpPr>
        <p:spPr bwMode="auto">
          <a:xfrm flipH="1">
            <a:off x="6516216" y="4293096"/>
            <a:ext cx="974321" cy="50405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0" name="矩形 29"/>
          <p:cNvSpPr/>
          <p:nvPr/>
        </p:nvSpPr>
        <p:spPr>
          <a:xfrm>
            <a:off x="2554912" y="251937"/>
            <a:ext cx="42493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5 </a:t>
            </a:r>
            <a:r>
              <a:rPr lang="zh-CN" altLang="en-US" sz="32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二维连续型随机变量</a:t>
            </a:r>
            <a:endParaRPr lang="zh-CN" altLang="en-US" sz="3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45771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179512" y="1052736"/>
            <a:ext cx="914501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4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. 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条件密度函数</a:t>
            </a:r>
            <a:endParaRPr lang="en-US" altLang="zh-CN" sz="2400" dirty="0" smtClean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</a:t>
            </a:r>
            <a:endParaRPr lang="en-US" altLang="zh-CN" sz="2400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/>
              <p:cNvSpPr/>
              <p:nvPr/>
            </p:nvSpPr>
            <p:spPr>
              <a:xfrm>
                <a:off x="467544" y="1412776"/>
                <a:ext cx="8496944" cy="526297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633413" indent="-633413">
                  <a:tabLst>
                    <a:tab pos="900113" algn="l"/>
                  </a:tabLst>
                </a:pP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(1) 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在条件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Y=y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下，随机变量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X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的条件密度函数为：</a:t>
                </a:r>
                <a:endParaRPr lang="en-US" altLang="zh-CN" sz="2400" dirty="0" smtClean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pPr marL="633413" indent="-633413">
                  <a:lnSpc>
                    <a:spcPct val="125000"/>
                  </a:lnSpc>
                  <a:tabLst>
                    <a:tab pos="900113" algn="l"/>
                  </a:tabLst>
                </a:pPr>
                <a:endParaRPr lang="en-US" altLang="zh-CN" sz="2400" dirty="0" smtClean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pPr marL="633413" indent="-633413">
                  <a:lnSpc>
                    <a:spcPct val="125000"/>
                  </a:lnSpc>
                  <a:tabLst>
                    <a:tab pos="900113" algn="l"/>
                  </a:tabLst>
                </a:pPr>
                <a:endParaRPr lang="en-US" altLang="zh-CN" sz="2400" dirty="0" smtClean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pPr>
                  <a:tabLst>
                    <a:tab pos="900113" algn="l"/>
                  </a:tabLst>
                </a:pP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先写出分布不等于零的范围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(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即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f(</a:t>
                </a:r>
                <a:r>
                  <a:rPr lang="en-US" altLang="zh-CN" sz="2400" dirty="0" err="1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x,y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)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" panose="02020603050405020304" pitchFamily="18" charset="0"/>
                      </a:rPr>
                      <m:t>≠</m:t>
                    </m:r>
                  </m:oMath>
                </a14:m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0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的区域对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y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轴的投影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)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然后再按上述公式求条件密度。特别要注意此时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x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是自变量，所求得的条件密度的具体形式应根据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x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的取值确定。</a:t>
                </a:r>
                <a:endParaRPr lang="en-US" altLang="zh-CN" sz="2400" dirty="0" smtClean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pPr>
                  <a:tabLst>
                    <a:tab pos="900113" algn="l"/>
                  </a:tabLst>
                </a:pPr>
                <a:endParaRPr lang="en-US" altLang="zh-CN" sz="2400" dirty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pPr>
                  <a:tabLst>
                    <a:tab pos="900113" algn="l"/>
                  </a:tabLst>
                </a:pP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(2)</a:t>
                </a:r>
                <a:r>
                  <a:rPr lang="zh-CN" altLang="en-US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在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条件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X=x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下</a:t>
                </a:r>
                <a:r>
                  <a:rPr lang="zh-CN" altLang="en-US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，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随机变量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Y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的</a:t>
                </a:r>
                <a:r>
                  <a:rPr lang="zh-CN" altLang="en-US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条件密度函数为：</a:t>
                </a:r>
                <a:endParaRPr lang="en-US" altLang="zh-CN" sz="2400" dirty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pPr>
                  <a:lnSpc>
                    <a:spcPct val="125000"/>
                  </a:lnSpc>
                  <a:tabLst>
                    <a:tab pos="900113" algn="l"/>
                  </a:tabLst>
                </a:pPr>
                <a:endParaRPr lang="en-US" altLang="zh-CN" sz="2400" dirty="0" smtClean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pPr>
                  <a:lnSpc>
                    <a:spcPct val="125000"/>
                  </a:lnSpc>
                  <a:tabLst>
                    <a:tab pos="900113" algn="l"/>
                  </a:tabLst>
                </a:pPr>
                <a:endParaRPr lang="en-US" altLang="zh-CN" sz="2400" dirty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pPr>
                  <a:tabLst>
                    <a:tab pos="900113" algn="l"/>
                  </a:tabLst>
                </a:pPr>
                <a:r>
                  <a:rPr lang="zh-CN" altLang="en-US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先写出分布不等于零的范围</a:t>
                </a:r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(</a:t>
                </a:r>
                <a:r>
                  <a:rPr lang="zh-CN" altLang="en-US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即</a:t>
                </a:r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f(</a:t>
                </a:r>
                <a:r>
                  <a:rPr lang="en-US" altLang="zh-CN" sz="2400" dirty="0" err="1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x,y</a:t>
                </a:r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)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" panose="02020603050405020304" pitchFamily="18" charset="0"/>
                      </a:rPr>
                      <m:t>≠</m:t>
                    </m:r>
                  </m:oMath>
                </a14:m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0</a:t>
                </a:r>
                <a:r>
                  <a:rPr lang="zh-CN" altLang="en-US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的区域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对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x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轴</a:t>
                </a:r>
                <a:r>
                  <a:rPr lang="zh-CN" altLang="en-US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的投影</a:t>
                </a:r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)</a:t>
                </a:r>
                <a:r>
                  <a:rPr lang="zh-CN" altLang="en-US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然后再按上述公式求条件密度。特别要注意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此时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y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是</a:t>
                </a:r>
                <a:r>
                  <a:rPr lang="zh-CN" altLang="en-US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自变量，所求得的条件密度的具体形式应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根据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y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的</a:t>
                </a:r>
                <a:r>
                  <a:rPr lang="zh-CN" altLang="en-US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取值确定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。</a:t>
                </a:r>
                <a:endParaRPr lang="en-US" altLang="zh-CN" sz="2400" dirty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矩形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1412776"/>
                <a:ext cx="8496944" cy="5262979"/>
              </a:xfrm>
              <a:prstGeom prst="rect">
                <a:avLst/>
              </a:prstGeom>
              <a:blipFill rotWithShape="0">
                <a:blip r:embed="rId3"/>
                <a:stretch>
                  <a:fillRect l="-1148" t="-1275" b="-18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8" name="Object 11"/>
          <p:cNvGraphicFramePr>
            <a:graphicFrameLocks noChangeAspect="1"/>
          </p:cNvGraphicFramePr>
          <p:nvPr>
            <p:extLst/>
          </p:nvPr>
        </p:nvGraphicFramePr>
        <p:xfrm>
          <a:off x="2417867" y="1860231"/>
          <a:ext cx="4674413" cy="9206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8828" name="Equation" r:id="rId4" imgW="1892160" imgH="380880" progId="Equation.DSMT4">
                  <p:embed/>
                </p:oleObj>
              </mc:Choice>
              <mc:Fallback>
                <p:oleObj name="Equation" r:id="rId4" imgW="1892160" imgH="380880" progId="Equation.DSMT4">
                  <p:embed/>
                  <p:pic>
                    <p:nvPicPr>
                      <p:cNvPr id="28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7867" y="1860231"/>
                        <a:ext cx="4674413" cy="92069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13"/>
          <p:cNvGraphicFramePr>
            <a:graphicFrameLocks noChangeAspect="1"/>
          </p:cNvGraphicFramePr>
          <p:nvPr>
            <p:extLst/>
          </p:nvPr>
        </p:nvGraphicFramePr>
        <p:xfrm>
          <a:off x="2492127" y="4509120"/>
          <a:ext cx="4744169" cy="9281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8829" name="Equation" r:id="rId6" imgW="1904760" imgH="380880" progId="Equation.DSMT4">
                  <p:embed/>
                </p:oleObj>
              </mc:Choice>
              <mc:Fallback>
                <p:oleObj name="Equation" r:id="rId6" imgW="1904760" imgH="380880" progId="Equation.DSMT4">
                  <p:embed/>
                  <p:pic>
                    <p:nvPicPr>
                      <p:cNvPr id="2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2127" y="4509120"/>
                        <a:ext cx="4744169" cy="92812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2554912" y="251937"/>
            <a:ext cx="42493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5 </a:t>
            </a:r>
            <a:r>
              <a:rPr lang="zh-CN" altLang="en-US" sz="32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二维连续型随机变量</a:t>
            </a:r>
            <a:endParaRPr lang="zh-CN" altLang="en-US" sz="3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00546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-36512" y="1167135"/>
            <a:ext cx="7200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5. </a:t>
            </a:r>
            <a:endParaRPr lang="en-US" altLang="zh-CN" sz="2400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graphicFrame>
        <p:nvGraphicFramePr>
          <p:cNvPr id="28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9885461"/>
              </p:ext>
            </p:extLst>
          </p:nvPr>
        </p:nvGraphicFramePr>
        <p:xfrm>
          <a:off x="251520" y="1124744"/>
          <a:ext cx="8942388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2086" name="Equation" r:id="rId3" imgW="3619440" imgH="241200" progId="Equation.DSMT4">
                  <p:embed/>
                </p:oleObj>
              </mc:Choice>
              <mc:Fallback>
                <p:oleObj name="Equation" r:id="rId3" imgW="3619440" imgH="241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1124744"/>
                        <a:ext cx="8942388" cy="584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611560" y="2083693"/>
            <a:ext cx="799288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6. 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求</a:t>
            </a:r>
            <a:endParaRPr lang="en-US" altLang="zh-CN" sz="2400" dirty="0" smtClean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514350" indent="-514350"/>
            <a:r>
              <a:rPr lang="en-US" altLang="zh-CN" sz="24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endParaRPr lang="en-US" altLang="zh-CN" sz="2400" dirty="0" smtClean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514350" indent="-514350"/>
            <a:r>
              <a:rPr lang="en-US" altLang="zh-CN" sz="24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 (1)</a:t>
            </a:r>
          </a:p>
          <a:p>
            <a:pPr marL="514350" indent="-514350">
              <a:lnSpc>
                <a:spcPct val="150000"/>
              </a:lnSpc>
            </a:pPr>
            <a:r>
              <a:rPr lang="en-US" altLang="zh-CN" sz="24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 (2)  </a:t>
            </a:r>
          </a:p>
        </p:txBody>
      </p:sp>
      <p:graphicFrame>
        <p:nvGraphicFramePr>
          <p:cNvPr id="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28823"/>
              </p:ext>
            </p:extLst>
          </p:nvPr>
        </p:nvGraphicFramePr>
        <p:xfrm>
          <a:off x="1331640" y="1916832"/>
          <a:ext cx="2762250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2087" name="Equation" r:id="rId5" imgW="1218960" imgH="368280" progId="Equation.DSMT4">
                  <p:embed/>
                </p:oleObj>
              </mc:Choice>
              <mc:Fallback>
                <p:oleObj name="Equation" r:id="rId5" imgW="121896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1916832"/>
                        <a:ext cx="2762250" cy="844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9443959"/>
              </p:ext>
            </p:extLst>
          </p:nvPr>
        </p:nvGraphicFramePr>
        <p:xfrm>
          <a:off x="1407914" y="2859038"/>
          <a:ext cx="374015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2088" name="Equation" r:id="rId7" imgW="1650960" imgH="177480" progId="Equation.DSMT4">
                  <p:embed/>
                </p:oleObj>
              </mc:Choice>
              <mc:Fallback>
                <p:oleObj name="Equation" r:id="rId7" imgW="165096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7914" y="2859038"/>
                        <a:ext cx="374015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57468"/>
              </p:ext>
            </p:extLst>
          </p:nvPr>
        </p:nvGraphicFramePr>
        <p:xfrm>
          <a:off x="1437481" y="3337446"/>
          <a:ext cx="5438775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2089" name="Equation" r:id="rId9" imgW="2400120" imgH="203040" progId="Equation.DSMT4">
                  <p:embed/>
                </p:oleObj>
              </mc:Choice>
              <mc:Fallback>
                <p:oleObj name="Equation" r:id="rId9" imgW="24001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7481" y="3337446"/>
                        <a:ext cx="5438775" cy="4651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右弧形箭头 11"/>
          <p:cNvSpPr/>
          <p:nvPr/>
        </p:nvSpPr>
        <p:spPr bwMode="auto">
          <a:xfrm rot="10800000" flipH="1">
            <a:off x="7164288" y="1708944"/>
            <a:ext cx="537889" cy="1628502"/>
          </a:xfrm>
          <a:prstGeom prst="curvedLef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11560" y="3933056"/>
            <a:ext cx="799288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7. 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判别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X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与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Y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的独立性</a:t>
            </a:r>
          </a:p>
          <a:p>
            <a:pPr marL="514350" indent="-514350"/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  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独立即：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f(</a:t>
            </a:r>
            <a:r>
              <a:rPr lang="en-US" altLang="zh-CN" sz="2400" dirty="0" err="1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x,y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)=f</a:t>
            </a:r>
            <a:r>
              <a:rPr lang="en-US" altLang="zh-CN" sz="2400" baseline="-250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X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(x)f</a:t>
            </a:r>
            <a:r>
              <a:rPr lang="en-US" altLang="zh-CN" sz="2400" baseline="-250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Y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(y)</a:t>
            </a:r>
          </a:p>
          <a:p>
            <a:pPr marL="514350" indent="-514350"/>
            <a:endParaRPr lang="en-US" altLang="zh-CN" sz="2400" dirty="0" smtClean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514350" indent="-514350"/>
            <a:r>
              <a:rPr lang="en-US" altLang="zh-CN" sz="24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 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可以大体上判别是否独立的方法：</a:t>
            </a:r>
            <a:endParaRPr lang="en-US" altLang="zh-CN" sz="2400" dirty="0" smtClean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514350" indent="-514350"/>
            <a:r>
              <a:rPr lang="en-US" altLang="zh-CN" sz="24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en-US" altLang="zh-CN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 </a:t>
            </a:r>
            <a:r>
              <a:rPr lang="zh-CN" altLang="en-US" sz="2400" dirty="0" smtClean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如果密度函数的非零区域不是矩形肯定不独立。</a:t>
            </a:r>
            <a:endParaRPr lang="en-US" altLang="zh-CN" sz="2400" dirty="0" smtClean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554912" y="251937"/>
            <a:ext cx="42493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5 </a:t>
            </a:r>
            <a:r>
              <a:rPr lang="zh-CN" altLang="en-US" sz="32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二维连续型随机变量</a:t>
            </a:r>
            <a:endParaRPr lang="zh-CN" altLang="en-US" sz="3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84382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395536" y="1052736"/>
                <a:ext cx="7992888" cy="11563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14350" indent="-514350"/>
                <a:r>
                  <a:rPr lang="en-US" altLang="zh-CN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8.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 New Roman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 New Roman" pitchFamily="18" charset="0"/>
                              </a:rPr>
                              <m:t>𝑋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 New Roman" pitchFamily="18" charset="0"/>
                              </a:rPr>
                              <m:t>,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 New Roman" pitchFamily="18" charset="0"/>
                              </a:rPr>
                              <m:t>𝑌</m:t>
                            </m:r>
                          </m:e>
                        </m:d>
                        <m:r>
                          <a:rPr lang="zh-CN" altLang="en-US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𝜖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𝐷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 New Roman" pitchFamily="18" charset="0"/>
                      </a:rPr>
                      <m:t>=</m:t>
                    </m:r>
                    <m:nary>
                      <m:naryPr>
                        <m:chr m:val="∬"/>
                        <m:limLoc m:val="undOvr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𝐷</m:t>
                        </m:r>
                      </m:sub>
                      <m:sup/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 New Roman" pitchFamily="18" charset="0"/>
                              </a:rPr>
                              <m:t>𝑥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 New Roman" pitchFamily="18" charset="0"/>
                              </a:rPr>
                              <m:t>,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 New Roman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𝑑𝑥𝑑𝑦</m:t>
                        </m:r>
                      </m:e>
                    </m:nary>
                  </m:oMath>
                </a14:m>
                <a:endParaRPr lang="en-US" altLang="zh-CN" sz="2400" dirty="0" smtClean="0">
                  <a:latin typeface="Times New Roman" pitchFamily="18" charset="0"/>
                  <a:ea typeface="楷体" pitchFamily="49" charset="-122"/>
                  <a:cs typeface="Times New Roman" pitchFamily="18" charset="0"/>
                </a:endParaRPr>
              </a:p>
              <a:p>
                <a:pPr marL="514350" indent="-514350"/>
                <a:r>
                  <a:rPr lang="en-US" altLang="zh-CN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9.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楷体" pitchFamily="49" charset="-122"/>
                        <a:cs typeface="Times New Roman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𝑋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𝜖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𝐷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|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𝑌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=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楷体" pitchFamily="49" charset="-122"/>
                        <a:cs typeface="Times New Roman" pitchFamily="18" charset="0"/>
                      </a:rPr>
                      <m:t>=</m:t>
                    </m:r>
                    <m:nary>
                      <m:naryPr>
                        <m:limLoc m:val="undOvr"/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𝐷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 New Roman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 New Roman" pitchFamily="18" charset="0"/>
                              </a:rPr>
                              <m:t>𝑋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 New Roman" pitchFamily="18" charset="0"/>
                              </a:rPr>
                              <m:t>|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 New Roman" pitchFamily="18" charset="0"/>
                              </a:rPr>
                              <m:t>𝑌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 New Roman" pitchFamily="18" charset="0"/>
                              </a:rPr>
                              <m:t>𝑥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 New Roman" pitchFamily="18" charset="0"/>
                              </a:rPr>
                              <m:t>|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 New Roman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altLang="zh-CN" sz="2400" dirty="0" smtClean="0">
                  <a:latin typeface="Times New Roman" pitchFamily="18" charset="0"/>
                  <a:ea typeface="楷体" pitchFamily="49" charset="-122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1052736"/>
                <a:ext cx="7992888" cy="1156342"/>
              </a:xfrm>
              <a:prstGeom prst="rect">
                <a:avLst/>
              </a:prstGeom>
              <a:blipFill>
                <a:blip r:embed="rId2"/>
                <a:stretch>
                  <a:fillRect l="-1220" b="-68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/>
          <p:cNvSpPr/>
          <p:nvPr/>
        </p:nvSpPr>
        <p:spPr>
          <a:xfrm>
            <a:off x="2554912" y="251937"/>
            <a:ext cx="42493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5 </a:t>
            </a:r>
            <a:r>
              <a:rPr lang="zh-CN" altLang="en-US" sz="32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二维连续型随机变量</a:t>
            </a:r>
            <a:endParaRPr lang="zh-CN" altLang="en-US" sz="3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35773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/>
          <p:cNvSpPr/>
          <p:nvPr/>
        </p:nvSpPr>
        <p:spPr>
          <a:xfrm>
            <a:off x="330552" y="1023119"/>
            <a:ext cx="8633936" cy="1643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zh-CN" altLang="en-US" sz="2400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例</a:t>
            </a:r>
            <a:r>
              <a:rPr lang="en-US" altLang="zh-CN" sz="2400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8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. 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设二维随机变量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(X,Y)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服从区域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D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上的均匀分布，其中区域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D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为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x=|y|, 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x=0, x=1</a:t>
            </a:r>
            <a:r>
              <a:rPr lang="zh-CN" altLang="en-US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围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成的。求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:</a:t>
            </a:r>
          </a:p>
          <a:p>
            <a:pPr marL="514350" indent="-514350"/>
            <a:r>
              <a:rPr lang="en-US" altLang="zh-CN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 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     (1) 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联合密度函数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f(</a:t>
            </a:r>
            <a:r>
              <a:rPr lang="en-US" altLang="zh-CN" sz="2400" dirty="0" err="1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x,y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)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；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(2)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条件密度函数</a:t>
            </a:r>
            <a:r>
              <a:rPr lang="en-US" altLang="zh-CN" sz="2400" dirty="0" err="1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f</a:t>
            </a:r>
            <a:r>
              <a:rPr lang="en-US" altLang="zh-CN" sz="2400" baseline="-25000" dirty="0" err="1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X|Y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(</a:t>
            </a:r>
            <a:r>
              <a:rPr lang="en-US" altLang="zh-CN" sz="2400" dirty="0" err="1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x|y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)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与</a:t>
            </a:r>
            <a:r>
              <a:rPr lang="en-US" altLang="zh-CN" sz="2400" dirty="0" err="1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f</a:t>
            </a:r>
            <a:r>
              <a:rPr lang="en-US" altLang="zh-CN" sz="2400" baseline="-25000" dirty="0" err="1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Y|X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(</a:t>
            </a:r>
            <a:r>
              <a:rPr lang="en-US" altLang="zh-CN" sz="2400" dirty="0" err="1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y|x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)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；</a:t>
            </a:r>
            <a:endParaRPr lang="en-US" altLang="zh-CN" sz="2400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r>
              <a:rPr lang="en-US" altLang="zh-CN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 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     (3) 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判别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X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与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Y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是否独立？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(4) 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计算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E(X</a:t>
            </a:r>
            <a:r>
              <a:rPr lang="en-US" altLang="zh-CN" sz="2400" baseline="300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2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Y)</a:t>
            </a:r>
          </a:p>
          <a:p>
            <a:pPr marL="514350" indent="-514350">
              <a:lnSpc>
                <a:spcPct val="20000"/>
              </a:lnSpc>
            </a:pPr>
            <a:endParaRPr lang="en-US" altLang="zh-CN" sz="2400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554912" y="251937"/>
            <a:ext cx="42493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5 </a:t>
            </a:r>
            <a:r>
              <a:rPr lang="zh-CN" altLang="en-US" sz="32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二维连续型随机变量</a:t>
            </a:r>
            <a:endParaRPr lang="zh-CN" altLang="en-US" sz="3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00193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/>
          <p:cNvSpPr/>
          <p:nvPr/>
        </p:nvSpPr>
        <p:spPr>
          <a:xfrm>
            <a:off x="330552" y="1023119"/>
            <a:ext cx="8633936" cy="34901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zh-CN" altLang="en-US" sz="2400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例</a:t>
            </a:r>
            <a:r>
              <a:rPr lang="en-US" altLang="zh-CN" sz="2400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8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. 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设二维随机变量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(X,Y)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服从区域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D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上的均匀分布，其中区域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D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为</a:t>
            </a:r>
            <a:r>
              <a:rPr lang="en-US" altLang="zh-CN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x=|y|, x=0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, x=1</a:t>
            </a:r>
            <a:r>
              <a:rPr lang="zh-CN" altLang="en-US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围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成的。求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:</a:t>
            </a:r>
          </a:p>
          <a:p>
            <a:pPr marL="514350" indent="-514350"/>
            <a:r>
              <a:rPr lang="en-US" altLang="zh-CN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 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     (1) 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联合密度函数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f(</a:t>
            </a:r>
            <a:r>
              <a:rPr lang="en-US" altLang="zh-CN" sz="2400" dirty="0" err="1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x,y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)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；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(2)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条件密度函数</a:t>
            </a:r>
            <a:r>
              <a:rPr lang="en-US" altLang="zh-CN" sz="2400" dirty="0" err="1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f</a:t>
            </a:r>
            <a:r>
              <a:rPr lang="en-US" altLang="zh-CN" sz="2400" baseline="-25000" dirty="0" err="1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X|Y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(</a:t>
            </a:r>
            <a:r>
              <a:rPr lang="en-US" altLang="zh-CN" sz="2400" dirty="0" err="1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x|y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)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与</a:t>
            </a:r>
            <a:r>
              <a:rPr lang="en-US" altLang="zh-CN" sz="2400" dirty="0" err="1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f</a:t>
            </a:r>
            <a:r>
              <a:rPr lang="en-US" altLang="zh-CN" sz="2400" baseline="-25000" dirty="0" err="1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Y|X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(</a:t>
            </a:r>
            <a:r>
              <a:rPr lang="en-US" altLang="zh-CN" sz="2400" dirty="0" err="1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y|x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)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；</a:t>
            </a:r>
            <a:endParaRPr lang="en-US" altLang="zh-CN" sz="2400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r>
              <a:rPr lang="en-US" altLang="zh-CN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 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     (3) 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判别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X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与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Y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是否独立？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(4) 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计算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E(X</a:t>
            </a:r>
            <a:r>
              <a:rPr lang="en-US" altLang="zh-CN" sz="2400" baseline="300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2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Y)</a:t>
            </a:r>
          </a:p>
          <a:p>
            <a:pPr marL="514350" indent="-514350">
              <a:lnSpc>
                <a:spcPct val="20000"/>
              </a:lnSpc>
            </a:pPr>
            <a:endParaRPr lang="en-US" altLang="zh-CN" sz="2400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r>
              <a:rPr lang="zh-CN" altLang="en-US" sz="2400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解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：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(1)</a:t>
            </a:r>
          </a:p>
          <a:p>
            <a:pPr marL="514350" indent="-514350"/>
            <a:endParaRPr lang="en-US" altLang="zh-CN" sz="2400" dirty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endParaRPr lang="en-US" altLang="zh-CN" sz="2400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endParaRPr lang="en-US" altLang="zh-CN" sz="2400" dirty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endParaRPr lang="en-US" altLang="zh-CN" sz="2400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7019925" y="2276872"/>
            <a:ext cx="1908175" cy="2087562"/>
            <a:chOff x="7019925" y="855663"/>
            <a:chExt cx="1908175" cy="2087562"/>
          </a:xfrm>
        </p:grpSpPr>
        <p:sp>
          <p:nvSpPr>
            <p:cNvPr id="7" name="Line 15"/>
            <p:cNvSpPr>
              <a:spLocks noChangeShapeType="1"/>
            </p:cNvSpPr>
            <p:nvPr/>
          </p:nvSpPr>
          <p:spPr bwMode="auto">
            <a:xfrm flipV="1">
              <a:off x="7019925" y="1973263"/>
              <a:ext cx="1831975" cy="15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Line 16"/>
            <p:cNvSpPr>
              <a:spLocks noChangeShapeType="1"/>
            </p:cNvSpPr>
            <p:nvPr/>
          </p:nvSpPr>
          <p:spPr bwMode="auto">
            <a:xfrm>
              <a:off x="7480300" y="866775"/>
              <a:ext cx="0" cy="2057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" name="Object 17"/>
            <p:cNvGraphicFramePr>
              <a:graphicFrameLocks noChangeAspect="1"/>
            </p:cNvGraphicFramePr>
            <p:nvPr/>
          </p:nvGraphicFramePr>
          <p:xfrm>
            <a:off x="8623300" y="2017713"/>
            <a:ext cx="304800" cy="303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81101" name="Equation" r:id="rId3" imgW="139680" imgH="139680" progId="Equation.3">
                    <p:embed/>
                  </p:oleObj>
                </mc:Choice>
                <mc:Fallback>
                  <p:oleObj name="Equation" r:id="rId3" imgW="139680" imgH="139680" progId="Equation.3">
                    <p:embed/>
                    <p:pic>
                      <p:nvPicPr>
                        <p:cNvPr id="9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23300" y="2017713"/>
                          <a:ext cx="304800" cy="303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18"/>
            <p:cNvGraphicFramePr>
              <a:graphicFrameLocks noChangeAspect="1"/>
            </p:cNvGraphicFramePr>
            <p:nvPr/>
          </p:nvGraphicFramePr>
          <p:xfrm>
            <a:off x="7175500" y="855663"/>
            <a:ext cx="255588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81102" name="Equation" r:id="rId5" imgW="139680" imgH="164880" progId="Equation.3">
                    <p:embed/>
                  </p:oleObj>
                </mc:Choice>
                <mc:Fallback>
                  <p:oleObj name="Equation" r:id="rId5" imgW="139680" imgH="164880" progId="Equation.3">
                    <p:embed/>
                    <p:pic>
                      <p:nvPicPr>
                        <p:cNvPr id="11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75500" y="855663"/>
                          <a:ext cx="255588" cy="304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Line 19"/>
            <p:cNvSpPr>
              <a:spLocks noChangeShapeType="1"/>
            </p:cNvSpPr>
            <p:nvPr/>
          </p:nvSpPr>
          <p:spPr bwMode="auto">
            <a:xfrm>
              <a:off x="8242300" y="982663"/>
              <a:ext cx="0" cy="99060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4" name="Object 21"/>
            <p:cNvGraphicFramePr>
              <a:graphicFrameLocks noChangeAspect="1"/>
            </p:cNvGraphicFramePr>
            <p:nvPr/>
          </p:nvGraphicFramePr>
          <p:xfrm>
            <a:off x="7099300" y="2017713"/>
            <a:ext cx="330200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81103" name="Equation" r:id="rId7" imgW="164880" imgH="177480" progId="Equation.3">
                    <p:embed/>
                  </p:oleObj>
                </mc:Choice>
                <mc:Fallback>
                  <p:oleObj name="Equation" r:id="rId7" imgW="164880" imgH="177480" progId="Equation.3">
                    <p:embed/>
                    <p:pic>
                      <p:nvPicPr>
                        <p:cNvPr id="14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99300" y="2017713"/>
                          <a:ext cx="330200" cy="3524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23"/>
            <p:cNvGraphicFramePr>
              <a:graphicFrameLocks noChangeAspect="1"/>
            </p:cNvGraphicFramePr>
            <p:nvPr/>
          </p:nvGraphicFramePr>
          <p:xfrm>
            <a:off x="8267700" y="1985963"/>
            <a:ext cx="157163" cy="290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81104" name="公式" r:id="rId9" imgW="88560" imgH="164880" progId="Equation.3">
                    <p:embed/>
                  </p:oleObj>
                </mc:Choice>
                <mc:Fallback>
                  <p:oleObj name="公式" r:id="rId9" imgW="88560" imgH="164880" progId="Equation.3">
                    <p:embed/>
                    <p:pic>
                      <p:nvPicPr>
                        <p:cNvPr id="16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67700" y="1985963"/>
                          <a:ext cx="157163" cy="2905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Line 26"/>
            <p:cNvSpPr>
              <a:spLocks noChangeShapeType="1"/>
            </p:cNvSpPr>
            <p:nvPr/>
          </p:nvSpPr>
          <p:spPr bwMode="auto">
            <a:xfrm>
              <a:off x="8243888" y="1952625"/>
              <a:ext cx="0" cy="99060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Line 35"/>
            <p:cNvSpPr>
              <a:spLocks noChangeShapeType="1"/>
            </p:cNvSpPr>
            <p:nvPr/>
          </p:nvSpPr>
          <p:spPr bwMode="auto">
            <a:xfrm flipV="1">
              <a:off x="7451725" y="1231900"/>
              <a:ext cx="757238" cy="757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36"/>
            <p:cNvSpPr>
              <a:spLocks noChangeShapeType="1"/>
            </p:cNvSpPr>
            <p:nvPr/>
          </p:nvSpPr>
          <p:spPr bwMode="auto">
            <a:xfrm>
              <a:off x="7488238" y="2024063"/>
              <a:ext cx="757237" cy="7572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0" name="Object 4"/>
          <p:cNvGraphicFramePr>
            <a:graphicFrameLocks noChangeAspect="1"/>
          </p:cNvGraphicFramePr>
          <p:nvPr/>
        </p:nvGraphicFramePr>
        <p:xfrm>
          <a:off x="1888272" y="2852936"/>
          <a:ext cx="4202112" cy="103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1105" name="Equation" r:id="rId11" imgW="1689100" imgH="419100" progId="Equation.DSMT4">
                  <p:embed/>
                </p:oleObj>
              </mc:Choice>
              <mc:Fallback>
                <p:oleObj name="Equation" r:id="rId11" imgW="1689100" imgH="419100" progId="Equation.DSMT4">
                  <p:embed/>
                  <p:pic>
                    <p:nvPicPr>
                      <p:cNvPr id="2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8272" y="2852936"/>
                        <a:ext cx="4202112" cy="1039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矩形 27"/>
          <p:cNvSpPr/>
          <p:nvPr/>
        </p:nvSpPr>
        <p:spPr>
          <a:xfrm>
            <a:off x="2554912" y="251937"/>
            <a:ext cx="42493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5 </a:t>
            </a:r>
            <a:r>
              <a:rPr lang="zh-CN" altLang="en-US" sz="32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二维连续型随机变量</a:t>
            </a:r>
            <a:endParaRPr lang="zh-CN" altLang="en-US" sz="3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7418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/>
          <p:cNvSpPr/>
          <p:nvPr/>
        </p:nvSpPr>
        <p:spPr>
          <a:xfrm>
            <a:off x="330552" y="1023119"/>
            <a:ext cx="8633936" cy="53368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/>
            <a:r>
              <a:rPr lang="zh-CN" altLang="en-US" sz="2400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例</a:t>
            </a:r>
            <a:r>
              <a:rPr lang="en-US" altLang="zh-CN" sz="2400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8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. 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设二维随机变量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(X,Y)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服从区域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D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上的均匀分布，其中区域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D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为</a:t>
            </a:r>
            <a:r>
              <a:rPr lang="en-US" altLang="zh-CN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x=|y|, x=0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, x=1</a:t>
            </a:r>
            <a:r>
              <a:rPr lang="zh-CN" altLang="en-US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围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成的。求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:</a:t>
            </a:r>
          </a:p>
          <a:p>
            <a:pPr marL="514350" indent="-514350"/>
            <a:r>
              <a:rPr lang="en-US" altLang="zh-CN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 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     (1) 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联合密度函数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f(</a:t>
            </a:r>
            <a:r>
              <a:rPr lang="en-US" altLang="zh-CN" sz="2400" dirty="0" err="1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x,y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)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；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(2)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条件密度函数</a:t>
            </a:r>
            <a:r>
              <a:rPr lang="en-US" altLang="zh-CN" sz="2400" dirty="0" err="1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f</a:t>
            </a:r>
            <a:r>
              <a:rPr lang="en-US" altLang="zh-CN" sz="2400" baseline="-25000" dirty="0" err="1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X|Y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(</a:t>
            </a:r>
            <a:r>
              <a:rPr lang="en-US" altLang="zh-CN" sz="2400" dirty="0" err="1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x|y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)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与</a:t>
            </a:r>
            <a:r>
              <a:rPr lang="en-US" altLang="zh-CN" sz="2400" dirty="0" err="1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f</a:t>
            </a:r>
            <a:r>
              <a:rPr lang="en-US" altLang="zh-CN" sz="2400" baseline="-25000" dirty="0" err="1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Y|X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(</a:t>
            </a:r>
            <a:r>
              <a:rPr lang="en-US" altLang="zh-CN" sz="2400" dirty="0" err="1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y|x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)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；</a:t>
            </a:r>
            <a:endParaRPr lang="en-US" altLang="zh-CN" sz="2400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r>
              <a:rPr lang="en-US" altLang="zh-CN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 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     (3) 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判别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X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与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Y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是否独立？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(4) 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计算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E(X</a:t>
            </a:r>
            <a:r>
              <a:rPr lang="en-US" altLang="zh-CN" sz="2400" baseline="300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2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Y)</a:t>
            </a:r>
          </a:p>
          <a:p>
            <a:pPr marL="514350" indent="-514350">
              <a:lnSpc>
                <a:spcPct val="20000"/>
              </a:lnSpc>
            </a:pPr>
            <a:endParaRPr lang="en-US" altLang="zh-CN" sz="2400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r>
              <a:rPr lang="zh-CN" altLang="en-US" sz="2400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解</a:t>
            </a:r>
            <a:r>
              <a:rPr lang="zh-CN" altLang="en-US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：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(2)</a:t>
            </a:r>
          </a:p>
          <a:p>
            <a:pPr marL="514350" indent="-514350"/>
            <a:endParaRPr lang="en-US" altLang="zh-CN" sz="2400" dirty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endParaRPr lang="en-US" altLang="zh-CN" sz="2400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endParaRPr lang="en-US" altLang="zh-CN" sz="2400" dirty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endParaRPr lang="en-US" altLang="zh-CN" sz="2400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endParaRPr lang="en-US" altLang="zh-CN" sz="2400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>
              <a:lnSpc>
                <a:spcPct val="50000"/>
              </a:lnSpc>
            </a:pPr>
            <a:endParaRPr lang="en-US" altLang="zh-CN" sz="2400" dirty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r>
              <a:rPr lang="zh-CN" altLang="en-US" sz="20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当</a:t>
            </a:r>
            <a:r>
              <a:rPr lang="en-US" altLang="zh-CN" sz="20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|y|&lt;1</a:t>
            </a:r>
            <a:r>
              <a:rPr lang="zh-CN" altLang="en-US" sz="20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时，</a:t>
            </a:r>
            <a:endParaRPr lang="en-US" altLang="zh-CN" sz="2000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endParaRPr lang="en-US" altLang="zh-CN" sz="2000" dirty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endParaRPr lang="en-US" altLang="zh-CN" sz="2000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>
              <a:lnSpc>
                <a:spcPct val="20000"/>
              </a:lnSpc>
            </a:pPr>
            <a:endParaRPr lang="en-US" altLang="zh-CN" sz="2000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 marL="514350" indent="-514350"/>
            <a:r>
              <a:rPr lang="zh-CN" altLang="en-US" sz="20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当</a:t>
            </a:r>
            <a:r>
              <a:rPr lang="en-US" altLang="zh-CN" sz="20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0&lt;x&lt;1</a:t>
            </a:r>
            <a:r>
              <a:rPr lang="zh-CN" altLang="en-US" sz="20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时，</a:t>
            </a:r>
            <a:endParaRPr lang="en-US" altLang="zh-CN" sz="2000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</p:txBody>
      </p:sp>
      <p:graphicFrame>
        <p:nvGraphicFramePr>
          <p:cNvPr id="21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9537363"/>
              </p:ext>
            </p:extLst>
          </p:nvPr>
        </p:nvGraphicFramePr>
        <p:xfrm>
          <a:off x="3635896" y="2501652"/>
          <a:ext cx="1889296" cy="8762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2362" name="Equation" r:id="rId3" imgW="1257120" imgH="583920" progId="Equation.DSMT4">
                  <p:embed/>
                </p:oleObj>
              </mc:Choice>
              <mc:Fallback>
                <p:oleObj name="Equation" r:id="rId3" imgW="1257120" imgH="583920" progId="Equation.DSMT4">
                  <p:embed/>
                  <p:pic>
                    <p:nvPicPr>
                      <p:cNvPr id="2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896" y="2501652"/>
                        <a:ext cx="1889296" cy="8762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7666440"/>
              </p:ext>
            </p:extLst>
          </p:nvPr>
        </p:nvGraphicFramePr>
        <p:xfrm>
          <a:off x="1432064" y="2647429"/>
          <a:ext cx="2171844" cy="536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2363" name="Equation" r:id="rId5" imgW="1333440" imgH="330120" progId="Equation.DSMT4">
                  <p:embed/>
                </p:oleObj>
              </mc:Choice>
              <mc:Fallback>
                <p:oleObj name="Equation" r:id="rId5" imgW="1333440" imgH="330120" progId="Equation.DSMT4">
                  <p:embed/>
                  <p:pic>
                    <p:nvPicPr>
                      <p:cNvPr id="22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2064" y="2647429"/>
                        <a:ext cx="2171844" cy="5364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1264631"/>
              </p:ext>
            </p:extLst>
          </p:nvPr>
        </p:nvGraphicFramePr>
        <p:xfrm>
          <a:off x="5508104" y="2631033"/>
          <a:ext cx="1860651" cy="675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2364" name="Equation" r:id="rId7" imgW="1257120" imgH="457200" progId="Equation.DSMT4">
                  <p:embed/>
                </p:oleObj>
              </mc:Choice>
              <mc:Fallback>
                <p:oleObj name="Equation" r:id="rId7" imgW="1257120" imgH="457200" progId="Equation.DSMT4">
                  <p:embed/>
                  <p:pic>
                    <p:nvPicPr>
                      <p:cNvPr id="23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104" y="2631033"/>
                        <a:ext cx="1860651" cy="6757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7590656"/>
              </p:ext>
            </p:extLst>
          </p:nvPr>
        </p:nvGraphicFramePr>
        <p:xfrm>
          <a:off x="3635896" y="3356992"/>
          <a:ext cx="2096324" cy="14205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2365" name="Equation" r:id="rId9" imgW="1422360" imgH="965160" progId="Equation.DSMT4">
                  <p:embed/>
                </p:oleObj>
              </mc:Choice>
              <mc:Fallback>
                <p:oleObj name="Equation" r:id="rId9" imgW="1422360" imgH="965160" progId="Equation.DSMT4">
                  <p:embed/>
                  <p:pic>
                    <p:nvPicPr>
                      <p:cNvPr id="24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896" y="3356992"/>
                        <a:ext cx="2096324" cy="14205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1324905"/>
              </p:ext>
            </p:extLst>
          </p:nvPr>
        </p:nvGraphicFramePr>
        <p:xfrm>
          <a:off x="1403648" y="3792810"/>
          <a:ext cx="2151011" cy="536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2366" name="Equation" r:id="rId11" imgW="1320480" imgH="330120" progId="Equation.DSMT4">
                  <p:embed/>
                </p:oleObj>
              </mc:Choice>
              <mc:Fallback>
                <p:oleObj name="Equation" r:id="rId11" imgW="1320480" imgH="330120" progId="Equation.DSMT4">
                  <p:embed/>
                  <p:pic>
                    <p:nvPicPr>
                      <p:cNvPr id="25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3792810"/>
                        <a:ext cx="2151011" cy="5364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5699817"/>
              </p:ext>
            </p:extLst>
          </p:nvPr>
        </p:nvGraphicFramePr>
        <p:xfrm>
          <a:off x="5796136" y="3556794"/>
          <a:ext cx="2078095" cy="100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2367" name="Equation" r:id="rId13" imgW="1409400" imgH="685800" progId="Equation.DSMT4">
                  <p:embed/>
                </p:oleObj>
              </mc:Choice>
              <mc:Fallback>
                <p:oleObj name="Equation" r:id="rId13" imgW="1409400" imgH="685800" progId="Equation.DSMT4">
                  <p:embed/>
                  <p:pic>
                    <p:nvPicPr>
                      <p:cNvPr id="26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6136" y="3556794"/>
                        <a:ext cx="2078095" cy="100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8226785"/>
              </p:ext>
            </p:extLst>
          </p:nvPr>
        </p:nvGraphicFramePr>
        <p:xfrm>
          <a:off x="1497129" y="4581128"/>
          <a:ext cx="3236933" cy="11145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2368" name="Equation" r:id="rId15" imgW="1739900" imgH="596900" progId="Equation.DSMT4">
                  <p:embed/>
                </p:oleObj>
              </mc:Choice>
              <mc:Fallback>
                <p:oleObj name="Equation" r:id="rId15" imgW="1739900" imgH="596900" progId="Equation.DSMT4">
                  <p:embed/>
                  <p:pic>
                    <p:nvPicPr>
                      <p:cNvPr id="118813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7129" y="4581128"/>
                        <a:ext cx="3236933" cy="111456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3135280"/>
              </p:ext>
            </p:extLst>
          </p:nvPr>
        </p:nvGraphicFramePr>
        <p:xfrm>
          <a:off x="1764024" y="5632884"/>
          <a:ext cx="2519944" cy="10152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2369" name="Equation" r:id="rId17" imgW="1422400" imgH="571500" progId="Equation.DSMT4">
                  <p:embed/>
                </p:oleObj>
              </mc:Choice>
              <mc:Fallback>
                <p:oleObj name="Equation" r:id="rId17" imgW="1422400" imgH="571500" progId="Equation.DSMT4">
                  <p:embed/>
                  <p:pic>
                    <p:nvPicPr>
                      <p:cNvPr id="118816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4024" y="5632884"/>
                        <a:ext cx="2519944" cy="101520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矩形 29"/>
          <p:cNvSpPr/>
          <p:nvPr/>
        </p:nvSpPr>
        <p:spPr>
          <a:xfrm>
            <a:off x="2554912" y="251937"/>
            <a:ext cx="42493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5 </a:t>
            </a:r>
            <a:r>
              <a:rPr lang="zh-CN" altLang="en-US" sz="32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二维连续型随机变量</a:t>
            </a:r>
            <a:endParaRPr lang="zh-CN" altLang="en-US" sz="3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45154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8" name="矩形 47"/>
              <p:cNvSpPr/>
              <p:nvPr/>
            </p:nvSpPr>
            <p:spPr>
              <a:xfrm>
                <a:off x="330552" y="1023119"/>
                <a:ext cx="8633936" cy="337060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14350" indent="-514350"/>
                <a:r>
                  <a:rPr lang="zh-CN" altLang="en-US" sz="2400" dirty="0" smtClean="0">
                    <a:solidFill>
                      <a:srgbClr val="0000FF"/>
                    </a:solidFill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例</a:t>
                </a:r>
                <a:r>
                  <a:rPr lang="en-US" altLang="zh-CN" sz="2400" dirty="0" smtClean="0">
                    <a:solidFill>
                      <a:srgbClr val="0000FF"/>
                    </a:solidFill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8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. 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设二维随机变量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(X,Y)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服从区域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D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上的均匀分布，其中区域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D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为</a:t>
                </a:r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x=|y|, x=0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, x=1</a:t>
                </a:r>
                <a:r>
                  <a:rPr lang="zh-CN" altLang="en-US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围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成的。求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:</a:t>
                </a:r>
              </a:p>
              <a:p>
                <a:pPr marL="514350" indent="-514350"/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 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     (1) 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联合密度函数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f(</a:t>
                </a:r>
                <a:r>
                  <a:rPr lang="en-US" altLang="zh-CN" sz="2400" dirty="0" err="1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x,y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)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；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(2)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条件密度函数</a:t>
                </a:r>
                <a:r>
                  <a:rPr lang="en-US" altLang="zh-CN" sz="2400" dirty="0" err="1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f</a:t>
                </a:r>
                <a:r>
                  <a:rPr lang="en-US" altLang="zh-CN" sz="2400" baseline="-25000" dirty="0" err="1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X|Y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(</a:t>
                </a:r>
                <a:r>
                  <a:rPr lang="en-US" altLang="zh-CN" sz="2400" dirty="0" err="1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x|y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)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与</a:t>
                </a:r>
                <a:r>
                  <a:rPr lang="en-US" altLang="zh-CN" sz="2400" dirty="0" err="1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f</a:t>
                </a:r>
                <a:r>
                  <a:rPr lang="en-US" altLang="zh-CN" sz="2400" baseline="-25000" dirty="0" err="1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Y|X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(</a:t>
                </a:r>
                <a:r>
                  <a:rPr lang="en-US" altLang="zh-CN" sz="2400" dirty="0" err="1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y|x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)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；</a:t>
                </a:r>
                <a:endParaRPr lang="en-US" altLang="zh-CN" sz="2400" dirty="0" smtClean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pPr marL="514350" indent="-514350"/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 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     (3) 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判别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X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与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Y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是否独立？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(4) 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计算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E(X</a:t>
                </a:r>
                <a:r>
                  <a:rPr lang="en-US" altLang="zh-CN" sz="2400" baseline="300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2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Y)</a:t>
                </a:r>
              </a:p>
              <a:p>
                <a:pPr marL="514350" indent="-514350">
                  <a:lnSpc>
                    <a:spcPct val="20000"/>
                  </a:lnSpc>
                </a:pPr>
                <a:endParaRPr lang="en-US" altLang="zh-CN" sz="2400" dirty="0" smtClean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pPr marL="514350" indent="-514350"/>
                <a:r>
                  <a:rPr lang="zh-CN" altLang="en-US" sz="2400" dirty="0" smtClean="0">
                    <a:solidFill>
                      <a:srgbClr val="0000FF"/>
                    </a:solidFill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解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：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(</a:t>
                </a:r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3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) f</a:t>
                </a:r>
                <a:r>
                  <a:rPr lang="en-US" altLang="zh-CN" sz="2400" baseline="-250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X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(x)f</a:t>
                </a:r>
                <a:r>
                  <a:rPr lang="en-US" altLang="zh-CN" sz="2400" baseline="-250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Y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(y)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" panose="02020603050405020304" pitchFamily="18" charset="0"/>
                      </a:rPr>
                      <m:t>≠</m:t>
                    </m:r>
                  </m:oMath>
                </a14:m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f(</a:t>
                </a:r>
                <a:r>
                  <a:rPr lang="en-US" altLang="zh-CN" sz="2400" dirty="0" err="1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x,y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) 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所以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X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与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Y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不独立</a:t>
                </a:r>
                <a:endParaRPr lang="en-US" altLang="zh-CN" sz="2400" dirty="0" smtClean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pPr marL="514350" indent="-514350"/>
                <a:endParaRPr lang="en-US" altLang="zh-CN" sz="2400" dirty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pPr marL="514350" indent="-514350"/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(4)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anose="020206030504050203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anose="020206030504050203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anose="020206030504050203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  <m:t>𝑌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anose="020206030504050203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  <m:t>−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" panose="020206030504050203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  <m:t>+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" panose="02020603050405020304" pitchFamily="18" charset="0"/>
                          </a:rPr>
                          <m:t>∞</m:t>
                        </m:r>
                      </m:sup>
                      <m:e>
                        <m:nary>
                          <m:nary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anose="020206030504050203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" panose="02020603050405020304" pitchFamily="18" charset="0"/>
                              </a:rPr>
                              <m:t>∞</m:t>
                            </m:r>
                          </m:sub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anose="02020603050405020304" pitchFamily="18" charset="0"/>
                              </a:rPr>
                              <m:t>+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" panose="02020603050405020304" pitchFamily="18" charset="0"/>
                              </a:rPr>
                              <m:t>∞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anose="020206030504050203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anose="02020603050405020304" pitchFamily="18" charset="0"/>
                              </a:rPr>
                              <m:t>𝑦𝑓</m:t>
                            </m:r>
                            <m:d>
                              <m:d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anose="02020603050405020304" pitchFamily="18" charset="0"/>
                                  </a:rPr>
                                  <m:t>𝑦</m:t>
                                </m:r>
                              </m:e>
                            </m:d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anose="02020603050405020304" pitchFamily="18" charset="0"/>
                              </a:rPr>
                              <m:t>𝑑𝑥𝑑𝑦</m:t>
                            </m:r>
                          </m:e>
                        </m:nary>
                      </m:e>
                    </m:nary>
                  </m:oMath>
                </a14:m>
                <a:endParaRPr lang="en-US" altLang="zh-CN" sz="2400" b="0" dirty="0" smtClean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pPr marL="514350" indent="-514350"/>
                <a:r>
                  <a:rPr lang="en-US" altLang="zh-CN" sz="20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                       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anose="020206030504050203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  <m:t>1</m:t>
                        </m:r>
                      </m:sup>
                      <m:e>
                        <m:nary>
                          <m:nary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anose="020206030504050203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anose="020206030504050203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anose="02020603050405020304" pitchFamily="18" charset="0"/>
                              </a:rPr>
                              <m:t>𝑥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anose="020206030504050203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anose="02020603050405020304" pitchFamily="18" charset="0"/>
                              </a:rPr>
                              <m:t>𝑦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anose="02020603050405020304" pitchFamily="18" charset="0"/>
                              </a:rPr>
                              <m:t>𝑑𝑦𝑑𝑥</m:t>
                            </m:r>
                          </m:e>
                        </m:nary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  <m:t>=0</m:t>
                        </m:r>
                      </m:e>
                    </m:nary>
                  </m:oMath>
                </a14:m>
                <a:endParaRPr lang="en-US" altLang="zh-CN" sz="2000" dirty="0" smtClean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</p:txBody>
          </p:sp>
        </mc:Choice>
        <mc:Fallback>
          <p:sp>
            <p:nvSpPr>
              <p:cNvPr id="48" name="矩形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552" y="1023119"/>
                <a:ext cx="8633936" cy="3370603"/>
              </a:xfrm>
              <a:prstGeom prst="rect">
                <a:avLst/>
              </a:prstGeom>
              <a:blipFill>
                <a:blip r:embed="rId3"/>
                <a:stretch>
                  <a:fillRect l="-1059" t="-1989" r="-17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组合 11"/>
          <p:cNvGrpSpPr/>
          <p:nvPr/>
        </p:nvGrpSpPr>
        <p:grpSpPr>
          <a:xfrm>
            <a:off x="7019925" y="2276872"/>
            <a:ext cx="1908175" cy="2087562"/>
            <a:chOff x="7019925" y="855663"/>
            <a:chExt cx="1908175" cy="2087562"/>
          </a:xfrm>
        </p:grpSpPr>
        <p:sp>
          <p:nvSpPr>
            <p:cNvPr id="13" name="Line 15"/>
            <p:cNvSpPr>
              <a:spLocks noChangeShapeType="1"/>
            </p:cNvSpPr>
            <p:nvPr/>
          </p:nvSpPr>
          <p:spPr bwMode="auto">
            <a:xfrm flipV="1">
              <a:off x="7019925" y="1973263"/>
              <a:ext cx="1831975" cy="15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16"/>
            <p:cNvSpPr>
              <a:spLocks noChangeShapeType="1"/>
            </p:cNvSpPr>
            <p:nvPr/>
          </p:nvSpPr>
          <p:spPr bwMode="auto">
            <a:xfrm>
              <a:off x="7480300" y="866775"/>
              <a:ext cx="0" cy="2057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6" name="Object 17"/>
            <p:cNvGraphicFramePr>
              <a:graphicFrameLocks noChangeAspect="1"/>
            </p:cNvGraphicFramePr>
            <p:nvPr/>
          </p:nvGraphicFramePr>
          <p:xfrm>
            <a:off x="8623300" y="2017713"/>
            <a:ext cx="304800" cy="3032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84090" name="Equation" r:id="rId4" imgW="139680" imgH="139680" progId="Equation.3">
                    <p:embed/>
                  </p:oleObj>
                </mc:Choice>
                <mc:Fallback>
                  <p:oleObj name="Equation" r:id="rId4" imgW="139680" imgH="139680" progId="Equation.3">
                    <p:embed/>
                    <p:pic>
                      <p:nvPicPr>
                        <p:cNvPr id="9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23300" y="2017713"/>
                          <a:ext cx="304800" cy="3032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18"/>
            <p:cNvGraphicFramePr>
              <a:graphicFrameLocks noChangeAspect="1"/>
            </p:cNvGraphicFramePr>
            <p:nvPr/>
          </p:nvGraphicFramePr>
          <p:xfrm>
            <a:off x="7175500" y="855663"/>
            <a:ext cx="255588" cy="304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84091" name="Equation" r:id="rId6" imgW="139680" imgH="164880" progId="Equation.3">
                    <p:embed/>
                  </p:oleObj>
                </mc:Choice>
                <mc:Fallback>
                  <p:oleObj name="Equation" r:id="rId6" imgW="139680" imgH="164880" progId="Equation.3">
                    <p:embed/>
                    <p:pic>
                      <p:nvPicPr>
                        <p:cNvPr id="11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75500" y="855663"/>
                          <a:ext cx="255588" cy="304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Line 19"/>
            <p:cNvSpPr>
              <a:spLocks noChangeShapeType="1"/>
            </p:cNvSpPr>
            <p:nvPr/>
          </p:nvSpPr>
          <p:spPr bwMode="auto">
            <a:xfrm>
              <a:off x="8242300" y="982663"/>
              <a:ext cx="0" cy="99060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9" name="Object 21"/>
            <p:cNvGraphicFramePr>
              <a:graphicFrameLocks noChangeAspect="1"/>
            </p:cNvGraphicFramePr>
            <p:nvPr/>
          </p:nvGraphicFramePr>
          <p:xfrm>
            <a:off x="7099300" y="2017713"/>
            <a:ext cx="330200" cy="3524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84092" name="Equation" r:id="rId8" imgW="164880" imgH="177480" progId="Equation.3">
                    <p:embed/>
                  </p:oleObj>
                </mc:Choice>
                <mc:Fallback>
                  <p:oleObj name="Equation" r:id="rId8" imgW="164880" imgH="177480" progId="Equation.3">
                    <p:embed/>
                    <p:pic>
                      <p:nvPicPr>
                        <p:cNvPr id="14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99300" y="2017713"/>
                          <a:ext cx="330200" cy="3524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23"/>
            <p:cNvGraphicFramePr>
              <a:graphicFrameLocks noChangeAspect="1"/>
            </p:cNvGraphicFramePr>
            <p:nvPr/>
          </p:nvGraphicFramePr>
          <p:xfrm>
            <a:off x="8267700" y="1985963"/>
            <a:ext cx="157163" cy="290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84093" name="公式" r:id="rId10" imgW="88560" imgH="164880" progId="Equation.3">
                    <p:embed/>
                  </p:oleObj>
                </mc:Choice>
                <mc:Fallback>
                  <p:oleObj name="公式" r:id="rId10" imgW="88560" imgH="164880" progId="Equation.3">
                    <p:embed/>
                    <p:pic>
                      <p:nvPicPr>
                        <p:cNvPr id="16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67700" y="1985963"/>
                          <a:ext cx="157163" cy="2905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" name="Line 26"/>
            <p:cNvSpPr>
              <a:spLocks noChangeShapeType="1"/>
            </p:cNvSpPr>
            <p:nvPr/>
          </p:nvSpPr>
          <p:spPr bwMode="auto">
            <a:xfrm>
              <a:off x="8243888" y="1952625"/>
              <a:ext cx="0" cy="990600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Line 35"/>
            <p:cNvSpPr>
              <a:spLocks noChangeShapeType="1"/>
            </p:cNvSpPr>
            <p:nvPr/>
          </p:nvSpPr>
          <p:spPr bwMode="auto">
            <a:xfrm flipV="1">
              <a:off x="7451725" y="1231900"/>
              <a:ext cx="757238" cy="757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Line 36"/>
            <p:cNvSpPr>
              <a:spLocks noChangeShapeType="1"/>
            </p:cNvSpPr>
            <p:nvPr/>
          </p:nvSpPr>
          <p:spPr bwMode="auto">
            <a:xfrm>
              <a:off x="7488238" y="2024063"/>
              <a:ext cx="757237" cy="7572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4" name="矩形 33"/>
          <p:cNvSpPr/>
          <p:nvPr/>
        </p:nvSpPr>
        <p:spPr>
          <a:xfrm>
            <a:off x="2554912" y="251937"/>
            <a:ext cx="42493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5 </a:t>
            </a:r>
            <a:r>
              <a:rPr lang="zh-CN" altLang="en-US" sz="32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二维连续型随机变量</a:t>
            </a:r>
            <a:endParaRPr lang="zh-CN" altLang="en-US" sz="3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71284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8" name="矩形 47"/>
              <p:cNvSpPr/>
              <p:nvPr/>
            </p:nvSpPr>
            <p:spPr>
              <a:xfrm>
                <a:off x="0" y="1023119"/>
                <a:ext cx="9173488" cy="18726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14350" indent="-514350"/>
                <a:r>
                  <a:rPr lang="zh-CN" altLang="en-US" sz="2400" dirty="0" smtClean="0">
                    <a:solidFill>
                      <a:srgbClr val="0000FF"/>
                    </a:solidFill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例</a:t>
                </a:r>
                <a:r>
                  <a:rPr lang="en-US" altLang="zh-CN" sz="2400" dirty="0" smtClean="0">
                    <a:solidFill>
                      <a:srgbClr val="0000FF"/>
                    </a:solidFill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9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. 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设二维随机变量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(X,Y)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的联合密度函数为</a:t>
                </a:r>
                <a:endParaRPr lang="en-US" altLang="zh-CN" sz="2400" dirty="0" smtClean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pPr marL="514350" indent="-51435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楷体" pitchFamily="49" charset="-122"/>
                          <a:cs typeface="Times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itchFamily="49" charset="-122"/>
                              <a:cs typeface="Times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itchFamily="49" charset="-122"/>
                              <a:cs typeface="Times" panose="02020603050405020304" pitchFamily="18" charset="0"/>
                            </a:rPr>
                            <m:t>𝑥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itchFamily="49" charset="-122"/>
                              <a:cs typeface="Times" panose="02020603050405020304" pitchFamily="18" charset="0"/>
                            </a:rPr>
                            <m:t>,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itchFamily="49" charset="-122"/>
                              <a:cs typeface="Times" panose="020206030504050203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楷体" pitchFamily="49" charset="-122"/>
                          <a:cs typeface="Times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itchFamily="49" charset="-122"/>
                              <a:cs typeface="Times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anose="02020603050405020304" pitchFamily="18" charset="0"/>
                                  </a:rPr>
                                  <m:t>𝑘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anose="02020603050405020304" pitchFamily="18" charset="0"/>
                                  </a:rPr>
                                  <m:t>, 0&lt;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≤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𝑦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≤1,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anose="02020603050405020304" pitchFamily="18" charset="0"/>
                                  </a:rPr>
                                  <m:t>0,  </m:t>
                                </m:r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anose="02020603050405020304" pitchFamily="18" charset="0"/>
                                  </a:rPr>
                                  <m:t>其它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anose="02020603050405020304" pitchFamily="18" charset="0"/>
                                  </a:rPr>
                                  <m:t>                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000" dirty="0" smtClean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pPr marL="514350" indent="-514350"/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求：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(1)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常数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k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；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(2) 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随机变量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Y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的边缘密度；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(3)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  <m:t>𝑋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  <m:t>|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  <m:t>𝑌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anose="020206030504050203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anose="020206030504050203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anose="020206030504050203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anose="02020603050405020304" pitchFamily="18" charset="0"/>
                      </a:rPr>
                      <m:t>𝑦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；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(4) E(X</a:t>
                </a:r>
                <a:r>
                  <a:rPr lang="en-US" altLang="zh-CN" sz="2400" baseline="300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2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Y)</a:t>
                </a:r>
              </a:p>
              <a:p>
                <a:pPr marL="514350" indent="-514350">
                  <a:lnSpc>
                    <a:spcPct val="50000"/>
                  </a:lnSpc>
                </a:pPr>
                <a:endParaRPr lang="en-US" altLang="zh-CN" sz="2400" dirty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48" name="矩形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023119"/>
                <a:ext cx="9173488" cy="1872629"/>
              </a:xfrm>
              <a:prstGeom prst="rect">
                <a:avLst/>
              </a:prstGeom>
              <a:blipFill>
                <a:blip r:embed="rId2"/>
                <a:stretch>
                  <a:fillRect l="-997" t="-3583" r="-20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矩形 24"/>
          <p:cNvSpPr/>
          <p:nvPr/>
        </p:nvSpPr>
        <p:spPr>
          <a:xfrm>
            <a:off x="2554912" y="251937"/>
            <a:ext cx="42493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5 </a:t>
            </a:r>
            <a:r>
              <a:rPr lang="zh-CN" altLang="en-US" sz="32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二维连续型随机变量</a:t>
            </a:r>
            <a:endParaRPr lang="zh-CN" altLang="en-US" sz="3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27165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8" name="矩形 47"/>
              <p:cNvSpPr/>
              <p:nvPr/>
            </p:nvSpPr>
            <p:spPr>
              <a:xfrm>
                <a:off x="0" y="1023119"/>
                <a:ext cx="9173488" cy="53812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14350" indent="-514350"/>
                <a:r>
                  <a:rPr lang="zh-CN" altLang="en-US" sz="2400" dirty="0" smtClean="0">
                    <a:solidFill>
                      <a:srgbClr val="0000FF"/>
                    </a:solidFill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例</a:t>
                </a:r>
                <a:r>
                  <a:rPr lang="en-US" altLang="zh-CN" sz="2400" dirty="0" smtClean="0">
                    <a:solidFill>
                      <a:srgbClr val="0000FF"/>
                    </a:solidFill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9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. 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设二维随机变量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(X,Y)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的联合密度函数为</a:t>
                </a:r>
                <a:endParaRPr lang="en-US" altLang="zh-CN" sz="2400" dirty="0" smtClean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pPr marL="514350" indent="-51435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楷体" pitchFamily="49" charset="-122"/>
                          <a:cs typeface="Times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itchFamily="49" charset="-122"/>
                              <a:cs typeface="Times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itchFamily="49" charset="-122"/>
                              <a:cs typeface="Times" panose="02020603050405020304" pitchFamily="18" charset="0"/>
                            </a:rPr>
                            <m:t>𝑥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itchFamily="49" charset="-122"/>
                              <a:cs typeface="Times" panose="02020603050405020304" pitchFamily="18" charset="0"/>
                            </a:rPr>
                            <m:t>,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itchFamily="49" charset="-122"/>
                              <a:cs typeface="Times" panose="020206030504050203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楷体" pitchFamily="49" charset="-122"/>
                          <a:cs typeface="Times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itchFamily="49" charset="-122"/>
                              <a:cs typeface="Times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anose="02020603050405020304" pitchFamily="18" charset="0"/>
                                  </a:rPr>
                                  <m:t>𝑘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anose="02020603050405020304" pitchFamily="18" charset="0"/>
                                  </a:rPr>
                                  <m:t>, 0&lt;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≤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𝑦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≤1,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anose="02020603050405020304" pitchFamily="18" charset="0"/>
                                  </a:rPr>
                                  <m:t>0,  </m:t>
                                </m:r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anose="02020603050405020304" pitchFamily="18" charset="0"/>
                                  </a:rPr>
                                  <m:t>其它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anose="02020603050405020304" pitchFamily="18" charset="0"/>
                                  </a:rPr>
                                  <m:t>                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000" dirty="0" smtClean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pPr marL="514350" indent="-514350"/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求：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(1)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常数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k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；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(2) 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随机变量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Y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的边缘密度；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(3)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  <m:t>𝑋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  <m:t>|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  <m:t>𝑌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anose="020206030504050203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anose="020206030504050203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anose="020206030504050203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anose="02020603050405020304" pitchFamily="18" charset="0"/>
                      </a:rPr>
                      <m:t>𝑦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anose="02020603050405020304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；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(4) E(X</a:t>
                </a:r>
                <a:r>
                  <a:rPr lang="en-US" altLang="zh-CN" sz="2400" baseline="300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2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Y)</a:t>
                </a:r>
              </a:p>
              <a:p>
                <a:pPr marL="514350" indent="-514350">
                  <a:lnSpc>
                    <a:spcPct val="50000"/>
                  </a:lnSpc>
                </a:pPr>
                <a:endParaRPr lang="en-US" altLang="zh-CN" sz="2400" dirty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pPr marL="514350" indent="-514350"/>
                <a:r>
                  <a:rPr lang="zh-CN" altLang="en-US" sz="2400" dirty="0" smtClean="0">
                    <a:solidFill>
                      <a:srgbClr val="0000FF"/>
                    </a:solidFill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解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：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(1)</a:t>
                </a:r>
              </a:p>
              <a:p>
                <a:pPr marL="514350" indent="-514350">
                  <a:lnSpc>
                    <a:spcPct val="150000"/>
                  </a:lnSpc>
                </a:pPr>
                <a:endParaRPr lang="en-US" altLang="zh-CN" sz="2400" dirty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pPr marL="514350" indent="-514350"/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        (2) </a:t>
                </a:r>
              </a:p>
              <a:p>
                <a:pPr marL="514350" indent="-514350">
                  <a:lnSpc>
                    <a:spcPct val="200000"/>
                  </a:lnSpc>
                </a:pPr>
                <a:endParaRPr lang="en-US" altLang="zh-CN" sz="2400" dirty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pPr marL="514350" indent="-514350"/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        (3) 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当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0&lt;y&lt;1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时，</a:t>
                </a:r>
                <a:endParaRPr lang="en-US" altLang="zh-CN" sz="2400" dirty="0" smtClean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pPr marL="514350" indent="-514350"/>
                <a:endParaRPr lang="en-US" altLang="zh-CN" sz="2400" dirty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pPr marL="514350" indent="-514350"/>
                <a:endParaRPr lang="en-US" altLang="zh-CN" sz="2400" dirty="0" smtClean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pPr marL="514350" indent="-514350"/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 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       (4)</a:t>
                </a:r>
              </a:p>
            </p:txBody>
          </p:sp>
        </mc:Choice>
        <mc:Fallback xmlns="">
          <p:sp>
            <p:nvSpPr>
              <p:cNvPr id="48" name="矩形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023119"/>
                <a:ext cx="9173488" cy="5381281"/>
              </a:xfrm>
              <a:prstGeom prst="rect">
                <a:avLst/>
              </a:prstGeom>
              <a:blipFill>
                <a:blip r:embed="rId3"/>
                <a:stretch>
                  <a:fillRect l="-997" t="-1246" r="-2060" b="-16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187624" y="2636912"/>
          <a:ext cx="5545480" cy="7813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8166" r:id="rId4" imgW="2768600" imgH="393700" progId="Equation.DSMT4">
                  <p:embed/>
                </p:oleObj>
              </mc:Choice>
              <mc:Fallback>
                <p:oleObj r:id="rId4" imgW="2768600" imgH="393700" progId="Equation.DSMT4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2636912"/>
                        <a:ext cx="5545480" cy="78132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187624" y="3431717"/>
          <a:ext cx="3744416" cy="10774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8167" r:id="rId6" imgW="2019300" imgH="584200" progId="Equation.DSMT4">
                  <p:embed/>
                </p:oleObj>
              </mc:Choice>
              <mc:Fallback>
                <p:oleObj r:id="rId6" imgW="2019300" imgH="584200" progId="Equation.DSMT4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3431717"/>
                        <a:ext cx="3744416" cy="107740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843808" y="4658253"/>
          <a:ext cx="4424526" cy="7869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8168" r:id="rId8" imgW="2413000" imgH="431800" progId="Equation.DSMT4">
                  <p:embed/>
                </p:oleObj>
              </mc:Choice>
              <mc:Fallback>
                <p:oleObj r:id="rId8" imgW="2413000" imgH="431800" progId="Equation.DSMT4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08" y="4658253"/>
                        <a:ext cx="4424526" cy="78697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217930" y="5827716"/>
          <a:ext cx="2994696" cy="6976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8169" r:id="rId10" imgW="1675673" imgH="393529" progId="Equation.DSMT4">
                  <p:embed/>
                </p:oleObj>
              </mc:Choice>
              <mc:Fallback>
                <p:oleObj r:id="rId10" imgW="1675673" imgH="393529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7930" y="5827716"/>
                        <a:ext cx="2994696" cy="69762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/>
          <p:nvPr/>
        </p:nvSpPr>
        <p:spPr>
          <a:xfrm>
            <a:off x="2554912" y="251937"/>
            <a:ext cx="424933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5 </a:t>
            </a:r>
            <a:r>
              <a:rPr lang="zh-CN" altLang="en-US" sz="32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二维连续型随机变量</a:t>
            </a:r>
            <a:endParaRPr lang="zh-CN" altLang="en-US" sz="3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9161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2267744" y="251937"/>
            <a:ext cx="46805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6. </a:t>
            </a:r>
            <a:r>
              <a:rPr lang="zh-CN" altLang="en-US" sz="32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矩估计与极大似然估计</a:t>
            </a:r>
            <a:endParaRPr lang="zh-CN" altLang="en-US" sz="3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323528" y="1052736"/>
            <a:ext cx="8136904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Times" pitchFamily="18" charset="0"/>
                <a:ea typeface="楷体" pitchFamily="49" charset="-122"/>
                <a:cs typeface="Times" pitchFamily="18" charset="0"/>
              </a:rPr>
              <a:t>设总体</a:t>
            </a:r>
            <a:r>
              <a:rPr lang="en-US" altLang="zh-CN" sz="2400" dirty="0">
                <a:latin typeface="Times" pitchFamily="18" charset="0"/>
                <a:ea typeface="楷体" pitchFamily="49" charset="-122"/>
                <a:cs typeface="Times" pitchFamily="18" charset="0"/>
              </a:rPr>
              <a:t>X</a:t>
            </a:r>
            <a:r>
              <a:rPr lang="zh-CN" altLang="en-US" sz="2400" dirty="0">
                <a:latin typeface="Times" pitchFamily="18" charset="0"/>
                <a:ea typeface="楷体" pitchFamily="49" charset="-122"/>
                <a:cs typeface="Times" pitchFamily="18" charset="0"/>
              </a:rPr>
              <a:t>的分布中含有未知参数</a:t>
            </a:r>
            <a:r>
              <a:rPr lang="el-GR" altLang="zh-CN" sz="2400" dirty="0">
                <a:latin typeface="Times" pitchFamily="18" charset="0"/>
                <a:ea typeface="楷体" pitchFamily="49" charset="-122"/>
                <a:cs typeface="Times" pitchFamily="18" charset="0"/>
              </a:rPr>
              <a:t>θ</a:t>
            </a:r>
            <a:r>
              <a:rPr lang="zh-CN" altLang="en-US" sz="2400" dirty="0">
                <a:latin typeface="Times" pitchFamily="18" charset="0"/>
                <a:ea typeface="楷体" pitchFamily="49" charset="-122"/>
                <a:cs typeface="Times" pitchFamily="18" charset="0"/>
              </a:rPr>
              <a:t>，从总体</a:t>
            </a:r>
            <a:r>
              <a:rPr lang="en-US" altLang="zh-CN" sz="2400" dirty="0">
                <a:latin typeface="Times" pitchFamily="18" charset="0"/>
                <a:ea typeface="楷体" pitchFamily="49" charset="-122"/>
                <a:cs typeface="Times" pitchFamily="18" charset="0"/>
              </a:rPr>
              <a:t>X</a:t>
            </a:r>
            <a:r>
              <a:rPr lang="zh-CN" altLang="en-US" sz="2400" dirty="0">
                <a:latin typeface="Times" pitchFamily="18" charset="0"/>
                <a:ea typeface="楷体" pitchFamily="49" charset="-122"/>
                <a:cs typeface="Times" pitchFamily="18" charset="0"/>
              </a:rPr>
              <a:t>中</a:t>
            </a:r>
            <a:r>
              <a:rPr lang="zh-CN" altLang="en-US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抽取</a:t>
            </a:r>
            <a:r>
              <a:rPr lang="en-US" altLang="zh-CN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n</a:t>
            </a:r>
            <a:r>
              <a:rPr lang="zh-CN" altLang="en-US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个</a:t>
            </a:r>
            <a:r>
              <a:rPr lang="zh-CN" altLang="en-US" sz="2400" dirty="0">
                <a:latin typeface="Times" pitchFamily="18" charset="0"/>
                <a:ea typeface="楷体" pitchFamily="49" charset="-122"/>
                <a:cs typeface="Times" pitchFamily="18" charset="0"/>
              </a:rPr>
              <a:t>样本</a:t>
            </a:r>
            <a:r>
              <a:rPr lang="en-US" altLang="zh-CN" sz="2400" dirty="0">
                <a:latin typeface="Times" pitchFamily="18" charset="0"/>
                <a:ea typeface="楷体" pitchFamily="49" charset="-122"/>
                <a:cs typeface="Times" pitchFamily="18" charset="0"/>
              </a:rPr>
              <a:t>X</a:t>
            </a:r>
            <a:r>
              <a:rPr lang="en-US" altLang="zh-CN" sz="2400" baseline="-25000" dirty="0">
                <a:latin typeface="Times" pitchFamily="18" charset="0"/>
                <a:ea typeface="楷体" pitchFamily="49" charset="-122"/>
                <a:cs typeface="Times" pitchFamily="18" charset="0"/>
              </a:rPr>
              <a:t>1</a:t>
            </a:r>
            <a:r>
              <a:rPr lang="en-US" altLang="zh-CN" sz="2400" dirty="0">
                <a:latin typeface="Times" pitchFamily="18" charset="0"/>
                <a:ea typeface="楷体" pitchFamily="49" charset="-122"/>
                <a:cs typeface="Times" pitchFamily="18" charset="0"/>
              </a:rPr>
              <a:t>,X</a:t>
            </a:r>
            <a:r>
              <a:rPr lang="en-US" altLang="zh-CN" sz="2400" baseline="-25000" dirty="0">
                <a:latin typeface="Times" pitchFamily="18" charset="0"/>
                <a:ea typeface="楷体" pitchFamily="49" charset="-122"/>
                <a:cs typeface="Times" pitchFamily="18" charset="0"/>
              </a:rPr>
              <a:t>2</a:t>
            </a:r>
            <a:r>
              <a:rPr lang="en-US" altLang="zh-CN" sz="2400" dirty="0">
                <a:latin typeface="Times" pitchFamily="18" charset="0"/>
                <a:ea typeface="楷体" pitchFamily="49" charset="-122"/>
                <a:cs typeface="Times" pitchFamily="18" charset="0"/>
              </a:rPr>
              <a:t>,…,X</a:t>
            </a:r>
            <a:r>
              <a:rPr lang="en-US" altLang="zh-CN" sz="2400" baseline="-25000" dirty="0">
                <a:latin typeface="Times" pitchFamily="18" charset="0"/>
                <a:ea typeface="楷体" pitchFamily="49" charset="-122"/>
                <a:cs typeface="Times" pitchFamily="18" charset="0"/>
              </a:rPr>
              <a:t>n</a:t>
            </a:r>
            <a:r>
              <a:rPr lang="zh-CN" altLang="en-US" sz="2400" dirty="0">
                <a:latin typeface="Times" pitchFamily="18" charset="0"/>
                <a:ea typeface="楷体" pitchFamily="49" charset="-122"/>
                <a:cs typeface="Times" pitchFamily="18" charset="0"/>
              </a:rPr>
              <a:t>，其观测值为</a:t>
            </a:r>
            <a:r>
              <a:rPr lang="en-US" altLang="zh-CN" sz="2400" dirty="0">
                <a:latin typeface="Times" pitchFamily="18" charset="0"/>
                <a:ea typeface="楷体" pitchFamily="49" charset="-122"/>
                <a:cs typeface="Times" pitchFamily="18" charset="0"/>
              </a:rPr>
              <a:t>x</a:t>
            </a:r>
            <a:r>
              <a:rPr lang="en-US" altLang="zh-CN" sz="2400" baseline="-25000" dirty="0">
                <a:latin typeface="Times" pitchFamily="18" charset="0"/>
                <a:ea typeface="楷体" pitchFamily="49" charset="-122"/>
                <a:cs typeface="Times" pitchFamily="18" charset="0"/>
              </a:rPr>
              <a:t>1</a:t>
            </a:r>
            <a:r>
              <a:rPr lang="en-US" altLang="zh-CN" sz="2400" dirty="0">
                <a:latin typeface="Times" pitchFamily="18" charset="0"/>
                <a:ea typeface="楷体" pitchFamily="49" charset="-122"/>
                <a:cs typeface="Times" pitchFamily="18" charset="0"/>
              </a:rPr>
              <a:t>,x</a:t>
            </a:r>
            <a:r>
              <a:rPr lang="en-US" altLang="zh-CN" sz="2400" baseline="-25000" dirty="0">
                <a:latin typeface="Times" pitchFamily="18" charset="0"/>
                <a:ea typeface="楷体" pitchFamily="49" charset="-122"/>
                <a:cs typeface="Times" pitchFamily="18" charset="0"/>
              </a:rPr>
              <a:t>2</a:t>
            </a:r>
            <a:r>
              <a:rPr lang="en-US" altLang="zh-CN" sz="2400" dirty="0">
                <a:latin typeface="Times" pitchFamily="18" charset="0"/>
                <a:ea typeface="楷体" pitchFamily="49" charset="-122"/>
                <a:cs typeface="Times" pitchFamily="18" charset="0"/>
              </a:rPr>
              <a:t>,…,</a:t>
            </a:r>
            <a:r>
              <a:rPr lang="en-US" altLang="zh-CN" sz="2400" dirty="0" err="1" smtClean="0">
                <a:latin typeface="Times" pitchFamily="18" charset="0"/>
                <a:ea typeface="楷体" pitchFamily="49" charset="-122"/>
                <a:cs typeface="Times" pitchFamily="18" charset="0"/>
              </a:rPr>
              <a:t>x</a:t>
            </a:r>
            <a:r>
              <a:rPr lang="en-US" altLang="zh-CN" sz="2400" baseline="-25000" dirty="0" err="1" smtClean="0">
                <a:latin typeface="Times" pitchFamily="18" charset="0"/>
                <a:ea typeface="楷体" pitchFamily="49" charset="-122"/>
                <a:cs typeface="Times" pitchFamily="18" charset="0"/>
              </a:rPr>
              <a:t>n</a:t>
            </a:r>
            <a:endParaRPr lang="en-US" altLang="zh-CN" sz="2400" baseline="-25000" dirty="0" smtClean="0">
              <a:latin typeface="Times" pitchFamily="18" charset="0"/>
              <a:ea typeface="楷体" pitchFamily="49" charset="-122"/>
              <a:cs typeface="Times" pitchFamily="18" charset="0"/>
            </a:endParaRPr>
          </a:p>
          <a:p>
            <a:endParaRPr lang="en-US" altLang="zh-CN" sz="2400" baseline="-25000" dirty="0" smtClean="0">
              <a:latin typeface="Times" pitchFamily="18" charset="0"/>
              <a:ea typeface="楷体" pitchFamily="49" charset="-122"/>
              <a:cs typeface="Times" pitchFamily="18" charset="0"/>
            </a:endParaRPr>
          </a:p>
          <a:p>
            <a:endParaRPr lang="en-US" altLang="zh-CN" sz="2400" baseline="-25000" dirty="0" smtClean="0">
              <a:latin typeface="Times" pitchFamily="18" charset="0"/>
              <a:ea typeface="楷体" pitchFamily="49" charset="-122"/>
              <a:cs typeface="Times" pitchFamily="18" charset="0"/>
            </a:endParaRPr>
          </a:p>
          <a:p>
            <a:r>
              <a:rPr lang="en-US" altLang="zh-CN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1. </a:t>
            </a:r>
            <a:r>
              <a:rPr lang="zh-CN" altLang="en-US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求</a:t>
            </a:r>
            <a:r>
              <a:rPr lang="el-GR" altLang="zh-CN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θ</a:t>
            </a:r>
            <a:r>
              <a:rPr lang="zh-CN" altLang="en-US" sz="2400" dirty="0">
                <a:latin typeface="Times" pitchFamily="18" charset="0"/>
                <a:ea typeface="楷体" pitchFamily="49" charset="-122"/>
                <a:cs typeface="Times" pitchFamily="18" charset="0"/>
              </a:rPr>
              <a:t>的矩估计</a:t>
            </a:r>
            <a:endParaRPr lang="en-US" altLang="zh-CN" sz="2400" dirty="0" smtClean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grpSp>
        <p:nvGrpSpPr>
          <p:cNvPr id="5" name="组合 10"/>
          <p:cNvGrpSpPr/>
          <p:nvPr/>
        </p:nvGrpSpPr>
        <p:grpSpPr>
          <a:xfrm>
            <a:off x="899592" y="2716337"/>
            <a:ext cx="7704856" cy="928687"/>
            <a:chOff x="467544" y="4760913"/>
            <a:chExt cx="7704856" cy="928687"/>
          </a:xfrm>
        </p:grpSpPr>
        <p:sp>
          <p:nvSpPr>
            <p:cNvPr id="6" name="圆角矩形 5"/>
            <p:cNvSpPr/>
            <p:nvPr/>
          </p:nvSpPr>
          <p:spPr bwMode="auto">
            <a:xfrm>
              <a:off x="467544" y="4797152"/>
              <a:ext cx="7704856" cy="864096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itchFamily="34" charset="0"/>
                <a:buNone/>
                <a:tabLst/>
              </a:pPr>
              <a:r>
                <a:rPr kumimoji="0" lang="zh-CN" altLang="en-US" sz="2800" b="1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楷体" pitchFamily="49" charset="-122"/>
                  <a:ea typeface="楷体" pitchFamily="49" charset="-122"/>
                </a:rPr>
                <a:t>用样本原点矩       来代替总体原点矩</a:t>
              </a:r>
            </a:p>
          </p:txBody>
        </p:sp>
        <p:graphicFrame>
          <p:nvGraphicFramePr>
            <p:cNvPr id="7" name="Object 4"/>
            <p:cNvGraphicFramePr>
              <a:graphicFrameLocks noChangeAspect="1"/>
            </p:cNvGraphicFramePr>
            <p:nvPr/>
          </p:nvGraphicFramePr>
          <p:xfrm>
            <a:off x="2771775" y="4760913"/>
            <a:ext cx="1327150" cy="9286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24096" name="Equation" r:id="rId3" imgW="571320" imgH="431640" progId="Equation.DSMT4">
                    <p:embed/>
                  </p:oleObj>
                </mc:Choice>
                <mc:Fallback>
                  <p:oleObj name="Equation" r:id="rId3" imgW="57132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71775" y="4760913"/>
                          <a:ext cx="1327150" cy="9286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5"/>
            <p:cNvGraphicFramePr>
              <a:graphicFrameLocks noChangeAspect="1"/>
            </p:cNvGraphicFramePr>
            <p:nvPr/>
          </p:nvGraphicFramePr>
          <p:xfrm>
            <a:off x="6804248" y="4976813"/>
            <a:ext cx="1209675" cy="4905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24097" name="Equation" r:id="rId5" imgW="520560" imgH="228600" progId="Equation.DSMT4">
                    <p:embed/>
                  </p:oleObj>
                </mc:Choice>
                <mc:Fallback>
                  <p:oleObj name="Equation" r:id="rId5" imgW="52056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04248" y="4976813"/>
                          <a:ext cx="1209675" cy="4905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Text Box 14"/>
          <p:cNvSpPr txBox="1">
            <a:spLocks noChangeArrowheads="1"/>
          </p:cNvSpPr>
          <p:nvPr/>
        </p:nvSpPr>
        <p:spPr bwMode="auto">
          <a:xfrm>
            <a:off x="395536" y="3675333"/>
            <a:ext cx="7704856" cy="2400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984250" indent="-984250">
              <a:lnSpc>
                <a:spcPct val="90000"/>
              </a:lnSpc>
              <a:spcBef>
                <a:spcPct val="50000"/>
              </a:spcBef>
            </a:pPr>
            <a:r>
              <a:rPr lang="zh-CN" altLang="en-US" sz="28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矩估计法的具体做法如下：</a:t>
            </a:r>
            <a:endParaRPr lang="en-US" altLang="zh-CN" sz="2800" dirty="0" smtClean="0">
              <a:latin typeface="Times" pitchFamily="18" charset="0"/>
              <a:ea typeface="楷体" pitchFamily="49" charset="-122"/>
              <a:cs typeface="Times" pitchFamily="18" charset="0"/>
            </a:endParaRPr>
          </a:p>
          <a:p>
            <a:pPr marL="984250" indent="-984250">
              <a:lnSpc>
                <a:spcPct val="90000"/>
              </a:lnSpc>
              <a:spcBef>
                <a:spcPct val="50000"/>
              </a:spcBef>
            </a:pPr>
            <a:r>
              <a:rPr lang="en-US" altLang="zh-CN" sz="26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(1) </a:t>
            </a:r>
            <a:r>
              <a:rPr lang="zh-CN" altLang="en-US" sz="26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若总体分布函数</a:t>
            </a:r>
            <a:r>
              <a:rPr lang="en-US" altLang="zh-CN" sz="26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F(x;</a:t>
            </a:r>
            <a:r>
              <a:rPr lang="el-GR" altLang="zh-CN" sz="26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θ</a:t>
            </a:r>
            <a:r>
              <a:rPr lang="en-US" altLang="zh-CN" sz="26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)</a:t>
            </a:r>
            <a:r>
              <a:rPr lang="zh-CN" altLang="en-US" sz="26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含有一个未知参数</a:t>
            </a:r>
            <a:r>
              <a:rPr lang="el-GR" altLang="zh-CN" sz="26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θ</a:t>
            </a:r>
            <a:r>
              <a:rPr lang="zh-CN" altLang="en-US" sz="26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，则令</a:t>
            </a:r>
            <a:endParaRPr lang="en-US" altLang="zh-CN" sz="2600" dirty="0" smtClean="0">
              <a:latin typeface="Times" pitchFamily="18" charset="0"/>
              <a:ea typeface="楷体" pitchFamily="49" charset="-122"/>
              <a:cs typeface="Times" pitchFamily="18" charset="0"/>
            </a:endParaRPr>
          </a:p>
          <a:p>
            <a:pPr marL="984250" indent="-984250">
              <a:lnSpc>
                <a:spcPct val="90000"/>
              </a:lnSpc>
              <a:spcBef>
                <a:spcPct val="50000"/>
              </a:spcBef>
            </a:pPr>
            <a:endParaRPr lang="en-US" altLang="zh-CN" sz="2600" dirty="0" smtClean="0">
              <a:latin typeface="Times" pitchFamily="18" charset="0"/>
              <a:ea typeface="楷体" pitchFamily="49" charset="-122"/>
              <a:cs typeface="Times" pitchFamily="18" charset="0"/>
            </a:endParaRPr>
          </a:p>
          <a:p>
            <a:pPr marL="984250" indent="-984250">
              <a:lnSpc>
                <a:spcPct val="0"/>
              </a:lnSpc>
              <a:spcBef>
                <a:spcPct val="50000"/>
              </a:spcBef>
            </a:pPr>
            <a:endParaRPr lang="en-US" altLang="zh-CN" sz="2600" dirty="0" smtClean="0">
              <a:latin typeface="Times" pitchFamily="18" charset="0"/>
              <a:ea typeface="楷体" pitchFamily="49" charset="-122"/>
              <a:cs typeface="Times" pitchFamily="18" charset="0"/>
            </a:endParaRPr>
          </a:p>
          <a:p>
            <a:pPr marL="984250" indent="-984250">
              <a:lnSpc>
                <a:spcPct val="90000"/>
              </a:lnSpc>
              <a:spcBef>
                <a:spcPct val="50000"/>
              </a:spcBef>
            </a:pPr>
            <a:r>
              <a:rPr lang="zh-CN" altLang="en-US" sz="26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解上述方程，得</a:t>
            </a:r>
            <a:r>
              <a:rPr lang="en-US" altLang="zh-CN" sz="26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:</a:t>
            </a:r>
          </a:p>
        </p:txBody>
      </p:sp>
      <p:graphicFrame>
        <p:nvGraphicFramePr>
          <p:cNvPr id="1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3079763"/>
              </p:ext>
            </p:extLst>
          </p:nvPr>
        </p:nvGraphicFramePr>
        <p:xfrm>
          <a:off x="3032373" y="4722741"/>
          <a:ext cx="2547739" cy="8664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4098" name="Equation" r:id="rId7" imgW="1231560" imgH="419040" progId="Equation.3">
                  <p:embed/>
                </p:oleObj>
              </mc:Choice>
              <mc:Fallback>
                <p:oleObj name="Equation" r:id="rId7" imgW="123156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2373" y="4722741"/>
                        <a:ext cx="2547739" cy="8664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7561491"/>
              </p:ext>
            </p:extLst>
          </p:nvPr>
        </p:nvGraphicFramePr>
        <p:xfrm>
          <a:off x="2989262" y="5526930"/>
          <a:ext cx="2935288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4099" name="Equation" r:id="rId9" imgW="1371600" imgH="266400" progId="Equation.3">
                  <p:embed/>
                </p:oleObj>
              </mc:Choice>
              <mc:Fallback>
                <p:oleObj name="Equation" r:id="rId9" imgW="1371600" imgH="26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9262" y="5526930"/>
                        <a:ext cx="2935288" cy="574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34"/>
          <p:cNvSpPr txBox="1">
            <a:spLocks noChangeArrowheads="1"/>
          </p:cNvSpPr>
          <p:nvPr/>
        </p:nvSpPr>
        <p:spPr bwMode="auto">
          <a:xfrm>
            <a:off x="5937250" y="5585668"/>
            <a:ext cx="2883222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600" dirty="0">
                <a:solidFill>
                  <a:srgbClr val="FF0000"/>
                </a:solidFill>
                <a:latin typeface="Times" pitchFamily="18" charset="0"/>
                <a:ea typeface="楷体" pitchFamily="49" charset="-122"/>
                <a:cs typeface="Times" pitchFamily="18" charset="0"/>
              </a:rPr>
              <a:t>—— </a:t>
            </a:r>
            <a:r>
              <a:rPr lang="en-US" altLang="zh-CN" sz="2600" i="1" dirty="0">
                <a:solidFill>
                  <a:srgbClr val="FF0000"/>
                </a:solidFill>
                <a:latin typeface="Times" pitchFamily="18" charset="0"/>
                <a:ea typeface="楷体" pitchFamily="49" charset="-122"/>
                <a:cs typeface="Times" pitchFamily="18" charset="0"/>
              </a:rPr>
              <a:t>θ </a:t>
            </a:r>
            <a:r>
              <a:rPr lang="zh-CN" altLang="en-US" sz="2600" dirty="0">
                <a:solidFill>
                  <a:srgbClr val="FF0000"/>
                </a:solidFill>
                <a:latin typeface="Times" pitchFamily="18" charset="0"/>
                <a:ea typeface="楷体" pitchFamily="49" charset="-122"/>
                <a:cs typeface="Times" pitchFamily="18" charset="0"/>
              </a:rPr>
              <a:t>的矩估计量</a:t>
            </a:r>
          </a:p>
        </p:txBody>
      </p:sp>
      <p:sp>
        <p:nvSpPr>
          <p:cNvPr id="14" name="Text Box 36"/>
          <p:cNvSpPr txBox="1">
            <a:spLocks noChangeArrowheads="1"/>
          </p:cNvSpPr>
          <p:nvPr/>
        </p:nvSpPr>
        <p:spPr bwMode="auto">
          <a:xfrm>
            <a:off x="5980112" y="6252418"/>
            <a:ext cx="2840360" cy="4924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 sz="2600" dirty="0">
                <a:solidFill>
                  <a:srgbClr val="FF0000"/>
                </a:solidFill>
                <a:latin typeface="Times" pitchFamily="18" charset="0"/>
                <a:ea typeface="楷体" pitchFamily="49" charset="-122"/>
                <a:cs typeface="Times" pitchFamily="18" charset="0"/>
              </a:rPr>
              <a:t>—— </a:t>
            </a:r>
            <a:r>
              <a:rPr lang="en-US" altLang="zh-CN" sz="2600" i="1" dirty="0">
                <a:solidFill>
                  <a:srgbClr val="FF0000"/>
                </a:solidFill>
                <a:latin typeface="Times" pitchFamily="18" charset="0"/>
                <a:ea typeface="楷体" pitchFamily="49" charset="-122"/>
                <a:cs typeface="Times" pitchFamily="18" charset="0"/>
              </a:rPr>
              <a:t>θ </a:t>
            </a:r>
            <a:r>
              <a:rPr lang="zh-CN" altLang="en-US" sz="2600" dirty="0">
                <a:solidFill>
                  <a:srgbClr val="FF0000"/>
                </a:solidFill>
                <a:latin typeface="Times" pitchFamily="18" charset="0"/>
                <a:ea typeface="楷体" pitchFamily="49" charset="-122"/>
                <a:cs typeface="Times" pitchFamily="18" charset="0"/>
              </a:rPr>
              <a:t>的矩估计值</a:t>
            </a:r>
          </a:p>
        </p:txBody>
      </p:sp>
      <p:graphicFrame>
        <p:nvGraphicFramePr>
          <p:cNvPr id="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1549978"/>
              </p:ext>
            </p:extLst>
          </p:nvPr>
        </p:nvGraphicFramePr>
        <p:xfrm>
          <a:off x="2989262" y="6238701"/>
          <a:ext cx="2798763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4100" name="Equation" r:id="rId11" imgW="1307880" imgH="266400" progId="Equation.DSMT4">
                  <p:embed/>
                </p:oleObj>
              </mc:Choice>
              <mc:Fallback>
                <p:oleObj name="Equation" r:id="rId11" imgW="130788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9262" y="6238701"/>
                        <a:ext cx="2798763" cy="574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54716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 autoUpdateAnimBg="0"/>
      <p:bldP spid="14" grpId="0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82852" name="Object 4"/>
          <p:cNvGraphicFramePr>
            <a:graphicFrameLocks noChangeAspect="1"/>
          </p:cNvGraphicFramePr>
          <p:nvPr/>
        </p:nvGraphicFramePr>
        <p:xfrm>
          <a:off x="1908423" y="1419228"/>
          <a:ext cx="2546350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6274" name="Equation" r:id="rId3" imgW="1231560" imgH="419040" progId="Equation.DSMT4">
                  <p:embed/>
                </p:oleObj>
              </mc:Choice>
              <mc:Fallback>
                <p:oleObj name="Equation" r:id="rId3" imgW="12315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423" y="1419228"/>
                        <a:ext cx="2546350" cy="866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85927" name="Object 7"/>
          <p:cNvGraphicFramePr>
            <a:graphicFrameLocks noChangeAspect="1"/>
          </p:cNvGraphicFramePr>
          <p:nvPr/>
        </p:nvGraphicFramePr>
        <p:xfrm>
          <a:off x="4645273" y="1419228"/>
          <a:ext cx="207327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6275" name="Equation" r:id="rId5" imgW="1002960" imgH="419040" progId="Equation.DSMT4">
                  <p:embed/>
                </p:oleObj>
              </mc:Choice>
              <mc:Fallback>
                <p:oleObj name="Equation" r:id="rId5" imgW="100296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5273" y="1419228"/>
                        <a:ext cx="2073275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85928" name="Object 8"/>
          <p:cNvGraphicFramePr>
            <a:graphicFrameLocks noChangeAspect="1"/>
          </p:cNvGraphicFramePr>
          <p:nvPr/>
        </p:nvGraphicFramePr>
        <p:xfrm>
          <a:off x="3118842" y="2750790"/>
          <a:ext cx="318135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6276" name="Equation" r:id="rId7" imgW="1511280" imgH="253800" progId="Equation.3">
                  <p:embed/>
                </p:oleObj>
              </mc:Choice>
              <mc:Fallback>
                <p:oleObj name="Equation" r:id="rId7" imgW="151128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8842" y="2750790"/>
                        <a:ext cx="3181350" cy="539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85929" name="Object 9"/>
          <p:cNvGraphicFramePr>
            <a:graphicFrameLocks noChangeAspect="1"/>
          </p:cNvGraphicFramePr>
          <p:nvPr/>
        </p:nvGraphicFramePr>
        <p:xfrm>
          <a:off x="3109317" y="3377853"/>
          <a:ext cx="3186113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6277" name="Equation" r:id="rId9" imgW="1485720" imgH="253800" progId="Equation.3">
                  <p:embed/>
                </p:oleObj>
              </mc:Choice>
              <mc:Fallback>
                <p:oleObj name="Equation" r:id="rId9" imgW="148572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9317" y="3377853"/>
                        <a:ext cx="3186113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85930" name="Object 10"/>
          <p:cNvGraphicFramePr>
            <a:graphicFrameLocks noChangeAspect="1"/>
          </p:cNvGraphicFramePr>
          <p:nvPr/>
        </p:nvGraphicFramePr>
        <p:xfrm>
          <a:off x="3165177" y="4475995"/>
          <a:ext cx="3135015" cy="5687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6278" name="Equation" r:id="rId11" imgW="1396800" imgH="253800" progId="Equation.3">
                  <p:embed/>
                </p:oleObj>
              </mc:Choice>
              <mc:Fallback>
                <p:oleObj name="Equation" r:id="rId11" imgW="13968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5177" y="4475995"/>
                        <a:ext cx="3135015" cy="5687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85931" name="Object 11"/>
          <p:cNvGraphicFramePr>
            <a:graphicFrameLocks noChangeAspect="1"/>
          </p:cNvGraphicFramePr>
          <p:nvPr/>
        </p:nvGraphicFramePr>
        <p:xfrm>
          <a:off x="3131840" y="5066953"/>
          <a:ext cx="3244240" cy="594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6279" name="Equation" r:id="rId13" imgW="1384200" imgH="253800" progId="Equation.3">
                  <p:embed/>
                </p:oleObj>
              </mc:Choice>
              <mc:Fallback>
                <p:oleObj name="Equation" r:id="rId13" imgW="13842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1840" y="5066953"/>
                        <a:ext cx="3244240" cy="59429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4"/>
          <p:cNvSpPr txBox="1">
            <a:spLocks noChangeArrowheads="1"/>
          </p:cNvSpPr>
          <p:nvPr/>
        </p:nvSpPr>
        <p:spPr bwMode="auto">
          <a:xfrm>
            <a:off x="611560" y="1052736"/>
            <a:ext cx="7992888" cy="5697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450850" indent="-450850">
              <a:lnSpc>
                <a:spcPct val="90000"/>
              </a:lnSpc>
              <a:spcBef>
                <a:spcPct val="50000"/>
              </a:spcBef>
            </a:pPr>
            <a:r>
              <a:rPr lang="en-US" altLang="zh-CN" sz="26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(2) </a:t>
            </a:r>
            <a:r>
              <a:rPr lang="zh-CN" altLang="en-US" sz="26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若总体分布函数</a:t>
            </a:r>
            <a:r>
              <a:rPr lang="en-US" altLang="zh-CN" sz="26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F(x;</a:t>
            </a:r>
            <a:r>
              <a:rPr lang="el-GR" altLang="zh-CN" sz="26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θ</a:t>
            </a:r>
            <a:r>
              <a:rPr lang="en-US" altLang="zh-CN" sz="2600" baseline="-250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1</a:t>
            </a:r>
            <a:r>
              <a:rPr lang="en-US" altLang="zh-CN" sz="26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,</a:t>
            </a:r>
            <a:r>
              <a:rPr lang="el-GR" altLang="zh-CN" sz="26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θ</a:t>
            </a:r>
            <a:r>
              <a:rPr lang="en-US" altLang="zh-CN" sz="2600" baseline="-250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2</a:t>
            </a:r>
            <a:r>
              <a:rPr lang="en-US" altLang="zh-CN" sz="26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)</a:t>
            </a:r>
            <a:r>
              <a:rPr lang="zh-CN" altLang="en-US" sz="26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含有一个未知参数</a:t>
            </a:r>
            <a:r>
              <a:rPr lang="el-GR" altLang="zh-CN" sz="26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θ</a:t>
            </a:r>
            <a:r>
              <a:rPr lang="en-US" altLang="zh-CN" sz="2600" baseline="-250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1</a:t>
            </a:r>
            <a:r>
              <a:rPr lang="en-US" altLang="zh-CN" sz="26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,</a:t>
            </a:r>
            <a:r>
              <a:rPr lang="el-GR" altLang="zh-CN" sz="26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θ</a:t>
            </a:r>
            <a:r>
              <a:rPr lang="en-US" altLang="zh-CN" sz="2600" baseline="-250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2</a:t>
            </a:r>
            <a:r>
              <a:rPr lang="zh-CN" altLang="en-US" sz="26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，</a:t>
            </a:r>
            <a:endParaRPr lang="en-US" altLang="zh-CN" sz="2600" dirty="0" smtClean="0">
              <a:latin typeface="Times" pitchFamily="18" charset="0"/>
              <a:ea typeface="楷体" pitchFamily="49" charset="-122"/>
              <a:cs typeface="Times" pitchFamily="18" charset="0"/>
            </a:endParaRPr>
          </a:p>
          <a:p>
            <a:pPr marL="450850" indent="-450850">
              <a:lnSpc>
                <a:spcPct val="90000"/>
              </a:lnSpc>
              <a:spcBef>
                <a:spcPct val="50000"/>
              </a:spcBef>
            </a:pPr>
            <a:r>
              <a:rPr lang="en-US" altLang="zh-CN" sz="26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      </a:t>
            </a:r>
            <a:r>
              <a:rPr lang="zh-CN" altLang="en-US" sz="26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则令</a:t>
            </a:r>
            <a:endParaRPr lang="en-US" altLang="zh-CN" sz="2600" dirty="0" smtClean="0">
              <a:latin typeface="Times" pitchFamily="18" charset="0"/>
              <a:ea typeface="楷体" pitchFamily="49" charset="-122"/>
              <a:cs typeface="Times" pitchFamily="18" charset="0"/>
            </a:endParaRPr>
          </a:p>
          <a:p>
            <a:pPr marL="984250" indent="-984250">
              <a:lnSpc>
                <a:spcPct val="0"/>
              </a:lnSpc>
              <a:spcBef>
                <a:spcPct val="50000"/>
              </a:spcBef>
            </a:pPr>
            <a:endParaRPr lang="en-US" altLang="zh-CN" sz="2600" dirty="0" smtClean="0">
              <a:latin typeface="Times" pitchFamily="18" charset="0"/>
              <a:ea typeface="楷体" pitchFamily="49" charset="-122"/>
              <a:cs typeface="Times" pitchFamily="18" charset="0"/>
            </a:endParaRPr>
          </a:p>
          <a:p>
            <a:pPr marL="984250" indent="-984250">
              <a:lnSpc>
                <a:spcPct val="90000"/>
              </a:lnSpc>
              <a:spcBef>
                <a:spcPct val="50000"/>
              </a:spcBef>
            </a:pPr>
            <a:r>
              <a:rPr lang="zh-CN" altLang="en-US" sz="26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      解方程组，得</a:t>
            </a:r>
            <a:r>
              <a:rPr lang="zh-CN" altLang="en-US" sz="2600" dirty="0" smtClean="0">
                <a:solidFill>
                  <a:srgbClr val="FF0000"/>
                </a:solidFill>
                <a:latin typeface="Times" pitchFamily="18" charset="0"/>
                <a:ea typeface="楷体" pitchFamily="49" charset="-122"/>
                <a:cs typeface="Times" pitchFamily="18" charset="0"/>
              </a:rPr>
              <a:t>矩估计量</a:t>
            </a:r>
            <a:r>
              <a:rPr lang="zh-CN" altLang="en-US" sz="26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为</a:t>
            </a:r>
            <a:r>
              <a:rPr lang="en-US" altLang="zh-CN" sz="26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:</a:t>
            </a:r>
          </a:p>
          <a:p>
            <a:pPr marL="984250" indent="-984250">
              <a:lnSpc>
                <a:spcPct val="90000"/>
              </a:lnSpc>
              <a:spcBef>
                <a:spcPct val="50000"/>
              </a:spcBef>
            </a:pPr>
            <a:endParaRPr lang="en-US" altLang="zh-CN" sz="2600" dirty="0" smtClean="0">
              <a:latin typeface="Times" pitchFamily="18" charset="0"/>
              <a:ea typeface="楷体" pitchFamily="49" charset="-122"/>
              <a:cs typeface="Times" pitchFamily="18" charset="0"/>
            </a:endParaRPr>
          </a:p>
          <a:p>
            <a:pPr marL="984250" indent="-984250">
              <a:lnSpc>
                <a:spcPct val="90000"/>
              </a:lnSpc>
              <a:spcBef>
                <a:spcPct val="50000"/>
              </a:spcBef>
            </a:pPr>
            <a:endParaRPr lang="en-US" altLang="zh-CN" sz="2600" dirty="0" smtClean="0">
              <a:latin typeface="Times" pitchFamily="18" charset="0"/>
              <a:ea typeface="楷体" pitchFamily="49" charset="-122"/>
              <a:cs typeface="Times" pitchFamily="18" charset="0"/>
            </a:endParaRPr>
          </a:p>
          <a:p>
            <a:pPr marL="984250" indent="-984250">
              <a:lnSpc>
                <a:spcPct val="90000"/>
              </a:lnSpc>
              <a:spcBef>
                <a:spcPct val="50000"/>
              </a:spcBef>
            </a:pPr>
            <a:r>
              <a:rPr lang="en-US" altLang="zh-CN" sz="26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      </a:t>
            </a:r>
            <a:r>
              <a:rPr lang="zh-CN" altLang="en-US" sz="26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其</a:t>
            </a:r>
            <a:r>
              <a:rPr lang="zh-CN" altLang="en-US" sz="2600" dirty="0" smtClean="0">
                <a:solidFill>
                  <a:srgbClr val="FF0000"/>
                </a:solidFill>
                <a:latin typeface="Times" pitchFamily="18" charset="0"/>
                <a:ea typeface="楷体" pitchFamily="49" charset="-122"/>
                <a:cs typeface="Times" pitchFamily="18" charset="0"/>
              </a:rPr>
              <a:t>矩估计值</a:t>
            </a:r>
            <a:r>
              <a:rPr lang="zh-CN" altLang="en-US" sz="26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为：</a:t>
            </a:r>
            <a:endParaRPr lang="en-US" altLang="zh-CN" sz="2600" dirty="0" smtClean="0">
              <a:latin typeface="Times" pitchFamily="18" charset="0"/>
              <a:ea typeface="楷体" pitchFamily="49" charset="-122"/>
              <a:cs typeface="Times" pitchFamily="18" charset="0"/>
            </a:endParaRPr>
          </a:p>
          <a:p>
            <a:pPr marL="984250" indent="-984250">
              <a:lnSpc>
                <a:spcPct val="90000"/>
              </a:lnSpc>
              <a:spcBef>
                <a:spcPct val="50000"/>
              </a:spcBef>
            </a:pPr>
            <a:endParaRPr lang="en-US" altLang="zh-CN" sz="2600" dirty="0" smtClean="0">
              <a:latin typeface="Times" pitchFamily="18" charset="0"/>
              <a:ea typeface="楷体" pitchFamily="49" charset="-122"/>
              <a:cs typeface="Times" pitchFamily="18" charset="0"/>
            </a:endParaRPr>
          </a:p>
          <a:p>
            <a:pPr marL="984250" indent="-984250">
              <a:lnSpc>
                <a:spcPct val="90000"/>
              </a:lnSpc>
              <a:spcBef>
                <a:spcPct val="50000"/>
              </a:spcBef>
            </a:pPr>
            <a:endParaRPr lang="en-US" altLang="zh-CN" sz="2600" dirty="0" smtClean="0">
              <a:latin typeface="Times" pitchFamily="18" charset="0"/>
              <a:ea typeface="楷体" pitchFamily="49" charset="-122"/>
              <a:cs typeface="Times" pitchFamily="18" charset="0"/>
            </a:endParaRPr>
          </a:p>
          <a:p>
            <a:pPr marL="984250" indent="-984250">
              <a:lnSpc>
                <a:spcPct val="90000"/>
              </a:lnSpc>
              <a:spcBef>
                <a:spcPct val="50000"/>
              </a:spcBef>
            </a:pPr>
            <a:endParaRPr lang="en-US" altLang="zh-CN" sz="2600" dirty="0" smtClean="0">
              <a:latin typeface="Times" pitchFamily="18" charset="0"/>
              <a:ea typeface="楷体" pitchFamily="49" charset="-122"/>
              <a:cs typeface="Times" pitchFamily="18" charset="0"/>
            </a:endParaRPr>
          </a:p>
          <a:p>
            <a:pPr marL="984250" indent="-984250">
              <a:lnSpc>
                <a:spcPct val="90000"/>
              </a:lnSpc>
              <a:spcBef>
                <a:spcPct val="50000"/>
              </a:spcBef>
            </a:pPr>
            <a:r>
              <a:rPr lang="en-US" altLang="zh-CN" sz="26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(3) </a:t>
            </a:r>
            <a:r>
              <a:rPr lang="zh-CN" altLang="en-US" sz="26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同理，可推至有限个未知参数的情形。</a:t>
            </a:r>
            <a:endParaRPr lang="en-US" altLang="zh-CN" sz="2600" dirty="0" smtClean="0">
              <a:latin typeface="Times" pitchFamily="18" charset="0"/>
              <a:ea typeface="楷体" pitchFamily="49" charset="-122"/>
              <a:cs typeface="Times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267744" y="251937"/>
            <a:ext cx="46805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6. </a:t>
            </a:r>
            <a:r>
              <a:rPr lang="zh-CN" altLang="en-US" sz="32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矩估计与极大似然估计</a:t>
            </a:r>
            <a:endParaRPr lang="zh-CN" altLang="en-US" sz="3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23729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2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82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85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85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385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385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385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323528" y="1052736"/>
            <a:ext cx="8136904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2. </a:t>
            </a:r>
            <a:r>
              <a:rPr lang="zh-CN" altLang="en-US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求</a:t>
            </a:r>
            <a:r>
              <a:rPr lang="el-GR" altLang="zh-CN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θ</a:t>
            </a:r>
            <a:r>
              <a:rPr lang="zh-CN" altLang="en-US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的极大似然估计</a:t>
            </a:r>
            <a:endParaRPr lang="en-US" altLang="zh-CN" sz="2400" dirty="0" smtClean="0">
              <a:latin typeface="Times" pitchFamily="18" charset="0"/>
              <a:ea typeface="楷体" pitchFamily="49" charset="-122"/>
              <a:cs typeface="Times" pitchFamily="18" charset="0"/>
            </a:endParaRPr>
          </a:p>
          <a:p>
            <a:r>
              <a:rPr lang="en-US" altLang="zh-CN" sz="2400" dirty="0">
                <a:latin typeface="Times" pitchFamily="18" charset="0"/>
                <a:ea typeface="楷体" pitchFamily="49" charset="-122"/>
                <a:cs typeface="Times" pitchFamily="18" charset="0"/>
              </a:rPr>
              <a:t> </a:t>
            </a:r>
            <a:r>
              <a:rPr lang="en-US" altLang="zh-CN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   (1)</a:t>
            </a:r>
            <a:r>
              <a:rPr lang="zh-CN" altLang="en-US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构造似然函数</a:t>
            </a:r>
            <a:endParaRPr lang="en-US" altLang="zh-CN" sz="2400" dirty="0" smtClean="0">
              <a:latin typeface="Times" pitchFamily="18" charset="0"/>
              <a:ea typeface="楷体" pitchFamily="49" charset="-122"/>
              <a:cs typeface="Times" pitchFamily="18" charset="0"/>
            </a:endParaRPr>
          </a:p>
          <a:p>
            <a:endParaRPr lang="en-US" altLang="zh-CN" sz="2400" dirty="0">
              <a:latin typeface="Times" pitchFamily="18" charset="0"/>
              <a:ea typeface="楷体" pitchFamily="49" charset="-122"/>
              <a:cs typeface="Times" pitchFamily="18" charset="0"/>
            </a:endParaRPr>
          </a:p>
          <a:p>
            <a:endParaRPr lang="en-US" altLang="zh-CN" sz="2400" dirty="0" smtClean="0">
              <a:latin typeface="Times" pitchFamily="18" charset="0"/>
              <a:ea typeface="楷体" pitchFamily="49" charset="-122"/>
              <a:cs typeface="Times" pitchFamily="18" charset="0"/>
            </a:endParaRPr>
          </a:p>
          <a:p>
            <a:endParaRPr lang="en-US" altLang="zh-CN" sz="2400" dirty="0">
              <a:latin typeface="Times" pitchFamily="18" charset="0"/>
              <a:ea typeface="楷体" pitchFamily="49" charset="-122"/>
              <a:cs typeface="Times" pitchFamily="18" charset="0"/>
            </a:endParaRPr>
          </a:p>
          <a:p>
            <a:endParaRPr lang="en-US" altLang="zh-CN" sz="2400" dirty="0" smtClean="0">
              <a:latin typeface="Times" pitchFamily="18" charset="0"/>
              <a:ea typeface="楷体" pitchFamily="49" charset="-122"/>
              <a:cs typeface="Times" pitchFamily="18" charset="0"/>
            </a:endParaRPr>
          </a:p>
          <a:p>
            <a:r>
              <a:rPr lang="en-US" altLang="zh-CN" sz="2400" dirty="0">
                <a:latin typeface="Times" pitchFamily="18" charset="0"/>
                <a:ea typeface="楷体" pitchFamily="49" charset="-122"/>
                <a:cs typeface="Times" pitchFamily="18" charset="0"/>
              </a:rPr>
              <a:t> </a:t>
            </a:r>
            <a:r>
              <a:rPr lang="en-US" altLang="zh-CN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    (2)</a:t>
            </a:r>
            <a:r>
              <a:rPr lang="zh-CN" altLang="en-US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似然函数取对数</a:t>
            </a:r>
            <a:endParaRPr lang="en-US" altLang="zh-CN" sz="2400" dirty="0" smtClean="0">
              <a:latin typeface="Times" pitchFamily="18" charset="0"/>
              <a:ea typeface="楷体" pitchFamily="49" charset="-122"/>
              <a:cs typeface="Times" pitchFamily="18" charset="0"/>
            </a:endParaRPr>
          </a:p>
          <a:p>
            <a:r>
              <a:rPr lang="en-US" altLang="zh-CN" sz="2400" dirty="0">
                <a:latin typeface="Times" pitchFamily="18" charset="0"/>
                <a:ea typeface="楷体" pitchFamily="49" charset="-122"/>
                <a:cs typeface="Times" pitchFamily="18" charset="0"/>
              </a:rPr>
              <a:t> </a:t>
            </a:r>
            <a:r>
              <a:rPr lang="en-US" altLang="zh-CN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      </a:t>
            </a:r>
          </a:p>
          <a:p>
            <a:r>
              <a:rPr lang="en-US" altLang="zh-CN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  </a:t>
            </a:r>
          </a:p>
          <a:p>
            <a:endParaRPr lang="en-US" altLang="zh-CN" sz="2400" dirty="0">
              <a:latin typeface="Times" pitchFamily="18" charset="0"/>
              <a:ea typeface="楷体" pitchFamily="49" charset="-122"/>
              <a:cs typeface="Times" pitchFamily="18" charset="0"/>
            </a:endParaRPr>
          </a:p>
          <a:p>
            <a:r>
              <a:rPr lang="en-US" altLang="zh-CN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     (3)</a:t>
            </a:r>
            <a:r>
              <a:rPr lang="zh-CN" altLang="en-US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求导等于零</a:t>
            </a:r>
            <a:endParaRPr lang="en-US" altLang="zh-CN" sz="2400" dirty="0" smtClean="0">
              <a:latin typeface="Times" pitchFamily="18" charset="0"/>
              <a:ea typeface="楷体" pitchFamily="49" charset="-122"/>
              <a:cs typeface="Times" pitchFamily="18" charset="0"/>
            </a:endParaRPr>
          </a:p>
          <a:p>
            <a:pPr>
              <a:lnSpc>
                <a:spcPct val="80000"/>
              </a:lnSpc>
            </a:pPr>
            <a:endParaRPr lang="en-US" altLang="zh-CN" sz="2400" dirty="0">
              <a:latin typeface="Times" pitchFamily="18" charset="0"/>
              <a:ea typeface="楷体" pitchFamily="49" charset="-122"/>
              <a:cs typeface="Times" pitchFamily="18" charset="0"/>
            </a:endParaRPr>
          </a:p>
          <a:p>
            <a:r>
              <a:rPr lang="en-US" altLang="zh-CN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                                               </a:t>
            </a:r>
            <a:r>
              <a:rPr lang="zh-CN" altLang="en-US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的极大似然估计值为</a:t>
            </a:r>
            <a:endParaRPr lang="en-US" altLang="zh-CN" sz="2400" dirty="0" smtClean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4036041"/>
              </p:ext>
            </p:extLst>
          </p:nvPr>
        </p:nvGraphicFramePr>
        <p:xfrm>
          <a:off x="1115616" y="1673208"/>
          <a:ext cx="2389187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9539" r:id="rId3" imgW="2389320" imgH="813960" progId="">
                  <p:embed/>
                </p:oleObj>
              </mc:Choice>
              <mc:Fallback>
                <p:oleObj r:id="rId3" imgW="2389320" imgH="813960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15616" y="1673208"/>
                        <a:ext cx="2389187" cy="814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5561129"/>
              </p:ext>
            </p:extLst>
          </p:nvPr>
        </p:nvGraphicFramePr>
        <p:xfrm>
          <a:off x="4846371" y="1628800"/>
          <a:ext cx="2533941" cy="9151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9540" name="Equation" r:id="rId5" imgW="1193760" imgH="431640" progId="Equation.DSMT4">
                  <p:embed/>
                </p:oleObj>
              </mc:Choice>
              <mc:Fallback>
                <p:oleObj name="Equation" r:id="rId5" imgW="11937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6371" y="1628800"/>
                        <a:ext cx="2533941" cy="91519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圆角矩形标注 2"/>
          <p:cNvSpPr/>
          <p:nvPr/>
        </p:nvSpPr>
        <p:spPr bwMode="auto">
          <a:xfrm>
            <a:off x="179512" y="2543993"/>
            <a:ext cx="3325291" cy="564073"/>
          </a:xfrm>
          <a:prstGeom prst="wedgeRoundRectCallout">
            <a:avLst>
              <a:gd name="adj1" fmla="val -14343"/>
              <a:gd name="adj2" fmla="val -84033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总体是离散型随机变量</a:t>
            </a:r>
          </a:p>
        </p:txBody>
      </p:sp>
      <p:sp>
        <p:nvSpPr>
          <p:cNvPr id="18" name="圆角矩形标注 17"/>
          <p:cNvSpPr/>
          <p:nvPr/>
        </p:nvSpPr>
        <p:spPr bwMode="auto">
          <a:xfrm>
            <a:off x="4199037" y="2545200"/>
            <a:ext cx="3325291" cy="564073"/>
          </a:xfrm>
          <a:prstGeom prst="wedgeRoundRectCallout">
            <a:avLst>
              <a:gd name="adj1" fmla="val -14343"/>
              <a:gd name="adj2" fmla="val -84033"/>
              <a:gd name="adj3" fmla="val 16667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r>
              <a:rPr kumimoji="0" lang="zh-CN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</a:rPr>
              <a:t>总体是连续型随机变量</a:t>
            </a:r>
          </a:p>
        </p:txBody>
      </p:sp>
      <p:graphicFrame>
        <p:nvGraphicFramePr>
          <p:cNvPr id="20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7569613"/>
              </p:ext>
            </p:extLst>
          </p:nvPr>
        </p:nvGraphicFramePr>
        <p:xfrm>
          <a:off x="1176536" y="3613150"/>
          <a:ext cx="2819400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9541" name="Equation" r:id="rId7" imgW="1244520" imgH="368280" progId="Equation.DSMT4">
                  <p:embed/>
                </p:oleObj>
              </mc:Choice>
              <mc:Fallback>
                <p:oleObj name="Equation" r:id="rId7" imgW="124452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6536" y="3613150"/>
                        <a:ext cx="2819400" cy="844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1816280"/>
              </p:ext>
            </p:extLst>
          </p:nvPr>
        </p:nvGraphicFramePr>
        <p:xfrm>
          <a:off x="4702175" y="3614400"/>
          <a:ext cx="2847975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9542" name="Equation" r:id="rId9" imgW="1257120" imgH="368280" progId="Equation.DSMT4">
                  <p:embed/>
                </p:oleObj>
              </mc:Choice>
              <mc:Fallback>
                <p:oleObj name="Equation" r:id="rId9" imgW="1257120" imgH="368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2175" y="3614400"/>
                        <a:ext cx="2847975" cy="844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7154127"/>
              </p:ext>
            </p:extLst>
          </p:nvPr>
        </p:nvGraphicFramePr>
        <p:xfrm>
          <a:off x="1187624" y="5189538"/>
          <a:ext cx="1656184" cy="793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9543" name="Equation" r:id="rId11" imgW="723600" imgH="342720" progId="Equation.DSMT4">
                  <p:embed/>
                </p:oleObj>
              </mc:Choice>
              <mc:Fallback>
                <p:oleObj name="Equation" r:id="rId11" imgW="72360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5189538"/>
                        <a:ext cx="1656184" cy="79362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/>
          <p:cNvGrpSpPr/>
          <p:nvPr/>
        </p:nvGrpSpPr>
        <p:grpSpPr>
          <a:xfrm>
            <a:off x="6660232" y="5373216"/>
            <a:ext cx="2449251" cy="501109"/>
            <a:chOff x="4283968" y="5432400"/>
            <a:chExt cx="2449251" cy="501109"/>
          </a:xfrm>
        </p:grpSpPr>
        <p:graphicFrame>
          <p:nvGraphicFramePr>
            <p:cNvPr id="24" name="Object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4482422"/>
                </p:ext>
              </p:extLst>
            </p:nvPr>
          </p:nvGraphicFramePr>
          <p:xfrm>
            <a:off x="4283968" y="5432400"/>
            <a:ext cx="265113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9544" name="Equation" r:id="rId13" imgW="139680" imgH="228600" progId="Equation.3">
                    <p:embed/>
                  </p:oleObj>
                </mc:Choice>
                <mc:Fallback>
                  <p:oleObj name="Equation" r:id="rId13" imgW="13968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83968" y="5432400"/>
                          <a:ext cx="265113" cy="431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Object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31689059"/>
                </p:ext>
              </p:extLst>
            </p:nvPr>
          </p:nvGraphicFramePr>
          <p:xfrm>
            <a:off x="4768283" y="5433447"/>
            <a:ext cx="265113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9545" name="Equation" r:id="rId15" imgW="139680" imgH="228600" progId="Equation.3">
                    <p:embed/>
                  </p:oleObj>
                </mc:Choice>
                <mc:Fallback>
                  <p:oleObj name="Equation" r:id="rId15" imgW="139680" imgH="228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8283" y="5433447"/>
                          <a:ext cx="265113" cy="4318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60531084"/>
                </p:ext>
              </p:extLst>
            </p:nvPr>
          </p:nvGraphicFramePr>
          <p:xfrm>
            <a:off x="4990144" y="5492184"/>
            <a:ext cx="1743075" cy="4413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9546" name="Equation" r:id="rId16" imgW="761760" imgH="190440" progId="Equation.DSMT4">
                    <p:embed/>
                  </p:oleObj>
                </mc:Choice>
                <mc:Fallback>
                  <p:oleObj name="Equation" r:id="rId16" imgW="761760" imgH="1904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0144" y="5492184"/>
                          <a:ext cx="1743075" cy="44132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03770619"/>
                </p:ext>
              </p:extLst>
            </p:nvPr>
          </p:nvGraphicFramePr>
          <p:xfrm>
            <a:off x="4499992" y="5561003"/>
            <a:ext cx="290513" cy="2349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99547" name="Equation" r:id="rId18" imgW="126720" imgH="101520" progId="Equation.DSMT4">
                    <p:embed/>
                  </p:oleObj>
                </mc:Choice>
                <mc:Fallback>
                  <p:oleObj name="Equation" r:id="rId18" imgW="126720" imgH="1015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99992" y="5561003"/>
                          <a:ext cx="290513" cy="23495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0" name="右箭头 29"/>
          <p:cNvSpPr/>
          <p:nvPr/>
        </p:nvSpPr>
        <p:spPr bwMode="auto">
          <a:xfrm>
            <a:off x="2915816" y="5445224"/>
            <a:ext cx="864096" cy="285209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graphicFrame>
        <p:nvGraphicFramePr>
          <p:cNvPr id="3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5418669"/>
              </p:ext>
            </p:extLst>
          </p:nvPr>
        </p:nvGraphicFramePr>
        <p:xfrm>
          <a:off x="3777431" y="5445224"/>
          <a:ext cx="290513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9548" name="Equation" r:id="rId20" imgW="126720" imgH="152280" progId="Equation.DSMT4">
                  <p:embed/>
                </p:oleObj>
              </mc:Choice>
              <mc:Fallback>
                <p:oleObj name="Equation" r:id="rId20" imgW="126720" imgH="152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7431" y="5445224"/>
                        <a:ext cx="290513" cy="3524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/>
          <p:cNvSpPr/>
          <p:nvPr/>
        </p:nvSpPr>
        <p:spPr>
          <a:xfrm>
            <a:off x="2267744" y="251937"/>
            <a:ext cx="46805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6. </a:t>
            </a:r>
            <a:r>
              <a:rPr lang="zh-CN" altLang="en-US" sz="32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矩估计与极大似然估计</a:t>
            </a:r>
            <a:endParaRPr lang="zh-CN" altLang="en-US" sz="3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5499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251520" y="1052736"/>
            <a:ext cx="8784976" cy="90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>
                <a:solidFill>
                  <a:srgbClr val="0000FF"/>
                </a:solidFill>
                <a:latin typeface="Times" pitchFamily="18" charset="0"/>
                <a:ea typeface="楷体" pitchFamily="49" charset="-122"/>
                <a:cs typeface="Times" pitchFamily="18" charset="0"/>
              </a:rPr>
              <a:t>例</a:t>
            </a:r>
            <a:r>
              <a:rPr lang="en-US" altLang="zh-CN" sz="2400" dirty="0" smtClean="0">
                <a:solidFill>
                  <a:srgbClr val="0000FF"/>
                </a:solidFill>
                <a:latin typeface="Times" pitchFamily="18" charset="0"/>
                <a:ea typeface="楷体" pitchFamily="49" charset="-122"/>
                <a:cs typeface="Times" pitchFamily="18" charset="0"/>
              </a:rPr>
              <a:t>10</a:t>
            </a:r>
            <a:r>
              <a:rPr lang="en-US" altLang="zh-CN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.</a:t>
            </a:r>
            <a:r>
              <a:rPr lang="zh-CN" altLang="en-US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设随机变量</a:t>
            </a:r>
            <a:r>
              <a:rPr lang="en-US" altLang="zh-CN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X</a:t>
            </a:r>
            <a:r>
              <a:rPr lang="zh-CN" altLang="en-US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服从二项分布</a:t>
            </a:r>
            <a:r>
              <a:rPr lang="en-US" altLang="zh-CN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B(</a:t>
            </a:r>
            <a:r>
              <a:rPr lang="en-US" altLang="zh-CN" sz="2400" dirty="0" err="1" smtClean="0">
                <a:latin typeface="Times" pitchFamily="18" charset="0"/>
                <a:ea typeface="楷体" pitchFamily="49" charset="-122"/>
                <a:cs typeface="Times" pitchFamily="18" charset="0"/>
              </a:rPr>
              <a:t>n,p</a:t>
            </a:r>
            <a:r>
              <a:rPr lang="en-US" altLang="zh-CN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)</a:t>
            </a:r>
            <a:r>
              <a:rPr lang="zh-CN" altLang="en-US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，</a:t>
            </a:r>
            <a:r>
              <a:rPr lang="en-US" altLang="zh-CN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X</a:t>
            </a:r>
            <a:r>
              <a:rPr lang="en-US" altLang="zh-CN" sz="2400" baseline="-250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1</a:t>
            </a:r>
            <a:r>
              <a:rPr lang="en-US" altLang="zh-CN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,X</a:t>
            </a:r>
            <a:r>
              <a:rPr lang="en-US" altLang="zh-CN" sz="2400" baseline="-250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2</a:t>
            </a:r>
            <a:r>
              <a:rPr lang="en-US" altLang="zh-CN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,…,X</a:t>
            </a:r>
            <a:r>
              <a:rPr lang="en-US" altLang="zh-CN" sz="2400" baseline="-250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n</a:t>
            </a:r>
            <a:r>
              <a:rPr lang="zh-CN" altLang="en-US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是其简单随机样本，求：</a:t>
            </a:r>
            <a:r>
              <a:rPr lang="en-US" altLang="zh-CN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(1)</a:t>
            </a:r>
            <a:r>
              <a:rPr lang="zh-CN" altLang="en-US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参数</a:t>
            </a:r>
            <a:r>
              <a:rPr lang="en-US" altLang="zh-CN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p</a:t>
            </a:r>
            <a:r>
              <a:rPr lang="zh-CN" altLang="en-US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的矩估计；</a:t>
            </a:r>
            <a:r>
              <a:rPr lang="en-US" altLang="zh-CN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(2)</a:t>
            </a:r>
            <a:r>
              <a:rPr lang="zh-CN" altLang="en-US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参数</a:t>
            </a:r>
            <a:r>
              <a:rPr lang="en-US" altLang="zh-CN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p</a:t>
            </a:r>
            <a:r>
              <a:rPr lang="zh-CN" altLang="en-US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的极大似然估计。</a:t>
            </a:r>
            <a:endParaRPr lang="en-US" altLang="zh-CN" sz="2400" dirty="0" smtClean="0">
              <a:latin typeface="Times" pitchFamily="18" charset="0"/>
              <a:ea typeface="楷体" pitchFamily="49" charset="-122"/>
              <a:cs typeface="Times" pitchFamily="18" charset="0"/>
            </a:endParaRPr>
          </a:p>
          <a:p>
            <a:pPr>
              <a:lnSpc>
                <a:spcPct val="20000"/>
              </a:lnSpc>
            </a:pPr>
            <a:endParaRPr lang="en-US" altLang="zh-CN" sz="2400" dirty="0">
              <a:latin typeface="Times" pitchFamily="18" charset="0"/>
              <a:ea typeface="楷体" pitchFamily="49" charset="-122"/>
              <a:cs typeface="Times" pitchFamily="18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267744" y="251937"/>
            <a:ext cx="46805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6. </a:t>
            </a:r>
            <a:r>
              <a:rPr lang="zh-CN" altLang="en-US" sz="32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矩估计与极大似然估计</a:t>
            </a:r>
            <a:endParaRPr lang="zh-CN" altLang="en-US" sz="3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02871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251520" y="1052736"/>
                <a:ext cx="8784976" cy="18412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例</a:t>
                </a:r>
                <a:r>
                  <a:rPr lang="en-US" altLang="zh-CN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10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.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设随机变量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服从二项分布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B(</a:t>
                </a:r>
                <a:r>
                  <a:rPr lang="en-US" altLang="zh-CN" sz="2400" dirty="0" err="1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n,p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)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，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</a:t>
                </a:r>
                <a:r>
                  <a:rPr lang="en-US" altLang="zh-CN" sz="2400" baseline="-25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1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,X</a:t>
                </a:r>
                <a:r>
                  <a:rPr lang="en-US" altLang="zh-CN" sz="2400" baseline="-25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2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,…,X</a:t>
                </a:r>
                <a:r>
                  <a:rPr lang="en-US" altLang="zh-CN" sz="2400" baseline="-25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n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是其简单随机样本，求：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(1)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参数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p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的矩估计；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(2)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参数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p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的极大似然估计。</a:t>
                </a: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>
                  <a:lnSpc>
                    <a:spcPct val="20000"/>
                  </a:lnSpc>
                </a:pPr>
                <a:endParaRPr lang="en-US" altLang="zh-CN" sz="2400" dirty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r>
                  <a:rPr lang="zh-CN" altLang="en-US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解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：      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𝑋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=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𝑘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𝑘</m:t>
                        </m:r>
                      </m:sup>
                    </m:sSubSup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𝑘</m:t>
                        </m:r>
                      </m:sup>
                    </m:sSup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(1−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𝑝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𝑛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−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, 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=0,1,2,…,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𝑛</m:t>
                    </m:r>
                  </m:oMath>
                </a14:m>
                <a:endParaRPr lang="en-US" altLang="zh-CN" sz="2400" dirty="0" smtClean="0">
                  <a:latin typeface="Times New Roman" pitchFamily="18" charset="0"/>
                  <a:ea typeface="楷体" pitchFamily="49" charset="-122"/>
                  <a:cs typeface="Times New Roman" pitchFamily="18" charset="0"/>
                </a:endParaRPr>
              </a:p>
              <a:p>
                <a:pPr marL="457200" indent="-457200">
                  <a:buAutoNum type="arabicParenBoth"/>
                </a:pPr>
                <a:r>
                  <a:rPr lang="zh-CN" altLang="en-US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令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 New Roman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 New Roman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 New Roman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 New Roman" pitchFamily="18" charset="0"/>
                      </a:rPr>
                      <m:t>𝐸𝑋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 New Roman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 New Roman" pitchFamily="18" charset="0"/>
                      </a:rPr>
                      <m:t>𝑛𝑝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楷体" pitchFamily="49" charset="-122"/>
                        <a:cs typeface="Times New Roman" pitchFamily="18" charset="0"/>
                      </a:rPr>
                      <m:t>，</m:t>
                    </m:r>
                    <m:r>
                      <a:rPr lang="zh-CN" altLang="en-US" sz="2400" i="1" smtClean="0">
                        <a:latin typeface="Cambria Math" panose="02040503050406030204" pitchFamily="18" charset="0"/>
                        <a:ea typeface="楷体" pitchFamily="49" charset="-122"/>
                        <a:cs typeface="Times New Roman" pitchFamily="18" charset="0"/>
                      </a:rPr>
                      <m:t>解得</m:t>
                    </m:r>
                  </m:oMath>
                </a14:m>
                <a:r>
                  <a:rPr lang="en-US" altLang="zh-CN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p</a:t>
                </a:r>
                <a:r>
                  <a:rPr lang="zh-CN" altLang="en-US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的矩估计量为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sz="240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</m:ctrlPr>
                      </m:acc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𝑝</m:t>
                        </m:r>
                      </m:e>
                    </m:acc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 New Roman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 New Roman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 New Roman" pitchFamily="18" charset="0"/>
                              </a:rPr>
                              <m:t>𝑋</m:t>
                            </m:r>
                          </m:e>
                        </m:acc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n-US" altLang="zh-CN" sz="2400" dirty="0" smtClean="0">
                  <a:latin typeface="Times New Roman" pitchFamily="18" charset="0"/>
                  <a:ea typeface="楷体" pitchFamily="49" charset="-122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052736"/>
                <a:ext cx="8784976" cy="1841210"/>
              </a:xfrm>
              <a:prstGeom prst="rect">
                <a:avLst/>
              </a:prstGeom>
              <a:blipFill>
                <a:blip r:embed="rId2"/>
                <a:stretch>
                  <a:fillRect l="-1041" t="-3642" b="-23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2267744" y="251937"/>
            <a:ext cx="46805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6. </a:t>
            </a:r>
            <a:r>
              <a:rPr lang="zh-CN" altLang="en-US" sz="32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矩估计与极大似然估计</a:t>
            </a:r>
            <a:endParaRPr lang="zh-CN" altLang="en-US" sz="3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46823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7" name="矩形 46"/>
              <p:cNvSpPr/>
              <p:nvPr/>
            </p:nvSpPr>
            <p:spPr>
              <a:xfrm>
                <a:off x="251520" y="1052736"/>
                <a:ext cx="8784976" cy="57661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例</a:t>
                </a:r>
                <a:r>
                  <a:rPr lang="en-US" altLang="zh-CN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10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.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设随机变量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服从二项分布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B(</a:t>
                </a:r>
                <a:r>
                  <a:rPr lang="en-US" altLang="zh-CN" sz="2400" dirty="0" err="1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n,p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)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，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</a:t>
                </a:r>
                <a:r>
                  <a:rPr lang="en-US" altLang="zh-CN" sz="2400" baseline="-25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1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,X</a:t>
                </a:r>
                <a:r>
                  <a:rPr lang="en-US" altLang="zh-CN" sz="2400" baseline="-25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2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,…,X</a:t>
                </a:r>
                <a:r>
                  <a:rPr lang="en-US" altLang="zh-CN" sz="2400" baseline="-25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n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是其简单随机样本，求：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(1)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参数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p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的矩估计；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(2)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参数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p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的极大似然估计。</a:t>
                </a: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>
                  <a:lnSpc>
                    <a:spcPct val="20000"/>
                  </a:lnSpc>
                </a:pPr>
                <a:endParaRPr lang="en-US" altLang="zh-CN" sz="2400" dirty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r>
                  <a:rPr lang="zh-CN" altLang="en-US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解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：      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𝑋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=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𝑘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𝑘</m:t>
                        </m:r>
                      </m:sup>
                    </m:sSubSup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𝑘</m:t>
                        </m:r>
                      </m:sup>
                    </m:sSup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(1−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𝑝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𝑛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−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, 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=0,1,2,…,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𝑛</m:t>
                    </m:r>
                  </m:oMath>
                </a14:m>
                <a:endParaRPr lang="en-US" altLang="zh-CN" sz="2400" dirty="0" smtClean="0">
                  <a:latin typeface="Times New Roman" pitchFamily="18" charset="0"/>
                  <a:ea typeface="楷体" pitchFamily="49" charset="-122"/>
                  <a:cs typeface="Times New Roman" pitchFamily="18" charset="0"/>
                </a:endParaRPr>
              </a:p>
              <a:p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(2)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楷体" pitchFamily="49" charset="-122"/>
                        <a:cs typeface="Times New Roman" pitchFamily="18" charset="0"/>
                      </a:rPr>
                      <m:t> 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  <a:ea typeface="楷体" pitchFamily="49" charset="-122"/>
                        <a:cs typeface="Times New Roman" pitchFamily="18" charset="0"/>
                      </a:rPr>
                      <m:t>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 New Roman" pitchFamily="18" charset="0"/>
                      </a:rPr>
                      <m:t> 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楷体" pitchFamily="49" charset="-122"/>
                        <a:cs typeface="Times New Roman" pitchFamily="18" charset="0"/>
                      </a:rPr>
                      <m:t>构造</m:t>
                    </m:r>
                  </m:oMath>
                </a14:m>
                <a:r>
                  <a:rPr lang="zh-CN" altLang="en-US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似然函数：</a:t>
                </a:r>
                <a:endParaRPr lang="en-US" altLang="zh-CN" sz="2400" b="0" i="1" dirty="0" smtClean="0">
                  <a:latin typeface="Cambria Math" panose="02040503050406030204" pitchFamily="18" charset="0"/>
                  <a:ea typeface="楷体" pitchFamily="49" charset="-122"/>
                  <a:cs typeface="Times New Roman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楷体" pitchFamily="49" charset="-122"/>
                          <a:cs typeface="Times New Roman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  <m:t>𝑝</m:t>
                          </m:r>
                        </m:e>
                      </m:d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楷体" pitchFamily="49" charset="-122"/>
                          <a:cs typeface="Times New Roman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  <m:t>𝑖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 New Roman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 New Roman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 New Roman" pitchFamily="18" charset="0"/>
                                </a:rPr>
                                <m:t>𝑛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 New Roman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 New Roman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bSup>
                          <m:sSup>
                            <m:sSupPr>
                              <m:ctrlP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 New Roman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 New Roman" pitchFamily="18" charset="0"/>
                                </a:rPr>
                                <m:t>𝑝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 New Roman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 New Roman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  <m:sSup>
                            <m:sSup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 New Roman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 New Roman" pitchFamily="18" charset="0"/>
                                </a:rPr>
                                <m:t>(1−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 New Roman" pitchFamily="18" charset="0"/>
                                </a:rPr>
                                <m:t>𝑝</m:t>
                              </m:r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 New Roman" pitchFamily="18" charset="0"/>
                                </a:rPr>
                                <m:t>)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 New Roman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 New Roman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 New Roman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 New Roman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</m:e>
                      </m:nary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楷体" pitchFamily="49" charset="-122"/>
                          <a:cs typeface="Times New Roman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i="1" dirty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  <m:t>𝑖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 New Roman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 New Roman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 New Roman" pitchFamily="18" charset="0"/>
                                </a:rPr>
                                <m:t>𝑛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 New Roman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 New Roman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bSup>
                        </m:e>
                      </m:nary>
                      <m:sSup>
                        <m:s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  <m:t>𝑝</m:t>
                          </m:r>
                        </m:e>
                        <m:sup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 New Roman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sz="2400" i="1" dirty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 New Roman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 New Roman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 New Roman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sup>
                      </m:sSup>
                      <m:sSup>
                        <m:sSup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  <m:t>(1−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  <m:t>𝑝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  <m:t>)</m:t>
                          </m:r>
                        </m:e>
                        <m:sup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 New Roman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sz="2400" i="1" dirty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 New Roman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 New Roman" pitchFamily="18" charset="0"/>
                                </a:rPr>
                                <m:t>(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 New Roman" pitchFamily="18" charset="0"/>
                                </a:rPr>
                                <m:t>𝑛</m:t>
                              </m:r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 New Roman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 New Roman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 New Roman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 New Roman" pitchFamily="18" charset="0"/>
                                </a:rPr>
                                <m:t>)</m:t>
                              </m:r>
                            </m:e>
                          </m:nary>
                        </m:sup>
                      </m:sSup>
                    </m:oMath>
                  </m:oMathPara>
                </a14:m>
                <a:endParaRPr lang="en-US" altLang="zh-CN" sz="2400" dirty="0" smtClean="0">
                  <a:latin typeface="Times New Roman" pitchFamily="18" charset="0"/>
                  <a:ea typeface="楷体" pitchFamily="49" charset="-122"/>
                  <a:cs typeface="Times New Roman" pitchFamily="18" charset="0"/>
                </a:endParaRPr>
              </a:p>
              <a:p>
                <a:r>
                  <a:rPr lang="en-US" altLang="zh-CN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② </a:t>
                </a:r>
                <a:r>
                  <a:rPr lang="zh-CN" altLang="en-US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取对数得：</a:t>
                </a:r>
                <a:endParaRPr lang="en-US" altLang="zh-CN" sz="2400" dirty="0" smtClean="0">
                  <a:latin typeface="Times New Roman" pitchFamily="18" charset="0"/>
                  <a:ea typeface="楷体" pitchFamily="49" charset="-122"/>
                  <a:cs typeface="Times New Roman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b="0" i="0" dirty="0" smtClean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 New Roman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 New Roman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</m:func>
                      <m:r>
                        <a:rPr lang="en-US" altLang="zh-CN" sz="2400" i="1" dirty="0">
                          <a:latin typeface="Cambria Math" panose="02040503050406030204" pitchFamily="18" charset="0"/>
                          <a:ea typeface="楷体" pitchFamily="49" charset="-122"/>
                          <a:cs typeface="Times New Roman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b="0" i="0" dirty="0" smtClean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 New Roman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∏"/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 New Roman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 New Roman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 New Roman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 New Roman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  <a:ea typeface="楷体" pitchFamily="49" charset="-122"/>
                                          <a:cs typeface="Times New Roman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  <a:ea typeface="楷体" pitchFamily="49" charset="-122"/>
                                          <a:cs typeface="Times New Roman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altLang="zh-CN" sz="2400" i="1" dirty="0">
                                          <a:latin typeface="Cambria Math" panose="02040503050406030204" pitchFamily="18" charset="0"/>
                                          <a:ea typeface="楷体" pitchFamily="49" charset="-122"/>
                                          <a:cs typeface="Times New Roman" pitchFamily="18" charset="0"/>
                                        </a:rPr>
                                        <m:t>𝑛</m:t>
                                      </m:r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  <a:ea typeface="楷体" pitchFamily="49" charset="-122"/>
                                              <a:cs typeface="Times New Roman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  <a:ea typeface="楷体" pitchFamily="49" charset="-122"/>
                                              <a:cs typeface="Times New Roman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i="1" dirty="0">
                                              <a:latin typeface="Cambria Math" panose="02040503050406030204" pitchFamily="18" charset="0"/>
                                              <a:ea typeface="楷体" pitchFamily="49" charset="-122"/>
                                              <a:cs typeface="Times New Roman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sup>
                                  </m:sSubSup>
                                </m:e>
                              </m:nary>
                            </m:e>
                          </m:d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  <m:t>+</m:t>
                          </m:r>
                        </m:e>
                      </m:func>
                      <m:nary>
                        <m:naryPr>
                          <m:chr m:val="∑"/>
                          <m:supHide m:val="on"/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400" i="1" dirty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 New Roman" pitchFamily="18" charset="0"/>
                                </a:rPr>
                                <m:t>𝑖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 New Roman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400" b="0" i="0" dirty="0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 New Roman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 New Roman" pitchFamily="18" charset="0"/>
                                </a:rPr>
                                <m:t>𝑝</m:t>
                              </m:r>
                            </m:e>
                          </m:func>
                        </m:e>
                      </m:nary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楷体" pitchFamily="49" charset="-122"/>
                          <a:cs typeface="Times New Roman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 New Roman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 New Roman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 New Roman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 New Roman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sz="2400" i="1" dirty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 New Roman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 New Roman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 New Roman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func>
                        <m:func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b="0" i="0" dirty="0" smtClean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  <m:t>(1−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  <m:t>𝑝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altLang="zh-CN" sz="2400" dirty="0" smtClean="0">
                  <a:latin typeface="Times New Roman" pitchFamily="18" charset="0"/>
                  <a:ea typeface="楷体" pitchFamily="49" charset="-122"/>
                  <a:cs typeface="Times New Roman" pitchFamily="18" charset="0"/>
                </a:endParaRPr>
              </a:p>
              <a:p>
                <a:r>
                  <a:rPr lang="en-US" altLang="zh-CN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③ </a:t>
                </a:r>
                <a:r>
                  <a:rPr lang="zh-CN" altLang="en-US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求导等于零得：</a:t>
                </a:r>
                <a:endParaRPr lang="en-US" altLang="zh-CN" sz="2400" dirty="0" smtClean="0">
                  <a:latin typeface="Times New Roman" pitchFamily="18" charset="0"/>
                  <a:ea typeface="楷体" pitchFamily="49" charset="-122"/>
                  <a:cs typeface="Times New Roman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 New Roman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sz="2400" i="1" dirty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 New Roman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 New Roman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 New Roman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  <m:t>𝑝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楷体" pitchFamily="49" charset="-122"/>
                          <a:cs typeface="Times New Roman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 New Roman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 New Roman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 New Roman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  <m:t>−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 New Roman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sz="2400" i="1" dirty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 New Roman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 New Roman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 New Roman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  <m:t>1−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  <m:t>𝑝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楷体" pitchFamily="49" charset="-122"/>
                          <a:cs typeface="Times New Roman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sz="2400" dirty="0" smtClean="0">
                  <a:latin typeface="Times New Roman" pitchFamily="18" charset="0"/>
                  <a:ea typeface="楷体" pitchFamily="49" charset="-122"/>
                  <a:cs typeface="Times New Roman" pitchFamily="18" charset="0"/>
                </a:endParaRPr>
              </a:p>
              <a:p>
                <a:r>
                  <a:rPr lang="zh-CN" altLang="en-US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则</a:t>
                </a:r>
                <a:r>
                  <a:rPr lang="en-US" altLang="zh-CN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p</a:t>
                </a:r>
                <a:r>
                  <a:rPr lang="zh-CN" altLang="en-US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的极大似然估计值为：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sz="240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</m:ctrlPr>
                      </m:acc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𝑝</m:t>
                        </m:r>
                      </m:e>
                    </m:acc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 New Roman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𝑛</m:t>
                        </m:r>
                      </m:den>
                    </m:f>
                    <m:acc>
                      <m:accPr>
                        <m:chr m:val="̅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</m:ctrlPr>
                      </m:acc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𝑥</m:t>
                        </m:r>
                      </m:e>
                    </m:acc>
                  </m:oMath>
                </a14:m>
                <a:endParaRPr lang="en-US" altLang="zh-CN" sz="2400" dirty="0" smtClean="0">
                  <a:latin typeface="Times New Roman" pitchFamily="18" charset="0"/>
                  <a:ea typeface="楷体" pitchFamily="49" charset="-122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052736"/>
                <a:ext cx="8784976" cy="5766130"/>
              </a:xfrm>
              <a:prstGeom prst="rect">
                <a:avLst/>
              </a:prstGeom>
              <a:blipFill>
                <a:blip r:embed="rId2"/>
                <a:stretch>
                  <a:fillRect l="-1041" t="-11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2267744" y="251937"/>
            <a:ext cx="46805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6. </a:t>
            </a:r>
            <a:r>
              <a:rPr lang="zh-CN" altLang="en-US" sz="32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矩估计与极大似然估计</a:t>
            </a:r>
            <a:endParaRPr lang="zh-CN" altLang="en-US" sz="3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42361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251520" y="1052736"/>
                <a:ext cx="8784976" cy="172867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例</a:t>
                </a:r>
                <a:r>
                  <a:rPr lang="en-US" altLang="zh-CN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11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.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设随机变量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的密度函数是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zh-CN" altLang="en-US" sz="2400" b="0" i="1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itchFamily="18" charset="0"/>
                                </a:rPr>
                                <m:t>𝜃</m:t>
                              </m:r>
                              <m:sSup>
                                <m:sSup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zh-CN" altLang="en-US" sz="2400" b="0" i="1" smtClean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" pitchFamily="18" charset="0"/>
                                    </a:rPr>
                                    <m:t>𝜃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" pitchFamily="18" charset="0"/>
                                    </a:rPr>
                                    <m:t>−(</m:t>
                                  </m:r>
                                  <m:r>
                                    <a:rPr lang="zh-CN" altLang="en-US" sz="2400" b="0" i="1" smtClean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" pitchFamily="18" charset="0"/>
                                    </a:rPr>
                                    <m:t>𝜃</m:t>
                                  </m:r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" pitchFamily="18" charset="0"/>
                                    </a:rPr>
                                    <m:t>+1)</m:t>
                                  </m:r>
                                </m:sup>
                              </m:sSup>
                              <m:r>
                                <m:rPr>
                                  <m:brk m:alnAt="7"/>
                                </m:r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itchFamily="18" charset="0"/>
                                </a:rPr>
                                <m:t>,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itchFamily="18" charset="0"/>
                                </a:rPr>
                                <m:t> 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itchFamily="18" charset="0"/>
                                </a:rPr>
                                <m:t>𝑥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itchFamily="18" charset="0"/>
                                </a:rPr>
                                <m:t>&gt;2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itchFamily="18" charset="0"/>
                                </a:rPr>
                                <m:t>               0,     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itchFamily="18" charset="0"/>
                                </a:rPr>
                                <m:t>𝑥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" pitchFamily="18" charset="0"/>
                                </a:rPr>
                                <m:t>≤2 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，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</a:t>
                </a:r>
                <a:r>
                  <a:rPr lang="en-US" altLang="zh-CN" sz="2400" baseline="-25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1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,x</a:t>
                </a:r>
                <a:r>
                  <a:rPr lang="en-US" altLang="zh-CN" sz="2400" baseline="-25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2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,…,</a:t>
                </a:r>
                <a:r>
                  <a:rPr lang="en-US" altLang="zh-CN" sz="2400" dirty="0" err="1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</a:t>
                </a:r>
                <a:r>
                  <a:rPr lang="en-US" altLang="zh-CN" sz="2400" baseline="-25000" dirty="0" err="1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n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是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的简单样本观测值，求：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(1)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参数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zh-CN" altLang="en-US" sz="2400" i="1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𝜃</m:t>
                    </m:r>
                  </m:oMath>
                </a14:m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的矩估计值；</a:t>
                </a: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(2) 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参数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zh-CN" altLang="en-US" sz="2400" i="1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𝜃</m:t>
                    </m:r>
                  </m:oMath>
                </a14:m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的最大似然估计值。</a:t>
                </a: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>
                  <a:lnSpc>
                    <a:spcPct val="20000"/>
                  </a:lnSpc>
                </a:pP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052736"/>
                <a:ext cx="8784976" cy="1728678"/>
              </a:xfrm>
              <a:prstGeom prst="rect">
                <a:avLst/>
              </a:prstGeom>
              <a:blipFill>
                <a:blip r:embed="rId2"/>
                <a:stretch>
                  <a:fillRect l="-1041" b="-35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2267744" y="251937"/>
            <a:ext cx="46805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6. </a:t>
            </a:r>
            <a:r>
              <a:rPr lang="zh-CN" altLang="en-US" sz="32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矩估计与极大似然估计</a:t>
            </a:r>
            <a:endParaRPr lang="zh-CN" altLang="en-US" sz="3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8071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251520" y="1052736"/>
                <a:ext cx="8784976" cy="33848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例</a:t>
                </a:r>
                <a:r>
                  <a:rPr lang="en-US" altLang="zh-CN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11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.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设随机变量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的密度函数是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zh-CN" altLang="en-US" sz="2400" b="0" i="1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itchFamily="18" charset="0"/>
                                </a:rPr>
                                <m:t>𝜃</m:t>
                              </m:r>
                              <m:sSup>
                                <m:sSup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zh-CN" altLang="en-US" sz="2400" b="0" i="1" smtClean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" pitchFamily="18" charset="0"/>
                                    </a:rPr>
                                    <m:t>𝜃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" pitchFamily="18" charset="0"/>
                                    </a:rPr>
                                    <m:t>−(</m:t>
                                  </m:r>
                                  <m:r>
                                    <a:rPr lang="zh-CN" altLang="en-US" sz="2400" b="0" i="1" smtClean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" pitchFamily="18" charset="0"/>
                                    </a:rPr>
                                    <m:t>𝜃</m:t>
                                  </m:r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" pitchFamily="18" charset="0"/>
                                    </a:rPr>
                                    <m:t>+1)</m:t>
                                  </m:r>
                                </m:sup>
                              </m:sSup>
                              <m:r>
                                <m:rPr>
                                  <m:brk m:alnAt="7"/>
                                </m:r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itchFamily="18" charset="0"/>
                                </a:rPr>
                                <m:t>,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itchFamily="18" charset="0"/>
                                </a:rPr>
                                <m:t> 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itchFamily="18" charset="0"/>
                                </a:rPr>
                                <m:t>𝑥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itchFamily="18" charset="0"/>
                                </a:rPr>
                                <m:t>&gt;2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itchFamily="18" charset="0"/>
                                </a:rPr>
                                <m:t>               0,     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itchFamily="18" charset="0"/>
                                </a:rPr>
                                <m:t>𝑥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" pitchFamily="18" charset="0"/>
                                </a:rPr>
                                <m:t>≤2 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，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</a:t>
                </a:r>
                <a:r>
                  <a:rPr lang="en-US" altLang="zh-CN" sz="2400" baseline="-25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1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,x</a:t>
                </a:r>
                <a:r>
                  <a:rPr lang="en-US" altLang="zh-CN" sz="2400" baseline="-25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2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,…,</a:t>
                </a:r>
                <a:r>
                  <a:rPr lang="en-US" altLang="zh-CN" sz="2400" dirty="0" err="1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</a:t>
                </a:r>
                <a:r>
                  <a:rPr lang="en-US" altLang="zh-CN" sz="2400" baseline="-25000" dirty="0" err="1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n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是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的简单样本观测值，求：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(1)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参数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zh-CN" altLang="en-US" sz="2400" i="1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𝜃</m:t>
                    </m:r>
                  </m:oMath>
                </a14:m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的矩估计值；</a:t>
                </a: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(2) 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参数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zh-CN" altLang="en-US" sz="2400" i="1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𝜃</m:t>
                    </m:r>
                  </m:oMath>
                </a14:m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的最大似然估计值。</a:t>
                </a: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>
                  <a:lnSpc>
                    <a:spcPct val="20000"/>
                  </a:lnSpc>
                </a:pP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r>
                  <a:rPr lang="zh-CN" altLang="en-US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解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：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(1) 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令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 New Roman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 New Roman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sz="2400" i="1">
                        <a:latin typeface="Cambria Math" panose="02040503050406030204" pitchFamily="18" charset="0"/>
                        <a:ea typeface="楷体" pitchFamily="49" charset="-122"/>
                        <a:cs typeface="Times New Roman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楷体" pitchFamily="49" charset="-122"/>
                        <a:cs typeface="Times New Roman" pitchFamily="18" charset="0"/>
                      </a:rPr>
                      <m:t>𝐸𝑋</m:t>
                    </m:r>
                  </m:oMath>
                </a14:m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            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𝐸𝑋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−</m:t>
                        </m:r>
                        <m: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+</m:t>
                        </m:r>
                        <m: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𝑥𝑓</m:t>
                        </m:r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𝑑𝑥</m:t>
                        </m:r>
                      </m:e>
                    </m:nary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naryPr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+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𝑥</m:t>
                        </m:r>
                        <m:r>
                          <m:rPr>
                            <m:brk m:alnAt="7"/>
                          </m:rPr>
                          <a:rPr lang="zh-CN" altLang="en-US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𝜃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zh-CN" altLang="en-US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𝜃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−(</m:t>
                            </m:r>
                            <m:r>
                              <a:rPr lang="zh-CN" altLang="en-US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𝜃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+1)</m:t>
                            </m:r>
                          </m:sup>
                        </m:s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𝑑𝑥</m:t>
                        </m:r>
                      </m:e>
                    </m:nary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2</m:t>
                        </m:r>
                        <m:r>
                          <m:rPr>
                            <m:brk m:alnAt="7"/>
                          </m:rPr>
                          <a:rPr lang="zh-CN" altLang="en-US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𝜃</m:t>
                        </m:r>
                      </m:num>
                      <m:den>
                        <m:r>
                          <m:rPr>
                            <m:brk m:alnAt="7"/>
                          </m:rPr>
                          <a:rPr lang="zh-CN" altLang="en-US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𝜃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−1</m:t>
                        </m:r>
                      </m:den>
                    </m:f>
                  </m:oMath>
                </a14:m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             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解得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zh-CN" altLang="en-US" sz="2400" i="1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𝜃</m:t>
                    </m:r>
                  </m:oMath>
                </a14:m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的矩估计值为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sz="240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accPr>
                      <m:e>
                        <m:r>
                          <m:rPr>
                            <m:brk m:alnAt="7"/>
                          </m:rPr>
                          <a:rPr lang="zh-CN" altLang="en-US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𝜃</m:t>
                        </m:r>
                      </m:e>
                    </m:acc>
                    <m:r>
                      <a:rPr lang="en-US" altLang="zh-CN" sz="2400" i="1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𝑥</m:t>
                            </m:r>
                          </m:e>
                        </m:acc>
                      </m:num>
                      <m:den>
                        <m:acc>
                          <m:accPr>
                            <m:chr m:val="̅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−2</m:t>
                        </m:r>
                      </m:den>
                    </m:f>
                  </m:oMath>
                </a14:m>
                <a:endParaRPr lang="en-US" altLang="zh-CN" sz="2400" dirty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052736"/>
                <a:ext cx="8784976" cy="3384837"/>
              </a:xfrm>
              <a:prstGeom prst="rect">
                <a:avLst/>
              </a:prstGeom>
              <a:blipFill>
                <a:blip r:embed="rId2"/>
                <a:stretch>
                  <a:fillRect l="-10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2267744" y="251937"/>
            <a:ext cx="46805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6. </a:t>
            </a:r>
            <a:r>
              <a:rPr lang="zh-CN" altLang="en-US" sz="32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矩估计与极大似然估计</a:t>
            </a:r>
            <a:endParaRPr lang="zh-CN" altLang="en-US" sz="3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29455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7" name="矩形 46"/>
              <p:cNvSpPr/>
              <p:nvPr/>
            </p:nvSpPr>
            <p:spPr>
              <a:xfrm>
                <a:off x="251520" y="1052736"/>
                <a:ext cx="8784976" cy="58089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例</a:t>
                </a:r>
                <a:r>
                  <a:rPr lang="en-US" altLang="zh-CN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11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.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设随机变量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的密度函数是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zh-CN" altLang="en-US" sz="2400" b="0" i="1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itchFamily="18" charset="0"/>
                                </a:rPr>
                                <m:t>𝜃</m:t>
                              </m:r>
                              <m:sSup>
                                <m:sSup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zh-CN" altLang="en-US" sz="2400" b="0" i="1" smtClean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" pitchFamily="18" charset="0"/>
                                    </a:rPr>
                                    <m:t>𝜃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" pitchFamily="18" charset="0"/>
                                    </a:rPr>
                                    <m:t>−(</m:t>
                                  </m:r>
                                  <m:r>
                                    <a:rPr lang="zh-CN" altLang="en-US" sz="2400" b="0" i="1" smtClean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" pitchFamily="18" charset="0"/>
                                    </a:rPr>
                                    <m:t>𝜃</m:t>
                                  </m:r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" pitchFamily="18" charset="0"/>
                                    </a:rPr>
                                    <m:t>+1)</m:t>
                                  </m:r>
                                </m:sup>
                              </m:sSup>
                              <m:r>
                                <m:rPr>
                                  <m:brk m:alnAt="7"/>
                                </m:r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itchFamily="18" charset="0"/>
                                </a:rPr>
                                <m:t>,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itchFamily="18" charset="0"/>
                                </a:rPr>
                                <m:t> 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itchFamily="18" charset="0"/>
                                </a:rPr>
                                <m:t>𝑥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itchFamily="18" charset="0"/>
                                </a:rPr>
                                <m:t>&gt;2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itchFamily="18" charset="0"/>
                                </a:rPr>
                                <m:t>               0,     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itchFamily="18" charset="0"/>
                                </a:rPr>
                                <m:t>𝑥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" pitchFamily="18" charset="0"/>
                                </a:rPr>
                                <m:t>≤2 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，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</a:t>
                </a:r>
                <a:r>
                  <a:rPr lang="en-US" altLang="zh-CN" sz="2400" baseline="-25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1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,x</a:t>
                </a:r>
                <a:r>
                  <a:rPr lang="en-US" altLang="zh-CN" sz="2400" baseline="-25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2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,…,</a:t>
                </a:r>
                <a:r>
                  <a:rPr lang="en-US" altLang="zh-CN" sz="2400" dirty="0" err="1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</a:t>
                </a:r>
                <a:r>
                  <a:rPr lang="en-US" altLang="zh-CN" sz="2400" baseline="-25000" dirty="0" err="1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n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是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的简单样本观测值，求：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(1)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参数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zh-CN" altLang="en-US" sz="2400" i="1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𝜃</m:t>
                    </m:r>
                  </m:oMath>
                </a14:m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的矩估计值；</a:t>
                </a: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(2) 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参数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zh-CN" altLang="en-US" sz="2400" i="1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𝜃</m:t>
                    </m:r>
                  </m:oMath>
                </a14:m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的最大似然估计值。</a:t>
                </a: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>
                  <a:lnSpc>
                    <a:spcPct val="20000"/>
                  </a:lnSpc>
                </a:pP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r>
                  <a:rPr lang="zh-CN" altLang="en-US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解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：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(2)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楷体" pitchFamily="49" charset="-122"/>
                        <a:cs typeface="Times New Roman" pitchFamily="18" charset="0"/>
                      </a:rPr>
                      <m:t>①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楷体" pitchFamily="49" charset="-122"/>
                        <a:cs typeface="Times New Roman" pitchFamily="18" charset="0"/>
                      </a:rPr>
                      <m:t> 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楷体" pitchFamily="49" charset="-122"/>
                        <a:cs typeface="Times New Roman" pitchFamily="18" charset="0"/>
                      </a:rPr>
                      <m:t>构造</m:t>
                    </m:r>
                  </m:oMath>
                </a14:m>
                <a:r>
                  <a:rPr lang="zh-CN" altLang="en-US" sz="2400" dirty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似然函数：</a:t>
                </a:r>
                <a:endParaRPr lang="en-US" altLang="zh-CN" sz="2400" i="1" dirty="0">
                  <a:latin typeface="Cambria Math" panose="02040503050406030204" pitchFamily="18" charset="0"/>
                  <a:ea typeface="楷体" pitchFamily="49" charset="-122"/>
                  <a:cs typeface="Times New Roman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  <a:ea typeface="楷体" pitchFamily="49" charset="-122"/>
                          <a:cs typeface="Times New Roman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 dirty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  <m:t>𝜃</m:t>
                          </m:r>
                        </m:e>
                      </m:d>
                      <m:r>
                        <a:rPr lang="en-US" altLang="zh-CN" sz="2400" i="1" dirty="0">
                          <a:latin typeface="Cambria Math" panose="02040503050406030204" pitchFamily="18" charset="0"/>
                          <a:ea typeface="楷体" pitchFamily="49" charset="-122"/>
                          <a:cs typeface="Times New Roman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i="1" dirty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  <m:t>𝜃</m:t>
                          </m:r>
                        </m:e>
                        <m:sup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  <m:t>𝑛</m:t>
                          </m:r>
                        </m:sup>
                      </m:sSup>
                      <m:sSup>
                        <m:sSup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  <m:t>𝑛</m:t>
                          </m:r>
                          <m:r>
                            <a:rPr lang="zh-CN" altLang="en-US" sz="2400" i="1" dirty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  <m:t>𝜃</m:t>
                          </m:r>
                        </m:sup>
                      </m:sSup>
                      <m:sSup>
                        <m:sSup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 New Roman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 New Roman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itchFamily="18" charset="0"/>
                            </a:rPr>
                            <m:t>∙∙∙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 New Roman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 New Roman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altLang="zh-CN" sz="2400" dirty="0">
                              <a:latin typeface="Times New Roman" pitchFamily="18" charset="0"/>
                              <a:ea typeface="楷体" pitchFamily="49" charset="-122"/>
                              <a:cs typeface="Times New Roman" pitchFamily="18" charset="0"/>
                            </a:rPr>
                            <m:t> </m:t>
                          </m:r>
                        </m:e>
                        <m:sup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  <m:t>−(</m:t>
                          </m:r>
                          <m:r>
                            <a:rPr lang="zh-CN" altLang="en-US" sz="2400" i="1" dirty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  <m:t>𝜃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  <m:t>+1)</m:t>
                          </m:r>
                        </m:sup>
                      </m:sSup>
                    </m:oMath>
                  </m:oMathPara>
                </a14:m>
                <a:endParaRPr lang="en-US" altLang="zh-CN" sz="2400" dirty="0" smtClean="0">
                  <a:latin typeface="Times New Roman" pitchFamily="18" charset="0"/>
                  <a:ea typeface="楷体" pitchFamily="49" charset="-122"/>
                  <a:cs typeface="Times New Roman" pitchFamily="18" charset="0"/>
                </a:endParaRPr>
              </a:p>
              <a:p>
                <a:r>
                  <a:rPr lang="en-US" altLang="zh-CN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② </a:t>
                </a:r>
                <a:r>
                  <a:rPr lang="zh-CN" altLang="en-US" sz="2400" dirty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取对数得：</a:t>
                </a:r>
                <a:endParaRPr lang="en-US" altLang="zh-CN" sz="2400" dirty="0">
                  <a:latin typeface="Times New Roman" pitchFamily="18" charset="0"/>
                  <a:ea typeface="楷体" pitchFamily="49" charset="-122"/>
                  <a:cs typeface="Times New Roman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dirty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 New Roman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 dirty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 New Roman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  <m:r>
                        <a:rPr lang="en-US" altLang="zh-CN" sz="2400" i="1" dirty="0">
                          <a:latin typeface="Cambria Math" panose="02040503050406030204" pitchFamily="18" charset="0"/>
                          <a:ea typeface="楷体" pitchFamily="49" charset="-122"/>
                          <a:cs typeface="Times New Roman" pitchFamily="18" charset="0"/>
                        </a:rPr>
                        <m:t>=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楷体" pitchFamily="49" charset="-122"/>
                          <a:cs typeface="Times New Roman" pitchFamily="18" charset="0"/>
                        </a:rPr>
                        <m:t>𝑛</m:t>
                      </m:r>
                      <m:func>
                        <m:func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dirty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 New Roman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400" i="1" dirty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 New Roman" pitchFamily="18" charset="0"/>
                                </a:rPr>
                                <m:t>𝜃</m:t>
                              </m:r>
                            </m:e>
                          </m:d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  <m:t>+</m:t>
                          </m:r>
                        </m:e>
                      </m:func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楷体" pitchFamily="49" charset="-122"/>
                          <a:cs typeface="Times New Roman" pitchFamily="18" charset="0"/>
                        </a:rPr>
                        <m:t>𝑛</m:t>
                      </m:r>
                      <m:r>
                        <a:rPr lang="zh-CN" altLang="en-US" sz="2400" i="1" dirty="0">
                          <a:latin typeface="Cambria Math" panose="02040503050406030204" pitchFamily="18" charset="0"/>
                          <a:ea typeface="楷体" pitchFamily="49" charset="-122"/>
                          <a:cs typeface="Times New Roman" pitchFamily="18" charset="0"/>
                        </a:rPr>
                        <m:t>𝜃</m:t>
                      </m:r>
                      <m:r>
                        <m:rPr>
                          <m:sty m:val="p"/>
                        </m:rPr>
                        <a:rPr lang="en-US" altLang="zh-CN" sz="2400" b="0" i="0" dirty="0" smtClean="0">
                          <a:latin typeface="Cambria Math" panose="02040503050406030204" pitchFamily="18" charset="0"/>
                          <a:ea typeface="楷体" pitchFamily="49" charset="-122"/>
                          <a:cs typeface="Times New Roman" pitchFamily="18" charset="0"/>
                        </a:rPr>
                        <m:t>ln</m:t>
                      </m:r>
                      <m:r>
                        <a:rPr lang="en-US" altLang="zh-CN" sz="2400" b="0" i="0" dirty="0" smtClean="0">
                          <a:latin typeface="Cambria Math" panose="02040503050406030204" pitchFamily="18" charset="0"/>
                          <a:ea typeface="楷体" pitchFamily="49" charset="-122"/>
                          <a:cs typeface="Times New Roman" pitchFamily="18" charset="0"/>
                        </a:rPr>
                        <m:t>2−</m:t>
                      </m:r>
                      <m:d>
                        <m:d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 dirty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  <m:t>𝜃</m:t>
                          </m:r>
                          <m:r>
                            <a:rPr lang="en-US" altLang="zh-CN" sz="2400" b="0" i="0" dirty="0" smtClean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  <m:t>+1</m:t>
                          </m:r>
                        </m:e>
                      </m:d>
                      <m:nary>
                        <m:naryPr>
                          <m:chr m:val="∑"/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  <m:t>𝑖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  <m:t>𝑛</m:t>
                          </m:r>
                        </m:sup>
                        <m:e>
                          <m:func>
                            <m:funcPr>
                              <m:ctrlP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 New Roman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400" b="0" i="0" dirty="0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 New Roman" pitchFamily="18" charset="0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 New Roman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 New Roman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func>
                        </m:e>
                      </m:nary>
                    </m:oMath>
                  </m:oMathPara>
                </a14:m>
                <a:endParaRPr lang="en-US" altLang="zh-CN" sz="2400" b="0" dirty="0" smtClean="0">
                  <a:latin typeface="Times New Roman" pitchFamily="18" charset="0"/>
                  <a:ea typeface="楷体" pitchFamily="49" charset="-122"/>
                  <a:cs typeface="Times New Roman" pitchFamily="18" charset="0"/>
                </a:endParaRPr>
              </a:p>
              <a:p>
                <a:r>
                  <a:rPr lang="en-US" altLang="zh-CN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③ </a:t>
                </a:r>
                <a:r>
                  <a:rPr lang="zh-CN" altLang="en-US" sz="2400" dirty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求导等于零得</a:t>
                </a:r>
                <a:r>
                  <a:rPr lang="zh-CN" altLang="en-US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：</a:t>
                </a:r>
                <a:endParaRPr lang="en-US" altLang="zh-CN" sz="2400" dirty="0" smtClean="0">
                  <a:latin typeface="Times New Roman" pitchFamily="18" charset="0"/>
                  <a:ea typeface="楷体" pitchFamily="49" charset="-122"/>
                  <a:cs typeface="Times New Roman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zh-CN" altLang="en-US" sz="2400" i="1" dirty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  <m:t>𝜃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楷体" pitchFamily="49" charset="-122"/>
                          <a:cs typeface="Times New Roman" pitchFamily="18" charset="0"/>
                        </a:rPr>
                        <m:t>+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楷体" pitchFamily="49" charset="-122"/>
                          <a:cs typeface="Times New Roman" pitchFamily="18" charset="0"/>
                        </a:rPr>
                        <m:t>𝑛</m:t>
                      </m:r>
                      <m:func>
                        <m:funcPr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400" dirty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  <m:t>2</m:t>
                          </m:r>
                        </m:e>
                      </m:func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楷体" pitchFamily="49" charset="-122"/>
                          <a:cs typeface="Times New Roman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i="1" dirty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  <m:t>𝑖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楷体" pitchFamily="49" charset="-122"/>
                              <a:cs typeface="Times New Roman" pitchFamily="18" charset="0"/>
                            </a:rPr>
                            <m:t>𝑛</m:t>
                          </m:r>
                        </m:sup>
                        <m:e>
                          <m:func>
                            <m:func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 New Roman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2400" dirty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 New Roman" pitchFamily="18" charset="0"/>
                                </a:rPr>
                                <m:t>ln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 New Roman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 New Roman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 New Roman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func>
                        </m:e>
                      </m:nary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楷体" pitchFamily="49" charset="-122"/>
                          <a:cs typeface="Times New Roman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sz="2400" dirty="0">
                  <a:latin typeface="Times New Roman" pitchFamily="18" charset="0"/>
                  <a:ea typeface="楷体" pitchFamily="49" charset="-122"/>
                  <a:cs typeface="Times New Roman" pitchFamily="18" charset="0"/>
                </a:endParaRPr>
              </a:p>
              <a:p>
                <a:r>
                  <a:rPr lang="zh-CN" altLang="en-US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则</a:t>
                </a:r>
                <a14:m>
                  <m:oMath xmlns:m="http://schemas.openxmlformats.org/officeDocument/2006/math">
                    <m:r>
                      <a:rPr lang="zh-CN" altLang="en-US" sz="2400" i="1" dirty="0">
                        <a:latin typeface="Cambria Math" panose="02040503050406030204" pitchFamily="18" charset="0"/>
                        <a:ea typeface="楷体" pitchFamily="49" charset="-122"/>
                        <a:cs typeface="Times New Roman" pitchFamily="18" charset="0"/>
                      </a:rPr>
                      <m:t>𝜃</m:t>
                    </m:r>
                  </m:oMath>
                </a14:m>
                <a:r>
                  <a:rPr lang="zh-CN" altLang="en-US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的</a:t>
                </a:r>
                <a:r>
                  <a:rPr lang="zh-CN" altLang="en-US" sz="2400" dirty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极大似然估计值为</a:t>
                </a:r>
                <a:r>
                  <a:rPr lang="zh-CN" altLang="en-US" sz="2400" dirty="0" smtClean="0">
                    <a:latin typeface="Times New Roman" pitchFamily="18" charset="0"/>
                    <a:ea typeface="楷体" pitchFamily="49" charset="-122"/>
                    <a:cs typeface="Times New Roman" pitchFamily="18" charset="0"/>
                  </a:rPr>
                  <a:t>：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en-US" sz="240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</m:ctrlPr>
                      </m:accPr>
                      <m:e>
                        <m:r>
                          <a:rPr lang="zh-CN" altLang="en-US" sz="2400" i="1" dirty="0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𝜃</m:t>
                        </m:r>
                      </m:e>
                    </m:acc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 New Roman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𝑛</m:t>
                        </m:r>
                      </m:num>
                      <m:den>
                        <m:nary>
                          <m:naryPr>
                            <m:chr m:val="∑"/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楷体" pitchFamily="49" charset="-122"/>
                                <a:cs typeface="Times New Roman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400" i="1" dirty="0">
                                <a:latin typeface="Cambria Math" panose="02040503050406030204" pitchFamily="18" charset="0"/>
                                <a:ea typeface="楷体" pitchFamily="49" charset="-122"/>
                                <a:cs typeface="Times New Roman" pitchFamily="18" charset="0"/>
                              </a:rPr>
                              <m:t>𝑖</m:t>
                            </m:r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楷体" pitchFamily="49" charset="-122"/>
                                <a:cs typeface="Times New Roman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楷体" pitchFamily="49" charset="-122"/>
                                <a:cs typeface="Times New Roman" pitchFamily="18" charset="0"/>
                              </a:rPr>
                              <m:t>𝑛</m:t>
                            </m:r>
                          </m:sup>
                          <m:e>
                            <m:func>
                              <m:funcPr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 New Roman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sz="2400" dirty="0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 New Roman" pitchFamily="18" charset="0"/>
                                  </a:rPr>
                                  <m:t>ln</m:t>
                                </m:r>
                              </m:fName>
                              <m:e>
                                <m:sSub>
                                  <m:sSubPr>
                                    <m:ctrlPr>
                                      <a:rPr lang="en-US" altLang="zh-CN" sz="2400" i="1" dirty="0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 New Roman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 dirty="0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 New Roman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400" i="1" dirty="0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 New Roman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func>
                          </m:e>
                        </m:nary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−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 New Roman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楷体" pitchFamily="49" charset="-122"/>
                                <a:cs typeface="Times New Roman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2400" dirty="0">
                                <a:latin typeface="Cambria Math" panose="02040503050406030204" pitchFamily="18" charset="0"/>
                                <a:ea typeface="楷体" pitchFamily="49" charset="-122"/>
                                <a:cs typeface="Times New Roman" pitchFamily="18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楷体" pitchFamily="49" charset="-122"/>
                                <a:cs typeface="Times New Roman" pitchFamily="18" charset="0"/>
                              </a:rPr>
                              <m:t>2</m:t>
                            </m:r>
                          </m:e>
                        </m:func>
                      </m:den>
                    </m:f>
                  </m:oMath>
                </a14:m>
                <a:endParaRPr lang="en-US" altLang="zh-CN" sz="2400" dirty="0">
                  <a:latin typeface="Times New Roman" pitchFamily="18" charset="0"/>
                  <a:ea typeface="楷体" pitchFamily="49" charset="-122"/>
                  <a:cs typeface="Times New Roman" pitchFamily="18" charset="0"/>
                </a:endParaRPr>
              </a:p>
            </p:txBody>
          </p:sp>
        </mc:Choice>
        <mc:Fallback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052736"/>
                <a:ext cx="8784976" cy="5808963"/>
              </a:xfrm>
              <a:prstGeom prst="rect">
                <a:avLst/>
              </a:prstGeom>
              <a:blipFill>
                <a:blip r:embed="rId2"/>
                <a:stretch>
                  <a:fillRect l="-10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2267744" y="251937"/>
            <a:ext cx="46805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6. </a:t>
            </a:r>
            <a:r>
              <a:rPr lang="zh-CN" altLang="en-US" sz="3200" b="1" dirty="0" smtClean="0">
                <a:solidFill>
                  <a:srgbClr val="0000FF"/>
                </a:solidFill>
                <a:latin typeface="楷体" pitchFamily="49" charset="-122"/>
                <a:ea typeface="楷体" pitchFamily="49" charset="-122"/>
              </a:rPr>
              <a:t>矩估计与极大似然估计</a:t>
            </a:r>
            <a:endParaRPr lang="zh-CN" altLang="en-US" sz="3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88995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7" name="矩形 46"/>
              <p:cNvSpPr/>
              <p:nvPr/>
            </p:nvSpPr>
            <p:spPr>
              <a:xfrm>
                <a:off x="251520" y="1052736"/>
                <a:ext cx="8784976" cy="50926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AutoNum type="arabicPeriod"/>
                </a:pPr>
                <a:r>
                  <a:rPr lang="zh-CN" altLang="en-US" sz="2400" b="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数学期望</a:t>
                </a:r>
                <a:r>
                  <a:rPr lang="zh-CN" altLang="en-US" sz="2400" b="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的线性性质：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𝑎𝑋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+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𝑏𝑌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+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𝑐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𝑎𝐸𝑋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+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𝑏𝐸𝑌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+</m:t>
                    </m:r>
                  </m:oMath>
                </a14:m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c</a:t>
                </a:r>
              </a:p>
              <a:p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2. 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若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、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Y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独立，则有：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𝑋𝑌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𝐸𝑋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" pitchFamily="18" charset="0"/>
                      </a:rPr>
                      <m:t>∙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" pitchFamily="18" charset="0"/>
                      </a:rPr>
                      <m:t>𝐸𝑌</m:t>
                    </m:r>
                  </m:oMath>
                </a14:m>
                <a:endParaRPr lang="en-US" altLang="zh-CN" sz="2400" b="0" dirty="0" smtClean="0">
                  <a:latin typeface="Times" pitchFamily="18" charset="0"/>
                  <a:ea typeface="Cambria Math" panose="02040503050406030204" pitchFamily="18" charset="0"/>
                  <a:cs typeface="Times" pitchFamily="18" charset="0"/>
                </a:endParaRPr>
              </a:p>
              <a:p>
                <a:endParaRPr lang="en-US" altLang="zh-CN" sz="2400" b="0" dirty="0" smtClean="0">
                  <a:latin typeface="Times" pitchFamily="18" charset="0"/>
                  <a:ea typeface="Cambria Math" panose="02040503050406030204" pitchFamily="18" charset="0"/>
                  <a:cs typeface="Times" pitchFamily="18" charset="0"/>
                </a:endParaRPr>
              </a:p>
              <a:p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3.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𝐷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𝑎𝑋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+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𝑏𝑌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+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𝑐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𝐷𝑋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𝐷𝑌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+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𝑎𝑏</m:t>
                    </m:r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cov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𝑋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𝑌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)</m:t>
                    </m:r>
                  </m:oMath>
                </a14:m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4. 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若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、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Y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独立，则有：</a:t>
                </a:r>
                <a:r>
                  <a:rPr lang="en-US" altLang="zh-CN" sz="2400" dirty="0">
                    <a:ea typeface="楷体" pitchFamily="49" charset="-122"/>
                    <a:cs typeface="Times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𝐷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𝑎𝑋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+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𝑏𝑌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+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𝑐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𝐷𝑋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𝐷𝑌</m:t>
                    </m:r>
                  </m:oMath>
                </a14:m>
                <a:endParaRPr lang="en-US" altLang="zh-CN" sz="2400" dirty="0" smtClean="0">
                  <a:ea typeface="楷体" pitchFamily="49" charset="-122"/>
                  <a:cs typeface="Times" pitchFamily="18" charset="0"/>
                </a:endParaRPr>
              </a:p>
              <a:p>
                <a:endParaRPr lang="en-US" altLang="zh-CN" sz="2400" dirty="0" smtClean="0">
                  <a:ea typeface="楷体" pitchFamily="49" charset="-122"/>
                  <a:cs typeface="Times" pitchFamily="18" charset="0"/>
                </a:endParaRPr>
              </a:p>
              <a:p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5. 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设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为随机变量，则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的标准化随机变量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𝑋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−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𝐸𝑋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𝑋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有：</a:t>
                </a:r>
                <a:endParaRPr lang="en-US" altLang="zh-CN" sz="2400" b="0" i="1" dirty="0" smtClean="0">
                  <a:latin typeface="Cambria Math" panose="02040503050406030204" pitchFamily="18" charset="0"/>
                  <a:ea typeface="楷体" pitchFamily="49" charset="-122"/>
                  <a:cs typeface="Times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    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𝐸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=0</m:t>
                    </m:r>
                  </m:oMath>
                </a14:m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𝐷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1</m:t>
                    </m:r>
                  </m:oMath>
                </a14:m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endParaRPr lang="en-US" altLang="zh-CN" sz="2400" dirty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6. E(X</a:t>
                </a:r>
                <a:r>
                  <a:rPr lang="en-US" altLang="zh-CN" sz="2400" baseline="300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2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)=DX+(EX)</a:t>
                </a:r>
                <a:r>
                  <a:rPr lang="en-US" altLang="zh-CN" sz="2400" baseline="30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2</a:t>
                </a:r>
                <a:endParaRPr lang="en-US" altLang="zh-CN" sz="2400" dirty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</p:txBody>
          </p:sp>
        </mc:Choice>
        <mc:Fallback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052736"/>
                <a:ext cx="8784976" cy="5092613"/>
              </a:xfrm>
              <a:prstGeom prst="rect">
                <a:avLst/>
              </a:prstGeom>
              <a:blipFill>
                <a:blip r:embed="rId2"/>
                <a:stretch>
                  <a:fillRect l="-1041" t="-1317" b="-19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2267744" y="251937"/>
            <a:ext cx="46805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7.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数学期望与方差的性质</a:t>
            </a:r>
            <a:endParaRPr lang="zh-CN" altLang="en-US" sz="3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93215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251520" y="1052736"/>
                <a:ext cx="8784976" cy="12741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 smtClean="0">
                    <a:solidFill>
                      <a:srgbClr val="0000FF"/>
                    </a:solidFill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例</a:t>
                </a:r>
                <a:r>
                  <a:rPr lang="en-US" altLang="zh-CN" sz="2400" dirty="0" smtClean="0">
                    <a:solidFill>
                      <a:srgbClr val="0000FF"/>
                    </a:solidFill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12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. 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设随机变量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X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与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Y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相互独立，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X~B(10,0.6)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，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Y~P(0.7)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。记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Z=3X+2Y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，求：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(1) EZ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，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DZ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；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(2)  E(YZ)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；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(3)</a:t>
                </a:r>
                <a14:m>
                  <m:oMath xmlns:m="http://schemas.openxmlformats.org/officeDocument/2006/math">
                    <m:r>
                      <a:rPr lang="zh-CN" altLang="en-US" sz="2400" i="0" smtClean="0">
                        <a:latin typeface="Cambria Math" panose="02040503050406030204" pitchFamily="18" charset="0"/>
                        <a:ea typeface="楷体" pitchFamily="49" charset="-122"/>
                        <a:cs typeface="Times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CN" altLang="en-US" sz="2400" i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  <m:t>ρ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  <m:t>YZ</m:t>
                        </m:r>
                      </m:sub>
                    </m:sSub>
                  </m:oMath>
                </a14:m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>
                  <a:lnSpc>
                    <a:spcPct val="20000"/>
                  </a:lnSpc>
                </a:pPr>
                <a:endParaRPr lang="en-US" altLang="zh-CN" sz="2400" dirty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r>
                  <a:rPr lang="zh-CN" altLang="en-US" sz="2400" dirty="0" smtClean="0">
                    <a:solidFill>
                      <a:srgbClr val="0000FF"/>
                    </a:solidFill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解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：</a:t>
                </a:r>
                <a:endParaRPr lang="en-US" altLang="zh-CN" sz="2400" b="0" dirty="0" smtClean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052736"/>
                <a:ext cx="8784976" cy="1274195"/>
              </a:xfrm>
              <a:prstGeom prst="rect">
                <a:avLst/>
              </a:prstGeom>
              <a:blipFill>
                <a:blip r:embed="rId2"/>
                <a:stretch>
                  <a:fillRect l="-1041" t="-5263" b="-86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2267744" y="251937"/>
            <a:ext cx="46805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7.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数学期望与方差的性质</a:t>
            </a:r>
            <a:endParaRPr lang="zh-CN" altLang="en-US" sz="3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10617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251520" y="1052736"/>
                <a:ext cx="8784976" cy="44145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 smtClean="0">
                    <a:solidFill>
                      <a:srgbClr val="0000FF"/>
                    </a:solidFill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例</a:t>
                </a:r>
                <a:r>
                  <a:rPr lang="en-US" altLang="zh-CN" sz="2400" dirty="0" smtClean="0">
                    <a:solidFill>
                      <a:srgbClr val="0000FF"/>
                    </a:solidFill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12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. 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设随机变量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X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与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Y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相互独立，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X~B(10,0.6)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，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Y~P(0.7)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。记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Z=3X+2Y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，求：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(1) EZ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，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DZ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；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(2)  E(YZ)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；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(3)</a:t>
                </a:r>
                <a14:m>
                  <m:oMath xmlns:m="http://schemas.openxmlformats.org/officeDocument/2006/math">
                    <m:r>
                      <a:rPr lang="zh-CN" altLang="en-US" sz="2400" i="0" smtClean="0">
                        <a:latin typeface="Cambria Math" panose="02040503050406030204" pitchFamily="18" charset="0"/>
                        <a:ea typeface="楷体" pitchFamily="49" charset="-122"/>
                        <a:cs typeface="Times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CN" altLang="en-US" sz="2400" i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  <m:t>ρ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  <m:t>YZ</m:t>
                        </m:r>
                      </m:sub>
                    </m:sSub>
                  </m:oMath>
                </a14:m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>
                  <a:lnSpc>
                    <a:spcPct val="20000"/>
                  </a:lnSpc>
                </a:pPr>
                <a:endParaRPr lang="en-US" altLang="zh-CN" sz="2400" dirty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r>
                  <a:rPr lang="zh-CN" altLang="en-US" sz="2400" dirty="0" smtClean="0">
                    <a:solidFill>
                      <a:srgbClr val="0000FF"/>
                    </a:solidFill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解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：</a:t>
                </a: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457200" indent="-457200">
                  <a:buAutoNum type="arabicParenBoth"/>
                </a:pP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EZ=E(3X+2Y)=3EX+2EY=3</a:t>
                </a:r>
                <a14:m>
                  <m:oMath xmlns:m="http://schemas.openxmlformats.org/officeDocument/2006/math">
                    <m:r>
                      <a:rPr lang="en-US" altLang="zh-CN" sz="2400" i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" pitchFamily="18" charset="0"/>
                      </a:rPr>
                      <m:t>×</m:t>
                    </m:r>
                  </m:oMath>
                </a14:m>
                <a:r>
                  <a:rPr lang="en-US" altLang="zh-CN" sz="2400" b="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10</a:t>
                </a:r>
                <a14:m>
                  <m:oMath xmlns:m="http://schemas.openxmlformats.org/officeDocument/2006/math">
                    <m:r>
                      <a:rPr lang="en-US" altLang="zh-CN" sz="2400" i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" pitchFamily="18" charset="0"/>
                      </a:rPr>
                      <m:t>×</m:t>
                    </m:r>
                  </m:oMath>
                </a14:m>
                <a:r>
                  <a:rPr lang="en-US" altLang="zh-CN" sz="2400" b="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0.6+2</a:t>
                </a:r>
                <a14:m>
                  <m:oMath xmlns:m="http://schemas.openxmlformats.org/officeDocument/2006/math">
                    <m:r>
                      <a:rPr lang="en-US" altLang="zh-CN" sz="2400" i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" pitchFamily="18" charset="0"/>
                      </a:rPr>
                      <m:t>×</m:t>
                    </m:r>
                  </m:oMath>
                </a14:m>
                <a:r>
                  <a:rPr lang="en-US" altLang="zh-CN" sz="2400" b="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0.7=19.4</a:t>
                </a:r>
              </a:p>
              <a:p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 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     DZ=D(3X+2Y)=3</a:t>
                </a:r>
                <a:r>
                  <a:rPr lang="en-US" altLang="zh-CN" sz="2400" baseline="300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2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DX+2</a:t>
                </a:r>
                <a:r>
                  <a:rPr lang="en-US" altLang="zh-CN" sz="2400" baseline="300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2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DY=</a:t>
                </a:r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3</a:t>
                </a:r>
                <a:r>
                  <a:rPr lang="en-US" altLang="zh-CN" sz="2400" baseline="300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" pitchFamily="18" charset="0"/>
                      </a:rPr>
                      <m:t>×</m:t>
                    </m:r>
                  </m:oMath>
                </a14:m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10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" pitchFamily="18" charset="0"/>
                      </a:rPr>
                      <m:t>×</m:t>
                    </m:r>
                  </m:oMath>
                </a14:m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0.6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" pitchFamily="18" charset="0"/>
                      </a:rPr>
                      <m:t>×</m:t>
                    </m:r>
                  </m:oMath>
                </a14:m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0.4+2</a:t>
                </a:r>
                <a:r>
                  <a:rPr lang="en-US" altLang="zh-CN" sz="2400" baseline="300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2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" pitchFamily="18" charset="0"/>
                      </a:rPr>
                      <m:t>×</m:t>
                    </m:r>
                  </m:oMath>
                </a14:m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0.7=24.4</a:t>
                </a:r>
              </a:p>
              <a:p>
                <a:endParaRPr lang="en-US" altLang="zh-CN" sz="2400" dirty="0" smtClean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(2) E(YZ)=E(Y(3X+2Y))=E(3XY+2Y</a:t>
                </a:r>
                <a:r>
                  <a:rPr lang="en-US" altLang="zh-CN" sz="2400" baseline="300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2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) =3E(X)E(Y)+2E(</a:t>
                </a:r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Y</a:t>
                </a:r>
                <a:r>
                  <a:rPr lang="en-US" altLang="zh-CN" sz="2400" baseline="300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2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)</a:t>
                </a:r>
              </a:p>
              <a:p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 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               =3E(X)E(Y)+2(DY+(EY)</a:t>
                </a:r>
                <a:r>
                  <a:rPr lang="en-US" altLang="zh-CN" sz="2400" baseline="30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2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)=3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" pitchFamily="18" charset="0"/>
                      </a:rPr>
                      <m:t>×</m:t>
                    </m:r>
                  </m:oMath>
                </a14:m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10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" pitchFamily="18" charset="0"/>
                      </a:rPr>
                      <m:t>×</m:t>
                    </m:r>
                  </m:oMath>
                </a14:m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0.6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" pitchFamily="18" charset="0"/>
                      </a:rPr>
                      <m:t>×</m:t>
                    </m:r>
                  </m:oMath>
                </a14:m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0.7+2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" pitchFamily="18" charset="0"/>
                      </a:rPr>
                      <m:t>×</m:t>
                    </m:r>
                  </m:oMath>
                </a14:m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(0.7+0.7</a:t>
                </a:r>
                <a:r>
                  <a:rPr lang="en-US" altLang="zh-CN" sz="2400" baseline="300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2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)</a:t>
                </a:r>
                <a:endParaRPr lang="en-US" altLang="zh-CN" sz="2400" dirty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r>
                  <a:rPr lang="en-US" altLang="zh-CN" sz="2400" b="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                =14.98</a:t>
                </a:r>
              </a:p>
              <a:p>
                <a:endParaRPr lang="en-US" altLang="zh-CN" sz="2400" b="0" dirty="0" smtClean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(3)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CN" altLang="en-US" sz="240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  <m:t>ρ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  <m:t>Y</m:t>
                        </m:r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  <m:t>Z</m:t>
                        </m:r>
                      </m:sub>
                    </m:sSub>
                  </m:oMath>
                </a14:m>
                <a:r>
                  <a:rPr lang="en-US" altLang="zh-CN" sz="2400" b="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2400" b="0" i="0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  <m:t>cov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  <m:t>(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  <m:t>𝑌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  <m:t>,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  <m:t>𝑍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anose="02020603050405020304" pitchFamily="18" charset="0"/>
                              </a:rPr>
                              <m:t>𝐷𝑌</m:t>
                            </m:r>
                          </m:e>
                        </m:rad>
                        <m:rad>
                          <m:radPr>
                            <m:degHide m:val="on"/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楷体" pitchFamily="49" charset="-122"/>
                                <a:cs typeface="Times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楷体" pitchFamily="49" charset="-122"/>
                                <a:cs typeface="Times" panose="02020603050405020304" pitchFamily="18" charset="0"/>
                              </a:rPr>
                              <m:t>𝐷</m:t>
                            </m:r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anose="02020603050405020304" pitchFamily="18" charset="0"/>
                              </a:rPr>
                              <m:t>𝑍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altLang="zh-CN" sz="2400" b="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anose="02020603050405020304" pitchFamily="18" charset="0"/>
                              </a:rPr>
                              <m:t>𝑌𝑍</m:t>
                            </m:r>
                          </m:e>
                        </m:d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  <m:t>−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  <m:t>𝐸𝑌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" panose="02020603050405020304" pitchFamily="18" charset="0"/>
                          </a:rPr>
                          <m:t>∙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" panose="02020603050405020304" pitchFamily="18" charset="0"/>
                          </a:rPr>
                          <m:t>𝐸𝑍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楷体" pitchFamily="49" charset="-122"/>
                                <a:cs typeface="Times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楷体" pitchFamily="49" charset="-122"/>
                                <a:cs typeface="Times" panose="02020603050405020304" pitchFamily="18" charset="0"/>
                              </a:rPr>
                              <m:t>𝐷𝑌</m:t>
                            </m:r>
                          </m:e>
                        </m:rad>
                        <m:rad>
                          <m:radPr>
                            <m:degHide m:val="on"/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楷体" pitchFamily="49" charset="-122"/>
                                <a:cs typeface="Times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楷体" pitchFamily="49" charset="-122"/>
                                <a:cs typeface="Times" panose="02020603050405020304" pitchFamily="18" charset="0"/>
                              </a:rPr>
                              <m:t>𝐷𝑍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altLang="zh-CN" sz="2400" b="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  <m:t>14.98−0.7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" panose="02020603050405020304" pitchFamily="18" charset="0"/>
                          </a:rPr>
                          <m:t>×19.4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anose="02020603050405020304" pitchFamily="18" charset="0"/>
                              </a:rPr>
                              <m:t>0.7</m:t>
                            </m:r>
                          </m:e>
                        </m:rad>
                        <m:rad>
                          <m:radPr>
                            <m:degHide m:val="on"/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anose="02020603050405020304" pitchFamily="18" charset="0"/>
                              </a:rPr>
                              <m:t>24.4</m:t>
                            </m:r>
                          </m:e>
                        </m:rad>
                      </m:den>
                    </m:f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" panose="02020603050405020304" pitchFamily="18" charset="0"/>
                      </a:rPr>
                      <m:t>≈0.3388</m:t>
                    </m:r>
                  </m:oMath>
                </a14:m>
                <a:endParaRPr lang="en-US" altLang="zh-CN" sz="2400" b="0" dirty="0" smtClean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052736"/>
                <a:ext cx="8784976" cy="4414542"/>
              </a:xfrm>
              <a:prstGeom prst="rect">
                <a:avLst/>
              </a:prstGeom>
              <a:blipFill>
                <a:blip r:embed="rId2"/>
                <a:stretch>
                  <a:fillRect l="-1041" t="-1519" b="-2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2267744" y="251937"/>
            <a:ext cx="46805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7.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数学期望与方差的性质</a:t>
            </a:r>
            <a:endParaRPr lang="zh-CN" altLang="en-US" sz="3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20498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2501467" y="251937"/>
            <a:ext cx="47147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8</a:t>
            </a:r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.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选择</a:t>
            </a:r>
            <a:r>
              <a:rPr lang="zh-CN" altLang="en-US" sz="32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、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填空常考知识点</a:t>
            </a:r>
            <a:endParaRPr lang="zh-CN" altLang="en-US" sz="3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251520" y="1052736"/>
            <a:ext cx="871296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36575" indent="-536575">
              <a:tabLst>
                <a:tab pos="900113" algn="l"/>
              </a:tabLst>
            </a:pP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1.</a:t>
            </a:r>
            <a:r>
              <a:rPr lang="zh-CN" altLang="en-US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设</a:t>
            </a:r>
            <a:r>
              <a:rPr lang="en-US" altLang="zh-CN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X</a:t>
            </a:r>
            <a:r>
              <a:rPr lang="zh-CN" altLang="en-US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与</a:t>
            </a:r>
            <a:r>
              <a:rPr lang="en-US" altLang="zh-CN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Y</a:t>
            </a:r>
            <a:r>
              <a:rPr lang="zh-CN" altLang="en-US" sz="2400" dirty="0">
                <a:solidFill>
                  <a:srgbClr val="FF0000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独立</a:t>
            </a:r>
            <a:r>
              <a:rPr lang="zh-CN" altLang="en-US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且</a:t>
            </a:r>
            <a:r>
              <a:rPr lang="en-US" altLang="zh-CN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X~N(</a:t>
            </a:r>
            <a:r>
              <a:rPr lang="el-GR" altLang="zh-CN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μ</a:t>
            </a:r>
            <a:r>
              <a:rPr lang="en-US" altLang="zh-CN" sz="2400" baseline="-250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x</a:t>
            </a:r>
            <a:r>
              <a:rPr lang="en-US" altLang="zh-CN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,</a:t>
            </a:r>
            <a:r>
              <a:rPr lang="el-GR" altLang="zh-CN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σ</a:t>
            </a:r>
            <a:r>
              <a:rPr lang="en-US" altLang="zh-CN" sz="2400" baseline="-250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x</a:t>
            </a:r>
            <a:r>
              <a:rPr lang="en-US" altLang="zh-CN" sz="2400" baseline="300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2</a:t>
            </a:r>
            <a:r>
              <a:rPr lang="en-US" altLang="zh-CN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)</a:t>
            </a:r>
            <a:r>
              <a:rPr lang="zh-CN" altLang="en-US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，</a:t>
            </a:r>
            <a:r>
              <a:rPr lang="en-US" altLang="zh-CN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 Y~N(</a:t>
            </a:r>
            <a:r>
              <a:rPr lang="el-GR" altLang="zh-CN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μ</a:t>
            </a:r>
            <a:r>
              <a:rPr lang="en-US" altLang="zh-CN" sz="2400" baseline="-250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Y</a:t>
            </a:r>
            <a:r>
              <a:rPr lang="en-US" altLang="zh-CN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,</a:t>
            </a:r>
            <a:r>
              <a:rPr lang="el-GR" altLang="zh-CN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σ</a:t>
            </a:r>
            <a:r>
              <a:rPr lang="en-US" altLang="zh-CN" sz="2400" baseline="-250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Y</a:t>
            </a:r>
            <a:r>
              <a:rPr lang="en-US" altLang="zh-CN" sz="2400" baseline="300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2</a:t>
            </a:r>
            <a:r>
              <a:rPr lang="en-US" altLang="zh-CN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)</a:t>
            </a:r>
            <a:r>
              <a:rPr lang="zh-CN" altLang="en-US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则</a:t>
            </a:r>
            <a:endParaRPr lang="en-US" altLang="zh-CN" sz="2400" dirty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>
              <a:tabLst>
                <a:tab pos="900113" algn="l"/>
              </a:tabLst>
            </a:pPr>
            <a:r>
              <a:rPr lang="en-US" altLang="zh-CN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                   </a:t>
            </a:r>
            <a:r>
              <a:rPr lang="en-US" altLang="zh-CN" sz="2400" dirty="0" err="1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aX+bY+c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~</a:t>
            </a:r>
          </a:p>
          <a:p>
            <a:pPr>
              <a:tabLst>
                <a:tab pos="900113" algn="l"/>
              </a:tabLst>
            </a:pPr>
            <a:endParaRPr lang="en-US" altLang="zh-CN" sz="2400" dirty="0" smtClean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626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2501467" y="251937"/>
            <a:ext cx="47147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8</a:t>
            </a:r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.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选择</a:t>
            </a:r>
            <a:r>
              <a:rPr lang="zh-CN" altLang="en-US" sz="32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、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填空常考知识点</a:t>
            </a:r>
            <a:endParaRPr lang="zh-CN" altLang="en-US" sz="3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251520" y="1052736"/>
            <a:ext cx="871296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36575" indent="-536575">
              <a:tabLst>
                <a:tab pos="900113" algn="l"/>
              </a:tabLst>
            </a:pP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1.</a:t>
            </a:r>
            <a:r>
              <a:rPr lang="zh-CN" altLang="en-US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设</a:t>
            </a:r>
            <a:r>
              <a:rPr lang="en-US" altLang="zh-CN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X</a:t>
            </a:r>
            <a:r>
              <a:rPr lang="zh-CN" altLang="en-US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与</a:t>
            </a:r>
            <a:r>
              <a:rPr lang="en-US" altLang="zh-CN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Y</a:t>
            </a:r>
            <a:r>
              <a:rPr lang="zh-CN" altLang="en-US" sz="2400" dirty="0">
                <a:solidFill>
                  <a:srgbClr val="FF0000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独立</a:t>
            </a:r>
            <a:r>
              <a:rPr lang="zh-CN" altLang="en-US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且</a:t>
            </a:r>
            <a:r>
              <a:rPr lang="en-US" altLang="zh-CN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X~N(</a:t>
            </a:r>
            <a:r>
              <a:rPr lang="el-GR" altLang="zh-CN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μ</a:t>
            </a:r>
            <a:r>
              <a:rPr lang="en-US" altLang="zh-CN" sz="2400" baseline="-250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x</a:t>
            </a:r>
            <a:r>
              <a:rPr lang="en-US" altLang="zh-CN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,</a:t>
            </a:r>
            <a:r>
              <a:rPr lang="el-GR" altLang="zh-CN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σ</a:t>
            </a:r>
            <a:r>
              <a:rPr lang="en-US" altLang="zh-CN" sz="2400" baseline="-250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x</a:t>
            </a:r>
            <a:r>
              <a:rPr lang="en-US" altLang="zh-CN" sz="2400" baseline="300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2</a:t>
            </a:r>
            <a:r>
              <a:rPr lang="en-US" altLang="zh-CN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)</a:t>
            </a:r>
            <a:r>
              <a:rPr lang="zh-CN" altLang="en-US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，</a:t>
            </a:r>
            <a:r>
              <a:rPr lang="en-US" altLang="zh-CN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 Y~N(</a:t>
            </a:r>
            <a:r>
              <a:rPr lang="el-GR" altLang="zh-CN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μ</a:t>
            </a:r>
            <a:r>
              <a:rPr lang="en-US" altLang="zh-CN" sz="2400" baseline="-250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Y</a:t>
            </a:r>
            <a:r>
              <a:rPr lang="en-US" altLang="zh-CN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,</a:t>
            </a:r>
            <a:r>
              <a:rPr lang="el-GR" altLang="zh-CN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σ</a:t>
            </a:r>
            <a:r>
              <a:rPr lang="en-US" altLang="zh-CN" sz="2400" baseline="-250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Y</a:t>
            </a:r>
            <a:r>
              <a:rPr lang="en-US" altLang="zh-CN" sz="2400" baseline="300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2</a:t>
            </a:r>
            <a:r>
              <a:rPr lang="en-US" altLang="zh-CN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)</a:t>
            </a:r>
            <a:r>
              <a:rPr lang="zh-CN" altLang="en-US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则</a:t>
            </a:r>
            <a:endParaRPr lang="en-US" altLang="zh-CN" sz="2400" dirty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>
              <a:tabLst>
                <a:tab pos="900113" algn="l"/>
              </a:tabLst>
            </a:pPr>
            <a:r>
              <a:rPr lang="en-US" altLang="zh-CN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                   </a:t>
            </a:r>
            <a:r>
              <a:rPr lang="en-US" altLang="zh-CN" sz="2400" dirty="0" err="1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aX+bY+c~N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(a</a:t>
            </a:r>
            <a:r>
              <a:rPr lang="el-GR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μ</a:t>
            </a:r>
            <a:r>
              <a:rPr lang="en-US" altLang="zh-CN" sz="2400" baseline="-25000" dirty="0" err="1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x</a:t>
            </a:r>
            <a:r>
              <a:rPr lang="en-US" altLang="zh-CN" sz="2400" dirty="0" err="1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+b</a:t>
            </a:r>
            <a:r>
              <a:rPr lang="el-GR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μ</a:t>
            </a:r>
            <a:r>
              <a:rPr lang="en-US" altLang="zh-CN" sz="2400" baseline="-25000" dirty="0" err="1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Y</a:t>
            </a:r>
            <a:r>
              <a:rPr lang="en-US" altLang="zh-CN" sz="2400" dirty="0" err="1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+c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,</a:t>
            </a:r>
            <a:r>
              <a:rPr lang="el-GR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 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a</a:t>
            </a:r>
            <a:r>
              <a:rPr lang="en-US" altLang="zh-CN" sz="2400" baseline="300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2</a:t>
            </a:r>
            <a:r>
              <a:rPr lang="el-GR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σ</a:t>
            </a:r>
            <a:r>
              <a:rPr lang="en-US" altLang="zh-CN" sz="2400" baseline="-250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x</a:t>
            </a:r>
            <a:r>
              <a:rPr lang="en-US" altLang="zh-CN" sz="2400" baseline="300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2</a:t>
            </a:r>
            <a:r>
              <a:rPr lang="en-US" altLang="zh-CN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+</a:t>
            </a:r>
            <a:r>
              <a:rPr lang="el-GR" altLang="zh-CN" sz="24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 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b</a:t>
            </a:r>
            <a:r>
              <a:rPr lang="en-US" altLang="zh-CN" sz="2400" baseline="300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2</a:t>
            </a:r>
            <a:r>
              <a:rPr lang="el-GR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σ</a:t>
            </a:r>
            <a:r>
              <a:rPr lang="en-US" altLang="zh-CN" sz="2400" baseline="-250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Y</a:t>
            </a:r>
            <a:r>
              <a:rPr lang="en-US" altLang="zh-CN" sz="2400" baseline="30000" dirty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2</a:t>
            </a:r>
            <a:r>
              <a:rPr lang="en-US" altLang="zh-CN" sz="2400" dirty="0" smtClean="0"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).</a:t>
            </a:r>
            <a:endParaRPr lang="en-US" altLang="zh-CN" sz="2400" dirty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>
              <a:tabLst>
                <a:tab pos="900113" algn="l"/>
              </a:tabLst>
            </a:pPr>
            <a:endParaRPr lang="en-US" altLang="zh-CN" sz="2400" dirty="0">
              <a:latin typeface="Times" panose="02020603050405020304" pitchFamily="18" charset="0"/>
              <a:ea typeface="楷体" pitchFamily="49" charset="-122"/>
              <a:cs typeface="Times" panose="02020603050405020304" pitchFamily="18" charset="0"/>
            </a:endParaRPr>
          </a:p>
          <a:p>
            <a:pPr>
              <a:tabLst>
                <a:tab pos="0" algn="l"/>
              </a:tabLst>
            </a:pPr>
            <a:endParaRPr lang="en-US" altLang="zh-CN" sz="2400" dirty="0" smtClean="0">
              <a:solidFill>
                <a:srgbClr val="0000FF"/>
              </a:solidFill>
              <a:latin typeface="Times" pitchFamily="18" charset="0"/>
              <a:ea typeface="楷体" pitchFamily="49" charset="-122"/>
              <a:cs typeface="Times" pitchFamily="18" charset="0"/>
            </a:endParaRPr>
          </a:p>
          <a:p>
            <a:pPr>
              <a:tabLst>
                <a:tab pos="0" algn="l"/>
              </a:tabLst>
            </a:pPr>
            <a:endParaRPr lang="en-US" altLang="zh-CN" sz="2400" dirty="0">
              <a:latin typeface="Times" pitchFamily="18" charset="0"/>
              <a:ea typeface="楷体" pitchFamily="49" charset="-122"/>
              <a:cs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7759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2501467" y="251937"/>
            <a:ext cx="47147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8</a:t>
            </a:r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.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选择</a:t>
            </a:r>
            <a:r>
              <a:rPr lang="zh-CN" altLang="en-US" sz="32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、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填空常考知识点</a:t>
            </a:r>
            <a:endParaRPr lang="zh-CN" altLang="en-US" sz="3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251520" y="1052736"/>
                <a:ext cx="8712968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36575" indent="-536575">
                  <a:tabLst>
                    <a:tab pos="900113" algn="l"/>
                  </a:tabLst>
                </a:pP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1.</a:t>
                </a:r>
                <a:r>
                  <a:rPr lang="zh-CN" altLang="en-US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设</a:t>
                </a:r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X</a:t>
                </a:r>
                <a:r>
                  <a:rPr lang="zh-CN" altLang="en-US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与</a:t>
                </a:r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Y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独立</a:t>
                </a:r>
                <a:r>
                  <a:rPr lang="zh-CN" altLang="en-US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且</a:t>
                </a:r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X~N(</a:t>
                </a:r>
                <a:r>
                  <a:rPr lang="el-GR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μ</a:t>
                </a:r>
                <a:r>
                  <a:rPr lang="en-US" altLang="zh-CN" sz="2400" baseline="-250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x</a:t>
                </a:r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,</a:t>
                </a:r>
                <a:r>
                  <a:rPr lang="el-GR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σ</a:t>
                </a:r>
                <a:r>
                  <a:rPr lang="en-US" altLang="zh-CN" sz="2400" baseline="-250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x</a:t>
                </a:r>
                <a:r>
                  <a:rPr lang="en-US" altLang="zh-CN" sz="2400" baseline="300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2</a:t>
                </a:r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)</a:t>
                </a:r>
                <a:r>
                  <a:rPr lang="zh-CN" altLang="en-US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，</a:t>
                </a:r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 Y~N(</a:t>
                </a:r>
                <a:r>
                  <a:rPr lang="el-GR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μ</a:t>
                </a:r>
                <a:r>
                  <a:rPr lang="en-US" altLang="zh-CN" sz="2400" baseline="-250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Y</a:t>
                </a:r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,</a:t>
                </a:r>
                <a:r>
                  <a:rPr lang="el-GR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σ</a:t>
                </a:r>
                <a:r>
                  <a:rPr lang="en-US" altLang="zh-CN" sz="2400" baseline="-250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Y</a:t>
                </a:r>
                <a:r>
                  <a:rPr lang="en-US" altLang="zh-CN" sz="2400" baseline="300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2</a:t>
                </a:r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)</a:t>
                </a:r>
                <a:r>
                  <a:rPr lang="zh-CN" altLang="en-US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则</a:t>
                </a:r>
                <a:endParaRPr lang="en-US" altLang="zh-CN" sz="2400" dirty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pPr>
                  <a:tabLst>
                    <a:tab pos="900113" algn="l"/>
                  </a:tabLst>
                </a:pPr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                   </a:t>
                </a:r>
                <a:r>
                  <a:rPr lang="en-US" altLang="zh-CN" sz="2400" dirty="0" err="1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aX+bY+c~N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(a</a:t>
                </a:r>
                <a:r>
                  <a:rPr lang="el-GR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μ</a:t>
                </a:r>
                <a:r>
                  <a:rPr lang="en-US" altLang="zh-CN" sz="2400" baseline="-25000" dirty="0" err="1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x</a:t>
                </a:r>
                <a:r>
                  <a:rPr lang="en-US" altLang="zh-CN" sz="2400" dirty="0" err="1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+b</a:t>
                </a:r>
                <a:r>
                  <a:rPr lang="el-GR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μ</a:t>
                </a:r>
                <a:r>
                  <a:rPr lang="en-US" altLang="zh-CN" sz="2400" baseline="-25000" dirty="0" err="1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Y</a:t>
                </a:r>
                <a:r>
                  <a:rPr lang="en-US" altLang="zh-CN" sz="2400" dirty="0" err="1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+c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,</a:t>
                </a:r>
                <a:r>
                  <a:rPr lang="el-GR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 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a</a:t>
                </a:r>
                <a:r>
                  <a:rPr lang="en-US" altLang="zh-CN" sz="2400" baseline="300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2</a:t>
                </a:r>
                <a:r>
                  <a:rPr lang="el-GR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σ</a:t>
                </a:r>
                <a:r>
                  <a:rPr lang="en-US" altLang="zh-CN" sz="2400" baseline="-250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x</a:t>
                </a:r>
                <a:r>
                  <a:rPr lang="en-US" altLang="zh-CN" sz="2400" baseline="300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2</a:t>
                </a:r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+</a:t>
                </a:r>
                <a:r>
                  <a:rPr lang="el-GR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 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b</a:t>
                </a:r>
                <a:r>
                  <a:rPr lang="en-US" altLang="zh-CN" sz="2400" baseline="300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2</a:t>
                </a:r>
                <a:r>
                  <a:rPr lang="el-GR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σ</a:t>
                </a:r>
                <a:r>
                  <a:rPr lang="en-US" altLang="zh-CN" sz="2400" baseline="-250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Y</a:t>
                </a:r>
                <a:r>
                  <a:rPr lang="en-US" altLang="zh-CN" sz="2400" baseline="300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2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).</a:t>
                </a:r>
                <a:endParaRPr lang="en-US" altLang="zh-CN" sz="2400" dirty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pPr>
                  <a:tabLst>
                    <a:tab pos="900113" algn="l"/>
                  </a:tabLst>
                </a:pP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   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特别的，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X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的标准化随机变量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~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𝑁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(0,1)</m:t>
                    </m:r>
                  </m:oMath>
                </a14:m>
                <a:endParaRPr lang="en-US" altLang="zh-CN" sz="2400" dirty="0" smtClean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052736"/>
                <a:ext cx="8712968" cy="1200329"/>
              </a:xfrm>
              <a:prstGeom prst="rect">
                <a:avLst/>
              </a:prstGeom>
              <a:blipFill>
                <a:blip r:embed="rId2"/>
                <a:stretch>
                  <a:fillRect l="-1049" t="-5584" b="-111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9916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2501467" y="251937"/>
            <a:ext cx="47147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8</a:t>
            </a:r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.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选择</a:t>
            </a:r>
            <a:r>
              <a:rPr lang="zh-CN" altLang="en-US" sz="32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、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填空常考知识点</a:t>
            </a:r>
            <a:endParaRPr lang="zh-CN" altLang="en-US" sz="3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251520" y="1052736"/>
                <a:ext cx="8712968" cy="563231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36575" indent="-536575">
                  <a:tabLst>
                    <a:tab pos="900113" algn="l"/>
                  </a:tabLst>
                </a:pP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1.</a:t>
                </a:r>
                <a:r>
                  <a:rPr lang="zh-CN" altLang="en-US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设</a:t>
                </a:r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X</a:t>
                </a:r>
                <a:r>
                  <a:rPr lang="zh-CN" altLang="en-US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与</a:t>
                </a:r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Y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独立</a:t>
                </a:r>
                <a:r>
                  <a:rPr lang="zh-CN" altLang="en-US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且</a:t>
                </a:r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X~N(</a:t>
                </a:r>
                <a:r>
                  <a:rPr lang="el-GR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μ</a:t>
                </a:r>
                <a:r>
                  <a:rPr lang="en-US" altLang="zh-CN" sz="2400" baseline="-250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x</a:t>
                </a:r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,</a:t>
                </a:r>
                <a:r>
                  <a:rPr lang="el-GR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σ</a:t>
                </a:r>
                <a:r>
                  <a:rPr lang="en-US" altLang="zh-CN" sz="2400" baseline="-250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x</a:t>
                </a:r>
                <a:r>
                  <a:rPr lang="en-US" altLang="zh-CN" sz="2400" baseline="300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2</a:t>
                </a:r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)</a:t>
                </a:r>
                <a:r>
                  <a:rPr lang="zh-CN" altLang="en-US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，</a:t>
                </a:r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 Y~N(</a:t>
                </a:r>
                <a:r>
                  <a:rPr lang="el-GR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μ</a:t>
                </a:r>
                <a:r>
                  <a:rPr lang="en-US" altLang="zh-CN" sz="2400" baseline="-250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Y</a:t>
                </a:r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,</a:t>
                </a:r>
                <a:r>
                  <a:rPr lang="el-GR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σ</a:t>
                </a:r>
                <a:r>
                  <a:rPr lang="en-US" altLang="zh-CN" sz="2400" baseline="-250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Y</a:t>
                </a:r>
                <a:r>
                  <a:rPr lang="en-US" altLang="zh-CN" sz="2400" baseline="300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2</a:t>
                </a:r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)</a:t>
                </a:r>
                <a:r>
                  <a:rPr lang="zh-CN" altLang="en-US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则</a:t>
                </a:r>
                <a:endParaRPr lang="en-US" altLang="zh-CN" sz="2400" dirty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pPr>
                  <a:tabLst>
                    <a:tab pos="900113" algn="l"/>
                  </a:tabLst>
                </a:pPr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                   </a:t>
                </a:r>
                <a:r>
                  <a:rPr lang="en-US" altLang="zh-CN" sz="2400" dirty="0" err="1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aX+bY+c~N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(a</a:t>
                </a:r>
                <a:r>
                  <a:rPr lang="el-GR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μ</a:t>
                </a:r>
                <a:r>
                  <a:rPr lang="en-US" altLang="zh-CN" sz="2400" baseline="-25000" dirty="0" err="1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x</a:t>
                </a:r>
                <a:r>
                  <a:rPr lang="en-US" altLang="zh-CN" sz="2400" dirty="0" err="1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+b</a:t>
                </a:r>
                <a:r>
                  <a:rPr lang="el-GR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μ</a:t>
                </a:r>
                <a:r>
                  <a:rPr lang="en-US" altLang="zh-CN" sz="2400" baseline="-25000" dirty="0" err="1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Y</a:t>
                </a:r>
                <a:r>
                  <a:rPr lang="en-US" altLang="zh-CN" sz="2400" dirty="0" err="1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+c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,</a:t>
                </a:r>
                <a:r>
                  <a:rPr lang="el-GR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 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a</a:t>
                </a:r>
                <a:r>
                  <a:rPr lang="en-US" altLang="zh-CN" sz="2400" baseline="300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2</a:t>
                </a:r>
                <a:r>
                  <a:rPr lang="el-GR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σ</a:t>
                </a:r>
                <a:r>
                  <a:rPr lang="en-US" altLang="zh-CN" sz="2400" baseline="-250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x</a:t>
                </a:r>
                <a:r>
                  <a:rPr lang="en-US" altLang="zh-CN" sz="2400" baseline="300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2</a:t>
                </a:r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+</a:t>
                </a:r>
                <a:r>
                  <a:rPr lang="el-GR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 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b</a:t>
                </a:r>
                <a:r>
                  <a:rPr lang="en-US" altLang="zh-CN" sz="2400" baseline="300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2</a:t>
                </a:r>
                <a:r>
                  <a:rPr lang="el-GR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σ</a:t>
                </a:r>
                <a:r>
                  <a:rPr lang="en-US" altLang="zh-CN" sz="2400" baseline="-250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Y</a:t>
                </a:r>
                <a:r>
                  <a:rPr lang="en-US" altLang="zh-CN" sz="2400" baseline="300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2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).</a:t>
                </a:r>
                <a:endParaRPr lang="en-US" altLang="zh-CN" sz="2400" dirty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pPr>
                  <a:tabLst>
                    <a:tab pos="900113" algn="l"/>
                  </a:tabLst>
                </a:pP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   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特别的，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X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的标准化随机变量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~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𝑁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(0,1)</m:t>
                    </m:r>
                  </m:oMath>
                </a14:m>
                <a:endParaRPr lang="en-US" altLang="zh-CN" sz="2400" dirty="0" smtClean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pPr>
                  <a:tabLst>
                    <a:tab pos="900113" algn="l"/>
                  </a:tabLst>
                </a:pPr>
                <a:endParaRPr lang="en-US" altLang="zh-CN" sz="2400" dirty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pPr>
                  <a:tabLst>
                    <a:tab pos="900113" algn="l"/>
                  </a:tabLst>
                </a:pPr>
                <a:r>
                  <a:rPr lang="zh-CN" altLang="en-US" sz="2400" dirty="0" smtClean="0">
                    <a:solidFill>
                      <a:srgbClr val="0000FF"/>
                    </a:solidFill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例</a:t>
                </a:r>
                <a:r>
                  <a:rPr lang="en-US" altLang="zh-CN" sz="2400" dirty="0" smtClean="0">
                    <a:solidFill>
                      <a:srgbClr val="0000FF"/>
                    </a:solidFill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13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.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已知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X~N(2,4)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，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Y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服从标准正态分布，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X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与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Y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相互独立，则</a:t>
                </a:r>
                <a:endParaRPr lang="en-US" altLang="zh-CN" sz="2400" dirty="0" smtClean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pPr>
                  <a:tabLst>
                    <a:tab pos="900113" algn="l"/>
                  </a:tabLst>
                </a:pPr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 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        P(X+Y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" panose="02020603050405020304" pitchFamily="18" charset="0"/>
                      </a:rPr>
                      <m:t>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" panose="02020603050405020304" pitchFamily="18" charset="0"/>
                      </a:rPr>
                      <m:t>2</m:t>
                    </m:r>
                  </m:oMath>
                </a14:m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)=________</a:t>
                </a:r>
              </a:p>
              <a:p>
                <a:pPr>
                  <a:tabLst>
                    <a:tab pos="900113" algn="l"/>
                  </a:tabLst>
                </a:pPr>
                <a:endParaRPr lang="en-US" altLang="zh-CN" sz="2400" dirty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pPr>
                  <a:tabLst>
                    <a:tab pos="900113" algn="l"/>
                  </a:tabLst>
                </a:pPr>
                <a:endParaRPr lang="en-US" altLang="zh-CN" sz="2400" dirty="0" smtClean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pPr>
                  <a:tabLst>
                    <a:tab pos="900113" algn="l"/>
                  </a:tabLst>
                </a:pPr>
                <a:r>
                  <a:rPr lang="zh-CN" altLang="en-US" sz="2400" dirty="0" smtClean="0">
                    <a:solidFill>
                      <a:srgbClr val="0000FF"/>
                    </a:solidFill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例</a:t>
                </a:r>
                <a:r>
                  <a:rPr lang="en-US" altLang="zh-CN" sz="2400" dirty="0" smtClean="0">
                    <a:solidFill>
                      <a:srgbClr val="0000FF"/>
                    </a:solidFill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14</a:t>
                </a:r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. X, Y</a:t>
                </a:r>
                <a:r>
                  <a:rPr lang="zh-CN" altLang="en-US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相互独立且服从相同分布</a:t>
                </a:r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N(</a:t>
                </a:r>
                <a:r>
                  <a:rPr lang="el-GR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μ,σ</a:t>
                </a:r>
                <a:r>
                  <a:rPr lang="el-GR" altLang="zh-CN" sz="2400" baseline="300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2</a:t>
                </a:r>
                <a:r>
                  <a:rPr lang="el-GR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)</a:t>
                </a:r>
                <a:r>
                  <a:rPr lang="zh-CN" altLang="el-GR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，</a:t>
                </a:r>
                <a:r>
                  <a:rPr lang="zh-CN" altLang="en-US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则</a:t>
                </a:r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2X-Y+3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~_______</a:t>
                </a:r>
              </a:p>
              <a:p>
                <a:pPr>
                  <a:tabLst>
                    <a:tab pos="0" algn="l"/>
                  </a:tabLst>
                </a:pPr>
                <a:endParaRPr lang="en-US" altLang="zh-CN" sz="2400" dirty="0" smtClean="0">
                  <a:solidFill>
                    <a:srgbClr val="0000FF"/>
                  </a:solidFill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pPr>
                  <a:tabLst>
                    <a:tab pos="0" algn="l"/>
                  </a:tabLst>
                </a:pPr>
                <a:endParaRPr lang="en-US" altLang="zh-CN" sz="2400" dirty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>
                  <a:tabLst>
                    <a:tab pos="0" algn="l"/>
                  </a:tabLst>
                </a:pPr>
                <a:r>
                  <a:rPr lang="zh-CN" altLang="en-US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例</a:t>
                </a:r>
                <a:r>
                  <a:rPr lang="en-US" altLang="zh-CN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15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.</a:t>
                </a:r>
                <a:r>
                  <a:rPr lang="zh-CN" altLang="en-US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设</a:t>
                </a:r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X, Y</a:t>
                </a:r>
                <a:r>
                  <a:rPr lang="zh-CN" altLang="en-US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相互独立且服从相同分布</a:t>
                </a:r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N(</a:t>
                </a:r>
                <a:r>
                  <a:rPr lang="el-GR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μ,σ</a:t>
                </a:r>
                <a:r>
                  <a:rPr lang="el-GR" altLang="zh-CN" sz="2400" baseline="300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2</a:t>
                </a:r>
                <a:r>
                  <a:rPr lang="el-GR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)</a:t>
                </a:r>
                <a:r>
                  <a:rPr lang="zh-CN" altLang="el-GR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，</a:t>
                </a:r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Z=X-Y+2</a:t>
                </a:r>
                <a:r>
                  <a:rPr lang="zh-CN" altLang="en-US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，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则    </a:t>
                </a: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>
                  <a:tabLst>
                    <a:tab pos="0" algn="l"/>
                  </a:tabLst>
                </a:pPr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        E(Z</a:t>
                </a:r>
                <a:r>
                  <a:rPr lang="en-US" altLang="zh-CN" sz="2400" baseline="30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2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)=_______</a:t>
                </a:r>
              </a:p>
              <a:p>
                <a:pPr>
                  <a:tabLst>
                    <a:tab pos="0" algn="l"/>
                  </a:tabLst>
                </a:pPr>
                <a:endParaRPr lang="en-US" altLang="zh-CN" sz="2400" dirty="0" smtClean="0">
                  <a:solidFill>
                    <a:srgbClr val="0000FF"/>
                  </a:solidFill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>
                  <a:tabLst>
                    <a:tab pos="0" algn="l"/>
                  </a:tabLst>
                </a:pPr>
                <a:endParaRPr lang="en-US" altLang="zh-CN" sz="2400" dirty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052736"/>
                <a:ext cx="8712968" cy="5632311"/>
              </a:xfrm>
              <a:prstGeom prst="rect">
                <a:avLst/>
              </a:prstGeom>
              <a:blipFill>
                <a:blip r:embed="rId2"/>
                <a:stretch>
                  <a:fillRect l="-1049" t="-1190" r="-6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9052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2501467" y="251937"/>
            <a:ext cx="47147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8</a:t>
            </a:r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.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选择</a:t>
            </a:r>
            <a:r>
              <a:rPr lang="zh-CN" altLang="en-US" sz="32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、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填空常考知识点</a:t>
            </a:r>
            <a:endParaRPr lang="zh-CN" altLang="en-US" sz="3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251520" y="1052736"/>
                <a:ext cx="8712968" cy="563231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36575" indent="-536575">
                  <a:tabLst>
                    <a:tab pos="900113" algn="l"/>
                  </a:tabLst>
                </a:pP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1.</a:t>
                </a:r>
                <a:r>
                  <a:rPr lang="zh-CN" altLang="en-US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设</a:t>
                </a:r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X</a:t>
                </a:r>
                <a:r>
                  <a:rPr lang="zh-CN" altLang="en-US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与</a:t>
                </a:r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Y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独立</a:t>
                </a:r>
                <a:r>
                  <a:rPr lang="zh-CN" altLang="en-US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且</a:t>
                </a:r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X~N(</a:t>
                </a:r>
                <a:r>
                  <a:rPr lang="el-GR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μ</a:t>
                </a:r>
                <a:r>
                  <a:rPr lang="en-US" altLang="zh-CN" sz="2400" baseline="-250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x</a:t>
                </a:r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,</a:t>
                </a:r>
                <a:r>
                  <a:rPr lang="el-GR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σ</a:t>
                </a:r>
                <a:r>
                  <a:rPr lang="en-US" altLang="zh-CN" sz="2400" baseline="-250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x</a:t>
                </a:r>
                <a:r>
                  <a:rPr lang="en-US" altLang="zh-CN" sz="2400" baseline="300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2</a:t>
                </a:r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)</a:t>
                </a:r>
                <a:r>
                  <a:rPr lang="zh-CN" altLang="en-US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，</a:t>
                </a:r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 Y~N(</a:t>
                </a:r>
                <a:r>
                  <a:rPr lang="el-GR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μ</a:t>
                </a:r>
                <a:r>
                  <a:rPr lang="en-US" altLang="zh-CN" sz="2400" baseline="-250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Y</a:t>
                </a:r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,</a:t>
                </a:r>
                <a:r>
                  <a:rPr lang="el-GR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σ</a:t>
                </a:r>
                <a:r>
                  <a:rPr lang="en-US" altLang="zh-CN" sz="2400" baseline="-250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Y</a:t>
                </a:r>
                <a:r>
                  <a:rPr lang="en-US" altLang="zh-CN" sz="2400" baseline="300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2</a:t>
                </a:r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)</a:t>
                </a:r>
                <a:r>
                  <a:rPr lang="zh-CN" altLang="en-US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则</a:t>
                </a:r>
                <a:endParaRPr lang="en-US" altLang="zh-CN" sz="2400" dirty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pPr>
                  <a:tabLst>
                    <a:tab pos="900113" algn="l"/>
                  </a:tabLst>
                </a:pPr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                   </a:t>
                </a:r>
                <a:r>
                  <a:rPr lang="en-US" altLang="zh-CN" sz="2400" dirty="0" err="1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aX+bY+c~N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(a</a:t>
                </a:r>
                <a:r>
                  <a:rPr lang="el-GR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μ</a:t>
                </a:r>
                <a:r>
                  <a:rPr lang="en-US" altLang="zh-CN" sz="2400" baseline="-25000" dirty="0" err="1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x</a:t>
                </a:r>
                <a:r>
                  <a:rPr lang="en-US" altLang="zh-CN" sz="2400" dirty="0" err="1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+b</a:t>
                </a:r>
                <a:r>
                  <a:rPr lang="el-GR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μ</a:t>
                </a:r>
                <a:r>
                  <a:rPr lang="en-US" altLang="zh-CN" sz="2400" baseline="-25000" dirty="0" err="1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Y</a:t>
                </a:r>
                <a:r>
                  <a:rPr lang="en-US" altLang="zh-CN" sz="2400" dirty="0" err="1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+c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,</a:t>
                </a:r>
                <a:r>
                  <a:rPr lang="el-GR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 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a</a:t>
                </a:r>
                <a:r>
                  <a:rPr lang="en-US" altLang="zh-CN" sz="2400" baseline="300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2</a:t>
                </a:r>
                <a:r>
                  <a:rPr lang="el-GR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σ</a:t>
                </a:r>
                <a:r>
                  <a:rPr lang="en-US" altLang="zh-CN" sz="2400" baseline="-250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x</a:t>
                </a:r>
                <a:r>
                  <a:rPr lang="en-US" altLang="zh-CN" sz="2400" baseline="300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2</a:t>
                </a:r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+</a:t>
                </a:r>
                <a:r>
                  <a:rPr lang="el-GR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 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b</a:t>
                </a:r>
                <a:r>
                  <a:rPr lang="en-US" altLang="zh-CN" sz="2400" baseline="300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2</a:t>
                </a:r>
                <a:r>
                  <a:rPr lang="el-GR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σ</a:t>
                </a:r>
                <a:r>
                  <a:rPr lang="en-US" altLang="zh-CN" sz="2400" baseline="-250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Y</a:t>
                </a:r>
                <a:r>
                  <a:rPr lang="en-US" altLang="zh-CN" sz="2400" baseline="300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2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).</a:t>
                </a:r>
                <a:endParaRPr lang="en-US" altLang="zh-CN" sz="2400" dirty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pPr>
                  <a:tabLst>
                    <a:tab pos="900113" algn="l"/>
                  </a:tabLst>
                </a:pP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   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特别的，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X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的标准化随机变量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~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𝑁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(0,1)</m:t>
                    </m:r>
                  </m:oMath>
                </a14:m>
                <a:endParaRPr lang="en-US" altLang="zh-CN" sz="2400" dirty="0" smtClean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pPr>
                  <a:tabLst>
                    <a:tab pos="900113" algn="l"/>
                  </a:tabLst>
                </a:pPr>
                <a:endParaRPr lang="en-US" altLang="zh-CN" sz="2400" dirty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pPr>
                  <a:tabLst>
                    <a:tab pos="900113" algn="l"/>
                  </a:tabLst>
                </a:pPr>
                <a:r>
                  <a:rPr lang="zh-CN" altLang="en-US" sz="2400" dirty="0" smtClean="0">
                    <a:solidFill>
                      <a:srgbClr val="0000FF"/>
                    </a:solidFill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例</a:t>
                </a:r>
                <a:r>
                  <a:rPr lang="en-US" altLang="zh-CN" sz="2400" dirty="0" smtClean="0">
                    <a:solidFill>
                      <a:srgbClr val="0000FF"/>
                    </a:solidFill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13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.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已知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X~N(2,4)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，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Y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服从标准正态分布，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X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与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Y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相互独立，则</a:t>
                </a:r>
                <a:endParaRPr lang="en-US" altLang="zh-CN" sz="2400" dirty="0" smtClean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pPr>
                  <a:tabLst>
                    <a:tab pos="900113" algn="l"/>
                  </a:tabLst>
                </a:pPr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 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        P(X+Y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" panose="02020603050405020304" pitchFamily="18" charset="0"/>
                      </a:rPr>
                      <m:t>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" panose="02020603050405020304" pitchFamily="18" charset="0"/>
                      </a:rPr>
                      <m:t>2</m:t>
                    </m:r>
                  </m:oMath>
                </a14:m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)=________</a:t>
                </a:r>
              </a:p>
              <a:p>
                <a:pPr>
                  <a:tabLst>
                    <a:tab pos="900113" algn="l"/>
                  </a:tabLst>
                </a:pPr>
                <a:r>
                  <a:rPr lang="zh-CN" altLang="en-US" sz="2400" dirty="0" smtClean="0">
                    <a:solidFill>
                      <a:srgbClr val="0000FF"/>
                    </a:solidFill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解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：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X+Y~N(2,5)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，则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P(X+Y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" panose="02020603050405020304" pitchFamily="18" charset="0"/>
                      </a:rPr>
                      <m:t>≥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" panose="02020603050405020304" pitchFamily="18" charset="0"/>
                      </a:rPr>
                      <m:t>2</m:t>
                    </m:r>
                  </m:oMath>
                </a14:m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)=0.5</a:t>
                </a:r>
              </a:p>
              <a:p>
                <a:pPr>
                  <a:tabLst>
                    <a:tab pos="900113" algn="l"/>
                  </a:tabLst>
                </a:pPr>
                <a:endParaRPr lang="en-US" altLang="zh-CN" sz="2400" dirty="0" smtClean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pPr>
                  <a:tabLst>
                    <a:tab pos="900113" algn="l"/>
                  </a:tabLst>
                </a:pPr>
                <a:r>
                  <a:rPr lang="zh-CN" altLang="en-US" sz="2400" dirty="0" smtClean="0">
                    <a:solidFill>
                      <a:srgbClr val="0000FF"/>
                    </a:solidFill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例</a:t>
                </a:r>
                <a:r>
                  <a:rPr lang="en-US" altLang="zh-CN" sz="2400" dirty="0" smtClean="0">
                    <a:solidFill>
                      <a:srgbClr val="0000FF"/>
                    </a:solidFill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14</a:t>
                </a:r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. X, Y</a:t>
                </a:r>
                <a:r>
                  <a:rPr lang="zh-CN" altLang="en-US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相互独立且服从相同分布</a:t>
                </a:r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N(</a:t>
                </a:r>
                <a:r>
                  <a:rPr lang="el-GR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μ,σ</a:t>
                </a:r>
                <a:r>
                  <a:rPr lang="el-GR" altLang="zh-CN" sz="2400" baseline="300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2</a:t>
                </a:r>
                <a:r>
                  <a:rPr lang="el-GR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)</a:t>
                </a:r>
                <a:r>
                  <a:rPr lang="zh-CN" altLang="el-GR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，</a:t>
                </a:r>
                <a:r>
                  <a:rPr lang="zh-CN" altLang="en-US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则</a:t>
                </a:r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2X-Y+3</a:t>
                </a: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~_______</a:t>
                </a:r>
              </a:p>
              <a:p>
                <a:pPr>
                  <a:tabLst>
                    <a:tab pos="0" algn="l"/>
                  </a:tabLst>
                </a:pPr>
                <a:r>
                  <a:rPr lang="zh-CN" altLang="en-US" sz="2400" dirty="0" smtClean="0">
                    <a:solidFill>
                      <a:srgbClr val="0000FF"/>
                    </a:solidFill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解</a:t>
                </a:r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：</a:t>
                </a:r>
                <a:r>
                  <a:rPr lang="en-US" altLang="zh-CN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2X-Y+3~N(</a:t>
                </a:r>
                <a:r>
                  <a:rPr lang="el-GR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μ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+3, 5</a:t>
                </a:r>
                <a:r>
                  <a:rPr lang="el-GR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σ</a:t>
                </a:r>
                <a:r>
                  <a:rPr lang="en-US" altLang="zh-CN" sz="2400" baseline="300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2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)</a:t>
                </a:r>
              </a:p>
              <a:p>
                <a:pPr>
                  <a:tabLst>
                    <a:tab pos="0" algn="l"/>
                  </a:tabLst>
                </a:pPr>
                <a:endParaRPr lang="en-US" altLang="zh-CN" sz="2400" dirty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>
                  <a:tabLst>
                    <a:tab pos="0" algn="l"/>
                  </a:tabLst>
                </a:pPr>
                <a:r>
                  <a:rPr lang="zh-CN" altLang="en-US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例</a:t>
                </a:r>
                <a:r>
                  <a:rPr lang="en-US" altLang="zh-CN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15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.</a:t>
                </a:r>
                <a:r>
                  <a:rPr lang="zh-CN" altLang="en-US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设</a:t>
                </a:r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X, Y</a:t>
                </a:r>
                <a:r>
                  <a:rPr lang="zh-CN" altLang="en-US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相互独立且服从相同分布</a:t>
                </a:r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N(</a:t>
                </a:r>
                <a:r>
                  <a:rPr lang="el-GR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μ,σ</a:t>
                </a:r>
                <a:r>
                  <a:rPr lang="el-GR" altLang="zh-CN" sz="2400" baseline="300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2</a:t>
                </a:r>
                <a:r>
                  <a:rPr lang="el-GR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)</a:t>
                </a:r>
                <a:r>
                  <a:rPr lang="zh-CN" altLang="el-GR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，</a:t>
                </a:r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Z=X-Y+2</a:t>
                </a:r>
                <a:r>
                  <a:rPr lang="zh-CN" altLang="en-US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，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则    </a:t>
                </a: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>
                  <a:tabLst>
                    <a:tab pos="0" algn="l"/>
                  </a:tabLst>
                </a:pPr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        E(Z</a:t>
                </a:r>
                <a:r>
                  <a:rPr lang="en-US" altLang="zh-CN" sz="2400" baseline="30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2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)=_______</a:t>
                </a:r>
              </a:p>
              <a:p>
                <a:pPr>
                  <a:tabLst>
                    <a:tab pos="0" algn="l"/>
                  </a:tabLst>
                </a:pPr>
                <a:r>
                  <a:rPr lang="zh-CN" altLang="en-US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解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：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Z~N(2, 2</a:t>
                </a:r>
                <a:r>
                  <a:rPr lang="el-GR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σ</a:t>
                </a:r>
                <a:r>
                  <a:rPr lang="en-US" altLang="zh-CN" sz="2400" baseline="300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2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)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，则</a:t>
                </a:r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E(Z</a:t>
                </a:r>
                <a:r>
                  <a:rPr lang="en-US" altLang="zh-CN" sz="2400" baseline="300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2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)=DZ+(EZ)</a:t>
                </a:r>
                <a:r>
                  <a:rPr lang="en-US" altLang="zh-CN" sz="2400" baseline="30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2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=2+2</a:t>
                </a:r>
                <a:r>
                  <a:rPr lang="el-GR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σ</a:t>
                </a:r>
                <a:r>
                  <a:rPr lang="en-US" altLang="zh-CN" sz="2400" baseline="300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2</a:t>
                </a:r>
                <a:endParaRPr lang="en-US" altLang="zh-CN" sz="2400" dirty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>
                  <a:tabLst>
                    <a:tab pos="0" algn="l"/>
                  </a:tabLst>
                </a:pPr>
                <a:endParaRPr lang="en-US" altLang="zh-CN" sz="2400" dirty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052736"/>
                <a:ext cx="8712968" cy="5632311"/>
              </a:xfrm>
              <a:prstGeom prst="rect">
                <a:avLst/>
              </a:prstGeom>
              <a:blipFill>
                <a:blip r:embed="rId2"/>
                <a:stretch>
                  <a:fillRect l="-1049" t="-1190" r="-6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7833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323528" y="1052736"/>
            <a:ext cx="842493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1938" indent="-261938"/>
            <a:r>
              <a:rPr lang="en-US" altLang="zh-CN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2. Y</a:t>
            </a:r>
            <a:r>
              <a:rPr lang="zh-CN" altLang="en-US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表示</a:t>
            </a:r>
            <a:r>
              <a:rPr lang="en-US" altLang="zh-CN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n</a:t>
            </a:r>
            <a:r>
              <a:rPr lang="zh-CN" altLang="en-US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次抽样中</a:t>
            </a:r>
            <a:r>
              <a:rPr lang="en-US" altLang="zh-CN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{a&lt;X&lt;b}</a:t>
            </a:r>
            <a:r>
              <a:rPr lang="zh-CN" altLang="en-US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的次数，</a:t>
            </a:r>
            <a:r>
              <a:rPr lang="en-US" altLang="zh-CN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X</a:t>
            </a:r>
            <a:r>
              <a:rPr lang="zh-CN" altLang="en-US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的密度函数为</a:t>
            </a:r>
            <a:r>
              <a:rPr lang="en-US" altLang="zh-CN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f(x)</a:t>
            </a:r>
            <a:r>
              <a:rPr lang="zh-CN" altLang="en-US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则</a:t>
            </a:r>
            <a:r>
              <a:rPr lang="en-US" altLang="zh-CN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P(Y=m)=______</a:t>
            </a:r>
          </a:p>
        </p:txBody>
      </p:sp>
      <p:sp>
        <p:nvSpPr>
          <p:cNvPr id="7" name="矩形 6"/>
          <p:cNvSpPr/>
          <p:nvPr/>
        </p:nvSpPr>
        <p:spPr>
          <a:xfrm>
            <a:off x="2501467" y="251937"/>
            <a:ext cx="47147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8</a:t>
            </a:r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.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选择</a:t>
            </a:r>
            <a:r>
              <a:rPr lang="zh-CN" altLang="en-US" sz="32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、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填空常考知识点</a:t>
            </a:r>
            <a:endParaRPr lang="zh-CN" altLang="en-US" sz="3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89380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323528" y="1052736"/>
                <a:ext cx="8712968" cy="387080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61938" indent="-261938"/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2. Y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表示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n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次抽样中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{a&lt;X&lt;b}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的次数，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的密度函数为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f(x)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则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P(Y=m)=______</a:t>
                </a:r>
              </a:p>
              <a:p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r>
                  <a:rPr lang="zh-CN" altLang="en-US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例</a:t>
                </a:r>
                <a:r>
                  <a:rPr lang="en-US" altLang="zh-CN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16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. 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设随机变量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的密度函数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itchFamily="18" charset="0"/>
                                </a:rPr>
                                <m:t>2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itchFamily="18" charset="0"/>
                                </a:rPr>
                                <m:t>𝑥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itchFamily="18" charset="0"/>
                                </a:rPr>
                                <m:t>, 0&lt;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itchFamily="18" charset="0"/>
                                </a:rPr>
                                <m:t>𝑥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itchFamily="18" charset="0"/>
                                </a:rPr>
                                <m:t>&lt;1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itchFamily="18" charset="0"/>
                                </a:rPr>
                                <m:t>0,       </m:t>
                              </m:r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itchFamily="18" charset="0"/>
                                </a:rPr>
                                <m:t>其它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，用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Y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表示     </a:t>
                </a: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         X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的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3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次独立重复观察中事件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{X&lt;0.5}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出现的次数，</a:t>
                </a: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        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则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P(Y=2)=______</a:t>
                </a:r>
              </a:p>
              <a:p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1052736"/>
                <a:ext cx="8712968" cy="3870803"/>
              </a:xfrm>
              <a:prstGeom prst="rect">
                <a:avLst/>
              </a:prstGeom>
              <a:blipFill>
                <a:blip r:embed="rId2"/>
                <a:stretch>
                  <a:fillRect l="-1050" t="-17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2501467" y="251937"/>
            <a:ext cx="47147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8</a:t>
            </a:r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.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选择</a:t>
            </a:r>
            <a:r>
              <a:rPr lang="zh-CN" altLang="en-US" sz="32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、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填空常考知识点</a:t>
            </a:r>
            <a:endParaRPr lang="zh-CN" altLang="en-US" sz="3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7767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323528" y="1052736"/>
                <a:ext cx="8712968" cy="45586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61938" indent="-261938"/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2. Y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表示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n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次抽样中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{a&lt;X&lt;b}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的次数，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的密度函数为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f(x)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则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P(Y=m)=______</a:t>
                </a:r>
              </a:p>
              <a:p>
                <a:endParaRPr lang="en-US" altLang="zh-CN" sz="2400" dirty="0" smtClean="0">
                  <a:solidFill>
                    <a:srgbClr val="0000FF"/>
                  </a:solidFill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endParaRPr lang="en-US" altLang="zh-CN" sz="2400" dirty="0">
                  <a:solidFill>
                    <a:srgbClr val="0000FF"/>
                  </a:solidFill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r>
                  <a:rPr lang="zh-CN" altLang="en-US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例</a:t>
                </a:r>
                <a:r>
                  <a:rPr lang="en-US" altLang="zh-CN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16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. 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设随机变量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的密度函数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itchFamily="18" charset="0"/>
                                </a:rPr>
                                <m:t>2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itchFamily="18" charset="0"/>
                                </a:rPr>
                                <m:t>𝑥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itchFamily="18" charset="0"/>
                                </a:rPr>
                                <m:t>, 0&lt;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itchFamily="18" charset="0"/>
                                </a:rPr>
                                <m:t>𝑥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itchFamily="18" charset="0"/>
                                </a:rPr>
                                <m:t>&lt;1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itchFamily="18" charset="0"/>
                                </a:rPr>
                                <m:t>0,       </m:t>
                              </m:r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itchFamily="18" charset="0"/>
                                </a:rPr>
                                <m:t>其它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，用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Y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表示     </a:t>
                </a: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         X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的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3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次独立重复观察中事件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{X&lt;0.5}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出现的次数，</a:t>
                </a: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        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则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P(Y=2)=______</a:t>
                </a:r>
              </a:p>
              <a:p>
                <a:r>
                  <a:rPr lang="zh-CN" altLang="en-US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解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：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Y~B(3,p)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，其中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naryPr>
                      <m:sub>
                        <m:r>
                          <a:rPr lang="en-US" altLang="zh-CN" sz="240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−</m:t>
                        </m:r>
                        <m:r>
                          <m:rPr>
                            <m:brk m:alnAt="23"/>
                          </m:r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0</m:t>
                        </m:r>
                        <m:r>
                          <a:rPr lang="en-US" altLang="zh-CN" sz="240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.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5</m:t>
                        </m:r>
                      </m:sup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𝑑𝑥</m:t>
                        </m:r>
                      </m:e>
                    </m:nary>
                    <m:r>
                      <a:rPr lang="en-US" altLang="zh-CN" sz="240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0.5</m:t>
                        </m:r>
                      </m:sup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2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𝑥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 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𝑑𝑥</m:t>
                        </m:r>
                      </m:e>
                    </m:nary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      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则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𝑌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=2</m:t>
                            </m:r>
                          </m:e>
                        </m:d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=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3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2</m:t>
                        </m:r>
                      </m:sup>
                    </m:sSubSup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9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6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1052736"/>
                <a:ext cx="8712968" cy="4558684"/>
              </a:xfrm>
              <a:prstGeom prst="rect">
                <a:avLst/>
              </a:prstGeom>
              <a:blipFill>
                <a:blip r:embed="rId2"/>
                <a:stretch>
                  <a:fillRect l="-1050" t="-1471" b="-2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2501467" y="251937"/>
            <a:ext cx="47147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8</a:t>
            </a:r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.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选择</a:t>
            </a:r>
            <a:r>
              <a:rPr lang="zh-CN" altLang="en-US" sz="32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、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填空常考知识点</a:t>
            </a:r>
            <a:endParaRPr lang="zh-CN" altLang="en-US" sz="3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94145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323528" y="1052736"/>
                <a:ext cx="8712968" cy="47380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61938" indent="-261938"/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2. Y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表示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n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次抽样中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{a&lt;X&lt;b}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的次数，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的密度函数为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f(x)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则 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P(Y=m)=______</a:t>
                </a:r>
              </a:p>
              <a:p>
                <a:r>
                  <a:rPr lang="zh-CN" altLang="en-US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解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：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Y~B(n, p)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，其中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𝑝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𝑎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𝑏</m:t>
                        </m:r>
                      </m:sup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，</a:t>
                </a: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      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则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𝑌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=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𝑚</m:t>
                            </m:r>
                          </m:e>
                        </m:d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=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𝑚</m:t>
                        </m:r>
                      </m:sup>
                    </m:sSubSup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𝑚</m:t>
                        </m:r>
                      </m:sup>
                    </m:sSup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(1−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𝑝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𝑛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−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𝑚</m:t>
                        </m:r>
                      </m:sup>
                    </m:sSup>
                  </m:oMath>
                </a14:m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r>
                  <a:rPr lang="zh-CN" altLang="en-US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例</a:t>
                </a:r>
                <a:r>
                  <a:rPr lang="en-US" altLang="zh-CN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16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. 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设随机变量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的密度函数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itchFamily="18" charset="0"/>
                                </a:rPr>
                                <m:t>2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itchFamily="18" charset="0"/>
                                </a:rPr>
                                <m:t>𝑥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itchFamily="18" charset="0"/>
                                </a:rPr>
                                <m:t>, 0&lt;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itchFamily="18" charset="0"/>
                                </a:rPr>
                                <m:t>𝑥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itchFamily="18" charset="0"/>
                                </a:rPr>
                                <m:t>&lt;1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itchFamily="18" charset="0"/>
                                </a:rPr>
                                <m:t>0,       </m:t>
                              </m:r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itchFamily="18" charset="0"/>
                                </a:rPr>
                                <m:t>其它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，用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Y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表示     </a:t>
                </a: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         X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的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3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次独立重复观察中事件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{X&lt;0.5}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出现的次数，</a:t>
                </a: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        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则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P(Y=2)=______</a:t>
                </a:r>
              </a:p>
              <a:p>
                <a:r>
                  <a:rPr lang="zh-CN" altLang="en-US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解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：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Y~B(3,p)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，其中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naryPr>
                      <m:sub>
                        <m:r>
                          <a:rPr lang="en-US" altLang="zh-CN" sz="240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−</m:t>
                        </m:r>
                        <m:r>
                          <m:rPr>
                            <m:brk m:alnAt="23"/>
                          </m:r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0</m:t>
                        </m:r>
                        <m:r>
                          <a:rPr lang="en-US" altLang="zh-CN" sz="240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.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5</m:t>
                        </m:r>
                      </m:sup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𝑑𝑥</m:t>
                        </m:r>
                      </m:e>
                    </m:nary>
                    <m:r>
                      <a:rPr lang="en-US" altLang="zh-CN" sz="240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0.5</m:t>
                        </m:r>
                      </m:sup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2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𝑥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 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𝑑𝑥</m:t>
                        </m:r>
                      </m:e>
                    </m:nary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      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则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𝑌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=2</m:t>
                            </m:r>
                          </m:e>
                        </m:d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=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3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2</m:t>
                        </m:r>
                      </m:sup>
                    </m:sSubSup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9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6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1052736"/>
                <a:ext cx="8712968" cy="4738092"/>
              </a:xfrm>
              <a:prstGeom prst="rect">
                <a:avLst/>
              </a:prstGeom>
              <a:blipFill>
                <a:blip r:embed="rId2"/>
                <a:stretch>
                  <a:fillRect l="-1050" t="-14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2501467" y="251937"/>
            <a:ext cx="47147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8</a:t>
            </a:r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.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选择</a:t>
            </a:r>
            <a:r>
              <a:rPr lang="zh-CN" altLang="en-US" sz="32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、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填空常考知识点</a:t>
            </a:r>
            <a:endParaRPr lang="zh-CN" altLang="en-US" sz="3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55767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251520" y="1052736"/>
            <a:ext cx="87129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1938" indent="-261938"/>
            <a:r>
              <a:rPr lang="en-US" altLang="zh-CN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3. </a:t>
            </a:r>
            <a:r>
              <a:rPr lang="zh-CN" altLang="en-US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切比雪夫不等式：</a:t>
            </a:r>
            <a:endParaRPr lang="en-US" altLang="zh-CN" sz="2400" dirty="0" smtClean="0">
              <a:latin typeface="Times" pitchFamily="18" charset="0"/>
              <a:ea typeface="楷体" pitchFamily="49" charset="-122"/>
              <a:cs typeface="Times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01467" y="251937"/>
            <a:ext cx="47147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8</a:t>
            </a:r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.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选择</a:t>
            </a:r>
            <a:r>
              <a:rPr lang="zh-CN" altLang="en-US" sz="32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、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填空常考知识点</a:t>
            </a:r>
            <a:endParaRPr lang="zh-CN" altLang="en-US" sz="3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42102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251520" y="1052736"/>
            <a:ext cx="871296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1938" indent="-261938"/>
            <a:r>
              <a:rPr lang="en-US" altLang="zh-CN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3. </a:t>
            </a:r>
            <a:r>
              <a:rPr lang="zh-CN" altLang="en-US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切比雪夫不等式：</a:t>
            </a:r>
            <a:endParaRPr lang="en-US" altLang="zh-CN" sz="2400" dirty="0" smtClean="0">
              <a:latin typeface="Times" pitchFamily="18" charset="0"/>
              <a:ea typeface="楷体" pitchFamily="49" charset="-122"/>
              <a:cs typeface="Times" pitchFamily="18" charset="0"/>
            </a:endParaRPr>
          </a:p>
          <a:p>
            <a:pPr marL="261938" indent="-261938"/>
            <a:r>
              <a:rPr lang="en-US" altLang="zh-CN" sz="2400" dirty="0">
                <a:latin typeface="Times" pitchFamily="18" charset="0"/>
                <a:ea typeface="楷体" pitchFamily="49" charset="-122"/>
                <a:cs typeface="Times" pitchFamily="18" charset="0"/>
              </a:rPr>
              <a:t> </a:t>
            </a:r>
            <a:r>
              <a:rPr lang="en-US" altLang="zh-CN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   </a:t>
            </a:r>
            <a:r>
              <a:rPr lang="zh-CN" altLang="en-US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设</a:t>
            </a:r>
            <a:r>
              <a:rPr lang="zh-CN" altLang="en-US" sz="2400" dirty="0">
                <a:latin typeface="Times" pitchFamily="18" charset="0"/>
                <a:ea typeface="楷体" pitchFamily="49" charset="-122"/>
                <a:cs typeface="Times" pitchFamily="18" charset="0"/>
              </a:rPr>
              <a:t>随机变量</a:t>
            </a:r>
            <a:r>
              <a:rPr lang="en-US" altLang="zh-CN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X</a:t>
            </a:r>
            <a:r>
              <a:rPr lang="zh-CN" altLang="en-US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的数学期望</a:t>
            </a:r>
            <a:r>
              <a:rPr lang="en-US" altLang="zh-CN" sz="2400" dirty="0">
                <a:latin typeface="Times" pitchFamily="18" charset="0"/>
                <a:ea typeface="楷体" pitchFamily="49" charset="-122"/>
                <a:cs typeface="Times" pitchFamily="18" charset="0"/>
              </a:rPr>
              <a:t>E(X)</a:t>
            </a:r>
            <a:r>
              <a:rPr lang="zh-CN" altLang="en-US" sz="2400" dirty="0">
                <a:latin typeface="Times" pitchFamily="18" charset="0"/>
                <a:ea typeface="楷体" pitchFamily="49" charset="-122"/>
                <a:cs typeface="Times" pitchFamily="18" charset="0"/>
              </a:rPr>
              <a:t>及方差</a:t>
            </a:r>
            <a:r>
              <a:rPr lang="en-US" altLang="zh-CN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D(X)</a:t>
            </a:r>
            <a:r>
              <a:rPr lang="zh-CN" altLang="en-US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存在，</a:t>
            </a:r>
            <a:r>
              <a:rPr lang="zh-CN" altLang="en-US" sz="2400" dirty="0">
                <a:latin typeface="Times" pitchFamily="18" charset="0"/>
                <a:ea typeface="楷体" pitchFamily="49" charset="-122"/>
                <a:cs typeface="Times" pitchFamily="18" charset="0"/>
              </a:rPr>
              <a:t>则对于任何正数</a:t>
            </a:r>
            <a:r>
              <a:rPr lang="en-US" altLang="zh-CN" sz="2400" dirty="0">
                <a:latin typeface="Times" pitchFamily="18" charset="0"/>
                <a:ea typeface="楷体" pitchFamily="49" charset="-122"/>
                <a:cs typeface="Times" pitchFamily="18" charset="0"/>
              </a:rPr>
              <a:t>ε</a:t>
            </a:r>
            <a:r>
              <a:rPr lang="zh-CN" altLang="en-US" sz="2400" dirty="0">
                <a:latin typeface="Times" pitchFamily="18" charset="0"/>
                <a:ea typeface="楷体" pitchFamily="49" charset="-122"/>
                <a:cs typeface="Times" pitchFamily="18" charset="0"/>
              </a:rPr>
              <a:t>，下列不等式成立</a:t>
            </a:r>
            <a:r>
              <a:rPr lang="zh-CN" altLang="en-US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：</a:t>
            </a:r>
            <a:endParaRPr lang="zh-CN" altLang="en-US" sz="2400" dirty="0">
              <a:latin typeface="Times" pitchFamily="18" charset="0"/>
              <a:ea typeface="楷体" pitchFamily="49" charset="-122"/>
              <a:cs typeface="Times" pitchFamily="18" charset="0"/>
            </a:endParaRPr>
          </a:p>
          <a:p>
            <a:pPr marL="261938" indent="-261938"/>
            <a:r>
              <a:rPr lang="zh-CN" altLang="en-US" sz="2400" dirty="0">
                <a:latin typeface="Times" pitchFamily="18" charset="0"/>
                <a:ea typeface="楷体" pitchFamily="49" charset="-122"/>
                <a:cs typeface="Times" pitchFamily="18" charset="0"/>
              </a:rPr>
              <a:t> </a:t>
            </a:r>
            <a:endParaRPr lang="en-US" altLang="zh-CN" sz="2400" dirty="0" smtClean="0">
              <a:latin typeface="Times" pitchFamily="18" charset="0"/>
              <a:ea typeface="楷体" pitchFamily="49" charset="-122"/>
              <a:cs typeface="Times" pitchFamily="18" charset="0"/>
            </a:endParaRPr>
          </a:p>
          <a:p>
            <a:pPr marL="261938" indent="-261938"/>
            <a:r>
              <a:rPr lang="zh-CN" altLang="en-US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                                                    或</a:t>
            </a:r>
            <a:endParaRPr lang="en-US" altLang="zh-CN" sz="2400" dirty="0" smtClean="0">
              <a:latin typeface="Times" pitchFamily="18" charset="0"/>
              <a:ea typeface="楷体" pitchFamily="49" charset="-122"/>
              <a:cs typeface="Times" pitchFamily="18" charset="0"/>
            </a:endParaRPr>
          </a:p>
          <a:p>
            <a:pPr marL="261938" indent="-261938"/>
            <a:endParaRPr lang="en-US" altLang="zh-CN" sz="2400" dirty="0" smtClean="0">
              <a:latin typeface="Times" pitchFamily="18" charset="0"/>
              <a:ea typeface="楷体" pitchFamily="49" charset="-122"/>
              <a:cs typeface="Times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01467" y="251937"/>
            <a:ext cx="47147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8</a:t>
            </a:r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.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选择</a:t>
            </a:r>
            <a:r>
              <a:rPr lang="zh-CN" altLang="en-US" sz="32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、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填空常考知识点</a:t>
            </a:r>
            <a:endParaRPr lang="zh-CN" altLang="en-US" sz="3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  <p:graphicFrame>
        <p:nvGraphicFramePr>
          <p:cNvPr id="4" name="Object 16"/>
          <p:cNvGraphicFramePr>
            <a:graphicFrameLocks noChangeAspect="1"/>
          </p:cNvGraphicFramePr>
          <p:nvPr/>
        </p:nvGraphicFramePr>
        <p:xfrm>
          <a:off x="596330" y="2287464"/>
          <a:ext cx="3669425" cy="92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0246" name="公式" r:id="rId3" imgW="1726920" imgH="406080" progId="Equation.3">
                  <p:embed/>
                </p:oleObj>
              </mc:Choice>
              <mc:Fallback>
                <p:oleObj name="公式" r:id="rId3" imgW="1726920" imgH="406080" progId="Equation.3">
                  <p:embed/>
                  <p:pic>
                    <p:nvPicPr>
                      <p:cNvPr id="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330" y="2287464"/>
                        <a:ext cx="3669425" cy="925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7"/>
          <p:cNvGraphicFramePr>
            <a:graphicFrameLocks noChangeAspect="1"/>
          </p:cNvGraphicFramePr>
          <p:nvPr/>
        </p:nvGraphicFramePr>
        <p:xfrm>
          <a:off x="4871466" y="2276872"/>
          <a:ext cx="3787505" cy="924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0247" name="公式" r:id="rId5" imgW="1930320" imgH="406080" progId="Equation.3">
                  <p:embed/>
                </p:oleObj>
              </mc:Choice>
              <mc:Fallback>
                <p:oleObj name="公式" r:id="rId5" imgW="1930320" imgH="406080" progId="Equation.3">
                  <p:embed/>
                  <p:pic>
                    <p:nvPicPr>
                      <p:cNvPr id="5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1466" y="2276872"/>
                        <a:ext cx="3787505" cy="9244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5967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251520" y="1052736"/>
                <a:ext cx="8712968" cy="34163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61938" indent="-261938"/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3. 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切比雪夫不等式：</a:t>
                </a: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261938" indent="-261938"/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  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设</a:t>
                </a:r>
                <a:r>
                  <a:rPr lang="zh-CN" altLang="en-US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随机变量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的数学期望</a:t>
                </a:r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E(X)</a:t>
                </a:r>
                <a:r>
                  <a:rPr lang="zh-CN" altLang="en-US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及方差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D(X)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存在，</a:t>
                </a:r>
                <a:r>
                  <a:rPr lang="zh-CN" altLang="en-US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则对于任何正数</a:t>
                </a:r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ε</a:t>
                </a:r>
                <a:r>
                  <a:rPr lang="zh-CN" altLang="en-US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，下列不等式成立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：</a:t>
                </a:r>
                <a:endParaRPr lang="zh-CN" altLang="en-US" sz="2400" dirty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261938" indent="-261938"/>
                <a:r>
                  <a:rPr lang="zh-CN" altLang="en-US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</a:t>
                </a: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261938" indent="-261938"/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                                                   或</a:t>
                </a: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261938" indent="-261938"/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261938" indent="-261938"/>
                <a:endParaRPr lang="zh-CN" altLang="en-US" sz="2400" dirty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261938" indent="-261938"/>
                <a:r>
                  <a:rPr lang="zh-CN" altLang="en-US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例</a:t>
                </a:r>
                <a:r>
                  <a:rPr lang="en-US" altLang="zh-CN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17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. 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设随机变量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X~B(100,0.5)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，则由切比雪夫不等式估计概率</a:t>
                </a: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261938" indent="-261938"/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         P(40&lt;X&lt;60)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" pitchFamily="18" charset="0"/>
                      </a:rPr>
                      <m:t>≥</m:t>
                    </m:r>
                  </m:oMath>
                </a14:m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__________</a:t>
                </a:r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052736"/>
                <a:ext cx="8712968" cy="3416320"/>
              </a:xfrm>
              <a:prstGeom prst="rect">
                <a:avLst/>
              </a:prstGeom>
              <a:blipFill>
                <a:blip r:embed="rId3"/>
                <a:stretch>
                  <a:fillRect l="-1049" t="-1964" r="-629" b="-32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2501467" y="251937"/>
            <a:ext cx="47147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8</a:t>
            </a:r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.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选择</a:t>
            </a:r>
            <a:r>
              <a:rPr lang="zh-CN" altLang="en-US" sz="32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、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填空常考知识点</a:t>
            </a:r>
            <a:endParaRPr lang="zh-CN" altLang="en-US" sz="3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  <p:graphicFrame>
        <p:nvGraphicFramePr>
          <p:cNvPr id="4" name="Object 16"/>
          <p:cNvGraphicFramePr>
            <a:graphicFrameLocks noChangeAspect="1"/>
          </p:cNvGraphicFramePr>
          <p:nvPr/>
        </p:nvGraphicFramePr>
        <p:xfrm>
          <a:off x="596330" y="2287464"/>
          <a:ext cx="3669425" cy="92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1270" name="公式" r:id="rId4" imgW="1726920" imgH="406080" progId="Equation.3">
                  <p:embed/>
                </p:oleObj>
              </mc:Choice>
              <mc:Fallback>
                <p:oleObj name="公式" r:id="rId4" imgW="1726920" imgH="406080" progId="Equation.3">
                  <p:embed/>
                  <p:pic>
                    <p:nvPicPr>
                      <p:cNvPr id="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330" y="2287464"/>
                        <a:ext cx="3669425" cy="925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7"/>
          <p:cNvGraphicFramePr>
            <a:graphicFrameLocks noChangeAspect="1"/>
          </p:cNvGraphicFramePr>
          <p:nvPr/>
        </p:nvGraphicFramePr>
        <p:xfrm>
          <a:off x="4871466" y="2276872"/>
          <a:ext cx="3787505" cy="924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1271" name="公式" r:id="rId6" imgW="1930320" imgH="406080" progId="Equation.3">
                  <p:embed/>
                </p:oleObj>
              </mc:Choice>
              <mc:Fallback>
                <p:oleObj name="公式" r:id="rId6" imgW="1930320" imgH="406080" progId="Equation.3">
                  <p:embed/>
                  <p:pic>
                    <p:nvPicPr>
                      <p:cNvPr id="5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1466" y="2276872"/>
                        <a:ext cx="3787505" cy="9244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41820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251520" y="1052736"/>
                <a:ext cx="8712968" cy="44710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61938" indent="-261938"/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3. 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切比雪夫不等式：</a:t>
                </a: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261938" indent="-261938"/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  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设</a:t>
                </a:r>
                <a:r>
                  <a:rPr lang="zh-CN" altLang="en-US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随机变量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的数学期望</a:t>
                </a:r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E(X)</a:t>
                </a:r>
                <a:r>
                  <a:rPr lang="zh-CN" altLang="en-US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及方差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D(X)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存在，</a:t>
                </a:r>
                <a:r>
                  <a:rPr lang="zh-CN" altLang="en-US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则对于任何正数</a:t>
                </a:r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ε</a:t>
                </a:r>
                <a:r>
                  <a:rPr lang="zh-CN" altLang="en-US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，下列不等式成立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：</a:t>
                </a:r>
                <a:endParaRPr lang="zh-CN" altLang="en-US" sz="2400" dirty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261938" indent="-261938"/>
                <a:r>
                  <a:rPr lang="zh-CN" altLang="en-US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</a:t>
                </a: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261938" indent="-261938"/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                                                   或</a:t>
                </a: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261938" indent="-261938"/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261938" indent="-261938"/>
                <a:endParaRPr lang="zh-CN" altLang="en-US" sz="2400" dirty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261938" indent="-261938"/>
                <a:r>
                  <a:rPr lang="zh-CN" altLang="en-US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例</a:t>
                </a:r>
                <a:r>
                  <a:rPr lang="en-US" altLang="zh-CN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17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. 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设随机变量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X~B(100,0.5)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，则由切比雪夫不等式估计概率</a:t>
                </a: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261938" indent="-261938"/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         P(40&lt;X&lt;60)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" pitchFamily="18" charset="0"/>
                      </a:rPr>
                      <m:t>≥</m:t>
                    </m:r>
                  </m:oMath>
                </a14:m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__________</a:t>
                </a:r>
              </a:p>
              <a:p>
                <a:pPr marL="261938" indent="-261938"/>
                <a:r>
                  <a:rPr lang="zh-CN" altLang="en-US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解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：</a:t>
                </a:r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P(40&lt;X&lt;60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)=P(|X-50|&lt;10)=P(|X-EX|&lt;10)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" pitchFamily="18" charset="0"/>
                      </a:rPr>
                      <m:t>≥</m:t>
                    </m:r>
                  </m:oMath>
                </a14:m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1-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fPr>
                      <m:num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𝐷𝑋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i="1" dirty="0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261938" indent="-261938"/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                          =1-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100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" pitchFamily="18" charset="0"/>
                          </a:rPr>
                          <m:t>×0.5×0.5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100</m:t>
                        </m:r>
                      </m:den>
                    </m:f>
                  </m:oMath>
                </a14:m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=0.75</a:t>
                </a:r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1052736"/>
                <a:ext cx="8712968" cy="4471032"/>
              </a:xfrm>
              <a:prstGeom prst="rect">
                <a:avLst/>
              </a:prstGeom>
              <a:blipFill>
                <a:blip r:embed="rId3"/>
                <a:stretch>
                  <a:fillRect l="-1049" t="-1501" r="-629" b="-4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2501467" y="251937"/>
            <a:ext cx="47147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8</a:t>
            </a:r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.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选择</a:t>
            </a:r>
            <a:r>
              <a:rPr lang="zh-CN" altLang="en-US" sz="32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、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填空常考知识点</a:t>
            </a:r>
            <a:endParaRPr lang="zh-CN" altLang="en-US" sz="3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  <p:graphicFrame>
        <p:nvGraphicFramePr>
          <p:cNvPr id="4" name="Object 16"/>
          <p:cNvGraphicFramePr>
            <a:graphicFrameLocks noChangeAspect="1"/>
          </p:cNvGraphicFramePr>
          <p:nvPr/>
        </p:nvGraphicFramePr>
        <p:xfrm>
          <a:off x="596330" y="2287464"/>
          <a:ext cx="3669425" cy="92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2296" name="公式" r:id="rId4" imgW="1726920" imgH="406080" progId="Equation.3">
                  <p:embed/>
                </p:oleObj>
              </mc:Choice>
              <mc:Fallback>
                <p:oleObj name="公式" r:id="rId4" imgW="1726920" imgH="406080" progId="Equation.3">
                  <p:embed/>
                  <p:pic>
                    <p:nvPicPr>
                      <p:cNvPr id="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330" y="2287464"/>
                        <a:ext cx="3669425" cy="925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7"/>
          <p:cNvGraphicFramePr>
            <a:graphicFrameLocks noChangeAspect="1"/>
          </p:cNvGraphicFramePr>
          <p:nvPr/>
        </p:nvGraphicFramePr>
        <p:xfrm>
          <a:off x="4871466" y="2276872"/>
          <a:ext cx="3787505" cy="924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2297" name="公式" r:id="rId6" imgW="1930320" imgH="406080" progId="Equation.3">
                  <p:embed/>
                </p:oleObj>
              </mc:Choice>
              <mc:Fallback>
                <p:oleObj name="公式" r:id="rId6" imgW="1930320" imgH="406080" progId="Equation.3">
                  <p:embed/>
                  <p:pic>
                    <p:nvPicPr>
                      <p:cNvPr id="5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1466" y="2276872"/>
                        <a:ext cx="3787505" cy="9244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标注 1"/>
              <p:cNvSpPr/>
              <p:nvPr/>
            </p:nvSpPr>
            <p:spPr bwMode="auto">
              <a:xfrm>
                <a:off x="5076056" y="5301208"/>
                <a:ext cx="2520280" cy="432048"/>
              </a:xfrm>
              <a:prstGeom prst="wedgeRectCallout">
                <a:avLst>
                  <a:gd name="adj1" fmla="val -35727"/>
                  <a:gd name="adj2" fmla="val -157283"/>
                </a:avLst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zh-CN" sz="24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" panose="02020603050405020304" pitchFamily="18" charset="0"/>
                    <a:ea typeface="宋体" pitchFamily="2" charset="-122"/>
                    <a:cs typeface="Times" panose="02020603050405020304" pitchFamily="18" charset="0"/>
                  </a:rPr>
                  <a:t>EX=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100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" pitchFamily="18" charset="0"/>
                      </a:rPr>
                      <m:t>×0.5</m:t>
                    </m:r>
                  </m:oMath>
                </a14:m>
                <a:r>
                  <a:rPr kumimoji="0" lang="en-US" altLang="zh-CN" sz="24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" panose="02020603050405020304" pitchFamily="18" charset="0"/>
                    <a:ea typeface="宋体" pitchFamily="2" charset="-122"/>
                    <a:cs typeface="Times" panose="02020603050405020304" pitchFamily="18" charset="0"/>
                  </a:rPr>
                  <a:t>=50</a:t>
                </a:r>
                <a:endParaRPr kumimoji="0" lang="zh-CN" altLang="en-US" sz="24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" panose="02020603050405020304" pitchFamily="18" charset="0"/>
                  <a:ea typeface="宋体" pitchFamily="2" charset="-122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标注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76056" y="5301208"/>
                <a:ext cx="2520280" cy="432048"/>
              </a:xfrm>
              <a:prstGeom prst="wedgeRectCallout">
                <a:avLst>
                  <a:gd name="adj1" fmla="val -35727"/>
                  <a:gd name="adj2" fmla="val -157283"/>
                </a:avLst>
              </a:prstGeom>
              <a:blipFill>
                <a:blip r:embed="rId8"/>
                <a:stretch>
                  <a:fillRect/>
                </a:stretch>
              </a:blipFill>
              <a:ln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9456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251520" y="1052736"/>
            <a:ext cx="87129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1938" indent="-261938"/>
            <a:r>
              <a:rPr lang="en-US" altLang="zh-CN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4. </a:t>
            </a:r>
            <a:r>
              <a:rPr lang="zh-CN" altLang="en-US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常见分布的分布律或密度函数、数学期望与方差</a:t>
            </a:r>
            <a:endParaRPr lang="en-US" altLang="zh-CN" sz="2400" dirty="0" smtClean="0">
              <a:latin typeface="Times" pitchFamily="18" charset="0"/>
              <a:ea typeface="楷体" pitchFamily="49" charset="-122"/>
              <a:cs typeface="Times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01467" y="251937"/>
            <a:ext cx="47147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8</a:t>
            </a:r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.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选择</a:t>
            </a:r>
            <a:r>
              <a:rPr lang="zh-CN" altLang="en-US" sz="32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、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填空常考知识点</a:t>
            </a:r>
            <a:endParaRPr lang="zh-CN" altLang="en-US" sz="3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683568" y="1652494"/>
                <a:ext cx="6912768" cy="458798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44500" indent="-444500">
                  <a:buFont typeface="Wingdings" pitchFamily="2" charset="2"/>
                  <a:buChar char="Ø"/>
                  <a:tabLst>
                    <a:tab pos="900113" algn="l"/>
                  </a:tabLst>
                </a:pPr>
                <a:r>
                  <a:rPr lang="zh-CN" altLang="en-US" sz="2400" b="1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二项分布：</a:t>
                </a:r>
                <a:r>
                  <a:rPr lang="en-US" altLang="zh-CN" sz="2400" b="1" i="1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X </a:t>
                </a:r>
                <a:r>
                  <a:rPr lang="en-US" altLang="zh-CN" sz="2400" b="1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~ </a:t>
                </a:r>
                <a:r>
                  <a:rPr lang="en-US" altLang="zh-CN" sz="2400" b="1" i="1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B</a:t>
                </a:r>
                <a:r>
                  <a:rPr lang="en-US" altLang="zh-CN" sz="2400" b="1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(</a:t>
                </a:r>
                <a:r>
                  <a:rPr lang="en-US" altLang="zh-CN" sz="2400" b="1" i="1" dirty="0" err="1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n,p</a:t>
                </a:r>
                <a:r>
                  <a:rPr lang="en-US" altLang="zh-CN" sz="2400" b="1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)</a:t>
                </a:r>
              </a:p>
              <a:p>
                <a:pPr>
                  <a:tabLst>
                    <a:tab pos="900113" algn="l"/>
                  </a:tabLst>
                </a:pPr>
                <a:r>
                  <a:rPr lang="en-US" altLang="zh-CN" sz="2400" b="1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bSupPr>
                      <m:e>
                        <m:r>
                          <a:rPr lang="en-US" altLang="zh-CN" sz="2400" b="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𝑋</m:t>
                            </m:r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=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altLang="zh-CN" sz="2400" b="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=</m:t>
                        </m:r>
                        <m:r>
                          <a:rPr lang="en-US" altLang="zh-CN" sz="2400" b="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𝑘</m:t>
                        </m:r>
                      </m:sup>
                    </m:sSubSup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pPr>
                      <m:e>
                        <m:r>
                          <a:rPr lang="en-US" altLang="zh-CN" sz="2400" b="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𝑝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𝑘</m:t>
                        </m:r>
                      </m:sup>
                    </m:sSup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pPr>
                      <m:e>
                        <m:r>
                          <a:rPr lang="en-US" altLang="zh-CN" sz="2400" b="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(1−</m:t>
                        </m:r>
                        <m:r>
                          <a:rPr lang="en-US" altLang="zh-CN" sz="2400" b="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𝑝</m:t>
                        </m:r>
                        <m:r>
                          <a:rPr lang="en-US" altLang="zh-CN" sz="2400" b="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400" b="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𝑛</m:t>
                        </m:r>
                        <m:r>
                          <a:rPr lang="en-US" altLang="zh-CN" sz="2400" b="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−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，</a:t>
                </a:r>
                <a:r>
                  <a:rPr lang="en-US" altLang="zh-CN" sz="2400" dirty="0">
                    <a:ea typeface="楷体" pitchFamily="49" charset="-122"/>
                    <a:cs typeface="Times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=0,1,2,…,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𝑛</m:t>
                    </m:r>
                  </m:oMath>
                </a14:m>
                <a:endParaRPr lang="en-US" altLang="zh-CN" sz="2400" b="0" i="1" dirty="0" smtClean="0">
                  <a:latin typeface="Cambria Math" panose="02040503050406030204" pitchFamily="18" charset="0"/>
                  <a:ea typeface="楷体" pitchFamily="49" charset="-122"/>
                  <a:cs typeface="Times" pitchFamily="18" charset="0"/>
                </a:endParaRPr>
              </a:p>
              <a:p>
                <a:pPr>
                  <a:tabLst>
                    <a:tab pos="900113" algn="l"/>
                  </a:tabLst>
                </a:pPr>
                <a:r>
                  <a:rPr lang="en-US" altLang="zh-CN" sz="2400" b="0" dirty="0" smtClean="0">
                    <a:ea typeface="楷体" pitchFamily="49" charset="-122"/>
                    <a:cs typeface="Times" panose="020206030504050203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楷体" pitchFamily="49" charset="-122"/>
                        <a:cs typeface="Times" panose="02020603050405020304" pitchFamily="18" charset="0"/>
                      </a:rPr>
                      <m:t>𝐸𝑋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楷体" pitchFamily="49" charset="-122"/>
                        <a:cs typeface="Times" panose="02020603050405020304" pitchFamily="18" charset="0"/>
                      </a:rPr>
                      <m:t>=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楷体" pitchFamily="49" charset="-122"/>
                        <a:cs typeface="Times" panose="02020603050405020304" pitchFamily="18" charset="0"/>
                      </a:rPr>
                      <m:t>𝑛𝑝</m:t>
                    </m:r>
                  </m:oMath>
                </a14:m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，</a:t>
                </a:r>
                <a:r>
                  <a:rPr lang="en-US" altLang="zh-CN" sz="2400" dirty="0">
                    <a:ea typeface="楷体" pitchFamily="49" charset="-122"/>
                    <a:cs typeface="Times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dirty="0" smtClean="0">
                        <a:latin typeface="Cambria Math" panose="02040503050406030204" pitchFamily="18" charset="0"/>
                        <a:ea typeface="楷体" pitchFamily="49" charset="-122"/>
                        <a:cs typeface="Times" panose="02020603050405020304" pitchFamily="18" charset="0"/>
                      </a:rPr>
                      <m:t>D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楷体" pitchFamily="49" charset="-122"/>
                        <a:cs typeface="Times" panose="02020603050405020304" pitchFamily="18" charset="0"/>
                      </a:rPr>
                      <m:t>𝑋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楷体" pitchFamily="49" charset="-122"/>
                        <a:cs typeface="Times" panose="02020603050405020304" pitchFamily="18" charset="0"/>
                      </a:rPr>
                      <m:t>=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楷体" pitchFamily="49" charset="-122"/>
                        <a:cs typeface="Times" panose="02020603050405020304" pitchFamily="18" charset="0"/>
                      </a:rPr>
                      <m:t>𝑛𝑝</m:t>
                    </m:r>
                    <m:d>
                      <m:d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  <m:t>1−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  <m:t>𝑝</m:t>
                        </m:r>
                      </m:e>
                    </m:d>
                  </m:oMath>
                </a14:m>
                <a:endParaRPr lang="en-US" altLang="zh-CN" sz="2400" b="0" dirty="0" smtClean="0">
                  <a:ea typeface="楷体" pitchFamily="49" charset="-122"/>
                  <a:cs typeface="Times" panose="02020603050405020304" pitchFamily="18" charset="0"/>
                </a:endParaRPr>
              </a:p>
              <a:p>
                <a:pPr>
                  <a:tabLst>
                    <a:tab pos="900113" algn="l"/>
                  </a:tabLst>
                </a:pPr>
                <a:endParaRPr lang="en-US" altLang="zh-CN" sz="2400" dirty="0" smtClean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pPr marL="444500" indent="-444500">
                  <a:buFont typeface="Wingdings" pitchFamily="2" charset="2"/>
                  <a:buChar char="Ø"/>
                  <a:tabLst>
                    <a:tab pos="900113" algn="l"/>
                  </a:tabLst>
                </a:pPr>
                <a:r>
                  <a:rPr lang="en-US" altLang="zh-CN" sz="2400" b="1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Poisson</a:t>
                </a:r>
                <a:r>
                  <a:rPr lang="zh-CN" altLang="en-US" sz="2400" b="1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分布：</a:t>
                </a:r>
                <a:r>
                  <a:rPr lang="en-US" altLang="zh-CN" sz="2400" b="1" i="1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X </a:t>
                </a:r>
                <a:r>
                  <a:rPr lang="en-US" altLang="zh-CN" sz="2400" b="1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~ </a:t>
                </a:r>
                <a:r>
                  <a:rPr lang="en-US" altLang="zh-CN" sz="2400" b="1" i="1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P</a:t>
                </a:r>
                <a:r>
                  <a:rPr lang="en-US" altLang="zh-CN" sz="2400" b="1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(</a:t>
                </a:r>
                <a:r>
                  <a:rPr lang="el-GR" altLang="zh-CN" sz="2400" b="1" i="1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λ</a:t>
                </a:r>
                <a:r>
                  <a:rPr lang="en-US" altLang="zh-CN" sz="2400" b="1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)</a:t>
                </a:r>
              </a:p>
              <a:p>
                <a:pPr>
                  <a:tabLst>
                    <a:tab pos="900113" algn="l"/>
                  </a:tabLst>
                </a:pPr>
                <a:r>
                  <a:rPr lang="en-US" altLang="zh-CN" sz="2400" b="1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 </a:t>
                </a:r>
                <a:r>
                  <a:rPr lang="en-US" altLang="zh-CN" sz="2400" b="1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𝑋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=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𝑘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𝑘</m:t>
                            </m:r>
                          </m:sup>
                        </m:sSup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𝑘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!</m:t>
                        </m:r>
                      </m:den>
                    </m:f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−</m:t>
                        </m:r>
                        <m:r>
                          <a:rPr lang="zh-CN" altLang="en-US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𝜆</m:t>
                        </m:r>
                      </m:sup>
                    </m:sSup>
                  </m:oMath>
                </a14:m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𝑘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=0,1,2,…</m:t>
                    </m:r>
                  </m:oMath>
                </a14:m>
                <a:endParaRPr lang="en-US" altLang="zh-CN" sz="2400" i="1" dirty="0">
                  <a:latin typeface="Cambria Math" panose="02040503050406030204" pitchFamily="18" charset="0"/>
                  <a:ea typeface="楷体" pitchFamily="49" charset="-122"/>
                  <a:cs typeface="Times" pitchFamily="18" charset="0"/>
                </a:endParaRPr>
              </a:p>
              <a:p>
                <a:pPr>
                  <a:tabLst>
                    <a:tab pos="900113" algn="l"/>
                  </a:tabLst>
                </a:pPr>
                <a:r>
                  <a:rPr lang="en-US" altLang="zh-CN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楷体" pitchFamily="49" charset="-122"/>
                        <a:cs typeface="Times" panose="02020603050405020304" pitchFamily="18" charset="0"/>
                      </a:rPr>
                      <m:t>𝐸𝑋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楷体" pitchFamily="49" charset="-122"/>
                        <a:cs typeface="Times" panose="02020603050405020304" pitchFamily="18" charset="0"/>
                      </a:rPr>
                      <m:t>=</m:t>
                    </m:r>
                    <m:r>
                      <a:rPr lang="el-GR" altLang="zh-CN" sz="2400" i="1" dirty="0">
                        <a:latin typeface="Cambria Math" panose="02040503050406030204" pitchFamily="18" charset="0"/>
                        <a:ea typeface="楷体" pitchFamily="49" charset="-122"/>
                        <a:cs typeface="Times" panose="02020603050405020304" pitchFamily="18" charset="0"/>
                      </a:rPr>
                      <m:t>𝜆</m:t>
                    </m:r>
                  </m:oMath>
                </a14:m>
                <a:r>
                  <a:rPr lang="zh-CN" altLang="en-US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，</a:t>
                </a:r>
                <a:r>
                  <a:rPr lang="en-US" altLang="zh-CN" sz="2400" dirty="0">
                    <a:ea typeface="楷体" pitchFamily="49" charset="-122"/>
                    <a:cs typeface="Times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dirty="0">
                        <a:latin typeface="Cambria Math" panose="02040503050406030204" pitchFamily="18" charset="0"/>
                        <a:ea typeface="楷体" pitchFamily="49" charset="-122"/>
                        <a:cs typeface="Times" panose="02020603050405020304" pitchFamily="18" charset="0"/>
                      </a:rPr>
                      <m:t>D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楷体" pitchFamily="49" charset="-122"/>
                        <a:cs typeface="Times" panose="02020603050405020304" pitchFamily="18" charset="0"/>
                      </a:rPr>
                      <m:t>𝑋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楷体" pitchFamily="49" charset="-122"/>
                        <a:cs typeface="Times" panose="02020603050405020304" pitchFamily="18" charset="0"/>
                      </a:rPr>
                      <m:t>=</m:t>
                    </m:r>
                    <m:r>
                      <a:rPr lang="el-GR" altLang="zh-CN" sz="2400" i="1" dirty="0">
                        <a:latin typeface="Cambria Math" panose="02040503050406030204" pitchFamily="18" charset="0"/>
                        <a:ea typeface="楷体" pitchFamily="49" charset="-122"/>
                        <a:cs typeface="Times" panose="02020603050405020304" pitchFamily="18" charset="0"/>
                      </a:rPr>
                      <m:t>𝜆</m:t>
                    </m:r>
                  </m:oMath>
                </a14:m>
                <a:endParaRPr lang="en-US" altLang="zh-CN" sz="2400" dirty="0" smtClean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pPr>
                  <a:tabLst>
                    <a:tab pos="900113" algn="l"/>
                  </a:tabLst>
                </a:pPr>
                <a:endParaRPr lang="en-US" altLang="zh-CN" sz="2400" dirty="0" smtClean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pPr marL="444500" indent="-444500">
                  <a:buFont typeface="Wingdings" pitchFamily="2" charset="2"/>
                  <a:buChar char="Ø"/>
                  <a:tabLst>
                    <a:tab pos="900113" algn="l"/>
                  </a:tabLst>
                </a:pPr>
                <a:r>
                  <a:rPr lang="zh-CN" altLang="en-US" sz="2400" b="1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几何分布：</a:t>
                </a:r>
                <a:r>
                  <a:rPr lang="en-US" altLang="zh-CN" sz="2400" b="1" i="1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X</a:t>
                </a:r>
                <a:r>
                  <a:rPr lang="en-US" altLang="zh-CN" sz="2400" b="1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 ~ </a:t>
                </a:r>
                <a:r>
                  <a:rPr lang="en-US" altLang="zh-CN" sz="2400" b="1" i="1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G</a:t>
                </a:r>
                <a:r>
                  <a:rPr lang="en-US" altLang="zh-CN" sz="2400" b="1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(</a:t>
                </a:r>
                <a:r>
                  <a:rPr lang="en-US" altLang="zh-CN" sz="2400" b="1" i="1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p</a:t>
                </a:r>
                <a:r>
                  <a:rPr lang="en-US" altLang="zh-CN" sz="2400" b="1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)</a:t>
                </a:r>
              </a:p>
              <a:p>
                <a:pPr>
                  <a:tabLst>
                    <a:tab pos="900113" algn="l"/>
                  </a:tabLst>
                </a:pPr>
                <a:r>
                  <a:rPr lang="en-US" altLang="zh-CN" sz="2400" b="1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 </a:t>
                </a:r>
                <a:r>
                  <a:rPr lang="en-US" altLang="zh-CN" sz="2400" b="1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𝑋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=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𝑘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𝑝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(1−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𝑝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𝑘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zh-CN" altLang="en-US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𝑘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=1,2,…</m:t>
                    </m:r>
                  </m:oMath>
                </a14:m>
                <a:endParaRPr lang="en-US" altLang="zh-CN" sz="2400" i="1" dirty="0">
                  <a:latin typeface="Cambria Math" panose="02040503050406030204" pitchFamily="18" charset="0"/>
                  <a:ea typeface="楷体" pitchFamily="49" charset="-122"/>
                  <a:cs typeface="Times" pitchFamily="18" charset="0"/>
                </a:endParaRPr>
              </a:p>
              <a:p>
                <a:pPr>
                  <a:tabLst>
                    <a:tab pos="900113" algn="l"/>
                  </a:tabLst>
                </a:pP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楷体" pitchFamily="49" charset="-122"/>
                        <a:cs typeface="Times" panose="02020603050405020304" pitchFamily="18" charset="0"/>
                      </a:rPr>
                      <m:t>      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楷体" pitchFamily="49" charset="-122"/>
                        <a:cs typeface="Times" panose="02020603050405020304" pitchFamily="18" charset="0"/>
                      </a:rPr>
                      <m:t>𝐸𝑋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楷体" pitchFamily="49" charset="-122"/>
                        <a:cs typeface="Times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l-GR" altLang="zh-CN" sz="2400" i="1" dirty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lang="zh-CN" altLang="en-US" sz="2400" dirty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，</a:t>
                </a:r>
                <a:r>
                  <a:rPr lang="en-US" altLang="zh-CN" sz="2400" dirty="0">
                    <a:ea typeface="楷体" pitchFamily="49" charset="-122"/>
                    <a:cs typeface="Times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dirty="0">
                        <a:latin typeface="Cambria Math" panose="02040503050406030204" pitchFamily="18" charset="0"/>
                        <a:ea typeface="楷体" pitchFamily="49" charset="-122"/>
                        <a:cs typeface="Times" panose="02020603050405020304" pitchFamily="18" charset="0"/>
                      </a:rPr>
                      <m:t>D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楷体" pitchFamily="49" charset="-122"/>
                        <a:cs typeface="Times" panose="02020603050405020304" pitchFamily="18" charset="0"/>
                      </a:rPr>
                      <m:t>𝑋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楷体" pitchFamily="49" charset="-122"/>
                        <a:cs typeface="Times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l-GR" altLang="zh-CN" sz="240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  <m:t>1−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  <m:t>𝑝</m:t>
                        </m:r>
                      </m:num>
                      <m:den>
                        <m:sSup>
                          <m:sSupPr>
                            <m:ctrlPr>
                              <a:rPr lang="el-GR" altLang="zh-CN" sz="2400" i="1" dirty="0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anose="020206030504050203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anose="020206030504050203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altLang="zh-CN" sz="2400" dirty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652494"/>
                <a:ext cx="6912768" cy="4587987"/>
              </a:xfrm>
              <a:prstGeom prst="rect">
                <a:avLst/>
              </a:prstGeom>
              <a:blipFill>
                <a:blip r:embed="rId2"/>
                <a:stretch>
                  <a:fillRect l="-1146" t="-14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4899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251520" y="1052736"/>
            <a:ext cx="871296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1938" indent="-261938"/>
            <a:r>
              <a:rPr lang="en-US" altLang="zh-CN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4. </a:t>
            </a:r>
            <a:r>
              <a:rPr lang="zh-CN" altLang="en-US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常见分布的分布律或密度函数、数学期望与方差</a:t>
            </a:r>
            <a:endParaRPr lang="en-US" altLang="zh-CN" sz="2400" dirty="0" smtClean="0">
              <a:latin typeface="Times" pitchFamily="18" charset="0"/>
              <a:ea typeface="楷体" pitchFamily="49" charset="-122"/>
              <a:cs typeface="Times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01467" y="251937"/>
            <a:ext cx="47147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8</a:t>
            </a:r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.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选择</a:t>
            </a:r>
            <a:r>
              <a:rPr lang="zh-CN" altLang="en-US" sz="32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、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填空常考知识点</a:t>
            </a:r>
            <a:endParaRPr lang="zh-CN" altLang="en-US" sz="3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683568" y="1652494"/>
                <a:ext cx="8424936" cy="443627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Ø"/>
                  <a:tabLst>
                    <a:tab pos="900113" algn="l"/>
                  </a:tabLst>
                </a:pPr>
                <a:r>
                  <a:rPr lang="zh-CN" altLang="en-US" sz="2400" b="1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均匀分布：</a:t>
                </a:r>
                <a:r>
                  <a:rPr lang="en-US" altLang="zh-CN" sz="2400" b="1" i="1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X</a:t>
                </a:r>
                <a:r>
                  <a:rPr lang="en-US" altLang="zh-CN" sz="2400" b="1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~</a:t>
                </a:r>
                <a:r>
                  <a:rPr lang="en-US" altLang="zh-CN" sz="2400" b="1" i="1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U</a:t>
                </a:r>
                <a:r>
                  <a:rPr lang="en-US" altLang="zh-CN" sz="2400" b="1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[</a:t>
                </a:r>
                <a:r>
                  <a:rPr lang="en-US" altLang="zh-CN" sz="2400" b="1" i="1" dirty="0" err="1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a</a:t>
                </a:r>
                <a:r>
                  <a:rPr lang="en-US" altLang="zh-CN" sz="2400" b="1" dirty="0" err="1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,</a:t>
                </a:r>
                <a:r>
                  <a:rPr lang="en-US" altLang="zh-CN" sz="2400" b="1" i="1" dirty="0" err="1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b</a:t>
                </a:r>
                <a:r>
                  <a:rPr lang="en-US" altLang="zh-CN" sz="2400" b="1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]</a:t>
                </a:r>
              </a:p>
              <a:p>
                <a:pPr>
                  <a:tabLst>
                    <a:tab pos="900113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楷体" pitchFamily="49" charset="-122"/>
                          <a:cs typeface="Times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楷体" pitchFamily="49" charset="-122"/>
                              <a:cs typeface="Times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itchFamily="49" charset="-122"/>
                              <a:cs typeface="Times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楷体" pitchFamily="49" charset="-122"/>
                          <a:cs typeface="Times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楷体" pitchFamily="49" charset="-122"/>
                              <a:cs typeface="Times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anose="02020603050405020304" pitchFamily="18" charset="0"/>
                                      </a:rPr>
                                      <m:t>𝑏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anose="02020603050405020304" pitchFamily="18" charset="0"/>
                                      </a:rPr>
                                      <m:t>𝑎</m:t>
                                    </m:r>
                                  </m:den>
                                </m:f>
                                <m:r>
                                  <m:rPr>
                                    <m:brk m:alnAt="7"/>
                                  </m:rP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anose="02020603050405020304" pitchFamily="18" charset="0"/>
                                  </a:rPr>
                                  <m:t>  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anose="02020603050405020304" pitchFamily="18" charset="0"/>
                                  </a:rPr>
                                  <m:t>𝑎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≤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4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≤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anose="020206030504050203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anose="02020603050405020304" pitchFamily="18" charset="0"/>
                                  </a:rPr>
                                  <m:t>0,            </m:t>
                                </m:r>
                                <m:r>
                                  <a:rPr lang="zh-CN" altLang="en-US" sz="2400" b="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anose="02020603050405020304" pitchFamily="18" charset="0"/>
                                  </a:rPr>
                                  <m:t>其它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400" dirty="0" smtClean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pPr>
                  <a:tabLst>
                    <a:tab pos="900113" algn="l"/>
                  </a:tabLst>
                </a:pPr>
                <a:r>
                  <a:rPr lang="en-US" altLang="zh-CN" sz="2400" dirty="0" smtClean="0">
                    <a:ea typeface="楷体" pitchFamily="49" charset="-122"/>
                    <a:cs typeface="Times" panose="02020603050405020304" pitchFamily="18" charset="0"/>
                  </a:rPr>
                  <a:t>                   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楷体" pitchFamily="49" charset="-122"/>
                        <a:cs typeface="Times" panose="02020603050405020304" pitchFamily="18" charset="0"/>
                      </a:rPr>
                      <m:t>𝐸𝑋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楷体" pitchFamily="49" charset="-122"/>
                        <a:cs typeface="Times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  <m:t>𝑎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  <m:t>+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  <m:t>𝑏</m:t>
                        </m:r>
                      </m:num>
                      <m:den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楷体" pitchFamily="49" charset="-122"/>
                        <a:cs typeface="Times" panose="02020603050405020304" pitchFamily="18" charset="0"/>
                      </a:rPr>
                      <m:t>𝐷𝑋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楷体" pitchFamily="49" charset="-122"/>
                        <a:cs typeface="Times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anose="02020603050405020304" pitchFamily="18" charset="0"/>
                              </a:rPr>
                              <m:t>(</m:t>
                            </m:r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anose="02020603050405020304" pitchFamily="18" charset="0"/>
                              </a:rPr>
                              <m:t>𝑏</m:t>
                            </m:r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anose="02020603050405020304" pitchFamily="18" charset="0"/>
                              </a:rPr>
                              <m:t>−</m:t>
                            </m:r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anose="02020603050405020304" pitchFamily="18" charset="0"/>
                              </a:rPr>
                              <m:t>𝑎</m:t>
                            </m:r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anose="020206030504050203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anose="020206030504050203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lang="en-US" altLang="zh-CN" sz="2400" dirty="0" smtClean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pPr>
                  <a:tabLst>
                    <a:tab pos="900113" algn="l"/>
                  </a:tabLst>
                </a:pPr>
                <a:endParaRPr lang="en-US" altLang="zh-CN" sz="2400" dirty="0" smtClean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pPr marL="444500" indent="-444500">
                  <a:buFont typeface="Wingdings" pitchFamily="2" charset="2"/>
                  <a:buChar char="Ø"/>
                  <a:tabLst>
                    <a:tab pos="900113" algn="l"/>
                  </a:tabLst>
                </a:pPr>
                <a:r>
                  <a:rPr lang="zh-CN" altLang="en-US" sz="2400" b="1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指数分布：</a:t>
                </a:r>
                <a:r>
                  <a:rPr lang="en-US" altLang="zh-CN" sz="2400" b="1" i="1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X</a:t>
                </a:r>
                <a:r>
                  <a:rPr lang="en-US" altLang="zh-CN" sz="2400" b="1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 ~ </a:t>
                </a:r>
                <a:r>
                  <a:rPr lang="en-US" altLang="zh-CN" sz="2400" b="1" i="1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e</a:t>
                </a:r>
                <a:r>
                  <a:rPr lang="en-US" altLang="zh-CN" sz="2400" b="1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(</a:t>
                </a:r>
                <a:r>
                  <a:rPr lang="el-GR" altLang="zh-CN" sz="2400" b="1" i="1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λ</a:t>
                </a:r>
                <a:r>
                  <a:rPr lang="en-US" altLang="zh-CN" sz="2400" b="1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)</a:t>
                </a:r>
                <a:endParaRPr lang="en-US" altLang="zh-CN" sz="2400" b="1" i="1" dirty="0" smtClean="0">
                  <a:latin typeface="Cambria Math" panose="020405030504060302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pPr>
                  <a:tabLst>
                    <a:tab pos="900113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楷体" pitchFamily="49" charset="-122"/>
                          <a:cs typeface="Times" panose="020206030504050203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itchFamily="49" charset="-122"/>
                              <a:cs typeface="Times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itchFamily="49" charset="-122"/>
                              <a:cs typeface="Times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b="0" i="0" smtClean="0">
                          <a:latin typeface="Cambria Math" panose="02040503050406030204" pitchFamily="18" charset="0"/>
                          <a:ea typeface="楷体" pitchFamily="49" charset="-122"/>
                          <a:cs typeface="Times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itchFamily="49" charset="-122"/>
                              <a:cs typeface="Times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l-GR" altLang="zh-CN" sz="2400" i="1" dirty="0">
                                    <a:latin typeface="Times" panose="02020603050405020304" pitchFamily="18" charset="0"/>
                                    <a:ea typeface="楷体" pitchFamily="49" charset="-122"/>
                                    <a:cs typeface="Times" panose="02020603050405020304" pitchFamily="18" charset="0"/>
                                  </a:rPr>
                                  <m:t>λ</m:t>
                                </m:r>
                                <m:sSup>
                                  <m:sSupPr>
                                    <m:ctrlPr>
                                      <a:rPr lang="el-GR" altLang="zh-CN" sz="2400" i="1" dirty="0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i="1" dirty="0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anose="020206030504050203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sz="2400" i="1" dirty="0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anose="020206030504050203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l-GR" altLang="zh-CN" sz="2400" i="1" dirty="0">
                                        <a:latin typeface="Times" panose="02020603050405020304" pitchFamily="18" charset="0"/>
                                        <a:ea typeface="楷体" pitchFamily="49" charset="-122"/>
                                        <a:cs typeface="Times" panose="02020603050405020304" pitchFamily="18" charset="0"/>
                                      </a:rPr>
                                      <m:t>λ</m:t>
                                    </m:r>
                                    <m:r>
                                      <a:rPr lang="en-US" altLang="zh-CN" sz="2400" i="1" dirty="0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anose="020206030504050203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  <m:r>
                                  <m:rPr>
                                    <m:brk m:alnAt="7"/>
                                  </m:rP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anose="02020603050405020304" pitchFamily="18" charset="0"/>
                                  </a:rPr>
                                  <m:t>,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anose="02020603050405020304" pitchFamily="18" charset="0"/>
                                  </a:rPr>
                                  <m:t>  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anose="02020603050405020304" pitchFamily="18" charset="0"/>
                                  </a:rPr>
                                  <m:t>&gt;0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anose="02020603050405020304" pitchFamily="18" charset="0"/>
                                  </a:rPr>
                                  <m:t>     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anose="02020603050405020304" pitchFamily="18" charset="0"/>
                                  </a:rPr>
                                  <m:t>0,     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" panose="02020603050405020304" pitchFamily="18" charset="0"/>
                                  </a:rPr>
                                  <m:t>≤0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400" b="0" dirty="0" smtClean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  <a:p>
                <a:pPr>
                  <a:tabLst>
                    <a:tab pos="900113" algn="l"/>
                  </a:tabLst>
                </a:pPr>
                <a:r>
                  <a:rPr lang="en-US" altLang="zh-CN" sz="2400" b="0" dirty="0" smtClean="0">
                    <a:ea typeface="楷体" pitchFamily="49" charset="-122"/>
                    <a:cs typeface="Times" panose="02020603050405020304" pitchFamily="18" charset="0"/>
                  </a:rPr>
                  <a:t>                      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anose="02020603050405020304" pitchFamily="18" charset="0"/>
                      </a:rPr>
                      <m:t>𝐸𝑋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  <m:t>𝜆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latin typeface="Times" panose="02020603050405020304" pitchFamily="18" charset="0"/>
                    <a:ea typeface="楷体" pitchFamily="49" charset="-122"/>
                    <a:cs typeface="Times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楷体" pitchFamily="49" charset="-122"/>
                        <a:cs typeface="Times" panose="02020603050405020304" pitchFamily="18" charset="0"/>
                      </a:rPr>
                      <m:t>𝐷𝑋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楷体" pitchFamily="49" charset="-122"/>
                        <a:cs typeface="Times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40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anose="020206030504050203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i="1" dirty="0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anose="020206030504050203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楷体" pitchFamily="49" charset="-122"/>
                                <a:cs typeface="Times" panose="020206030504050203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altLang="zh-CN" sz="2400" dirty="0" smtClean="0">
                  <a:latin typeface="Times" panose="02020603050405020304" pitchFamily="18" charset="0"/>
                  <a:ea typeface="楷体" pitchFamily="49" charset="-122"/>
                  <a:cs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1652494"/>
                <a:ext cx="8424936" cy="4436279"/>
              </a:xfrm>
              <a:prstGeom prst="rect">
                <a:avLst/>
              </a:prstGeom>
              <a:blipFill>
                <a:blip r:embed="rId2"/>
                <a:stretch>
                  <a:fillRect l="-941" t="-15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1025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323528" y="1052736"/>
                <a:ext cx="8568952" cy="25778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36575" indent="-536575">
                  <a:tabLst>
                    <a:tab pos="900113" algn="l"/>
                  </a:tabLst>
                </a:pP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5. 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样本均值是总体均值的无偏一致估计量；</a:t>
                </a: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  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样本方差是总体方差的无偏一致估计量。</a:t>
                </a:r>
                <a:endParaRPr lang="en-US" altLang="zh-CN" sz="2400" dirty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6. 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注意样本方差的表达式：</a:t>
                </a:r>
                <a:endParaRPr lang="en-US" altLang="zh-CN" sz="2400" i="1" dirty="0" smtClean="0">
                  <a:latin typeface="Cambria Math" panose="02040503050406030204" pitchFamily="18" charset="0"/>
                  <a:ea typeface="楷体" pitchFamily="49" charset="-122"/>
                  <a:cs typeface="Times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楷体" pitchFamily="49" charset="-122"/>
                              <a:cs typeface="Times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itchFamily="49" charset="-122"/>
                              <a:cs typeface="Times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itchFamily="49" charset="-122"/>
                              <a:cs typeface="Times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楷体" pitchFamily="49" charset="-122"/>
                          <a:cs typeface="Times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itchFamily="49" charset="-122"/>
                              <a:cs typeface="Times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itchFamily="49" charset="-122"/>
                              <a:cs typeface="Times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itchFamily="49" charset="-122"/>
                              <a:cs typeface="Times" pitchFamily="18" charset="0"/>
                            </a:rPr>
                            <m:t>𝑛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itchFamily="49" charset="-122"/>
                              <a:cs typeface="Times" pitchFamily="18" charset="0"/>
                            </a:rPr>
                            <m:t>−1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itchFamily="49" charset="-122"/>
                              <a:cs typeface="Times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itchFamily="49" charset="-122"/>
                              <a:cs typeface="Times" pitchFamily="18" charset="0"/>
                            </a:rPr>
                            <m:t>𝑖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itchFamily="49" charset="-122"/>
                              <a:cs typeface="Times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itchFamily="49" charset="-122"/>
                              <a:cs typeface="Times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楷体" pitchFamily="49" charset="-122"/>
                                      <a:cs typeface="Times" pitchFamily="18" charset="0"/>
                                    </a:rPr>
                                    <m:t>𝑋</m:t>
                                  </m:r>
                                </m:e>
                              </m:acc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1052736"/>
                <a:ext cx="8568952" cy="2577885"/>
              </a:xfrm>
              <a:prstGeom prst="rect">
                <a:avLst/>
              </a:prstGeom>
              <a:blipFill>
                <a:blip r:embed="rId2"/>
                <a:stretch>
                  <a:fillRect l="-1067" t="-26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2501467" y="251937"/>
            <a:ext cx="47147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8</a:t>
            </a:r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.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选择</a:t>
            </a:r>
            <a:r>
              <a:rPr lang="zh-CN" altLang="en-US" sz="32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、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填空常考知识点</a:t>
            </a:r>
            <a:endParaRPr lang="zh-CN" altLang="en-US" sz="3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8461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179512" y="1052736"/>
                <a:ext cx="8856984" cy="17238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36575" indent="-536575">
                  <a:tabLst>
                    <a:tab pos="900113" algn="l"/>
                  </a:tabLst>
                </a:pPr>
                <a:r>
                  <a:rPr lang="zh-CN" altLang="en-US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例</a:t>
                </a:r>
                <a:r>
                  <a:rPr lang="en-US" altLang="zh-CN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18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. 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设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n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个随机变量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</a:t>
                </a:r>
                <a:r>
                  <a:rPr lang="en-US" altLang="zh-CN" sz="2400" baseline="-25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1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,X</a:t>
                </a:r>
                <a:r>
                  <a:rPr lang="en-US" altLang="zh-CN" sz="2400" baseline="-25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2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,…,X</a:t>
                </a:r>
                <a:r>
                  <a:rPr lang="en-US" altLang="zh-CN" sz="2400" baseline="-25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n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独立同分布，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D(X</a:t>
                </a:r>
                <a:r>
                  <a:rPr lang="en-US" altLang="zh-CN" sz="2400" baseline="-25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i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)=</a:t>
                </a:r>
                <a:r>
                  <a:rPr lang="el-GR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σ</a:t>
                </a:r>
                <a:r>
                  <a:rPr lang="en-US" altLang="zh-CN" sz="2400" baseline="30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2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，  </a:t>
                </a:r>
                <a:endParaRPr lang="en-US" altLang="zh-CN" sz="2400" i="1" dirty="0" smtClean="0">
                  <a:latin typeface="Cambria Math" panose="02040503050406030204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536575" indent="-536575">
                  <a:tabLst>
                    <a:tab pos="900113" algn="l"/>
                  </a:tabLst>
                </a:pPr>
                <a:r>
                  <a:rPr lang="zh-CN" altLang="en-US" sz="2400" dirty="0" smtClean="0">
                    <a:ea typeface="楷体" pitchFamily="49" charset="-122"/>
                    <a:cs typeface="Times" pitchFamily="18" charset="0"/>
                  </a:rPr>
                  <a:t>     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40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acc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𝑋</m:t>
                        </m:r>
                      </m:e>
                    </m:acc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𝑖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fPr>
                      <m:num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𝑛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−1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𝑖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𝑋</m:t>
                                </m:r>
                              </m:e>
                            </m:acc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，则</a:t>
                </a: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536575" indent="-536575">
                  <a:tabLst>
                    <a:tab pos="900113" algn="l"/>
                  </a:tabLst>
                </a:pP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(A)S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是</a:t>
                </a:r>
                <a:r>
                  <a:rPr lang="el-GR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σ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的无偏估计量；                         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(B)S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是</a:t>
                </a:r>
                <a:r>
                  <a:rPr lang="el-GR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σ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的最大似然估计量；</a:t>
                </a: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536575" indent="-536575">
                  <a:tabLst>
                    <a:tab pos="900113" algn="l"/>
                  </a:tabLst>
                </a:pP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(C)S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是</a:t>
                </a:r>
                <a:r>
                  <a:rPr lang="el-GR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σ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的相合估计量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(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即一致估计量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); (D) S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与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acc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相互独立</a:t>
                </a: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1052736"/>
                <a:ext cx="8856984" cy="1723870"/>
              </a:xfrm>
              <a:prstGeom prst="rect">
                <a:avLst/>
              </a:prstGeom>
              <a:blipFill>
                <a:blip r:embed="rId2"/>
                <a:stretch>
                  <a:fillRect l="-1032" t="-3901" r="-3579" b="-78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2501467" y="251937"/>
            <a:ext cx="47147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8</a:t>
            </a:r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.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选择</a:t>
            </a:r>
            <a:r>
              <a:rPr lang="zh-CN" altLang="en-US" sz="32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、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填空常考知识点</a:t>
            </a:r>
            <a:endParaRPr lang="zh-CN" altLang="en-US" sz="3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54511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179512" y="1052736"/>
                <a:ext cx="8856984" cy="51168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36575" indent="-536575">
                  <a:tabLst>
                    <a:tab pos="900113" algn="l"/>
                  </a:tabLst>
                </a:pPr>
                <a:r>
                  <a:rPr lang="zh-CN" altLang="en-US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例</a:t>
                </a:r>
                <a:r>
                  <a:rPr lang="en-US" altLang="zh-CN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18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. 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设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n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个随机变量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</a:t>
                </a:r>
                <a:r>
                  <a:rPr lang="en-US" altLang="zh-CN" sz="2400" baseline="-25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1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,X</a:t>
                </a:r>
                <a:r>
                  <a:rPr lang="en-US" altLang="zh-CN" sz="2400" baseline="-25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2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,…,X</a:t>
                </a:r>
                <a:r>
                  <a:rPr lang="en-US" altLang="zh-CN" sz="2400" baseline="-25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n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独立同分布，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D(X</a:t>
                </a:r>
                <a:r>
                  <a:rPr lang="en-US" altLang="zh-CN" sz="2400" baseline="-25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i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)=</a:t>
                </a:r>
                <a:r>
                  <a:rPr lang="el-GR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σ</a:t>
                </a:r>
                <a:r>
                  <a:rPr lang="en-US" altLang="zh-CN" sz="2400" baseline="30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2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，  </a:t>
                </a:r>
                <a:endParaRPr lang="en-US" altLang="zh-CN" sz="2400" i="1" dirty="0" smtClean="0">
                  <a:latin typeface="Cambria Math" panose="02040503050406030204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536575" indent="-536575">
                  <a:tabLst>
                    <a:tab pos="900113" algn="l"/>
                  </a:tabLst>
                </a:pPr>
                <a:r>
                  <a:rPr lang="zh-CN" altLang="en-US" sz="2400" dirty="0" smtClean="0">
                    <a:ea typeface="楷体" pitchFamily="49" charset="-122"/>
                    <a:cs typeface="Times" pitchFamily="18" charset="0"/>
                  </a:rPr>
                  <a:t>     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40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acc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𝑋</m:t>
                        </m:r>
                      </m:e>
                    </m:acc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𝑖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fPr>
                      <m:num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𝑛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−1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𝑖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𝑋</m:t>
                                </m:r>
                              </m:e>
                            </m:acc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，则</a:t>
                </a: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536575" indent="-536575">
                  <a:tabLst>
                    <a:tab pos="900113" algn="l"/>
                  </a:tabLst>
                </a:pP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(A)S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是</a:t>
                </a:r>
                <a:r>
                  <a:rPr lang="el-GR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σ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的无偏估计量；                         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(B)S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是</a:t>
                </a:r>
                <a:r>
                  <a:rPr lang="el-GR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σ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的最大似然估计量；</a:t>
                </a: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536575" indent="-536575">
                  <a:tabLst>
                    <a:tab pos="900113" algn="l"/>
                  </a:tabLst>
                </a:pP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(C)S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是</a:t>
                </a:r>
                <a:r>
                  <a:rPr lang="el-GR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σ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的相合估计量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(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即一致估计量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); (D) S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与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acc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相互独立</a:t>
                </a: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536575" indent="-536575">
                  <a:lnSpc>
                    <a:spcPct val="50000"/>
                  </a:lnSpc>
                  <a:tabLst>
                    <a:tab pos="900113" algn="l"/>
                  </a:tabLst>
                </a:pPr>
                <a:endParaRPr lang="en-US" altLang="zh-CN" sz="2400" dirty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536575" indent="-536575">
                  <a:tabLst>
                    <a:tab pos="900113" algn="l"/>
                  </a:tabLst>
                </a:pPr>
                <a:r>
                  <a:rPr lang="zh-CN" altLang="en-US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解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：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(A) S</a:t>
                </a:r>
                <a:r>
                  <a:rPr lang="en-US" altLang="zh-CN" sz="2400" baseline="30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2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是</a:t>
                </a:r>
                <a:r>
                  <a:rPr lang="el-GR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σ</a:t>
                </a:r>
                <a:r>
                  <a:rPr lang="en-US" altLang="zh-CN" sz="2400" baseline="300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2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的无偏估计量，但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S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不一定是</a:t>
                </a:r>
                <a:r>
                  <a:rPr lang="el-GR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σ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的无偏估计量。</a:t>
                </a: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536575" indent="-536575">
                  <a:tabLst>
                    <a:tab pos="900113" algn="l"/>
                  </a:tabLst>
                </a:pPr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      (B) </a:t>
                </a:r>
                <a:r>
                  <a:rPr lang="el-GR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σ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的最大似然估计量不同的分布不一样。</a:t>
                </a: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536575" indent="-536575">
                  <a:tabLst>
                    <a:tab pos="900113" algn="l"/>
                  </a:tabLst>
                </a:pPr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      (C) </a:t>
                </a:r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S</a:t>
                </a:r>
                <a:r>
                  <a:rPr lang="en-US" altLang="zh-CN" sz="2400" baseline="300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2</a:t>
                </a:r>
                <a:r>
                  <a:rPr lang="zh-CN" altLang="en-US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是</a:t>
                </a:r>
                <a:r>
                  <a:rPr lang="el-GR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σ</a:t>
                </a:r>
                <a:r>
                  <a:rPr lang="en-US" altLang="zh-CN" sz="2400" baseline="300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2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的一致估计量，即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2</m:t>
                        </m:r>
                      </m:sup>
                    </m:sSup>
                    <m:groupChr>
                      <m:groupChrPr>
                        <m:chr m:val="→"/>
                        <m:vertJc m:val="bot"/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" pitchFamily="18" charset="0"/>
                          </a:rPr>
                          <m:t>𝑃</m:t>
                        </m:r>
                      </m:e>
                    </m:groupChr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" pitchFamily="18" charset="0"/>
                          </a:rPr>
                        </m:ctrlPr>
                      </m:sSupPr>
                      <m:e>
                        <m:r>
                          <a:rPr lang="zh-CN" alt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。</a:t>
                </a: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536575" indent="-536575">
                  <a:tabLst>
                    <a:tab pos="900113" algn="l"/>
                  </a:tabLst>
                </a:pPr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            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对于依概率收敛，两端用相同的连续函数作用仍然成立，</a:t>
                </a: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536575" indent="-536575">
                  <a:tabLst>
                    <a:tab pos="900113" algn="l"/>
                  </a:tabLst>
                </a:pPr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            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则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" pitchFamily="18" charset="0"/>
                      </a:rPr>
                      <m:t>𝑆</m:t>
                    </m:r>
                    <m:groupChr>
                      <m:groupChrPr>
                        <m:chr m:val="→"/>
                        <m:vertJc m:val="bot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" pitchFamily="18" charset="0"/>
                          </a:rPr>
                          <m:t>𝑃</m:t>
                        </m:r>
                      </m:e>
                    </m:groupChr>
                    <m:r>
                      <a:rPr lang="zh-CN" alt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" pitchFamily="18" charset="0"/>
                      </a:rPr>
                      <m:t>𝜎</m:t>
                    </m:r>
                  </m:oMath>
                </a14:m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，即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S</a:t>
                </a:r>
                <a:r>
                  <a:rPr lang="zh-CN" altLang="en-US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是</a:t>
                </a:r>
                <a:r>
                  <a:rPr lang="el-GR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σ</a:t>
                </a:r>
                <a:r>
                  <a:rPr lang="zh-CN" altLang="en-US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的相合估计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量。</a:t>
                </a: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536575" indent="-536575">
                  <a:tabLst>
                    <a:tab pos="900113" algn="l"/>
                  </a:tabLst>
                </a:pPr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      (D) 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定理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5.4(1)S</a:t>
                </a:r>
                <a:r>
                  <a:rPr lang="en-US" altLang="zh-CN" sz="2400" baseline="30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2</a:t>
                </a:r>
                <a:r>
                  <a:rPr lang="zh-CN" altLang="en-US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与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acc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相互独立的大前提是总体服从正态分布， </a:t>
                </a: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536575" indent="-536575">
                  <a:tabLst>
                    <a:tab pos="900113" algn="l"/>
                  </a:tabLst>
                </a:pPr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             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对于总体服从其它分布的情况是否仍然独立不能确定。</a:t>
                </a: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536575" indent="-536575">
                  <a:tabLst>
                    <a:tab pos="900113" algn="l"/>
                  </a:tabLst>
                </a:pP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       所以选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C</a:t>
                </a:r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1052736"/>
                <a:ext cx="8856984" cy="5116850"/>
              </a:xfrm>
              <a:prstGeom prst="rect">
                <a:avLst/>
              </a:prstGeom>
              <a:blipFill>
                <a:blip r:embed="rId2"/>
                <a:stretch>
                  <a:fillRect l="-1032" t="-1311" r="-4542" b="-19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2501467" y="251937"/>
            <a:ext cx="47147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8</a:t>
            </a:r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.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选择</a:t>
            </a:r>
            <a:r>
              <a:rPr lang="zh-CN" altLang="en-US" sz="32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、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填空常考知识点</a:t>
            </a:r>
            <a:endParaRPr lang="zh-CN" altLang="en-US" sz="3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54107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323528" y="1052736"/>
            <a:ext cx="856895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8288" indent="-268288"/>
            <a:r>
              <a:rPr lang="en-US" altLang="zh-CN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7. 5.4</a:t>
            </a:r>
            <a:r>
              <a:rPr lang="zh-CN" altLang="en-US" sz="2400" dirty="0">
                <a:latin typeface="Times" pitchFamily="18" charset="0"/>
                <a:ea typeface="楷体" pitchFamily="49" charset="-122"/>
                <a:cs typeface="Times" pitchFamily="18" charset="0"/>
              </a:rPr>
              <a:t>节前</a:t>
            </a:r>
            <a:r>
              <a:rPr lang="en-US" altLang="zh-CN" sz="2400" dirty="0">
                <a:latin typeface="Times" pitchFamily="18" charset="0"/>
                <a:ea typeface="楷体" pitchFamily="49" charset="-122"/>
                <a:cs typeface="Times" pitchFamily="18" charset="0"/>
              </a:rPr>
              <a:t>5</a:t>
            </a:r>
            <a:r>
              <a:rPr lang="zh-CN" altLang="en-US" sz="2400" dirty="0">
                <a:latin typeface="Times" pitchFamily="18" charset="0"/>
                <a:ea typeface="楷体" pitchFamily="49" charset="-122"/>
                <a:cs typeface="Times" pitchFamily="18" charset="0"/>
              </a:rPr>
              <a:t>个定理</a:t>
            </a:r>
            <a:r>
              <a:rPr lang="zh-CN" altLang="en-US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，这些定理成立的前提是总体服从正态分布。特别</a:t>
            </a:r>
            <a:r>
              <a:rPr lang="zh-CN" altLang="en-US" sz="2400" dirty="0">
                <a:latin typeface="Times" pitchFamily="18" charset="0"/>
                <a:ea typeface="楷体" pitchFamily="49" charset="-122"/>
                <a:cs typeface="Times" pitchFamily="18" charset="0"/>
              </a:rPr>
              <a:t>要注意在构造统计量时</a:t>
            </a:r>
            <a:r>
              <a:rPr lang="zh-CN" altLang="en-US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哪些参数是</a:t>
            </a:r>
            <a:r>
              <a:rPr lang="zh-CN" altLang="en-US" sz="2400" dirty="0">
                <a:latin typeface="Times" pitchFamily="18" charset="0"/>
                <a:ea typeface="楷体" pitchFamily="49" charset="-122"/>
                <a:cs typeface="Times" pitchFamily="18" charset="0"/>
              </a:rPr>
              <a:t>已知的哪些是未知的</a:t>
            </a:r>
            <a:r>
              <a:rPr lang="zh-CN" altLang="en-US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。特别的由这几个定理推出的置信区间以及假设检验的结果。</a:t>
            </a:r>
            <a:endParaRPr lang="en-US" altLang="zh-CN" sz="2400" dirty="0">
              <a:latin typeface="Times" pitchFamily="18" charset="0"/>
              <a:ea typeface="楷体" pitchFamily="49" charset="-122"/>
              <a:cs typeface="Times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01467" y="251937"/>
            <a:ext cx="47147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8</a:t>
            </a:r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.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选择</a:t>
            </a:r>
            <a:r>
              <a:rPr lang="zh-CN" altLang="en-US" sz="32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、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填空常考知识点</a:t>
            </a:r>
            <a:endParaRPr lang="zh-CN" altLang="en-US" sz="3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3249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9" name="矩形 98"/>
              <p:cNvSpPr/>
              <p:nvPr/>
            </p:nvSpPr>
            <p:spPr>
              <a:xfrm>
                <a:off x="251520" y="980728"/>
                <a:ext cx="8712968" cy="45600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36575" indent="-536575">
                  <a:tabLst>
                    <a:tab pos="900113" algn="l"/>
                  </a:tabLst>
                </a:pPr>
                <a:r>
                  <a:rPr lang="en-US" altLang="zh-CN" sz="28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8. </a:t>
                </a:r>
                <a:r>
                  <a:rPr lang="zh-CN" altLang="en-US" sz="28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三种常见的统计分布</a:t>
                </a:r>
                <a:endParaRPr lang="en-US" altLang="zh-CN" sz="28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536575" indent="-536575">
                  <a:tabLst>
                    <a:tab pos="900113" algn="l"/>
                  </a:tabLst>
                </a:pPr>
                <a:endParaRPr lang="en-US" altLang="zh-CN" sz="28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536575" indent="-536575">
                  <a:tabLst>
                    <a:tab pos="900113" algn="l"/>
                  </a:tabLst>
                </a:pP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(1)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pPr>
                      <m:e>
                        <m:r>
                          <a:rPr lang="zh-CN" altLang="en-US" sz="2400" b="1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𝝌</m:t>
                        </m:r>
                      </m:e>
                      <m:sup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zh-CN" altLang="en-US" sz="2400" b="1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分布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~</a:t>
                </a:r>
                <a:r>
                  <a:rPr lang="en-US" altLang="zh-CN" sz="2400" i="1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N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(0,1)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，相互独立</a:t>
                </a: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536575" indent="-536575">
                  <a:tabLst>
                    <a:tab pos="900113" algn="l"/>
                  </a:tabLst>
                </a:pP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      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b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+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" pitchFamily="18" charset="0"/>
                      </a:rPr>
                      <m:t>∙∙∙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b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𝑘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~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en-US" altLang="zh-CN" sz="2400" b="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536575" indent="-536575">
                  <a:tabLst>
                    <a:tab pos="900113" algn="l"/>
                  </a:tabLst>
                </a:pP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536575" indent="-536575">
                  <a:tabLst>
                    <a:tab pos="900113" algn="l"/>
                  </a:tabLst>
                </a:pP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(2) </a:t>
                </a:r>
                <a:r>
                  <a:rPr lang="en-US" altLang="zh-CN" sz="2400" b="1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t</a:t>
                </a:r>
                <a:r>
                  <a:rPr lang="zh-CN" altLang="en-US" sz="2400" b="1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分布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：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X~N(0,1)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，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Y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~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𝑘</m:t>
                        </m:r>
                      </m:e>
                    </m:d>
                    <m:r>
                      <a:rPr lang="zh-CN" altLang="en-US" sz="240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，</m:t>
                    </m:r>
                  </m:oMath>
                </a14:m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且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与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Y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相互独立</a:t>
                </a: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536575" indent="-536575">
                  <a:tabLst>
                    <a:tab pos="900113" algn="l"/>
                  </a:tabLst>
                </a:pPr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                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𝑋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𝑌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/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𝑘</m:t>
                            </m:r>
                          </m:e>
                        </m:rad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~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𝑡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𝑘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)</m:t>
                    </m:r>
                  </m:oMath>
                </a14:m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536575" indent="-536575">
                  <a:tabLst>
                    <a:tab pos="900113" algn="l"/>
                  </a:tabLst>
                </a:pPr>
                <a:endParaRPr lang="en-US" altLang="zh-CN" sz="2400" dirty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536575" indent="-536575">
                  <a:tabLst>
                    <a:tab pos="900113" algn="l"/>
                  </a:tabLst>
                </a:pP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(3) </a:t>
                </a:r>
                <a:r>
                  <a:rPr lang="en-US" altLang="zh-CN" sz="2400" b="1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F</a:t>
                </a:r>
                <a:r>
                  <a:rPr lang="zh-CN" altLang="en-US" sz="2400" b="1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分布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：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𝑋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~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𝑌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~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，且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与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Y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相互独立</a:t>
                </a: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536575" indent="-536575">
                  <a:tabLst>
                    <a:tab pos="900113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楷体" pitchFamily="49" charset="-122"/>
                          <a:cs typeface="Times" pitchFamily="18" charset="0"/>
                        </a:rPr>
                        <m:t>𝐹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楷体" pitchFamily="49" charset="-122"/>
                          <a:cs typeface="Times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itchFamily="49" charset="-122"/>
                              <a:cs typeface="Times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itchFamily="49" charset="-122"/>
                              <a:cs typeface="Times" pitchFamily="18" charset="0"/>
                            </a:rPr>
                            <m:t>𝑋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itchFamily="49" charset="-122"/>
                              <a:cs typeface="Times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itchFamily="49" charset="-122"/>
                              <a:cs typeface="Times" pitchFamily="18" charset="0"/>
                            </a:rPr>
                            <m:t>𝑌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itchFamily="49" charset="-122"/>
                              <a:cs typeface="Times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楷体" pitchFamily="49" charset="-122"/>
                                  <a:cs typeface="Times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楷体" pitchFamily="49" charset="-122"/>
                          <a:cs typeface="Times" pitchFamily="18" charset="0"/>
                        </a:rPr>
                        <m:t>~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楷体" pitchFamily="49" charset="-122"/>
                          <a:cs typeface="Times" pitchFamily="18" charset="0"/>
                        </a:rPr>
                        <m:t>𝐹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楷体" pitchFamily="49" charset="-122"/>
                          <a:cs typeface="Times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楷体" pitchFamily="49" charset="-122"/>
                              <a:cs typeface="Times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楷体" pitchFamily="49" charset="-122"/>
                              <a:cs typeface="Times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楷体" pitchFamily="49" charset="-122"/>
                              <a:cs typeface="Times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楷体" pitchFamily="49" charset="-122"/>
                          <a:cs typeface="Times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楷体" pitchFamily="49" charset="-122"/>
                              <a:cs typeface="Times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楷体" pitchFamily="49" charset="-122"/>
                              <a:cs typeface="Times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楷体" pitchFamily="49" charset="-122"/>
                              <a:cs typeface="Times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楷体" pitchFamily="49" charset="-122"/>
                          <a:cs typeface="Times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dirty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</p:txBody>
          </p:sp>
        </mc:Choice>
        <mc:Fallback xmlns="">
          <p:sp>
            <p:nvSpPr>
              <p:cNvPr id="99" name="矩形 9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20" y="980728"/>
                <a:ext cx="8712968" cy="4560031"/>
              </a:xfrm>
              <a:prstGeom prst="rect">
                <a:avLst/>
              </a:prstGeom>
              <a:blipFill>
                <a:blip r:embed="rId2"/>
                <a:stretch>
                  <a:fillRect l="-1399" t="-18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矩形 20"/>
          <p:cNvSpPr/>
          <p:nvPr/>
        </p:nvSpPr>
        <p:spPr>
          <a:xfrm>
            <a:off x="2501467" y="251937"/>
            <a:ext cx="47147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8</a:t>
            </a:r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.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选择</a:t>
            </a:r>
            <a:r>
              <a:rPr lang="zh-CN" altLang="en-US" sz="32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、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填空常考知识点</a:t>
            </a:r>
            <a:endParaRPr lang="zh-CN" altLang="en-US" sz="3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28344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2501467" y="251937"/>
            <a:ext cx="47147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8</a:t>
            </a:r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.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选择</a:t>
            </a:r>
            <a:r>
              <a:rPr lang="zh-CN" altLang="en-US" sz="32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、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填空常考知识点</a:t>
            </a:r>
            <a:endParaRPr lang="zh-CN" altLang="en-US" sz="3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0" y="1052736"/>
                <a:ext cx="9144000" cy="37355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61938" indent="-261938"/>
                <a:r>
                  <a:rPr lang="zh-CN" altLang="en-US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例</a:t>
                </a:r>
                <a:r>
                  <a:rPr lang="en-US" altLang="zh-CN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19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. 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设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</a:t>
                </a:r>
                <a:r>
                  <a:rPr lang="en-US" altLang="zh-CN" sz="2400" baseline="-25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1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,X</a:t>
                </a:r>
                <a:r>
                  <a:rPr lang="en-US" altLang="zh-CN" sz="2400" baseline="-25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2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,X</a:t>
                </a:r>
                <a:r>
                  <a:rPr lang="en-US" altLang="zh-CN" sz="2400" baseline="-25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3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,X</a:t>
                </a:r>
                <a:r>
                  <a:rPr lang="en-US" altLang="zh-CN" sz="2400" baseline="-25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4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相互独立且服从相同分布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𝑛</m:t>
                        </m:r>
                      </m:e>
                    </m:d>
                    <m:r>
                      <a:rPr lang="zh-CN" altLang="en-US" sz="240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，</m:t>
                    </m:r>
                  </m:oMath>
                </a14:m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则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 dirty="0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3</m:t>
                        </m:r>
                        <m:sSub>
                          <m:sSubPr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~__</a:t>
                </a:r>
              </a:p>
              <a:p>
                <a:pPr marL="261938" indent="-261938"/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261938" indent="-261938"/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261938" indent="-261938"/>
                <a:endParaRPr lang="en-US" altLang="zh-CN" sz="2400" dirty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261938" indent="-261938"/>
                <a:endParaRPr lang="en-US" altLang="zh-CN" sz="2400" dirty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261938" indent="-261938"/>
                <a:r>
                  <a:rPr lang="zh-CN" altLang="en-US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例</a:t>
                </a:r>
                <a:r>
                  <a:rPr lang="en-US" altLang="zh-CN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20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. </a:t>
                </a:r>
                <a:r>
                  <a:rPr lang="zh-CN" altLang="en-US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设</a:t>
                </a:r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</a:t>
                </a:r>
                <a:r>
                  <a:rPr lang="en-US" altLang="zh-CN" sz="2400" baseline="-250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1</a:t>
                </a:r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,X</a:t>
                </a:r>
                <a:r>
                  <a:rPr lang="en-US" altLang="zh-CN" sz="2400" baseline="-250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2</a:t>
                </a:r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,…,X</a:t>
                </a:r>
                <a:r>
                  <a:rPr lang="en-US" altLang="zh-CN" sz="2400" baseline="-250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n</a:t>
                </a:r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,X</a:t>
                </a:r>
                <a:r>
                  <a:rPr lang="en-US" altLang="zh-CN" sz="2400" baseline="-250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n+1</a:t>
                </a:r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,…, </a:t>
                </a:r>
                <a:r>
                  <a:rPr lang="en-US" altLang="zh-CN" sz="2400" dirty="0" err="1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</a:t>
                </a:r>
                <a:r>
                  <a:rPr lang="en-US" altLang="zh-CN" sz="2400" baseline="-25000" dirty="0" err="1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n+m</a:t>
                </a:r>
                <a:r>
                  <a:rPr lang="zh-CN" altLang="en-US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是来自正态总体</a:t>
                </a:r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N(0,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)</a:t>
                </a:r>
                <a:r>
                  <a:rPr lang="zh-CN" altLang="en-US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的容量为</a:t>
                </a:r>
                <a:endParaRPr lang="en-US" altLang="zh-CN" sz="2400" dirty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261938" indent="-261938"/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          </a:t>
                </a:r>
                <a:r>
                  <a:rPr lang="en-US" altLang="zh-CN" sz="2400" dirty="0" err="1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n+m</a:t>
                </a:r>
                <a:r>
                  <a:rPr lang="zh-CN" altLang="en-US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的样本，则统计量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𝑚</m:t>
                        </m:r>
                        <m:nary>
                          <m:naryPr>
                            <m:chr m:val="∑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𝑖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𝑛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𝑛</m:t>
                        </m:r>
                        <m:nary>
                          <m:naryPr>
                            <m:chr m:val="∑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𝑖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=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𝑛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+1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𝑛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+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𝑚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den>
                    </m:f>
                  </m:oMath>
                </a14:m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~_______</a:t>
                </a:r>
              </a:p>
              <a:p>
                <a:pPr marL="261938" indent="-261938">
                  <a:lnSpc>
                    <a:spcPct val="50000"/>
                  </a:lnSpc>
                </a:pPr>
                <a:endParaRPr lang="en-US" altLang="zh-CN" sz="2400" dirty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261938" indent="-261938"/>
                <a:endParaRPr lang="zh-CN" altLang="en-US" sz="2400" dirty="0" smtClean="0">
                  <a:solidFill>
                    <a:srgbClr val="0000FF"/>
                  </a:solidFill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052736"/>
                <a:ext cx="9144000" cy="3735510"/>
              </a:xfrm>
              <a:prstGeom prst="rect">
                <a:avLst/>
              </a:prstGeom>
              <a:blipFill>
                <a:blip r:embed="rId2"/>
                <a:stretch>
                  <a:fillRect l="-1000" r="-2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6813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2501467" y="251937"/>
            <a:ext cx="47147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8</a:t>
            </a:r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.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选择</a:t>
            </a:r>
            <a:r>
              <a:rPr lang="zh-CN" altLang="en-US" sz="32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、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填空常考知识点</a:t>
            </a:r>
            <a:endParaRPr lang="zh-CN" altLang="en-US" sz="3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0" y="1052736"/>
                <a:ext cx="9144000" cy="59254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61938" indent="-261938"/>
                <a:r>
                  <a:rPr lang="zh-CN" altLang="en-US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例</a:t>
                </a:r>
                <a:r>
                  <a:rPr lang="en-US" altLang="zh-CN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19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. 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设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</a:t>
                </a:r>
                <a:r>
                  <a:rPr lang="en-US" altLang="zh-CN" sz="2400" baseline="-25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1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,X</a:t>
                </a:r>
                <a:r>
                  <a:rPr lang="en-US" altLang="zh-CN" sz="2400" baseline="-25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2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,X</a:t>
                </a:r>
                <a:r>
                  <a:rPr lang="en-US" altLang="zh-CN" sz="2400" baseline="-25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3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,X</a:t>
                </a:r>
                <a:r>
                  <a:rPr lang="en-US" altLang="zh-CN" sz="2400" baseline="-25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4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相互独立且服从相同分布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𝑛</m:t>
                        </m:r>
                      </m:e>
                    </m:d>
                    <m:r>
                      <a:rPr lang="zh-CN" altLang="en-US" sz="240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，</m:t>
                    </m:r>
                  </m:oMath>
                </a14:m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则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 dirty="0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3</m:t>
                        </m:r>
                        <m:sSub>
                          <m:sSubPr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~__</a:t>
                </a:r>
              </a:p>
              <a:p>
                <a:pPr marL="261938" indent="-261938"/>
                <a:r>
                  <a:rPr lang="zh-CN" altLang="en-US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解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 dirty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 dirty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~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3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𝑛</m:t>
                        </m:r>
                      </m:e>
                    </m:d>
                    <m:r>
                      <a:rPr lang="zh-CN" altLang="en-US" sz="240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，</m:t>
                    </m:r>
                  </m:oMath>
                </a14:m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 dirty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 dirty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相互独立</a:t>
                </a: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261938" indent="-261938">
                  <a:lnSpc>
                    <a:spcPct val="50000"/>
                  </a:lnSpc>
                </a:pP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261938" indent="-261938"/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     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则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3</m:t>
                        </m:r>
                        <m:sSub>
                          <m:sSub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fPr>
                      <m:num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)/3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𝑛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/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𝑛</m:t>
                        </m:r>
                      </m:den>
                    </m:f>
                    <m:r>
                      <a:rPr lang="en-US" altLang="zh-CN" sz="2400" b="0" i="0" dirty="0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~</m:t>
                    </m:r>
                    <m:r>
                      <m:rPr>
                        <m:sty m:val="p"/>
                      </m:rPr>
                      <a:rPr lang="en-US" altLang="zh-CN" sz="2400" b="0" i="0" dirty="0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F</m:t>
                    </m:r>
                    <m:r>
                      <a:rPr lang="en-US" altLang="zh-CN" sz="2400" b="0" i="0" dirty="0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(3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𝑛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,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𝑛</m:t>
                    </m:r>
                    <m:r>
                      <a:rPr lang="en-US" altLang="zh-CN" sz="2400" b="0" i="0" dirty="0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)</m:t>
                    </m:r>
                  </m:oMath>
                </a14:m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261938" indent="-261938"/>
                <a:endParaRPr lang="en-US" altLang="zh-CN" sz="2400" dirty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261938" indent="-261938"/>
                <a:r>
                  <a:rPr lang="zh-CN" altLang="en-US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例</a:t>
                </a:r>
                <a:r>
                  <a:rPr lang="en-US" altLang="zh-CN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20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. </a:t>
                </a:r>
                <a:r>
                  <a:rPr lang="zh-CN" altLang="en-US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设</a:t>
                </a:r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</a:t>
                </a:r>
                <a:r>
                  <a:rPr lang="en-US" altLang="zh-CN" sz="2400" baseline="-250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1</a:t>
                </a:r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,X</a:t>
                </a:r>
                <a:r>
                  <a:rPr lang="en-US" altLang="zh-CN" sz="2400" baseline="-250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2</a:t>
                </a:r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,…,X</a:t>
                </a:r>
                <a:r>
                  <a:rPr lang="en-US" altLang="zh-CN" sz="2400" baseline="-250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n</a:t>
                </a:r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,X</a:t>
                </a:r>
                <a:r>
                  <a:rPr lang="en-US" altLang="zh-CN" sz="2400" baseline="-250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n+1</a:t>
                </a:r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,…, </a:t>
                </a:r>
                <a:r>
                  <a:rPr lang="en-US" altLang="zh-CN" sz="2400" dirty="0" err="1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</a:t>
                </a:r>
                <a:r>
                  <a:rPr lang="en-US" altLang="zh-CN" sz="2400" baseline="-25000" dirty="0" err="1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n+m</a:t>
                </a:r>
                <a:r>
                  <a:rPr lang="zh-CN" altLang="en-US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是来自正态总体</a:t>
                </a:r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N(0,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)</a:t>
                </a:r>
                <a:r>
                  <a:rPr lang="zh-CN" altLang="en-US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的容量为</a:t>
                </a:r>
                <a:endParaRPr lang="en-US" altLang="zh-CN" sz="2400" dirty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261938" indent="-261938"/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          </a:t>
                </a:r>
                <a:r>
                  <a:rPr lang="en-US" altLang="zh-CN" sz="2400" dirty="0" err="1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n+m</a:t>
                </a:r>
                <a:r>
                  <a:rPr lang="zh-CN" altLang="en-US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的样本，则统计量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𝑚</m:t>
                        </m:r>
                        <m:nary>
                          <m:naryPr>
                            <m:chr m:val="∑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𝑖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𝑛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𝑛</m:t>
                        </m:r>
                        <m:nary>
                          <m:naryPr>
                            <m:chr m:val="∑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𝑖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=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𝑛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+1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𝑛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+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𝑚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den>
                    </m:f>
                  </m:oMath>
                </a14:m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~_______</a:t>
                </a:r>
              </a:p>
              <a:p>
                <a:pPr marL="261938" indent="-261938">
                  <a:lnSpc>
                    <a:spcPct val="50000"/>
                  </a:lnSpc>
                </a:pPr>
                <a:endParaRPr lang="en-US" altLang="zh-CN" sz="2400" dirty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261938" indent="-261938"/>
                <a:r>
                  <a:rPr lang="zh-CN" altLang="en-US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解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：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nary>
                      <m:naryPr>
                        <m:chr m:val="∑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𝑖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𝑛</m:t>
                        </m:r>
                      </m:sup>
                      <m:e>
                        <m:sSubSup>
                          <m:sSub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𝑖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𝜎</m:t>
                                </m:r>
                              </m:den>
                            </m:f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𝑖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−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𝐸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𝜎</m:t>
                                </m:r>
                              </m:den>
                            </m:f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~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altLang="zh-CN" sz="2400" i="1" dirty="0" smtClean="0">
                  <a:latin typeface="Cambria Math" panose="02040503050406030204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261938" indent="-261938">
                  <a:lnSpc>
                    <a:spcPct val="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楷体" pitchFamily="49" charset="-122"/>
                          <a:cs typeface="Times" pitchFamily="18" charset="0"/>
                        </a:rPr>
                        <m:t>         </m:t>
                      </m:r>
                    </m:oMath>
                  </m:oMathPara>
                </a14:m>
                <a:endParaRPr lang="en-US" altLang="zh-CN" sz="2400" b="0" i="1" dirty="0" smtClean="0">
                  <a:latin typeface="Cambria Math" panose="02040503050406030204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261938" indent="-261938"/>
                <a:r>
                  <a:rPr lang="en-US" altLang="zh-CN" sz="2400" dirty="0" smtClean="0">
                    <a:ea typeface="楷体" pitchFamily="49" charset="-122"/>
                    <a:cs typeface="Times" pitchFamily="18" charset="0"/>
                  </a:rPr>
                  <a:t>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nary>
                      <m:naryPr>
                        <m:chr m:val="∑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𝑖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=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+1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+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𝑚</m:t>
                        </m:r>
                      </m:sup>
                      <m:e>
                        <m:sSubSup>
                          <m:sSub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𝑖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=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+1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+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𝜎</m:t>
                                </m:r>
                              </m:den>
                            </m:f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𝑖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=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+1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+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𝑚</m:t>
                        </m:r>
                      </m:sup>
                      <m:e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(</m:t>
                            </m:r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−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𝐸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𝜎</m:t>
                                </m:r>
                              </m:den>
                            </m:f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~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𝑚</m:t>
                        </m:r>
                      </m:e>
                    </m:d>
                  </m:oMath>
                </a14:m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261938" indent="-261938">
                  <a:lnSpc>
                    <a:spcPct val="50000"/>
                  </a:lnSpc>
                </a:pPr>
                <a:endParaRPr lang="en-US" altLang="zh-CN" sz="2400" dirty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261938" indent="-261938"/>
                <a:r>
                  <a:rPr lang="en-US" altLang="zh-CN" sz="2400" dirty="0" smtClean="0">
                    <a:ea typeface="楷体" pitchFamily="49" charset="-122"/>
                    <a:cs typeface="Times" pitchFamily="18" charset="0"/>
                  </a:rPr>
                  <a:t>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𝑚</m:t>
                        </m:r>
                        <m:nary>
                          <m:naryPr>
                            <m:chr m:val="∑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𝑖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𝑛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𝑛</m:t>
                        </m:r>
                        <m:nary>
                          <m:naryPr>
                            <m:chr m:val="∑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𝑖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=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𝑛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+1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𝑛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+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𝑚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</m:den>
                    </m:f>
                  </m:oMath>
                </a14:m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(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𝑚</m:t>
                        </m:r>
                        <m:nary>
                          <m:naryPr>
                            <m:chr m:val="∑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𝑖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𝑛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nary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)/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(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𝑛</m:t>
                        </m:r>
                        <m:nary>
                          <m:naryPr>
                            <m:chr m:val="∑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𝑖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=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𝑛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+1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𝑛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+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𝑚</m:t>
                            </m:r>
                          </m:sup>
                          <m:e>
                            <m:sSubSup>
                              <m:sSub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)/</m:t>
                            </m:r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den>
                    </m:f>
                  </m:oMath>
                </a14:m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𝑖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𝑛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nary>
                          </m:num>
                          <m:den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/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𝑛</m:t>
                        </m:r>
                      </m:num>
                      <m:den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𝑖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𝑛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+1</m:t>
                                </m:r>
                              </m:sub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𝑛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+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𝑚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nary>
                          </m:num>
                          <m:den>
                            <m:sSup>
                              <m:sSup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/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𝑚</m:t>
                        </m:r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~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𝐹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𝑚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)</m:t>
                    </m:r>
                  </m:oMath>
                </a14:m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052736"/>
                <a:ext cx="9144000" cy="5925405"/>
              </a:xfrm>
              <a:prstGeom prst="rect">
                <a:avLst/>
              </a:prstGeom>
              <a:blipFill>
                <a:blip r:embed="rId2"/>
                <a:stretch>
                  <a:fillRect l="-1000" r="-2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接连接符 2"/>
          <p:cNvCxnSpPr/>
          <p:nvPr/>
        </p:nvCxnSpPr>
        <p:spPr bwMode="auto">
          <a:xfrm>
            <a:off x="7668344" y="4725144"/>
            <a:ext cx="504056" cy="21602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" name="直接连接符 5"/>
          <p:cNvCxnSpPr/>
          <p:nvPr/>
        </p:nvCxnSpPr>
        <p:spPr bwMode="auto">
          <a:xfrm flipV="1">
            <a:off x="7812360" y="4941168"/>
            <a:ext cx="360040" cy="43204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矩形 6"/>
          <p:cNvSpPr/>
          <p:nvPr/>
        </p:nvSpPr>
        <p:spPr>
          <a:xfrm>
            <a:off x="8172400" y="4719791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>
                <a:latin typeface="Times" pitchFamily="18" charset="0"/>
                <a:ea typeface="楷体" pitchFamily="49" charset="-122"/>
                <a:cs typeface="Times" pitchFamily="18" charset="0"/>
              </a:rPr>
              <a:t>独立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278589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2501467" y="251937"/>
            <a:ext cx="47147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8</a:t>
            </a:r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.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选择</a:t>
            </a:r>
            <a:r>
              <a:rPr lang="zh-CN" altLang="en-US" sz="32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、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填空常考知识点</a:t>
            </a:r>
            <a:endParaRPr lang="zh-CN" altLang="en-US" sz="3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0" y="1052736"/>
                <a:ext cx="9144000" cy="157639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61938" indent="-261938"/>
                <a:r>
                  <a:rPr lang="zh-CN" altLang="en-US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例</a:t>
                </a:r>
                <a:r>
                  <a:rPr lang="en-US" altLang="zh-CN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21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. 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设</a:t>
                </a:r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</a:t>
                </a:r>
                <a:r>
                  <a:rPr lang="en-US" altLang="zh-CN" sz="2400" baseline="-250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1</a:t>
                </a:r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,X</a:t>
                </a:r>
                <a:r>
                  <a:rPr lang="en-US" altLang="zh-CN" sz="2400" baseline="-250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2</a:t>
                </a:r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,…,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</a:t>
                </a:r>
                <a:r>
                  <a:rPr lang="en-US" altLang="zh-CN" sz="2400" baseline="-25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9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是来自正态总体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的简单随机样本，</a:t>
                </a: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261938" indent="-261938"/>
                <a:r>
                  <a:rPr lang="en-US" altLang="zh-CN" sz="2400" dirty="0" smtClean="0">
                    <a:ea typeface="楷体" pitchFamily="49" charset="-122"/>
                    <a:cs typeface="Times" pitchFamily="18" charset="0"/>
                  </a:rPr>
                  <a:t>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6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𝑖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6</m:t>
                        </m:r>
                      </m:sup>
                      <m:e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   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3</m:t>
                        </m:r>
                      </m:den>
                    </m:f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7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8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9</m:t>
                            </m:r>
                          </m:sub>
                        </m:sSub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,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𝑆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𝑖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=7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9</m:t>
                        </m:r>
                      </m:sup>
                      <m:e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altLang="zh-CN" sz="2400" b="0" i="1" dirty="0" smtClean="0">
                  <a:latin typeface="Cambria Math" panose="02040503050406030204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261938" indent="-261938"/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            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𝑍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𝑆</m:t>
                        </m:r>
                      </m:den>
                    </m:f>
                  </m:oMath>
                </a14:m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, 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则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Z~_____</a:t>
                </a: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052736"/>
                <a:ext cx="9144000" cy="1576394"/>
              </a:xfrm>
              <a:prstGeom prst="rect">
                <a:avLst/>
              </a:prstGeom>
              <a:blipFill>
                <a:blip r:embed="rId2"/>
                <a:stretch>
                  <a:fillRect l="-1000" t="-4264" b="-31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3310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2501467" y="251937"/>
            <a:ext cx="47147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8</a:t>
            </a:r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.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选择</a:t>
            </a:r>
            <a:r>
              <a:rPr lang="zh-CN" altLang="en-US" sz="32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、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填空常考知识点</a:t>
            </a:r>
            <a:endParaRPr lang="zh-CN" altLang="en-US" sz="3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0" y="1052736"/>
                <a:ext cx="9144000" cy="571457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61938" indent="-261938"/>
                <a:r>
                  <a:rPr lang="zh-CN" altLang="en-US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例</a:t>
                </a:r>
                <a:r>
                  <a:rPr lang="en-US" altLang="zh-CN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21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. 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设</a:t>
                </a:r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</a:t>
                </a:r>
                <a:r>
                  <a:rPr lang="en-US" altLang="zh-CN" sz="2400" baseline="-250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1</a:t>
                </a:r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,X</a:t>
                </a:r>
                <a:r>
                  <a:rPr lang="en-US" altLang="zh-CN" sz="2400" baseline="-250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2</a:t>
                </a:r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,…,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</a:t>
                </a:r>
                <a:r>
                  <a:rPr lang="en-US" altLang="zh-CN" sz="2400" baseline="-25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9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是来自正态总体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的简单随机样本，</a:t>
                </a: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261938" indent="-261938"/>
                <a:r>
                  <a:rPr lang="en-US" altLang="zh-CN" sz="2400" dirty="0" smtClean="0">
                    <a:ea typeface="楷体" pitchFamily="49" charset="-122"/>
                    <a:cs typeface="Times" pitchFamily="18" charset="0"/>
                  </a:rPr>
                  <a:t>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6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𝑖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6</m:t>
                        </m:r>
                      </m:sup>
                      <m:e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   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3</m:t>
                        </m:r>
                      </m:den>
                    </m:f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7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8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9</m:t>
                            </m:r>
                          </m:sub>
                        </m:sSub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,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𝑆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𝑖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=7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9</m:t>
                        </m:r>
                      </m:sup>
                      <m:e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altLang="zh-CN" sz="2400" b="0" i="1" dirty="0" smtClean="0">
                  <a:latin typeface="Cambria Math" panose="02040503050406030204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261938" indent="-261938"/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            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𝑍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𝑆</m:t>
                        </m:r>
                      </m:den>
                    </m:f>
                  </m:oMath>
                </a14:m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, 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则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Z~_____</a:t>
                </a:r>
              </a:p>
              <a:p>
                <a:pPr marL="261938" indent="-261938"/>
                <a:r>
                  <a:rPr lang="zh-CN" altLang="en-US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解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：设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X~N(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𝜇</m:t>
                    </m:r>
                  </m:oMath>
                </a14:m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,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pPr>
                      <m:e>
                        <m:r>
                          <a:rPr lang="zh-CN" altLang="en-US" sz="240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)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~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𝑁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(</m:t>
                    </m:r>
                    <m:r>
                      <a:rPr lang="zh-CN" altLang="en-US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𝜇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,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 dirty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6</m:t>
                        </m:r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)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240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~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𝑁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(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𝜇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,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 dirty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3</m:t>
                        </m:r>
                      </m:den>
                    </m:f>
                    <m:r>
                      <a:rPr lang="en-US" altLang="zh-CN" sz="2400" i="1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)</m:t>
                    </m:r>
                  </m:oMath>
                </a14:m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，</a:t>
                </a: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261938" indent="-261938"/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      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进一步有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~</a:t>
                </a:r>
                <a:r>
                  <a:rPr lang="en-US" altLang="zh-CN" sz="2400" dirty="0">
                    <a:ea typeface="楷体" pitchFamily="49" charset="-122"/>
                    <a:cs typeface="Times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𝑁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d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𝜇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400" i="1" dirty="0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zh-CN" altLang="en-US" sz="2400" i="1" dirty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，</m:t>
                    </m:r>
                  </m:oMath>
                </a14:m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标准化</a:t>
                </a:r>
                <a14:m>
                  <m:oMath xmlns:m="http://schemas.openxmlformats.org/officeDocument/2006/math">
                    <m:r>
                      <a:rPr lang="zh-CN" altLang="en-US" sz="2400" i="1" dirty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：</m:t>
                    </m:r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zh-CN" sz="2400" dirty="0">
                            <a:latin typeface="Times" pitchFamily="18" charset="0"/>
                            <a:ea typeface="楷体" pitchFamily="49" charset="-122"/>
                            <a:cs typeface="Times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zh-CN" altLang="en-US" sz="240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𝜎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US" altLang="zh-CN" sz="2400" i="1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~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𝑁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(0,1)</m:t>
                    </m:r>
                  </m:oMath>
                </a14:m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261938" indent="-261938"/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      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又因为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(3−1)</m:t>
                        </m:r>
                        <m:sSup>
                          <m:sSup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~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，</a:t>
                </a: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261938" indent="-261938"/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      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而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Y</a:t>
                </a:r>
                <a:r>
                  <a:rPr lang="en-US" altLang="zh-CN" sz="2400" baseline="-25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2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与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S</a:t>
                </a:r>
                <a:r>
                  <a:rPr lang="en-US" altLang="zh-CN" sz="2400" baseline="30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2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相互独立（样本均值与样本方差相互独立）</a:t>
                </a: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261938" indent="-261938"/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      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显然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Y</a:t>
                </a:r>
                <a:r>
                  <a:rPr lang="en-US" altLang="zh-CN" sz="2400" baseline="-25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1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与</a:t>
                </a:r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S</a:t>
                </a:r>
                <a:r>
                  <a:rPr lang="en-US" altLang="zh-CN" sz="2400" baseline="300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2</a:t>
                </a:r>
                <a:r>
                  <a:rPr lang="zh-CN" altLang="en-US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相互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独立，所以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zh-CN" sz="2400" dirty="0">
                            <a:latin typeface="Times" pitchFamily="18" charset="0"/>
                            <a:ea typeface="楷体" pitchFamily="49" charset="-122"/>
                            <a:cs typeface="Times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zh-CN" altLang="en-US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𝜎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zh-CN" altLang="en-US" sz="2400" i="1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与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(3−1)</m:t>
                        </m:r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相互独立</a:t>
                </a: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261938" indent="-261938">
                  <a:lnSpc>
                    <a:spcPct val="50000"/>
                  </a:lnSpc>
                </a:pP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261938" indent="-261938"/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       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所以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Z=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2</m:t>
                            </m:r>
                          </m:e>
                        </m:rad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𝑆</m:t>
                        </m:r>
                      </m:den>
                    </m:f>
                  </m:oMath>
                </a14:m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fPr>
                      <m:num>
                        <m:r>
                          <a:rPr lang="en-US" altLang="zh-CN" sz="240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zh-CN" altLang="en-US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𝜎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/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𝑆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/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𝜎</m:t>
                        </m:r>
                      </m:den>
                    </m:f>
                  </m:oMath>
                </a14:m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zh-CN" altLang="en-US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𝜎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/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(3−1)</m:t>
                                </m:r>
                                <m:sSup>
                                  <m:s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itchFamily="18" charset="0"/>
                                      </a:rPr>
                                      <m:t>𝑆</m:t>
                                    </m:r>
                                  </m:e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2400" i="1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/2</m:t>
                            </m:r>
                          </m:e>
                        </m:rad>
                      </m:den>
                    </m:f>
                  </m:oMath>
                </a14:m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~t(2)</a:t>
                </a: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052736"/>
                <a:ext cx="9144000" cy="5714578"/>
              </a:xfrm>
              <a:prstGeom prst="rect">
                <a:avLst/>
              </a:prstGeom>
              <a:blipFill>
                <a:blip r:embed="rId2"/>
                <a:stretch>
                  <a:fillRect l="-1000" t="-11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9166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2501467" y="251937"/>
            <a:ext cx="47147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8</a:t>
            </a:r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.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选择</a:t>
            </a:r>
            <a:r>
              <a:rPr lang="zh-CN" altLang="en-US" sz="32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、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填空常考知识点</a:t>
            </a:r>
            <a:endParaRPr lang="zh-CN" altLang="en-US" sz="3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0" y="1052736"/>
                <a:ext cx="9144000" cy="613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61938" indent="-261938"/>
                <a:r>
                  <a:rPr lang="zh-CN" altLang="en-US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例</a:t>
                </a:r>
                <a:r>
                  <a:rPr lang="en-US" altLang="zh-CN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22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. </a:t>
                </a:r>
                <a:r>
                  <a:rPr lang="en-US" altLang="zh-CN" sz="2400" dirty="0" err="1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X~t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(n) (n&gt;1)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~_______</a:t>
                </a:r>
                <a:endParaRPr lang="en-US" altLang="zh-CN" sz="2400" dirty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052736"/>
                <a:ext cx="9144000" cy="613886"/>
              </a:xfrm>
              <a:prstGeom prst="rect">
                <a:avLst/>
              </a:prstGeom>
              <a:blipFill>
                <a:blip r:embed="rId2"/>
                <a:stretch>
                  <a:fillRect l="-1000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3228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2501467" y="251937"/>
            <a:ext cx="47147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8</a:t>
            </a:r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.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选择</a:t>
            </a:r>
            <a:r>
              <a:rPr lang="zh-CN" altLang="en-US" sz="32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、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填空常考知识点</a:t>
            </a:r>
            <a:endParaRPr lang="zh-CN" altLang="en-US" sz="3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0" y="1052736"/>
                <a:ext cx="9144000" cy="26925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61938" indent="-261938"/>
                <a:r>
                  <a:rPr lang="zh-CN" altLang="en-US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例</a:t>
                </a:r>
                <a:r>
                  <a:rPr lang="en-US" altLang="zh-CN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22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. </a:t>
                </a:r>
                <a:r>
                  <a:rPr lang="en-US" altLang="zh-CN" sz="2400" dirty="0" err="1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X~t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(n) (n&gt;1)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~_______</a:t>
                </a:r>
              </a:p>
              <a:p>
                <a:pPr marL="261938" indent="-261938"/>
                <a:r>
                  <a:rPr lang="zh-CN" altLang="en-US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解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：由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t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分布的定义可得：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X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𝑌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𝑍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/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其中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Y~N(0,1), Z~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261938" indent="-261938"/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      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且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Y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与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Z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相互独立。</a:t>
                </a: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261938" indent="-261938"/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𝑍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/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𝑛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𝑍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/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𝑛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/1</m:t>
                        </m:r>
                      </m:den>
                    </m:f>
                  </m:oMath>
                </a14:m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，其中</a:t>
                </a:r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Z~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，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Y</a:t>
                </a:r>
                <a:r>
                  <a:rPr lang="en-US" altLang="zh-CN" sz="2400" baseline="30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2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~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1</m:t>
                        </m:r>
                      </m:e>
                    </m:d>
                    <m:r>
                      <a:rPr lang="zh-CN" altLang="en-US" sz="2400" i="1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且</m:t>
                    </m:r>
                  </m:oMath>
                </a14:m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Z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与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Y</a:t>
                </a:r>
                <a:r>
                  <a:rPr lang="en-US" altLang="zh-CN" sz="2400" baseline="30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2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相互独立</a:t>
                </a: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261938" indent="-261938"/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        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则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240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~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𝐹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𝑛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,1)</m:t>
                    </m:r>
                  </m:oMath>
                </a14:m>
                <a:endParaRPr lang="en-US" altLang="zh-CN" sz="2400" dirty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052736"/>
                <a:ext cx="9144000" cy="2692532"/>
              </a:xfrm>
              <a:prstGeom prst="rect">
                <a:avLst/>
              </a:prstGeom>
              <a:blipFill>
                <a:blip r:embed="rId2"/>
                <a:stretch>
                  <a:fillRect l="-1000" b="-4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2358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2501467" y="251937"/>
            <a:ext cx="47147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8</a:t>
            </a:r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.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选择</a:t>
            </a:r>
            <a:r>
              <a:rPr lang="zh-CN" altLang="en-US" sz="32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、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填空常考知识点</a:t>
            </a:r>
            <a:endParaRPr lang="zh-CN" altLang="en-US" sz="3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0" y="1052736"/>
                <a:ext cx="9144000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61938" indent="-261938"/>
                <a:r>
                  <a:rPr lang="zh-CN" altLang="en-US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例</a:t>
                </a:r>
                <a:r>
                  <a:rPr lang="en-US" altLang="zh-CN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23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. 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设总体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X~N(0,1)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，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</a:t>
                </a:r>
                <a:r>
                  <a:rPr lang="en-US" altLang="zh-CN" sz="2400" baseline="-25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1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,…,X</a:t>
                </a:r>
                <a:r>
                  <a:rPr lang="en-US" altLang="zh-CN" sz="2400" baseline="-25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6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是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的一个样本，令</a:t>
                </a: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261938" indent="-261938"/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         Y=(X</a:t>
                </a:r>
                <a:r>
                  <a:rPr lang="en-US" altLang="zh-CN" sz="2400" baseline="-25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1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+X</a:t>
                </a:r>
                <a:r>
                  <a:rPr lang="en-US" altLang="zh-CN" sz="2400" baseline="-25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2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+X</a:t>
                </a:r>
                <a:r>
                  <a:rPr lang="en-US" altLang="zh-CN" sz="2400" baseline="-25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3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)</a:t>
                </a:r>
                <a:r>
                  <a:rPr lang="en-US" altLang="zh-CN" sz="2400" baseline="30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2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+(X</a:t>
                </a:r>
                <a:r>
                  <a:rPr lang="en-US" altLang="zh-CN" sz="2400" baseline="-25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4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+X</a:t>
                </a:r>
                <a:r>
                  <a:rPr lang="en-US" altLang="zh-CN" sz="2400" baseline="-25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5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+X</a:t>
                </a:r>
                <a:r>
                  <a:rPr lang="en-US" altLang="zh-CN" sz="2400" baseline="-25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6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)</a:t>
                </a:r>
                <a:r>
                  <a:rPr lang="en-US" altLang="zh-CN" sz="2400" baseline="30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2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，求常数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C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，使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CY~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分布</a:t>
                </a: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261938" indent="-261938">
                  <a:lnSpc>
                    <a:spcPct val="50000"/>
                  </a:lnSpc>
                </a:pP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052736"/>
                <a:ext cx="9144000" cy="1015663"/>
              </a:xfrm>
              <a:prstGeom prst="rect">
                <a:avLst/>
              </a:prstGeom>
              <a:blipFill>
                <a:blip r:embed="rId2"/>
                <a:stretch>
                  <a:fillRect l="-1000" t="-66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0098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2501467" y="251937"/>
            <a:ext cx="47147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8</a:t>
            </a:r>
            <a:r>
              <a:rPr lang="en-US" altLang="zh-CN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.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选择</a:t>
            </a:r>
            <a:r>
              <a:rPr lang="zh-CN" altLang="en-US" sz="3200" b="1" dirty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、</a:t>
            </a:r>
            <a:r>
              <a:rPr lang="zh-CN" altLang="en-US" sz="3200" b="1" dirty="0" smtClean="0">
                <a:solidFill>
                  <a:srgbClr val="0000FF"/>
                </a:solidFill>
                <a:latin typeface="Times" panose="02020603050405020304" pitchFamily="18" charset="0"/>
                <a:ea typeface="楷体" pitchFamily="49" charset="-122"/>
                <a:cs typeface="Times" panose="02020603050405020304" pitchFamily="18" charset="0"/>
              </a:rPr>
              <a:t>填空常考知识点</a:t>
            </a:r>
            <a:endParaRPr lang="zh-CN" altLang="en-US" sz="3200" b="1" dirty="0">
              <a:solidFill>
                <a:srgbClr val="0000FF"/>
              </a:solidFill>
              <a:latin typeface="楷体" pitchFamily="49" charset="-122"/>
              <a:ea typeface="楷体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0" y="1052736"/>
                <a:ext cx="9144000" cy="400770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61938" indent="-261938"/>
                <a:r>
                  <a:rPr lang="zh-CN" altLang="en-US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例</a:t>
                </a:r>
                <a:r>
                  <a:rPr lang="en-US" altLang="zh-CN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23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. 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设总体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X~N(0,1)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，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</a:t>
                </a:r>
                <a:r>
                  <a:rPr lang="en-US" altLang="zh-CN" sz="2400" baseline="-25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1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,…,X</a:t>
                </a:r>
                <a:r>
                  <a:rPr lang="en-US" altLang="zh-CN" sz="2400" baseline="-25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6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是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的一个样本，令</a:t>
                </a: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261938" indent="-261938"/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         Y=(X</a:t>
                </a:r>
                <a:r>
                  <a:rPr lang="en-US" altLang="zh-CN" sz="2400" baseline="-25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1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+X</a:t>
                </a:r>
                <a:r>
                  <a:rPr lang="en-US" altLang="zh-CN" sz="2400" baseline="-25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2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+X</a:t>
                </a:r>
                <a:r>
                  <a:rPr lang="en-US" altLang="zh-CN" sz="2400" baseline="-25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3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)</a:t>
                </a:r>
                <a:r>
                  <a:rPr lang="en-US" altLang="zh-CN" sz="2400" baseline="30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2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+(X</a:t>
                </a:r>
                <a:r>
                  <a:rPr lang="en-US" altLang="zh-CN" sz="2400" baseline="-25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4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+X</a:t>
                </a:r>
                <a:r>
                  <a:rPr lang="en-US" altLang="zh-CN" sz="2400" baseline="-25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5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+X</a:t>
                </a:r>
                <a:r>
                  <a:rPr lang="en-US" altLang="zh-CN" sz="2400" baseline="-25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6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)</a:t>
                </a:r>
                <a:r>
                  <a:rPr lang="en-US" altLang="zh-CN" sz="2400" baseline="30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2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，求常数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C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，使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CY~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分布</a:t>
                </a: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261938" indent="-261938">
                  <a:lnSpc>
                    <a:spcPct val="50000"/>
                  </a:lnSpc>
                </a:pP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631825" indent="-631825"/>
                <a:r>
                  <a:rPr lang="zh-CN" altLang="en-US" sz="2400" dirty="0" smtClean="0">
                    <a:solidFill>
                      <a:srgbClr val="0000FF"/>
                    </a:solidFill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解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：想法：</a:t>
                </a:r>
                <a:r>
                  <a:rPr lang="zh-CN" altLang="en-US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服从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分布必须可以分解成两个相互独立的标准正态分布的平方和的形式。</a:t>
                </a:r>
                <a:endParaRPr lang="en-US" altLang="zh-CN" sz="2400" dirty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712788" indent="-712788">
                  <a:tabLst>
                    <a:tab pos="712788" algn="l"/>
                  </a:tabLst>
                </a:pP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       因为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X</a:t>
                </a:r>
                <a:r>
                  <a:rPr lang="en-US" altLang="zh-CN" sz="2400" baseline="-25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1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+X</a:t>
                </a:r>
                <a:r>
                  <a:rPr lang="en-US" altLang="zh-CN" sz="2400" baseline="-25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2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+X</a:t>
                </a:r>
                <a:r>
                  <a:rPr lang="en-US" altLang="zh-CN" sz="2400" baseline="-250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3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~N(0,3)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，则标准化后的变量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~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𝑁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(0,1)</m:t>
                    </m:r>
                  </m:oMath>
                </a14:m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712788" indent="-712788">
                  <a:tabLst>
                    <a:tab pos="712788" algn="l"/>
                  </a:tabLst>
                </a:pPr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</a:t>
                </a: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      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同理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6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a:rPr lang="en-US" altLang="zh-CN" sz="2400" i="1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~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𝑁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(0,1)</m:t>
                    </m:r>
                  </m:oMath>
                </a14:m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，且与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相互独立。</a:t>
                </a:r>
                <a:endParaRPr lang="en-US" altLang="zh-CN" sz="2400" dirty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712788" indent="-712788">
                  <a:tabLst>
                    <a:tab pos="712788" algn="l"/>
                  </a:tabLst>
                </a:pPr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       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则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楷体" pitchFamily="49" charset="-122"/>
                                <a:cs typeface="Times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楷体" pitchFamily="49" charset="-122"/>
                                    <a:cs typeface="Times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楷体" pitchFamily="49" charset="-122"/>
                                        <a:cs typeface="Times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~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pPr>
                      <m:e>
                        <m:r>
                          <a:rPr lang="zh-CN" altLang="en-US" sz="2400" i="1" dirty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(2)</m:t>
                    </m:r>
                  </m:oMath>
                </a14:m>
                <a:endParaRPr lang="en-US" altLang="zh-CN" sz="2400" dirty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  <a:p>
                <a:pPr marL="261938" indent="-261938"/>
                <a:r>
                  <a:rPr lang="en-US" altLang="zh-CN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       </a:t>
                </a:r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所以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𝐶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3</m:t>
                        </m:r>
                      </m:den>
                    </m:f>
                    <m:r>
                      <a:rPr lang="zh-CN" altLang="en-US" sz="2400" i="1">
                        <a:latin typeface="Cambria Math" panose="02040503050406030204" pitchFamily="18" charset="0"/>
                        <a:ea typeface="楷体" pitchFamily="49" charset="-122"/>
                        <a:cs typeface="Times" pitchFamily="18" charset="0"/>
                      </a:rPr>
                      <m:t>时</m:t>
                    </m:r>
                  </m:oMath>
                </a14:m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，</a:t>
                </a:r>
                <a:r>
                  <a:rPr lang="en-US" altLang="zh-CN" sz="2400" dirty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 CY~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</m:ctrlPr>
                      </m:sSupPr>
                      <m:e>
                        <m:r>
                          <a:rPr lang="zh-CN" altLang="en-US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楷体" pitchFamily="49" charset="-122"/>
                            <a:cs typeface="Times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400" dirty="0" smtClean="0">
                    <a:latin typeface="Times" pitchFamily="18" charset="0"/>
                    <a:ea typeface="楷体" pitchFamily="49" charset="-122"/>
                    <a:cs typeface="Times" pitchFamily="18" charset="0"/>
                  </a:rPr>
                  <a:t>分布。</a:t>
                </a:r>
                <a:endParaRPr lang="en-US" altLang="zh-CN" sz="2400" dirty="0" smtClean="0">
                  <a:latin typeface="Times" pitchFamily="18" charset="0"/>
                  <a:ea typeface="楷体" pitchFamily="49" charset="-122"/>
                  <a:cs typeface="Times" pitchFamily="18" charset="0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052736"/>
                <a:ext cx="9144000" cy="4007700"/>
              </a:xfrm>
              <a:prstGeom prst="rect">
                <a:avLst/>
              </a:prstGeom>
              <a:blipFill>
                <a:blip r:embed="rId2"/>
                <a:stretch>
                  <a:fillRect l="-1000" t="-1674" b="-6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3607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20080" y="332656"/>
            <a:ext cx="76683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1938" indent="-261938"/>
            <a:r>
              <a:rPr lang="zh-CN" altLang="en-US" sz="3200" b="1" dirty="0" smtClean="0">
                <a:solidFill>
                  <a:srgbClr val="0000FF"/>
                </a:solidFill>
                <a:latin typeface="Times" pitchFamily="18" charset="0"/>
                <a:ea typeface="楷体" pitchFamily="49" charset="-122"/>
                <a:cs typeface="Times" pitchFamily="18" charset="0"/>
              </a:rPr>
              <a:t>希望各位同学能够好好复习、取得好成绩！</a:t>
            </a:r>
            <a:endParaRPr lang="en-US" altLang="zh-CN" sz="3200" b="1" dirty="0">
              <a:solidFill>
                <a:srgbClr val="0000FF"/>
              </a:solidFill>
              <a:latin typeface="Times" pitchFamily="18" charset="0"/>
              <a:ea typeface="楷体" pitchFamily="49" charset="-122"/>
              <a:cs typeface="Times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20080" y="1268760"/>
            <a:ext cx="7956376" cy="3736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850">
              <a:lnSpc>
                <a:spcPct val="115000"/>
              </a:lnSpc>
              <a:spcBef>
                <a:spcPct val="50000"/>
              </a:spcBef>
              <a:buFont typeface="Wingdings" pitchFamily="2" charset="2"/>
              <a:buChar char="Ø"/>
            </a:pPr>
            <a:r>
              <a:rPr lang="zh-CN" altLang="en-US" sz="2800" dirty="0" smtClean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</a:rPr>
              <a:t>成绩</a:t>
            </a:r>
            <a:r>
              <a:rPr lang="zh-CN" altLang="en-US" sz="2800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</a:rPr>
              <a:t>比例</a:t>
            </a:r>
            <a:r>
              <a:rPr lang="zh-CN" altLang="en-US" sz="2800" dirty="0" smtClean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</a:rPr>
              <a:t>：</a:t>
            </a:r>
            <a:endParaRPr lang="en-US" altLang="zh-CN" sz="2800" dirty="0" smtClean="0">
              <a:latin typeface="Times New Roman" pitchFamily="18" charset="0"/>
              <a:ea typeface="楷体" panose="02010609060101010101" pitchFamily="49" charset="-122"/>
              <a:cs typeface="Times New Roman" pitchFamily="18" charset="0"/>
            </a:endParaRPr>
          </a:p>
          <a:p>
            <a:pPr marL="450850" indent="266700">
              <a:lnSpc>
                <a:spcPct val="115000"/>
              </a:lnSpc>
              <a:spcBef>
                <a:spcPct val="50000"/>
              </a:spcBef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</a:rPr>
              <a:t>考勤</a:t>
            </a:r>
            <a:r>
              <a:rPr lang="en-US" altLang="zh-CN" sz="2400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</a:rPr>
              <a:t>+</a:t>
            </a:r>
            <a:r>
              <a:rPr lang="zh-CN" altLang="en-US" sz="2400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</a:rPr>
              <a:t>作业：</a:t>
            </a:r>
            <a:r>
              <a:rPr lang="en-US" altLang="zh-CN" sz="2400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</a:rPr>
              <a:t>20%-30%</a:t>
            </a:r>
          </a:p>
          <a:p>
            <a:pPr marL="450850" indent="266700">
              <a:lnSpc>
                <a:spcPct val="115000"/>
              </a:lnSpc>
              <a:spcBef>
                <a:spcPct val="50000"/>
              </a:spcBef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</a:rPr>
              <a:t>期末：</a:t>
            </a:r>
            <a:r>
              <a:rPr lang="en-US" altLang="zh-CN" sz="2400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</a:rPr>
              <a:t>70%-80%</a:t>
            </a:r>
            <a:r>
              <a:rPr lang="zh-CN" altLang="en-US" sz="2400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</a:rPr>
              <a:t>，即期末考试考到</a:t>
            </a:r>
            <a:r>
              <a:rPr lang="en-US" altLang="zh-CN" sz="2400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</a:rPr>
              <a:t>43~50</a:t>
            </a:r>
            <a:r>
              <a:rPr lang="zh-CN" altLang="en-US" sz="2400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</a:rPr>
              <a:t>分即可</a:t>
            </a:r>
            <a:r>
              <a:rPr lang="zh-CN" altLang="en-US" sz="2400" dirty="0" smtClean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</a:rPr>
              <a:t>及格</a:t>
            </a:r>
            <a:endParaRPr lang="en-US" altLang="zh-CN" sz="2800" dirty="0" smtClean="0">
              <a:latin typeface="Times New Roman" pitchFamily="18" charset="0"/>
              <a:ea typeface="楷体" panose="02010609060101010101" pitchFamily="49" charset="-122"/>
              <a:cs typeface="Times New Roman" pitchFamily="18" charset="0"/>
            </a:endParaRPr>
          </a:p>
          <a:p>
            <a:pPr indent="450850">
              <a:lnSpc>
                <a:spcPct val="115000"/>
              </a:lnSpc>
              <a:spcBef>
                <a:spcPct val="50000"/>
              </a:spcBef>
              <a:buFont typeface="Wingdings" pitchFamily="2" charset="2"/>
              <a:buChar char="Ø"/>
            </a:pPr>
            <a:r>
              <a:rPr lang="en-US" altLang="zh-CN" sz="2800" dirty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</a:rPr>
              <a:t> </a:t>
            </a:r>
            <a:r>
              <a:rPr lang="zh-CN" altLang="en-US" sz="2800" dirty="0" smtClean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</a:rPr>
              <a:t>补考：</a:t>
            </a:r>
            <a:endParaRPr lang="en-US" altLang="zh-CN" sz="2800" dirty="0" smtClean="0">
              <a:latin typeface="Times New Roman" pitchFamily="18" charset="0"/>
              <a:ea typeface="楷体" panose="02010609060101010101" pitchFamily="49" charset="-122"/>
              <a:cs typeface="Times New Roman" pitchFamily="18" charset="0"/>
            </a:endParaRPr>
          </a:p>
          <a:p>
            <a:pPr marL="450850" indent="266700">
              <a:lnSpc>
                <a:spcPct val="115000"/>
              </a:lnSpc>
              <a:spcBef>
                <a:spcPct val="50000"/>
              </a:spcBef>
              <a:buFont typeface="Arial" pitchFamily="34" charset="0"/>
              <a:buChar char="•"/>
            </a:pPr>
            <a:r>
              <a:rPr lang="zh-CN" altLang="en-US" sz="2400" dirty="0" smtClean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</a:rPr>
              <a:t>无平时成绩：卷面分要达到</a:t>
            </a:r>
            <a:r>
              <a:rPr lang="en-US" altLang="zh-CN" sz="2400" dirty="0" smtClean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</a:rPr>
              <a:t>60</a:t>
            </a:r>
            <a:r>
              <a:rPr lang="zh-CN" altLang="en-US" sz="2400" dirty="0" smtClean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</a:rPr>
              <a:t>分</a:t>
            </a:r>
            <a:endParaRPr lang="en-US" altLang="zh-CN" sz="2400" dirty="0" smtClean="0">
              <a:latin typeface="Times New Roman" pitchFamily="18" charset="0"/>
              <a:ea typeface="楷体" panose="02010609060101010101" pitchFamily="49" charset="-122"/>
              <a:cs typeface="Times New Roman" pitchFamily="18" charset="0"/>
            </a:endParaRPr>
          </a:p>
          <a:p>
            <a:pPr marL="450850" indent="266700">
              <a:lnSpc>
                <a:spcPct val="115000"/>
              </a:lnSpc>
              <a:spcBef>
                <a:spcPct val="50000"/>
              </a:spcBef>
              <a:buFont typeface="Arial" pitchFamily="34" charset="0"/>
              <a:buChar char="•"/>
            </a:pPr>
            <a:r>
              <a:rPr lang="zh-CN" altLang="en-US" sz="2400" dirty="0" smtClean="0">
                <a:latin typeface="Times New Roman" pitchFamily="18" charset="0"/>
                <a:ea typeface="楷体" panose="02010609060101010101" pitchFamily="49" charset="-122"/>
                <a:cs typeface="Times New Roman" pitchFamily="18" charset="0"/>
              </a:rPr>
              <a:t>费时、费力、费钱</a:t>
            </a:r>
            <a:endParaRPr lang="en-US" altLang="zh-CN" sz="2400" dirty="0">
              <a:latin typeface="Times New Roman" pitchFamily="18" charset="0"/>
              <a:ea typeface="楷体" panose="02010609060101010101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0266862"/>
      </p:ext>
    </p:extLst>
  </p:cSld>
  <p:clrMapOvr>
    <a:masterClrMapping/>
  </p:clrMapOvr>
</p:sld>
</file>

<file path=ppt/theme/theme1.xml><?xml version="1.0" encoding="utf-8"?>
<a:theme xmlns:a="http://schemas.openxmlformats.org/drawingml/2006/main" name="A000120141119A18PWBG">
  <a:themeElements>
    <a:clrScheme name="都市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Consolas-Verdana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A000120141119A18PWBG 1">
        <a:dk1>
          <a:srgbClr val="3F3F3F"/>
        </a:dk1>
        <a:lt1>
          <a:srgbClr val="FFFFFF"/>
        </a:lt1>
        <a:dk2>
          <a:srgbClr val="3B7273"/>
        </a:dk2>
        <a:lt2>
          <a:srgbClr val="E7E6E6"/>
        </a:lt2>
        <a:accent1>
          <a:srgbClr val="76AA30"/>
        </a:accent1>
        <a:accent2>
          <a:srgbClr val="BED15D"/>
        </a:accent2>
        <a:accent3>
          <a:srgbClr val="FFFFFF"/>
        </a:accent3>
        <a:accent4>
          <a:srgbClr val="343434"/>
        </a:accent4>
        <a:accent5>
          <a:srgbClr val="BDD2AD"/>
        </a:accent5>
        <a:accent6>
          <a:srgbClr val="ACBD53"/>
        </a:accent6>
        <a:hlink>
          <a:srgbClr val="0070C0"/>
        </a:hlink>
        <a:folHlink>
          <a:srgbClr val="7F7F7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A000120141119A18PWBG">
  <a:themeElements>
    <a:clrScheme name="A000120141119A18PWBG 1">
      <a:dk1>
        <a:srgbClr val="3F3F3F"/>
      </a:dk1>
      <a:lt1>
        <a:srgbClr val="FFFFFF"/>
      </a:lt1>
      <a:dk2>
        <a:srgbClr val="3B7273"/>
      </a:dk2>
      <a:lt2>
        <a:srgbClr val="E7E6E6"/>
      </a:lt2>
      <a:accent1>
        <a:srgbClr val="76AA30"/>
      </a:accent1>
      <a:accent2>
        <a:srgbClr val="BED15D"/>
      </a:accent2>
      <a:accent3>
        <a:srgbClr val="FFFFFF"/>
      </a:accent3>
      <a:accent4>
        <a:srgbClr val="343434"/>
      </a:accent4>
      <a:accent5>
        <a:srgbClr val="BDD2AD"/>
      </a:accent5>
      <a:accent6>
        <a:srgbClr val="ACBD53"/>
      </a:accent6>
      <a:hlink>
        <a:srgbClr val="0070C0"/>
      </a:hlink>
      <a:folHlink>
        <a:srgbClr val="7F7F7F"/>
      </a:folHlink>
    </a:clrScheme>
    <a:fontScheme name="Consolas-Verdana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A000120141119A18PWBG 1">
        <a:dk1>
          <a:srgbClr val="3F3F3F"/>
        </a:dk1>
        <a:lt1>
          <a:srgbClr val="FFFFFF"/>
        </a:lt1>
        <a:dk2>
          <a:srgbClr val="3B7273"/>
        </a:dk2>
        <a:lt2>
          <a:srgbClr val="E7E6E6"/>
        </a:lt2>
        <a:accent1>
          <a:srgbClr val="76AA30"/>
        </a:accent1>
        <a:accent2>
          <a:srgbClr val="BED15D"/>
        </a:accent2>
        <a:accent3>
          <a:srgbClr val="FFFFFF"/>
        </a:accent3>
        <a:accent4>
          <a:srgbClr val="343434"/>
        </a:accent4>
        <a:accent5>
          <a:srgbClr val="BDD2AD"/>
        </a:accent5>
        <a:accent6>
          <a:srgbClr val="ACBD53"/>
        </a:accent6>
        <a:hlink>
          <a:srgbClr val="0070C0"/>
        </a:hlink>
        <a:folHlink>
          <a:srgbClr val="7F7F7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15353</TotalTime>
  <Words>4840</Words>
  <Application>Microsoft Office PowerPoint</Application>
  <PresentationFormat>全屏显示(4:3)</PresentationFormat>
  <Paragraphs>881</Paragraphs>
  <Slides>89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89</vt:i4>
      </vt:variant>
    </vt:vector>
  </HeadingPairs>
  <TitlesOfParts>
    <vt:vector size="108" baseType="lpstr">
      <vt:lpstr>华文楷体</vt:lpstr>
      <vt:lpstr>楷体</vt:lpstr>
      <vt:lpstr>宋体</vt:lpstr>
      <vt:lpstr>微软雅黑</vt:lpstr>
      <vt:lpstr>Arial</vt:lpstr>
      <vt:lpstr>Broadway</vt:lpstr>
      <vt:lpstr>Calibri</vt:lpstr>
      <vt:lpstr>Cambria Math</vt:lpstr>
      <vt:lpstr>Consolas</vt:lpstr>
      <vt:lpstr>Times</vt:lpstr>
      <vt:lpstr>Times New Roman</vt:lpstr>
      <vt:lpstr>Verdana</vt:lpstr>
      <vt:lpstr>Wingdings</vt:lpstr>
      <vt:lpstr>A000120141119A18PWBG</vt:lpstr>
      <vt:lpstr>1_A000120141119A18PWBG</vt:lpstr>
      <vt:lpstr>Equation</vt:lpstr>
      <vt:lpstr>Equation.DSMT4</vt:lpstr>
      <vt:lpstr>Microsoft 公式 3.0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Ma Zhonghua</dc:creator>
  <cp:lastModifiedBy>wangc</cp:lastModifiedBy>
  <cp:revision>1184</cp:revision>
  <cp:lastPrinted>2018-05-23T12:14:32Z</cp:lastPrinted>
  <dcterms:created xsi:type="dcterms:W3CDTF">2015-04-25T18:04:36Z</dcterms:created>
  <dcterms:modified xsi:type="dcterms:W3CDTF">2019-12-03T13:43:57Z</dcterms:modified>
</cp:coreProperties>
</file>