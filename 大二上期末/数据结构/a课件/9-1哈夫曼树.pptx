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1pPr>
    <a:lvl2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2pPr>
    <a:lvl3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3pPr>
    <a:lvl4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4pPr>
    <a:lvl5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5pPr>
    <a:lvl6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6pPr>
    <a:lvl7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7pPr>
    <a:lvl8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8pPr>
    <a:lvl9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j-lt"/>
        <a:ea typeface="+mj-ea"/>
        <a:cs typeface="+mj-cs"/>
        <a:sym typeface="Lucida Grande"/>
      </a:defRPr>
    </a:lvl1pPr>
    <a:lvl2pPr indent="228600" defTabSz="457200" latinLnBrk="0">
      <a:defRPr sz="2200">
        <a:latin typeface="+mj-lt"/>
        <a:ea typeface="+mj-ea"/>
        <a:cs typeface="+mj-cs"/>
        <a:sym typeface="Lucida Grande"/>
      </a:defRPr>
    </a:lvl2pPr>
    <a:lvl3pPr indent="457200" defTabSz="457200" latinLnBrk="0">
      <a:defRPr sz="2200">
        <a:latin typeface="+mj-lt"/>
        <a:ea typeface="+mj-ea"/>
        <a:cs typeface="+mj-cs"/>
        <a:sym typeface="Lucida Grande"/>
      </a:defRPr>
    </a:lvl3pPr>
    <a:lvl4pPr indent="685800" defTabSz="457200" latinLnBrk="0">
      <a:defRPr sz="2200">
        <a:latin typeface="+mj-lt"/>
        <a:ea typeface="+mj-ea"/>
        <a:cs typeface="+mj-cs"/>
        <a:sym typeface="Lucida Grande"/>
      </a:defRPr>
    </a:lvl4pPr>
    <a:lvl5pPr indent="914400" defTabSz="457200" latinLnBrk="0">
      <a:defRPr sz="2200">
        <a:latin typeface="+mj-lt"/>
        <a:ea typeface="+mj-ea"/>
        <a:cs typeface="+mj-cs"/>
        <a:sym typeface="Lucida Grande"/>
      </a:defRPr>
    </a:lvl5pPr>
    <a:lvl6pPr indent="1143000" defTabSz="457200" latinLnBrk="0">
      <a:defRPr sz="2200">
        <a:latin typeface="+mj-lt"/>
        <a:ea typeface="+mj-ea"/>
        <a:cs typeface="+mj-cs"/>
        <a:sym typeface="Lucida Grande"/>
      </a:defRPr>
    </a:lvl6pPr>
    <a:lvl7pPr indent="1371600" defTabSz="457200" latinLnBrk="0">
      <a:defRPr sz="2200">
        <a:latin typeface="+mj-lt"/>
        <a:ea typeface="+mj-ea"/>
        <a:cs typeface="+mj-cs"/>
        <a:sym typeface="Lucida Grande"/>
      </a:defRPr>
    </a:lvl7pPr>
    <a:lvl8pPr indent="1600200" defTabSz="457200" latinLnBrk="0">
      <a:defRPr sz="2200">
        <a:latin typeface="+mj-lt"/>
        <a:ea typeface="+mj-ea"/>
        <a:cs typeface="+mj-cs"/>
        <a:sym typeface="Lucida Grande"/>
      </a:defRPr>
    </a:lvl8pPr>
    <a:lvl9pPr indent="1828800" defTabSz="457200" latinLnBrk="0">
      <a:defRPr sz="2200">
        <a:latin typeface="+mj-lt"/>
        <a:ea typeface="+mj-ea"/>
        <a:cs typeface="+mj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30300" y="2190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" name="Shape 3"/>
          <p:cNvSpPr/>
          <p:nvPr/>
        </p:nvSpPr>
        <p:spPr>
          <a:xfrm>
            <a:off x="542073" y="3103"/>
            <a:ext cx="545671" cy="548565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4" name="Shape 4"/>
          <p:cNvSpPr/>
          <p:nvPr/>
        </p:nvSpPr>
        <p:spPr>
          <a:xfrm>
            <a:off x="683583" y="419740"/>
            <a:ext cx="525900" cy="54856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5" name="Shape 5"/>
          <p:cNvSpPr/>
          <p:nvPr/>
        </p:nvSpPr>
        <p:spPr>
          <a:xfrm>
            <a:off x="1144238" y="419740"/>
            <a:ext cx="455962" cy="54856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6" name="Shape 6"/>
          <p:cNvSpPr/>
          <p:nvPr/>
        </p:nvSpPr>
        <p:spPr>
          <a:xfrm>
            <a:off x="165099" y="406729"/>
            <a:ext cx="697904" cy="488022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7" name="Shape 8"/>
          <p:cNvSpPr/>
          <p:nvPr/>
        </p:nvSpPr>
        <p:spPr>
          <a:xfrm>
            <a:off x="1087402" y="1128"/>
            <a:ext cx="45157" cy="10143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8" name="Shape 9"/>
          <p:cNvSpPr/>
          <p:nvPr/>
        </p:nvSpPr>
        <p:spPr>
          <a:xfrm>
            <a:off x="629919" y="834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pic>
        <p:nvPicPr>
          <p:cNvPr id="9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539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611487" y="-90313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52492" y="9080500"/>
            <a:ext cx="495301" cy="5172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0" indent="0" algn="ctr" defTabSz="825500">
              <a:spcBef>
                <a:spcPts val="0"/>
              </a:spcBef>
              <a:defRPr b="1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40" marR="57798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31214" marR="57798" indent="-33337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75078" marR="57798" indent="-320039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12288" marR="57798" indent="-40005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69488" marR="57798" indent="-40005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69488" marR="57798" indent="-40005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69488" marR="57798" indent="-40005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69488" marR="57798" indent="-40005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69488" marR="57798" indent="-40005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sp>
        <p:nvSpPr>
          <p:cNvPr id="30" name="Shape 58"/>
          <p:cNvSpPr txBox="1"/>
          <p:nvPr/>
        </p:nvSpPr>
        <p:spPr>
          <a:xfrm>
            <a:off x="491631" y="1164448"/>
            <a:ext cx="85598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  树的带权路径长度定义为：</a:t>
            </a:r>
          </a:p>
        </p:txBody>
      </p:sp>
      <p:sp>
        <p:nvSpPr>
          <p:cNvPr id="31" name="Shape 59"/>
          <p:cNvSpPr txBox="1"/>
          <p:nvPr/>
        </p:nvSpPr>
        <p:spPr>
          <a:xfrm>
            <a:off x="1360028" y="1859279"/>
            <a:ext cx="98425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defRPr sz="2800"/>
            </a:pPr>
            <a:r>
              <a:t> WPL(T) ：树T中所有</a:t>
            </a:r>
            <a:r>
              <a:rPr>
                <a:solidFill>
                  <a:schemeClr val="accent1"/>
                </a:solidFill>
              </a:rPr>
              <a:t>叶子结点</a:t>
            </a:r>
            <a:r>
              <a:t>的带权路径长度之和</a:t>
            </a:r>
          </a:p>
        </p:txBody>
      </p:sp>
      <p:grpSp>
        <p:nvGrpSpPr>
          <p:cNvPr id="58" name="Group 86"/>
          <p:cNvGrpSpPr/>
          <p:nvPr/>
        </p:nvGrpSpPr>
        <p:grpSpPr>
          <a:xfrm>
            <a:off x="1575645" y="2806699"/>
            <a:ext cx="4301070" cy="3488270"/>
            <a:chOff x="0" y="0"/>
            <a:chExt cx="4301068" cy="3488268"/>
          </a:xfrm>
        </p:grpSpPr>
        <p:sp>
          <p:nvSpPr>
            <p:cNvPr id="32" name="Shape 60"/>
            <p:cNvSpPr/>
            <p:nvPr/>
          </p:nvSpPr>
          <p:spPr>
            <a:xfrm>
              <a:off x="2248464" y="431800"/>
              <a:ext cx="927102" cy="51251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" name="Shape 61"/>
            <p:cNvSpPr/>
            <p:nvPr/>
          </p:nvSpPr>
          <p:spPr>
            <a:xfrm flipH="1">
              <a:off x="1072444" y="431800"/>
              <a:ext cx="781193" cy="5802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4" name="Shape 62"/>
            <p:cNvSpPr/>
            <p:nvPr/>
          </p:nvSpPr>
          <p:spPr>
            <a:xfrm flipH="1">
              <a:off x="2354862" y="2321559"/>
              <a:ext cx="340926" cy="609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5" name="Shape 63"/>
            <p:cNvSpPr/>
            <p:nvPr/>
          </p:nvSpPr>
          <p:spPr>
            <a:xfrm>
              <a:off x="2971235" y="2321559"/>
              <a:ext cx="313833" cy="58250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6" name="Shape 64"/>
            <p:cNvSpPr/>
            <p:nvPr/>
          </p:nvSpPr>
          <p:spPr>
            <a:xfrm flipH="1">
              <a:off x="313831" y="1380066"/>
              <a:ext cx="408659" cy="609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7" name="Shape 65"/>
            <p:cNvSpPr/>
            <p:nvPr/>
          </p:nvSpPr>
          <p:spPr>
            <a:xfrm>
              <a:off x="1122115" y="1358900"/>
              <a:ext cx="419949" cy="6163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8" name="Shape 66"/>
            <p:cNvSpPr/>
            <p:nvPr/>
          </p:nvSpPr>
          <p:spPr>
            <a:xfrm flipH="1">
              <a:off x="2806417" y="1362004"/>
              <a:ext cx="408660" cy="609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9" name="Shape 67"/>
            <p:cNvSpPr/>
            <p:nvPr/>
          </p:nvSpPr>
          <p:spPr>
            <a:xfrm>
              <a:off x="3542453" y="1400387"/>
              <a:ext cx="492197" cy="55541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0" name="Shape 68"/>
            <p:cNvSpPr/>
            <p:nvPr/>
          </p:nvSpPr>
          <p:spPr>
            <a:xfrm>
              <a:off x="1774613" y="-1"/>
              <a:ext cx="625407" cy="58025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1" name="Shape 69"/>
            <p:cNvSpPr txBox="1"/>
            <p:nvPr/>
          </p:nvSpPr>
          <p:spPr>
            <a:xfrm>
              <a:off x="1884153" y="25399"/>
              <a:ext cx="4289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2" name="Shape 70"/>
            <p:cNvSpPr/>
            <p:nvPr/>
          </p:nvSpPr>
          <p:spPr>
            <a:xfrm>
              <a:off x="582506" y="874324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3" name="Shape 71"/>
            <p:cNvSpPr/>
            <p:nvPr/>
          </p:nvSpPr>
          <p:spPr>
            <a:xfrm>
              <a:off x="3018648" y="921737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4" name="Shape 72"/>
            <p:cNvSpPr/>
            <p:nvPr/>
          </p:nvSpPr>
          <p:spPr>
            <a:xfrm>
              <a:off x="2047804" y="2904066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5" name="Shape 73"/>
            <p:cNvSpPr/>
            <p:nvPr/>
          </p:nvSpPr>
          <p:spPr>
            <a:xfrm>
              <a:off x="3061546" y="2883747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6" name="Shape 74"/>
            <p:cNvSpPr txBox="1"/>
            <p:nvPr/>
          </p:nvSpPr>
          <p:spPr>
            <a:xfrm>
              <a:off x="678150" y="879404"/>
              <a:ext cx="40928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7" name="Shape 75"/>
            <p:cNvSpPr txBox="1"/>
            <p:nvPr/>
          </p:nvSpPr>
          <p:spPr>
            <a:xfrm>
              <a:off x="3103003" y="959555"/>
              <a:ext cx="40928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8" name="Shape 76"/>
            <p:cNvSpPr txBox="1"/>
            <p:nvPr/>
          </p:nvSpPr>
          <p:spPr>
            <a:xfrm>
              <a:off x="2111059" y="2950068"/>
              <a:ext cx="4289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49" name="Shape 77"/>
            <p:cNvSpPr txBox="1"/>
            <p:nvPr/>
          </p:nvSpPr>
          <p:spPr>
            <a:xfrm>
              <a:off x="3200768" y="2929749"/>
              <a:ext cx="290518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50" name="Shape 78"/>
            <p:cNvSpPr/>
            <p:nvPr/>
          </p:nvSpPr>
          <p:spPr>
            <a:xfrm>
              <a:off x="0" y="1901613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1" name="Shape 79"/>
            <p:cNvSpPr/>
            <p:nvPr/>
          </p:nvSpPr>
          <p:spPr>
            <a:xfrm>
              <a:off x="1183075" y="1892582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2" name="Shape 80"/>
            <p:cNvSpPr txBox="1"/>
            <p:nvPr/>
          </p:nvSpPr>
          <p:spPr>
            <a:xfrm>
              <a:off x="75955" y="1934916"/>
              <a:ext cx="4289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3" name="Shape 81"/>
            <p:cNvSpPr txBox="1"/>
            <p:nvPr/>
          </p:nvSpPr>
          <p:spPr>
            <a:xfrm>
              <a:off x="1286727" y="1925884"/>
              <a:ext cx="389314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4" name="Shape 82"/>
            <p:cNvSpPr/>
            <p:nvPr/>
          </p:nvSpPr>
          <p:spPr>
            <a:xfrm>
              <a:off x="2492586" y="1883550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5" name="Shape 83"/>
            <p:cNvSpPr/>
            <p:nvPr/>
          </p:nvSpPr>
          <p:spPr>
            <a:xfrm>
              <a:off x="3675662" y="1874520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6" name="Shape 84"/>
            <p:cNvSpPr txBox="1"/>
            <p:nvPr/>
          </p:nvSpPr>
          <p:spPr>
            <a:xfrm>
              <a:off x="2595802" y="1929553"/>
              <a:ext cx="369868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57" name="Shape 85"/>
            <p:cNvSpPr txBox="1"/>
            <p:nvPr/>
          </p:nvSpPr>
          <p:spPr>
            <a:xfrm>
              <a:off x="3760532" y="1933222"/>
              <a:ext cx="4289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G</a:t>
              </a:r>
            </a:p>
          </p:txBody>
        </p:sp>
      </p:grpSp>
      <p:sp>
        <p:nvSpPr>
          <p:cNvPr id="59" name="Shape 87"/>
          <p:cNvSpPr txBox="1"/>
          <p:nvPr/>
        </p:nvSpPr>
        <p:spPr>
          <a:xfrm>
            <a:off x="2865118" y="5462692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5</a:t>
            </a:r>
          </a:p>
        </p:txBody>
      </p:sp>
      <p:sp>
        <p:nvSpPr>
          <p:cNvPr id="60" name="Shape 88"/>
          <p:cNvSpPr txBox="1"/>
          <p:nvPr/>
        </p:nvSpPr>
        <p:spPr>
          <a:xfrm>
            <a:off x="3770769" y="6381325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2</a:t>
            </a:r>
          </a:p>
        </p:txBody>
      </p:sp>
      <p:sp>
        <p:nvSpPr>
          <p:cNvPr id="61" name="Shape 89"/>
          <p:cNvSpPr txBox="1"/>
          <p:nvPr/>
        </p:nvSpPr>
        <p:spPr>
          <a:xfrm>
            <a:off x="4704643" y="6373707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4</a:t>
            </a:r>
          </a:p>
        </p:txBody>
      </p:sp>
      <p:sp>
        <p:nvSpPr>
          <p:cNvPr id="62" name="Shape 90"/>
          <p:cNvSpPr txBox="1"/>
          <p:nvPr/>
        </p:nvSpPr>
        <p:spPr>
          <a:xfrm>
            <a:off x="5356295" y="5310575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9</a:t>
            </a:r>
          </a:p>
        </p:txBody>
      </p:sp>
      <p:sp>
        <p:nvSpPr>
          <p:cNvPr id="63" name="Shape 91"/>
          <p:cNvSpPr txBox="1"/>
          <p:nvPr/>
        </p:nvSpPr>
        <p:spPr>
          <a:xfrm>
            <a:off x="5787228" y="3551908"/>
            <a:ext cx="7045724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WPL(T)= 7 × 2+5 × 2+2 × 3+4 × 3+9 × 2 =60</a:t>
            </a:r>
          </a:p>
        </p:txBody>
      </p:sp>
      <p:sp>
        <p:nvSpPr>
          <p:cNvPr id="64" name="Shape 92"/>
          <p:cNvSpPr txBox="1"/>
          <p:nvPr/>
        </p:nvSpPr>
        <p:spPr>
          <a:xfrm>
            <a:off x="1557019" y="5462692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9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grpSp>
        <p:nvGrpSpPr>
          <p:cNvPr id="93" name="Group 121"/>
          <p:cNvGrpSpPr/>
          <p:nvPr/>
        </p:nvGrpSpPr>
        <p:grpSpPr>
          <a:xfrm>
            <a:off x="2099733" y="1528515"/>
            <a:ext cx="4619415" cy="4295990"/>
            <a:chOff x="0" y="0"/>
            <a:chExt cx="4619415" cy="4295989"/>
          </a:xfrm>
        </p:grpSpPr>
        <p:sp>
          <p:nvSpPr>
            <p:cNvPr id="67" name="Shape 95"/>
            <p:cNvSpPr/>
            <p:nvPr/>
          </p:nvSpPr>
          <p:spPr>
            <a:xfrm>
              <a:off x="3420533" y="433493"/>
              <a:ext cx="778935" cy="5847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" name="Shape 96"/>
            <p:cNvSpPr/>
            <p:nvPr/>
          </p:nvSpPr>
          <p:spPr>
            <a:xfrm flipH="1">
              <a:off x="2239715" y="433493"/>
              <a:ext cx="781193" cy="5802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9" name="Shape 97"/>
            <p:cNvSpPr/>
            <p:nvPr/>
          </p:nvSpPr>
          <p:spPr>
            <a:xfrm flipH="1">
              <a:off x="307057" y="3169921"/>
              <a:ext cx="340927" cy="609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70" name="Shape 98"/>
            <p:cNvSpPr/>
            <p:nvPr/>
          </p:nvSpPr>
          <p:spPr>
            <a:xfrm>
              <a:off x="923431" y="3169921"/>
              <a:ext cx="408659" cy="510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71" name="Shape 99"/>
            <p:cNvSpPr/>
            <p:nvPr/>
          </p:nvSpPr>
          <p:spPr>
            <a:xfrm flipH="1">
              <a:off x="1329266" y="1328984"/>
              <a:ext cx="512518" cy="7179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72" name="Shape 100"/>
            <p:cNvSpPr/>
            <p:nvPr/>
          </p:nvSpPr>
          <p:spPr>
            <a:xfrm>
              <a:off x="2208106" y="1244035"/>
              <a:ext cx="558802" cy="5125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73" name="Shape 101"/>
            <p:cNvSpPr/>
            <p:nvPr/>
          </p:nvSpPr>
          <p:spPr>
            <a:xfrm flipH="1">
              <a:off x="821266" y="2205850"/>
              <a:ext cx="408660" cy="6096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74" name="Shape 102"/>
            <p:cNvSpPr/>
            <p:nvPr/>
          </p:nvSpPr>
          <p:spPr>
            <a:xfrm>
              <a:off x="1659466" y="2243384"/>
              <a:ext cx="492198" cy="55541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75" name="Shape 103"/>
            <p:cNvSpPr/>
            <p:nvPr/>
          </p:nvSpPr>
          <p:spPr>
            <a:xfrm>
              <a:off x="2941884" y="0"/>
              <a:ext cx="625407" cy="58025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76" name="Shape 104"/>
            <p:cNvSpPr txBox="1"/>
            <p:nvPr/>
          </p:nvSpPr>
          <p:spPr>
            <a:xfrm>
              <a:off x="3051424" y="60677"/>
              <a:ext cx="4289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77" name="Shape 105"/>
            <p:cNvSpPr/>
            <p:nvPr/>
          </p:nvSpPr>
          <p:spPr>
            <a:xfrm>
              <a:off x="1749777" y="871502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78" name="Shape 106"/>
            <p:cNvSpPr/>
            <p:nvPr/>
          </p:nvSpPr>
          <p:spPr>
            <a:xfrm>
              <a:off x="3994008" y="918915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79" name="Shape 107"/>
            <p:cNvSpPr/>
            <p:nvPr/>
          </p:nvSpPr>
          <p:spPr>
            <a:xfrm>
              <a:off x="-1" y="3711787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80" name="Shape 108"/>
            <p:cNvSpPr/>
            <p:nvPr/>
          </p:nvSpPr>
          <p:spPr>
            <a:xfrm>
              <a:off x="1013742" y="3682436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81" name="Shape 109"/>
            <p:cNvSpPr txBox="1"/>
            <p:nvPr/>
          </p:nvSpPr>
          <p:spPr>
            <a:xfrm>
              <a:off x="1794621" y="940082"/>
              <a:ext cx="40928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82" name="Shape 110"/>
            <p:cNvSpPr txBox="1"/>
            <p:nvPr/>
          </p:nvSpPr>
          <p:spPr>
            <a:xfrm>
              <a:off x="4068553" y="969433"/>
              <a:ext cx="4289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3" name="Shape 111"/>
            <p:cNvSpPr txBox="1"/>
            <p:nvPr/>
          </p:nvSpPr>
          <p:spPr>
            <a:xfrm>
              <a:off x="63254" y="3745090"/>
              <a:ext cx="4289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4" name="Shape 112"/>
            <p:cNvSpPr txBox="1"/>
            <p:nvPr/>
          </p:nvSpPr>
          <p:spPr>
            <a:xfrm>
              <a:off x="1083771" y="3715738"/>
              <a:ext cx="4289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85" name="Shape 113"/>
            <p:cNvSpPr/>
            <p:nvPr/>
          </p:nvSpPr>
          <p:spPr>
            <a:xfrm>
              <a:off x="1119857" y="1788159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86" name="Shape 114"/>
            <p:cNvSpPr/>
            <p:nvPr/>
          </p:nvSpPr>
          <p:spPr>
            <a:xfrm>
              <a:off x="2447431" y="1743004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87" name="Shape 115"/>
            <p:cNvSpPr txBox="1"/>
            <p:nvPr/>
          </p:nvSpPr>
          <p:spPr>
            <a:xfrm>
              <a:off x="1192923" y="1821462"/>
              <a:ext cx="40928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8" name="Shape 116"/>
            <p:cNvSpPr txBox="1"/>
            <p:nvPr/>
          </p:nvSpPr>
          <p:spPr>
            <a:xfrm>
              <a:off x="2586236" y="1776306"/>
              <a:ext cx="290518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89" name="Shape 117"/>
            <p:cNvSpPr/>
            <p:nvPr/>
          </p:nvSpPr>
          <p:spPr>
            <a:xfrm>
              <a:off x="512515" y="2727396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0" name="Shape 118"/>
            <p:cNvSpPr/>
            <p:nvPr/>
          </p:nvSpPr>
          <p:spPr>
            <a:xfrm>
              <a:off x="1792675" y="2720623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1" name="Shape 119"/>
            <p:cNvSpPr txBox="1"/>
            <p:nvPr/>
          </p:nvSpPr>
          <p:spPr>
            <a:xfrm>
              <a:off x="615730" y="2773398"/>
              <a:ext cx="369867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92" name="Shape 120"/>
            <p:cNvSpPr txBox="1"/>
            <p:nvPr/>
          </p:nvSpPr>
          <p:spPr>
            <a:xfrm>
              <a:off x="1894070" y="2766625"/>
              <a:ext cx="389315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94" name="Shape 122"/>
          <p:cNvSpPr txBox="1"/>
          <p:nvPr/>
        </p:nvSpPr>
        <p:spPr>
          <a:xfrm>
            <a:off x="2160410" y="5930617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7</a:t>
            </a:r>
          </a:p>
        </p:txBody>
      </p:sp>
      <p:sp>
        <p:nvSpPr>
          <p:cNvPr id="95" name="Shape 123"/>
          <p:cNvSpPr txBox="1"/>
          <p:nvPr/>
        </p:nvSpPr>
        <p:spPr>
          <a:xfrm>
            <a:off x="4677833" y="3933612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4</a:t>
            </a:r>
          </a:p>
        </p:txBody>
      </p:sp>
      <p:sp>
        <p:nvSpPr>
          <p:cNvPr id="96" name="Shape 124"/>
          <p:cNvSpPr txBox="1"/>
          <p:nvPr/>
        </p:nvSpPr>
        <p:spPr>
          <a:xfrm>
            <a:off x="3244144" y="5925537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9</a:t>
            </a:r>
          </a:p>
        </p:txBody>
      </p:sp>
      <p:sp>
        <p:nvSpPr>
          <p:cNvPr id="97" name="Shape 125"/>
          <p:cNvSpPr txBox="1"/>
          <p:nvPr/>
        </p:nvSpPr>
        <p:spPr>
          <a:xfrm>
            <a:off x="4007837" y="4887524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5</a:t>
            </a:r>
          </a:p>
        </p:txBody>
      </p:sp>
      <p:sp>
        <p:nvSpPr>
          <p:cNvPr id="98" name="Shape 126"/>
          <p:cNvSpPr txBox="1"/>
          <p:nvPr/>
        </p:nvSpPr>
        <p:spPr>
          <a:xfrm>
            <a:off x="6068341" y="3095976"/>
            <a:ext cx="5207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2</a:t>
            </a:r>
          </a:p>
        </p:txBody>
      </p:sp>
      <p:sp>
        <p:nvSpPr>
          <p:cNvPr id="99" name="Shape 127"/>
          <p:cNvSpPr txBox="1"/>
          <p:nvPr/>
        </p:nvSpPr>
        <p:spPr>
          <a:xfrm>
            <a:off x="5394678" y="4619130"/>
            <a:ext cx="6997701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WPL(T)= 7 × 4+9 × 4+5 × 3+4 × 2+2 × 1=89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9" presetID="18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Left)" transition="in">
                                      <p:cBhvr>
                                        <p:cTn id="26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8" grpId="2"/>
      <p:bldP build="whole" bldLvl="1" animBg="1" rev="0" advAuto="0" spid="99" grpId="7"/>
      <p:bldP build="whole" bldLvl="1" animBg="1" rev="0" advAuto="0" spid="93" grpId="1"/>
      <p:bldP build="whole" bldLvl="1" animBg="1" rev="0" advAuto="0" spid="95" grpId="3"/>
      <p:bldP build="whole" bldLvl="1" animBg="1" rev="0" advAuto="0" spid="96" grpId="5"/>
      <p:bldP build="whole" bldLvl="1" animBg="1" rev="0" advAuto="0" spid="97" grpId="4"/>
      <p:bldP build="whole" bldLvl="1" animBg="1" rev="0" advAuto="0" spid="94" grpId="6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2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sp>
        <p:nvSpPr>
          <p:cNvPr id="102" name="Shape 130"/>
          <p:cNvSpPr txBox="1"/>
          <p:nvPr/>
        </p:nvSpPr>
        <p:spPr>
          <a:xfrm>
            <a:off x="1130300" y="1192388"/>
            <a:ext cx="8559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  最优二叉树定义为：</a:t>
            </a:r>
          </a:p>
        </p:txBody>
      </p:sp>
      <p:sp>
        <p:nvSpPr>
          <p:cNvPr id="103" name="Shape 131"/>
          <p:cNvSpPr txBox="1"/>
          <p:nvPr/>
        </p:nvSpPr>
        <p:spPr>
          <a:xfrm>
            <a:off x="2173675" y="2076873"/>
            <a:ext cx="97536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带权路径长度WPL最小的二叉树，又称为哈夫曼树。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3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哈夫曼树</a:t>
            </a:r>
          </a:p>
        </p:txBody>
      </p:sp>
      <p:sp>
        <p:nvSpPr>
          <p:cNvPr id="106" name="Shape 134"/>
          <p:cNvSpPr/>
          <p:nvPr/>
        </p:nvSpPr>
        <p:spPr>
          <a:xfrm flipH="1">
            <a:off x="5999612" y="4098173"/>
            <a:ext cx="230129" cy="46020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7" name="Shape 135"/>
          <p:cNvSpPr/>
          <p:nvPr/>
        </p:nvSpPr>
        <p:spPr>
          <a:xfrm>
            <a:off x="6642066" y="4037136"/>
            <a:ext cx="347956" cy="50555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8" name="Shape 136"/>
          <p:cNvSpPr txBox="1"/>
          <p:nvPr/>
        </p:nvSpPr>
        <p:spPr>
          <a:xfrm>
            <a:off x="1928141" y="1181100"/>
            <a:ext cx="5231413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例如: 已知权值 W={ 5, 6, 2, 9, 7 }</a:t>
            </a:r>
          </a:p>
        </p:txBody>
      </p:sp>
      <p:grpSp>
        <p:nvGrpSpPr>
          <p:cNvPr id="111" name="Group 139"/>
          <p:cNvGrpSpPr/>
          <p:nvPr/>
        </p:nvGrpSpPr>
        <p:grpSpPr>
          <a:xfrm>
            <a:off x="8640515" y="2312528"/>
            <a:ext cx="717977" cy="627665"/>
            <a:chOff x="0" y="0"/>
            <a:chExt cx="717975" cy="627664"/>
          </a:xfrm>
        </p:grpSpPr>
        <p:sp>
          <p:nvSpPr>
            <p:cNvPr id="109" name="Shape 137"/>
            <p:cNvSpPr/>
            <p:nvPr/>
          </p:nvSpPr>
          <p:spPr>
            <a:xfrm>
              <a:off x="-1" y="-1"/>
              <a:ext cx="717977" cy="62766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0" name="Shape 138"/>
            <p:cNvSpPr txBox="1"/>
            <p:nvPr/>
          </p:nvSpPr>
          <p:spPr>
            <a:xfrm>
              <a:off x="201179" y="8001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14" name="Group 142"/>
          <p:cNvGrpSpPr/>
          <p:nvPr/>
        </p:nvGrpSpPr>
        <p:grpSpPr>
          <a:xfrm>
            <a:off x="4752621" y="2312528"/>
            <a:ext cx="717977" cy="627665"/>
            <a:chOff x="0" y="0"/>
            <a:chExt cx="717975" cy="627664"/>
          </a:xfrm>
        </p:grpSpPr>
        <p:sp>
          <p:nvSpPr>
            <p:cNvPr id="112" name="Shape 140"/>
            <p:cNvSpPr/>
            <p:nvPr/>
          </p:nvSpPr>
          <p:spPr>
            <a:xfrm>
              <a:off x="-1" y="-1"/>
              <a:ext cx="717977" cy="62766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3" name="Shape 141"/>
            <p:cNvSpPr txBox="1"/>
            <p:nvPr/>
          </p:nvSpPr>
          <p:spPr>
            <a:xfrm>
              <a:off x="197228" y="8001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17" name="Group 145"/>
          <p:cNvGrpSpPr/>
          <p:nvPr/>
        </p:nvGrpSpPr>
        <p:grpSpPr>
          <a:xfrm>
            <a:off x="6082453" y="2312528"/>
            <a:ext cx="717977" cy="627665"/>
            <a:chOff x="0" y="0"/>
            <a:chExt cx="717975" cy="627664"/>
          </a:xfrm>
        </p:grpSpPr>
        <p:sp>
          <p:nvSpPr>
            <p:cNvPr id="115" name="Shape 143"/>
            <p:cNvSpPr/>
            <p:nvPr/>
          </p:nvSpPr>
          <p:spPr>
            <a:xfrm>
              <a:off x="-1" y="-1"/>
              <a:ext cx="717977" cy="62766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6" name="Shape 144"/>
            <p:cNvSpPr txBox="1"/>
            <p:nvPr/>
          </p:nvSpPr>
          <p:spPr>
            <a:xfrm>
              <a:off x="197228" y="8001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20" name="Group 148"/>
          <p:cNvGrpSpPr/>
          <p:nvPr/>
        </p:nvGrpSpPr>
        <p:grpSpPr>
          <a:xfrm>
            <a:off x="3524391" y="2312528"/>
            <a:ext cx="717977" cy="627665"/>
            <a:chOff x="0" y="0"/>
            <a:chExt cx="717975" cy="627664"/>
          </a:xfrm>
        </p:grpSpPr>
        <p:sp>
          <p:nvSpPr>
            <p:cNvPr id="118" name="Shape 146"/>
            <p:cNvSpPr/>
            <p:nvPr/>
          </p:nvSpPr>
          <p:spPr>
            <a:xfrm>
              <a:off x="-1" y="-1"/>
              <a:ext cx="717977" cy="62766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9" name="Shape 147"/>
            <p:cNvSpPr txBox="1"/>
            <p:nvPr/>
          </p:nvSpPr>
          <p:spPr>
            <a:xfrm>
              <a:off x="197228" y="8001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23" name="Group 151"/>
          <p:cNvGrpSpPr/>
          <p:nvPr/>
        </p:nvGrpSpPr>
        <p:grpSpPr>
          <a:xfrm>
            <a:off x="7394363" y="2312528"/>
            <a:ext cx="717977" cy="627665"/>
            <a:chOff x="0" y="0"/>
            <a:chExt cx="717975" cy="627664"/>
          </a:xfrm>
        </p:grpSpPr>
        <p:sp>
          <p:nvSpPr>
            <p:cNvPr id="121" name="Shape 149"/>
            <p:cNvSpPr/>
            <p:nvPr/>
          </p:nvSpPr>
          <p:spPr>
            <a:xfrm>
              <a:off x="-1" y="-1"/>
              <a:ext cx="717977" cy="62766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2" name="Shape 150"/>
            <p:cNvSpPr txBox="1"/>
            <p:nvPr/>
          </p:nvSpPr>
          <p:spPr>
            <a:xfrm>
              <a:off x="193559" y="8001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26" name="Group 154"/>
          <p:cNvGrpSpPr/>
          <p:nvPr/>
        </p:nvGrpSpPr>
        <p:grpSpPr>
          <a:xfrm>
            <a:off x="3532011" y="3460043"/>
            <a:ext cx="765389" cy="670563"/>
            <a:chOff x="0" y="0"/>
            <a:chExt cx="765388" cy="670562"/>
          </a:xfrm>
        </p:grpSpPr>
        <p:sp>
          <p:nvSpPr>
            <p:cNvPr id="124" name="Shape 152"/>
            <p:cNvSpPr/>
            <p:nvPr/>
          </p:nvSpPr>
          <p:spPr>
            <a:xfrm>
              <a:off x="-1" y="-1"/>
              <a:ext cx="765390" cy="67056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5" name="Shape 153"/>
            <p:cNvSpPr txBox="1"/>
            <p:nvPr/>
          </p:nvSpPr>
          <p:spPr>
            <a:xfrm>
              <a:off x="220935" y="10145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29" name="Group 157"/>
          <p:cNvGrpSpPr/>
          <p:nvPr/>
        </p:nvGrpSpPr>
        <p:grpSpPr>
          <a:xfrm>
            <a:off x="7416799" y="3460043"/>
            <a:ext cx="765390" cy="670563"/>
            <a:chOff x="0" y="0"/>
            <a:chExt cx="765388" cy="670562"/>
          </a:xfrm>
        </p:grpSpPr>
        <p:sp>
          <p:nvSpPr>
            <p:cNvPr id="127" name="Shape 155"/>
            <p:cNvSpPr/>
            <p:nvPr/>
          </p:nvSpPr>
          <p:spPr>
            <a:xfrm>
              <a:off x="-1" y="-1"/>
              <a:ext cx="765390" cy="67056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8" name="Shape 156"/>
            <p:cNvSpPr txBox="1"/>
            <p:nvPr/>
          </p:nvSpPr>
          <p:spPr>
            <a:xfrm>
              <a:off x="220934" y="10145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32" name="Group 160"/>
          <p:cNvGrpSpPr/>
          <p:nvPr/>
        </p:nvGrpSpPr>
        <p:grpSpPr>
          <a:xfrm>
            <a:off x="7683500" y="6513689"/>
            <a:ext cx="609600" cy="584767"/>
            <a:chOff x="0" y="0"/>
            <a:chExt cx="609600" cy="584766"/>
          </a:xfrm>
        </p:grpSpPr>
        <p:sp>
          <p:nvSpPr>
            <p:cNvPr id="130" name="Shape 158"/>
            <p:cNvSpPr/>
            <p:nvPr/>
          </p:nvSpPr>
          <p:spPr>
            <a:xfrm>
              <a:off x="0" y="-1"/>
              <a:ext cx="609600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1" name="Shape 159"/>
            <p:cNvSpPr txBox="1"/>
            <p:nvPr/>
          </p:nvSpPr>
          <p:spPr>
            <a:xfrm>
              <a:off x="142758" y="5856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133" name="Shape 161"/>
          <p:cNvSpPr/>
          <p:nvPr/>
        </p:nvSpPr>
        <p:spPr>
          <a:xfrm flipH="1">
            <a:off x="6896945" y="6199108"/>
            <a:ext cx="253393" cy="4068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4" name="Shape 162"/>
          <p:cNvSpPr/>
          <p:nvPr/>
        </p:nvSpPr>
        <p:spPr>
          <a:xfrm>
            <a:off x="7645399" y="6213967"/>
            <a:ext cx="215901" cy="3302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37" name="Group 165"/>
          <p:cNvGrpSpPr/>
          <p:nvPr/>
        </p:nvGrpSpPr>
        <p:grpSpPr>
          <a:xfrm>
            <a:off x="5366737" y="5595620"/>
            <a:ext cx="717977" cy="706687"/>
            <a:chOff x="0" y="0"/>
            <a:chExt cx="717975" cy="706686"/>
          </a:xfrm>
        </p:grpSpPr>
        <p:sp>
          <p:nvSpPr>
            <p:cNvPr id="135" name="Shape 163"/>
            <p:cNvSpPr/>
            <p:nvPr/>
          </p:nvSpPr>
          <p:spPr>
            <a:xfrm>
              <a:off x="0" y="-1"/>
              <a:ext cx="717977" cy="706688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6" name="Shape 164"/>
            <p:cNvSpPr txBox="1"/>
            <p:nvPr/>
          </p:nvSpPr>
          <p:spPr>
            <a:xfrm>
              <a:off x="197228" y="11952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40" name="Group 168"/>
          <p:cNvGrpSpPr/>
          <p:nvPr/>
        </p:nvGrpSpPr>
        <p:grpSpPr>
          <a:xfrm>
            <a:off x="4445563" y="6508325"/>
            <a:ext cx="635003" cy="638955"/>
            <a:chOff x="0" y="0"/>
            <a:chExt cx="635001" cy="638954"/>
          </a:xfrm>
        </p:grpSpPr>
        <p:sp>
          <p:nvSpPr>
            <p:cNvPr id="138" name="Shape 166"/>
            <p:cNvSpPr/>
            <p:nvPr/>
          </p:nvSpPr>
          <p:spPr>
            <a:xfrm>
              <a:off x="0" y="-1"/>
              <a:ext cx="635002" cy="63895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9" name="Shape 167"/>
            <p:cNvSpPr txBox="1"/>
            <p:nvPr/>
          </p:nvSpPr>
          <p:spPr>
            <a:xfrm>
              <a:off x="154330" y="856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3" name="Group 171"/>
          <p:cNvGrpSpPr/>
          <p:nvPr/>
        </p:nvGrpSpPr>
        <p:grpSpPr>
          <a:xfrm>
            <a:off x="3115733" y="6508325"/>
            <a:ext cx="635003" cy="638955"/>
            <a:chOff x="0" y="0"/>
            <a:chExt cx="635001" cy="638954"/>
          </a:xfrm>
        </p:grpSpPr>
        <p:sp>
          <p:nvSpPr>
            <p:cNvPr id="141" name="Shape 169"/>
            <p:cNvSpPr/>
            <p:nvPr/>
          </p:nvSpPr>
          <p:spPr>
            <a:xfrm>
              <a:off x="0" y="-1"/>
              <a:ext cx="635002" cy="63895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2" name="Shape 170"/>
            <p:cNvSpPr txBox="1"/>
            <p:nvPr/>
          </p:nvSpPr>
          <p:spPr>
            <a:xfrm>
              <a:off x="154330" y="856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144" name="Shape 172"/>
          <p:cNvSpPr/>
          <p:nvPr/>
        </p:nvSpPr>
        <p:spPr>
          <a:xfrm flipH="1">
            <a:off x="3561690" y="6189133"/>
            <a:ext cx="328463" cy="35397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5" name="Shape 173"/>
          <p:cNvSpPr/>
          <p:nvPr/>
        </p:nvSpPr>
        <p:spPr>
          <a:xfrm>
            <a:off x="4317999" y="6207195"/>
            <a:ext cx="358892" cy="34039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48" name="Group 176"/>
          <p:cNvGrpSpPr/>
          <p:nvPr/>
        </p:nvGrpSpPr>
        <p:grpSpPr>
          <a:xfrm>
            <a:off x="6591300" y="6506350"/>
            <a:ext cx="609600" cy="584769"/>
            <a:chOff x="0" y="0"/>
            <a:chExt cx="609600" cy="584767"/>
          </a:xfrm>
        </p:grpSpPr>
        <p:sp>
          <p:nvSpPr>
            <p:cNvPr id="146" name="Shape 174"/>
            <p:cNvSpPr/>
            <p:nvPr/>
          </p:nvSpPr>
          <p:spPr>
            <a:xfrm>
              <a:off x="0" y="-1"/>
              <a:ext cx="609600" cy="58476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7" name="Shape 175"/>
            <p:cNvSpPr txBox="1"/>
            <p:nvPr/>
          </p:nvSpPr>
          <p:spPr>
            <a:xfrm>
              <a:off x="151225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149" name="Shape 177"/>
          <p:cNvSpPr txBox="1"/>
          <p:nvPr/>
        </p:nvSpPr>
        <p:spPr>
          <a:xfrm>
            <a:off x="2603217" y="2412717"/>
            <a:ext cx="1041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1)</a:t>
            </a:r>
          </a:p>
        </p:txBody>
      </p:sp>
      <p:sp>
        <p:nvSpPr>
          <p:cNvPr id="150" name="Shape 178"/>
          <p:cNvSpPr txBox="1"/>
          <p:nvPr/>
        </p:nvSpPr>
        <p:spPr>
          <a:xfrm>
            <a:off x="2652888" y="3443675"/>
            <a:ext cx="1041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2)</a:t>
            </a:r>
          </a:p>
        </p:txBody>
      </p:sp>
      <p:sp>
        <p:nvSpPr>
          <p:cNvPr id="151" name="Shape 179"/>
          <p:cNvSpPr txBox="1"/>
          <p:nvPr/>
        </p:nvSpPr>
        <p:spPr>
          <a:xfrm>
            <a:off x="2621278" y="5340208"/>
            <a:ext cx="1041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3)</a:t>
            </a:r>
          </a:p>
        </p:txBody>
      </p:sp>
      <p:grpSp>
        <p:nvGrpSpPr>
          <p:cNvPr id="154" name="Group 182"/>
          <p:cNvGrpSpPr/>
          <p:nvPr/>
        </p:nvGrpSpPr>
        <p:grpSpPr>
          <a:xfrm>
            <a:off x="6800425" y="4513862"/>
            <a:ext cx="620893" cy="598315"/>
            <a:chOff x="0" y="0"/>
            <a:chExt cx="620891" cy="598314"/>
          </a:xfrm>
        </p:grpSpPr>
        <p:sp>
          <p:nvSpPr>
            <p:cNvPr id="152" name="Shape 180"/>
            <p:cNvSpPr/>
            <p:nvPr/>
          </p:nvSpPr>
          <p:spPr>
            <a:xfrm>
              <a:off x="-1" y="-1"/>
              <a:ext cx="620893" cy="59831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3" name="Shape 181"/>
            <p:cNvSpPr txBox="1"/>
            <p:nvPr/>
          </p:nvSpPr>
          <p:spPr>
            <a:xfrm>
              <a:off x="148686" y="6533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57" name="Group 185"/>
          <p:cNvGrpSpPr/>
          <p:nvPr/>
        </p:nvGrpSpPr>
        <p:grpSpPr>
          <a:xfrm>
            <a:off x="5572195" y="4513862"/>
            <a:ext cx="620893" cy="598315"/>
            <a:chOff x="0" y="0"/>
            <a:chExt cx="620891" cy="598314"/>
          </a:xfrm>
        </p:grpSpPr>
        <p:sp>
          <p:nvSpPr>
            <p:cNvPr id="155" name="Shape 183"/>
            <p:cNvSpPr/>
            <p:nvPr/>
          </p:nvSpPr>
          <p:spPr>
            <a:xfrm>
              <a:off x="-1" y="-1"/>
              <a:ext cx="620893" cy="598315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6" name="Shape 184"/>
            <p:cNvSpPr txBox="1"/>
            <p:nvPr/>
          </p:nvSpPr>
          <p:spPr>
            <a:xfrm>
              <a:off x="148686" y="6533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60" name="Group 188"/>
          <p:cNvGrpSpPr/>
          <p:nvPr/>
        </p:nvGrpSpPr>
        <p:grpSpPr>
          <a:xfrm>
            <a:off x="4752621" y="3460043"/>
            <a:ext cx="765389" cy="670563"/>
            <a:chOff x="0" y="0"/>
            <a:chExt cx="765388" cy="670562"/>
          </a:xfrm>
        </p:grpSpPr>
        <p:sp>
          <p:nvSpPr>
            <p:cNvPr id="158" name="Shape 186"/>
            <p:cNvSpPr/>
            <p:nvPr/>
          </p:nvSpPr>
          <p:spPr>
            <a:xfrm>
              <a:off x="-1" y="-1"/>
              <a:ext cx="765390" cy="67056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9" name="Shape 187"/>
            <p:cNvSpPr txBox="1"/>
            <p:nvPr/>
          </p:nvSpPr>
          <p:spPr>
            <a:xfrm>
              <a:off x="220934" y="10145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63" name="Group 191"/>
          <p:cNvGrpSpPr/>
          <p:nvPr/>
        </p:nvGrpSpPr>
        <p:grpSpPr>
          <a:xfrm>
            <a:off x="6083299" y="3454399"/>
            <a:ext cx="765390" cy="670564"/>
            <a:chOff x="0" y="0"/>
            <a:chExt cx="765388" cy="670562"/>
          </a:xfrm>
        </p:grpSpPr>
        <p:sp>
          <p:nvSpPr>
            <p:cNvPr id="161" name="Shape 189"/>
            <p:cNvSpPr/>
            <p:nvPr/>
          </p:nvSpPr>
          <p:spPr>
            <a:xfrm>
              <a:off x="-1" y="-1"/>
              <a:ext cx="765390" cy="67056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2" name="Shape 190"/>
            <p:cNvSpPr txBox="1"/>
            <p:nvPr/>
          </p:nvSpPr>
          <p:spPr>
            <a:xfrm>
              <a:off x="220935" y="10145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66" name="Group 194"/>
          <p:cNvGrpSpPr/>
          <p:nvPr/>
        </p:nvGrpSpPr>
        <p:grpSpPr>
          <a:xfrm>
            <a:off x="3695699" y="5600699"/>
            <a:ext cx="765390" cy="670564"/>
            <a:chOff x="0" y="0"/>
            <a:chExt cx="765388" cy="670562"/>
          </a:xfrm>
        </p:grpSpPr>
        <p:sp>
          <p:nvSpPr>
            <p:cNvPr id="164" name="Shape 192"/>
            <p:cNvSpPr/>
            <p:nvPr/>
          </p:nvSpPr>
          <p:spPr>
            <a:xfrm>
              <a:off x="-1" y="-1"/>
              <a:ext cx="765390" cy="670564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5" name="Shape 193"/>
            <p:cNvSpPr txBox="1"/>
            <p:nvPr/>
          </p:nvSpPr>
          <p:spPr>
            <a:xfrm>
              <a:off x="220935" y="10145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69" name="Group 197"/>
          <p:cNvGrpSpPr/>
          <p:nvPr/>
        </p:nvGrpSpPr>
        <p:grpSpPr>
          <a:xfrm>
            <a:off x="7035799" y="5600699"/>
            <a:ext cx="717977" cy="706688"/>
            <a:chOff x="0" y="0"/>
            <a:chExt cx="717975" cy="706686"/>
          </a:xfrm>
        </p:grpSpPr>
        <p:sp>
          <p:nvSpPr>
            <p:cNvPr id="167" name="Shape 195"/>
            <p:cNvSpPr/>
            <p:nvPr/>
          </p:nvSpPr>
          <p:spPr>
            <a:xfrm>
              <a:off x="-1" y="-1"/>
              <a:ext cx="717977" cy="706688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8" name="Shape 196"/>
            <p:cNvSpPr txBox="1"/>
            <p:nvPr/>
          </p:nvSpPr>
          <p:spPr>
            <a:xfrm>
              <a:off x="57528" y="11952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9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哈夫曼树</a:t>
            </a:r>
          </a:p>
        </p:txBody>
      </p:sp>
      <p:sp>
        <p:nvSpPr>
          <p:cNvPr id="172" name="Shape 200"/>
          <p:cNvSpPr txBox="1"/>
          <p:nvPr/>
        </p:nvSpPr>
        <p:spPr>
          <a:xfrm>
            <a:off x="6261100" y="4600704"/>
            <a:ext cx="6248400" cy="114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defRPr sz="2800"/>
            </a:pPr>
            <a:r>
              <a:t>WPL=2 ×3 + 5 ×3 +6 ×2 + 7 ×2 + 9 ×2</a:t>
            </a:r>
          </a:p>
          <a:p>
            <a:pPr>
              <a:defRPr sz="2800"/>
            </a:pPr>
            <a:r>
              <a:t>         =65</a:t>
            </a:r>
          </a:p>
        </p:txBody>
      </p:sp>
      <p:grpSp>
        <p:nvGrpSpPr>
          <p:cNvPr id="175" name="Group 203"/>
          <p:cNvGrpSpPr/>
          <p:nvPr/>
        </p:nvGrpSpPr>
        <p:grpSpPr>
          <a:xfrm>
            <a:off x="4214214" y="2288821"/>
            <a:ext cx="609603" cy="584767"/>
            <a:chOff x="0" y="0"/>
            <a:chExt cx="609601" cy="584766"/>
          </a:xfrm>
        </p:grpSpPr>
        <p:sp>
          <p:nvSpPr>
            <p:cNvPr id="173" name="Shape 201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4" name="Shape 202"/>
            <p:cNvSpPr txBox="1"/>
            <p:nvPr/>
          </p:nvSpPr>
          <p:spPr>
            <a:xfrm>
              <a:off x="132599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176" name="Shape 204"/>
          <p:cNvSpPr/>
          <p:nvPr/>
        </p:nvSpPr>
        <p:spPr>
          <a:xfrm flipH="1">
            <a:off x="3544501" y="1905000"/>
            <a:ext cx="203202" cy="45607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77" name="Shape 205"/>
          <p:cNvSpPr/>
          <p:nvPr/>
        </p:nvSpPr>
        <p:spPr>
          <a:xfrm>
            <a:off x="4053912" y="1887502"/>
            <a:ext cx="315714" cy="45368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80" name="Group 208"/>
          <p:cNvGrpSpPr/>
          <p:nvPr/>
        </p:nvGrpSpPr>
        <p:grpSpPr>
          <a:xfrm>
            <a:off x="7993304" y="3162018"/>
            <a:ext cx="635003" cy="638955"/>
            <a:chOff x="0" y="0"/>
            <a:chExt cx="635001" cy="638954"/>
          </a:xfrm>
        </p:grpSpPr>
        <p:sp>
          <p:nvSpPr>
            <p:cNvPr id="178" name="Shape 206"/>
            <p:cNvSpPr/>
            <p:nvPr/>
          </p:nvSpPr>
          <p:spPr>
            <a:xfrm>
              <a:off x="0" y="-1"/>
              <a:ext cx="635002" cy="63895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9" name="Shape 207"/>
            <p:cNvSpPr txBox="1"/>
            <p:nvPr/>
          </p:nvSpPr>
          <p:spPr>
            <a:xfrm>
              <a:off x="154330" y="856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83" name="Group 211"/>
          <p:cNvGrpSpPr/>
          <p:nvPr/>
        </p:nvGrpSpPr>
        <p:grpSpPr>
          <a:xfrm>
            <a:off x="6665731" y="3162018"/>
            <a:ext cx="635003" cy="638955"/>
            <a:chOff x="0" y="0"/>
            <a:chExt cx="635001" cy="638954"/>
          </a:xfrm>
        </p:grpSpPr>
        <p:sp>
          <p:nvSpPr>
            <p:cNvPr id="181" name="Shape 209"/>
            <p:cNvSpPr/>
            <p:nvPr/>
          </p:nvSpPr>
          <p:spPr>
            <a:xfrm>
              <a:off x="0" y="-1"/>
              <a:ext cx="635002" cy="63895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2" name="Shape 210"/>
            <p:cNvSpPr txBox="1"/>
            <p:nvPr/>
          </p:nvSpPr>
          <p:spPr>
            <a:xfrm>
              <a:off x="152072" y="856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184" name="Shape 212"/>
          <p:cNvSpPr/>
          <p:nvPr/>
        </p:nvSpPr>
        <p:spPr>
          <a:xfrm flipH="1">
            <a:off x="7181073" y="2762749"/>
            <a:ext cx="369224" cy="4469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85" name="Shape 213"/>
          <p:cNvSpPr/>
          <p:nvPr/>
        </p:nvSpPr>
        <p:spPr>
          <a:xfrm>
            <a:off x="7867160" y="2849869"/>
            <a:ext cx="331219" cy="34166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88" name="Group 216"/>
          <p:cNvGrpSpPr/>
          <p:nvPr/>
        </p:nvGrpSpPr>
        <p:grpSpPr>
          <a:xfrm>
            <a:off x="3130481" y="2294183"/>
            <a:ext cx="609603" cy="584769"/>
            <a:chOff x="0" y="0"/>
            <a:chExt cx="609601" cy="584767"/>
          </a:xfrm>
        </p:grpSpPr>
        <p:sp>
          <p:nvSpPr>
            <p:cNvPr id="186" name="Shape 214"/>
            <p:cNvSpPr/>
            <p:nvPr/>
          </p:nvSpPr>
          <p:spPr>
            <a:xfrm>
              <a:off x="0" y="-1"/>
              <a:ext cx="609602" cy="58476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7" name="Shape 215"/>
            <p:cNvSpPr txBox="1"/>
            <p:nvPr/>
          </p:nvSpPr>
          <p:spPr>
            <a:xfrm>
              <a:off x="94499" y="5856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189" name="Shape 217"/>
          <p:cNvSpPr txBox="1"/>
          <p:nvPr/>
        </p:nvSpPr>
        <p:spPr>
          <a:xfrm>
            <a:off x="2003849" y="1102641"/>
            <a:ext cx="1041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4)</a:t>
            </a:r>
          </a:p>
        </p:txBody>
      </p:sp>
      <p:sp>
        <p:nvSpPr>
          <p:cNvPr id="190" name="Shape 218"/>
          <p:cNvSpPr/>
          <p:nvPr/>
        </p:nvSpPr>
        <p:spPr>
          <a:xfrm flipH="1">
            <a:off x="6496263" y="1948837"/>
            <a:ext cx="414953" cy="4768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91" name="Shape 219"/>
          <p:cNvSpPr/>
          <p:nvPr/>
        </p:nvSpPr>
        <p:spPr>
          <a:xfrm>
            <a:off x="7207462" y="1900202"/>
            <a:ext cx="463083" cy="418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92" name="Shape 220"/>
          <p:cNvSpPr txBox="1"/>
          <p:nvPr/>
        </p:nvSpPr>
        <p:spPr>
          <a:xfrm>
            <a:off x="404214" y="3848100"/>
            <a:ext cx="1041401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5)</a:t>
            </a:r>
          </a:p>
        </p:txBody>
      </p:sp>
      <p:sp>
        <p:nvSpPr>
          <p:cNvPr id="193" name="Shape 221"/>
          <p:cNvSpPr/>
          <p:nvPr/>
        </p:nvSpPr>
        <p:spPr>
          <a:xfrm flipH="1">
            <a:off x="2565794" y="4597208"/>
            <a:ext cx="1157402" cy="66515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94" name="Shape 222"/>
          <p:cNvSpPr/>
          <p:nvPr/>
        </p:nvSpPr>
        <p:spPr>
          <a:xfrm>
            <a:off x="4158269" y="4604790"/>
            <a:ext cx="1100611" cy="65962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97" name="Group 225"/>
          <p:cNvGrpSpPr/>
          <p:nvPr/>
        </p:nvGrpSpPr>
        <p:grpSpPr>
          <a:xfrm>
            <a:off x="3651463" y="1396999"/>
            <a:ext cx="609603" cy="584767"/>
            <a:chOff x="0" y="0"/>
            <a:chExt cx="609601" cy="584766"/>
          </a:xfrm>
        </p:grpSpPr>
        <p:sp>
          <p:nvSpPr>
            <p:cNvPr id="195" name="Shape 223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6" name="Shape 224"/>
            <p:cNvSpPr txBox="1"/>
            <p:nvPr/>
          </p:nvSpPr>
          <p:spPr>
            <a:xfrm>
              <a:off x="30999" y="5856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200" name="Group 228"/>
          <p:cNvGrpSpPr/>
          <p:nvPr/>
        </p:nvGrpSpPr>
        <p:grpSpPr>
          <a:xfrm>
            <a:off x="7402331" y="2294183"/>
            <a:ext cx="609603" cy="584769"/>
            <a:chOff x="0" y="0"/>
            <a:chExt cx="609601" cy="584767"/>
          </a:xfrm>
        </p:grpSpPr>
        <p:sp>
          <p:nvSpPr>
            <p:cNvPr id="198" name="Shape 226"/>
            <p:cNvSpPr/>
            <p:nvPr/>
          </p:nvSpPr>
          <p:spPr>
            <a:xfrm>
              <a:off x="0" y="-1"/>
              <a:ext cx="609602" cy="58476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" name="Shape 227"/>
            <p:cNvSpPr txBox="1"/>
            <p:nvPr/>
          </p:nvSpPr>
          <p:spPr>
            <a:xfrm>
              <a:off x="132599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03" name="Group 231"/>
          <p:cNvGrpSpPr/>
          <p:nvPr/>
        </p:nvGrpSpPr>
        <p:grpSpPr>
          <a:xfrm>
            <a:off x="6737563" y="1396999"/>
            <a:ext cx="609603" cy="584767"/>
            <a:chOff x="0" y="0"/>
            <a:chExt cx="609601" cy="584766"/>
          </a:xfrm>
        </p:grpSpPr>
        <p:sp>
          <p:nvSpPr>
            <p:cNvPr id="201" name="Shape 229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2" name="Shape 230"/>
            <p:cNvSpPr txBox="1"/>
            <p:nvPr/>
          </p:nvSpPr>
          <p:spPr>
            <a:xfrm>
              <a:off x="30999" y="5856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16</a:t>
              </a:r>
            </a:p>
          </p:txBody>
        </p:sp>
      </p:grpSp>
      <p:grpSp>
        <p:nvGrpSpPr>
          <p:cNvPr id="206" name="Group 234"/>
          <p:cNvGrpSpPr/>
          <p:nvPr/>
        </p:nvGrpSpPr>
        <p:grpSpPr>
          <a:xfrm>
            <a:off x="3621547" y="4152899"/>
            <a:ext cx="609603" cy="584767"/>
            <a:chOff x="0" y="0"/>
            <a:chExt cx="609601" cy="584766"/>
          </a:xfrm>
        </p:grpSpPr>
        <p:sp>
          <p:nvSpPr>
            <p:cNvPr id="204" name="Shape 232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5" name="Shape 233"/>
            <p:cNvSpPr txBox="1"/>
            <p:nvPr/>
          </p:nvSpPr>
          <p:spPr>
            <a:xfrm>
              <a:off x="30999" y="5856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29</a:t>
              </a:r>
            </a:p>
          </p:txBody>
        </p:sp>
      </p:grpSp>
      <p:grpSp>
        <p:nvGrpSpPr>
          <p:cNvPr id="209" name="Group 237"/>
          <p:cNvGrpSpPr/>
          <p:nvPr/>
        </p:nvGrpSpPr>
        <p:grpSpPr>
          <a:xfrm>
            <a:off x="6170019" y="2421888"/>
            <a:ext cx="609603" cy="584769"/>
            <a:chOff x="0" y="0"/>
            <a:chExt cx="609601" cy="584767"/>
          </a:xfrm>
        </p:grpSpPr>
        <p:sp>
          <p:nvSpPr>
            <p:cNvPr id="207" name="Shape 235"/>
            <p:cNvSpPr/>
            <p:nvPr/>
          </p:nvSpPr>
          <p:spPr>
            <a:xfrm>
              <a:off x="0" y="-1"/>
              <a:ext cx="609602" cy="58476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8" name="Shape 236"/>
            <p:cNvSpPr txBox="1"/>
            <p:nvPr/>
          </p:nvSpPr>
          <p:spPr>
            <a:xfrm>
              <a:off x="132599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212" name="Group 240"/>
          <p:cNvGrpSpPr/>
          <p:nvPr/>
        </p:nvGrpSpPr>
        <p:grpSpPr>
          <a:xfrm>
            <a:off x="3383203" y="7022817"/>
            <a:ext cx="635003" cy="638955"/>
            <a:chOff x="0" y="0"/>
            <a:chExt cx="635001" cy="638954"/>
          </a:xfrm>
        </p:grpSpPr>
        <p:sp>
          <p:nvSpPr>
            <p:cNvPr id="210" name="Shape 238"/>
            <p:cNvSpPr/>
            <p:nvPr/>
          </p:nvSpPr>
          <p:spPr>
            <a:xfrm>
              <a:off x="0" y="-1"/>
              <a:ext cx="635002" cy="63895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1" name="Shape 239"/>
            <p:cNvSpPr txBox="1"/>
            <p:nvPr/>
          </p:nvSpPr>
          <p:spPr>
            <a:xfrm>
              <a:off x="154330" y="856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15" name="Group 243"/>
          <p:cNvGrpSpPr/>
          <p:nvPr/>
        </p:nvGrpSpPr>
        <p:grpSpPr>
          <a:xfrm>
            <a:off x="2055630" y="7022817"/>
            <a:ext cx="635003" cy="638955"/>
            <a:chOff x="0" y="0"/>
            <a:chExt cx="635001" cy="638954"/>
          </a:xfrm>
        </p:grpSpPr>
        <p:sp>
          <p:nvSpPr>
            <p:cNvPr id="213" name="Shape 241"/>
            <p:cNvSpPr/>
            <p:nvPr/>
          </p:nvSpPr>
          <p:spPr>
            <a:xfrm>
              <a:off x="0" y="-1"/>
              <a:ext cx="635002" cy="63895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" name="Shape 242"/>
            <p:cNvSpPr txBox="1"/>
            <p:nvPr/>
          </p:nvSpPr>
          <p:spPr>
            <a:xfrm>
              <a:off x="152072" y="856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16" name="Shape 244"/>
          <p:cNvSpPr/>
          <p:nvPr/>
        </p:nvSpPr>
        <p:spPr>
          <a:xfrm flipH="1">
            <a:off x="2570974" y="6623549"/>
            <a:ext cx="369224" cy="4469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217" name="Shape 245"/>
          <p:cNvSpPr/>
          <p:nvPr/>
        </p:nvSpPr>
        <p:spPr>
          <a:xfrm>
            <a:off x="3257060" y="6710668"/>
            <a:ext cx="331219" cy="34166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218" name="Shape 246"/>
          <p:cNvSpPr/>
          <p:nvPr/>
        </p:nvSpPr>
        <p:spPr>
          <a:xfrm flipH="1">
            <a:off x="1886162" y="5809636"/>
            <a:ext cx="414953" cy="4768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219" name="Shape 247"/>
          <p:cNvSpPr/>
          <p:nvPr/>
        </p:nvSpPr>
        <p:spPr>
          <a:xfrm>
            <a:off x="2597363" y="5761001"/>
            <a:ext cx="463082" cy="418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222" name="Group 250"/>
          <p:cNvGrpSpPr/>
          <p:nvPr/>
        </p:nvGrpSpPr>
        <p:grpSpPr>
          <a:xfrm>
            <a:off x="2792230" y="6154983"/>
            <a:ext cx="609603" cy="584769"/>
            <a:chOff x="0" y="0"/>
            <a:chExt cx="609601" cy="584767"/>
          </a:xfrm>
        </p:grpSpPr>
        <p:sp>
          <p:nvSpPr>
            <p:cNvPr id="220" name="Shape 248"/>
            <p:cNvSpPr/>
            <p:nvPr/>
          </p:nvSpPr>
          <p:spPr>
            <a:xfrm>
              <a:off x="0" y="-1"/>
              <a:ext cx="609602" cy="58476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1" name="Shape 249"/>
            <p:cNvSpPr txBox="1"/>
            <p:nvPr/>
          </p:nvSpPr>
          <p:spPr>
            <a:xfrm>
              <a:off x="132599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25" name="Group 253"/>
          <p:cNvGrpSpPr/>
          <p:nvPr/>
        </p:nvGrpSpPr>
        <p:grpSpPr>
          <a:xfrm>
            <a:off x="2127462" y="5257799"/>
            <a:ext cx="609603" cy="584767"/>
            <a:chOff x="0" y="0"/>
            <a:chExt cx="609601" cy="584766"/>
          </a:xfrm>
        </p:grpSpPr>
        <p:sp>
          <p:nvSpPr>
            <p:cNvPr id="223" name="Shape 251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" name="Shape 252"/>
            <p:cNvSpPr txBox="1"/>
            <p:nvPr/>
          </p:nvSpPr>
          <p:spPr>
            <a:xfrm>
              <a:off x="30999" y="5856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16</a:t>
              </a:r>
            </a:p>
          </p:txBody>
        </p:sp>
      </p:grpSp>
      <p:grpSp>
        <p:nvGrpSpPr>
          <p:cNvPr id="228" name="Group 256"/>
          <p:cNvGrpSpPr/>
          <p:nvPr/>
        </p:nvGrpSpPr>
        <p:grpSpPr>
          <a:xfrm>
            <a:off x="1559920" y="6282690"/>
            <a:ext cx="609602" cy="584767"/>
            <a:chOff x="0" y="0"/>
            <a:chExt cx="609601" cy="584766"/>
          </a:xfrm>
        </p:grpSpPr>
        <p:sp>
          <p:nvSpPr>
            <p:cNvPr id="226" name="Shape 254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7" name="Shape 255"/>
            <p:cNvSpPr txBox="1"/>
            <p:nvPr/>
          </p:nvSpPr>
          <p:spPr>
            <a:xfrm>
              <a:off x="132599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231" name="Group 259"/>
          <p:cNvGrpSpPr/>
          <p:nvPr/>
        </p:nvGrpSpPr>
        <p:grpSpPr>
          <a:xfrm>
            <a:off x="5573114" y="6121136"/>
            <a:ext cx="609603" cy="584767"/>
            <a:chOff x="0" y="0"/>
            <a:chExt cx="609601" cy="584766"/>
          </a:xfrm>
        </p:grpSpPr>
        <p:sp>
          <p:nvSpPr>
            <p:cNvPr id="229" name="Shape 257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30" name="Shape 258"/>
            <p:cNvSpPr txBox="1"/>
            <p:nvPr/>
          </p:nvSpPr>
          <p:spPr>
            <a:xfrm>
              <a:off x="132599" y="585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232" name="Shape 260"/>
          <p:cNvSpPr/>
          <p:nvPr/>
        </p:nvSpPr>
        <p:spPr>
          <a:xfrm flipH="1">
            <a:off x="4903401" y="5737314"/>
            <a:ext cx="203202" cy="45607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233" name="Shape 261"/>
          <p:cNvSpPr/>
          <p:nvPr/>
        </p:nvSpPr>
        <p:spPr>
          <a:xfrm>
            <a:off x="5412812" y="5719815"/>
            <a:ext cx="315714" cy="45368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>
              <a:defRPr sz="2800"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236" name="Group 264"/>
          <p:cNvGrpSpPr/>
          <p:nvPr/>
        </p:nvGrpSpPr>
        <p:grpSpPr>
          <a:xfrm>
            <a:off x="4489381" y="6126498"/>
            <a:ext cx="609603" cy="584769"/>
            <a:chOff x="0" y="0"/>
            <a:chExt cx="609601" cy="584767"/>
          </a:xfrm>
        </p:grpSpPr>
        <p:sp>
          <p:nvSpPr>
            <p:cNvPr id="234" name="Shape 262"/>
            <p:cNvSpPr/>
            <p:nvPr/>
          </p:nvSpPr>
          <p:spPr>
            <a:xfrm>
              <a:off x="0" y="-1"/>
              <a:ext cx="609602" cy="58476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35" name="Shape 263"/>
            <p:cNvSpPr txBox="1"/>
            <p:nvPr/>
          </p:nvSpPr>
          <p:spPr>
            <a:xfrm>
              <a:off x="94499" y="5856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39" name="Group 267"/>
          <p:cNvGrpSpPr/>
          <p:nvPr/>
        </p:nvGrpSpPr>
        <p:grpSpPr>
          <a:xfrm>
            <a:off x="5010363" y="5229314"/>
            <a:ext cx="609603" cy="584767"/>
            <a:chOff x="0" y="0"/>
            <a:chExt cx="609601" cy="584766"/>
          </a:xfrm>
        </p:grpSpPr>
        <p:sp>
          <p:nvSpPr>
            <p:cNvPr id="237" name="Shape 265"/>
            <p:cNvSpPr/>
            <p:nvPr/>
          </p:nvSpPr>
          <p:spPr>
            <a:xfrm>
              <a:off x="0" y="-1"/>
              <a:ext cx="609602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38" name="Shape 266"/>
            <p:cNvSpPr txBox="1"/>
            <p:nvPr/>
          </p:nvSpPr>
          <p:spPr>
            <a:xfrm>
              <a:off x="30999" y="5856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69"/>
          <p:cNvSpPr txBox="1"/>
          <p:nvPr/>
        </p:nvSpPr>
        <p:spPr>
          <a:xfrm>
            <a:off x="1432841" y="1225973"/>
            <a:ext cx="523141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练习: 已知权值 W={ 5, 6, 2, 9, 8 }</a:t>
            </a:r>
          </a:p>
        </p:txBody>
      </p:sp>
      <p:sp>
        <p:nvSpPr>
          <p:cNvPr id="242" name="Shape 270"/>
          <p:cNvSpPr txBox="1"/>
          <p:nvPr/>
        </p:nvSpPr>
        <p:spPr>
          <a:xfrm>
            <a:off x="1611488" y="-7762"/>
            <a:ext cx="944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44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哈夫曼树</a:t>
            </a:r>
          </a:p>
        </p:txBody>
      </p:sp>
      <p:grpSp>
        <p:nvGrpSpPr>
          <p:cNvPr id="306" name="Group 334"/>
          <p:cNvGrpSpPr/>
          <p:nvPr/>
        </p:nvGrpSpPr>
        <p:grpSpPr>
          <a:xfrm>
            <a:off x="2120617" y="2357401"/>
            <a:ext cx="6880300" cy="5872485"/>
            <a:chOff x="0" y="0"/>
            <a:chExt cx="6880299" cy="5872484"/>
          </a:xfrm>
        </p:grpSpPr>
        <p:sp>
          <p:nvSpPr>
            <p:cNvPr id="243" name="Shape 271"/>
            <p:cNvSpPr/>
            <p:nvPr/>
          </p:nvSpPr>
          <p:spPr>
            <a:xfrm flipH="1">
              <a:off x="2017042" y="1657659"/>
              <a:ext cx="358889" cy="46662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4" name="Shape 272"/>
            <p:cNvSpPr/>
            <p:nvPr/>
          </p:nvSpPr>
          <p:spPr>
            <a:xfrm>
              <a:off x="2748250" y="1627331"/>
              <a:ext cx="296695" cy="4870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247" name="Group 275"/>
            <p:cNvGrpSpPr/>
            <p:nvPr/>
          </p:nvGrpSpPr>
          <p:grpSpPr>
            <a:xfrm>
              <a:off x="6162323" y="-1"/>
              <a:ext cx="717977" cy="627665"/>
              <a:chOff x="0" y="0"/>
              <a:chExt cx="717975" cy="627663"/>
            </a:xfrm>
          </p:grpSpPr>
          <p:sp>
            <p:nvSpPr>
              <p:cNvPr id="245" name="Shape 273"/>
              <p:cNvSpPr/>
              <p:nvPr/>
            </p:nvSpPr>
            <p:spPr>
              <a:xfrm>
                <a:off x="-1" y="0"/>
                <a:ext cx="717977" cy="627664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46" name="Shape 274"/>
              <p:cNvSpPr txBox="1"/>
              <p:nvPr/>
            </p:nvSpPr>
            <p:spPr>
              <a:xfrm>
                <a:off x="197228" y="8001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250" name="Group 278"/>
            <p:cNvGrpSpPr/>
            <p:nvPr/>
          </p:nvGrpSpPr>
          <p:grpSpPr>
            <a:xfrm>
              <a:off x="2152508" y="-1"/>
              <a:ext cx="717977" cy="627665"/>
              <a:chOff x="0" y="0"/>
              <a:chExt cx="717975" cy="627663"/>
            </a:xfrm>
          </p:grpSpPr>
          <p:sp>
            <p:nvSpPr>
              <p:cNvPr id="248" name="Shape 276"/>
              <p:cNvSpPr/>
              <p:nvPr/>
            </p:nvSpPr>
            <p:spPr>
              <a:xfrm>
                <a:off x="0" y="0"/>
                <a:ext cx="717977" cy="627664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49" name="Shape 277"/>
              <p:cNvSpPr txBox="1"/>
              <p:nvPr/>
            </p:nvSpPr>
            <p:spPr>
              <a:xfrm>
                <a:off x="197228" y="8001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253" name="Group 281"/>
            <p:cNvGrpSpPr/>
            <p:nvPr/>
          </p:nvGrpSpPr>
          <p:grpSpPr>
            <a:xfrm>
              <a:off x="3452989" y="-1"/>
              <a:ext cx="717977" cy="627665"/>
              <a:chOff x="0" y="0"/>
              <a:chExt cx="717975" cy="627663"/>
            </a:xfrm>
          </p:grpSpPr>
          <p:sp>
            <p:nvSpPr>
              <p:cNvPr id="251" name="Shape 279"/>
              <p:cNvSpPr/>
              <p:nvPr/>
            </p:nvSpPr>
            <p:spPr>
              <a:xfrm>
                <a:off x="0" y="0"/>
                <a:ext cx="717977" cy="627664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52" name="Shape 280"/>
              <p:cNvSpPr txBox="1"/>
              <p:nvPr/>
            </p:nvSpPr>
            <p:spPr>
              <a:xfrm>
                <a:off x="159128" y="5461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256" name="Group 284"/>
            <p:cNvGrpSpPr/>
            <p:nvPr/>
          </p:nvGrpSpPr>
          <p:grpSpPr>
            <a:xfrm>
              <a:off x="806873" y="-1"/>
              <a:ext cx="717977" cy="627665"/>
              <a:chOff x="0" y="0"/>
              <a:chExt cx="717975" cy="627663"/>
            </a:xfrm>
          </p:grpSpPr>
          <p:sp>
            <p:nvSpPr>
              <p:cNvPr id="254" name="Shape 282"/>
              <p:cNvSpPr/>
              <p:nvPr/>
            </p:nvSpPr>
            <p:spPr>
              <a:xfrm>
                <a:off x="-1" y="0"/>
                <a:ext cx="717977" cy="627664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55" name="Shape 283"/>
              <p:cNvSpPr txBox="1"/>
              <p:nvPr/>
            </p:nvSpPr>
            <p:spPr>
              <a:xfrm>
                <a:off x="197228" y="8001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259" name="Group 287"/>
            <p:cNvGrpSpPr/>
            <p:nvPr/>
          </p:nvGrpSpPr>
          <p:grpSpPr>
            <a:xfrm>
              <a:off x="4800883" y="-1"/>
              <a:ext cx="717977" cy="627665"/>
              <a:chOff x="0" y="0"/>
              <a:chExt cx="717975" cy="627663"/>
            </a:xfrm>
          </p:grpSpPr>
          <p:sp>
            <p:nvSpPr>
              <p:cNvPr id="257" name="Shape 285"/>
              <p:cNvSpPr/>
              <p:nvPr/>
            </p:nvSpPr>
            <p:spPr>
              <a:xfrm>
                <a:off x="-1" y="0"/>
                <a:ext cx="717977" cy="627664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58" name="Shape 286"/>
              <p:cNvSpPr txBox="1"/>
              <p:nvPr/>
            </p:nvSpPr>
            <p:spPr>
              <a:xfrm>
                <a:off x="197228" y="8001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262" name="Group 290"/>
            <p:cNvGrpSpPr/>
            <p:nvPr/>
          </p:nvGrpSpPr>
          <p:grpSpPr>
            <a:xfrm>
              <a:off x="827193" y="1030957"/>
              <a:ext cx="765389" cy="670563"/>
              <a:chOff x="0" y="0"/>
              <a:chExt cx="765388" cy="670562"/>
            </a:xfrm>
          </p:grpSpPr>
          <p:sp>
            <p:nvSpPr>
              <p:cNvPr id="260" name="Shape 288"/>
              <p:cNvSpPr/>
              <p:nvPr/>
            </p:nvSpPr>
            <p:spPr>
              <a:xfrm>
                <a:off x="0" y="0"/>
                <a:ext cx="765389" cy="6705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61" name="Shape 289"/>
              <p:cNvSpPr txBox="1"/>
              <p:nvPr/>
            </p:nvSpPr>
            <p:spPr>
              <a:xfrm>
                <a:off x="182835" y="633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265" name="Group 293"/>
            <p:cNvGrpSpPr/>
            <p:nvPr/>
          </p:nvGrpSpPr>
          <p:grpSpPr>
            <a:xfrm>
              <a:off x="3468794" y="1030957"/>
              <a:ext cx="765389" cy="670563"/>
              <a:chOff x="0" y="0"/>
              <a:chExt cx="765388" cy="670562"/>
            </a:xfrm>
          </p:grpSpPr>
          <p:sp>
            <p:nvSpPr>
              <p:cNvPr id="263" name="Shape 291"/>
              <p:cNvSpPr/>
              <p:nvPr/>
            </p:nvSpPr>
            <p:spPr>
              <a:xfrm>
                <a:off x="0" y="0"/>
                <a:ext cx="765389" cy="6705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64" name="Shape 292"/>
              <p:cNvSpPr txBox="1"/>
              <p:nvPr/>
            </p:nvSpPr>
            <p:spPr>
              <a:xfrm>
                <a:off x="182835" y="633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268" name="Group 296"/>
            <p:cNvGrpSpPr/>
            <p:nvPr/>
          </p:nvGrpSpPr>
          <p:grpSpPr>
            <a:xfrm>
              <a:off x="3570394" y="4304171"/>
              <a:ext cx="717977" cy="706688"/>
              <a:chOff x="0" y="0"/>
              <a:chExt cx="717975" cy="706687"/>
            </a:xfrm>
          </p:grpSpPr>
          <p:sp>
            <p:nvSpPr>
              <p:cNvPr id="266" name="Shape 294"/>
              <p:cNvSpPr/>
              <p:nvPr/>
            </p:nvSpPr>
            <p:spPr>
              <a:xfrm>
                <a:off x="-1" y="0"/>
                <a:ext cx="717977" cy="706689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67" name="Shape 295"/>
              <p:cNvSpPr txBox="1"/>
              <p:nvPr/>
            </p:nvSpPr>
            <p:spPr>
              <a:xfrm>
                <a:off x="197228" y="12347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271" name="Group 299"/>
            <p:cNvGrpSpPr/>
            <p:nvPr/>
          </p:nvGrpSpPr>
          <p:grpSpPr>
            <a:xfrm>
              <a:off x="6232314" y="5233530"/>
              <a:ext cx="635003" cy="638955"/>
              <a:chOff x="0" y="0"/>
              <a:chExt cx="635001" cy="638954"/>
            </a:xfrm>
          </p:grpSpPr>
          <p:sp>
            <p:nvSpPr>
              <p:cNvPr id="269" name="Shape 297"/>
              <p:cNvSpPr/>
              <p:nvPr/>
            </p:nvSpPr>
            <p:spPr>
              <a:xfrm>
                <a:off x="0" y="-1"/>
                <a:ext cx="635002" cy="6389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70" name="Shape 298"/>
              <p:cNvSpPr txBox="1"/>
              <p:nvPr/>
            </p:nvSpPr>
            <p:spPr>
              <a:xfrm>
                <a:off x="154330" y="8565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274" name="Group 302"/>
            <p:cNvGrpSpPr/>
            <p:nvPr/>
          </p:nvGrpSpPr>
          <p:grpSpPr>
            <a:xfrm>
              <a:off x="4902483" y="5233530"/>
              <a:ext cx="635003" cy="638955"/>
              <a:chOff x="0" y="0"/>
              <a:chExt cx="635001" cy="638954"/>
            </a:xfrm>
          </p:grpSpPr>
          <p:sp>
            <p:nvSpPr>
              <p:cNvPr id="272" name="Shape 300"/>
              <p:cNvSpPr/>
              <p:nvPr/>
            </p:nvSpPr>
            <p:spPr>
              <a:xfrm>
                <a:off x="0" y="-1"/>
                <a:ext cx="635002" cy="63895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73" name="Shape 301"/>
              <p:cNvSpPr txBox="1"/>
              <p:nvPr/>
            </p:nvSpPr>
            <p:spPr>
              <a:xfrm>
                <a:off x="154330" y="8565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275" name="Shape 303"/>
            <p:cNvSpPr/>
            <p:nvPr/>
          </p:nvSpPr>
          <p:spPr>
            <a:xfrm flipH="1">
              <a:off x="5412676" y="4834788"/>
              <a:ext cx="286920" cy="45596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76" name="Shape 304"/>
            <p:cNvSpPr/>
            <p:nvPr/>
          </p:nvSpPr>
          <p:spPr>
            <a:xfrm>
              <a:off x="6205480" y="4874796"/>
              <a:ext cx="268752" cy="4085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77" name="Shape 305"/>
            <p:cNvSpPr txBox="1"/>
            <p:nvPr/>
          </p:nvSpPr>
          <p:spPr>
            <a:xfrm>
              <a:off x="0" y="74787"/>
              <a:ext cx="10414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1)</a:t>
              </a:r>
            </a:p>
          </p:txBody>
        </p:sp>
        <p:sp>
          <p:nvSpPr>
            <p:cNvPr id="278" name="Shape 306"/>
            <p:cNvSpPr txBox="1"/>
            <p:nvPr/>
          </p:nvSpPr>
          <p:spPr>
            <a:xfrm>
              <a:off x="36970" y="1027289"/>
              <a:ext cx="10414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2)</a:t>
              </a:r>
            </a:p>
          </p:txBody>
        </p:sp>
        <p:sp>
          <p:nvSpPr>
            <p:cNvPr id="279" name="Shape 307"/>
            <p:cNvSpPr txBox="1"/>
            <p:nvPr/>
          </p:nvSpPr>
          <p:spPr>
            <a:xfrm>
              <a:off x="5362" y="3313571"/>
              <a:ext cx="10414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3)</a:t>
              </a:r>
            </a:p>
          </p:txBody>
        </p:sp>
        <p:grpSp>
          <p:nvGrpSpPr>
            <p:cNvPr id="282" name="Group 310"/>
            <p:cNvGrpSpPr/>
            <p:nvPr/>
          </p:nvGrpSpPr>
          <p:grpSpPr>
            <a:xfrm>
              <a:off x="2854677" y="2097475"/>
              <a:ext cx="620893" cy="598315"/>
              <a:chOff x="0" y="0"/>
              <a:chExt cx="620891" cy="598314"/>
            </a:xfrm>
          </p:grpSpPr>
          <p:sp>
            <p:nvSpPr>
              <p:cNvPr id="280" name="Shape 308"/>
              <p:cNvSpPr/>
              <p:nvPr/>
            </p:nvSpPr>
            <p:spPr>
              <a:xfrm>
                <a:off x="0" y="0"/>
                <a:ext cx="620893" cy="59831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81" name="Shape 309"/>
              <p:cNvSpPr txBox="1"/>
              <p:nvPr/>
            </p:nvSpPr>
            <p:spPr>
              <a:xfrm>
                <a:off x="148685" y="6533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285" name="Group 313"/>
            <p:cNvGrpSpPr/>
            <p:nvPr/>
          </p:nvGrpSpPr>
          <p:grpSpPr>
            <a:xfrm>
              <a:off x="1626446" y="2097475"/>
              <a:ext cx="620893" cy="598315"/>
              <a:chOff x="0" y="0"/>
              <a:chExt cx="620891" cy="598314"/>
            </a:xfrm>
          </p:grpSpPr>
          <p:sp>
            <p:nvSpPr>
              <p:cNvPr id="283" name="Shape 311"/>
              <p:cNvSpPr/>
              <p:nvPr/>
            </p:nvSpPr>
            <p:spPr>
              <a:xfrm>
                <a:off x="0" y="0"/>
                <a:ext cx="620893" cy="59831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84" name="Shape 312"/>
              <p:cNvSpPr txBox="1"/>
              <p:nvPr/>
            </p:nvSpPr>
            <p:spPr>
              <a:xfrm>
                <a:off x="148686" y="6533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288" name="Group 316"/>
            <p:cNvGrpSpPr/>
            <p:nvPr/>
          </p:nvGrpSpPr>
          <p:grpSpPr>
            <a:xfrm>
              <a:off x="4769274" y="1030957"/>
              <a:ext cx="765389" cy="670563"/>
              <a:chOff x="0" y="0"/>
              <a:chExt cx="765388" cy="670562"/>
            </a:xfrm>
          </p:grpSpPr>
          <p:sp>
            <p:nvSpPr>
              <p:cNvPr id="286" name="Shape 314"/>
              <p:cNvSpPr/>
              <p:nvPr/>
            </p:nvSpPr>
            <p:spPr>
              <a:xfrm>
                <a:off x="0" y="0"/>
                <a:ext cx="765389" cy="6705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87" name="Shape 315"/>
              <p:cNvSpPr txBox="1"/>
              <p:nvPr/>
            </p:nvSpPr>
            <p:spPr>
              <a:xfrm>
                <a:off x="220935" y="1014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291" name="Group 319"/>
            <p:cNvGrpSpPr/>
            <p:nvPr/>
          </p:nvGrpSpPr>
          <p:grpSpPr>
            <a:xfrm>
              <a:off x="1113931" y="3458915"/>
              <a:ext cx="765389" cy="670563"/>
              <a:chOff x="0" y="0"/>
              <a:chExt cx="765388" cy="670562"/>
            </a:xfrm>
          </p:grpSpPr>
          <p:sp>
            <p:nvSpPr>
              <p:cNvPr id="289" name="Shape 317"/>
              <p:cNvSpPr/>
              <p:nvPr/>
            </p:nvSpPr>
            <p:spPr>
              <a:xfrm>
                <a:off x="0" y="0"/>
                <a:ext cx="765389" cy="6705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90" name="Shape 318"/>
              <p:cNvSpPr txBox="1"/>
              <p:nvPr/>
            </p:nvSpPr>
            <p:spPr>
              <a:xfrm>
                <a:off x="220935" y="1014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294" name="Group 322"/>
            <p:cNvGrpSpPr/>
            <p:nvPr/>
          </p:nvGrpSpPr>
          <p:grpSpPr>
            <a:xfrm>
              <a:off x="2414411" y="3458915"/>
              <a:ext cx="765389" cy="670563"/>
              <a:chOff x="0" y="0"/>
              <a:chExt cx="765388" cy="670562"/>
            </a:xfrm>
          </p:grpSpPr>
          <p:sp>
            <p:nvSpPr>
              <p:cNvPr id="292" name="Shape 320"/>
              <p:cNvSpPr/>
              <p:nvPr/>
            </p:nvSpPr>
            <p:spPr>
              <a:xfrm>
                <a:off x="0" y="0"/>
                <a:ext cx="765389" cy="67056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93" name="Shape 321"/>
              <p:cNvSpPr txBox="1"/>
              <p:nvPr/>
            </p:nvSpPr>
            <p:spPr>
              <a:xfrm>
                <a:off x="220934" y="1014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9</a:t>
                </a:r>
              </a:p>
            </p:txBody>
          </p:sp>
        </p:grpSp>
        <p:sp>
          <p:nvSpPr>
            <p:cNvPr id="295" name="Shape 323"/>
            <p:cNvSpPr/>
            <p:nvPr/>
          </p:nvSpPr>
          <p:spPr>
            <a:xfrm flipH="1">
              <a:off x="4108309" y="3964560"/>
              <a:ext cx="489343" cy="44883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96" name="Shape 324"/>
            <p:cNvSpPr/>
            <p:nvPr/>
          </p:nvSpPr>
          <p:spPr>
            <a:xfrm>
              <a:off x="5034775" y="3934360"/>
              <a:ext cx="680509" cy="46297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299" name="Group 327"/>
            <p:cNvGrpSpPr/>
            <p:nvPr/>
          </p:nvGrpSpPr>
          <p:grpSpPr>
            <a:xfrm>
              <a:off x="2184682" y="1027570"/>
              <a:ext cx="765389" cy="670565"/>
              <a:chOff x="0" y="0"/>
              <a:chExt cx="765388" cy="670564"/>
            </a:xfrm>
          </p:grpSpPr>
          <p:sp>
            <p:nvSpPr>
              <p:cNvPr id="297" name="Shape 325"/>
              <p:cNvSpPr/>
              <p:nvPr/>
            </p:nvSpPr>
            <p:spPr>
              <a:xfrm>
                <a:off x="0" y="-1"/>
                <a:ext cx="765389" cy="67056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98" name="Shape 326"/>
              <p:cNvSpPr txBox="1"/>
              <p:nvPr/>
            </p:nvSpPr>
            <p:spPr>
              <a:xfrm>
                <a:off x="182834" y="633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302" name="Group 330"/>
            <p:cNvGrpSpPr/>
            <p:nvPr/>
          </p:nvGrpSpPr>
          <p:grpSpPr>
            <a:xfrm>
              <a:off x="5600983" y="4304170"/>
              <a:ext cx="765389" cy="670565"/>
              <a:chOff x="0" y="0"/>
              <a:chExt cx="765388" cy="670564"/>
            </a:xfrm>
          </p:grpSpPr>
          <p:sp>
            <p:nvSpPr>
              <p:cNvPr id="300" name="Shape 328"/>
              <p:cNvSpPr/>
              <p:nvPr/>
            </p:nvSpPr>
            <p:spPr>
              <a:xfrm>
                <a:off x="0" y="-1"/>
                <a:ext cx="765389" cy="67056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01" name="Shape 329"/>
              <p:cNvSpPr txBox="1"/>
              <p:nvPr/>
            </p:nvSpPr>
            <p:spPr>
              <a:xfrm>
                <a:off x="182835" y="6335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305" name="Group 333"/>
            <p:cNvGrpSpPr/>
            <p:nvPr/>
          </p:nvGrpSpPr>
          <p:grpSpPr>
            <a:xfrm>
              <a:off x="4496083" y="3453270"/>
              <a:ext cx="609603" cy="584769"/>
              <a:chOff x="0" y="0"/>
              <a:chExt cx="609601" cy="584767"/>
            </a:xfrm>
          </p:grpSpPr>
          <p:sp>
            <p:nvSpPr>
              <p:cNvPr id="303" name="Shape 331"/>
              <p:cNvSpPr/>
              <p:nvPr/>
            </p:nvSpPr>
            <p:spPr>
              <a:xfrm>
                <a:off x="0" y="-1"/>
                <a:ext cx="609603" cy="584769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04" name="Shape 332"/>
              <p:cNvSpPr txBox="1"/>
              <p:nvPr/>
            </p:nvSpPr>
            <p:spPr>
              <a:xfrm>
                <a:off x="30999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13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3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哈夫曼树</a:t>
            </a:r>
          </a:p>
        </p:txBody>
      </p:sp>
      <p:grpSp>
        <p:nvGrpSpPr>
          <p:cNvPr id="377" name="Group 405"/>
          <p:cNvGrpSpPr/>
          <p:nvPr/>
        </p:nvGrpSpPr>
        <p:grpSpPr>
          <a:xfrm>
            <a:off x="471027" y="1525975"/>
            <a:ext cx="12254374" cy="6646337"/>
            <a:chOff x="0" y="0"/>
            <a:chExt cx="12254372" cy="6646336"/>
          </a:xfrm>
        </p:grpSpPr>
        <p:sp>
          <p:nvSpPr>
            <p:cNvPr id="309" name="Shape 337"/>
            <p:cNvSpPr txBox="1"/>
            <p:nvPr/>
          </p:nvSpPr>
          <p:spPr>
            <a:xfrm>
              <a:off x="-1" y="0"/>
              <a:ext cx="10414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4)</a:t>
              </a:r>
            </a:p>
          </p:txBody>
        </p:sp>
        <p:sp>
          <p:nvSpPr>
            <p:cNvPr id="310" name="Shape 338"/>
            <p:cNvSpPr txBox="1"/>
            <p:nvPr/>
          </p:nvSpPr>
          <p:spPr>
            <a:xfrm>
              <a:off x="12699" y="2982524"/>
              <a:ext cx="10414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5)</a:t>
              </a:r>
            </a:p>
          </p:txBody>
        </p:sp>
        <p:sp>
          <p:nvSpPr>
            <p:cNvPr id="311" name="Shape 339"/>
            <p:cNvSpPr txBox="1"/>
            <p:nvPr/>
          </p:nvSpPr>
          <p:spPr>
            <a:xfrm>
              <a:off x="5980571" y="3904826"/>
              <a:ext cx="6273802" cy="1140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>
                <a:defRPr sz="2800"/>
              </a:pPr>
              <a:r>
                <a:t>WPL=2 ×3 + 5 ×3 +6 ×2 + 8 ×2 + 9 ×2</a:t>
              </a:r>
            </a:p>
            <a:p>
              <a:pPr>
                <a:defRPr sz="2800"/>
              </a:pPr>
              <a:r>
                <a:t>         =67</a:t>
              </a:r>
            </a:p>
          </p:txBody>
        </p:sp>
        <p:grpSp>
          <p:nvGrpSpPr>
            <p:cNvPr id="314" name="Group 342"/>
            <p:cNvGrpSpPr/>
            <p:nvPr/>
          </p:nvGrpSpPr>
          <p:grpSpPr>
            <a:xfrm>
              <a:off x="2354862" y="1934915"/>
              <a:ext cx="635003" cy="638955"/>
              <a:chOff x="0" y="0"/>
              <a:chExt cx="635001" cy="638954"/>
            </a:xfrm>
          </p:grpSpPr>
          <p:sp>
            <p:nvSpPr>
              <p:cNvPr id="312" name="Shape 340"/>
              <p:cNvSpPr/>
              <p:nvPr/>
            </p:nvSpPr>
            <p:spPr>
              <a:xfrm>
                <a:off x="0" y="0"/>
                <a:ext cx="635002" cy="6389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13" name="Shape 341"/>
              <p:cNvSpPr txBox="1"/>
              <p:nvPr/>
            </p:nvSpPr>
            <p:spPr>
              <a:xfrm>
                <a:off x="154330" y="8565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315" name="Shape 343"/>
            <p:cNvSpPr/>
            <p:nvPr/>
          </p:nvSpPr>
          <p:spPr>
            <a:xfrm flipH="1">
              <a:off x="2772268" y="1679222"/>
              <a:ext cx="395113" cy="27319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16" name="Shape 344"/>
            <p:cNvSpPr/>
            <p:nvPr/>
          </p:nvSpPr>
          <p:spPr>
            <a:xfrm>
              <a:off x="3484315" y="1646484"/>
              <a:ext cx="395113" cy="27319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17" name="Shape 345"/>
            <p:cNvSpPr/>
            <p:nvPr/>
          </p:nvSpPr>
          <p:spPr>
            <a:xfrm flipH="1">
              <a:off x="1535288" y="686732"/>
              <a:ext cx="618150" cy="55504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18" name="Shape 346"/>
            <p:cNvSpPr/>
            <p:nvPr/>
          </p:nvSpPr>
          <p:spPr>
            <a:xfrm>
              <a:off x="2623797" y="679341"/>
              <a:ext cx="511848" cy="47594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19" name="Shape 347"/>
            <p:cNvSpPr/>
            <p:nvPr/>
          </p:nvSpPr>
          <p:spPr>
            <a:xfrm flipH="1">
              <a:off x="4998720" y="616064"/>
              <a:ext cx="391548" cy="51056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20" name="Shape 348"/>
            <p:cNvSpPr/>
            <p:nvPr/>
          </p:nvSpPr>
          <p:spPr>
            <a:xfrm>
              <a:off x="5801641" y="652686"/>
              <a:ext cx="427570" cy="47394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323" name="Group 351"/>
            <p:cNvGrpSpPr/>
            <p:nvPr/>
          </p:nvGrpSpPr>
          <p:grpSpPr>
            <a:xfrm>
              <a:off x="2765777" y="6007382"/>
              <a:ext cx="635003" cy="638955"/>
              <a:chOff x="0" y="0"/>
              <a:chExt cx="635001" cy="638954"/>
            </a:xfrm>
          </p:grpSpPr>
          <p:sp>
            <p:nvSpPr>
              <p:cNvPr id="321" name="Shape 349"/>
              <p:cNvSpPr/>
              <p:nvPr/>
            </p:nvSpPr>
            <p:spPr>
              <a:xfrm>
                <a:off x="0" y="0"/>
                <a:ext cx="635002" cy="6389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22" name="Shape 350"/>
              <p:cNvSpPr txBox="1"/>
              <p:nvPr/>
            </p:nvSpPr>
            <p:spPr>
              <a:xfrm>
                <a:off x="154330" y="8565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326" name="Group 354"/>
            <p:cNvGrpSpPr/>
            <p:nvPr/>
          </p:nvGrpSpPr>
          <p:grpSpPr>
            <a:xfrm>
              <a:off x="1435946" y="6007382"/>
              <a:ext cx="635003" cy="638955"/>
              <a:chOff x="0" y="0"/>
              <a:chExt cx="635001" cy="638954"/>
            </a:xfrm>
          </p:grpSpPr>
          <p:sp>
            <p:nvSpPr>
              <p:cNvPr id="324" name="Shape 352"/>
              <p:cNvSpPr/>
              <p:nvPr/>
            </p:nvSpPr>
            <p:spPr>
              <a:xfrm>
                <a:off x="0" y="0"/>
                <a:ext cx="635002" cy="638955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25" name="Shape 353"/>
              <p:cNvSpPr txBox="1"/>
              <p:nvPr/>
            </p:nvSpPr>
            <p:spPr>
              <a:xfrm>
                <a:off x="154330" y="85654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327" name="Shape 355"/>
            <p:cNvSpPr/>
            <p:nvPr/>
          </p:nvSpPr>
          <p:spPr>
            <a:xfrm flipH="1">
              <a:off x="1830404" y="5612567"/>
              <a:ext cx="472080" cy="40031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28" name="Shape 356"/>
            <p:cNvSpPr/>
            <p:nvPr/>
          </p:nvSpPr>
          <p:spPr>
            <a:xfrm>
              <a:off x="2594931" y="5605558"/>
              <a:ext cx="378284" cy="4337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29" name="Shape 357"/>
            <p:cNvSpPr/>
            <p:nvPr/>
          </p:nvSpPr>
          <p:spPr>
            <a:xfrm flipH="1">
              <a:off x="1358804" y="4585828"/>
              <a:ext cx="316186" cy="53325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0" name="Shape 358"/>
            <p:cNvSpPr/>
            <p:nvPr/>
          </p:nvSpPr>
          <p:spPr>
            <a:xfrm>
              <a:off x="1958904" y="4557324"/>
              <a:ext cx="344915" cy="54640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1" name="Shape 359"/>
            <p:cNvSpPr/>
            <p:nvPr/>
          </p:nvSpPr>
          <p:spPr>
            <a:xfrm flipH="1">
              <a:off x="4079804" y="4586682"/>
              <a:ext cx="352703" cy="53621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2" name="Shape 360"/>
            <p:cNvSpPr/>
            <p:nvPr/>
          </p:nvSpPr>
          <p:spPr>
            <a:xfrm>
              <a:off x="4821755" y="4597887"/>
              <a:ext cx="334414" cy="48624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3" name="Shape 361"/>
            <p:cNvSpPr/>
            <p:nvPr/>
          </p:nvSpPr>
          <p:spPr>
            <a:xfrm flipH="1">
              <a:off x="2120660" y="3594126"/>
              <a:ext cx="893803" cy="5564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4" name="Shape 362"/>
            <p:cNvSpPr/>
            <p:nvPr/>
          </p:nvSpPr>
          <p:spPr>
            <a:xfrm>
              <a:off x="3506893" y="3560798"/>
              <a:ext cx="911309" cy="5708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337" name="Group 365"/>
            <p:cNvGrpSpPr/>
            <p:nvPr/>
          </p:nvGrpSpPr>
          <p:grpSpPr>
            <a:xfrm>
              <a:off x="2107070" y="201224"/>
              <a:ext cx="609603" cy="584767"/>
              <a:chOff x="0" y="0"/>
              <a:chExt cx="609601" cy="584765"/>
            </a:xfrm>
          </p:grpSpPr>
          <p:sp>
            <p:nvSpPr>
              <p:cNvPr id="335" name="Shape 363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36" name="Shape 364"/>
              <p:cNvSpPr txBox="1"/>
              <p:nvPr/>
            </p:nvSpPr>
            <p:spPr>
              <a:xfrm>
                <a:off x="30999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340" name="Group 368"/>
            <p:cNvGrpSpPr/>
            <p:nvPr/>
          </p:nvGrpSpPr>
          <p:grpSpPr>
            <a:xfrm>
              <a:off x="5294770" y="201224"/>
              <a:ext cx="609603" cy="584767"/>
              <a:chOff x="0" y="0"/>
              <a:chExt cx="609601" cy="584765"/>
            </a:xfrm>
          </p:grpSpPr>
          <p:sp>
            <p:nvSpPr>
              <p:cNvPr id="338" name="Shape 366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39" name="Shape 367"/>
              <p:cNvSpPr txBox="1"/>
              <p:nvPr/>
            </p:nvSpPr>
            <p:spPr>
              <a:xfrm>
                <a:off x="30999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343" name="Group 371"/>
            <p:cNvGrpSpPr/>
            <p:nvPr/>
          </p:nvGrpSpPr>
          <p:grpSpPr>
            <a:xfrm>
              <a:off x="2996070" y="1128324"/>
              <a:ext cx="609603" cy="584767"/>
              <a:chOff x="0" y="0"/>
              <a:chExt cx="609601" cy="584765"/>
            </a:xfrm>
          </p:grpSpPr>
          <p:sp>
            <p:nvSpPr>
              <p:cNvPr id="341" name="Shape 369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42" name="Shape 370"/>
              <p:cNvSpPr txBox="1"/>
              <p:nvPr/>
            </p:nvSpPr>
            <p:spPr>
              <a:xfrm>
                <a:off x="119899" y="58561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346" name="Group 374"/>
            <p:cNvGrpSpPr/>
            <p:nvPr/>
          </p:nvGrpSpPr>
          <p:grpSpPr>
            <a:xfrm>
              <a:off x="2119770" y="5090724"/>
              <a:ext cx="609603" cy="584767"/>
              <a:chOff x="0" y="0"/>
              <a:chExt cx="609601" cy="584765"/>
            </a:xfrm>
          </p:grpSpPr>
          <p:sp>
            <p:nvSpPr>
              <p:cNvPr id="344" name="Shape 372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45" name="Shape 373"/>
              <p:cNvSpPr txBox="1"/>
              <p:nvPr/>
            </p:nvSpPr>
            <p:spPr>
              <a:xfrm>
                <a:off x="119899" y="5856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349" name="Group 377"/>
            <p:cNvGrpSpPr/>
            <p:nvPr/>
          </p:nvGrpSpPr>
          <p:grpSpPr>
            <a:xfrm>
              <a:off x="4342270" y="4062024"/>
              <a:ext cx="609603" cy="584767"/>
              <a:chOff x="0" y="0"/>
              <a:chExt cx="609601" cy="584765"/>
            </a:xfrm>
          </p:grpSpPr>
          <p:sp>
            <p:nvSpPr>
              <p:cNvPr id="347" name="Shape 375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48" name="Shape 376"/>
              <p:cNvSpPr txBox="1"/>
              <p:nvPr/>
            </p:nvSpPr>
            <p:spPr>
              <a:xfrm>
                <a:off x="30999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352" name="Group 380"/>
            <p:cNvGrpSpPr/>
            <p:nvPr/>
          </p:nvGrpSpPr>
          <p:grpSpPr>
            <a:xfrm>
              <a:off x="1560970" y="4062024"/>
              <a:ext cx="609603" cy="584767"/>
              <a:chOff x="0" y="0"/>
              <a:chExt cx="609601" cy="584765"/>
            </a:xfrm>
          </p:grpSpPr>
          <p:sp>
            <p:nvSpPr>
              <p:cNvPr id="350" name="Shape 378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51" name="Shape 379"/>
              <p:cNvSpPr txBox="1"/>
              <p:nvPr/>
            </p:nvSpPr>
            <p:spPr>
              <a:xfrm>
                <a:off x="30999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355" name="Group 383"/>
            <p:cNvGrpSpPr/>
            <p:nvPr/>
          </p:nvGrpSpPr>
          <p:grpSpPr>
            <a:xfrm>
              <a:off x="2983370" y="3147624"/>
              <a:ext cx="609603" cy="584767"/>
              <a:chOff x="0" y="0"/>
              <a:chExt cx="609601" cy="584765"/>
            </a:xfrm>
          </p:grpSpPr>
          <p:sp>
            <p:nvSpPr>
              <p:cNvPr id="353" name="Shape 381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54" name="Shape 382"/>
              <p:cNvSpPr txBox="1"/>
              <p:nvPr/>
            </p:nvSpPr>
            <p:spPr>
              <a:xfrm>
                <a:off x="30999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30</a:t>
                </a:r>
              </a:p>
            </p:txBody>
          </p:sp>
        </p:grpSp>
        <p:grpSp>
          <p:nvGrpSpPr>
            <p:cNvPr id="358" name="Group 386"/>
            <p:cNvGrpSpPr/>
            <p:nvPr/>
          </p:nvGrpSpPr>
          <p:grpSpPr>
            <a:xfrm>
              <a:off x="4672470" y="1128324"/>
              <a:ext cx="609603" cy="584767"/>
              <a:chOff x="0" y="0"/>
              <a:chExt cx="609601" cy="584765"/>
            </a:xfrm>
          </p:grpSpPr>
          <p:sp>
            <p:nvSpPr>
              <p:cNvPr id="356" name="Shape 384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57" name="Shape 385"/>
              <p:cNvSpPr txBox="1"/>
              <p:nvPr/>
            </p:nvSpPr>
            <p:spPr>
              <a:xfrm>
                <a:off x="119899" y="58561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361" name="Group 389"/>
            <p:cNvGrpSpPr/>
            <p:nvPr/>
          </p:nvGrpSpPr>
          <p:grpSpPr>
            <a:xfrm>
              <a:off x="5929770" y="1128324"/>
              <a:ext cx="609603" cy="584767"/>
              <a:chOff x="0" y="0"/>
              <a:chExt cx="609601" cy="584765"/>
            </a:xfrm>
          </p:grpSpPr>
          <p:sp>
            <p:nvSpPr>
              <p:cNvPr id="359" name="Shape 387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60" name="Shape 388"/>
              <p:cNvSpPr txBox="1"/>
              <p:nvPr/>
            </p:nvSpPr>
            <p:spPr>
              <a:xfrm>
                <a:off x="119899" y="58561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364" name="Group 392"/>
            <p:cNvGrpSpPr/>
            <p:nvPr/>
          </p:nvGrpSpPr>
          <p:grpSpPr>
            <a:xfrm>
              <a:off x="1167271" y="1128324"/>
              <a:ext cx="609603" cy="584767"/>
              <a:chOff x="0" y="0"/>
              <a:chExt cx="609601" cy="584765"/>
            </a:xfrm>
          </p:grpSpPr>
          <p:sp>
            <p:nvSpPr>
              <p:cNvPr id="362" name="Shape 390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63" name="Shape 391"/>
              <p:cNvSpPr txBox="1"/>
              <p:nvPr/>
            </p:nvSpPr>
            <p:spPr>
              <a:xfrm>
                <a:off x="119899" y="58561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367" name="Group 395"/>
            <p:cNvGrpSpPr/>
            <p:nvPr/>
          </p:nvGrpSpPr>
          <p:grpSpPr>
            <a:xfrm>
              <a:off x="3554870" y="1941124"/>
              <a:ext cx="609603" cy="584767"/>
              <a:chOff x="0" y="0"/>
              <a:chExt cx="609601" cy="584765"/>
            </a:xfrm>
          </p:grpSpPr>
          <p:sp>
            <p:nvSpPr>
              <p:cNvPr id="365" name="Shape 393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66" name="Shape 394"/>
              <p:cNvSpPr txBox="1"/>
              <p:nvPr/>
            </p:nvSpPr>
            <p:spPr>
              <a:xfrm>
                <a:off x="119899" y="58561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370" name="Group 398"/>
            <p:cNvGrpSpPr/>
            <p:nvPr/>
          </p:nvGrpSpPr>
          <p:grpSpPr>
            <a:xfrm>
              <a:off x="887871" y="5090724"/>
              <a:ext cx="609602" cy="584767"/>
              <a:chOff x="0" y="0"/>
              <a:chExt cx="609601" cy="584765"/>
            </a:xfrm>
          </p:grpSpPr>
          <p:sp>
            <p:nvSpPr>
              <p:cNvPr id="368" name="Shape 396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69" name="Shape 397"/>
              <p:cNvSpPr txBox="1"/>
              <p:nvPr/>
            </p:nvSpPr>
            <p:spPr>
              <a:xfrm>
                <a:off x="107199" y="20460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373" name="Group 401"/>
            <p:cNvGrpSpPr/>
            <p:nvPr/>
          </p:nvGrpSpPr>
          <p:grpSpPr>
            <a:xfrm>
              <a:off x="3834270" y="5090724"/>
              <a:ext cx="609603" cy="584767"/>
              <a:chOff x="0" y="0"/>
              <a:chExt cx="609601" cy="584765"/>
            </a:xfrm>
          </p:grpSpPr>
          <p:sp>
            <p:nvSpPr>
              <p:cNvPr id="371" name="Shape 399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72" name="Shape 400"/>
              <p:cNvSpPr txBox="1"/>
              <p:nvPr/>
            </p:nvSpPr>
            <p:spPr>
              <a:xfrm>
                <a:off x="107199" y="20460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376" name="Group 404"/>
            <p:cNvGrpSpPr/>
            <p:nvPr/>
          </p:nvGrpSpPr>
          <p:grpSpPr>
            <a:xfrm>
              <a:off x="4913770" y="5090724"/>
              <a:ext cx="609603" cy="584767"/>
              <a:chOff x="0" y="0"/>
              <a:chExt cx="609601" cy="584765"/>
            </a:xfrm>
          </p:grpSpPr>
          <p:sp>
            <p:nvSpPr>
              <p:cNvPr id="374" name="Shape 402"/>
              <p:cNvSpPr/>
              <p:nvPr/>
            </p:nvSpPr>
            <p:spPr>
              <a:xfrm>
                <a:off x="0" y="0"/>
                <a:ext cx="609602" cy="584766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375" name="Shape 403"/>
              <p:cNvSpPr txBox="1"/>
              <p:nvPr/>
            </p:nvSpPr>
            <p:spPr>
              <a:xfrm>
                <a:off x="107199" y="20460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9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40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哈夫曼树</a:t>
            </a:r>
          </a:p>
        </p:txBody>
      </p:sp>
      <p:sp>
        <p:nvSpPr>
          <p:cNvPr id="380" name="Shape 408"/>
          <p:cNvSpPr txBox="1"/>
          <p:nvPr/>
        </p:nvSpPr>
        <p:spPr>
          <a:xfrm>
            <a:off x="1049301" y="897748"/>
            <a:ext cx="396427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500"/>
            </a:lvl1pPr>
          </a:lstStyle>
          <a:p>
            <a:pPr/>
            <a:r>
              <a:t>(哈夫曼算法)以二叉树为例:</a:t>
            </a:r>
          </a:p>
        </p:txBody>
      </p:sp>
      <p:sp>
        <p:nvSpPr>
          <p:cNvPr id="381" name="Shape 409"/>
          <p:cNvSpPr txBox="1"/>
          <p:nvPr/>
        </p:nvSpPr>
        <p:spPr>
          <a:xfrm>
            <a:off x="1460217" y="1482231"/>
            <a:ext cx="10769601" cy="183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defRPr sz="2500"/>
            </a:pPr>
            <a:r>
              <a:t>    1.根据给定的n 个权值{w＝w</a:t>
            </a:r>
            <a:r>
              <a:rPr baseline="-5998"/>
              <a:t>1</a:t>
            </a:r>
            <a:r>
              <a:t>, w</a:t>
            </a:r>
            <a:r>
              <a:rPr baseline="-5998"/>
              <a:t>2</a:t>
            </a:r>
            <a:r>
              <a:t>, …, w</a:t>
            </a:r>
            <a:r>
              <a:rPr baseline="-5998"/>
              <a:t>n</a:t>
            </a:r>
            <a:r>
              <a:t>}，构造n 棵二叉树的集合F = {T</a:t>
            </a:r>
            <a:r>
              <a:rPr baseline="-5998"/>
              <a:t>1</a:t>
            </a:r>
            <a:r>
              <a:t>,   T</a:t>
            </a:r>
            <a:r>
              <a:rPr baseline="-5998"/>
              <a:t>2</a:t>
            </a:r>
            <a:r>
              <a:t>,  … , T</a:t>
            </a:r>
            <a:r>
              <a:rPr baseline="-5998"/>
              <a:t>n</a:t>
            </a:r>
            <a:r>
              <a:t>}，</a:t>
            </a:r>
          </a:p>
          <a:p>
            <a:pPr>
              <a:lnSpc>
                <a:spcPct val="120000"/>
              </a:lnSpc>
              <a:defRPr sz="2500"/>
            </a:pPr>
            <a:r>
              <a:t>    其中每棵二叉树中均只含一个带权值为w</a:t>
            </a:r>
            <a:r>
              <a:rPr baseline="-5998"/>
              <a:t>i</a:t>
            </a:r>
            <a:r>
              <a:t>的根结点,其左、右子树为空树;</a:t>
            </a:r>
          </a:p>
        </p:txBody>
      </p:sp>
      <p:sp>
        <p:nvSpPr>
          <p:cNvPr id="382" name="Shape 410"/>
          <p:cNvSpPr txBox="1"/>
          <p:nvPr/>
        </p:nvSpPr>
        <p:spPr>
          <a:xfrm>
            <a:off x="1460217" y="3451012"/>
            <a:ext cx="10769601" cy="1583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500"/>
            </a:lvl1pPr>
          </a:lstStyle>
          <a:p>
            <a:pPr/>
            <a:r>
              <a:t>    2.在 F 中选取其根结点的权值为最小的两棵二叉树，分别作为左、右子树构造一棵新的二叉树，并置这棵新的二叉树根结点的权值为其左、右子树根结点的权值之和;</a:t>
            </a:r>
          </a:p>
        </p:txBody>
      </p:sp>
      <p:sp>
        <p:nvSpPr>
          <p:cNvPr id="383" name="Shape 411"/>
          <p:cNvSpPr txBox="1"/>
          <p:nvPr/>
        </p:nvSpPr>
        <p:spPr>
          <a:xfrm>
            <a:off x="1460217" y="5109350"/>
            <a:ext cx="1076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/>
            </a:lvl1pPr>
          </a:lstStyle>
          <a:p>
            <a:pPr/>
            <a:r>
              <a:t>    3.从F中删去这两棵树，同时将刚生成的新树加入到F中;</a:t>
            </a:r>
          </a:p>
        </p:txBody>
      </p:sp>
      <p:sp>
        <p:nvSpPr>
          <p:cNvPr id="384" name="Shape 412"/>
          <p:cNvSpPr txBox="1"/>
          <p:nvPr/>
        </p:nvSpPr>
        <p:spPr>
          <a:xfrm>
            <a:off x="1465298" y="5807851"/>
            <a:ext cx="1076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500"/>
            </a:lvl1pPr>
          </a:lstStyle>
          <a:p>
            <a:pPr/>
            <a:r>
              <a:t>    4.重复 (2) 和 (3) 两步，直至 F 中只含一棵树为止。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41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哈夫曼树</a:t>
            </a:r>
          </a:p>
        </p:txBody>
      </p:sp>
      <p:sp>
        <p:nvSpPr>
          <p:cNvPr id="387" name="Shape 415"/>
          <p:cNvSpPr txBox="1"/>
          <p:nvPr/>
        </p:nvSpPr>
        <p:spPr>
          <a:xfrm>
            <a:off x="344059" y="1012047"/>
            <a:ext cx="10366527" cy="3178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0" defTabSz="457200">
              <a:lnSpc>
                <a:spcPct val="120000"/>
              </a:lnSpc>
              <a:spcBef>
                <a:spcPts val="0"/>
              </a:spcBef>
              <a:defRPr sz="2500">
                <a:uFillTx/>
              </a:defRPr>
            </a:pPr>
            <a:r>
              <a:t>特点：</a:t>
            </a:r>
          </a:p>
          <a:p>
            <a:pPr marR="0" defTabSz="457200">
              <a:lnSpc>
                <a:spcPct val="120000"/>
              </a:lnSpc>
              <a:spcBef>
                <a:spcPts val="0"/>
              </a:spcBef>
              <a:defRPr sz="2500">
                <a:uFillTx/>
              </a:defRPr>
            </a:pPr>
            <a:r>
              <a:t>1、有n个叶子结点：过程中的第1步</a:t>
            </a:r>
          </a:p>
          <a:p>
            <a:pPr marR="0" defTabSz="457200">
              <a:lnSpc>
                <a:spcPct val="120000"/>
              </a:lnSpc>
              <a:spcBef>
                <a:spcPts val="0"/>
              </a:spcBef>
              <a:defRPr sz="2500">
                <a:uFillTx/>
              </a:defRPr>
            </a:pPr>
            <a:r>
              <a:t>2、没有度为1的结点：2个节点作为左右孩子生成1个新的节点</a:t>
            </a:r>
          </a:p>
          <a:p>
            <a:pPr marR="0" defTabSz="457200">
              <a:lnSpc>
                <a:spcPct val="120000"/>
              </a:lnSpc>
              <a:spcBef>
                <a:spcPts val="0"/>
              </a:spcBef>
              <a:defRPr sz="2500">
                <a:uFillTx/>
              </a:defRPr>
            </a:pPr>
            <a:r>
              <a:t>3、总的结点数为 2n-1：需要合并n-1次，每次增加1个节点</a:t>
            </a:r>
          </a:p>
          <a:p>
            <a:pPr marR="0" defTabSz="457200">
              <a:lnSpc>
                <a:spcPct val="120000"/>
              </a:lnSpc>
              <a:spcBef>
                <a:spcPts val="0"/>
              </a:spcBef>
              <a:defRPr sz="2500">
                <a:uFillTx/>
              </a:defRPr>
            </a:pPr>
            <a:r>
              <a:t>4、深度≤n-1</a:t>
            </a:r>
          </a:p>
          <a:p>
            <a:pPr marR="0" defTabSz="457200">
              <a:lnSpc>
                <a:spcPct val="120000"/>
              </a:lnSpc>
              <a:spcBef>
                <a:spcPts val="0"/>
              </a:spcBef>
              <a:defRPr sz="2500">
                <a:uFillTx/>
              </a:defRPr>
            </a:pPr>
            <a:r>
              <a:t>5、形态不唯一</a:t>
            </a:r>
          </a:p>
        </p:txBody>
      </p:sp>
      <p:grpSp>
        <p:nvGrpSpPr>
          <p:cNvPr id="405" name="Group 433"/>
          <p:cNvGrpSpPr/>
          <p:nvPr/>
        </p:nvGrpSpPr>
        <p:grpSpPr>
          <a:xfrm>
            <a:off x="8600364" y="1561816"/>
            <a:ext cx="4068103" cy="4293187"/>
            <a:chOff x="0" y="0"/>
            <a:chExt cx="4068102" cy="4293185"/>
          </a:xfrm>
        </p:grpSpPr>
        <p:sp>
          <p:nvSpPr>
            <p:cNvPr id="388" name="Shape 416"/>
            <p:cNvSpPr/>
            <p:nvPr/>
          </p:nvSpPr>
          <p:spPr>
            <a:xfrm flipH="1">
              <a:off x="2546366" y="497931"/>
              <a:ext cx="460627" cy="4606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89" name="Shape 417"/>
            <p:cNvSpPr/>
            <p:nvPr/>
          </p:nvSpPr>
          <p:spPr>
            <a:xfrm>
              <a:off x="3403494" y="528372"/>
              <a:ext cx="331323" cy="33132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90" name="Shape 418"/>
            <p:cNvSpPr/>
            <p:nvPr/>
          </p:nvSpPr>
          <p:spPr>
            <a:xfrm>
              <a:off x="2933283" y="-1"/>
              <a:ext cx="609603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91" name="Shape 419"/>
            <p:cNvSpPr/>
            <p:nvPr/>
          </p:nvSpPr>
          <p:spPr>
            <a:xfrm>
              <a:off x="1971039" y="2667000"/>
              <a:ext cx="635003" cy="63895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92" name="Shape 420"/>
            <p:cNvSpPr/>
            <p:nvPr/>
          </p:nvSpPr>
          <p:spPr>
            <a:xfrm>
              <a:off x="643466" y="2667000"/>
              <a:ext cx="635003" cy="63895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93" name="Shape 421"/>
            <p:cNvSpPr/>
            <p:nvPr/>
          </p:nvSpPr>
          <p:spPr>
            <a:xfrm flipH="1">
              <a:off x="1158809" y="2267731"/>
              <a:ext cx="369224" cy="4469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94" name="Shape 422"/>
            <p:cNvSpPr/>
            <p:nvPr/>
          </p:nvSpPr>
          <p:spPr>
            <a:xfrm>
              <a:off x="1844895" y="2354851"/>
              <a:ext cx="331219" cy="34166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95" name="Shape 423"/>
            <p:cNvSpPr/>
            <p:nvPr/>
          </p:nvSpPr>
          <p:spPr>
            <a:xfrm flipH="1">
              <a:off x="1756698" y="1288719"/>
              <a:ext cx="414953" cy="4768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96" name="Shape 424"/>
            <p:cNvSpPr/>
            <p:nvPr/>
          </p:nvSpPr>
          <p:spPr>
            <a:xfrm>
              <a:off x="2467899" y="1240084"/>
              <a:ext cx="463082" cy="418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97" name="Shape 425"/>
            <p:cNvSpPr/>
            <p:nvPr/>
          </p:nvSpPr>
          <p:spPr>
            <a:xfrm>
              <a:off x="2662766" y="1634066"/>
              <a:ext cx="609603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98" name="Shape 426"/>
            <p:cNvSpPr/>
            <p:nvPr/>
          </p:nvSpPr>
          <p:spPr>
            <a:xfrm>
              <a:off x="2142424" y="884737"/>
              <a:ext cx="609603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99" name="Shape 427"/>
            <p:cNvSpPr/>
            <p:nvPr/>
          </p:nvSpPr>
          <p:spPr>
            <a:xfrm>
              <a:off x="1430456" y="1761772"/>
              <a:ext cx="609603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00" name="Shape 428"/>
            <p:cNvSpPr/>
            <p:nvPr/>
          </p:nvSpPr>
          <p:spPr>
            <a:xfrm>
              <a:off x="1198033" y="3708418"/>
              <a:ext cx="609603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01" name="Shape 429"/>
            <p:cNvSpPr/>
            <p:nvPr/>
          </p:nvSpPr>
          <p:spPr>
            <a:xfrm flipH="1">
              <a:off x="348244" y="3247246"/>
              <a:ext cx="460627" cy="46062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02" name="Shape 430"/>
            <p:cNvSpPr/>
            <p:nvPr/>
          </p:nvSpPr>
          <p:spPr>
            <a:xfrm>
              <a:off x="1037730" y="3307099"/>
              <a:ext cx="315715" cy="4536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03" name="Shape 431"/>
            <p:cNvSpPr/>
            <p:nvPr/>
          </p:nvSpPr>
          <p:spPr>
            <a:xfrm>
              <a:off x="-1" y="3708418"/>
              <a:ext cx="609601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04" name="Shape 432"/>
            <p:cNvSpPr/>
            <p:nvPr/>
          </p:nvSpPr>
          <p:spPr>
            <a:xfrm>
              <a:off x="3458500" y="859337"/>
              <a:ext cx="609603" cy="58476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3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编码</a:t>
            </a:r>
          </a:p>
        </p:txBody>
      </p:sp>
      <p:sp>
        <p:nvSpPr>
          <p:cNvPr id="408" name="Shape 436"/>
          <p:cNvSpPr txBox="1"/>
          <p:nvPr/>
        </p:nvSpPr>
        <p:spPr>
          <a:xfrm>
            <a:off x="1343658" y="1227383"/>
            <a:ext cx="111125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编码：用二进制数表示字符等</a:t>
            </a:r>
          </a:p>
        </p:txBody>
      </p:sp>
      <p:sp>
        <p:nvSpPr>
          <p:cNvPr id="409" name="Shape 437"/>
          <p:cNvSpPr txBox="1"/>
          <p:nvPr/>
        </p:nvSpPr>
        <p:spPr>
          <a:xfrm>
            <a:off x="1343658" y="2189478"/>
            <a:ext cx="111125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例如：ASCII码，扩展的ASCII码</a:t>
            </a:r>
          </a:p>
        </p:txBody>
      </p:sp>
      <p:sp>
        <p:nvSpPr>
          <p:cNvPr id="410" name="Shape 438"/>
          <p:cNvSpPr txBox="1"/>
          <p:nvPr/>
        </p:nvSpPr>
        <p:spPr>
          <a:xfrm>
            <a:off x="1409134" y="3178669"/>
            <a:ext cx="111125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特点：等长编码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9" grpId="2"/>
      <p:bldP build="whole" bldLvl="1" animBg="1" rev="0" advAuto="0" spid="410" grpId="3"/>
      <p:bldP build="whole" bldLvl="1" animBg="1" rev="0" advAuto="0" spid="40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4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定长编码</a:t>
            </a:r>
          </a:p>
        </p:txBody>
      </p:sp>
      <p:sp>
        <p:nvSpPr>
          <p:cNvPr id="413" name="Shape 441"/>
          <p:cNvSpPr txBox="1"/>
          <p:nvPr/>
        </p:nvSpPr>
        <p:spPr>
          <a:xfrm>
            <a:off x="1330959" y="1437922"/>
            <a:ext cx="11023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假设有8个符号:</a:t>
            </a:r>
          </a:p>
        </p:txBody>
      </p:sp>
      <p:sp>
        <p:nvSpPr>
          <p:cNvPr id="414" name="Shape 442"/>
          <p:cNvSpPr txBox="1"/>
          <p:nvPr/>
        </p:nvSpPr>
        <p:spPr>
          <a:xfrm>
            <a:off x="1534159" y="2564552"/>
            <a:ext cx="10058401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a0	a1	a2	a3	a4	a5	a6	a7</a:t>
            </a:r>
          </a:p>
        </p:txBody>
      </p:sp>
      <p:sp>
        <p:nvSpPr>
          <p:cNvPr id="415" name="Shape 443"/>
          <p:cNvSpPr txBox="1"/>
          <p:nvPr/>
        </p:nvSpPr>
        <p:spPr>
          <a:xfrm>
            <a:off x="1330959" y="3650543"/>
            <a:ext cx="10452101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000	001	010	011	100	101	110	111</a:t>
            </a:r>
          </a:p>
        </p:txBody>
      </p:sp>
      <p:sp>
        <p:nvSpPr>
          <p:cNvPr id="416" name="Shape 444"/>
          <p:cNvSpPr txBox="1"/>
          <p:nvPr/>
        </p:nvSpPr>
        <p:spPr>
          <a:xfrm>
            <a:off x="2252133" y="5021014"/>
            <a:ext cx="8521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011110000100001  ???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4" grpId="2"/>
      <p:bldP build="whole" bldLvl="1" animBg="1" rev="0" advAuto="0" spid="413" grpId="1"/>
      <p:bldP build="whole" bldLvl="1" animBg="1" rev="0" advAuto="0" spid="416" grpId="4"/>
      <p:bldP build="whole" bldLvl="1" animBg="1" rev="0" advAuto="0" spid="415" grpId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4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变长编码</a:t>
            </a:r>
          </a:p>
        </p:txBody>
      </p:sp>
      <p:sp>
        <p:nvSpPr>
          <p:cNvPr id="419" name="Shape 447"/>
          <p:cNvSpPr txBox="1"/>
          <p:nvPr/>
        </p:nvSpPr>
        <p:spPr>
          <a:xfrm>
            <a:off x="1280159" y="1054664"/>
            <a:ext cx="10566401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有时候，每个字符出现的频率不一样，采用变长编码，使得出现频率高的编码短，频率低的编码长，使得整体的编码短。</a:t>
            </a:r>
          </a:p>
        </p:txBody>
      </p:sp>
      <p:sp>
        <p:nvSpPr>
          <p:cNvPr id="420" name="Shape 448"/>
          <p:cNvSpPr txBox="1"/>
          <p:nvPr/>
        </p:nvSpPr>
        <p:spPr>
          <a:xfrm>
            <a:off x="1280159" y="2502604"/>
            <a:ext cx="105664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假设  A  0.4   B 0.3  C 0.2  D 0.1</a:t>
            </a:r>
          </a:p>
        </p:txBody>
      </p:sp>
      <p:sp>
        <p:nvSpPr>
          <p:cNvPr id="421" name="Shape 449"/>
          <p:cNvSpPr txBox="1"/>
          <p:nvPr/>
        </p:nvSpPr>
        <p:spPr>
          <a:xfrm>
            <a:off x="2917049" y="3534409"/>
            <a:ext cx="6273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A	B	C	D</a:t>
            </a:r>
          </a:p>
        </p:txBody>
      </p:sp>
      <p:sp>
        <p:nvSpPr>
          <p:cNvPr id="422" name="Shape 450"/>
          <p:cNvSpPr txBox="1"/>
          <p:nvPr/>
        </p:nvSpPr>
        <p:spPr>
          <a:xfrm>
            <a:off x="2917049" y="4536862"/>
            <a:ext cx="6273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	1	00	01</a:t>
            </a:r>
          </a:p>
        </p:txBody>
      </p:sp>
      <p:sp>
        <p:nvSpPr>
          <p:cNvPr id="423" name="Shape 451"/>
          <p:cNvSpPr txBox="1"/>
          <p:nvPr/>
        </p:nvSpPr>
        <p:spPr>
          <a:xfrm>
            <a:off x="2917049" y="5663493"/>
            <a:ext cx="6273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0001011   ???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2" grpId="3"/>
      <p:bldP build="whole" bldLvl="1" animBg="1" rev="0" advAuto="0" spid="420" grpId="1"/>
      <p:bldP build="whole" bldLvl="1" animBg="1" rev="0" advAuto="0" spid="423" grpId="4"/>
      <p:bldP build="whole" bldLvl="1" animBg="1" rev="0" advAuto="0" spid="421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54"/>
          <p:cNvSpPr txBox="1"/>
          <p:nvPr/>
        </p:nvSpPr>
        <p:spPr>
          <a:xfrm>
            <a:off x="956451" y="1161985"/>
            <a:ext cx="1143621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pPr/>
            <a:r>
              <a:t>    任何一个字符的编码都不是同一字符集中另一个字符的编码的前缀。</a:t>
            </a:r>
          </a:p>
        </p:txBody>
      </p:sp>
      <p:sp>
        <p:nvSpPr>
          <p:cNvPr id="426" name="Shape 455"/>
          <p:cNvSpPr txBox="1"/>
          <p:nvPr/>
        </p:nvSpPr>
        <p:spPr>
          <a:xfrm>
            <a:off x="968022" y="2054165"/>
            <a:ext cx="11023601" cy="1234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pPr/>
            <a:r>
              <a:t>    利用哈夫曼树可以构造一种不等长的二进制编码，并且构造所得的哈夫曼编码是一种最优前缀编码，即:所传电文的总长度最短。</a:t>
            </a:r>
          </a:p>
        </p:txBody>
      </p:sp>
      <p:sp>
        <p:nvSpPr>
          <p:cNvPr id="427" name="Shape 45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Prefix-free code(前缀编码)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5" grpId="1"/>
      <p:bldP build="whole" bldLvl="1" animBg="1" rev="0" advAuto="0" spid="426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458"/>
          <p:cNvSpPr txBox="1"/>
          <p:nvPr/>
        </p:nvSpPr>
        <p:spPr>
          <a:xfrm>
            <a:off x="8191500" y="1615722"/>
            <a:ext cx="6350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</a:t>
            </a:r>
          </a:p>
        </p:txBody>
      </p:sp>
      <p:sp>
        <p:nvSpPr>
          <p:cNvPr id="430" name="Shape 459"/>
          <p:cNvSpPr txBox="1"/>
          <p:nvPr/>
        </p:nvSpPr>
        <p:spPr>
          <a:xfrm>
            <a:off x="9971192" y="1615722"/>
            <a:ext cx="635002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</a:t>
            </a:r>
          </a:p>
        </p:txBody>
      </p:sp>
      <p:sp>
        <p:nvSpPr>
          <p:cNvPr id="431" name="Shape 460"/>
          <p:cNvSpPr txBox="1"/>
          <p:nvPr/>
        </p:nvSpPr>
        <p:spPr>
          <a:xfrm>
            <a:off x="7391400" y="2729652"/>
            <a:ext cx="6350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</a:t>
            </a:r>
          </a:p>
        </p:txBody>
      </p:sp>
      <p:sp>
        <p:nvSpPr>
          <p:cNvPr id="432" name="Shape 461"/>
          <p:cNvSpPr txBox="1"/>
          <p:nvPr/>
        </p:nvSpPr>
        <p:spPr>
          <a:xfrm>
            <a:off x="10356708" y="3843583"/>
            <a:ext cx="6350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</a:t>
            </a:r>
          </a:p>
        </p:txBody>
      </p:sp>
      <p:sp>
        <p:nvSpPr>
          <p:cNvPr id="433" name="Shape 462"/>
          <p:cNvSpPr txBox="1"/>
          <p:nvPr/>
        </p:nvSpPr>
        <p:spPr>
          <a:xfrm>
            <a:off x="9791134" y="2729652"/>
            <a:ext cx="6350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</a:t>
            </a:r>
          </a:p>
        </p:txBody>
      </p:sp>
      <p:sp>
        <p:nvSpPr>
          <p:cNvPr id="434" name="Shape 463"/>
          <p:cNvSpPr txBox="1"/>
          <p:nvPr/>
        </p:nvSpPr>
        <p:spPr>
          <a:xfrm>
            <a:off x="9220200" y="3843583"/>
            <a:ext cx="6350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</a:t>
            </a:r>
          </a:p>
        </p:txBody>
      </p:sp>
      <p:sp>
        <p:nvSpPr>
          <p:cNvPr id="435" name="Shape 464"/>
          <p:cNvSpPr txBox="1"/>
          <p:nvPr/>
        </p:nvSpPr>
        <p:spPr>
          <a:xfrm>
            <a:off x="8534400" y="2729652"/>
            <a:ext cx="6350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</a:t>
            </a:r>
          </a:p>
        </p:txBody>
      </p:sp>
      <p:sp>
        <p:nvSpPr>
          <p:cNvPr id="436" name="Shape 465"/>
          <p:cNvSpPr txBox="1"/>
          <p:nvPr/>
        </p:nvSpPr>
        <p:spPr>
          <a:xfrm>
            <a:off x="10835640" y="2729652"/>
            <a:ext cx="6350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</a:t>
            </a:r>
          </a:p>
        </p:txBody>
      </p:sp>
      <p:sp>
        <p:nvSpPr>
          <p:cNvPr id="437" name="Shape 466"/>
          <p:cNvSpPr txBox="1"/>
          <p:nvPr/>
        </p:nvSpPr>
        <p:spPr>
          <a:xfrm>
            <a:off x="7444458" y="3845841"/>
            <a:ext cx="527699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00</a:t>
            </a:r>
          </a:p>
        </p:txBody>
      </p:sp>
      <p:sp>
        <p:nvSpPr>
          <p:cNvPr id="438" name="Shape 467"/>
          <p:cNvSpPr txBox="1"/>
          <p:nvPr/>
        </p:nvSpPr>
        <p:spPr>
          <a:xfrm>
            <a:off x="8470900" y="3845841"/>
            <a:ext cx="527699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01</a:t>
            </a:r>
          </a:p>
        </p:txBody>
      </p:sp>
      <p:sp>
        <p:nvSpPr>
          <p:cNvPr id="439" name="Shape 468"/>
          <p:cNvSpPr txBox="1"/>
          <p:nvPr/>
        </p:nvSpPr>
        <p:spPr>
          <a:xfrm>
            <a:off x="9098561" y="5071814"/>
            <a:ext cx="7055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100</a:t>
            </a:r>
          </a:p>
        </p:txBody>
      </p:sp>
      <p:sp>
        <p:nvSpPr>
          <p:cNvPr id="440" name="Shape 469"/>
          <p:cNvSpPr txBox="1"/>
          <p:nvPr/>
        </p:nvSpPr>
        <p:spPr>
          <a:xfrm>
            <a:off x="10128108" y="5061372"/>
            <a:ext cx="1193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101</a:t>
            </a:r>
          </a:p>
        </p:txBody>
      </p:sp>
      <p:sp>
        <p:nvSpPr>
          <p:cNvPr id="441" name="Shape 470"/>
          <p:cNvSpPr txBox="1"/>
          <p:nvPr/>
        </p:nvSpPr>
        <p:spPr>
          <a:xfrm>
            <a:off x="10822940" y="3845841"/>
            <a:ext cx="939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11</a:t>
            </a:r>
          </a:p>
        </p:txBody>
      </p:sp>
      <p:sp>
        <p:nvSpPr>
          <p:cNvPr id="442" name="Shape 471"/>
          <p:cNvSpPr txBox="1"/>
          <p:nvPr/>
        </p:nvSpPr>
        <p:spPr>
          <a:xfrm>
            <a:off x="1344505" y="1253348"/>
            <a:ext cx="49276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1、建立哈夫曼树</a:t>
            </a:r>
          </a:p>
        </p:txBody>
      </p:sp>
      <p:sp>
        <p:nvSpPr>
          <p:cNvPr id="443" name="Shape 472"/>
          <p:cNvSpPr txBox="1"/>
          <p:nvPr/>
        </p:nvSpPr>
        <p:spPr>
          <a:xfrm>
            <a:off x="1344505" y="2072921"/>
            <a:ext cx="49276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2、对边编号</a:t>
            </a:r>
          </a:p>
        </p:txBody>
      </p:sp>
      <p:sp>
        <p:nvSpPr>
          <p:cNvPr id="444" name="Shape 473"/>
          <p:cNvSpPr txBox="1"/>
          <p:nvPr/>
        </p:nvSpPr>
        <p:spPr>
          <a:xfrm>
            <a:off x="1344505" y="2892494"/>
            <a:ext cx="57404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3、求出叶子结点的路径</a:t>
            </a:r>
          </a:p>
        </p:txBody>
      </p:sp>
      <p:sp>
        <p:nvSpPr>
          <p:cNvPr id="445" name="Shape 474"/>
          <p:cNvSpPr txBox="1"/>
          <p:nvPr/>
        </p:nvSpPr>
        <p:spPr>
          <a:xfrm>
            <a:off x="1344505" y="3689491"/>
            <a:ext cx="57404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4、得到字符编码</a:t>
            </a:r>
          </a:p>
        </p:txBody>
      </p:sp>
      <p:sp>
        <p:nvSpPr>
          <p:cNvPr id="446" name="Shape 475"/>
          <p:cNvSpPr txBox="1"/>
          <p:nvPr/>
        </p:nvSpPr>
        <p:spPr>
          <a:xfrm>
            <a:off x="1328701" y="5401167"/>
            <a:ext cx="61595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A	B	C	D	E</a:t>
            </a:r>
          </a:p>
        </p:txBody>
      </p:sp>
      <p:sp>
        <p:nvSpPr>
          <p:cNvPr id="447" name="Shape 476"/>
          <p:cNvSpPr txBox="1"/>
          <p:nvPr/>
        </p:nvSpPr>
        <p:spPr>
          <a:xfrm>
            <a:off x="1328701" y="4683195"/>
            <a:ext cx="61595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6	7	2	5	9</a:t>
            </a:r>
          </a:p>
        </p:txBody>
      </p:sp>
      <p:sp>
        <p:nvSpPr>
          <p:cNvPr id="448" name="Shape 477"/>
          <p:cNvSpPr txBox="1"/>
          <p:nvPr/>
        </p:nvSpPr>
        <p:spPr>
          <a:xfrm>
            <a:off x="1328701" y="6322341"/>
            <a:ext cx="61595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00	01	100	101	11</a:t>
            </a:r>
          </a:p>
        </p:txBody>
      </p:sp>
      <p:grpSp>
        <p:nvGrpSpPr>
          <p:cNvPr id="484" name="Group 513"/>
          <p:cNvGrpSpPr/>
          <p:nvPr/>
        </p:nvGrpSpPr>
        <p:grpSpPr>
          <a:xfrm>
            <a:off x="7391399" y="1358899"/>
            <a:ext cx="3886201" cy="3543868"/>
            <a:chOff x="0" y="0"/>
            <a:chExt cx="3886200" cy="3543866"/>
          </a:xfrm>
        </p:grpSpPr>
        <p:sp>
          <p:nvSpPr>
            <p:cNvPr id="449" name="Shape 478"/>
            <p:cNvSpPr/>
            <p:nvPr/>
          </p:nvSpPr>
          <p:spPr>
            <a:xfrm flipH="1">
              <a:off x="1065447" y="419338"/>
              <a:ext cx="734154" cy="6509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50" name="Shape 479"/>
            <p:cNvSpPr/>
            <p:nvPr/>
          </p:nvSpPr>
          <p:spPr>
            <a:xfrm>
              <a:off x="2290704" y="416763"/>
              <a:ext cx="767675" cy="61952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51" name="Shape 480"/>
            <p:cNvSpPr/>
            <p:nvPr/>
          </p:nvSpPr>
          <p:spPr>
            <a:xfrm flipH="1">
              <a:off x="380125" y="1492384"/>
              <a:ext cx="307471" cy="52162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52" name="Shape 481"/>
            <p:cNvSpPr/>
            <p:nvPr/>
          </p:nvSpPr>
          <p:spPr>
            <a:xfrm>
              <a:off x="1055672" y="1517180"/>
              <a:ext cx="220687" cy="4086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455" name="Group 484"/>
            <p:cNvGrpSpPr/>
            <p:nvPr/>
          </p:nvGrpSpPr>
          <p:grpSpPr>
            <a:xfrm>
              <a:off x="1739900" y="0"/>
              <a:ext cx="609600" cy="584767"/>
              <a:chOff x="0" y="0"/>
              <a:chExt cx="609600" cy="584766"/>
            </a:xfrm>
          </p:grpSpPr>
          <p:sp>
            <p:nvSpPr>
              <p:cNvPr id="453" name="Shape 482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54" name="Shape 483"/>
              <p:cNvSpPr txBox="1"/>
              <p:nvPr/>
            </p:nvSpPr>
            <p:spPr>
              <a:xfrm>
                <a:off x="30998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29</a:t>
                </a:r>
              </a:p>
            </p:txBody>
          </p:sp>
        </p:grpSp>
        <p:grpSp>
          <p:nvGrpSpPr>
            <p:cNvPr id="458" name="Group 487"/>
            <p:cNvGrpSpPr/>
            <p:nvPr/>
          </p:nvGrpSpPr>
          <p:grpSpPr>
            <a:xfrm>
              <a:off x="571500" y="1003300"/>
              <a:ext cx="609600" cy="584767"/>
              <a:chOff x="0" y="0"/>
              <a:chExt cx="609600" cy="584766"/>
            </a:xfrm>
          </p:grpSpPr>
          <p:sp>
            <p:nvSpPr>
              <p:cNvPr id="456" name="Shape 485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57" name="Shape 486"/>
              <p:cNvSpPr txBox="1"/>
              <p:nvPr/>
            </p:nvSpPr>
            <p:spPr>
              <a:xfrm>
                <a:off x="30998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461" name="Group 490"/>
            <p:cNvGrpSpPr/>
            <p:nvPr/>
          </p:nvGrpSpPr>
          <p:grpSpPr>
            <a:xfrm>
              <a:off x="-1" y="1955800"/>
              <a:ext cx="609601" cy="584767"/>
              <a:chOff x="0" y="0"/>
              <a:chExt cx="609600" cy="584766"/>
            </a:xfrm>
          </p:grpSpPr>
          <p:sp>
            <p:nvSpPr>
              <p:cNvPr id="459" name="Shape 488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60" name="Shape 489"/>
              <p:cNvSpPr txBox="1"/>
              <p:nvPr/>
            </p:nvSpPr>
            <p:spPr>
              <a:xfrm>
                <a:off x="107198" y="33161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64" name="Group 493"/>
            <p:cNvGrpSpPr/>
            <p:nvPr/>
          </p:nvGrpSpPr>
          <p:grpSpPr>
            <a:xfrm>
              <a:off x="1003300" y="1955800"/>
              <a:ext cx="609600" cy="584767"/>
              <a:chOff x="0" y="0"/>
              <a:chExt cx="609600" cy="584766"/>
            </a:xfrm>
          </p:grpSpPr>
          <p:sp>
            <p:nvSpPr>
              <p:cNvPr id="462" name="Shape 491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63" name="Shape 492"/>
              <p:cNvSpPr txBox="1"/>
              <p:nvPr/>
            </p:nvSpPr>
            <p:spPr>
              <a:xfrm>
                <a:off x="107198" y="33161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7</a:t>
                </a:r>
              </a:p>
            </p:txBody>
          </p:sp>
        </p:grpSp>
        <p:sp>
          <p:nvSpPr>
            <p:cNvPr id="465" name="Shape 494"/>
            <p:cNvSpPr/>
            <p:nvPr/>
          </p:nvSpPr>
          <p:spPr>
            <a:xfrm flipH="1">
              <a:off x="2654300" y="1511300"/>
              <a:ext cx="307471" cy="52162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66" name="Shape 495"/>
            <p:cNvSpPr/>
            <p:nvPr/>
          </p:nvSpPr>
          <p:spPr>
            <a:xfrm>
              <a:off x="3327399" y="1524000"/>
              <a:ext cx="220687" cy="4086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469" name="Group 498"/>
            <p:cNvGrpSpPr/>
            <p:nvPr/>
          </p:nvGrpSpPr>
          <p:grpSpPr>
            <a:xfrm>
              <a:off x="2844800" y="1003300"/>
              <a:ext cx="609600" cy="584767"/>
              <a:chOff x="0" y="0"/>
              <a:chExt cx="609600" cy="584766"/>
            </a:xfrm>
          </p:grpSpPr>
          <p:sp>
            <p:nvSpPr>
              <p:cNvPr id="467" name="Shape 496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68" name="Shape 497"/>
              <p:cNvSpPr txBox="1"/>
              <p:nvPr/>
            </p:nvSpPr>
            <p:spPr>
              <a:xfrm>
                <a:off x="30998" y="585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472" name="Group 501"/>
            <p:cNvGrpSpPr/>
            <p:nvPr/>
          </p:nvGrpSpPr>
          <p:grpSpPr>
            <a:xfrm>
              <a:off x="2273300" y="1955800"/>
              <a:ext cx="609600" cy="584767"/>
              <a:chOff x="0" y="0"/>
              <a:chExt cx="609600" cy="584766"/>
            </a:xfrm>
          </p:grpSpPr>
          <p:sp>
            <p:nvSpPr>
              <p:cNvPr id="470" name="Shape 499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71" name="Shape 500"/>
              <p:cNvSpPr txBox="1"/>
              <p:nvPr/>
            </p:nvSpPr>
            <p:spPr>
              <a:xfrm>
                <a:off x="107198" y="33161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475" name="Group 504"/>
            <p:cNvGrpSpPr/>
            <p:nvPr/>
          </p:nvGrpSpPr>
          <p:grpSpPr>
            <a:xfrm>
              <a:off x="3276600" y="1955800"/>
              <a:ext cx="609600" cy="584767"/>
              <a:chOff x="0" y="0"/>
              <a:chExt cx="609600" cy="584766"/>
            </a:xfrm>
          </p:grpSpPr>
          <p:sp>
            <p:nvSpPr>
              <p:cNvPr id="473" name="Shape 502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74" name="Shape 503"/>
              <p:cNvSpPr txBox="1"/>
              <p:nvPr/>
            </p:nvSpPr>
            <p:spPr>
              <a:xfrm>
                <a:off x="107198" y="33161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9</a:t>
                </a:r>
              </a:p>
            </p:txBody>
          </p:sp>
        </p:grpSp>
        <p:sp>
          <p:nvSpPr>
            <p:cNvPr id="476" name="Shape 505"/>
            <p:cNvSpPr/>
            <p:nvPr/>
          </p:nvSpPr>
          <p:spPr>
            <a:xfrm flipH="1">
              <a:off x="2095500" y="2501900"/>
              <a:ext cx="307471" cy="52162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77" name="Shape 506"/>
            <p:cNvSpPr/>
            <p:nvPr/>
          </p:nvSpPr>
          <p:spPr>
            <a:xfrm>
              <a:off x="2751385" y="2483890"/>
              <a:ext cx="236041" cy="4626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480" name="Group 509"/>
            <p:cNvGrpSpPr/>
            <p:nvPr/>
          </p:nvGrpSpPr>
          <p:grpSpPr>
            <a:xfrm>
              <a:off x="1714500" y="2959100"/>
              <a:ext cx="609600" cy="584767"/>
              <a:chOff x="0" y="0"/>
              <a:chExt cx="609600" cy="584766"/>
            </a:xfrm>
          </p:grpSpPr>
          <p:sp>
            <p:nvSpPr>
              <p:cNvPr id="478" name="Shape 507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79" name="Shape 508"/>
              <p:cNvSpPr txBox="1"/>
              <p:nvPr/>
            </p:nvSpPr>
            <p:spPr>
              <a:xfrm>
                <a:off x="107198" y="33161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483" name="Group 512"/>
            <p:cNvGrpSpPr/>
            <p:nvPr/>
          </p:nvGrpSpPr>
          <p:grpSpPr>
            <a:xfrm>
              <a:off x="2717800" y="2959100"/>
              <a:ext cx="609600" cy="584767"/>
              <a:chOff x="0" y="0"/>
              <a:chExt cx="609600" cy="584766"/>
            </a:xfrm>
          </p:grpSpPr>
          <p:sp>
            <p:nvSpPr>
              <p:cNvPr id="481" name="Shape 510"/>
              <p:cNvSpPr/>
              <p:nvPr/>
            </p:nvSpPr>
            <p:spPr>
              <a:xfrm>
                <a:off x="0" y="-1"/>
                <a:ext cx="609600" cy="58476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482" name="Shape 511"/>
              <p:cNvSpPr txBox="1"/>
              <p:nvPr/>
            </p:nvSpPr>
            <p:spPr>
              <a:xfrm>
                <a:off x="107198" y="33161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>
                  <a:defRPr sz="2800"/>
                </a:lvl1pPr>
              </a:lstStyle>
              <a:p>
                <a:pPr/>
                <a:r>
                  <a:t>5</a:t>
                </a:r>
              </a:p>
            </p:txBody>
          </p:sp>
        </p:grpSp>
      </p:grpSp>
      <p:sp>
        <p:nvSpPr>
          <p:cNvPr id="485" name="Shape 4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Prefix-free code(前缀编码)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7" grpId="13"/>
      <p:bldP build="whole" bldLvl="1" animBg="1" rev="0" advAuto="0" spid="435" grpId="7"/>
      <p:bldP build="whole" bldLvl="1" animBg="1" rev="0" advAuto="0" spid="438" grpId="14"/>
      <p:bldP build="whole" bldLvl="1" animBg="1" rev="0" advAuto="0" spid="433" grpId="9"/>
      <p:bldP build="whole" bldLvl="1" animBg="1" rev="0" advAuto="0" spid="431" grpId="6"/>
      <p:bldP build="whole" bldLvl="1" animBg="1" rev="0" advAuto="0" spid="440" grpId="17"/>
      <p:bldP build="whole" bldLvl="1" animBg="1" rev="0" advAuto="0" spid="430" grpId="5"/>
      <p:bldP build="whole" bldLvl="1" animBg="1" rev="0" advAuto="0" spid="434" grpId="11"/>
      <p:bldP build="whole" bldLvl="1" animBg="1" rev="0" advAuto="0" spid="429" grpId="4"/>
      <p:bldP build="whole" bldLvl="1" animBg="1" rev="0" advAuto="0" spid="432" grpId="10"/>
      <p:bldP build="whole" bldLvl="1" animBg="1" rev="0" advAuto="0" spid="484" grpId="2"/>
      <p:bldP build="whole" bldLvl="1" animBg="1" rev="0" advAuto="0" spid="442" grpId="1"/>
      <p:bldP build="whole" bldLvl="1" animBg="1" rev="0" advAuto="0" spid="443" grpId="3"/>
      <p:bldP build="whole" bldLvl="1" animBg="1" rev="0" advAuto="0" spid="444" grpId="12"/>
      <p:bldP build="whole" bldLvl="1" animBg="1" rev="0" advAuto="0" spid="447" grpId="19"/>
      <p:bldP build="whole" bldLvl="1" animBg="1" rev="0" advAuto="0" spid="448" grpId="21"/>
      <p:bldP build="whole" bldLvl="1" animBg="1" rev="0" advAuto="0" spid="446" grpId="20"/>
      <p:bldP build="whole" bldLvl="1" animBg="1" rev="0" advAuto="0" spid="445" grpId="18"/>
      <p:bldP build="whole" bldLvl="1" animBg="1" rev="0" advAuto="0" spid="441" grpId="15"/>
      <p:bldP build="whole" bldLvl="1" animBg="1" rev="0" advAuto="0" spid="436" grpId="8"/>
      <p:bldP build="whole" bldLvl="1" animBg="1" rev="0" advAuto="0" spid="439" grpId="16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516"/>
          <p:cNvSpPr txBox="1"/>
          <p:nvPr/>
        </p:nvSpPr>
        <p:spPr>
          <a:xfrm>
            <a:off x="1008943" y="1253348"/>
            <a:ext cx="48260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如何译码？</a:t>
            </a:r>
          </a:p>
        </p:txBody>
      </p:sp>
      <p:sp>
        <p:nvSpPr>
          <p:cNvPr id="488" name="Shape 517"/>
          <p:cNvSpPr txBox="1"/>
          <p:nvPr/>
        </p:nvSpPr>
        <p:spPr>
          <a:xfrm>
            <a:off x="1008943" y="2276121"/>
            <a:ext cx="58547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001011110001  ？？？</a:t>
            </a:r>
          </a:p>
        </p:txBody>
      </p:sp>
      <p:sp>
        <p:nvSpPr>
          <p:cNvPr id="489" name="Shape 518"/>
          <p:cNvSpPr txBox="1"/>
          <p:nvPr/>
        </p:nvSpPr>
        <p:spPr>
          <a:xfrm>
            <a:off x="3158349" y="5859214"/>
            <a:ext cx="5232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ADECB</a:t>
            </a:r>
          </a:p>
        </p:txBody>
      </p:sp>
      <p:grpSp>
        <p:nvGrpSpPr>
          <p:cNvPr id="534" name="Group 563"/>
          <p:cNvGrpSpPr/>
          <p:nvPr/>
        </p:nvGrpSpPr>
        <p:grpSpPr>
          <a:xfrm>
            <a:off x="7721600" y="1365250"/>
            <a:ext cx="4079242" cy="3543868"/>
            <a:chOff x="0" y="0"/>
            <a:chExt cx="4079241" cy="3543867"/>
          </a:xfrm>
        </p:grpSpPr>
        <p:sp>
          <p:nvSpPr>
            <p:cNvPr id="490" name="Shape 519"/>
            <p:cNvSpPr txBox="1"/>
            <p:nvPr/>
          </p:nvSpPr>
          <p:spPr>
            <a:xfrm>
              <a:off x="800100" y="256822"/>
              <a:ext cx="6350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91" name="Shape 520"/>
            <p:cNvSpPr txBox="1"/>
            <p:nvPr/>
          </p:nvSpPr>
          <p:spPr>
            <a:xfrm>
              <a:off x="2579793" y="256822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92" name="Shape 521"/>
            <p:cNvSpPr txBox="1"/>
            <p:nvPr/>
          </p:nvSpPr>
          <p:spPr>
            <a:xfrm>
              <a:off x="0" y="1370753"/>
              <a:ext cx="6350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93" name="Shape 522"/>
            <p:cNvSpPr txBox="1"/>
            <p:nvPr/>
          </p:nvSpPr>
          <p:spPr>
            <a:xfrm>
              <a:off x="2965308" y="2484684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94" name="Shape 523"/>
            <p:cNvSpPr txBox="1"/>
            <p:nvPr/>
          </p:nvSpPr>
          <p:spPr>
            <a:xfrm>
              <a:off x="2399735" y="137075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95" name="Shape 524"/>
            <p:cNvSpPr txBox="1"/>
            <p:nvPr/>
          </p:nvSpPr>
          <p:spPr>
            <a:xfrm>
              <a:off x="1828800" y="2484684"/>
              <a:ext cx="6350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96" name="Shape 525"/>
            <p:cNvSpPr txBox="1"/>
            <p:nvPr/>
          </p:nvSpPr>
          <p:spPr>
            <a:xfrm>
              <a:off x="1143000" y="1370753"/>
              <a:ext cx="6350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97" name="Shape 526"/>
            <p:cNvSpPr txBox="1"/>
            <p:nvPr/>
          </p:nvSpPr>
          <p:spPr>
            <a:xfrm>
              <a:off x="3444240" y="137075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grpSp>
          <p:nvGrpSpPr>
            <p:cNvPr id="533" name="Group 562"/>
            <p:cNvGrpSpPr/>
            <p:nvPr/>
          </p:nvGrpSpPr>
          <p:grpSpPr>
            <a:xfrm>
              <a:off x="0" y="0"/>
              <a:ext cx="3886201" cy="3543868"/>
              <a:chOff x="0" y="0"/>
              <a:chExt cx="3886200" cy="3543867"/>
            </a:xfrm>
          </p:grpSpPr>
          <p:sp>
            <p:nvSpPr>
              <p:cNvPr id="498" name="Shape 527"/>
              <p:cNvSpPr/>
              <p:nvPr/>
            </p:nvSpPr>
            <p:spPr>
              <a:xfrm flipH="1">
                <a:off x="1065448" y="419338"/>
                <a:ext cx="734154" cy="6509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499" name="Shape 528"/>
              <p:cNvSpPr/>
              <p:nvPr/>
            </p:nvSpPr>
            <p:spPr>
              <a:xfrm>
                <a:off x="2290704" y="416763"/>
                <a:ext cx="767676" cy="61952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00" name="Shape 529"/>
              <p:cNvSpPr/>
              <p:nvPr/>
            </p:nvSpPr>
            <p:spPr>
              <a:xfrm flipH="1">
                <a:off x="380125" y="1492384"/>
                <a:ext cx="307472" cy="52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01" name="Shape 530"/>
              <p:cNvSpPr/>
              <p:nvPr/>
            </p:nvSpPr>
            <p:spPr>
              <a:xfrm>
                <a:off x="1055673" y="1517180"/>
                <a:ext cx="220686" cy="40861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504" name="Group 533"/>
              <p:cNvGrpSpPr/>
              <p:nvPr/>
            </p:nvGrpSpPr>
            <p:grpSpPr>
              <a:xfrm>
                <a:off x="1739900" y="-1"/>
                <a:ext cx="609601" cy="584767"/>
                <a:chOff x="0" y="0"/>
                <a:chExt cx="609600" cy="584765"/>
              </a:xfrm>
            </p:grpSpPr>
            <p:sp>
              <p:nvSpPr>
                <p:cNvPr id="502" name="Shape 531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03" name="Shape 532"/>
                <p:cNvSpPr txBox="1"/>
                <p:nvPr/>
              </p:nvSpPr>
              <p:spPr>
                <a:xfrm>
                  <a:off x="30999" y="58561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29</a:t>
                  </a:r>
                </a:p>
              </p:txBody>
            </p:sp>
          </p:grpSp>
          <p:grpSp>
            <p:nvGrpSpPr>
              <p:cNvPr id="507" name="Group 536"/>
              <p:cNvGrpSpPr/>
              <p:nvPr/>
            </p:nvGrpSpPr>
            <p:grpSpPr>
              <a:xfrm>
                <a:off x="571500" y="1003300"/>
                <a:ext cx="609601" cy="584767"/>
                <a:chOff x="0" y="0"/>
                <a:chExt cx="609600" cy="584765"/>
              </a:xfrm>
            </p:grpSpPr>
            <p:sp>
              <p:nvSpPr>
                <p:cNvPr id="505" name="Shape 534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06" name="Shape 535"/>
                <p:cNvSpPr txBox="1"/>
                <p:nvPr/>
              </p:nvSpPr>
              <p:spPr>
                <a:xfrm>
                  <a:off x="30999" y="58561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grpSp>
            <p:nvGrpSpPr>
              <p:cNvPr id="510" name="Group 539"/>
              <p:cNvGrpSpPr/>
              <p:nvPr/>
            </p:nvGrpSpPr>
            <p:grpSpPr>
              <a:xfrm>
                <a:off x="-1" y="1955801"/>
                <a:ext cx="609601" cy="584766"/>
                <a:chOff x="0" y="0"/>
                <a:chExt cx="609600" cy="584765"/>
              </a:xfrm>
            </p:grpSpPr>
            <p:sp>
              <p:nvSpPr>
                <p:cNvPr id="508" name="Shape 537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09" name="Shape 538"/>
                <p:cNvSpPr txBox="1"/>
                <p:nvPr/>
              </p:nvSpPr>
              <p:spPr>
                <a:xfrm>
                  <a:off x="107199" y="33161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513" name="Group 542"/>
              <p:cNvGrpSpPr/>
              <p:nvPr/>
            </p:nvGrpSpPr>
            <p:grpSpPr>
              <a:xfrm>
                <a:off x="1003300" y="1955801"/>
                <a:ext cx="609601" cy="584766"/>
                <a:chOff x="0" y="0"/>
                <a:chExt cx="609600" cy="584765"/>
              </a:xfrm>
            </p:grpSpPr>
            <p:sp>
              <p:nvSpPr>
                <p:cNvPr id="511" name="Shape 540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12" name="Shape 541"/>
                <p:cNvSpPr txBox="1"/>
                <p:nvPr/>
              </p:nvSpPr>
              <p:spPr>
                <a:xfrm>
                  <a:off x="107199" y="33161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sp>
            <p:nvSpPr>
              <p:cNvPr id="514" name="Shape 543"/>
              <p:cNvSpPr/>
              <p:nvPr/>
            </p:nvSpPr>
            <p:spPr>
              <a:xfrm flipH="1">
                <a:off x="2654300" y="1511300"/>
                <a:ext cx="307472" cy="52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15" name="Shape 544"/>
              <p:cNvSpPr/>
              <p:nvPr/>
            </p:nvSpPr>
            <p:spPr>
              <a:xfrm>
                <a:off x="3327400" y="1524000"/>
                <a:ext cx="220686" cy="40861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518" name="Group 547"/>
              <p:cNvGrpSpPr/>
              <p:nvPr/>
            </p:nvGrpSpPr>
            <p:grpSpPr>
              <a:xfrm>
                <a:off x="2844800" y="1003300"/>
                <a:ext cx="609601" cy="584767"/>
                <a:chOff x="0" y="0"/>
                <a:chExt cx="609600" cy="584765"/>
              </a:xfrm>
            </p:grpSpPr>
            <p:sp>
              <p:nvSpPr>
                <p:cNvPr id="516" name="Shape 545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17" name="Shape 546"/>
                <p:cNvSpPr txBox="1"/>
                <p:nvPr/>
              </p:nvSpPr>
              <p:spPr>
                <a:xfrm>
                  <a:off x="30999" y="58561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16</a:t>
                  </a:r>
                </a:p>
              </p:txBody>
            </p:sp>
          </p:grpSp>
          <p:grpSp>
            <p:nvGrpSpPr>
              <p:cNvPr id="521" name="Group 550"/>
              <p:cNvGrpSpPr/>
              <p:nvPr/>
            </p:nvGrpSpPr>
            <p:grpSpPr>
              <a:xfrm>
                <a:off x="2273300" y="1955801"/>
                <a:ext cx="609601" cy="584766"/>
                <a:chOff x="0" y="0"/>
                <a:chExt cx="609600" cy="584765"/>
              </a:xfrm>
            </p:grpSpPr>
            <p:sp>
              <p:nvSpPr>
                <p:cNvPr id="519" name="Shape 548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20" name="Shape 549"/>
                <p:cNvSpPr txBox="1"/>
                <p:nvPr/>
              </p:nvSpPr>
              <p:spPr>
                <a:xfrm>
                  <a:off x="107199" y="33161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524" name="Group 553"/>
              <p:cNvGrpSpPr/>
              <p:nvPr/>
            </p:nvGrpSpPr>
            <p:grpSpPr>
              <a:xfrm>
                <a:off x="3276600" y="1955801"/>
                <a:ext cx="609601" cy="584766"/>
                <a:chOff x="0" y="0"/>
                <a:chExt cx="609600" cy="584765"/>
              </a:xfrm>
            </p:grpSpPr>
            <p:sp>
              <p:nvSpPr>
                <p:cNvPr id="522" name="Shape 551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23" name="Shape 552"/>
                <p:cNvSpPr txBox="1"/>
                <p:nvPr/>
              </p:nvSpPr>
              <p:spPr>
                <a:xfrm>
                  <a:off x="107199" y="33161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sp>
            <p:nvSpPr>
              <p:cNvPr id="525" name="Shape 554"/>
              <p:cNvSpPr/>
              <p:nvPr/>
            </p:nvSpPr>
            <p:spPr>
              <a:xfrm flipH="1">
                <a:off x="2095500" y="2501901"/>
                <a:ext cx="307472" cy="52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26" name="Shape 555"/>
              <p:cNvSpPr/>
              <p:nvPr/>
            </p:nvSpPr>
            <p:spPr>
              <a:xfrm>
                <a:off x="2751385" y="2483891"/>
                <a:ext cx="236041" cy="46263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529" name="Group 558"/>
              <p:cNvGrpSpPr/>
              <p:nvPr/>
            </p:nvGrpSpPr>
            <p:grpSpPr>
              <a:xfrm>
                <a:off x="1714500" y="2959101"/>
                <a:ext cx="609601" cy="584767"/>
                <a:chOff x="0" y="0"/>
                <a:chExt cx="609600" cy="584765"/>
              </a:xfrm>
            </p:grpSpPr>
            <p:sp>
              <p:nvSpPr>
                <p:cNvPr id="527" name="Shape 556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28" name="Shape 557"/>
                <p:cNvSpPr txBox="1"/>
                <p:nvPr/>
              </p:nvSpPr>
              <p:spPr>
                <a:xfrm>
                  <a:off x="107199" y="33161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532" name="Group 561"/>
              <p:cNvGrpSpPr/>
              <p:nvPr/>
            </p:nvGrpSpPr>
            <p:grpSpPr>
              <a:xfrm>
                <a:off x="2717800" y="2959101"/>
                <a:ext cx="609601" cy="584767"/>
                <a:chOff x="0" y="0"/>
                <a:chExt cx="609600" cy="584765"/>
              </a:xfrm>
            </p:grpSpPr>
            <p:sp>
              <p:nvSpPr>
                <p:cNvPr id="530" name="Shape 559"/>
                <p:cNvSpPr/>
                <p:nvPr/>
              </p:nvSpPr>
              <p:spPr>
                <a:xfrm>
                  <a:off x="-1" y="0"/>
                  <a:ext cx="609601" cy="58476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31" name="Shape 560"/>
                <p:cNvSpPr txBox="1"/>
                <p:nvPr/>
              </p:nvSpPr>
              <p:spPr>
                <a:xfrm>
                  <a:off x="107199" y="33161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</p:grpSp>
      </p:grpSp>
      <p:sp>
        <p:nvSpPr>
          <p:cNvPr id="535" name="Shape 564"/>
          <p:cNvSpPr txBox="1"/>
          <p:nvPr/>
        </p:nvSpPr>
        <p:spPr>
          <a:xfrm>
            <a:off x="1244600" y="4021383"/>
            <a:ext cx="61595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A	B	C	D	E</a:t>
            </a:r>
          </a:p>
        </p:txBody>
      </p:sp>
      <p:sp>
        <p:nvSpPr>
          <p:cNvPr id="536" name="Shape 565"/>
          <p:cNvSpPr txBox="1"/>
          <p:nvPr/>
        </p:nvSpPr>
        <p:spPr>
          <a:xfrm>
            <a:off x="1244600" y="3310183"/>
            <a:ext cx="61595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6	7	2	5	9</a:t>
            </a:r>
          </a:p>
        </p:txBody>
      </p:sp>
      <p:sp>
        <p:nvSpPr>
          <p:cNvPr id="537" name="Shape 566"/>
          <p:cNvSpPr txBox="1"/>
          <p:nvPr/>
        </p:nvSpPr>
        <p:spPr>
          <a:xfrm>
            <a:off x="1244600" y="4948483"/>
            <a:ext cx="61595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r>
              <a:t>00	01	100	101	11</a:t>
            </a:r>
          </a:p>
        </p:txBody>
      </p:sp>
      <p:sp>
        <p:nvSpPr>
          <p:cNvPr id="538" name="Shape 51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Prefix-free code(前缀编码)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Huffman树的实现</a:t>
            </a:r>
          </a:p>
        </p:txBody>
      </p:sp>
      <p:sp>
        <p:nvSpPr>
          <p:cNvPr id="541" name="private static class Node {…"/>
          <p:cNvSpPr txBox="1"/>
          <p:nvPr/>
        </p:nvSpPr>
        <p:spPr>
          <a:xfrm>
            <a:off x="2060250" y="996884"/>
            <a:ext cx="8040242" cy="444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 {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;// 叶子结点放待编码的符号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Node(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Node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Node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.right 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3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Huffman树的实现</a:t>
            </a:r>
          </a:p>
        </p:txBody>
      </p:sp>
      <p:sp>
        <p:nvSpPr>
          <p:cNvPr id="544" name="private Node root;// 根结点…"/>
          <p:cNvSpPr txBox="1"/>
          <p:nvPr/>
        </p:nvSpPr>
        <p:spPr>
          <a:xfrm>
            <a:off x="97390" y="1350389"/>
            <a:ext cx="12764865" cy="1964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Node </a:t>
            </a:r>
            <a:r>
              <a:rPr>
                <a:solidFill>
                  <a:srgbClr val="0326CC"/>
                </a:solidFill>
              </a:rPr>
              <a:t>root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根结点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float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树中叶子结点的权重之和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Map&lt;Character, Byte[]&gt; </a:t>
            </a:r>
            <a:r>
              <a:rPr>
                <a:solidFill>
                  <a:srgbClr val="0326CC"/>
                </a:solidFill>
              </a:rPr>
              <a:t>coder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存放&lt;符号,编码&gt;，可以考虑使用BitSet替换Byte[]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byte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 0;</a:t>
            </a:r>
            <a:r>
              <a:rPr>
                <a:solidFill>
                  <a:srgbClr val="4E9072"/>
                </a:solidFill>
              </a:rPr>
              <a:t>// 左子树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byte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= 1;</a:t>
            </a:r>
            <a:r>
              <a:rPr>
                <a:solidFill>
                  <a:srgbClr val="4E9072"/>
                </a:solidFill>
              </a:rPr>
              <a:t>// 右子树</a:t>
            </a:r>
          </a:p>
        </p:txBody>
      </p:sp>
      <p:sp>
        <p:nvSpPr>
          <p:cNvPr id="545" name="public int compareTo(HuffmanTree rhd) { // 为了使用优先队列,需要比较大小，值小的获胜…"/>
          <p:cNvSpPr txBox="1"/>
          <p:nvPr/>
        </p:nvSpPr>
        <p:spPr>
          <a:xfrm>
            <a:off x="83160" y="3872715"/>
            <a:ext cx="11768857" cy="1423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19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compareTo(HuffmanTree </a:t>
            </a:r>
            <a:r>
              <a:rPr>
                <a:solidFill>
                  <a:srgbClr val="7E504F"/>
                </a:solidFill>
              </a:rPr>
              <a:t>rhd</a:t>
            </a:r>
            <a:r>
              <a:rPr>
                <a:solidFill>
                  <a:srgbClr val="000000"/>
                </a:solidFill>
              </a:rPr>
              <a:t>) { </a:t>
            </a:r>
            <a:r>
              <a:t>// 为了使用优先队列,需要比较大小，值小的获胜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Float.</a:t>
            </a:r>
            <a:r>
              <a:t>compare</a:t>
            </a:r>
            <a:r>
              <a:t>(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.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合并Huffman树</a:t>
            </a:r>
          </a:p>
        </p:txBody>
      </p:sp>
      <p:sp>
        <p:nvSpPr>
          <p:cNvPr id="548" name="static private HuffmanTree merge(HuffmanTree lhd, HuffmanTree rhd) { // 合并2棵哈夫曼树…"/>
          <p:cNvSpPr txBox="1"/>
          <p:nvPr/>
        </p:nvSpPr>
        <p:spPr>
          <a:xfrm>
            <a:off x="-52212" y="3912897"/>
            <a:ext cx="13004800" cy="3209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HuffmanTree merge(HuffmanTree </a:t>
            </a:r>
            <a:r>
              <a:rPr>
                <a:solidFill>
                  <a:srgbClr val="7E504F"/>
                </a:solidFill>
              </a:rPr>
              <a:t>lhd</a:t>
            </a:r>
            <a:r>
              <a:t>, HuffmanTree </a:t>
            </a:r>
            <a:r>
              <a:rPr>
                <a:solidFill>
                  <a:srgbClr val="7E504F"/>
                </a:solidFill>
              </a:rPr>
              <a:t>rhd</a:t>
            </a:r>
            <a:r>
              <a:t>) { </a:t>
            </a:r>
            <a:r>
              <a:rPr>
                <a:solidFill>
                  <a:srgbClr val="4E9072"/>
                </a:solidFill>
              </a:rPr>
              <a:t>// 合并2棵哈夫曼树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HuffmanTree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HuffmanTree();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Node(</a:t>
            </a:r>
            <a:r>
              <a:rPr>
                <a:solidFill>
                  <a:srgbClr val="3933FF"/>
                </a:solidFill>
              </a:rPr>
              <a:t>'\0'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lhd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rhd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中间结点，\0可以替换成任意的符号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rPr>
                <a:solidFill>
                  <a:srgbClr val="000000"/>
                </a:solidFill>
              </a:rPr>
              <a:t> = </a:t>
            </a:r>
            <a:r>
              <a:t>lhd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rPr>
                <a:solidFill>
                  <a:srgbClr val="000000"/>
                </a:solidFill>
              </a:rPr>
              <a:t> + </a:t>
            </a:r>
            <a:r>
              <a:t>rhd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lhd</a:t>
            </a:r>
            <a:r>
              <a:rPr>
                <a:solidFill>
                  <a:srgbClr val="000000"/>
                </a:solidFill>
              </a:rPr>
              <a:t>.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rhd</a:t>
            </a:r>
            <a:r>
              <a:rPr>
                <a:solidFill>
                  <a:srgbClr val="000000"/>
                </a:solidFill>
              </a:rPr>
              <a:t>.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lhd</a:t>
            </a:r>
            <a:r>
              <a:rPr>
                <a:solidFill>
                  <a:srgbClr val="000000"/>
                </a:solidFill>
              </a:rPr>
              <a:t>.</a:t>
            </a:r>
            <a:r>
              <a:t>weight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rhd</a:t>
            </a:r>
            <a:r>
              <a:rPr>
                <a:solidFill>
                  <a:srgbClr val="000000"/>
                </a:solidFill>
              </a:rPr>
              <a:t>.</a:t>
            </a:r>
            <a:r>
              <a:t>weight</a:t>
            </a:r>
            <a:r>
              <a:rPr>
                <a:solidFill>
                  <a:srgbClr val="000000"/>
                </a:solidFill>
              </a:rPr>
              <a:t> = 0;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19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549" name="private HuffmanTree() {// 空树…"/>
          <p:cNvSpPr txBox="1"/>
          <p:nvPr/>
        </p:nvSpPr>
        <p:spPr>
          <a:xfrm>
            <a:off x="-22578" y="1068718"/>
            <a:ext cx="10123166" cy="254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HuffmanTree() {</a:t>
            </a:r>
            <a:r>
              <a:rPr>
                <a:solidFill>
                  <a:srgbClr val="4E9072"/>
                </a:solidFill>
              </a:rPr>
              <a:t>// 空树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HuffmanTree(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 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, 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 </a:t>
            </a:r>
            <a:r>
              <a:rPr>
                <a:solidFill>
                  <a:srgbClr val="7E504F"/>
                </a:solidFill>
              </a:rPr>
              <a:t>weight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只有根结点的树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t>weight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weight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Node(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建立Huffman树</a:t>
            </a:r>
          </a:p>
        </p:txBody>
      </p:sp>
      <p:sp>
        <p:nvSpPr>
          <p:cNvPr id="552" name="static public HuffmanTree makeTree(char[] symbol, float[] weights) {…"/>
          <p:cNvSpPr txBox="1"/>
          <p:nvPr/>
        </p:nvSpPr>
        <p:spPr>
          <a:xfrm>
            <a:off x="334444" y="1539187"/>
            <a:ext cx="11900967" cy="4577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HuffmanTree makeTree(</a:t>
            </a:r>
            <a:r>
              <a:rPr>
                <a:solidFill>
                  <a:srgbClr val="931A68"/>
                </a:solidFill>
              </a:rPr>
              <a:t>char</a:t>
            </a:r>
            <a:r>
              <a:t>[] 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, 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) { 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weights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symbol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|| </a:t>
            </a:r>
            <a:r>
              <a:t>weights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&lt; 2)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IllegalStateException();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PriorityQueue&lt;HuffmanTree&gt; </a:t>
            </a:r>
            <a:r>
              <a:rPr>
                <a:solidFill>
                  <a:srgbClr val="7E504F"/>
                </a:solidFill>
              </a:rPr>
              <a:t>pq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PriorityQueue&lt;&gt;(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</a:t>
            </a:r>
            <a:r>
              <a:t>// 创建叶子结点对应的霍夫曼树，并入队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pq</a:t>
            </a:r>
            <a:r>
              <a:t>.offer(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HuffmanTree(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],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]));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pq</a:t>
            </a:r>
            <a:r>
              <a:rPr>
                <a:solidFill>
                  <a:srgbClr val="000000"/>
                </a:solidFill>
              </a:rPr>
              <a:t>.size() != 1) {</a:t>
            </a:r>
            <a:r>
              <a:t>// 取2棵最小的树，合并后得到1棵新树，再放入队列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pq</a:t>
            </a:r>
            <a:r>
              <a:t>.offer(merge(</a:t>
            </a:r>
            <a:r>
              <a:rPr>
                <a:solidFill>
                  <a:srgbClr val="7E504F"/>
                </a:solidFill>
              </a:rPr>
              <a:t>pq</a:t>
            </a:r>
            <a:r>
              <a:t>.poll(), </a:t>
            </a:r>
            <a:r>
              <a:rPr>
                <a:solidFill>
                  <a:srgbClr val="7E504F"/>
                </a:solidFill>
              </a:rPr>
              <a:t>pq</a:t>
            </a:r>
            <a:r>
              <a:t>.poll()));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pq</a:t>
            </a:r>
            <a:r>
              <a:t>.poll();</a:t>
            </a:r>
          </a:p>
          <a:p>
            <a:pPr marR="0" indent="0" defTabSz="457200">
              <a:lnSpc>
                <a:spcPct val="120000"/>
              </a:lnSpc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Huffman编码-译码</a:t>
            </a:r>
          </a:p>
        </p:txBody>
      </p:sp>
      <p:sp>
        <p:nvSpPr>
          <p:cNvPr id="555" name="//只能处理1个符号使用了1个char场合…"/>
          <p:cNvSpPr txBox="1"/>
          <p:nvPr/>
        </p:nvSpPr>
        <p:spPr>
          <a:xfrm>
            <a:off x="977491" y="1161985"/>
            <a:ext cx="10173767" cy="3645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//只能处理1个符号使用了1个char场合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HuffmanCoding {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HuffmanTree </a:t>
            </a:r>
            <a:r>
              <a:rPr>
                <a:solidFill>
                  <a:srgbClr val="0326CC"/>
                </a:solidFill>
              </a:rPr>
              <a:t>ht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Map&lt;Character, Byte[]&gt; </a:t>
            </a:r>
            <a:r>
              <a:rPr>
                <a:solidFill>
                  <a:srgbClr val="0326CC"/>
                </a:solidFill>
              </a:rPr>
              <a:t>coder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符号编码表，存放&lt;符号,编码&gt;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byte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 0;</a:t>
            </a:r>
            <a:r>
              <a:t>// 左子树的标识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byte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= 1;</a:t>
            </a:r>
            <a:r>
              <a:t>// 右子树的标识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HuffmanCoding(HuffmanTree </a:t>
            </a:r>
            <a:r>
              <a:rPr>
                <a:solidFill>
                  <a:srgbClr val="7E504F"/>
                </a:solidFill>
              </a:rPr>
              <a:t>ht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ht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获取编码表</a:t>
            </a:r>
          </a:p>
        </p:txBody>
      </p:sp>
      <p:sp>
        <p:nvSpPr>
          <p:cNvPr id="558" name="private void makeCodeList() { // 根据霍夫曼树建立符号编码表…"/>
          <p:cNvSpPr txBox="1"/>
          <p:nvPr/>
        </p:nvSpPr>
        <p:spPr>
          <a:xfrm>
            <a:off x="532014" y="1295335"/>
            <a:ext cx="10986524" cy="265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makeCodeList() { </a:t>
            </a:r>
            <a:r>
              <a:rPr>
                <a:solidFill>
                  <a:srgbClr val="4E9072"/>
                </a:solidFill>
              </a:rPr>
              <a:t>// 根据霍夫曼树建立符号编码表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coder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HashMap&lt;&gt;();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Deque&lt;Byte&gt;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preCoding(</a:t>
            </a:r>
            <a:r>
              <a:rPr>
                <a:solidFill>
                  <a:srgbClr val="0326CC"/>
                </a:solidFill>
              </a:rPr>
              <a:t>ht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preCoding(</a:t>
            </a:r>
            <a:r>
              <a:rPr>
                <a:solidFill>
                  <a:srgbClr val="0326CC"/>
                </a:solidFill>
              </a:rPr>
              <a:t>ht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获取编码表</a:t>
            </a:r>
          </a:p>
        </p:txBody>
      </p:sp>
      <p:sp>
        <p:nvSpPr>
          <p:cNvPr id="561" name="private void preCoding(Node t, byte b, Deque&lt;Byte&gt; stack) {…"/>
          <p:cNvSpPr txBox="1"/>
          <p:nvPr/>
        </p:nvSpPr>
        <p:spPr>
          <a:xfrm>
            <a:off x="315874" y="1078374"/>
            <a:ext cx="12306747" cy="547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preCoding(Node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931A68"/>
                </a:solidFill>
              </a:rPr>
              <a:t>byte</a:t>
            </a:r>
            <a:r>
              <a:t>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Deque&lt;Byte&gt;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为了toArray的次序和从根到叶子结点的路径的次序一致，使用</a:t>
            </a:r>
            <a:r>
              <a:rPr u="sng"/>
              <a:t>Deque</a:t>
            </a:r>
            <a:r>
              <a:t>的右端栈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.addLast(</a:t>
            </a:r>
            <a:r>
              <a:rPr>
                <a:solidFill>
                  <a:srgbClr val="7E504F"/>
                </a:solidFill>
              </a:rPr>
              <a:t>b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&amp;&amp;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叶子结点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Byte[] </a:t>
            </a:r>
            <a:r>
              <a:rPr>
                <a:solidFill>
                  <a:srgbClr val="7E504F"/>
                </a:solidFill>
              </a:rPr>
              <a:t>code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Byte[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.size()];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.toArray(</a:t>
            </a:r>
            <a:r>
              <a:rPr>
                <a:solidFill>
                  <a:srgbClr val="7E504F"/>
                </a:solidFill>
              </a:rPr>
              <a:t>code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coder</a:t>
            </a:r>
            <a:r>
              <a:rPr>
                <a:solidFill>
                  <a:srgbClr val="000000"/>
                </a:solidFill>
              </a:rPr>
              <a:t>.put(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code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preCoding(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preCoding(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.removeLast();</a:t>
            </a:r>
            <a:r>
              <a:rPr>
                <a:solidFill>
                  <a:srgbClr val="4E9072"/>
                </a:solidFill>
              </a:rPr>
              <a:t>// 回溯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611" name="成组"/>
          <p:cNvGrpSpPr/>
          <p:nvPr/>
        </p:nvGrpSpPr>
        <p:grpSpPr>
          <a:xfrm>
            <a:off x="8360623" y="4547521"/>
            <a:ext cx="4371342" cy="4205810"/>
            <a:chOff x="0" y="0"/>
            <a:chExt cx="4371341" cy="4205808"/>
          </a:xfrm>
        </p:grpSpPr>
        <p:sp>
          <p:nvSpPr>
            <p:cNvPr id="562" name="Shape 458"/>
            <p:cNvSpPr txBox="1"/>
            <p:nvPr/>
          </p:nvSpPr>
          <p:spPr>
            <a:xfrm>
              <a:off x="800100" y="256821"/>
              <a:ext cx="6350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63" name="Shape 459"/>
            <p:cNvSpPr txBox="1"/>
            <p:nvPr/>
          </p:nvSpPr>
          <p:spPr>
            <a:xfrm>
              <a:off x="2579792" y="256821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64" name="Shape 460"/>
            <p:cNvSpPr txBox="1"/>
            <p:nvPr/>
          </p:nvSpPr>
          <p:spPr>
            <a:xfrm>
              <a:off x="0" y="1370752"/>
              <a:ext cx="635001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65" name="Shape 466"/>
            <p:cNvSpPr txBox="1"/>
            <p:nvPr/>
          </p:nvSpPr>
          <p:spPr>
            <a:xfrm>
              <a:off x="53058" y="248694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00</a:t>
              </a:r>
            </a:p>
          </p:txBody>
        </p:sp>
        <p:sp>
          <p:nvSpPr>
            <p:cNvPr id="566" name="Shape 461"/>
            <p:cNvSpPr txBox="1"/>
            <p:nvPr/>
          </p:nvSpPr>
          <p:spPr>
            <a:xfrm>
              <a:off x="2965308" y="248468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67" name="Shape 462"/>
            <p:cNvSpPr txBox="1"/>
            <p:nvPr/>
          </p:nvSpPr>
          <p:spPr>
            <a:xfrm>
              <a:off x="2399734" y="1370752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68" name="Shape 463"/>
            <p:cNvSpPr txBox="1"/>
            <p:nvPr/>
          </p:nvSpPr>
          <p:spPr>
            <a:xfrm>
              <a:off x="1828800" y="2484683"/>
              <a:ext cx="6350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69" name="Shape 464"/>
            <p:cNvSpPr txBox="1"/>
            <p:nvPr/>
          </p:nvSpPr>
          <p:spPr>
            <a:xfrm>
              <a:off x="1143000" y="1370752"/>
              <a:ext cx="6350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70" name="Shape 465"/>
            <p:cNvSpPr txBox="1"/>
            <p:nvPr/>
          </p:nvSpPr>
          <p:spPr>
            <a:xfrm>
              <a:off x="3444240" y="1370752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71" name="Shape 467"/>
            <p:cNvSpPr txBox="1"/>
            <p:nvPr/>
          </p:nvSpPr>
          <p:spPr>
            <a:xfrm>
              <a:off x="1079500" y="2486941"/>
              <a:ext cx="527699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01</a:t>
              </a:r>
            </a:p>
          </p:txBody>
        </p:sp>
        <p:sp>
          <p:nvSpPr>
            <p:cNvPr id="572" name="Shape 468"/>
            <p:cNvSpPr txBox="1"/>
            <p:nvPr/>
          </p:nvSpPr>
          <p:spPr>
            <a:xfrm>
              <a:off x="1707161" y="3712914"/>
              <a:ext cx="7055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573" name="Shape 469"/>
            <p:cNvSpPr txBox="1"/>
            <p:nvPr/>
          </p:nvSpPr>
          <p:spPr>
            <a:xfrm>
              <a:off x="2736708" y="3702473"/>
              <a:ext cx="11938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101</a:t>
              </a:r>
            </a:p>
          </p:txBody>
        </p:sp>
        <p:sp>
          <p:nvSpPr>
            <p:cNvPr id="574" name="Shape 470"/>
            <p:cNvSpPr txBox="1"/>
            <p:nvPr/>
          </p:nvSpPr>
          <p:spPr>
            <a:xfrm>
              <a:off x="3431540" y="2486941"/>
              <a:ext cx="9398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11</a:t>
              </a:r>
            </a:p>
          </p:txBody>
        </p:sp>
        <p:grpSp>
          <p:nvGrpSpPr>
            <p:cNvPr id="610" name="Group 513"/>
            <p:cNvGrpSpPr/>
            <p:nvPr/>
          </p:nvGrpSpPr>
          <p:grpSpPr>
            <a:xfrm>
              <a:off x="0" y="-1"/>
              <a:ext cx="3886201" cy="3543868"/>
              <a:chOff x="0" y="0"/>
              <a:chExt cx="3886200" cy="3543866"/>
            </a:xfrm>
          </p:grpSpPr>
          <p:sp>
            <p:nvSpPr>
              <p:cNvPr id="575" name="Shape 478"/>
              <p:cNvSpPr/>
              <p:nvPr/>
            </p:nvSpPr>
            <p:spPr>
              <a:xfrm flipH="1">
                <a:off x="1065447" y="419338"/>
                <a:ext cx="734154" cy="6509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76" name="Shape 479"/>
              <p:cNvSpPr/>
              <p:nvPr/>
            </p:nvSpPr>
            <p:spPr>
              <a:xfrm>
                <a:off x="2290704" y="416763"/>
                <a:ext cx="767675" cy="61952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77" name="Shape 480"/>
              <p:cNvSpPr/>
              <p:nvPr/>
            </p:nvSpPr>
            <p:spPr>
              <a:xfrm flipH="1">
                <a:off x="380125" y="1492384"/>
                <a:ext cx="307471" cy="52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78" name="Shape 481"/>
              <p:cNvSpPr/>
              <p:nvPr/>
            </p:nvSpPr>
            <p:spPr>
              <a:xfrm>
                <a:off x="1055672" y="1517180"/>
                <a:ext cx="220687" cy="40861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581" name="Group 484"/>
              <p:cNvGrpSpPr/>
              <p:nvPr/>
            </p:nvGrpSpPr>
            <p:grpSpPr>
              <a:xfrm>
                <a:off x="1739900" y="0"/>
                <a:ext cx="609600" cy="584767"/>
                <a:chOff x="0" y="0"/>
                <a:chExt cx="609600" cy="584766"/>
              </a:xfrm>
            </p:grpSpPr>
            <p:sp>
              <p:nvSpPr>
                <p:cNvPr id="579" name="Shape 482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80" name="Shape 483"/>
                <p:cNvSpPr txBox="1"/>
                <p:nvPr/>
              </p:nvSpPr>
              <p:spPr>
                <a:xfrm>
                  <a:off x="30998" y="58561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29</a:t>
                  </a:r>
                </a:p>
              </p:txBody>
            </p:sp>
          </p:grpSp>
          <p:grpSp>
            <p:nvGrpSpPr>
              <p:cNvPr id="584" name="Group 487"/>
              <p:cNvGrpSpPr/>
              <p:nvPr/>
            </p:nvGrpSpPr>
            <p:grpSpPr>
              <a:xfrm>
                <a:off x="571500" y="1003300"/>
                <a:ext cx="609600" cy="584767"/>
                <a:chOff x="0" y="0"/>
                <a:chExt cx="609600" cy="584766"/>
              </a:xfrm>
            </p:grpSpPr>
            <p:sp>
              <p:nvSpPr>
                <p:cNvPr id="582" name="Shape 485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83" name="Shape 486"/>
                <p:cNvSpPr txBox="1"/>
                <p:nvPr/>
              </p:nvSpPr>
              <p:spPr>
                <a:xfrm>
                  <a:off x="30998" y="58561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grpSp>
            <p:nvGrpSpPr>
              <p:cNvPr id="587" name="Group 490"/>
              <p:cNvGrpSpPr/>
              <p:nvPr/>
            </p:nvGrpSpPr>
            <p:grpSpPr>
              <a:xfrm>
                <a:off x="-1" y="1955800"/>
                <a:ext cx="609601" cy="584767"/>
                <a:chOff x="0" y="0"/>
                <a:chExt cx="609600" cy="584766"/>
              </a:xfrm>
            </p:grpSpPr>
            <p:sp>
              <p:nvSpPr>
                <p:cNvPr id="585" name="Shape 488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86" name="Shape 489"/>
                <p:cNvSpPr txBox="1"/>
                <p:nvPr/>
              </p:nvSpPr>
              <p:spPr>
                <a:xfrm>
                  <a:off x="107198" y="33161"/>
                  <a:ext cx="3499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590" name="Group 493"/>
              <p:cNvGrpSpPr/>
              <p:nvPr/>
            </p:nvGrpSpPr>
            <p:grpSpPr>
              <a:xfrm>
                <a:off x="1003300" y="1955800"/>
                <a:ext cx="609600" cy="584767"/>
                <a:chOff x="0" y="0"/>
                <a:chExt cx="609600" cy="584766"/>
              </a:xfrm>
            </p:grpSpPr>
            <p:sp>
              <p:nvSpPr>
                <p:cNvPr id="588" name="Shape 491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89" name="Shape 492"/>
                <p:cNvSpPr txBox="1"/>
                <p:nvPr/>
              </p:nvSpPr>
              <p:spPr>
                <a:xfrm>
                  <a:off x="107198" y="33161"/>
                  <a:ext cx="3499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sp>
            <p:nvSpPr>
              <p:cNvPr id="591" name="Shape 494"/>
              <p:cNvSpPr/>
              <p:nvPr/>
            </p:nvSpPr>
            <p:spPr>
              <a:xfrm flipH="1">
                <a:off x="2654300" y="1511300"/>
                <a:ext cx="307471" cy="52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592" name="Shape 495"/>
              <p:cNvSpPr/>
              <p:nvPr/>
            </p:nvSpPr>
            <p:spPr>
              <a:xfrm>
                <a:off x="3327399" y="1524000"/>
                <a:ext cx="220687" cy="40861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595" name="Group 498"/>
              <p:cNvGrpSpPr/>
              <p:nvPr/>
            </p:nvGrpSpPr>
            <p:grpSpPr>
              <a:xfrm>
                <a:off x="2844800" y="1003300"/>
                <a:ext cx="609600" cy="584767"/>
                <a:chOff x="0" y="0"/>
                <a:chExt cx="609600" cy="584766"/>
              </a:xfrm>
            </p:grpSpPr>
            <p:sp>
              <p:nvSpPr>
                <p:cNvPr id="593" name="Shape 496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94" name="Shape 497"/>
                <p:cNvSpPr txBox="1"/>
                <p:nvPr/>
              </p:nvSpPr>
              <p:spPr>
                <a:xfrm>
                  <a:off x="30998" y="58561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16</a:t>
                  </a:r>
                </a:p>
              </p:txBody>
            </p:sp>
          </p:grpSp>
          <p:grpSp>
            <p:nvGrpSpPr>
              <p:cNvPr id="598" name="Group 501"/>
              <p:cNvGrpSpPr/>
              <p:nvPr/>
            </p:nvGrpSpPr>
            <p:grpSpPr>
              <a:xfrm>
                <a:off x="2273300" y="1955800"/>
                <a:ext cx="609600" cy="584767"/>
                <a:chOff x="0" y="0"/>
                <a:chExt cx="609600" cy="584766"/>
              </a:xfrm>
            </p:grpSpPr>
            <p:sp>
              <p:nvSpPr>
                <p:cNvPr id="596" name="Shape 499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597" name="Shape 500"/>
                <p:cNvSpPr txBox="1"/>
                <p:nvPr/>
              </p:nvSpPr>
              <p:spPr>
                <a:xfrm>
                  <a:off x="107198" y="33161"/>
                  <a:ext cx="3499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601" name="Group 504"/>
              <p:cNvGrpSpPr/>
              <p:nvPr/>
            </p:nvGrpSpPr>
            <p:grpSpPr>
              <a:xfrm>
                <a:off x="3276600" y="1955800"/>
                <a:ext cx="609600" cy="584767"/>
                <a:chOff x="0" y="0"/>
                <a:chExt cx="609600" cy="584766"/>
              </a:xfrm>
            </p:grpSpPr>
            <p:sp>
              <p:nvSpPr>
                <p:cNvPr id="599" name="Shape 502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600" name="Shape 503"/>
                <p:cNvSpPr txBox="1"/>
                <p:nvPr/>
              </p:nvSpPr>
              <p:spPr>
                <a:xfrm>
                  <a:off x="107198" y="33161"/>
                  <a:ext cx="3499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sp>
            <p:nvSpPr>
              <p:cNvPr id="602" name="Shape 505"/>
              <p:cNvSpPr/>
              <p:nvPr/>
            </p:nvSpPr>
            <p:spPr>
              <a:xfrm flipH="1">
                <a:off x="2095500" y="2501900"/>
                <a:ext cx="307471" cy="52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603" name="Shape 506"/>
              <p:cNvSpPr/>
              <p:nvPr/>
            </p:nvSpPr>
            <p:spPr>
              <a:xfrm>
                <a:off x="2751385" y="2483890"/>
                <a:ext cx="236041" cy="46263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606" name="Group 509"/>
              <p:cNvGrpSpPr/>
              <p:nvPr/>
            </p:nvGrpSpPr>
            <p:grpSpPr>
              <a:xfrm>
                <a:off x="1714500" y="2959100"/>
                <a:ext cx="609600" cy="584767"/>
                <a:chOff x="0" y="0"/>
                <a:chExt cx="609600" cy="584766"/>
              </a:xfrm>
            </p:grpSpPr>
            <p:sp>
              <p:nvSpPr>
                <p:cNvPr id="604" name="Shape 507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605" name="Shape 508"/>
                <p:cNvSpPr txBox="1"/>
                <p:nvPr/>
              </p:nvSpPr>
              <p:spPr>
                <a:xfrm>
                  <a:off x="107198" y="33161"/>
                  <a:ext cx="3499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609" name="Group 512"/>
              <p:cNvGrpSpPr/>
              <p:nvPr/>
            </p:nvGrpSpPr>
            <p:grpSpPr>
              <a:xfrm>
                <a:off x="2717800" y="2959100"/>
                <a:ext cx="609600" cy="584767"/>
                <a:chOff x="0" y="0"/>
                <a:chExt cx="609600" cy="584766"/>
              </a:xfrm>
            </p:grpSpPr>
            <p:sp>
              <p:nvSpPr>
                <p:cNvPr id="607" name="Shape 510"/>
                <p:cNvSpPr/>
                <p:nvPr/>
              </p:nvSpPr>
              <p:spPr>
                <a:xfrm>
                  <a:off x="0" y="-1"/>
                  <a:ext cx="609600" cy="58476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608" name="Shape 511"/>
                <p:cNvSpPr txBox="1"/>
                <p:nvPr/>
              </p:nvSpPr>
              <p:spPr>
                <a:xfrm>
                  <a:off x="107198" y="33161"/>
                  <a:ext cx="3499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>
                    <a:defRPr sz="28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编码</a:t>
            </a:r>
          </a:p>
        </p:txBody>
      </p:sp>
      <p:sp>
        <p:nvSpPr>
          <p:cNvPr id="614" name="public Byte[] enCoder(String str) {…"/>
          <p:cNvSpPr txBox="1"/>
          <p:nvPr/>
        </p:nvSpPr>
        <p:spPr>
          <a:xfrm>
            <a:off x="1250363" y="872348"/>
            <a:ext cx="10818926" cy="7824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Byte[] enCoder(String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0326CC"/>
                </a:solidFill>
              </a:rPr>
              <a:t>coder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第1次使用这棵哈夫曼树编码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makeCodeList();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.length();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List&lt;Byte[]&gt;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ArrayList&lt;&gt;(</a:t>
            </a:r>
            <a:r>
              <a:rPr>
                <a:solidFill>
                  <a:srgbClr val="7E504F"/>
                </a:solidFill>
              </a:rPr>
              <a:t>len</a:t>
            </a:r>
            <a:r>
              <a:t>); </a:t>
            </a:r>
            <a:r>
              <a:rPr>
                <a:solidFill>
                  <a:srgbClr val="4E9072"/>
                </a:solidFill>
              </a:rPr>
              <a:t>// 存放各字符的编码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= 0;</a:t>
            </a:r>
            <a:r>
              <a:t>// 编码的总长度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len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Byte[]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coder</a:t>
            </a:r>
            <a:r>
              <a:rPr>
                <a:solidFill>
                  <a:srgbClr val="000000"/>
                </a:solidFill>
              </a:rPr>
              <a:t>.get(</a:t>
            </a:r>
            <a:r>
              <a:rPr>
                <a:solidFill>
                  <a:srgbClr val="7E504F"/>
                </a:solidFill>
              </a:rPr>
              <a:t>str</a:t>
            </a:r>
            <a:r>
              <a:rPr>
                <a:solidFill>
                  <a:srgbClr val="000000"/>
                </a:solidFill>
              </a:rPr>
              <a:t>.charAt(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));</a:t>
            </a:r>
            <a:r>
              <a:t>// 查表，获取字符的编码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b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Byte[]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Byte[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]; </a:t>
            </a:r>
            <a:r>
              <a:rPr>
                <a:solidFill>
                  <a:srgbClr val="4E9072"/>
                </a:solidFill>
              </a:rPr>
              <a:t>// </a:t>
            </a:r>
            <a:r>
              <a:rPr u="sng">
                <a:solidFill>
                  <a:srgbClr val="4E9072"/>
                </a:solidFill>
              </a:rPr>
              <a:t>str</a:t>
            </a:r>
            <a:r>
              <a:rPr>
                <a:solidFill>
                  <a:srgbClr val="4E9072"/>
                </a:solidFill>
              </a:rPr>
              <a:t>的编码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= 0;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Byte[]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b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译码</a:t>
            </a:r>
          </a:p>
        </p:txBody>
      </p:sp>
      <p:sp>
        <p:nvSpPr>
          <p:cNvPr id="617" name="public String deCoder(Byte[] code) { // 没有处理一些特殊情况…"/>
          <p:cNvSpPr txBox="1"/>
          <p:nvPr/>
        </p:nvSpPr>
        <p:spPr>
          <a:xfrm>
            <a:off x="926290" y="1282399"/>
            <a:ext cx="10819198" cy="5893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String deCoder(Byte[] </a:t>
            </a:r>
            <a:r>
              <a:rPr>
                <a:solidFill>
                  <a:srgbClr val="7E504F"/>
                </a:solidFill>
              </a:rPr>
              <a:t>code</a:t>
            </a:r>
            <a:r>
              <a:t>) { </a:t>
            </a:r>
            <a:r>
              <a:rPr>
                <a:solidFill>
                  <a:srgbClr val="4E9072"/>
                </a:solidFill>
              </a:rPr>
              <a:t>// 没有处理一些特殊情况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StringBuilder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StringBuilder();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 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ht</a:t>
            </a:r>
            <a: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code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code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].byteValue() ==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else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.</a:t>
            </a:r>
            <a:r>
              <a:t>right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&amp;&amp; 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叶子结点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.append(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叶子结点中存的符号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ht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root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译出一个字符后，再从根开始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.toString();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测试</a:t>
            </a:r>
          </a:p>
        </p:txBody>
      </p:sp>
      <p:sp>
        <p:nvSpPr>
          <p:cNvPr id="620" name="10010111111111010110010101000111011…"/>
          <p:cNvSpPr txBox="1"/>
          <p:nvPr/>
        </p:nvSpPr>
        <p:spPr>
          <a:xfrm>
            <a:off x="2300138" y="5625080"/>
            <a:ext cx="6516143" cy="888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10010111111111010110010101000111011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hello world</a:t>
            </a:r>
          </a:p>
        </p:txBody>
      </p:sp>
      <p:sp>
        <p:nvSpPr>
          <p:cNvPr id="621" name="public static void main(String[] args) {…"/>
          <p:cNvSpPr txBox="1"/>
          <p:nvPr/>
        </p:nvSpPr>
        <p:spPr>
          <a:xfrm>
            <a:off x="142550" y="1244534"/>
            <a:ext cx="12612986" cy="3852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 = { 9f, 7f, 5f, 4f, 2f };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char</a:t>
            </a:r>
            <a:r>
              <a:rPr>
                <a:solidFill>
                  <a:srgbClr val="000000"/>
                </a:solidFill>
              </a:rPr>
              <a:t>[] </a:t>
            </a:r>
            <a:r>
              <a:t>symbol</a:t>
            </a:r>
            <a:r>
              <a:rPr>
                <a:solidFill>
                  <a:srgbClr val="000000"/>
                </a:solidFill>
              </a:rPr>
              <a:t> = { </a:t>
            </a:r>
            <a:r>
              <a:rPr>
                <a:solidFill>
                  <a:srgbClr val="3933FF"/>
                </a:solidFill>
              </a:rPr>
              <a:t>'A'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3933FF"/>
                </a:solidFill>
              </a:rPr>
              <a:t>'B'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3933FF"/>
                </a:solidFill>
              </a:rPr>
              <a:t>'C'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3933FF"/>
                </a:solidFill>
              </a:rPr>
              <a:t>'D'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3933FF"/>
                </a:solidFill>
              </a:rPr>
              <a:t>'E'</a:t>
            </a:r>
            <a:r>
              <a:rPr>
                <a:solidFill>
                  <a:srgbClr val="000000"/>
                </a:solidFill>
              </a:rPr>
              <a:t> };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HuffmanCoding </a:t>
            </a:r>
            <a:r>
              <a:rPr>
                <a:solidFill>
                  <a:srgbClr val="7E504F"/>
                </a:solidFill>
              </a:rPr>
              <a:t>hc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HuffmanCoding(HuffmanTree.makeTree(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,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));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String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 = </a:t>
            </a:r>
            <a:r>
              <a:rPr>
                <a:solidFill>
                  <a:srgbClr val="3933FF"/>
                </a:solidFill>
              </a:rPr>
              <a:t>"ABECD"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Byte[] 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hc</a:t>
            </a:r>
            <a:r>
              <a:t>.enCoder(</a:t>
            </a:r>
            <a:r>
              <a:rPr>
                <a:solidFill>
                  <a:srgbClr val="7E504F"/>
                </a:solidFill>
              </a:rPr>
              <a:t>str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hc</a:t>
            </a:r>
            <a:r>
              <a:t>.deCoder(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));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总结</a:t>
            </a:r>
          </a:p>
        </p:txBody>
      </p:sp>
      <p:sp>
        <p:nvSpPr>
          <p:cNvPr id="624" name="1、哈夫曼树提供了对符号集的一种前缀编码，用于文本压缩、通讯等。"/>
          <p:cNvSpPr txBox="1"/>
          <p:nvPr/>
        </p:nvSpPr>
        <p:spPr>
          <a:xfrm>
            <a:off x="294950" y="1250885"/>
            <a:ext cx="12173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1、哈夫曼树提供了对符号集的一种前缀编码，用于文本压缩、通讯等。</a:t>
            </a:r>
          </a:p>
        </p:txBody>
      </p:sp>
      <p:sp>
        <p:nvSpPr>
          <p:cNvPr id="625" name="2、哈夫曼树算法比较简单，在实现时用到了Map、PriorityQueue等数据结构。很好的说明了算法和数据结构的关系。"/>
          <p:cNvSpPr txBox="1"/>
          <p:nvPr/>
        </p:nvSpPr>
        <p:spPr>
          <a:xfrm>
            <a:off x="298052" y="2204025"/>
            <a:ext cx="12363542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2、哈夫曼树算法比较简单，在实现时用到了Map、PriorityQueue等数据结构。很好的说明了算法和数据结构的关系。</a:t>
            </a:r>
          </a:p>
        </p:txBody>
      </p:sp>
      <p:sp>
        <p:nvSpPr>
          <p:cNvPr id="626" name="3、代码没有考虑各种特殊情形，而且简单的用Byte保存编码，可以考虑用BitSet等替换，或进一步处理成其它形式。"/>
          <p:cNvSpPr txBox="1"/>
          <p:nvPr/>
        </p:nvSpPr>
        <p:spPr>
          <a:xfrm>
            <a:off x="320629" y="3689925"/>
            <a:ext cx="12512184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3、代码没有考虑各种特殊情形，而且简单的用Byte保存编码，可以考虑用BitSet等替换，或进一步处理成其它形式。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处理双char的符号</a:t>
            </a:r>
          </a:p>
        </p:txBody>
      </p:sp>
      <p:sp>
        <p:nvSpPr>
          <p:cNvPr id="629" name="public static void main(String[] args) {…"/>
          <p:cNvSpPr txBox="1"/>
          <p:nvPr/>
        </p:nvSpPr>
        <p:spPr>
          <a:xfrm>
            <a:off x="348332" y="1877178"/>
            <a:ext cx="12155711" cy="4948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float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 = { 0.01f, 0.01f, 0.01f, 0.20f, 0.3f, 0.2f, 0.1f, 0.2f };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String[] 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 = { </a:t>
            </a:r>
            <a:r>
              <a:rPr>
                <a:solidFill>
                  <a:srgbClr val="3933FF"/>
                </a:solidFill>
              </a:rPr>
              <a:t>"𠀁"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"𠀂"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"𠀃"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"汉"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"字"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"1"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"2"</a:t>
            </a:r>
            <a:r>
              <a:t>, </a:t>
            </a:r>
            <a:r>
              <a:rPr>
                <a:solidFill>
                  <a:srgbClr val="3933FF"/>
                </a:solidFill>
              </a:rPr>
              <a:t>"3"</a:t>
            </a:r>
            <a:r>
              <a:t> };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HuffmanTree1 </a:t>
            </a:r>
            <a:r>
              <a:rPr>
                <a:solidFill>
                  <a:srgbClr val="7E504F"/>
                </a:solidFill>
              </a:rPr>
              <a:t>ht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HuffmanTree1(</a:t>
            </a:r>
            <a:r>
              <a:rPr>
                <a:solidFill>
                  <a:srgbClr val="7E504F"/>
                </a:solidFill>
              </a:rPr>
              <a:t>symbol</a:t>
            </a:r>
            <a:r>
              <a:t>, </a:t>
            </a:r>
            <a:r>
              <a:rPr>
                <a:solidFill>
                  <a:srgbClr val="7E504F"/>
                </a:solidFill>
              </a:rPr>
              <a:t>weights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3933F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String </a:t>
            </a:r>
            <a:r>
              <a:rPr>
                <a:solidFill>
                  <a:srgbClr val="7E504F"/>
                </a:solidFill>
              </a:rPr>
              <a:t>str</a:t>
            </a:r>
            <a:r>
              <a:rPr>
                <a:solidFill>
                  <a:srgbClr val="000000"/>
                </a:solidFill>
              </a:rPr>
              <a:t> = </a:t>
            </a:r>
            <a:r>
              <a:t>"𠀁𠀂𠀃汉字123"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Byte[] 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ht</a:t>
            </a:r>
            <a:r>
              <a:t>.coding(</a:t>
            </a:r>
            <a:r>
              <a:rPr>
                <a:solidFill>
                  <a:srgbClr val="7E504F"/>
                </a:solidFill>
              </a:rPr>
              <a:t>str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ht</a:t>
            </a:r>
            <a:r>
              <a:t>.decoding(</a:t>
            </a:r>
            <a:r>
              <a:rPr>
                <a:solidFill>
                  <a:srgbClr val="7E504F"/>
                </a:solidFill>
              </a:rPr>
              <a:t>codes</a:t>
            </a:r>
            <a:r>
              <a:t>));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630" name="𠀁这样的符号不能用1个char，而是2个char，可以使用String"/>
          <p:cNvSpPr txBox="1"/>
          <p:nvPr/>
        </p:nvSpPr>
        <p:spPr>
          <a:xfrm>
            <a:off x="435269" y="1164910"/>
            <a:ext cx="833317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0" indent="0" defTabSz="457200">
              <a:spcBef>
                <a:spcPts val="0"/>
              </a:spcBef>
              <a:defRPr sz="2500">
                <a:uFillTx/>
              </a:defRPr>
            </a:lvl1pPr>
          </a:lstStyle>
          <a:p>
            <a:pPr/>
            <a:r>
              <a:t>𠀁这样的符号不能用1个char，而是2个char，可以使用String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处理双char的符号</a:t>
            </a:r>
          </a:p>
        </p:txBody>
      </p:sp>
      <p:sp>
        <p:nvSpPr>
          <p:cNvPr id="633" name="private static class Node {…"/>
          <p:cNvSpPr txBox="1"/>
          <p:nvPr/>
        </p:nvSpPr>
        <p:spPr>
          <a:xfrm>
            <a:off x="1491332" y="1022285"/>
            <a:ext cx="7430543" cy="3852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 {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 u="sng"/>
              <a:t>String </a:t>
            </a:r>
            <a:r>
              <a:rPr u="sng"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Node(String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Node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Node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t>right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处理双char的符号</a:t>
            </a:r>
          </a:p>
        </p:txBody>
      </p:sp>
      <p:sp>
        <p:nvSpPr>
          <p:cNvPr id="636" name="public Byte[] enCoder(String str) {// 该方法变了…"/>
          <p:cNvSpPr txBox="1"/>
          <p:nvPr/>
        </p:nvSpPr>
        <p:spPr>
          <a:xfrm>
            <a:off x="2131611" y="995305"/>
            <a:ext cx="7575272" cy="8403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Byte[] enCoder(String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该方法变了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0326CC"/>
                </a:solidFill>
              </a:rPr>
              <a:t>coder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第1次编码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makeCodeList();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List&lt;Byte[]&gt;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ArrayList&lt;&gt;();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= 0;</a:t>
            </a:r>
            <a:r>
              <a:t>// 编码的总长度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.length()) {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Byte[]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1个符号需要2个char，高位的char是HighSurrogate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(Character.isHighSurrogate(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.charAt(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))) {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0326CC"/>
                </a:solidFill>
              </a:rPr>
              <a:t>coder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.substring(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+ 2));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i</a:t>
            </a:r>
            <a:r>
              <a:t> += 2;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0326CC"/>
                </a:solidFill>
              </a:rPr>
              <a:t>coder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.substring(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+ 1));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++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b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各个字符的总编码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Byte[]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Byte[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];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= 0;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j</a:t>
            </a:r>
            <a:r>
              <a:t>++) {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Byte[]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j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b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17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7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处理双char的符号</a:t>
            </a:r>
          </a:p>
        </p:txBody>
      </p:sp>
      <p:sp>
        <p:nvSpPr>
          <p:cNvPr id="639" name="// 各个字符的总编码…"/>
          <p:cNvSpPr txBox="1"/>
          <p:nvPr/>
        </p:nvSpPr>
        <p:spPr>
          <a:xfrm>
            <a:off x="2087167" y="1777501"/>
            <a:ext cx="8497442" cy="354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各个字符的总编码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Byte[]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Byte[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];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= 0;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j</a:t>
            </a:r>
            <a:r>
              <a:t>++) {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Byte[]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j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b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处理双char的符号</a:t>
            </a:r>
          </a:p>
        </p:txBody>
      </p:sp>
      <p:sp>
        <p:nvSpPr>
          <p:cNvPr id="642" name="// 各个字符的总编码…"/>
          <p:cNvSpPr txBox="1"/>
          <p:nvPr/>
        </p:nvSpPr>
        <p:spPr>
          <a:xfrm>
            <a:off x="2012032" y="1031800"/>
            <a:ext cx="9198596" cy="3913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各个字符的总编码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Byte[]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Byte[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];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 = 0;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j</a:t>
            </a:r>
            <a:r>
              <a:t>++) {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Byte[]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j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t>arraycopy</a:t>
            </a:r>
            <a:r>
              <a:t>(</a:t>
            </a:r>
            <a:r>
              <a:rPr>
                <a:solidFill>
                  <a:srgbClr val="7E504F"/>
                </a:solidFill>
              </a:rPr>
              <a:t>b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, </a:t>
            </a:r>
            <a:r>
              <a:rPr>
                <a:solidFill>
                  <a:srgbClr val="7E504F"/>
                </a:solidFill>
              </a:rPr>
              <a:t>pos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pos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7E504F"/>
                </a:solidFill>
              </a:rPr>
              <a:t>b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56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作业</a:t>
            </a:r>
          </a:p>
        </p:txBody>
      </p:sp>
      <p:sp>
        <p:nvSpPr>
          <p:cNvPr id="645" name="符号a~e的频率为[4, 6, 7, 9, 10]，画出构造哈夫曼树的详细步骤，…"/>
          <p:cNvSpPr txBox="1"/>
          <p:nvPr/>
        </p:nvSpPr>
        <p:spPr>
          <a:xfrm>
            <a:off x="637850" y="1161985"/>
            <a:ext cx="9092176" cy="1194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defTabSz="457200">
              <a:lnSpc>
                <a:spcPct val="150000"/>
              </a:lnSpc>
              <a:spcBef>
                <a:spcPts val="0"/>
              </a:spcBef>
              <a:defRPr sz="2500">
                <a:uFillTx/>
              </a:defRPr>
            </a:pPr>
            <a:r>
              <a:t>符号a~e的频率为[4, 6, 7, 9, 10]，画出构造哈夫曼树的详细步骤，</a:t>
            </a:r>
          </a:p>
          <a:p>
            <a:pPr marR="0" defTabSz="457200">
              <a:lnSpc>
                <a:spcPct val="150000"/>
              </a:lnSpc>
              <a:spcBef>
                <a:spcPts val="0"/>
              </a:spcBef>
              <a:defRPr sz="2500">
                <a:uFillTx/>
              </a:defRPr>
            </a:pPr>
            <a:r>
              <a:t>并给出每个符号的二进制编码。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grpSp>
        <p:nvGrpSpPr>
          <p:cNvPr id="679" name="成组"/>
          <p:cNvGrpSpPr/>
          <p:nvPr/>
        </p:nvGrpSpPr>
        <p:grpSpPr>
          <a:xfrm>
            <a:off x="1005177" y="1758885"/>
            <a:ext cx="4174351" cy="3881337"/>
            <a:chOff x="0" y="0"/>
            <a:chExt cx="4174350" cy="3881335"/>
          </a:xfrm>
        </p:grpSpPr>
        <p:sp>
          <p:nvSpPr>
            <p:cNvPr id="648" name="Shape 64"/>
            <p:cNvSpPr/>
            <p:nvPr/>
          </p:nvSpPr>
          <p:spPr>
            <a:xfrm>
              <a:off x="3031596" y="2422632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49" name="Shape 64"/>
            <p:cNvSpPr/>
            <p:nvPr/>
          </p:nvSpPr>
          <p:spPr>
            <a:xfrm flipH="1">
              <a:off x="2307696" y="2422632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50" name="Shape 64"/>
            <p:cNvSpPr/>
            <p:nvPr/>
          </p:nvSpPr>
          <p:spPr>
            <a:xfrm>
              <a:off x="3501496" y="1421730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51" name="Shape 64"/>
            <p:cNvSpPr/>
            <p:nvPr/>
          </p:nvSpPr>
          <p:spPr>
            <a:xfrm flipH="1">
              <a:off x="2764896" y="1399023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52" name="Shape 64"/>
            <p:cNvSpPr/>
            <p:nvPr/>
          </p:nvSpPr>
          <p:spPr>
            <a:xfrm>
              <a:off x="991403" y="1399822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53" name="Shape 61"/>
            <p:cNvSpPr/>
            <p:nvPr/>
          </p:nvSpPr>
          <p:spPr>
            <a:xfrm flipH="1">
              <a:off x="998258" y="429107"/>
              <a:ext cx="777164" cy="58563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54" name="Shape 64"/>
            <p:cNvSpPr/>
            <p:nvPr/>
          </p:nvSpPr>
          <p:spPr>
            <a:xfrm flipH="1">
              <a:off x="242103" y="1377114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55" name="Shape 68"/>
            <p:cNvSpPr/>
            <p:nvPr/>
          </p:nvSpPr>
          <p:spPr>
            <a:xfrm>
              <a:off x="1698413" y="0"/>
              <a:ext cx="625407" cy="58025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56" name="Shape 69"/>
            <p:cNvSpPr txBox="1"/>
            <p:nvPr/>
          </p:nvSpPr>
          <p:spPr>
            <a:xfrm>
              <a:off x="1807953" y="88900"/>
              <a:ext cx="35553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657" name="Shape 70"/>
            <p:cNvSpPr/>
            <p:nvPr/>
          </p:nvSpPr>
          <p:spPr>
            <a:xfrm>
              <a:off x="506306" y="874324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58" name="Shape 71"/>
            <p:cNvSpPr/>
            <p:nvPr/>
          </p:nvSpPr>
          <p:spPr>
            <a:xfrm>
              <a:off x="3005948" y="874324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59" name="Shape 72"/>
            <p:cNvSpPr/>
            <p:nvPr/>
          </p:nvSpPr>
          <p:spPr>
            <a:xfrm>
              <a:off x="2085904" y="2883747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60" name="Shape 73"/>
            <p:cNvSpPr/>
            <p:nvPr/>
          </p:nvSpPr>
          <p:spPr>
            <a:xfrm>
              <a:off x="3023446" y="2883747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61" name="Shape 74"/>
            <p:cNvSpPr txBox="1"/>
            <p:nvPr/>
          </p:nvSpPr>
          <p:spPr>
            <a:xfrm>
              <a:off x="640050" y="955604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662" name="Shape 75"/>
            <p:cNvSpPr txBox="1"/>
            <p:nvPr/>
          </p:nvSpPr>
          <p:spPr>
            <a:xfrm>
              <a:off x="3128403" y="955604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663" name="Shape 76"/>
            <p:cNvSpPr txBox="1"/>
            <p:nvPr/>
          </p:nvSpPr>
          <p:spPr>
            <a:xfrm>
              <a:off x="2199959" y="3005949"/>
              <a:ext cx="35553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664" name="Shape 77"/>
            <p:cNvSpPr txBox="1"/>
            <p:nvPr/>
          </p:nvSpPr>
          <p:spPr>
            <a:xfrm>
              <a:off x="3213468" y="3005949"/>
              <a:ext cx="25668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665" name="Shape 78"/>
            <p:cNvSpPr/>
            <p:nvPr/>
          </p:nvSpPr>
          <p:spPr>
            <a:xfrm>
              <a:off x="0" y="1874520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66" name="Shape 79"/>
            <p:cNvSpPr/>
            <p:nvPr/>
          </p:nvSpPr>
          <p:spPr>
            <a:xfrm>
              <a:off x="992575" y="1874520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67" name="Shape 80"/>
            <p:cNvSpPr txBox="1"/>
            <p:nvPr/>
          </p:nvSpPr>
          <p:spPr>
            <a:xfrm>
              <a:off x="139455" y="1963984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668" name="Shape 81"/>
            <p:cNvSpPr txBox="1"/>
            <p:nvPr/>
          </p:nvSpPr>
          <p:spPr>
            <a:xfrm>
              <a:off x="1121627" y="1963984"/>
              <a:ext cx="327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669" name="Shape 82"/>
            <p:cNvSpPr/>
            <p:nvPr/>
          </p:nvSpPr>
          <p:spPr>
            <a:xfrm>
              <a:off x="2568786" y="1874520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70" name="Shape 83"/>
            <p:cNvSpPr/>
            <p:nvPr/>
          </p:nvSpPr>
          <p:spPr>
            <a:xfrm>
              <a:off x="3485162" y="1874520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71" name="Shape 84"/>
            <p:cNvSpPr txBox="1"/>
            <p:nvPr/>
          </p:nvSpPr>
          <p:spPr>
            <a:xfrm>
              <a:off x="2710102" y="1963984"/>
              <a:ext cx="31336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672" name="Shape 85"/>
            <p:cNvSpPr txBox="1"/>
            <p:nvPr/>
          </p:nvSpPr>
          <p:spPr>
            <a:xfrm>
              <a:off x="3620832" y="1963984"/>
              <a:ext cx="35553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673" name="Shape 87"/>
            <p:cNvSpPr txBox="1"/>
            <p:nvPr/>
          </p:nvSpPr>
          <p:spPr>
            <a:xfrm>
              <a:off x="1111672" y="2440092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674" name="Shape 88"/>
            <p:cNvSpPr txBox="1"/>
            <p:nvPr/>
          </p:nvSpPr>
          <p:spPr>
            <a:xfrm>
              <a:off x="2220523" y="3498425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75" name="Shape 89"/>
            <p:cNvSpPr txBox="1"/>
            <p:nvPr/>
          </p:nvSpPr>
          <p:spPr>
            <a:xfrm>
              <a:off x="3205197" y="3490807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676" name="Shape 90"/>
            <p:cNvSpPr txBox="1"/>
            <p:nvPr/>
          </p:nvSpPr>
          <p:spPr>
            <a:xfrm>
              <a:off x="3653649" y="2440092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677" name="Shape 92"/>
            <p:cNvSpPr txBox="1"/>
            <p:nvPr/>
          </p:nvSpPr>
          <p:spPr>
            <a:xfrm>
              <a:off x="146472" y="2440092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678" name="Shape 61"/>
            <p:cNvSpPr/>
            <p:nvPr/>
          </p:nvSpPr>
          <p:spPr>
            <a:xfrm>
              <a:off x="2285446" y="429107"/>
              <a:ext cx="777164" cy="58563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grpSp>
        <p:nvGrpSpPr>
          <p:cNvPr id="711" name="成组"/>
          <p:cNvGrpSpPr/>
          <p:nvPr/>
        </p:nvGrpSpPr>
        <p:grpSpPr>
          <a:xfrm>
            <a:off x="6412978" y="1758885"/>
            <a:ext cx="3345402" cy="5024337"/>
            <a:chOff x="0" y="0"/>
            <a:chExt cx="3345401" cy="5024335"/>
          </a:xfrm>
        </p:grpSpPr>
        <p:sp>
          <p:nvSpPr>
            <p:cNvPr id="680" name="Shape 64"/>
            <p:cNvSpPr/>
            <p:nvPr/>
          </p:nvSpPr>
          <p:spPr>
            <a:xfrm>
              <a:off x="2618371" y="542799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1" name="Shape 64"/>
            <p:cNvSpPr/>
            <p:nvPr/>
          </p:nvSpPr>
          <p:spPr>
            <a:xfrm>
              <a:off x="945692" y="3565632"/>
              <a:ext cx="399713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2" name="Shape 64"/>
            <p:cNvSpPr/>
            <p:nvPr/>
          </p:nvSpPr>
          <p:spPr>
            <a:xfrm flipH="1">
              <a:off x="221792" y="3565632"/>
              <a:ext cx="399713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3" name="Shape 64"/>
            <p:cNvSpPr/>
            <p:nvPr/>
          </p:nvSpPr>
          <p:spPr>
            <a:xfrm>
              <a:off x="1451497" y="2643623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4" name="Shape 64"/>
            <p:cNvSpPr/>
            <p:nvPr/>
          </p:nvSpPr>
          <p:spPr>
            <a:xfrm flipH="1">
              <a:off x="678992" y="2643623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5" name="Shape 64"/>
            <p:cNvSpPr/>
            <p:nvPr/>
          </p:nvSpPr>
          <p:spPr>
            <a:xfrm>
              <a:off x="1957971" y="1641122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6" name="Shape 64"/>
            <p:cNvSpPr/>
            <p:nvPr/>
          </p:nvSpPr>
          <p:spPr>
            <a:xfrm flipH="1">
              <a:off x="1208671" y="1618415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687" name="Shape 68"/>
            <p:cNvSpPr/>
            <p:nvPr/>
          </p:nvSpPr>
          <p:spPr>
            <a:xfrm>
              <a:off x="2156980" y="0"/>
              <a:ext cx="625407" cy="58025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88" name="Shape 69"/>
            <p:cNvSpPr txBox="1"/>
            <p:nvPr/>
          </p:nvSpPr>
          <p:spPr>
            <a:xfrm>
              <a:off x="2266521" y="88900"/>
              <a:ext cx="355531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689" name="Shape 70"/>
            <p:cNvSpPr/>
            <p:nvPr/>
          </p:nvSpPr>
          <p:spPr>
            <a:xfrm>
              <a:off x="1472873" y="1115624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90" name="Shape 71"/>
            <p:cNvSpPr/>
            <p:nvPr/>
          </p:nvSpPr>
          <p:spPr>
            <a:xfrm>
              <a:off x="2676845" y="1115624"/>
              <a:ext cx="625407" cy="58250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91" name="Shape 72"/>
            <p:cNvSpPr/>
            <p:nvPr/>
          </p:nvSpPr>
          <p:spPr>
            <a:xfrm>
              <a:off x="0" y="4026748"/>
              <a:ext cx="623149" cy="5842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92" name="Shape 73"/>
            <p:cNvSpPr/>
            <p:nvPr/>
          </p:nvSpPr>
          <p:spPr>
            <a:xfrm>
              <a:off x="937541" y="4026748"/>
              <a:ext cx="625408" cy="5842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93" name="Shape 74"/>
            <p:cNvSpPr txBox="1"/>
            <p:nvPr/>
          </p:nvSpPr>
          <p:spPr>
            <a:xfrm>
              <a:off x="1593917" y="1196904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694" name="Shape 75"/>
            <p:cNvSpPr txBox="1"/>
            <p:nvPr/>
          </p:nvSpPr>
          <p:spPr>
            <a:xfrm>
              <a:off x="2799300" y="1196904"/>
              <a:ext cx="35553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695" name="Shape 76"/>
            <p:cNvSpPr txBox="1"/>
            <p:nvPr/>
          </p:nvSpPr>
          <p:spPr>
            <a:xfrm>
              <a:off x="114055" y="4148949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696" name="Shape 77"/>
            <p:cNvSpPr txBox="1"/>
            <p:nvPr/>
          </p:nvSpPr>
          <p:spPr>
            <a:xfrm>
              <a:off x="1089464" y="4148949"/>
              <a:ext cx="35553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697" name="Shape 78"/>
            <p:cNvSpPr/>
            <p:nvPr/>
          </p:nvSpPr>
          <p:spPr>
            <a:xfrm>
              <a:off x="966568" y="2115820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98" name="Shape 79"/>
            <p:cNvSpPr/>
            <p:nvPr/>
          </p:nvSpPr>
          <p:spPr>
            <a:xfrm>
              <a:off x="1959143" y="2115820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99" name="Shape 80"/>
            <p:cNvSpPr txBox="1"/>
            <p:nvPr/>
          </p:nvSpPr>
          <p:spPr>
            <a:xfrm>
              <a:off x="1067923" y="2205284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700" name="Shape 81"/>
            <p:cNvSpPr txBox="1"/>
            <p:nvPr/>
          </p:nvSpPr>
          <p:spPr>
            <a:xfrm>
              <a:off x="2126295" y="2217984"/>
              <a:ext cx="25668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701" name="Shape 82"/>
            <p:cNvSpPr/>
            <p:nvPr/>
          </p:nvSpPr>
          <p:spPr>
            <a:xfrm>
              <a:off x="482882" y="3017520"/>
              <a:ext cx="623149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702" name="Shape 83"/>
            <p:cNvSpPr/>
            <p:nvPr/>
          </p:nvSpPr>
          <p:spPr>
            <a:xfrm>
              <a:off x="1435162" y="3128018"/>
              <a:ext cx="625407" cy="5842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703" name="Shape 84"/>
            <p:cNvSpPr txBox="1"/>
            <p:nvPr/>
          </p:nvSpPr>
          <p:spPr>
            <a:xfrm>
              <a:off x="611498" y="3119684"/>
              <a:ext cx="31336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704" name="Shape 85"/>
            <p:cNvSpPr txBox="1"/>
            <p:nvPr/>
          </p:nvSpPr>
          <p:spPr>
            <a:xfrm>
              <a:off x="1570832" y="3192082"/>
              <a:ext cx="32725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705" name="Shape 87"/>
            <p:cNvSpPr txBox="1"/>
            <p:nvPr/>
          </p:nvSpPr>
          <p:spPr>
            <a:xfrm>
              <a:off x="2078240" y="2681392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706" name="Shape 88"/>
            <p:cNvSpPr txBox="1"/>
            <p:nvPr/>
          </p:nvSpPr>
          <p:spPr>
            <a:xfrm>
              <a:off x="134619" y="4641425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707" name="Shape 89"/>
            <p:cNvSpPr txBox="1"/>
            <p:nvPr/>
          </p:nvSpPr>
          <p:spPr>
            <a:xfrm>
              <a:off x="1119293" y="4633807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708" name="Shape 90"/>
            <p:cNvSpPr txBox="1"/>
            <p:nvPr/>
          </p:nvSpPr>
          <p:spPr>
            <a:xfrm>
              <a:off x="1603648" y="3693590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709" name="Shape 92"/>
            <p:cNvSpPr txBox="1"/>
            <p:nvPr/>
          </p:nvSpPr>
          <p:spPr>
            <a:xfrm>
              <a:off x="2824700" y="1732019"/>
              <a:ext cx="52070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10" name="Shape 64"/>
            <p:cNvSpPr/>
            <p:nvPr/>
          </p:nvSpPr>
          <p:spPr>
            <a:xfrm flipH="1">
              <a:off x="1869071" y="520091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grpSp>
        <p:nvGrpSpPr>
          <p:cNvPr id="729" name="成组"/>
          <p:cNvGrpSpPr/>
          <p:nvPr/>
        </p:nvGrpSpPr>
        <p:grpSpPr>
          <a:xfrm>
            <a:off x="314564" y="1504885"/>
            <a:ext cx="4342975" cy="535865"/>
            <a:chOff x="0" y="0"/>
            <a:chExt cx="4342974" cy="535863"/>
          </a:xfrm>
        </p:grpSpPr>
        <p:grpSp>
          <p:nvGrpSpPr>
            <p:cNvPr id="716" name="成组"/>
            <p:cNvGrpSpPr/>
            <p:nvPr/>
          </p:nvGrpSpPr>
          <p:grpSpPr>
            <a:xfrm>
              <a:off x="0" y="0"/>
              <a:ext cx="535864" cy="535864"/>
              <a:chOff x="0" y="0"/>
              <a:chExt cx="535863" cy="535863"/>
            </a:xfrm>
          </p:grpSpPr>
          <p:sp>
            <p:nvSpPr>
              <p:cNvPr id="714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15" name="9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719" name="成组"/>
            <p:cNvGrpSpPr/>
            <p:nvPr/>
          </p:nvGrpSpPr>
          <p:grpSpPr>
            <a:xfrm>
              <a:off x="952500" y="0"/>
              <a:ext cx="535864" cy="535864"/>
              <a:chOff x="0" y="0"/>
              <a:chExt cx="535863" cy="535863"/>
            </a:xfrm>
          </p:grpSpPr>
          <p:sp>
            <p:nvSpPr>
              <p:cNvPr id="717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18" name="7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722" name="成组"/>
            <p:cNvGrpSpPr/>
            <p:nvPr/>
          </p:nvGrpSpPr>
          <p:grpSpPr>
            <a:xfrm>
              <a:off x="1905000" y="0"/>
              <a:ext cx="535864" cy="535864"/>
              <a:chOff x="0" y="0"/>
              <a:chExt cx="535863" cy="535863"/>
            </a:xfrm>
          </p:grpSpPr>
          <p:sp>
            <p:nvSpPr>
              <p:cNvPr id="720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21" name="5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725" name="成组"/>
            <p:cNvGrpSpPr/>
            <p:nvPr/>
          </p:nvGrpSpPr>
          <p:grpSpPr>
            <a:xfrm>
              <a:off x="2864118" y="0"/>
              <a:ext cx="535865" cy="535864"/>
              <a:chOff x="0" y="0"/>
              <a:chExt cx="535863" cy="535863"/>
            </a:xfrm>
          </p:grpSpPr>
          <p:sp>
            <p:nvSpPr>
              <p:cNvPr id="723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24" name="4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728" name="成组"/>
            <p:cNvGrpSpPr/>
            <p:nvPr/>
          </p:nvGrpSpPr>
          <p:grpSpPr>
            <a:xfrm>
              <a:off x="3807110" y="0"/>
              <a:ext cx="535865" cy="535864"/>
              <a:chOff x="0" y="0"/>
              <a:chExt cx="535863" cy="535863"/>
            </a:xfrm>
          </p:grpSpPr>
          <p:sp>
            <p:nvSpPr>
              <p:cNvPr id="726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27" name="2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</a:t>
                </a:r>
              </a:p>
            </p:txBody>
          </p:sp>
        </p:grpSp>
      </p:grpSp>
      <p:grpSp>
        <p:nvGrpSpPr>
          <p:cNvPr id="762" name="成组"/>
          <p:cNvGrpSpPr/>
          <p:nvPr/>
        </p:nvGrpSpPr>
        <p:grpSpPr>
          <a:xfrm>
            <a:off x="5658397" y="2958329"/>
            <a:ext cx="3308520" cy="2199565"/>
            <a:chOff x="0" y="0"/>
            <a:chExt cx="3308518" cy="2199563"/>
          </a:xfrm>
        </p:grpSpPr>
        <p:grpSp>
          <p:nvGrpSpPr>
            <p:cNvPr id="749" name="成组"/>
            <p:cNvGrpSpPr/>
            <p:nvPr/>
          </p:nvGrpSpPr>
          <p:grpSpPr>
            <a:xfrm>
              <a:off x="1424864" y="0"/>
              <a:ext cx="1883655" cy="2199564"/>
              <a:chOff x="0" y="0"/>
              <a:chExt cx="1883654" cy="2199563"/>
            </a:xfrm>
          </p:grpSpPr>
          <p:sp>
            <p:nvSpPr>
              <p:cNvPr id="730" name="Shape 64"/>
              <p:cNvSpPr/>
              <p:nvPr/>
            </p:nvSpPr>
            <p:spPr>
              <a:xfrm flipH="1">
                <a:off x="649631" y="490908"/>
                <a:ext cx="399714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31" name="Shape 64"/>
              <p:cNvSpPr/>
              <p:nvPr/>
            </p:nvSpPr>
            <p:spPr>
              <a:xfrm>
                <a:off x="1386231" y="490908"/>
                <a:ext cx="399714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734" name="成组"/>
              <p:cNvGrpSpPr/>
              <p:nvPr/>
            </p:nvGrpSpPr>
            <p:grpSpPr>
              <a:xfrm>
                <a:off x="1347790" y="850900"/>
                <a:ext cx="535865" cy="535864"/>
                <a:chOff x="0" y="0"/>
                <a:chExt cx="535863" cy="535863"/>
              </a:xfrm>
            </p:grpSpPr>
            <p:sp>
              <p:nvSpPr>
                <p:cNvPr id="732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33" name="5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sp>
            <p:nvSpPr>
              <p:cNvPr id="735" name="Shape 64"/>
              <p:cNvSpPr/>
              <p:nvPr/>
            </p:nvSpPr>
            <p:spPr>
              <a:xfrm>
                <a:off x="842775" y="1339115"/>
                <a:ext cx="399713" cy="61550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36" name="Shape 64"/>
              <p:cNvSpPr/>
              <p:nvPr/>
            </p:nvSpPr>
            <p:spPr>
              <a:xfrm flipH="1">
                <a:off x="106175" y="1316408"/>
                <a:ext cx="399713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739" name="成组"/>
              <p:cNvGrpSpPr/>
              <p:nvPr/>
            </p:nvGrpSpPr>
            <p:grpSpPr>
              <a:xfrm>
                <a:off x="0" y="1663700"/>
                <a:ext cx="535864" cy="535864"/>
                <a:chOff x="0" y="0"/>
                <a:chExt cx="535863" cy="535863"/>
              </a:xfrm>
            </p:grpSpPr>
            <p:sp>
              <p:nvSpPr>
                <p:cNvPr id="737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38" name="4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742" name="成组"/>
              <p:cNvGrpSpPr/>
              <p:nvPr/>
            </p:nvGrpSpPr>
            <p:grpSpPr>
              <a:xfrm>
                <a:off x="797456" y="1663700"/>
                <a:ext cx="535865" cy="535864"/>
                <a:chOff x="0" y="0"/>
                <a:chExt cx="535863" cy="535863"/>
              </a:xfrm>
            </p:grpSpPr>
            <p:sp>
              <p:nvSpPr>
                <p:cNvPr id="740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41" name="2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745" name="成组"/>
              <p:cNvGrpSpPr/>
              <p:nvPr/>
            </p:nvGrpSpPr>
            <p:grpSpPr>
              <a:xfrm>
                <a:off x="419100" y="850900"/>
                <a:ext cx="535864" cy="535864"/>
                <a:chOff x="0" y="0"/>
                <a:chExt cx="535863" cy="535863"/>
              </a:xfrm>
            </p:grpSpPr>
            <p:sp>
              <p:nvSpPr>
                <p:cNvPr id="743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44" name="6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748" name="成组"/>
              <p:cNvGrpSpPr/>
              <p:nvPr/>
            </p:nvGrpSpPr>
            <p:grpSpPr>
              <a:xfrm>
                <a:off x="949856" y="0"/>
                <a:ext cx="535865" cy="535864"/>
                <a:chOff x="0" y="0"/>
                <a:chExt cx="535863" cy="535863"/>
              </a:xfrm>
            </p:grpSpPr>
            <p:sp>
              <p:nvSpPr>
                <p:cNvPr id="746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47" name="11"/>
                <p:cNvSpPr txBox="1"/>
                <p:nvPr/>
              </p:nvSpPr>
              <p:spPr>
                <a:xfrm>
                  <a:off x="42182" y="76476"/>
                  <a:ext cx="41667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11</a:t>
                  </a:r>
                </a:p>
              </p:txBody>
            </p:sp>
          </p:grpSp>
        </p:grpSp>
        <p:grpSp>
          <p:nvGrpSpPr>
            <p:cNvPr id="761" name="成组"/>
            <p:cNvGrpSpPr/>
            <p:nvPr/>
          </p:nvGrpSpPr>
          <p:grpSpPr>
            <a:xfrm>
              <a:off x="0" y="0"/>
              <a:ext cx="1424864" cy="1424864"/>
              <a:chOff x="0" y="0"/>
              <a:chExt cx="1424863" cy="1424863"/>
            </a:xfrm>
          </p:grpSpPr>
          <p:sp>
            <p:nvSpPr>
              <p:cNvPr id="750" name="Shape 64"/>
              <p:cNvSpPr/>
              <p:nvPr/>
            </p:nvSpPr>
            <p:spPr>
              <a:xfrm>
                <a:off x="880876" y="500915"/>
                <a:ext cx="399713" cy="61550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51" name="Shape 64"/>
              <p:cNvSpPr/>
              <p:nvPr/>
            </p:nvSpPr>
            <p:spPr>
              <a:xfrm flipH="1">
                <a:off x="144275" y="478208"/>
                <a:ext cx="399714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754" name="成组"/>
              <p:cNvGrpSpPr/>
              <p:nvPr/>
            </p:nvGrpSpPr>
            <p:grpSpPr>
              <a:xfrm>
                <a:off x="0" y="889000"/>
                <a:ext cx="535864" cy="535864"/>
                <a:chOff x="0" y="0"/>
                <a:chExt cx="535863" cy="535863"/>
              </a:xfrm>
            </p:grpSpPr>
            <p:sp>
              <p:nvSpPr>
                <p:cNvPr id="752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53" name="9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grpSp>
            <p:nvGrpSpPr>
              <p:cNvPr id="757" name="成组"/>
              <p:cNvGrpSpPr/>
              <p:nvPr/>
            </p:nvGrpSpPr>
            <p:grpSpPr>
              <a:xfrm>
                <a:off x="889000" y="889000"/>
                <a:ext cx="535864" cy="535864"/>
                <a:chOff x="0" y="0"/>
                <a:chExt cx="535863" cy="535863"/>
              </a:xfrm>
            </p:grpSpPr>
            <p:sp>
              <p:nvSpPr>
                <p:cNvPr id="755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56" name="7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760" name="成组"/>
              <p:cNvGrpSpPr/>
              <p:nvPr/>
            </p:nvGrpSpPr>
            <p:grpSpPr>
              <a:xfrm>
                <a:off x="457200" y="0"/>
                <a:ext cx="535864" cy="535864"/>
                <a:chOff x="0" y="0"/>
                <a:chExt cx="535863" cy="535863"/>
              </a:xfrm>
            </p:grpSpPr>
            <p:sp>
              <p:nvSpPr>
                <p:cNvPr id="758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59" name="16"/>
                <p:cNvSpPr txBox="1"/>
                <p:nvPr/>
              </p:nvSpPr>
              <p:spPr>
                <a:xfrm>
                  <a:off x="4082" y="76476"/>
                  <a:ext cx="426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16</a:t>
                  </a:r>
                </a:p>
              </p:txBody>
            </p:sp>
          </p:grpSp>
        </p:grpSp>
      </p:grpSp>
      <p:grpSp>
        <p:nvGrpSpPr>
          <p:cNvPr id="784" name="成组"/>
          <p:cNvGrpSpPr/>
          <p:nvPr/>
        </p:nvGrpSpPr>
        <p:grpSpPr>
          <a:xfrm>
            <a:off x="5740730" y="1161985"/>
            <a:ext cx="3806384" cy="1348665"/>
            <a:chOff x="0" y="0"/>
            <a:chExt cx="3806382" cy="1348663"/>
          </a:xfrm>
        </p:grpSpPr>
        <p:grpSp>
          <p:nvGrpSpPr>
            <p:cNvPr id="765" name="成组"/>
            <p:cNvGrpSpPr/>
            <p:nvPr/>
          </p:nvGrpSpPr>
          <p:grpSpPr>
            <a:xfrm>
              <a:off x="0" y="0"/>
              <a:ext cx="535864" cy="535864"/>
              <a:chOff x="0" y="0"/>
              <a:chExt cx="535863" cy="535863"/>
            </a:xfrm>
          </p:grpSpPr>
          <p:sp>
            <p:nvSpPr>
              <p:cNvPr id="763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64" name="9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768" name="成组"/>
            <p:cNvGrpSpPr/>
            <p:nvPr/>
          </p:nvGrpSpPr>
          <p:grpSpPr>
            <a:xfrm>
              <a:off x="952500" y="0"/>
              <a:ext cx="535864" cy="535864"/>
              <a:chOff x="0" y="0"/>
              <a:chExt cx="535863" cy="535863"/>
            </a:xfrm>
          </p:grpSpPr>
          <p:sp>
            <p:nvSpPr>
              <p:cNvPr id="766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67" name="7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771" name="成组"/>
            <p:cNvGrpSpPr/>
            <p:nvPr/>
          </p:nvGrpSpPr>
          <p:grpSpPr>
            <a:xfrm>
              <a:off x="1905000" y="0"/>
              <a:ext cx="535864" cy="535864"/>
              <a:chOff x="0" y="0"/>
              <a:chExt cx="535863" cy="535863"/>
            </a:xfrm>
          </p:grpSpPr>
          <p:sp>
            <p:nvSpPr>
              <p:cNvPr id="769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70" name="5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783" name="成组"/>
            <p:cNvGrpSpPr/>
            <p:nvPr/>
          </p:nvGrpSpPr>
          <p:grpSpPr>
            <a:xfrm>
              <a:off x="2473062" y="0"/>
              <a:ext cx="1333321" cy="1348664"/>
              <a:chOff x="0" y="0"/>
              <a:chExt cx="1333320" cy="1348663"/>
            </a:xfrm>
          </p:grpSpPr>
          <p:sp>
            <p:nvSpPr>
              <p:cNvPr id="772" name="Shape 64"/>
              <p:cNvSpPr/>
              <p:nvPr/>
            </p:nvSpPr>
            <p:spPr>
              <a:xfrm>
                <a:off x="842775" y="488215"/>
                <a:ext cx="399713" cy="61550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73" name="Shape 64"/>
              <p:cNvSpPr/>
              <p:nvPr/>
            </p:nvSpPr>
            <p:spPr>
              <a:xfrm flipH="1">
                <a:off x="106175" y="465508"/>
                <a:ext cx="399713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776" name="成组"/>
              <p:cNvGrpSpPr/>
              <p:nvPr/>
            </p:nvGrpSpPr>
            <p:grpSpPr>
              <a:xfrm>
                <a:off x="0" y="812800"/>
                <a:ext cx="535864" cy="535864"/>
                <a:chOff x="0" y="0"/>
                <a:chExt cx="535863" cy="535863"/>
              </a:xfrm>
            </p:grpSpPr>
            <p:sp>
              <p:nvSpPr>
                <p:cNvPr id="774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75" name="4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779" name="成组"/>
              <p:cNvGrpSpPr/>
              <p:nvPr/>
            </p:nvGrpSpPr>
            <p:grpSpPr>
              <a:xfrm>
                <a:off x="797456" y="812800"/>
                <a:ext cx="535865" cy="535864"/>
                <a:chOff x="0" y="0"/>
                <a:chExt cx="535863" cy="535863"/>
              </a:xfrm>
            </p:grpSpPr>
            <p:sp>
              <p:nvSpPr>
                <p:cNvPr id="777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78" name="2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782" name="成组"/>
              <p:cNvGrpSpPr/>
              <p:nvPr/>
            </p:nvGrpSpPr>
            <p:grpSpPr>
              <a:xfrm>
                <a:off x="419100" y="0"/>
                <a:ext cx="535864" cy="535864"/>
                <a:chOff x="0" y="0"/>
                <a:chExt cx="535863" cy="535863"/>
              </a:xfrm>
            </p:grpSpPr>
            <p:sp>
              <p:nvSpPr>
                <p:cNvPr id="780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81" name="6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</p:grpSp>
      </p:grpSp>
      <p:grpSp>
        <p:nvGrpSpPr>
          <p:cNvPr id="812" name="成组"/>
          <p:cNvGrpSpPr/>
          <p:nvPr/>
        </p:nvGrpSpPr>
        <p:grpSpPr>
          <a:xfrm>
            <a:off x="167752" y="2958329"/>
            <a:ext cx="2823275" cy="2199565"/>
            <a:chOff x="0" y="0"/>
            <a:chExt cx="2823273" cy="2199563"/>
          </a:xfrm>
        </p:grpSpPr>
        <p:grpSp>
          <p:nvGrpSpPr>
            <p:cNvPr id="787" name="成组"/>
            <p:cNvGrpSpPr/>
            <p:nvPr/>
          </p:nvGrpSpPr>
          <p:grpSpPr>
            <a:xfrm>
              <a:off x="0" y="0"/>
              <a:ext cx="535864" cy="535864"/>
              <a:chOff x="0" y="0"/>
              <a:chExt cx="535863" cy="535863"/>
            </a:xfrm>
          </p:grpSpPr>
          <p:sp>
            <p:nvSpPr>
              <p:cNvPr id="785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86" name="9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790" name="成组"/>
            <p:cNvGrpSpPr/>
            <p:nvPr/>
          </p:nvGrpSpPr>
          <p:grpSpPr>
            <a:xfrm>
              <a:off x="952500" y="0"/>
              <a:ext cx="535864" cy="535864"/>
              <a:chOff x="0" y="0"/>
              <a:chExt cx="535863" cy="535863"/>
            </a:xfrm>
          </p:grpSpPr>
          <p:sp>
            <p:nvSpPr>
              <p:cNvPr id="788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89" name="7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811" name="成组"/>
            <p:cNvGrpSpPr/>
            <p:nvPr/>
          </p:nvGrpSpPr>
          <p:grpSpPr>
            <a:xfrm>
              <a:off x="939618" y="0"/>
              <a:ext cx="1883656" cy="2199564"/>
              <a:chOff x="0" y="0"/>
              <a:chExt cx="1883654" cy="2199563"/>
            </a:xfrm>
          </p:grpSpPr>
          <p:sp>
            <p:nvSpPr>
              <p:cNvPr id="791" name="Shape 64"/>
              <p:cNvSpPr/>
              <p:nvPr/>
            </p:nvSpPr>
            <p:spPr>
              <a:xfrm flipH="1">
                <a:off x="649631" y="490908"/>
                <a:ext cx="399714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792" name="Shape 64"/>
              <p:cNvSpPr/>
              <p:nvPr/>
            </p:nvSpPr>
            <p:spPr>
              <a:xfrm>
                <a:off x="1386231" y="490908"/>
                <a:ext cx="399714" cy="61550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795" name="成组"/>
              <p:cNvGrpSpPr/>
              <p:nvPr/>
            </p:nvGrpSpPr>
            <p:grpSpPr>
              <a:xfrm>
                <a:off x="1347790" y="850900"/>
                <a:ext cx="535865" cy="535864"/>
                <a:chOff x="0" y="0"/>
                <a:chExt cx="535863" cy="535863"/>
              </a:xfrm>
            </p:grpSpPr>
            <p:sp>
              <p:nvSpPr>
                <p:cNvPr id="793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94" name="5"/>
                <p:cNvSpPr txBox="1"/>
                <p:nvPr/>
              </p:nvSpPr>
              <p:spPr>
                <a:xfrm>
                  <a:off x="92982" y="76476"/>
                  <a:ext cx="299100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grpSp>
            <p:nvGrpSpPr>
              <p:cNvPr id="807" name="成组"/>
              <p:cNvGrpSpPr/>
              <p:nvPr/>
            </p:nvGrpSpPr>
            <p:grpSpPr>
              <a:xfrm>
                <a:off x="0" y="850900"/>
                <a:ext cx="1333321" cy="1348664"/>
                <a:chOff x="0" y="0"/>
                <a:chExt cx="1333320" cy="1348663"/>
              </a:xfrm>
            </p:grpSpPr>
            <p:sp>
              <p:nvSpPr>
                <p:cNvPr id="796" name="Shape 64"/>
                <p:cNvSpPr/>
                <p:nvPr/>
              </p:nvSpPr>
              <p:spPr>
                <a:xfrm>
                  <a:off x="842775" y="488215"/>
                  <a:ext cx="399713" cy="61550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797" name="Shape 64"/>
                <p:cNvSpPr/>
                <p:nvPr/>
              </p:nvSpPr>
              <p:spPr>
                <a:xfrm flipH="1">
                  <a:off x="106175" y="465508"/>
                  <a:ext cx="399713" cy="61550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800" name="成组"/>
                <p:cNvGrpSpPr/>
                <p:nvPr/>
              </p:nvGrpSpPr>
              <p:grpSpPr>
                <a:xfrm>
                  <a:off x="0" y="812800"/>
                  <a:ext cx="535864" cy="535864"/>
                  <a:chOff x="0" y="0"/>
                  <a:chExt cx="535863" cy="535863"/>
                </a:xfrm>
              </p:grpSpPr>
              <p:sp>
                <p:nvSpPr>
                  <p:cNvPr id="798" name="圆形"/>
                  <p:cNvSpPr/>
                  <p:nvPr/>
                </p:nvSpPr>
                <p:spPr>
                  <a:xfrm>
                    <a:off x="0" y="0"/>
                    <a:ext cx="535864" cy="5358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sz="2800"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sp>
                <p:nvSpPr>
                  <p:cNvPr id="799" name="4"/>
                  <p:cNvSpPr txBox="1"/>
                  <p:nvPr/>
                </p:nvSpPr>
                <p:spPr>
                  <a:xfrm>
                    <a:off x="92982" y="76476"/>
                    <a:ext cx="299100" cy="3829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2000"/>
                    </a:lvl1pPr>
                  </a:lstStyle>
                  <a:p>
                    <a:pPr/>
                    <a:r>
                      <a:t>4</a:t>
                    </a:r>
                  </a:p>
                </p:txBody>
              </p:sp>
            </p:grpSp>
            <p:grpSp>
              <p:nvGrpSpPr>
                <p:cNvPr id="803" name="成组"/>
                <p:cNvGrpSpPr/>
                <p:nvPr/>
              </p:nvGrpSpPr>
              <p:grpSpPr>
                <a:xfrm>
                  <a:off x="797456" y="812800"/>
                  <a:ext cx="535865" cy="535864"/>
                  <a:chOff x="0" y="0"/>
                  <a:chExt cx="535863" cy="535863"/>
                </a:xfrm>
              </p:grpSpPr>
              <p:sp>
                <p:nvSpPr>
                  <p:cNvPr id="801" name="圆形"/>
                  <p:cNvSpPr/>
                  <p:nvPr/>
                </p:nvSpPr>
                <p:spPr>
                  <a:xfrm>
                    <a:off x="0" y="0"/>
                    <a:ext cx="535864" cy="5358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sz="2800"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sp>
                <p:nvSpPr>
                  <p:cNvPr id="802" name="2"/>
                  <p:cNvSpPr txBox="1"/>
                  <p:nvPr/>
                </p:nvSpPr>
                <p:spPr>
                  <a:xfrm>
                    <a:off x="92982" y="76476"/>
                    <a:ext cx="299100" cy="3829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2000"/>
                    </a:lvl1pPr>
                  </a:lstStyle>
                  <a:p>
                    <a:pPr/>
                    <a:r>
                      <a:t>2</a:t>
                    </a:r>
                  </a:p>
                </p:txBody>
              </p:sp>
            </p:grpSp>
            <p:grpSp>
              <p:nvGrpSpPr>
                <p:cNvPr id="806" name="成组"/>
                <p:cNvGrpSpPr/>
                <p:nvPr/>
              </p:nvGrpSpPr>
              <p:grpSpPr>
                <a:xfrm>
                  <a:off x="419100" y="0"/>
                  <a:ext cx="535864" cy="535864"/>
                  <a:chOff x="0" y="0"/>
                  <a:chExt cx="535863" cy="535863"/>
                </a:xfrm>
              </p:grpSpPr>
              <p:sp>
                <p:nvSpPr>
                  <p:cNvPr id="804" name="圆形"/>
                  <p:cNvSpPr/>
                  <p:nvPr/>
                </p:nvSpPr>
                <p:spPr>
                  <a:xfrm>
                    <a:off x="0" y="0"/>
                    <a:ext cx="535864" cy="53586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sz="2800"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sp>
                <p:nvSpPr>
                  <p:cNvPr id="805" name="6"/>
                  <p:cNvSpPr txBox="1"/>
                  <p:nvPr/>
                </p:nvSpPr>
                <p:spPr>
                  <a:xfrm>
                    <a:off x="92982" y="76476"/>
                    <a:ext cx="299100" cy="38291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2000"/>
                    </a:lvl1pPr>
                  </a:lstStyle>
                  <a:p>
                    <a:pPr/>
                    <a:r>
                      <a:t>6</a:t>
                    </a:r>
                  </a:p>
                </p:txBody>
              </p:sp>
            </p:grpSp>
          </p:grpSp>
          <p:grpSp>
            <p:nvGrpSpPr>
              <p:cNvPr id="810" name="成组"/>
              <p:cNvGrpSpPr/>
              <p:nvPr/>
            </p:nvGrpSpPr>
            <p:grpSpPr>
              <a:xfrm>
                <a:off x="949856" y="0"/>
                <a:ext cx="535865" cy="535864"/>
                <a:chOff x="0" y="0"/>
                <a:chExt cx="535863" cy="535863"/>
              </a:xfrm>
            </p:grpSpPr>
            <p:sp>
              <p:nvSpPr>
                <p:cNvPr id="808" name="圆形"/>
                <p:cNvSpPr/>
                <p:nvPr/>
              </p:nvSpPr>
              <p:spPr>
                <a:xfrm>
                  <a:off x="0" y="0"/>
                  <a:ext cx="535864" cy="53586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2800"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809" name="11"/>
                <p:cNvSpPr txBox="1"/>
                <p:nvPr/>
              </p:nvSpPr>
              <p:spPr>
                <a:xfrm>
                  <a:off x="42182" y="76476"/>
                  <a:ext cx="416674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2000"/>
                  </a:lvl1pPr>
                </a:lstStyle>
                <a:p>
                  <a:pPr/>
                  <a:r>
                    <a:t>11</a:t>
                  </a:r>
                </a:p>
              </p:txBody>
            </p:sp>
          </p:grpSp>
        </p:grpSp>
      </p:grpSp>
      <p:grpSp>
        <p:nvGrpSpPr>
          <p:cNvPr id="830" name="成组"/>
          <p:cNvGrpSpPr/>
          <p:nvPr/>
        </p:nvGrpSpPr>
        <p:grpSpPr>
          <a:xfrm>
            <a:off x="5737553" y="5495514"/>
            <a:ext cx="2810541" cy="3954529"/>
            <a:chOff x="0" y="0"/>
            <a:chExt cx="2810540" cy="3954528"/>
          </a:xfrm>
        </p:grpSpPr>
        <p:sp>
          <p:nvSpPr>
            <p:cNvPr id="813" name="Shape 64"/>
            <p:cNvSpPr/>
            <p:nvPr/>
          </p:nvSpPr>
          <p:spPr>
            <a:xfrm>
              <a:off x="2321836" y="492234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4" name="Shape 64"/>
            <p:cNvSpPr/>
            <p:nvPr/>
          </p:nvSpPr>
          <p:spPr>
            <a:xfrm flipH="1">
              <a:off x="1585236" y="469526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5" name="Shape 64"/>
            <p:cNvSpPr/>
            <p:nvPr/>
          </p:nvSpPr>
          <p:spPr>
            <a:xfrm>
              <a:off x="1864636" y="1317734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6" name="Shape 64"/>
            <p:cNvSpPr/>
            <p:nvPr/>
          </p:nvSpPr>
          <p:spPr>
            <a:xfrm flipH="1">
              <a:off x="1128036" y="1295026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7" name="Shape 64"/>
            <p:cNvSpPr/>
            <p:nvPr/>
          </p:nvSpPr>
          <p:spPr>
            <a:xfrm>
              <a:off x="1388875" y="2160175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8" name="Shape 64"/>
            <p:cNvSpPr/>
            <p:nvPr/>
          </p:nvSpPr>
          <p:spPr>
            <a:xfrm flipH="1">
              <a:off x="652275" y="2137467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9" name="成组"/>
            <p:cNvSpPr/>
            <p:nvPr/>
          </p:nvSpPr>
          <p:spPr>
            <a:xfrm>
              <a:off x="1453661" y="825500"/>
              <a:ext cx="535865" cy="53586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0" name="成组"/>
            <p:cNvSpPr/>
            <p:nvPr/>
          </p:nvSpPr>
          <p:spPr>
            <a:xfrm>
              <a:off x="1890403" y="0"/>
              <a:ext cx="535865" cy="53586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1" name="成组"/>
            <p:cNvSpPr/>
            <p:nvPr/>
          </p:nvSpPr>
          <p:spPr>
            <a:xfrm>
              <a:off x="2274676" y="825500"/>
              <a:ext cx="535865" cy="53586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2" name="成组"/>
            <p:cNvSpPr/>
            <p:nvPr/>
          </p:nvSpPr>
          <p:spPr>
            <a:xfrm>
              <a:off x="1865003" y="1663699"/>
              <a:ext cx="535865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3" name="成组"/>
            <p:cNvSpPr/>
            <p:nvPr/>
          </p:nvSpPr>
          <p:spPr>
            <a:xfrm>
              <a:off x="1415561" y="2529664"/>
              <a:ext cx="535865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4" name="Shape 64"/>
            <p:cNvSpPr/>
            <p:nvPr/>
          </p:nvSpPr>
          <p:spPr>
            <a:xfrm>
              <a:off x="880876" y="3030580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5" name="Shape 64"/>
            <p:cNvSpPr/>
            <p:nvPr/>
          </p:nvSpPr>
          <p:spPr>
            <a:xfrm flipH="1">
              <a:off x="144276" y="3007872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6" name="成组"/>
            <p:cNvSpPr/>
            <p:nvPr/>
          </p:nvSpPr>
          <p:spPr>
            <a:xfrm>
              <a:off x="0" y="3418664"/>
              <a:ext cx="535864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7" name="成组"/>
            <p:cNvSpPr/>
            <p:nvPr/>
          </p:nvSpPr>
          <p:spPr>
            <a:xfrm>
              <a:off x="889000" y="3418664"/>
              <a:ext cx="535864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8" name="成组"/>
            <p:cNvSpPr/>
            <p:nvPr/>
          </p:nvSpPr>
          <p:spPr>
            <a:xfrm>
              <a:off x="457200" y="2529664"/>
              <a:ext cx="535864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29" name="成组"/>
            <p:cNvSpPr/>
            <p:nvPr/>
          </p:nvSpPr>
          <p:spPr>
            <a:xfrm>
              <a:off x="955251" y="1663699"/>
              <a:ext cx="535865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grpSp>
        <p:nvGrpSpPr>
          <p:cNvPr id="866" name="成组"/>
          <p:cNvGrpSpPr/>
          <p:nvPr/>
        </p:nvGrpSpPr>
        <p:grpSpPr>
          <a:xfrm>
            <a:off x="89304" y="5495514"/>
            <a:ext cx="3448220" cy="3075865"/>
            <a:chOff x="0" y="0"/>
            <a:chExt cx="3448218" cy="3075863"/>
          </a:xfrm>
        </p:grpSpPr>
        <p:sp>
          <p:nvSpPr>
            <p:cNvPr id="831" name="Shape 64"/>
            <p:cNvSpPr/>
            <p:nvPr/>
          </p:nvSpPr>
          <p:spPr>
            <a:xfrm flipH="1">
              <a:off x="894185" y="370948"/>
              <a:ext cx="736238" cy="617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32" name="Shape 64"/>
            <p:cNvSpPr/>
            <p:nvPr/>
          </p:nvSpPr>
          <p:spPr>
            <a:xfrm>
              <a:off x="2048577" y="370948"/>
              <a:ext cx="736238" cy="617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33" name="Shape 64"/>
            <p:cNvSpPr/>
            <p:nvPr/>
          </p:nvSpPr>
          <p:spPr>
            <a:xfrm flipH="1">
              <a:off x="2214196" y="1367208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34" name="Shape 64"/>
            <p:cNvSpPr/>
            <p:nvPr/>
          </p:nvSpPr>
          <p:spPr>
            <a:xfrm>
              <a:off x="2950796" y="1367208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837" name="成组"/>
            <p:cNvGrpSpPr/>
            <p:nvPr/>
          </p:nvGrpSpPr>
          <p:grpSpPr>
            <a:xfrm>
              <a:off x="2912354" y="1727200"/>
              <a:ext cx="535865" cy="535864"/>
              <a:chOff x="0" y="0"/>
              <a:chExt cx="535863" cy="535863"/>
            </a:xfrm>
          </p:grpSpPr>
          <p:sp>
            <p:nvSpPr>
              <p:cNvPr id="835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36" name="5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838" name="Shape 64"/>
            <p:cNvSpPr/>
            <p:nvPr/>
          </p:nvSpPr>
          <p:spPr>
            <a:xfrm>
              <a:off x="2407339" y="2215415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39" name="Shape 64"/>
            <p:cNvSpPr/>
            <p:nvPr/>
          </p:nvSpPr>
          <p:spPr>
            <a:xfrm flipH="1">
              <a:off x="1670739" y="21927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842" name="成组"/>
            <p:cNvGrpSpPr/>
            <p:nvPr/>
          </p:nvGrpSpPr>
          <p:grpSpPr>
            <a:xfrm>
              <a:off x="1564564" y="2540000"/>
              <a:ext cx="535865" cy="535864"/>
              <a:chOff x="0" y="0"/>
              <a:chExt cx="535863" cy="535863"/>
            </a:xfrm>
          </p:grpSpPr>
          <p:sp>
            <p:nvSpPr>
              <p:cNvPr id="840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41" name="4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845" name="成组"/>
            <p:cNvGrpSpPr/>
            <p:nvPr/>
          </p:nvGrpSpPr>
          <p:grpSpPr>
            <a:xfrm>
              <a:off x="2362020" y="2540000"/>
              <a:ext cx="535865" cy="535864"/>
              <a:chOff x="0" y="0"/>
              <a:chExt cx="535863" cy="535863"/>
            </a:xfrm>
          </p:grpSpPr>
          <p:sp>
            <p:nvSpPr>
              <p:cNvPr id="843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44" name="2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848" name="成组"/>
            <p:cNvGrpSpPr/>
            <p:nvPr/>
          </p:nvGrpSpPr>
          <p:grpSpPr>
            <a:xfrm>
              <a:off x="1983664" y="1727200"/>
              <a:ext cx="535865" cy="535864"/>
              <a:chOff x="0" y="0"/>
              <a:chExt cx="535863" cy="535863"/>
            </a:xfrm>
          </p:grpSpPr>
          <p:sp>
            <p:nvSpPr>
              <p:cNvPr id="846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47" name="6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851" name="成组"/>
            <p:cNvGrpSpPr/>
            <p:nvPr/>
          </p:nvGrpSpPr>
          <p:grpSpPr>
            <a:xfrm>
              <a:off x="2514420" y="876300"/>
              <a:ext cx="535865" cy="535864"/>
              <a:chOff x="0" y="0"/>
              <a:chExt cx="535863" cy="535863"/>
            </a:xfrm>
          </p:grpSpPr>
          <p:sp>
            <p:nvSpPr>
              <p:cNvPr id="849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50" name="11"/>
              <p:cNvSpPr txBox="1"/>
              <p:nvPr/>
            </p:nvSpPr>
            <p:spPr>
              <a:xfrm>
                <a:off x="42182" y="76476"/>
                <a:ext cx="416674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852" name="Shape 64"/>
            <p:cNvSpPr/>
            <p:nvPr/>
          </p:nvSpPr>
          <p:spPr>
            <a:xfrm>
              <a:off x="880876" y="1377215"/>
              <a:ext cx="399713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53" name="Shape 64"/>
            <p:cNvSpPr/>
            <p:nvPr/>
          </p:nvSpPr>
          <p:spPr>
            <a:xfrm flipH="1">
              <a:off x="144275" y="13545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856" name="成组"/>
            <p:cNvGrpSpPr/>
            <p:nvPr/>
          </p:nvGrpSpPr>
          <p:grpSpPr>
            <a:xfrm>
              <a:off x="0" y="1765300"/>
              <a:ext cx="535864" cy="535864"/>
              <a:chOff x="0" y="0"/>
              <a:chExt cx="535863" cy="535863"/>
            </a:xfrm>
          </p:grpSpPr>
          <p:sp>
            <p:nvSpPr>
              <p:cNvPr id="854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55" name="9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859" name="成组"/>
            <p:cNvGrpSpPr/>
            <p:nvPr/>
          </p:nvGrpSpPr>
          <p:grpSpPr>
            <a:xfrm>
              <a:off x="889000" y="1765300"/>
              <a:ext cx="535864" cy="535864"/>
              <a:chOff x="0" y="0"/>
              <a:chExt cx="535863" cy="535863"/>
            </a:xfrm>
          </p:grpSpPr>
          <p:sp>
            <p:nvSpPr>
              <p:cNvPr id="857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58" name="7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862" name="成组"/>
            <p:cNvGrpSpPr/>
            <p:nvPr/>
          </p:nvGrpSpPr>
          <p:grpSpPr>
            <a:xfrm>
              <a:off x="457200" y="876300"/>
              <a:ext cx="535864" cy="535864"/>
              <a:chOff x="0" y="0"/>
              <a:chExt cx="535863" cy="535863"/>
            </a:xfrm>
          </p:grpSpPr>
          <p:sp>
            <p:nvSpPr>
              <p:cNvPr id="860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61" name="16"/>
              <p:cNvSpPr txBox="1"/>
              <p:nvPr/>
            </p:nvSpPr>
            <p:spPr>
              <a:xfrm>
                <a:off x="4082" y="76476"/>
                <a:ext cx="426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865" name="成组"/>
            <p:cNvGrpSpPr/>
            <p:nvPr/>
          </p:nvGrpSpPr>
          <p:grpSpPr>
            <a:xfrm>
              <a:off x="1564564" y="0"/>
              <a:ext cx="535865" cy="535864"/>
              <a:chOff x="0" y="0"/>
              <a:chExt cx="535863" cy="535863"/>
            </a:xfrm>
          </p:grpSpPr>
          <p:sp>
            <p:nvSpPr>
              <p:cNvPr id="863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64" name="27"/>
              <p:cNvSpPr txBox="1"/>
              <p:nvPr/>
            </p:nvSpPr>
            <p:spPr>
              <a:xfrm>
                <a:off x="42182" y="76476"/>
                <a:ext cx="426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27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grpSp>
        <p:nvGrpSpPr>
          <p:cNvPr id="886" name="成组"/>
          <p:cNvGrpSpPr/>
          <p:nvPr/>
        </p:nvGrpSpPr>
        <p:grpSpPr>
          <a:xfrm>
            <a:off x="6875428" y="1530058"/>
            <a:ext cx="2810541" cy="3954529"/>
            <a:chOff x="0" y="0"/>
            <a:chExt cx="2810540" cy="3954528"/>
          </a:xfrm>
        </p:grpSpPr>
        <p:sp>
          <p:nvSpPr>
            <p:cNvPr id="869" name="Shape 64"/>
            <p:cNvSpPr/>
            <p:nvPr/>
          </p:nvSpPr>
          <p:spPr>
            <a:xfrm>
              <a:off x="2321836" y="492234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0" name="Shape 64"/>
            <p:cNvSpPr/>
            <p:nvPr/>
          </p:nvSpPr>
          <p:spPr>
            <a:xfrm flipH="1">
              <a:off x="1585236" y="469526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1" name="Shape 64"/>
            <p:cNvSpPr/>
            <p:nvPr/>
          </p:nvSpPr>
          <p:spPr>
            <a:xfrm>
              <a:off x="1864636" y="1317734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2" name="Shape 64"/>
            <p:cNvSpPr/>
            <p:nvPr/>
          </p:nvSpPr>
          <p:spPr>
            <a:xfrm flipH="1">
              <a:off x="1128036" y="1295026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3" name="Shape 64"/>
            <p:cNvSpPr/>
            <p:nvPr/>
          </p:nvSpPr>
          <p:spPr>
            <a:xfrm>
              <a:off x="1388875" y="2160175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4" name="Shape 64"/>
            <p:cNvSpPr/>
            <p:nvPr/>
          </p:nvSpPr>
          <p:spPr>
            <a:xfrm flipH="1">
              <a:off x="652275" y="2137467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5" name="成组"/>
            <p:cNvSpPr/>
            <p:nvPr/>
          </p:nvSpPr>
          <p:spPr>
            <a:xfrm>
              <a:off x="1453661" y="825500"/>
              <a:ext cx="535865" cy="53586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6" name="成组"/>
            <p:cNvSpPr/>
            <p:nvPr/>
          </p:nvSpPr>
          <p:spPr>
            <a:xfrm>
              <a:off x="1890403" y="0"/>
              <a:ext cx="535865" cy="53586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7" name="成组"/>
            <p:cNvSpPr/>
            <p:nvPr/>
          </p:nvSpPr>
          <p:spPr>
            <a:xfrm>
              <a:off x="2274676" y="825500"/>
              <a:ext cx="535865" cy="535864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8" name="成组"/>
            <p:cNvSpPr/>
            <p:nvPr/>
          </p:nvSpPr>
          <p:spPr>
            <a:xfrm>
              <a:off x="1865003" y="1663699"/>
              <a:ext cx="535865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79" name="成组"/>
            <p:cNvSpPr/>
            <p:nvPr/>
          </p:nvSpPr>
          <p:spPr>
            <a:xfrm>
              <a:off x="1415561" y="2529664"/>
              <a:ext cx="535865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0" name="Shape 64"/>
            <p:cNvSpPr/>
            <p:nvPr/>
          </p:nvSpPr>
          <p:spPr>
            <a:xfrm>
              <a:off x="880876" y="3030580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1" name="Shape 64"/>
            <p:cNvSpPr/>
            <p:nvPr/>
          </p:nvSpPr>
          <p:spPr>
            <a:xfrm flipH="1">
              <a:off x="144276" y="3007872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2" name="成组"/>
            <p:cNvSpPr/>
            <p:nvPr/>
          </p:nvSpPr>
          <p:spPr>
            <a:xfrm>
              <a:off x="0" y="3418664"/>
              <a:ext cx="535864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3" name="成组"/>
            <p:cNvSpPr/>
            <p:nvPr/>
          </p:nvSpPr>
          <p:spPr>
            <a:xfrm>
              <a:off x="889000" y="3418664"/>
              <a:ext cx="535864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4" name="成组"/>
            <p:cNvSpPr/>
            <p:nvPr/>
          </p:nvSpPr>
          <p:spPr>
            <a:xfrm>
              <a:off x="457200" y="2529664"/>
              <a:ext cx="535864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5" name="成组"/>
            <p:cNvSpPr/>
            <p:nvPr/>
          </p:nvSpPr>
          <p:spPr>
            <a:xfrm>
              <a:off x="955251" y="1663699"/>
              <a:ext cx="535865" cy="53586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grpSp>
        <p:nvGrpSpPr>
          <p:cNvPr id="922" name="成组"/>
          <p:cNvGrpSpPr/>
          <p:nvPr/>
        </p:nvGrpSpPr>
        <p:grpSpPr>
          <a:xfrm>
            <a:off x="1646278" y="1530058"/>
            <a:ext cx="3460920" cy="3075865"/>
            <a:chOff x="0" y="0"/>
            <a:chExt cx="3460918" cy="3075863"/>
          </a:xfrm>
        </p:grpSpPr>
        <p:sp>
          <p:nvSpPr>
            <p:cNvPr id="887" name="Shape 64"/>
            <p:cNvSpPr/>
            <p:nvPr/>
          </p:nvSpPr>
          <p:spPr>
            <a:xfrm flipH="1">
              <a:off x="894185" y="370948"/>
              <a:ext cx="736238" cy="617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8" name="Shape 64"/>
            <p:cNvSpPr/>
            <p:nvPr/>
          </p:nvSpPr>
          <p:spPr>
            <a:xfrm>
              <a:off x="2048577" y="370948"/>
              <a:ext cx="736238" cy="617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89" name="Shape 64"/>
            <p:cNvSpPr/>
            <p:nvPr/>
          </p:nvSpPr>
          <p:spPr>
            <a:xfrm flipH="1">
              <a:off x="2214196" y="1367208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90" name="Shape 64"/>
            <p:cNvSpPr/>
            <p:nvPr/>
          </p:nvSpPr>
          <p:spPr>
            <a:xfrm>
              <a:off x="2950796" y="1367208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893" name="成组"/>
            <p:cNvGrpSpPr/>
            <p:nvPr/>
          </p:nvGrpSpPr>
          <p:grpSpPr>
            <a:xfrm>
              <a:off x="2925054" y="1727200"/>
              <a:ext cx="535865" cy="535864"/>
              <a:chOff x="0" y="0"/>
              <a:chExt cx="535863" cy="535863"/>
            </a:xfrm>
          </p:grpSpPr>
          <p:sp>
            <p:nvSpPr>
              <p:cNvPr id="891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92" name="5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894" name="Shape 64"/>
            <p:cNvSpPr/>
            <p:nvPr/>
          </p:nvSpPr>
          <p:spPr>
            <a:xfrm>
              <a:off x="2534339" y="2215415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95" name="Shape 64"/>
            <p:cNvSpPr/>
            <p:nvPr/>
          </p:nvSpPr>
          <p:spPr>
            <a:xfrm flipH="1">
              <a:off x="1797739" y="21927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898" name="成组"/>
            <p:cNvGrpSpPr/>
            <p:nvPr/>
          </p:nvGrpSpPr>
          <p:grpSpPr>
            <a:xfrm>
              <a:off x="1691564" y="2540000"/>
              <a:ext cx="535865" cy="535864"/>
              <a:chOff x="0" y="0"/>
              <a:chExt cx="535863" cy="535863"/>
            </a:xfrm>
          </p:grpSpPr>
          <p:sp>
            <p:nvSpPr>
              <p:cNvPr id="896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897" name="4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901" name="成组"/>
            <p:cNvGrpSpPr/>
            <p:nvPr/>
          </p:nvGrpSpPr>
          <p:grpSpPr>
            <a:xfrm>
              <a:off x="2489020" y="2540000"/>
              <a:ext cx="535865" cy="535864"/>
              <a:chOff x="0" y="0"/>
              <a:chExt cx="535863" cy="535863"/>
            </a:xfrm>
          </p:grpSpPr>
          <p:sp>
            <p:nvSpPr>
              <p:cNvPr id="899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00" name="2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904" name="成组"/>
            <p:cNvGrpSpPr/>
            <p:nvPr/>
          </p:nvGrpSpPr>
          <p:grpSpPr>
            <a:xfrm>
              <a:off x="2110664" y="1727200"/>
              <a:ext cx="535865" cy="535864"/>
              <a:chOff x="0" y="0"/>
              <a:chExt cx="535863" cy="535863"/>
            </a:xfrm>
          </p:grpSpPr>
          <p:sp>
            <p:nvSpPr>
              <p:cNvPr id="902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03" name="6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907" name="成组"/>
            <p:cNvGrpSpPr/>
            <p:nvPr/>
          </p:nvGrpSpPr>
          <p:grpSpPr>
            <a:xfrm>
              <a:off x="2514420" y="876300"/>
              <a:ext cx="535865" cy="535864"/>
              <a:chOff x="0" y="0"/>
              <a:chExt cx="535863" cy="535863"/>
            </a:xfrm>
          </p:grpSpPr>
          <p:sp>
            <p:nvSpPr>
              <p:cNvPr id="905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06" name="11"/>
              <p:cNvSpPr txBox="1"/>
              <p:nvPr/>
            </p:nvSpPr>
            <p:spPr>
              <a:xfrm>
                <a:off x="42182" y="76476"/>
                <a:ext cx="416674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908" name="Shape 64"/>
            <p:cNvSpPr/>
            <p:nvPr/>
          </p:nvSpPr>
          <p:spPr>
            <a:xfrm>
              <a:off x="880876" y="1377215"/>
              <a:ext cx="399713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09" name="Shape 64"/>
            <p:cNvSpPr/>
            <p:nvPr/>
          </p:nvSpPr>
          <p:spPr>
            <a:xfrm flipH="1">
              <a:off x="144275" y="13545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912" name="成组"/>
            <p:cNvGrpSpPr/>
            <p:nvPr/>
          </p:nvGrpSpPr>
          <p:grpSpPr>
            <a:xfrm>
              <a:off x="0" y="1727200"/>
              <a:ext cx="535864" cy="535864"/>
              <a:chOff x="0" y="0"/>
              <a:chExt cx="535863" cy="535863"/>
            </a:xfrm>
          </p:grpSpPr>
          <p:sp>
            <p:nvSpPr>
              <p:cNvPr id="910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11" name="9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915" name="成组"/>
            <p:cNvGrpSpPr/>
            <p:nvPr/>
          </p:nvGrpSpPr>
          <p:grpSpPr>
            <a:xfrm>
              <a:off x="889000" y="1727200"/>
              <a:ext cx="535864" cy="535864"/>
              <a:chOff x="0" y="0"/>
              <a:chExt cx="535863" cy="535863"/>
            </a:xfrm>
          </p:grpSpPr>
          <p:sp>
            <p:nvSpPr>
              <p:cNvPr id="913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14" name="7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918" name="成组"/>
            <p:cNvGrpSpPr/>
            <p:nvPr/>
          </p:nvGrpSpPr>
          <p:grpSpPr>
            <a:xfrm>
              <a:off x="457200" y="876300"/>
              <a:ext cx="535864" cy="535864"/>
              <a:chOff x="0" y="0"/>
              <a:chExt cx="535863" cy="535863"/>
            </a:xfrm>
          </p:grpSpPr>
          <p:sp>
            <p:nvSpPr>
              <p:cNvPr id="916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17" name="16"/>
              <p:cNvSpPr txBox="1"/>
              <p:nvPr/>
            </p:nvSpPr>
            <p:spPr>
              <a:xfrm>
                <a:off x="4082" y="76476"/>
                <a:ext cx="426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921" name="成组"/>
            <p:cNvGrpSpPr/>
            <p:nvPr/>
          </p:nvGrpSpPr>
          <p:grpSpPr>
            <a:xfrm>
              <a:off x="1564564" y="0"/>
              <a:ext cx="535865" cy="535864"/>
              <a:chOff x="0" y="0"/>
              <a:chExt cx="535863" cy="535863"/>
            </a:xfrm>
          </p:grpSpPr>
          <p:sp>
            <p:nvSpPr>
              <p:cNvPr id="919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20" name="27"/>
              <p:cNvSpPr txBox="1"/>
              <p:nvPr/>
            </p:nvSpPr>
            <p:spPr>
              <a:xfrm>
                <a:off x="42182" y="76476"/>
                <a:ext cx="426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27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最优二叉树</a:t>
            </a:r>
          </a:p>
        </p:txBody>
      </p:sp>
      <p:grpSp>
        <p:nvGrpSpPr>
          <p:cNvPr id="973" name="成组"/>
          <p:cNvGrpSpPr/>
          <p:nvPr/>
        </p:nvGrpSpPr>
        <p:grpSpPr>
          <a:xfrm>
            <a:off x="3227102" y="1784597"/>
            <a:ext cx="3448220" cy="3452231"/>
            <a:chOff x="0" y="0"/>
            <a:chExt cx="3448218" cy="3452229"/>
          </a:xfrm>
        </p:grpSpPr>
        <p:sp>
          <p:nvSpPr>
            <p:cNvPr id="925" name="Shape 64"/>
            <p:cNvSpPr/>
            <p:nvPr/>
          </p:nvSpPr>
          <p:spPr>
            <a:xfrm flipH="1">
              <a:off x="894185" y="370948"/>
              <a:ext cx="736238" cy="617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26" name="Shape 64"/>
            <p:cNvSpPr/>
            <p:nvPr/>
          </p:nvSpPr>
          <p:spPr>
            <a:xfrm>
              <a:off x="2048577" y="370948"/>
              <a:ext cx="736238" cy="6177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27" name="Shape 64"/>
            <p:cNvSpPr/>
            <p:nvPr/>
          </p:nvSpPr>
          <p:spPr>
            <a:xfrm flipH="1">
              <a:off x="2214195" y="13672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28" name="Shape 64"/>
            <p:cNvSpPr/>
            <p:nvPr/>
          </p:nvSpPr>
          <p:spPr>
            <a:xfrm>
              <a:off x="2950795" y="13672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931" name="成组"/>
            <p:cNvGrpSpPr/>
            <p:nvPr/>
          </p:nvGrpSpPr>
          <p:grpSpPr>
            <a:xfrm>
              <a:off x="2912354" y="1739900"/>
              <a:ext cx="535865" cy="535864"/>
              <a:chOff x="0" y="0"/>
              <a:chExt cx="535863" cy="535863"/>
            </a:xfrm>
          </p:grpSpPr>
          <p:sp>
            <p:nvSpPr>
              <p:cNvPr id="929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30" name="5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932" name="Shape 64"/>
            <p:cNvSpPr/>
            <p:nvPr/>
          </p:nvSpPr>
          <p:spPr>
            <a:xfrm>
              <a:off x="2508939" y="2215415"/>
              <a:ext cx="399713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33" name="Shape 64"/>
            <p:cNvSpPr/>
            <p:nvPr/>
          </p:nvSpPr>
          <p:spPr>
            <a:xfrm flipH="1">
              <a:off x="1772339" y="2192708"/>
              <a:ext cx="399713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936" name="成组"/>
            <p:cNvGrpSpPr/>
            <p:nvPr/>
          </p:nvGrpSpPr>
          <p:grpSpPr>
            <a:xfrm>
              <a:off x="1666163" y="2540000"/>
              <a:ext cx="535865" cy="535864"/>
              <a:chOff x="0" y="0"/>
              <a:chExt cx="535863" cy="535863"/>
            </a:xfrm>
          </p:grpSpPr>
          <p:sp>
            <p:nvSpPr>
              <p:cNvPr id="934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35" name="4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939" name="成组"/>
            <p:cNvGrpSpPr/>
            <p:nvPr/>
          </p:nvGrpSpPr>
          <p:grpSpPr>
            <a:xfrm>
              <a:off x="2463620" y="2540000"/>
              <a:ext cx="535865" cy="535864"/>
              <a:chOff x="0" y="0"/>
              <a:chExt cx="535863" cy="535863"/>
            </a:xfrm>
          </p:grpSpPr>
          <p:sp>
            <p:nvSpPr>
              <p:cNvPr id="937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38" name="2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942" name="成组"/>
            <p:cNvGrpSpPr/>
            <p:nvPr/>
          </p:nvGrpSpPr>
          <p:grpSpPr>
            <a:xfrm>
              <a:off x="2085263" y="1739900"/>
              <a:ext cx="535865" cy="535864"/>
              <a:chOff x="0" y="0"/>
              <a:chExt cx="535863" cy="535863"/>
            </a:xfrm>
          </p:grpSpPr>
          <p:sp>
            <p:nvSpPr>
              <p:cNvPr id="940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41" name="6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945" name="成组"/>
            <p:cNvGrpSpPr/>
            <p:nvPr/>
          </p:nvGrpSpPr>
          <p:grpSpPr>
            <a:xfrm>
              <a:off x="2514420" y="876300"/>
              <a:ext cx="535865" cy="535864"/>
              <a:chOff x="0" y="0"/>
              <a:chExt cx="535863" cy="535863"/>
            </a:xfrm>
          </p:grpSpPr>
          <p:sp>
            <p:nvSpPr>
              <p:cNvPr id="943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44" name="11"/>
              <p:cNvSpPr txBox="1"/>
              <p:nvPr/>
            </p:nvSpPr>
            <p:spPr>
              <a:xfrm>
                <a:off x="42182" y="76476"/>
                <a:ext cx="416674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946" name="Shape 64"/>
            <p:cNvSpPr/>
            <p:nvPr/>
          </p:nvSpPr>
          <p:spPr>
            <a:xfrm>
              <a:off x="880875" y="1377215"/>
              <a:ext cx="399714" cy="6155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47" name="Shape 64"/>
            <p:cNvSpPr/>
            <p:nvPr/>
          </p:nvSpPr>
          <p:spPr>
            <a:xfrm flipH="1">
              <a:off x="144275" y="1354508"/>
              <a:ext cx="399714" cy="6155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950" name="成组"/>
            <p:cNvGrpSpPr/>
            <p:nvPr/>
          </p:nvGrpSpPr>
          <p:grpSpPr>
            <a:xfrm>
              <a:off x="0" y="1739900"/>
              <a:ext cx="535864" cy="535864"/>
              <a:chOff x="0" y="0"/>
              <a:chExt cx="535863" cy="535863"/>
            </a:xfrm>
          </p:grpSpPr>
          <p:sp>
            <p:nvSpPr>
              <p:cNvPr id="948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49" name="9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953" name="成组"/>
            <p:cNvGrpSpPr/>
            <p:nvPr/>
          </p:nvGrpSpPr>
          <p:grpSpPr>
            <a:xfrm>
              <a:off x="888999" y="1739900"/>
              <a:ext cx="535865" cy="535864"/>
              <a:chOff x="0" y="0"/>
              <a:chExt cx="535863" cy="535863"/>
            </a:xfrm>
          </p:grpSpPr>
          <p:sp>
            <p:nvSpPr>
              <p:cNvPr id="951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52" name="7"/>
              <p:cNvSpPr txBox="1"/>
              <p:nvPr/>
            </p:nvSpPr>
            <p:spPr>
              <a:xfrm>
                <a:off x="92982" y="76476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956" name="成组"/>
            <p:cNvGrpSpPr/>
            <p:nvPr/>
          </p:nvGrpSpPr>
          <p:grpSpPr>
            <a:xfrm>
              <a:off x="457199" y="876300"/>
              <a:ext cx="535865" cy="535864"/>
              <a:chOff x="0" y="0"/>
              <a:chExt cx="535863" cy="535863"/>
            </a:xfrm>
          </p:grpSpPr>
          <p:sp>
            <p:nvSpPr>
              <p:cNvPr id="954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55" name="16"/>
              <p:cNvSpPr txBox="1"/>
              <p:nvPr/>
            </p:nvSpPr>
            <p:spPr>
              <a:xfrm>
                <a:off x="4082" y="76476"/>
                <a:ext cx="426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959" name="成组"/>
            <p:cNvGrpSpPr/>
            <p:nvPr/>
          </p:nvGrpSpPr>
          <p:grpSpPr>
            <a:xfrm>
              <a:off x="1564563" y="0"/>
              <a:ext cx="535865" cy="535864"/>
              <a:chOff x="0" y="0"/>
              <a:chExt cx="535863" cy="535863"/>
            </a:xfrm>
          </p:grpSpPr>
          <p:sp>
            <p:nvSpPr>
              <p:cNvPr id="957" name="圆形"/>
              <p:cNvSpPr/>
              <p:nvPr/>
            </p:nvSpPr>
            <p:spPr>
              <a:xfrm>
                <a:off x="0" y="0"/>
                <a:ext cx="535864" cy="535864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800"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sp>
            <p:nvSpPr>
              <p:cNvPr id="958" name="27"/>
              <p:cNvSpPr txBox="1"/>
              <p:nvPr/>
            </p:nvSpPr>
            <p:spPr>
              <a:xfrm>
                <a:off x="42182" y="76476"/>
                <a:ext cx="426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27</a:t>
                </a:r>
              </a:p>
            </p:txBody>
          </p:sp>
        </p:grpSp>
        <p:sp>
          <p:nvSpPr>
            <p:cNvPr id="960" name="0"/>
            <p:cNvSpPr txBox="1"/>
            <p:nvPr/>
          </p:nvSpPr>
          <p:spPr>
            <a:xfrm>
              <a:off x="1020082" y="37408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61" name="1"/>
            <p:cNvSpPr txBox="1"/>
            <p:nvPr/>
          </p:nvSpPr>
          <p:spPr>
            <a:xfrm>
              <a:off x="2333110" y="37408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62" name="0"/>
            <p:cNvSpPr txBox="1"/>
            <p:nvPr/>
          </p:nvSpPr>
          <p:spPr>
            <a:xfrm>
              <a:off x="117236" y="13061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63" name="1"/>
            <p:cNvSpPr txBox="1"/>
            <p:nvPr/>
          </p:nvSpPr>
          <p:spPr>
            <a:xfrm>
              <a:off x="934964" y="13061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64" name="0"/>
            <p:cNvSpPr txBox="1"/>
            <p:nvPr/>
          </p:nvSpPr>
          <p:spPr>
            <a:xfrm>
              <a:off x="2201182" y="13061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65" name="1"/>
            <p:cNvSpPr txBox="1"/>
            <p:nvPr/>
          </p:nvSpPr>
          <p:spPr>
            <a:xfrm>
              <a:off x="3006210" y="1306151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66" name="0"/>
            <p:cNvSpPr txBox="1"/>
            <p:nvPr/>
          </p:nvSpPr>
          <p:spPr>
            <a:xfrm>
              <a:off x="1756682" y="2147398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67" name="1"/>
            <p:cNvSpPr txBox="1"/>
            <p:nvPr/>
          </p:nvSpPr>
          <p:spPr>
            <a:xfrm>
              <a:off x="2561710" y="2147398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68" name="00"/>
            <p:cNvSpPr txBox="1"/>
            <p:nvPr/>
          </p:nvSpPr>
          <p:spPr>
            <a:xfrm>
              <a:off x="16782" y="2274398"/>
              <a:ext cx="426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00</a:t>
              </a:r>
            </a:p>
          </p:txBody>
        </p:sp>
        <p:sp>
          <p:nvSpPr>
            <p:cNvPr id="969" name="01"/>
            <p:cNvSpPr txBox="1"/>
            <p:nvPr/>
          </p:nvSpPr>
          <p:spPr>
            <a:xfrm>
              <a:off x="943882" y="2274398"/>
              <a:ext cx="426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01</a:t>
              </a:r>
            </a:p>
          </p:txBody>
        </p:sp>
        <p:sp>
          <p:nvSpPr>
            <p:cNvPr id="970" name="100"/>
            <p:cNvSpPr txBox="1"/>
            <p:nvPr/>
          </p:nvSpPr>
          <p:spPr>
            <a:xfrm>
              <a:off x="1616982" y="3069319"/>
              <a:ext cx="553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100</a:t>
              </a:r>
            </a:p>
          </p:txBody>
        </p:sp>
        <p:sp>
          <p:nvSpPr>
            <p:cNvPr id="971" name="101"/>
            <p:cNvSpPr txBox="1"/>
            <p:nvPr/>
          </p:nvSpPr>
          <p:spPr>
            <a:xfrm>
              <a:off x="2406846" y="3069319"/>
              <a:ext cx="553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101</a:t>
              </a:r>
            </a:p>
          </p:txBody>
        </p:sp>
        <p:sp>
          <p:nvSpPr>
            <p:cNvPr id="972" name="11"/>
            <p:cNvSpPr txBox="1"/>
            <p:nvPr/>
          </p:nvSpPr>
          <p:spPr>
            <a:xfrm>
              <a:off x="2951328" y="2274398"/>
              <a:ext cx="407248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