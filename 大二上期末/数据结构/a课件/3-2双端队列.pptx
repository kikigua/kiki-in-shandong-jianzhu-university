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s/comment1.xml" ContentType="application/vnd.openxmlformats-officedocument.presentationml.comment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s/comment2.xml" ContentType="application/vnd.openxmlformats-officedocument.presentationml.comment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s/comment3.xml" ContentType="application/vnd.openxmlformats-officedocument.presentationml.comment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comments/comment4.xml" ContentType="application/vnd.openxmlformats-officedocument.presentationml.comment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3"/>
    <p:sldId id="270" r:id="rId24"/>
    <p:sldId id="271" r:id="rId25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chemeClr val="accent5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chemeClr val="accent5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chemeClr val="accent5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chemeClr val="accent5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chemeClr val="accent5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chemeClr val="accent5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chemeClr val="accent5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chemeClr val="accent5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chemeClr val="accent5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Author id="0" name="李盛恩" initials="李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CDFE2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2E78C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394F8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4EB3"/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EA"/>
          </a:solidFill>
        </a:fill>
      </a:tcStyle>
    </a:wholeTbl>
    <a:band2H>
      <a:tcTxStyle b="def" i="def"/>
      <a:tcStyle>
        <a:tcBdr/>
        <a:fill>
          <a:solidFill>
            <a:srgbClr val="E6E9F5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FE4CB"/>
          </a:solidFill>
        </a:fill>
      </a:tcStyle>
    </a:wholeTbl>
    <a:band2H>
      <a:tcTxStyle b="def" i="def"/>
      <a:tcStyle>
        <a:tcBdr/>
        <a:fill>
          <a:solidFill>
            <a:srgbClr val="F7F2E7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BD9"/>
          </a:solidFill>
        </a:fill>
      </a:tcStyle>
    </a:wholeTbl>
    <a:band2H>
      <a:tcTxStyle b="def" i="def"/>
      <a:tcStyle>
        <a:tcBdr/>
        <a:fill>
          <a:solidFill>
            <a:srgbClr val="EAE7ED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comments" Target="comments/comment1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comments" Target="comments/comment2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comments" Target="comments/comment3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comments" Target="comments/comment4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/Relationships>
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2-10-02T19:10:45.624" idx="1">
    <p:pos x="2026" y="3035"/>
    <p:text>将1、2、3、4依次序入队，出队的排列有多少种？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0-01-30T18:08:26.523" idx="2">
    <p:pos x="4484" y="4449"/>
    <p:text>见前面表满后如何扩大的示意图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03-28T08:01:53.437" idx="3">
    <p:pos x="988" y="4865"/>
    <p:text>elements[head] = null
尽快告诉系统这个引用的对象，
队列不再使用它</p:text>
    <p:extLst>
      <p:ext uri="{C676402C-5697-4E1C-873F-D02D1690AC5C}">
        <p15:threadingInfo xmlns:p15="http://schemas.microsoft.com/office/powerpoint/2012/main" timeZoneBias="-480"/>
      </p:ext>
    </p:extLst>
  </p:cm>
  <p:cm authorId="0" dt="2020-01-30T18:00:22.403" idx="4">
    <p:pos x="4146" y="4405"/>
    <p:text>因为初始时new 操作让elements的所有元素=null
出队操作，保证出去的元素=null
clear操作保证所有的数组元素=null
入队操作不允许加入null
所以，空队时，所有的数组元素=null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2-10-02T09:41:56.778" idx="5">
    <p:pos x="713" y="3818"/>
    <p:text>Java 8的类库是这样实现的
Java 17就不是了，使用了if语句调整循环，没有使用%运算</p:text>
    <p:extLst>
      <p:ext uri="{C676402C-5697-4E1C-873F-D02D1690AC5C}">
        <p15:threadingInfo xmlns:p15="http://schemas.microsoft.com/office/powerpoint/2012/main" timeZoneBias="-480"/>
      </p:ext>
    </p:extLst>
  </p:cm>
  <p:cm authorId="0" dt="2020-01-30T18:24:46.141" idx="6">
    <p:pos x="5588" y="2956"/>
    <p:text>需要了解：
1、二进制的位与操作，移位操作
2、整数的补码表示
3、尝试验证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" name="Shape 4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1pPr>
    <a:lvl2pPr indent="2286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2pPr>
    <a:lvl3pPr indent="4572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3pPr>
    <a:lvl4pPr indent="6858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4pPr>
    <a:lvl5pPr indent="9144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5pPr>
    <a:lvl6pPr indent="11430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6pPr>
    <a:lvl7pPr indent="13716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7pPr>
    <a:lvl8pPr indent="16002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8pPr>
    <a:lvl9pPr indent="18288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"/>
          <p:cNvSpPr/>
          <p:nvPr/>
        </p:nvSpPr>
        <p:spPr>
          <a:xfrm>
            <a:off x="682694" y="135184"/>
            <a:ext cx="585049" cy="586177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marR="57799" indent="40640" defTabSz="1300480">
              <a:lnSpc>
                <a:spcPct val="100000"/>
              </a:lnSpc>
              <a:spcBef>
                <a:spcPts val="1800"/>
              </a:spcBef>
              <a:defRPr b="1"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8" name="矩形"/>
          <p:cNvSpPr/>
          <p:nvPr/>
        </p:nvSpPr>
        <p:spPr>
          <a:xfrm>
            <a:off x="1010919" y="135184"/>
            <a:ext cx="467362" cy="586177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R="57799" indent="40640" defTabSz="1300480">
              <a:lnSpc>
                <a:spcPct val="100000"/>
              </a:lnSpc>
              <a:spcBef>
                <a:spcPts val="1800"/>
              </a:spcBef>
              <a:defRPr b="1"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9" name="矩形"/>
          <p:cNvSpPr/>
          <p:nvPr/>
        </p:nvSpPr>
        <p:spPr>
          <a:xfrm>
            <a:off x="769901" y="505742"/>
            <a:ext cx="575171" cy="675077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marR="57799" indent="40640" defTabSz="1300480">
              <a:lnSpc>
                <a:spcPct val="100000"/>
              </a:lnSpc>
              <a:spcBef>
                <a:spcPts val="1800"/>
              </a:spcBef>
              <a:defRPr b="1"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0" name="矩形"/>
          <p:cNvSpPr/>
          <p:nvPr/>
        </p:nvSpPr>
        <p:spPr>
          <a:xfrm>
            <a:off x="1168964" y="505742"/>
            <a:ext cx="523805" cy="675077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R="57799" indent="40640" defTabSz="1300480">
              <a:lnSpc>
                <a:spcPct val="100000"/>
              </a:lnSpc>
              <a:spcBef>
                <a:spcPts val="1800"/>
              </a:spcBef>
              <a:defRPr b="1"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1" name="矩形"/>
          <p:cNvSpPr/>
          <p:nvPr/>
        </p:nvSpPr>
        <p:spPr>
          <a:xfrm>
            <a:off x="294922" y="492195"/>
            <a:ext cx="796997" cy="600570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R="57799" indent="40640" defTabSz="1300480">
              <a:lnSpc>
                <a:spcPct val="100000"/>
              </a:lnSpc>
              <a:spcBef>
                <a:spcPts val="1800"/>
              </a:spcBef>
              <a:defRPr b="1"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2" name="矩形"/>
          <p:cNvSpPr/>
          <p:nvPr/>
        </p:nvSpPr>
        <p:spPr>
          <a:xfrm>
            <a:off x="1094444" y="9031"/>
            <a:ext cx="48839" cy="1226304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marR="57799" indent="40640" defTabSz="1300480">
              <a:lnSpc>
                <a:spcPct val="100000"/>
              </a:lnSpc>
              <a:spcBef>
                <a:spcPts val="1800"/>
              </a:spcBef>
              <a:defRPr b="1" sz="33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3" name="矩形"/>
          <p:cNvSpPr/>
          <p:nvPr/>
        </p:nvSpPr>
        <p:spPr>
          <a:xfrm>
            <a:off x="629919" y="1025877"/>
            <a:ext cx="11699807" cy="32457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R="57799" indent="40640" defTabSz="1300480">
              <a:lnSpc>
                <a:spcPct val="100000"/>
              </a:lnSpc>
              <a:spcBef>
                <a:spcPts val="1800"/>
              </a:spcBef>
              <a:defRPr b="1"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34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0523" y="31608"/>
            <a:ext cx="1074705" cy="1002455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6207901" y="9085298"/>
            <a:ext cx="588998" cy="608755"/>
          </a:xfrm>
          <a:prstGeom prst="rect">
            <a:avLst/>
          </a:prstGeom>
        </p:spPr>
        <p:txBody>
          <a:bodyPr lIns="72248" tIns="72248" rIns="72248" bIns="72248"/>
          <a:lstStyle>
            <a:lvl1pPr defTabSz="830862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593795" y="28504"/>
            <a:ext cx="623149" cy="675078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" name="矩形"/>
          <p:cNvSpPr/>
          <p:nvPr/>
        </p:nvSpPr>
        <p:spPr>
          <a:xfrm>
            <a:off x="1143000" y="285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" name="矩形"/>
          <p:cNvSpPr/>
          <p:nvPr/>
        </p:nvSpPr>
        <p:spPr>
          <a:xfrm>
            <a:off x="769902" y="381000"/>
            <a:ext cx="600570" cy="675076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" name="矩形"/>
          <p:cNvSpPr/>
          <p:nvPr/>
        </p:nvSpPr>
        <p:spPr>
          <a:xfrm>
            <a:off x="1295964" y="381000"/>
            <a:ext cx="520702" cy="675076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" name="矩形"/>
          <p:cNvSpPr/>
          <p:nvPr/>
        </p:nvSpPr>
        <p:spPr>
          <a:xfrm>
            <a:off x="190498" y="449015"/>
            <a:ext cx="796998" cy="600570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" name="矩形"/>
          <p:cNvSpPr/>
          <p:nvPr/>
        </p:nvSpPr>
        <p:spPr>
          <a:xfrm>
            <a:off x="1131405" y="26528"/>
            <a:ext cx="46050" cy="1069906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" name="矩形"/>
          <p:cNvSpPr/>
          <p:nvPr/>
        </p:nvSpPr>
        <p:spPr>
          <a:xfrm>
            <a:off x="629919" y="10247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9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0524" y="28504"/>
            <a:ext cx="1074705" cy="100245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/>
          <p:nvPr>
            <p:ph type="title"/>
          </p:nvPr>
        </p:nvSpPr>
        <p:spPr>
          <a:xfrm>
            <a:off x="1960574" y="40780"/>
            <a:ext cx="9398002" cy="1003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1" name="正文级别 1…"/>
          <p:cNvSpPr txBox="1"/>
          <p:nvPr>
            <p:ph type="body" idx="1"/>
          </p:nvPr>
        </p:nvSpPr>
        <p:spPr>
          <a:xfrm>
            <a:off x="7258755" y="3467946"/>
            <a:ext cx="5093548" cy="628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/>
          <p:nvPr>
            <p:ph type="sldNum" sz="quarter" idx="2"/>
          </p:nvPr>
        </p:nvSpPr>
        <p:spPr>
          <a:xfrm>
            <a:off x="6229773" y="9080500"/>
            <a:ext cx="546101" cy="56585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indent="0" algn="ctr" defTabSz="825500">
              <a:lnSpc>
                <a:spcPct val="100000"/>
              </a:lnSpc>
              <a:defRPr b="1"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  <p:transition xmlns:p14="http://schemas.microsoft.com/office/powerpoint/2010/main" spd="med" advClick="1"/>
  <p:txStyles>
    <p:titleStyle>
      <a:lvl1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1pPr>
      <a:lvl2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2pPr>
      <a:lvl3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3pPr>
      <a:lvl4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4pPr>
      <a:lvl5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5pPr>
      <a:lvl6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6pPr>
      <a:lvl7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7pPr>
      <a:lvl8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8pPr>
      <a:lvl9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9pPr>
    </p:titleStyle>
    <p:bodyStyle>
      <a:lvl1pPr marL="383540" marR="57798" indent="-34290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6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1pPr>
      <a:lvl2pPr marL="828708" marR="57798" indent="-33086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2pPr>
      <a:lvl3pPr marL="1250874" marR="57798" indent="-295835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3pPr>
      <a:lvl4pPr marL="1771467" marR="57798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4pPr>
      <a:lvl5pPr marL="2228667" marR="57798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5pPr>
      <a:lvl6pPr marL="2228668" marR="57798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6pPr>
      <a:lvl7pPr marL="2228668" marR="57798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7pPr>
      <a:lvl8pPr marL="2228668" marR="57798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8pPr>
      <a:lvl9pPr marL="2228668" marR="57798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57798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57798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57798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57798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57798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57798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57798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57798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zhuanlan.zhihu.com/p/73771457?ivk_sa=1024320u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3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4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双端队列double ended queue(Deque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marR="53753" indent="53753" defTabSz="1204722">
              <a:defRPr sz="3720"/>
            </a:lvl1pPr>
          </a:lstStyle>
          <a:p>
            <a:pPr/>
            <a:r>
              <a:t>双端队列double ended queue(Deque)</a:t>
            </a:r>
          </a:p>
        </p:txBody>
      </p:sp>
      <p:grpSp>
        <p:nvGrpSpPr>
          <p:cNvPr id="65" name="成组"/>
          <p:cNvGrpSpPr/>
          <p:nvPr/>
        </p:nvGrpSpPr>
        <p:grpSpPr>
          <a:xfrm>
            <a:off x="2173189" y="3398317"/>
            <a:ext cx="8746178" cy="2227348"/>
            <a:chOff x="0" y="0"/>
            <a:chExt cx="8746177" cy="2227346"/>
          </a:xfrm>
        </p:grpSpPr>
        <p:grpSp>
          <p:nvGrpSpPr>
            <p:cNvPr id="54" name="成组"/>
            <p:cNvGrpSpPr/>
            <p:nvPr/>
          </p:nvGrpSpPr>
          <p:grpSpPr>
            <a:xfrm>
              <a:off x="-1" y="0"/>
              <a:ext cx="8650649" cy="819528"/>
              <a:chOff x="0" y="0"/>
              <a:chExt cx="8650647" cy="819527"/>
            </a:xfrm>
          </p:grpSpPr>
          <p:grpSp>
            <p:nvGrpSpPr>
              <p:cNvPr id="47" name="成组"/>
              <p:cNvGrpSpPr/>
              <p:nvPr/>
            </p:nvGrpSpPr>
            <p:grpSpPr>
              <a:xfrm>
                <a:off x="1502953" y="0"/>
                <a:ext cx="5913552" cy="582182"/>
                <a:chOff x="0" y="0"/>
                <a:chExt cx="5913550" cy="582181"/>
              </a:xfrm>
            </p:grpSpPr>
            <p:sp>
              <p:nvSpPr>
                <p:cNvPr id="45" name="线条"/>
                <p:cNvSpPr/>
                <p:nvPr/>
              </p:nvSpPr>
              <p:spPr>
                <a:xfrm>
                  <a:off x="0" y="0"/>
                  <a:ext cx="5913551" cy="0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46" name="线条"/>
                <p:cNvSpPr/>
                <p:nvPr/>
              </p:nvSpPr>
              <p:spPr>
                <a:xfrm>
                  <a:off x="0" y="582181"/>
                  <a:ext cx="5913551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grpSp>
            <p:nvGrpSpPr>
              <p:cNvPr id="50" name="成组"/>
              <p:cNvGrpSpPr/>
              <p:nvPr/>
            </p:nvGrpSpPr>
            <p:grpSpPr>
              <a:xfrm>
                <a:off x="7575943" y="266280"/>
                <a:ext cx="1074705" cy="553248"/>
                <a:chOff x="0" y="0"/>
                <a:chExt cx="1074703" cy="553247"/>
              </a:xfrm>
            </p:grpSpPr>
            <p:sp>
              <p:nvSpPr>
                <p:cNvPr id="48" name="线条"/>
                <p:cNvSpPr/>
                <p:nvPr/>
              </p:nvSpPr>
              <p:spPr>
                <a:xfrm flipV="1">
                  <a:off x="0" y="0"/>
                  <a:ext cx="107470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headEnd type="triangle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49" name="add"/>
                <p:cNvSpPr txBox="1"/>
                <p:nvPr/>
              </p:nvSpPr>
              <p:spPr>
                <a:xfrm>
                  <a:off x="57602" y="36032"/>
                  <a:ext cx="722206" cy="5172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add</a:t>
                  </a:r>
                </a:p>
              </p:txBody>
            </p:sp>
          </p:grpSp>
          <p:grpSp>
            <p:nvGrpSpPr>
              <p:cNvPr id="53" name="成组"/>
              <p:cNvGrpSpPr/>
              <p:nvPr/>
            </p:nvGrpSpPr>
            <p:grpSpPr>
              <a:xfrm>
                <a:off x="-1" y="266280"/>
                <a:ext cx="1358540" cy="553248"/>
                <a:chOff x="0" y="0"/>
                <a:chExt cx="1358538" cy="553247"/>
              </a:xfrm>
            </p:grpSpPr>
            <p:sp>
              <p:nvSpPr>
                <p:cNvPr id="51" name="线条"/>
                <p:cNvSpPr/>
                <p:nvPr/>
              </p:nvSpPr>
              <p:spPr>
                <a:xfrm>
                  <a:off x="43997" y="0"/>
                  <a:ext cx="1314542" cy="0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headEnd type="triangle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2" name="remove"/>
                <p:cNvSpPr txBox="1"/>
                <p:nvPr/>
              </p:nvSpPr>
              <p:spPr>
                <a:xfrm>
                  <a:off x="0" y="36032"/>
                  <a:ext cx="1314541" cy="5172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remove</a:t>
                  </a:r>
                </a:p>
              </p:txBody>
            </p:sp>
          </p:grpSp>
        </p:grpSp>
        <p:grpSp>
          <p:nvGrpSpPr>
            <p:cNvPr id="64" name="成组"/>
            <p:cNvGrpSpPr/>
            <p:nvPr/>
          </p:nvGrpSpPr>
          <p:grpSpPr>
            <a:xfrm>
              <a:off x="304800" y="1375298"/>
              <a:ext cx="8441378" cy="852049"/>
              <a:chOff x="0" y="0"/>
              <a:chExt cx="8441377" cy="852048"/>
            </a:xfrm>
          </p:grpSpPr>
          <p:grpSp>
            <p:nvGrpSpPr>
              <p:cNvPr id="57" name="成组"/>
              <p:cNvGrpSpPr/>
              <p:nvPr/>
            </p:nvGrpSpPr>
            <p:grpSpPr>
              <a:xfrm>
                <a:off x="1171005" y="0"/>
                <a:ext cx="5913552" cy="582182"/>
                <a:chOff x="0" y="0"/>
                <a:chExt cx="5913550" cy="582181"/>
              </a:xfrm>
            </p:grpSpPr>
            <p:sp>
              <p:nvSpPr>
                <p:cNvPr id="55" name="线条"/>
                <p:cNvSpPr/>
                <p:nvPr/>
              </p:nvSpPr>
              <p:spPr>
                <a:xfrm>
                  <a:off x="0" y="0"/>
                  <a:ext cx="5913551" cy="0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6" name="线条"/>
                <p:cNvSpPr/>
                <p:nvPr/>
              </p:nvSpPr>
              <p:spPr>
                <a:xfrm>
                  <a:off x="0" y="582181"/>
                  <a:ext cx="5913551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grpSp>
            <p:nvGrpSpPr>
              <p:cNvPr id="60" name="成组"/>
              <p:cNvGrpSpPr/>
              <p:nvPr/>
            </p:nvGrpSpPr>
            <p:grpSpPr>
              <a:xfrm>
                <a:off x="-1" y="298801"/>
                <a:ext cx="1074705" cy="553248"/>
                <a:chOff x="0" y="0"/>
                <a:chExt cx="1074703" cy="553247"/>
              </a:xfrm>
            </p:grpSpPr>
            <p:sp>
              <p:nvSpPr>
                <p:cNvPr id="58" name="线条"/>
                <p:cNvSpPr/>
                <p:nvPr/>
              </p:nvSpPr>
              <p:spPr>
                <a:xfrm flipV="1">
                  <a:off x="0" y="0"/>
                  <a:ext cx="107470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triangle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9" name="add"/>
                <p:cNvSpPr txBox="1"/>
                <p:nvPr/>
              </p:nvSpPr>
              <p:spPr>
                <a:xfrm>
                  <a:off x="57602" y="36032"/>
                  <a:ext cx="722206" cy="5172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add</a:t>
                  </a:r>
                </a:p>
              </p:txBody>
            </p:sp>
          </p:grpSp>
          <p:grpSp>
            <p:nvGrpSpPr>
              <p:cNvPr id="63" name="成组"/>
              <p:cNvGrpSpPr/>
              <p:nvPr/>
            </p:nvGrpSpPr>
            <p:grpSpPr>
              <a:xfrm>
                <a:off x="7082838" y="298801"/>
                <a:ext cx="1358540" cy="553248"/>
                <a:chOff x="0" y="0"/>
                <a:chExt cx="1358538" cy="553247"/>
              </a:xfrm>
            </p:grpSpPr>
            <p:sp>
              <p:nvSpPr>
                <p:cNvPr id="61" name="线条"/>
                <p:cNvSpPr/>
                <p:nvPr/>
              </p:nvSpPr>
              <p:spPr>
                <a:xfrm>
                  <a:off x="43997" y="0"/>
                  <a:ext cx="1314542" cy="0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triangle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2" name="remove"/>
                <p:cNvSpPr txBox="1"/>
                <p:nvPr/>
              </p:nvSpPr>
              <p:spPr>
                <a:xfrm>
                  <a:off x="0" y="36032"/>
                  <a:ext cx="1314541" cy="5172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remove</a:t>
                  </a:r>
                </a:p>
              </p:txBody>
            </p:sp>
          </p:grpSp>
        </p:grpSp>
      </p:grpSp>
      <p:sp>
        <p:nvSpPr>
          <p:cNvPr id="66" name="作为队列："/>
          <p:cNvSpPr txBox="1"/>
          <p:nvPr/>
        </p:nvSpPr>
        <p:spPr>
          <a:xfrm>
            <a:off x="339393" y="2653066"/>
            <a:ext cx="2077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作为队列：</a:t>
            </a:r>
          </a:p>
        </p:txBody>
      </p:sp>
      <p:grpSp>
        <p:nvGrpSpPr>
          <p:cNvPr id="81" name="成组"/>
          <p:cNvGrpSpPr/>
          <p:nvPr/>
        </p:nvGrpSpPr>
        <p:grpSpPr>
          <a:xfrm>
            <a:off x="1384599" y="6489897"/>
            <a:ext cx="10650038" cy="2042783"/>
            <a:chOff x="0" y="0"/>
            <a:chExt cx="10650036" cy="2042781"/>
          </a:xfrm>
        </p:grpSpPr>
        <p:grpSp>
          <p:nvGrpSpPr>
            <p:cNvPr id="69" name="成组"/>
            <p:cNvGrpSpPr/>
            <p:nvPr/>
          </p:nvGrpSpPr>
          <p:grpSpPr>
            <a:xfrm>
              <a:off x="2471295" y="58892"/>
              <a:ext cx="5913552" cy="582183"/>
              <a:chOff x="0" y="0"/>
              <a:chExt cx="5913550" cy="582181"/>
            </a:xfrm>
          </p:grpSpPr>
          <p:sp>
            <p:nvSpPr>
              <p:cNvPr id="67" name="线条"/>
              <p:cNvSpPr/>
              <p:nvPr/>
            </p:nvSpPr>
            <p:spPr>
              <a:xfrm>
                <a:off x="0" y="0"/>
                <a:ext cx="5913551" cy="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" name="线条"/>
              <p:cNvSpPr/>
              <p:nvPr/>
            </p:nvSpPr>
            <p:spPr>
              <a:xfrm>
                <a:off x="0" y="582181"/>
                <a:ext cx="5913551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70" name="线条"/>
            <p:cNvSpPr/>
            <p:nvPr/>
          </p:nvSpPr>
          <p:spPr>
            <a:xfrm flipV="1">
              <a:off x="8544285" y="325172"/>
              <a:ext cx="1074705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1" name="入口"/>
            <p:cNvSpPr txBox="1"/>
            <p:nvPr/>
          </p:nvSpPr>
          <p:spPr>
            <a:xfrm>
              <a:off x="9715326" y="7089"/>
              <a:ext cx="934100" cy="635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入口</a:t>
              </a:r>
            </a:p>
          </p:txBody>
        </p:sp>
        <p:sp>
          <p:nvSpPr>
            <p:cNvPr id="72" name="线条"/>
            <p:cNvSpPr/>
            <p:nvPr/>
          </p:nvSpPr>
          <p:spPr>
            <a:xfrm>
              <a:off x="1012339" y="325172"/>
              <a:ext cx="1314542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3" name="出口"/>
            <p:cNvSpPr txBox="1"/>
            <p:nvPr/>
          </p:nvSpPr>
          <p:spPr>
            <a:xfrm>
              <a:off x="0" y="0"/>
              <a:ext cx="934099" cy="635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出口</a:t>
              </a:r>
            </a:p>
          </p:txBody>
        </p:sp>
        <p:grpSp>
          <p:nvGrpSpPr>
            <p:cNvPr id="76" name="成组"/>
            <p:cNvGrpSpPr/>
            <p:nvPr/>
          </p:nvGrpSpPr>
          <p:grpSpPr>
            <a:xfrm>
              <a:off x="2444147" y="1434190"/>
              <a:ext cx="5913552" cy="582183"/>
              <a:chOff x="0" y="0"/>
              <a:chExt cx="5913550" cy="582181"/>
            </a:xfrm>
          </p:grpSpPr>
          <p:sp>
            <p:nvSpPr>
              <p:cNvPr id="74" name="线条"/>
              <p:cNvSpPr/>
              <p:nvPr/>
            </p:nvSpPr>
            <p:spPr>
              <a:xfrm>
                <a:off x="0" y="0"/>
                <a:ext cx="5913551" cy="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5" name="线条"/>
              <p:cNvSpPr/>
              <p:nvPr/>
            </p:nvSpPr>
            <p:spPr>
              <a:xfrm>
                <a:off x="0" y="582181"/>
                <a:ext cx="5913551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77" name="线条"/>
            <p:cNvSpPr/>
            <p:nvPr/>
          </p:nvSpPr>
          <p:spPr>
            <a:xfrm flipV="1">
              <a:off x="1273141" y="1732991"/>
              <a:ext cx="1074705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8" name="线条"/>
            <p:cNvSpPr/>
            <p:nvPr/>
          </p:nvSpPr>
          <p:spPr>
            <a:xfrm>
              <a:off x="8399977" y="1732991"/>
              <a:ext cx="1314542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9" name="入口"/>
            <p:cNvSpPr txBox="1"/>
            <p:nvPr/>
          </p:nvSpPr>
          <p:spPr>
            <a:xfrm>
              <a:off x="114300" y="1407781"/>
              <a:ext cx="934099" cy="635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入口</a:t>
              </a:r>
            </a:p>
          </p:txBody>
        </p:sp>
        <p:sp>
          <p:nvSpPr>
            <p:cNvPr id="80" name="出口"/>
            <p:cNvSpPr txBox="1"/>
            <p:nvPr/>
          </p:nvSpPr>
          <p:spPr>
            <a:xfrm>
              <a:off x="9715937" y="1407781"/>
              <a:ext cx="934100" cy="635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出口</a:t>
              </a:r>
            </a:p>
          </p:txBody>
        </p:sp>
      </p:grpSp>
      <p:sp>
        <p:nvSpPr>
          <p:cNvPr id="82" name="Deque: add和remove操作既可以发生在表头又可以发生在表尾的线性表…"/>
          <p:cNvSpPr txBox="1"/>
          <p:nvPr/>
        </p:nvSpPr>
        <p:spPr>
          <a:xfrm>
            <a:off x="272937" y="1146413"/>
            <a:ext cx="11823110" cy="1425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chemeClr val="accent1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Deque: add和remove操作既可以发生在表头又可以发生在表尾的线性表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chemeClr val="accent1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Deque的发音: 同英文词deck [dek]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Dequ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Deque</a:t>
            </a:r>
          </a:p>
        </p:txBody>
      </p:sp>
      <p:grpSp>
        <p:nvGrpSpPr>
          <p:cNvPr id="101" name="成组"/>
          <p:cNvGrpSpPr/>
          <p:nvPr/>
        </p:nvGrpSpPr>
        <p:grpSpPr>
          <a:xfrm>
            <a:off x="1938028" y="2091655"/>
            <a:ext cx="8825192" cy="2413371"/>
            <a:chOff x="0" y="0"/>
            <a:chExt cx="8825190" cy="2413370"/>
          </a:xfrm>
        </p:grpSpPr>
        <p:grpSp>
          <p:nvGrpSpPr>
            <p:cNvPr id="87" name="成组"/>
            <p:cNvGrpSpPr/>
            <p:nvPr/>
          </p:nvGrpSpPr>
          <p:grpSpPr>
            <a:xfrm>
              <a:off x="1554819" y="287466"/>
              <a:ext cx="5913552" cy="582182"/>
              <a:chOff x="0" y="0"/>
              <a:chExt cx="5913550" cy="582181"/>
            </a:xfrm>
          </p:grpSpPr>
          <p:sp>
            <p:nvSpPr>
              <p:cNvPr id="85" name="线条"/>
              <p:cNvSpPr/>
              <p:nvPr/>
            </p:nvSpPr>
            <p:spPr>
              <a:xfrm>
                <a:off x="0" y="0"/>
                <a:ext cx="5913551" cy="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6" name="线条"/>
              <p:cNvSpPr/>
              <p:nvPr/>
            </p:nvSpPr>
            <p:spPr>
              <a:xfrm>
                <a:off x="0" y="582181"/>
                <a:ext cx="5913551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90" name="成组"/>
            <p:cNvGrpSpPr/>
            <p:nvPr/>
          </p:nvGrpSpPr>
          <p:grpSpPr>
            <a:xfrm>
              <a:off x="1554819" y="1561321"/>
              <a:ext cx="5913552" cy="582183"/>
              <a:chOff x="0" y="0"/>
              <a:chExt cx="5913550" cy="582181"/>
            </a:xfrm>
          </p:grpSpPr>
          <p:sp>
            <p:nvSpPr>
              <p:cNvPr id="88" name="线条"/>
              <p:cNvSpPr/>
              <p:nvPr/>
            </p:nvSpPr>
            <p:spPr>
              <a:xfrm>
                <a:off x="0" y="0"/>
                <a:ext cx="5913551" cy="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9" name="线条"/>
              <p:cNvSpPr/>
              <p:nvPr/>
            </p:nvSpPr>
            <p:spPr>
              <a:xfrm>
                <a:off x="0" y="582181"/>
                <a:ext cx="5913551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95" name="成组"/>
            <p:cNvGrpSpPr/>
            <p:nvPr/>
          </p:nvGrpSpPr>
          <p:grpSpPr>
            <a:xfrm>
              <a:off x="7466652" y="0"/>
              <a:ext cx="1358539" cy="1139515"/>
              <a:chOff x="0" y="0"/>
              <a:chExt cx="1358538" cy="1139514"/>
            </a:xfrm>
          </p:grpSpPr>
          <p:sp>
            <p:nvSpPr>
              <p:cNvPr id="91" name="线条"/>
              <p:cNvSpPr/>
              <p:nvPr/>
            </p:nvSpPr>
            <p:spPr>
              <a:xfrm>
                <a:off x="43997" y="446567"/>
                <a:ext cx="1314542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2" name="remove"/>
              <p:cNvSpPr txBox="1"/>
              <p:nvPr/>
            </p:nvSpPr>
            <p:spPr>
              <a:xfrm>
                <a:off x="0" y="622300"/>
                <a:ext cx="1314541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remove</a:t>
                </a:r>
              </a:p>
            </p:txBody>
          </p:sp>
          <p:sp>
            <p:nvSpPr>
              <p:cNvPr id="93" name="add"/>
              <p:cNvSpPr txBox="1"/>
              <p:nvPr/>
            </p:nvSpPr>
            <p:spPr>
              <a:xfrm>
                <a:off x="177800" y="0"/>
                <a:ext cx="722205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add</a:t>
                </a:r>
              </a:p>
            </p:txBody>
          </p:sp>
          <p:sp>
            <p:nvSpPr>
              <p:cNvPr id="94" name="线条"/>
              <p:cNvSpPr/>
              <p:nvPr/>
            </p:nvSpPr>
            <p:spPr>
              <a:xfrm>
                <a:off x="43997" y="713267"/>
                <a:ext cx="1314542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100" name="成组"/>
            <p:cNvGrpSpPr/>
            <p:nvPr/>
          </p:nvGrpSpPr>
          <p:grpSpPr>
            <a:xfrm>
              <a:off x="-1" y="1273855"/>
              <a:ext cx="1358540" cy="1139516"/>
              <a:chOff x="0" y="0"/>
              <a:chExt cx="1358538" cy="1139514"/>
            </a:xfrm>
          </p:grpSpPr>
          <p:sp>
            <p:nvSpPr>
              <p:cNvPr id="96" name="线条"/>
              <p:cNvSpPr/>
              <p:nvPr/>
            </p:nvSpPr>
            <p:spPr>
              <a:xfrm>
                <a:off x="43997" y="446567"/>
                <a:ext cx="1314542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7" name="remove"/>
              <p:cNvSpPr txBox="1"/>
              <p:nvPr/>
            </p:nvSpPr>
            <p:spPr>
              <a:xfrm>
                <a:off x="0" y="622300"/>
                <a:ext cx="1314541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remove</a:t>
                </a:r>
              </a:p>
            </p:txBody>
          </p:sp>
          <p:sp>
            <p:nvSpPr>
              <p:cNvPr id="98" name="add"/>
              <p:cNvSpPr txBox="1"/>
              <p:nvPr/>
            </p:nvSpPr>
            <p:spPr>
              <a:xfrm>
                <a:off x="177800" y="0"/>
                <a:ext cx="722205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add</a:t>
                </a:r>
              </a:p>
            </p:txBody>
          </p:sp>
          <p:sp>
            <p:nvSpPr>
              <p:cNvPr id="99" name="线条"/>
              <p:cNvSpPr/>
              <p:nvPr/>
            </p:nvSpPr>
            <p:spPr>
              <a:xfrm>
                <a:off x="43997" y="713267"/>
                <a:ext cx="1314542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  <p:sp>
        <p:nvSpPr>
          <p:cNvPr id="102" name="作为栈："/>
          <p:cNvSpPr txBox="1"/>
          <p:nvPr/>
        </p:nvSpPr>
        <p:spPr>
          <a:xfrm>
            <a:off x="338130" y="1391072"/>
            <a:ext cx="1696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作为栈：</a:t>
            </a:r>
          </a:p>
        </p:txBody>
      </p:sp>
      <p:sp>
        <p:nvSpPr>
          <p:cNvPr id="103" name="线条"/>
          <p:cNvSpPr/>
          <p:nvPr/>
        </p:nvSpPr>
        <p:spPr>
          <a:xfrm>
            <a:off x="3492848" y="5069445"/>
            <a:ext cx="5913551" cy="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4" name="线条"/>
          <p:cNvSpPr/>
          <p:nvPr/>
        </p:nvSpPr>
        <p:spPr>
          <a:xfrm>
            <a:off x="3492848" y="5651627"/>
            <a:ext cx="5913551" cy="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5" name="线条"/>
          <p:cNvSpPr/>
          <p:nvPr/>
        </p:nvSpPr>
        <p:spPr>
          <a:xfrm>
            <a:off x="3492848" y="6343301"/>
            <a:ext cx="5913551" cy="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6" name="线条"/>
          <p:cNvSpPr/>
          <p:nvPr/>
        </p:nvSpPr>
        <p:spPr>
          <a:xfrm>
            <a:off x="3492848" y="6925482"/>
            <a:ext cx="5913551" cy="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3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7" name="栈顶"/>
          <p:cNvSpPr txBox="1"/>
          <p:nvPr/>
        </p:nvSpPr>
        <p:spPr>
          <a:xfrm>
            <a:off x="9573321" y="5024763"/>
            <a:ext cx="934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栈顶</a:t>
            </a:r>
          </a:p>
        </p:txBody>
      </p:sp>
      <p:sp>
        <p:nvSpPr>
          <p:cNvPr id="108" name="栈顶"/>
          <p:cNvSpPr txBox="1"/>
          <p:nvPr/>
        </p:nvSpPr>
        <p:spPr>
          <a:xfrm>
            <a:off x="2166288" y="6330601"/>
            <a:ext cx="934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栈顶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equ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Deque</a:t>
            </a:r>
          </a:p>
        </p:txBody>
      </p:sp>
      <p:grpSp>
        <p:nvGrpSpPr>
          <p:cNvPr id="124" name="成组"/>
          <p:cNvGrpSpPr/>
          <p:nvPr/>
        </p:nvGrpSpPr>
        <p:grpSpPr>
          <a:xfrm>
            <a:off x="1968227" y="2713563"/>
            <a:ext cx="9023191" cy="1157114"/>
            <a:chOff x="0" y="0"/>
            <a:chExt cx="9023189" cy="1157113"/>
          </a:xfrm>
        </p:grpSpPr>
        <p:grpSp>
          <p:nvGrpSpPr>
            <p:cNvPr id="113" name="成组"/>
            <p:cNvGrpSpPr/>
            <p:nvPr/>
          </p:nvGrpSpPr>
          <p:grpSpPr>
            <a:xfrm>
              <a:off x="1554819" y="305065"/>
              <a:ext cx="5913552" cy="582182"/>
              <a:chOff x="0" y="0"/>
              <a:chExt cx="5913550" cy="582181"/>
            </a:xfrm>
          </p:grpSpPr>
          <p:sp>
            <p:nvSpPr>
              <p:cNvPr id="111" name="线条"/>
              <p:cNvSpPr/>
              <p:nvPr/>
            </p:nvSpPr>
            <p:spPr>
              <a:xfrm>
                <a:off x="0" y="0"/>
                <a:ext cx="5913551" cy="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2" name="线条"/>
              <p:cNvSpPr/>
              <p:nvPr/>
            </p:nvSpPr>
            <p:spPr>
              <a:xfrm>
                <a:off x="0" y="582181"/>
                <a:ext cx="5913551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118" name="成组"/>
            <p:cNvGrpSpPr/>
            <p:nvPr/>
          </p:nvGrpSpPr>
          <p:grpSpPr>
            <a:xfrm>
              <a:off x="-1" y="17598"/>
              <a:ext cx="1358540" cy="1139516"/>
              <a:chOff x="0" y="0"/>
              <a:chExt cx="1358538" cy="1139514"/>
            </a:xfrm>
          </p:grpSpPr>
          <p:sp>
            <p:nvSpPr>
              <p:cNvPr id="114" name="线条"/>
              <p:cNvSpPr/>
              <p:nvPr/>
            </p:nvSpPr>
            <p:spPr>
              <a:xfrm>
                <a:off x="43997" y="446567"/>
                <a:ext cx="1314542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5" name="remove"/>
              <p:cNvSpPr txBox="1"/>
              <p:nvPr/>
            </p:nvSpPr>
            <p:spPr>
              <a:xfrm>
                <a:off x="0" y="622300"/>
                <a:ext cx="1314541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remove</a:t>
                </a:r>
              </a:p>
            </p:txBody>
          </p:sp>
          <p:sp>
            <p:nvSpPr>
              <p:cNvPr id="116" name="add"/>
              <p:cNvSpPr txBox="1"/>
              <p:nvPr/>
            </p:nvSpPr>
            <p:spPr>
              <a:xfrm>
                <a:off x="177800" y="0"/>
                <a:ext cx="722205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add</a:t>
                </a:r>
              </a:p>
            </p:txBody>
          </p:sp>
          <p:sp>
            <p:nvSpPr>
              <p:cNvPr id="117" name="线条"/>
              <p:cNvSpPr/>
              <p:nvPr/>
            </p:nvSpPr>
            <p:spPr>
              <a:xfrm>
                <a:off x="43997" y="713267"/>
                <a:ext cx="1314542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123" name="成组"/>
            <p:cNvGrpSpPr/>
            <p:nvPr/>
          </p:nvGrpSpPr>
          <p:grpSpPr>
            <a:xfrm>
              <a:off x="7664651" y="0"/>
              <a:ext cx="1358539" cy="1139515"/>
              <a:chOff x="0" y="0"/>
              <a:chExt cx="1358538" cy="1139514"/>
            </a:xfrm>
          </p:grpSpPr>
          <p:sp>
            <p:nvSpPr>
              <p:cNvPr id="119" name="线条"/>
              <p:cNvSpPr/>
              <p:nvPr/>
            </p:nvSpPr>
            <p:spPr>
              <a:xfrm>
                <a:off x="43997" y="446567"/>
                <a:ext cx="1314542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0" name="remove"/>
              <p:cNvSpPr txBox="1"/>
              <p:nvPr/>
            </p:nvSpPr>
            <p:spPr>
              <a:xfrm>
                <a:off x="0" y="622300"/>
                <a:ext cx="1314541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remove</a:t>
                </a:r>
              </a:p>
            </p:txBody>
          </p:sp>
          <p:sp>
            <p:nvSpPr>
              <p:cNvPr id="121" name="add"/>
              <p:cNvSpPr txBox="1"/>
              <p:nvPr/>
            </p:nvSpPr>
            <p:spPr>
              <a:xfrm>
                <a:off x="177800" y="0"/>
                <a:ext cx="722205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add</a:t>
                </a:r>
              </a:p>
            </p:txBody>
          </p:sp>
          <p:sp>
            <p:nvSpPr>
              <p:cNvPr id="122" name="线条"/>
              <p:cNvSpPr/>
              <p:nvPr/>
            </p:nvSpPr>
            <p:spPr>
              <a:xfrm>
                <a:off x="43997" y="713267"/>
                <a:ext cx="1314542" cy="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  <p:sp>
        <p:nvSpPr>
          <p:cNvPr id="125" name="任意组合："/>
          <p:cNvSpPr txBox="1"/>
          <p:nvPr/>
        </p:nvSpPr>
        <p:spPr>
          <a:xfrm>
            <a:off x="603137" y="1391072"/>
            <a:ext cx="2077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任意组合：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双端队列double ended queue(Deque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marR="53753" indent="53753" defTabSz="1204722">
              <a:defRPr sz="3720"/>
            </a:lvl1pPr>
          </a:lstStyle>
          <a:p>
            <a:pPr/>
            <a:r>
              <a:t>双端队列double ended queue(Deque)</a:t>
            </a:r>
          </a:p>
        </p:txBody>
      </p:sp>
      <p:sp>
        <p:nvSpPr>
          <p:cNvPr id="128" name="例如我们去电影院排队买票：…"/>
          <p:cNvSpPr txBox="1"/>
          <p:nvPr/>
        </p:nvSpPr>
        <p:spPr>
          <a:xfrm>
            <a:off x="156138" y="2095499"/>
            <a:ext cx="12752874" cy="5613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indent="0">
              <a:spcBef>
                <a:spcPts val="2200"/>
              </a:spcBef>
              <a:defRPr>
                <a:solidFill>
                  <a:srgbClr val="121212"/>
                </a:solidFill>
              </a:defRPr>
            </a:pPr>
            <a:r>
              <a:t>例如我们去电影院排队买票：</a:t>
            </a:r>
          </a:p>
          <a:p>
            <a:pPr indent="0">
              <a:spcBef>
                <a:spcPts val="2200"/>
              </a:spcBef>
              <a:defRPr>
                <a:solidFill>
                  <a:srgbClr val="121212"/>
                </a:solidFill>
              </a:defRPr>
            </a:pPr>
            <a:r>
              <a:t>一个刚刚买完票的人想回来咨询下简单信息，就可以直接回到队伍的头部。</a:t>
            </a:r>
          </a:p>
          <a:p>
            <a:pPr indent="0">
              <a:spcBef>
                <a:spcPts val="2200"/>
              </a:spcBef>
              <a:defRPr>
                <a:solidFill>
                  <a:srgbClr val="121212"/>
                </a:solidFill>
              </a:defRPr>
            </a:pPr>
            <a:r>
              <a:t>某些人正在队尾排队，如果比较赶时间，改变看电影的计划了，就可以从队尾直接离开队伍。</a:t>
            </a:r>
          </a:p>
          <a:p>
            <a:pPr indent="0">
              <a:spcBef>
                <a:spcPts val="2200"/>
              </a:spcBef>
              <a:defRPr>
                <a:solidFill>
                  <a:srgbClr val="121212"/>
                </a:solidFill>
              </a:defRPr>
            </a:pPr>
            <a:r>
              <a:t>计算机科学中，双端队列常见的应用是存储一系列的撤销操作时。</a:t>
            </a:r>
          </a:p>
          <a:p>
            <a:pPr indent="0">
              <a:spcBef>
                <a:spcPts val="2200"/>
              </a:spcBef>
              <a:defRPr>
                <a:solidFill>
                  <a:srgbClr val="121212"/>
                </a:solidFill>
              </a:defRPr>
            </a:pPr>
            <a:r>
              <a:t>每当用户进行一个操作，改操作就会被存放在一个双端队列中。当用户Ctrl+Z时，该操作会被从双端队列弹出，表示它被从后面移除了。</a:t>
            </a:r>
          </a:p>
        </p:txBody>
      </p:sp>
      <p:sp>
        <p:nvSpPr>
          <p:cNvPr id="129" name="摘自：https://zhuanlan.zhihu.com/p/73771457?ivk_sa=1024320u"/>
          <p:cNvSpPr txBox="1"/>
          <p:nvPr/>
        </p:nvSpPr>
        <p:spPr>
          <a:xfrm>
            <a:off x="118125" y="1327572"/>
            <a:ext cx="10270646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摘自：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https://zhuanlan.zhihu.com/p/73771457?ivk_sa=1024320u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Deque的接口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Deque的接口</a:t>
            </a:r>
          </a:p>
        </p:txBody>
      </p:sp>
      <p:sp>
        <p:nvSpPr>
          <p:cNvPr id="132" name="public interface IDeque&lt;T&gt; {…"/>
          <p:cNvSpPr txBox="1"/>
          <p:nvPr/>
        </p:nvSpPr>
        <p:spPr>
          <a:xfrm>
            <a:off x="2525315" y="1337657"/>
            <a:ext cx="8954617" cy="7095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interface</a:t>
            </a:r>
            <a:r>
              <a:t> IDeque&lt;T&gt; {</a:t>
            </a:r>
          </a:p>
          <a:p>
            <a:pPr indent="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clear();</a:t>
            </a:r>
          </a:p>
          <a:p>
            <a:pPr indent="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isEmpty();</a:t>
            </a:r>
          </a:p>
          <a:p>
            <a:pPr indent="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size();</a:t>
            </a:r>
          </a:p>
          <a:p>
            <a:pPr indent="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offerFirst(T </a:t>
            </a:r>
            <a:r>
              <a:rPr>
                <a:solidFill>
                  <a:srgbClr val="7E504F"/>
                </a:solidFill>
              </a:rPr>
              <a:t>x</a:t>
            </a:r>
            <a:r>
              <a:t>);</a:t>
            </a:r>
            <a:r>
              <a:rPr>
                <a:solidFill>
                  <a:srgbClr val="4E9072"/>
                </a:solidFill>
              </a:rPr>
              <a:t>//入队返回true</a:t>
            </a:r>
          </a:p>
          <a:p>
            <a:pPr indent="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T pollFirst(); </a:t>
            </a:r>
            <a:r>
              <a:rPr>
                <a:solidFill>
                  <a:srgbClr val="4E9072"/>
                </a:solidFill>
              </a:rPr>
              <a:t>// 队空返回null</a:t>
            </a:r>
          </a:p>
          <a:p>
            <a:pPr indent="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T peekFirst();</a:t>
            </a:r>
            <a:r>
              <a:rPr>
                <a:solidFill>
                  <a:srgbClr val="4E9072"/>
                </a:solidFill>
              </a:rPr>
              <a:t>// 队空返回null</a:t>
            </a:r>
          </a:p>
          <a:p>
            <a:pPr indent="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offerLast(T </a:t>
            </a:r>
            <a:r>
              <a:rPr>
                <a:solidFill>
                  <a:srgbClr val="7E504F"/>
                </a:solidFill>
              </a:rPr>
              <a:t>x</a:t>
            </a:r>
            <a:r>
              <a:t>);</a:t>
            </a:r>
            <a:r>
              <a:rPr>
                <a:solidFill>
                  <a:srgbClr val="4E9072"/>
                </a:solidFill>
              </a:rPr>
              <a:t>//入队返回true</a:t>
            </a:r>
          </a:p>
          <a:p>
            <a:pPr indent="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T pollLast();</a:t>
            </a:r>
            <a:r>
              <a:rPr>
                <a:solidFill>
                  <a:srgbClr val="4E9072"/>
                </a:solidFill>
              </a:rPr>
              <a:t>// 队空返回null</a:t>
            </a:r>
          </a:p>
          <a:p>
            <a:pPr indent="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T peekLast();</a:t>
            </a:r>
            <a:r>
              <a:rPr>
                <a:solidFill>
                  <a:srgbClr val="4E9072"/>
                </a:solidFill>
              </a:rPr>
              <a:t>// 队空返回null</a:t>
            </a:r>
          </a:p>
          <a:p>
            <a:pPr indent="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Deque-数组实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Deque-数组实现</a:t>
            </a:r>
          </a:p>
        </p:txBody>
      </p:sp>
      <p:sp>
        <p:nvSpPr>
          <p:cNvPr id="135" name="public class CDeque&lt;T&gt; implements IDeque&lt;T&gt; {…"/>
          <p:cNvSpPr txBox="1"/>
          <p:nvPr/>
        </p:nvSpPr>
        <p:spPr>
          <a:xfrm>
            <a:off x="2206382" y="4277411"/>
            <a:ext cx="8688196" cy="3621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CDeque&lt;T&gt;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IDeque&lt;T&gt;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Object[]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head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出队(队头)的位置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tail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入队的位置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CDeque(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maxSize</a:t>
            </a:r>
            <a:r>
              <a:t>) {// 空队列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Object[</a:t>
            </a:r>
            <a:r>
              <a:rPr>
                <a:solidFill>
                  <a:srgbClr val="7E504F"/>
                </a:solidFill>
              </a:rPr>
              <a:t>maxSize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152" name="成组"/>
          <p:cNvGrpSpPr/>
          <p:nvPr/>
        </p:nvGrpSpPr>
        <p:grpSpPr>
          <a:xfrm>
            <a:off x="3466491" y="1143695"/>
            <a:ext cx="4419602" cy="2517850"/>
            <a:chOff x="0" y="0"/>
            <a:chExt cx="4419601" cy="2517848"/>
          </a:xfrm>
        </p:grpSpPr>
        <p:sp>
          <p:nvSpPr>
            <p:cNvPr id="136" name="c"/>
            <p:cNvSpPr/>
            <p:nvPr/>
          </p:nvSpPr>
          <p:spPr>
            <a:xfrm>
              <a:off x="1476586" y="996244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37" name="线条"/>
            <p:cNvSpPr/>
            <p:nvPr/>
          </p:nvSpPr>
          <p:spPr>
            <a:xfrm flipH="1">
              <a:off x="435186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8" name="线条"/>
            <p:cNvSpPr/>
            <p:nvPr/>
          </p:nvSpPr>
          <p:spPr>
            <a:xfrm flipH="1">
              <a:off x="2949788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" name="线条"/>
            <p:cNvSpPr/>
            <p:nvPr/>
          </p:nvSpPr>
          <p:spPr>
            <a:xfrm flipH="1">
              <a:off x="2211493" y="768773"/>
              <a:ext cx="2261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" name="线条"/>
            <p:cNvSpPr/>
            <p:nvPr/>
          </p:nvSpPr>
          <p:spPr>
            <a:xfrm flipH="1">
              <a:off x="147545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" name="线条"/>
            <p:cNvSpPr/>
            <p:nvPr/>
          </p:nvSpPr>
          <p:spPr>
            <a:xfrm flipH="1">
              <a:off x="73716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" name="线条"/>
            <p:cNvSpPr/>
            <p:nvPr/>
          </p:nvSpPr>
          <p:spPr>
            <a:xfrm flipH="1">
              <a:off x="1129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" name="线条"/>
            <p:cNvSpPr/>
            <p:nvPr/>
          </p:nvSpPr>
          <p:spPr>
            <a:xfrm flipH="1">
              <a:off x="3386" y="766514"/>
              <a:ext cx="4350741" cy="2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" name="线条"/>
            <p:cNvSpPr/>
            <p:nvPr/>
          </p:nvSpPr>
          <p:spPr>
            <a:xfrm flipH="1">
              <a:off x="2257" y="1943947"/>
              <a:ext cx="4350741" cy="1580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" name="线条"/>
            <p:cNvSpPr/>
            <p:nvPr/>
          </p:nvSpPr>
          <p:spPr>
            <a:xfrm flipH="1">
              <a:off x="3685822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6" name="0     1     2     3    4     5"/>
            <p:cNvSpPr/>
            <p:nvPr/>
          </p:nvSpPr>
          <p:spPr>
            <a:xfrm>
              <a:off x="0" y="-1"/>
              <a:ext cx="44196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0     1     2     3    4     5</a:t>
              </a:r>
            </a:p>
          </p:txBody>
        </p:sp>
        <p:sp>
          <p:nvSpPr>
            <p:cNvPr id="147" name="线条"/>
            <p:cNvSpPr/>
            <p:nvPr/>
          </p:nvSpPr>
          <p:spPr>
            <a:xfrm>
              <a:off x="1792900" y="19447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" name="线条"/>
            <p:cNvSpPr/>
            <p:nvPr/>
          </p:nvSpPr>
          <p:spPr>
            <a:xfrm>
              <a:off x="3341229" y="1989461"/>
              <a:ext cx="1" cy="50085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9" name="d"/>
            <p:cNvSpPr/>
            <p:nvPr/>
          </p:nvSpPr>
          <p:spPr>
            <a:xfrm>
              <a:off x="2278662" y="992293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50" name="head"/>
            <p:cNvSpPr/>
            <p:nvPr/>
          </p:nvSpPr>
          <p:spPr>
            <a:xfrm>
              <a:off x="1309331" y="2517848"/>
              <a:ext cx="98345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151" name="tail"/>
            <p:cNvSpPr/>
            <p:nvPr/>
          </p:nvSpPr>
          <p:spPr>
            <a:xfrm>
              <a:off x="2988295" y="2479748"/>
              <a:ext cx="84778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</p:grpSp>
      <p:sp>
        <p:nvSpPr>
          <p:cNvPr id="153" name="head，tail = ?"/>
          <p:cNvSpPr txBox="1"/>
          <p:nvPr/>
        </p:nvSpPr>
        <p:spPr>
          <a:xfrm>
            <a:off x="2247827" y="8059718"/>
            <a:ext cx="2333456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head，tail =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Deque-队空条件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Deque-队空条件</a:t>
            </a:r>
          </a:p>
        </p:txBody>
      </p:sp>
      <p:grpSp>
        <p:nvGrpSpPr>
          <p:cNvPr id="170" name="成组"/>
          <p:cNvGrpSpPr/>
          <p:nvPr/>
        </p:nvGrpSpPr>
        <p:grpSpPr>
          <a:xfrm>
            <a:off x="4449773" y="1520797"/>
            <a:ext cx="4419602" cy="2517850"/>
            <a:chOff x="0" y="0"/>
            <a:chExt cx="4419601" cy="2517848"/>
          </a:xfrm>
        </p:grpSpPr>
        <p:sp>
          <p:nvSpPr>
            <p:cNvPr id="156" name="线条"/>
            <p:cNvSpPr/>
            <p:nvPr/>
          </p:nvSpPr>
          <p:spPr>
            <a:xfrm flipH="1">
              <a:off x="435186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7" name="线条"/>
            <p:cNvSpPr/>
            <p:nvPr/>
          </p:nvSpPr>
          <p:spPr>
            <a:xfrm flipH="1">
              <a:off x="2949788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" name="线条"/>
            <p:cNvSpPr/>
            <p:nvPr/>
          </p:nvSpPr>
          <p:spPr>
            <a:xfrm flipH="1">
              <a:off x="2211493" y="768773"/>
              <a:ext cx="2261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9" name="线条"/>
            <p:cNvSpPr/>
            <p:nvPr/>
          </p:nvSpPr>
          <p:spPr>
            <a:xfrm flipH="1">
              <a:off x="147545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0" name="线条"/>
            <p:cNvSpPr/>
            <p:nvPr/>
          </p:nvSpPr>
          <p:spPr>
            <a:xfrm flipH="1">
              <a:off x="73716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1" name="线条"/>
            <p:cNvSpPr/>
            <p:nvPr/>
          </p:nvSpPr>
          <p:spPr>
            <a:xfrm flipH="1">
              <a:off x="1129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2" name="线条"/>
            <p:cNvSpPr/>
            <p:nvPr/>
          </p:nvSpPr>
          <p:spPr>
            <a:xfrm flipH="1">
              <a:off x="3386" y="766514"/>
              <a:ext cx="4350741" cy="2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" name="线条"/>
            <p:cNvSpPr/>
            <p:nvPr/>
          </p:nvSpPr>
          <p:spPr>
            <a:xfrm flipH="1">
              <a:off x="2257" y="1943947"/>
              <a:ext cx="4350741" cy="1580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4" name="线条"/>
            <p:cNvSpPr/>
            <p:nvPr/>
          </p:nvSpPr>
          <p:spPr>
            <a:xfrm flipH="1">
              <a:off x="3685822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5" name="0     1     2     3    4     5"/>
            <p:cNvSpPr/>
            <p:nvPr/>
          </p:nvSpPr>
          <p:spPr>
            <a:xfrm>
              <a:off x="0" y="-1"/>
              <a:ext cx="44196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0     1     2     3    4     5</a:t>
              </a:r>
            </a:p>
          </p:txBody>
        </p:sp>
        <p:sp>
          <p:nvSpPr>
            <p:cNvPr id="166" name="线条"/>
            <p:cNvSpPr/>
            <p:nvPr/>
          </p:nvSpPr>
          <p:spPr>
            <a:xfrm>
              <a:off x="1792900" y="19447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7" name="head"/>
            <p:cNvSpPr/>
            <p:nvPr/>
          </p:nvSpPr>
          <p:spPr>
            <a:xfrm>
              <a:off x="953731" y="2517848"/>
              <a:ext cx="98345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168" name="tail"/>
            <p:cNvSpPr/>
            <p:nvPr/>
          </p:nvSpPr>
          <p:spPr>
            <a:xfrm>
              <a:off x="1870695" y="2479748"/>
              <a:ext cx="84778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sp>
          <p:nvSpPr>
            <p:cNvPr id="169" name="线条"/>
            <p:cNvSpPr/>
            <p:nvPr/>
          </p:nvSpPr>
          <p:spPr>
            <a:xfrm>
              <a:off x="2008800" y="19447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71" name="head == tail，队空。"/>
          <p:cNvSpPr txBox="1"/>
          <p:nvPr/>
        </p:nvSpPr>
        <p:spPr>
          <a:xfrm>
            <a:off x="241033" y="2554686"/>
            <a:ext cx="363328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head == tail，队空。</a:t>
            </a:r>
          </a:p>
        </p:txBody>
      </p:sp>
      <p:sp>
        <p:nvSpPr>
          <p:cNvPr id="172" name="public boolean isEmpty() {…"/>
          <p:cNvSpPr txBox="1"/>
          <p:nvPr/>
        </p:nvSpPr>
        <p:spPr>
          <a:xfrm>
            <a:off x="3055810" y="5393140"/>
            <a:ext cx="5951576" cy="1407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	isEmpty() {</a:t>
            </a:r>
          </a:p>
          <a:p>
            <a:pPr indent="0">
              <a:lnSpc>
                <a:spcPct val="100000"/>
              </a:lnSpc>
              <a:defRPr sz="26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head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0326CC"/>
                </a:solidFill>
              </a:rPr>
              <a:t>tail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Dequ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Deque</a:t>
            </a:r>
          </a:p>
        </p:txBody>
      </p:sp>
      <p:sp>
        <p:nvSpPr>
          <p:cNvPr id="175" name="概念上， Deque是两端无限长的队列：…"/>
          <p:cNvSpPr txBox="1"/>
          <p:nvPr/>
        </p:nvSpPr>
        <p:spPr>
          <a:xfrm>
            <a:off x="909094" y="1104236"/>
            <a:ext cx="8323817" cy="1947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>
                <a:solidFill>
                  <a:srgbClr val="000000"/>
                </a:solidFill>
              </a:defRPr>
            </a:pPr>
            <a:r>
              <a:t>概念上， Deque是两端无限长的队列：</a:t>
            </a:r>
          </a:p>
          <a:p>
            <a:pPr lvl="2" marL="1062789" indent="-300789">
              <a:buSzPct val="60000"/>
              <a:buBlip>
                <a:blip r:embed="rId2"/>
              </a:buBlip>
              <a:defRPr>
                <a:solidFill>
                  <a:srgbClr val="000000"/>
                </a:solidFill>
              </a:defRPr>
            </a:pPr>
            <a:r>
              <a:t>head端操作：offerFirst、pollFirst和peekFirst</a:t>
            </a:r>
          </a:p>
          <a:p>
            <a:pPr lvl="2" marL="1062789" indent="-300789">
              <a:buSzPct val="60000"/>
              <a:buBlip>
                <a:blip r:embed="rId2"/>
              </a:buBlip>
              <a:defRPr>
                <a:solidFill>
                  <a:srgbClr val="000000"/>
                </a:solidFill>
              </a:defRPr>
            </a:pPr>
            <a:r>
              <a:t>tail端操作：offerLast、pollLast和peekLast</a:t>
            </a:r>
          </a:p>
        </p:txBody>
      </p:sp>
      <p:sp>
        <p:nvSpPr>
          <p:cNvPr id="176" name="实现时，采用循环队列：…"/>
          <p:cNvSpPr txBox="1"/>
          <p:nvPr/>
        </p:nvSpPr>
        <p:spPr>
          <a:xfrm>
            <a:off x="114306" y="5759156"/>
            <a:ext cx="12669598" cy="28171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>
                <a:solidFill>
                  <a:srgbClr val="000000"/>
                </a:solidFill>
              </a:defRPr>
            </a:pPr>
            <a:r>
              <a:t>实现时，采用循环队列：</a:t>
            </a:r>
          </a:p>
          <a:p>
            <a:pPr lvl="1" marL="681789" indent="-300789">
              <a:lnSpc>
                <a:spcPct val="100000"/>
              </a:lnSpc>
              <a:buSzPct val="60000"/>
              <a:buBlip>
                <a:blip r:embed="rId2"/>
              </a:buBlip>
              <a:defRPr>
                <a:solidFill>
                  <a:srgbClr val="000000"/>
                </a:solidFill>
              </a:defRPr>
            </a:pPr>
            <a:r>
              <a:t>head端出队、tail端入队，其值增大(箭头方向)，使用+ 运算，运算结果</a:t>
            </a:r>
          </a:p>
          <a:p>
            <a:pPr lvl="1" indent="228600">
              <a:lnSpc>
                <a:spcPct val="100000"/>
              </a:lnSpc>
              <a:defRPr>
                <a:solidFill>
                  <a:srgbClr val="000000"/>
                </a:solidFill>
              </a:defRPr>
            </a:pPr>
            <a:r>
              <a:t>      需要修正，达到循环的目的</a:t>
            </a:r>
          </a:p>
          <a:p>
            <a:pPr lvl="1" marL="681789" indent="-300789">
              <a:lnSpc>
                <a:spcPct val="100000"/>
              </a:lnSpc>
              <a:buSzPct val="60000"/>
              <a:buBlip>
                <a:blip r:embed="rId2"/>
              </a:buBlip>
              <a:defRPr>
                <a:solidFill>
                  <a:srgbClr val="000000"/>
                </a:solidFill>
              </a:defRPr>
            </a:pPr>
            <a:r>
              <a:t>head端入队、tail端出队，其值减少(反箭头方向)，使用-运算，运算结果</a:t>
            </a:r>
          </a:p>
          <a:p>
            <a:pPr lvl="1" indent="228600">
              <a:lnSpc>
                <a:spcPct val="100000"/>
              </a:lnSpc>
              <a:defRPr>
                <a:solidFill>
                  <a:srgbClr val="000000"/>
                </a:solidFill>
              </a:defRPr>
            </a:pPr>
            <a:r>
              <a:t>      需要修正，达到循环的目的</a:t>
            </a:r>
          </a:p>
        </p:txBody>
      </p:sp>
      <p:grpSp>
        <p:nvGrpSpPr>
          <p:cNvPr id="190" name="成组"/>
          <p:cNvGrpSpPr/>
          <p:nvPr/>
        </p:nvGrpSpPr>
        <p:grpSpPr>
          <a:xfrm>
            <a:off x="960684" y="3592122"/>
            <a:ext cx="11043486" cy="1888023"/>
            <a:chOff x="0" y="0"/>
            <a:chExt cx="11043485" cy="1888022"/>
          </a:xfrm>
        </p:grpSpPr>
        <p:sp>
          <p:nvSpPr>
            <p:cNvPr id="177" name="矩形"/>
            <p:cNvSpPr/>
            <p:nvPr/>
          </p:nvSpPr>
          <p:spPr>
            <a:xfrm>
              <a:off x="562211" y="277622"/>
              <a:ext cx="3807054" cy="71774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8" name="矩形"/>
            <p:cNvSpPr/>
            <p:nvPr/>
          </p:nvSpPr>
          <p:spPr>
            <a:xfrm>
              <a:off x="6812754" y="277622"/>
              <a:ext cx="3672585" cy="71774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9" name="线条"/>
            <p:cNvSpPr/>
            <p:nvPr/>
          </p:nvSpPr>
          <p:spPr>
            <a:xfrm flipV="1">
              <a:off x="6825393" y="268963"/>
              <a:ext cx="1" cy="735755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0" name="..."/>
            <p:cNvSpPr/>
            <p:nvPr/>
          </p:nvSpPr>
          <p:spPr>
            <a:xfrm>
              <a:off x="4371826" y="277622"/>
              <a:ext cx="2446918" cy="71774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...</a:t>
              </a:r>
            </a:p>
          </p:txBody>
        </p:sp>
        <p:sp>
          <p:nvSpPr>
            <p:cNvPr id="181" name="head"/>
            <p:cNvSpPr txBox="1"/>
            <p:nvPr/>
          </p:nvSpPr>
          <p:spPr>
            <a:xfrm>
              <a:off x="3668888" y="1370807"/>
              <a:ext cx="89131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182" name="线条"/>
            <p:cNvSpPr/>
            <p:nvPr/>
          </p:nvSpPr>
          <p:spPr>
            <a:xfrm>
              <a:off x="609619" y="0"/>
              <a:ext cx="9993211" cy="0"/>
            </a:xfrm>
            <a:prstGeom prst="line">
              <a:avLst/>
            </a:prstGeom>
            <a:noFill/>
            <a:ln w="38100" cap="flat">
              <a:solidFill>
                <a:schemeClr val="accent5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3" name="线条"/>
            <p:cNvSpPr/>
            <p:nvPr/>
          </p:nvSpPr>
          <p:spPr>
            <a:xfrm flipV="1">
              <a:off x="3867391" y="270022"/>
              <a:ext cx="1" cy="731034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4" name="线条"/>
            <p:cNvSpPr/>
            <p:nvPr/>
          </p:nvSpPr>
          <p:spPr>
            <a:xfrm flipV="1">
              <a:off x="7406119" y="270022"/>
              <a:ext cx="1" cy="731034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5" name="线条"/>
            <p:cNvSpPr/>
            <p:nvPr/>
          </p:nvSpPr>
          <p:spPr>
            <a:xfrm flipV="1">
              <a:off x="4114544" y="1000670"/>
              <a:ext cx="1" cy="51721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custDash>
                <a:ds d="200000" sp="200000"/>
              </a:custDash>
              <a:miter lim="400000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6" name="tail"/>
            <p:cNvSpPr txBox="1"/>
            <p:nvPr/>
          </p:nvSpPr>
          <p:spPr>
            <a:xfrm>
              <a:off x="6711154" y="1350838"/>
              <a:ext cx="65876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sp>
          <p:nvSpPr>
            <p:cNvPr id="187" name="线条"/>
            <p:cNvSpPr/>
            <p:nvPr/>
          </p:nvSpPr>
          <p:spPr>
            <a:xfrm flipV="1">
              <a:off x="7156810" y="980701"/>
              <a:ext cx="1" cy="51721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custDash>
                <a:ds d="200000" sp="200000"/>
              </a:custDash>
              <a:miter lim="400000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8" name="矩形"/>
            <p:cNvSpPr/>
            <p:nvPr/>
          </p:nvSpPr>
          <p:spPr>
            <a:xfrm>
              <a:off x="10468316" y="264922"/>
              <a:ext cx="575170" cy="7431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9" name="矩形"/>
            <p:cNvSpPr/>
            <p:nvPr/>
          </p:nvSpPr>
          <p:spPr>
            <a:xfrm>
              <a:off x="0" y="264922"/>
              <a:ext cx="575170" cy="7431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循环的实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循环的实现</a:t>
            </a:r>
          </a:p>
        </p:txBody>
      </p:sp>
      <p:sp>
        <p:nvSpPr>
          <p:cNvPr id="193" name="static final int dec(int i, int modulus) {…"/>
          <p:cNvSpPr txBox="1"/>
          <p:nvPr/>
        </p:nvSpPr>
        <p:spPr>
          <a:xfrm>
            <a:off x="2215499" y="1492672"/>
            <a:ext cx="8573803" cy="4685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dec(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i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modulus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(--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0)</a:t>
            </a:r>
          </a:p>
          <a:p>
            <a:pPr indent="0">
              <a:lnSpc>
                <a:spcPct val="100000"/>
              </a:lnSpc>
              <a:defRPr sz="25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i</a:t>
            </a:r>
            <a:r>
              <a:rPr>
                <a:solidFill>
                  <a:srgbClr val="000000"/>
                </a:solidFill>
              </a:rPr>
              <a:t> = </a:t>
            </a:r>
            <a:r>
              <a:t>modulus</a:t>
            </a:r>
            <a:r>
              <a:rPr>
                <a:solidFill>
                  <a:srgbClr val="000000"/>
                </a:solidFill>
              </a:rPr>
              <a:t> - 1;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5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inc(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i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modulus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(++</a:t>
            </a:r>
            <a:r>
              <a:t>i</a:t>
            </a:r>
            <a:r>
              <a:rPr>
                <a:solidFill>
                  <a:srgbClr val="000000"/>
                </a:solidFill>
              </a:rPr>
              <a:t> &gt;= </a:t>
            </a:r>
            <a:r>
              <a:t>modulus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head端入队后，head追上tail，队满，则空间加倍，并在新的空间中重新安排数据"/>
          <p:cNvSpPr txBox="1"/>
          <p:nvPr/>
        </p:nvSpPr>
        <p:spPr>
          <a:xfrm>
            <a:off x="38339" y="1213272"/>
            <a:ext cx="12796247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2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head端入队后，head追上tail，队满，则空间加倍，并在新的空间中重新安排数据</a:t>
            </a:r>
          </a:p>
        </p:txBody>
      </p:sp>
      <p:sp>
        <p:nvSpPr>
          <p:cNvPr id="196" name="Deque-队满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Deque-队满</a:t>
            </a:r>
          </a:p>
        </p:txBody>
      </p:sp>
      <p:grpSp>
        <p:nvGrpSpPr>
          <p:cNvPr id="217" name="成组"/>
          <p:cNvGrpSpPr/>
          <p:nvPr/>
        </p:nvGrpSpPr>
        <p:grpSpPr>
          <a:xfrm>
            <a:off x="6755953" y="2451537"/>
            <a:ext cx="4520391" cy="2524280"/>
            <a:chOff x="0" y="0"/>
            <a:chExt cx="4520389" cy="2524278"/>
          </a:xfrm>
        </p:grpSpPr>
        <p:sp>
          <p:nvSpPr>
            <p:cNvPr id="197" name="c"/>
            <p:cNvSpPr/>
            <p:nvPr/>
          </p:nvSpPr>
          <p:spPr>
            <a:xfrm>
              <a:off x="1641686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98" name="线条"/>
            <p:cNvSpPr/>
            <p:nvPr/>
          </p:nvSpPr>
          <p:spPr>
            <a:xfrm flipH="1">
              <a:off x="435186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9" name="线条"/>
            <p:cNvSpPr/>
            <p:nvPr/>
          </p:nvSpPr>
          <p:spPr>
            <a:xfrm flipH="1">
              <a:off x="2949788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0" name="线条"/>
            <p:cNvSpPr/>
            <p:nvPr/>
          </p:nvSpPr>
          <p:spPr>
            <a:xfrm flipH="1">
              <a:off x="2211493" y="768773"/>
              <a:ext cx="2261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1" name="线条"/>
            <p:cNvSpPr/>
            <p:nvPr/>
          </p:nvSpPr>
          <p:spPr>
            <a:xfrm flipH="1">
              <a:off x="147545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2" name="线条"/>
            <p:cNvSpPr/>
            <p:nvPr/>
          </p:nvSpPr>
          <p:spPr>
            <a:xfrm flipH="1">
              <a:off x="73716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3" name="线条"/>
            <p:cNvSpPr/>
            <p:nvPr/>
          </p:nvSpPr>
          <p:spPr>
            <a:xfrm flipH="1">
              <a:off x="1129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4" name="线条"/>
            <p:cNvSpPr/>
            <p:nvPr/>
          </p:nvSpPr>
          <p:spPr>
            <a:xfrm flipH="1">
              <a:off x="3386" y="766514"/>
              <a:ext cx="4350741" cy="2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5" name="线条"/>
            <p:cNvSpPr/>
            <p:nvPr/>
          </p:nvSpPr>
          <p:spPr>
            <a:xfrm flipH="1">
              <a:off x="2257" y="1943947"/>
              <a:ext cx="4350741" cy="1580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6" name="线条"/>
            <p:cNvSpPr/>
            <p:nvPr/>
          </p:nvSpPr>
          <p:spPr>
            <a:xfrm flipH="1">
              <a:off x="3685822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7" name="0     1     2     3    4     5"/>
            <p:cNvSpPr/>
            <p:nvPr/>
          </p:nvSpPr>
          <p:spPr>
            <a:xfrm>
              <a:off x="0" y="0"/>
              <a:ext cx="4419602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0     1     2     3    4     5</a:t>
              </a:r>
            </a:p>
          </p:txBody>
        </p:sp>
        <p:sp>
          <p:nvSpPr>
            <p:cNvPr id="208" name="线条"/>
            <p:cNvSpPr/>
            <p:nvPr/>
          </p:nvSpPr>
          <p:spPr>
            <a:xfrm>
              <a:off x="16659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9" name="d"/>
            <p:cNvSpPr/>
            <p:nvPr/>
          </p:nvSpPr>
          <p:spPr>
            <a:xfrm>
              <a:off x="2278662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210" name="head"/>
            <p:cNvSpPr/>
            <p:nvPr/>
          </p:nvSpPr>
          <p:spPr>
            <a:xfrm>
              <a:off x="1815015" y="2479748"/>
              <a:ext cx="98345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211" name="tail"/>
            <p:cNvSpPr/>
            <p:nvPr/>
          </p:nvSpPr>
          <p:spPr>
            <a:xfrm>
              <a:off x="1197595" y="2479748"/>
              <a:ext cx="84778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sp>
          <p:nvSpPr>
            <p:cNvPr id="212" name="e"/>
            <p:cNvSpPr/>
            <p:nvPr/>
          </p:nvSpPr>
          <p:spPr>
            <a:xfrm>
              <a:off x="3072588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213" name="f"/>
            <p:cNvSpPr/>
            <p:nvPr/>
          </p:nvSpPr>
          <p:spPr>
            <a:xfrm>
              <a:off x="3758388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214" name="g"/>
            <p:cNvSpPr/>
            <p:nvPr/>
          </p:nvSpPr>
          <p:spPr>
            <a:xfrm>
              <a:off x="166792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215" name="h"/>
            <p:cNvSpPr/>
            <p:nvPr/>
          </p:nvSpPr>
          <p:spPr>
            <a:xfrm>
              <a:off x="868928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216" name="线条"/>
            <p:cNvSpPr/>
            <p:nvPr/>
          </p:nvSpPr>
          <p:spPr>
            <a:xfrm>
              <a:off x="20469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237" name="成组"/>
          <p:cNvGrpSpPr/>
          <p:nvPr/>
        </p:nvGrpSpPr>
        <p:grpSpPr>
          <a:xfrm>
            <a:off x="1604529" y="2451537"/>
            <a:ext cx="4520390" cy="2996965"/>
            <a:chOff x="0" y="0"/>
            <a:chExt cx="4520389" cy="2996963"/>
          </a:xfrm>
        </p:grpSpPr>
        <p:sp>
          <p:nvSpPr>
            <p:cNvPr id="218" name="线条"/>
            <p:cNvSpPr/>
            <p:nvPr/>
          </p:nvSpPr>
          <p:spPr>
            <a:xfrm flipH="1">
              <a:off x="435186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9" name="线条"/>
            <p:cNvSpPr/>
            <p:nvPr/>
          </p:nvSpPr>
          <p:spPr>
            <a:xfrm flipH="1">
              <a:off x="3685822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0" name="f"/>
            <p:cNvSpPr txBox="1"/>
            <p:nvPr/>
          </p:nvSpPr>
          <p:spPr>
            <a:xfrm>
              <a:off x="3758388" y="969591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221" name="线条"/>
            <p:cNvSpPr/>
            <p:nvPr/>
          </p:nvSpPr>
          <p:spPr>
            <a:xfrm flipH="1">
              <a:off x="2949788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2" name="线条"/>
            <p:cNvSpPr/>
            <p:nvPr/>
          </p:nvSpPr>
          <p:spPr>
            <a:xfrm flipH="1">
              <a:off x="221149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3" name="线条"/>
            <p:cNvSpPr/>
            <p:nvPr/>
          </p:nvSpPr>
          <p:spPr>
            <a:xfrm flipH="1">
              <a:off x="147545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4" name="线条"/>
            <p:cNvSpPr/>
            <p:nvPr/>
          </p:nvSpPr>
          <p:spPr>
            <a:xfrm flipH="1">
              <a:off x="73716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5" name="线条"/>
            <p:cNvSpPr/>
            <p:nvPr/>
          </p:nvSpPr>
          <p:spPr>
            <a:xfrm flipH="1">
              <a:off x="1129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6" name="线条"/>
            <p:cNvSpPr/>
            <p:nvPr/>
          </p:nvSpPr>
          <p:spPr>
            <a:xfrm flipH="1">
              <a:off x="3386" y="766514"/>
              <a:ext cx="4350741" cy="2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7" name="线条"/>
            <p:cNvSpPr/>
            <p:nvPr/>
          </p:nvSpPr>
          <p:spPr>
            <a:xfrm flipH="1">
              <a:off x="2257" y="1943947"/>
              <a:ext cx="4350741" cy="1580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8" name="0     1     2     3    4     5"/>
            <p:cNvSpPr txBox="1"/>
            <p:nvPr/>
          </p:nvSpPr>
          <p:spPr>
            <a:xfrm>
              <a:off x="0" y="0"/>
              <a:ext cx="4419602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0     1     2     3    4     5</a:t>
              </a:r>
            </a:p>
          </p:txBody>
        </p:sp>
        <p:sp>
          <p:nvSpPr>
            <p:cNvPr id="229" name="线条"/>
            <p:cNvSpPr/>
            <p:nvPr/>
          </p:nvSpPr>
          <p:spPr>
            <a:xfrm>
              <a:off x="18691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0" name="d"/>
            <p:cNvSpPr txBox="1"/>
            <p:nvPr/>
          </p:nvSpPr>
          <p:spPr>
            <a:xfrm>
              <a:off x="2278662" y="992292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231" name="head"/>
            <p:cNvSpPr txBox="1"/>
            <p:nvPr/>
          </p:nvSpPr>
          <p:spPr>
            <a:xfrm>
              <a:off x="2170615" y="2479748"/>
              <a:ext cx="983457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232" name="tail"/>
            <p:cNvSpPr txBox="1"/>
            <p:nvPr/>
          </p:nvSpPr>
          <p:spPr>
            <a:xfrm>
              <a:off x="1502395" y="2479748"/>
              <a:ext cx="847787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sp>
          <p:nvSpPr>
            <p:cNvPr id="233" name="e"/>
            <p:cNvSpPr txBox="1"/>
            <p:nvPr/>
          </p:nvSpPr>
          <p:spPr>
            <a:xfrm>
              <a:off x="3072588" y="969591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234" name="g"/>
            <p:cNvSpPr txBox="1"/>
            <p:nvPr/>
          </p:nvSpPr>
          <p:spPr>
            <a:xfrm>
              <a:off x="128693" y="969591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235" name="线条"/>
            <p:cNvSpPr/>
            <p:nvPr/>
          </p:nvSpPr>
          <p:spPr>
            <a:xfrm>
              <a:off x="25549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6" name="h"/>
            <p:cNvSpPr txBox="1"/>
            <p:nvPr/>
          </p:nvSpPr>
          <p:spPr>
            <a:xfrm>
              <a:off x="738293" y="1017692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269" name="成组"/>
          <p:cNvGrpSpPr/>
          <p:nvPr/>
        </p:nvGrpSpPr>
        <p:grpSpPr>
          <a:xfrm>
            <a:off x="1874784" y="5905716"/>
            <a:ext cx="8828196" cy="2996965"/>
            <a:chOff x="0" y="0"/>
            <a:chExt cx="8828195" cy="2996963"/>
          </a:xfrm>
        </p:grpSpPr>
        <p:sp>
          <p:nvSpPr>
            <p:cNvPr id="238" name="0     1     2     3    4     5"/>
            <p:cNvSpPr txBox="1"/>
            <p:nvPr/>
          </p:nvSpPr>
          <p:spPr>
            <a:xfrm>
              <a:off x="122406" y="0"/>
              <a:ext cx="4419603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0     1     2     3    4     5</a:t>
              </a:r>
            </a:p>
          </p:txBody>
        </p:sp>
        <p:sp>
          <p:nvSpPr>
            <p:cNvPr id="239" name="线条"/>
            <p:cNvSpPr/>
            <p:nvPr/>
          </p:nvSpPr>
          <p:spPr>
            <a:xfrm flipH="1">
              <a:off x="491727" y="1956495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0" name="线条"/>
            <p:cNvSpPr/>
            <p:nvPr/>
          </p:nvSpPr>
          <p:spPr>
            <a:xfrm>
              <a:off x="4835972" y="1989461"/>
              <a:ext cx="1" cy="50085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1" name="head"/>
            <p:cNvSpPr txBox="1"/>
            <p:nvPr/>
          </p:nvSpPr>
          <p:spPr>
            <a:xfrm>
              <a:off x="0" y="2479749"/>
              <a:ext cx="983456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242" name="tail"/>
            <p:cNvSpPr txBox="1"/>
            <p:nvPr/>
          </p:nvSpPr>
          <p:spPr>
            <a:xfrm>
              <a:off x="4412079" y="2479749"/>
              <a:ext cx="847787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grpSp>
          <p:nvGrpSpPr>
            <p:cNvPr id="258" name="成组"/>
            <p:cNvGrpSpPr/>
            <p:nvPr/>
          </p:nvGrpSpPr>
          <p:grpSpPr>
            <a:xfrm>
              <a:off x="123535" y="766515"/>
              <a:ext cx="4519262" cy="1196060"/>
              <a:chOff x="0" y="0"/>
              <a:chExt cx="4519260" cy="1196058"/>
            </a:xfrm>
          </p:grpSpPr>
          <p:sp>
            <p:nvSpPr>
              <p:cNvPr id="243" name="e"/>
              <p:cNvSpPr/>
              <p:nvPr/>
            </p:nvSpPr>
            <p:spPr>
              <a:xfrm>
                <a:off x="1653257" y="203076"/>
                <a:ext cx="7620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  <p:sp>
            <p:nvSpPr>
              <p:cNvPr id="244" name="线条"/>
              <p:cNvSpPr/>
              <p:nvPr/>
            </p:nvSpPr>
            <p:spPr>
              <a:xfrm flipH="1">
                <a:off x="4350738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5" name="线条"/>
              <p:cNvSpPr/>
              <p:nvPr/>
            </p:nvSpPr>
            <p:spPr>
              <a:xfrm flipH="1">
                <a:off x="2948659" y="2257"/>
                <a:ext cx="2259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6" name="线条"/>
              <p:cNvSpPr/>
              <p:nvPr/>
            </p:nvSpPr>
            <p:spPr>
              <a:xfrm flipH="1">
                <a:off x="2210364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7" name="线条"/>
              <p:cNvSpPr/>
              <p:nvPr/>
            </p:nvSpPr>
            <p:spPr>
              <a:xfrm flipH="1">
                <a:off x="1474328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8" name="线条"/>
              <p:cNvSpPr/>
              <p:nvPr/>
            </p:nvSpPr>
            <p:spPr>
              <a:xfrm flipH="1">
                <a:off x="736035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9" name="线条"/>
              <p:cNvSpPr/>
              <p:nvPr/>
            </p:nvSpPr>
            <p:spPr>
              <a:xfrm flipH="1">
                <a:off x="-1" y="2257"/>
                <a:ext cx="2259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0" name="线条"/>
              <p:cNvSpPr/>
              <p:nvPr/>
            </p:nvSpPr>
            <p:spPr>
              <a:xfrm flipH="1">
                <a:off x="2257" y="0"/>
                <a:ext cx="4350741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1" name="线条"/>
              <p:cNvSpPr/>
              <p:nvPr/>
            </p:nvSpPr>
            <p:spPr>
              <a:xfrm flipH="1">
                <a:off x="1128" y="1177432"/>
                <a:ext cx="4350741" cy="1580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2" name="线条"/>
              <p:cNvSpPr/>
              <p:nvPr/>
            </p:nvSpPr>
            <p:spPr>
              <a:xfrm flipH="1">
                <a:off x="3684693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3" name="f"/>
              <p:cNvSpPr/>
              <p:nvPr/>
            </p:nvSpPr>
            <p:spPr>
              <a:xfrm>
                <a:off x="2404533" y="203076"/>
                <a:ext cx="7620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  <p:sp>
            <p:nvSpPr>
              <p:cNvPr id="254" name="g"/>
              <p:cNvSpPr/>
              <p:nvPr/>
            </p:nvSpPr>
            <p:spPr>
              <a:xfrm>
                <a:off x="3071459" y="203076"/>
                <a:ext cx="7620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  <p:sp>
            <p:nvSpPr>
              <p:cNvPr id="255" name="h"/>
              <p:cNvSpPr/>
              <p:nvPr/>
            </p:nvSpPr>
            <p:spPr>
              <a:xfrm>
                <a:off x="3757259" y="203076"/>
                <a:ext cx="7620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  <p:sp>
            <p:nvSpPr>
              <p:cNvPr id="256" name="c"/>
              <p:cNvSpPr/>
              <p:nvPr/>
            </p:nvSpPr>
            <p:spPr>
              <a:xfrm>
                <a:off x="152963" y="203076"/>
                <a:ext cx="7620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  <p:sp>
            <p:nvSpPr>
              <p:cNvPr id="257" name="d"/>
              <p:cNvSpPr/>
              <p:nvPr/>
            </p:nvSpPr>
            <p:spPr>
              <a:xfrm>
                <a:off x="867799" y="203076"/>
                <a:ext cx="7620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268" name="成组"/>
            <p:cNvGrpSpPr/>
            <p:nvPr/>
          </p:nvGrpSpPr>
          <p:grpSpPr>
            <a:xfrm>
              <a:off x="4475197" y="749679"/>
              <a:ext cx="4352999" cy="1196060"/>
              <a:chOff x="0" y="0"/>
              <a:chExt cx="4352997" cy="1196058"/>
            </a:xfrm>
          </p:grpSpPr>
          <p:sp>
            <p:nvSpPr>
              <p:cNvPr id="259" name="线条"/>
              <p:cNvSpPr/>
              <p:nvPr/>
            </p:nvSpPr>
            <p:spPr>
              <a:xfrm flipH="1">
                <a:off x="4350738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0" name="线条"/>
              <p:cNvSpPr/>
              <p:nvPr/>
            </p:nvSpPr>
            <p:spPr>
              <a:xfrm flipH="1">
                <a:off x="2948659" y="2257"/>
                <a:ext cx="2259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1" name="线条"/>
              <p:cNvSpPr/>
              <p:nvPr/>
            </p:nvSpPr>
            <p:spPr>
              <a:xfrm flipH="1">
                <a:off x="2210364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2" name="线条"/>
              <p:cNvSpPr/>
              <p:nvPr/>
            </p:nvSpPr>
            <p:spPr>
              <a:xfrm flipH="1">
                <a:off x="1474328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3" name="线条"/>
              <p:cNvSpPr/>
              <p:nvPr/>
            </p:nvSpPr>
            <p:spPr>
              <a:xfrm flipH="1">
                <a:off x="736035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4" name="线条"/>
              <p:cNvSpPr/>
              <p:nvPr/>
            </p:nvSpPr>
            <p:spPr>
              <a:xfrm flipH="1">
                <a:off x="-1" y="2257"/>
                <a:ext cx="2259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5" name="线条"/>
              <p:cNvSpPr/>
              <p:nvPr/>
            </p:nvSpPr>
            <p:spPr>
              <a:xfrm flipH="1">
                <a:off x="2257" y="0"/>
                <a:ext cx="4350741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6" name="线条"/>
              <p:cNvSpPr/>
              <p:nvPr/>
            </p:nvSpPr>
            <p:spPr>
              <a:xfrm flipH="1">
                <a:off x="1128" y="1177432"/>
                <a:ext cx="4350741" cy="1580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7" name="线条"/>
              <p:cNvSpPr/>
              <p:nvPr/>
            </p:nvSpPr>
            <p:spPr>
              <a:xfrm flipH="1">
                <a:off x="3684693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成组"/>
          <p:cNvGrpSpPr/>
          <p:nvPr/>
        </p:nvGrpSpPr>
        <p:grpSpPr>
          <a:xfrm>
            <a:off x="1874784" y="5905716"/>
            <a:ext cx="8828196" cy="2996965"/>
            <a:chOff x="0" y="0"/>
            <a:chExt cx="8828195" cy="2996963"/>
          </a:xfrm>
        </p:grpSpPr>
        <p:sp>
          <p:nvSpPr>
            <p:cNvPr id="271" name="0     1     2     3    4     5"/>
            <p:cNvSpPr txBox="1"/>
            <p:nvPr/>
          </p:nvSpPr>
          <p:spPr>
            <a:xfrm>
              <a:off x="122406" y="0"/>
              <a:ext cx="4419603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0     1     2     3    4     5</a:t>
              </a:r>
            </a:p>
          </p:txBody>
        </p:sp>
        <p:sp>
          <p:nvSpPr>
            <p:cNvPr id="272" name="线条"/>
            <p:cNvSpPr/>
            <p:nvPr/>
          </p:nvSpPr>
          <p:spPr>
            <a:xfrm flipH="1">
              <a:off x="491727" y="1956495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3" name="线条"/>
            <p:cNvSpPr/>
            <p:nvPr/>
          </p:nvSpPr>
          <p:spPr>
            <a:xfrm>
              <a:off x="4835972" y="1989461"/>
              <a:ext cx="1" cy="50085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4" name="head"/>
            <p:cNvSpPr txBox="1"/>
            <p:nvPr/>
          </p:nvSpPr>
          <p:spPr>
            <a:xfrm>
              <a:off x="0" y="2479749"/>
              <a:ext cx="983456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275" name="tail"/>
            <p:cNvSpPr txBox="1"/>
            <p:nvPr/>
          </p:nvSpPr>
          <p:spPr>
            <a:xfrm>
              <a:off x="4412079" y="2479749"/>
              <a:ext cx="847787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grpSp>
          <p:nvGrpSpPr>
            <p:cNvPr id="291" name="成组"/>
            <p:cNvGrpSpPr/>
            <p:nvPr/>
          </p:nvGrpSpPr>
          <p:grpSpPr>
            <a:xfrm>
              <a:off x="123535" y="766515"/>
              <a:ext cx="4519262" cy="1196060"/>
              <a:chOff x="0" y="0"/>
              <a:chExt cx="4519260" cy="1196058"/>
            </a:xfrm>
          </p:grpSpPr>
          <p:sp>
            <p:nvSpPr>
              <p:cNvPr id="276" name="e"/>
              <p:cNvSpPr/>
              <p:nvPr/>
            </p:nvSpPr>
            <p:spPr>
              <a:xfrm>
                <a:off x="1653257" y="203076"/>
                <a:ext cx="7620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  <p:sp>
            <p:nvSpPr>
              <p:cNvPr id="277" name="线条"/>
              <p:cNvSpPr/>
              <p:nvPr/>
            </p:nvSpPr>
            <p:spPr>
              <a:xfrm flipH="1">
                <a:off x="4350738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8" name="线条"/>
              <p:cNvSpPr/>
              <p:nvPr/>
            </p:nvSpPr>
            <p:spPr>
              <a:xfrm flipH="1">
                <a:off x="2948659" y="2257"/>
                <a:ext cx="2259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9" name="线条"/>
              <p:cNvSpPr/>
              <p:nvPr/>
            </p:nvSpPr>
            <p:spPr>
              <a:xfrm flipH="1">
                <a:off x="2210364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0" name="线条"/>
              <p:cNvSpPr/>
              <p:nvPr/>
            </p:nvSpPr>
            <p:spPr>
              <a:xfrm flipH="1">
                <a:off x="1474328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1" name="线条"/>
              <p:cNvSpPr/>
              <p:nvPr/>
            </p:nvSpPr>
            <p:spPr>
              <a:xfrm flipH="1">
                <a:off x="736035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2" name="线条"/>
              <p:cNvSpPr/>
              <p:nvPr/>
            </p:nvSpPr>
            <p:spPr>
              <a:xfrm flipH="1">
                <a:off x="-1" y="2257"/>
                <a:ext cx="2259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3" name="线条"/>
              <p:cNvSpPr/>
              <p:nvPr/>
            </p:nvSpPr>
            <p:spPr>
              <a:xfrm flipH="1">
                <a:off x="2257" y="0"/>
                <a:ext cx="4350741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4" name="线条"/>
              <p:cNvSpPr/>
              <p:nvPr/>
            </p:nvSpPr>
            <p:spPr>
              <a:xfrm flipH="1">
                <a:off x="1128" y="1177432"/>
                <a:ext cx="4350741" cy="1580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5" name="线条"/>
              <p:cNvSpPr/>
              <p:nvPr/>
            </p:nvSpPr>
            <p:spPr>
              <a:xfrm flipH="1">
                <a:off x="3684693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6" name="f"/>
              <p:cNvSpPr/>
              <p:nvPr/>
            </p:nvSpPr>
            <p:spPr>
              <a:xfrm>
                <a:off x="2404533" y="203076"/>
                <a:ext cx="7620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  <p:sp>
            <p:nvSpPr>
              <p:cNvPr id="287" name="g"/>
              <p:cNvSpPr/>
              <p:nvPr/>
            </p:nvSpPr>
            <p:spPr>
              <a:xfrm>
                <a:off x="3071459" y="203076"/>
                <a:ext cx="7620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  <p:sp>
            <p:nvSpPr>
              <p:cNvPr id="288" name="h"/>
              <p:cNvSpPr/>
              <p:nvPr/>
            </p:nvSpPr>
            <p:spPr>
              <a:xfrm>
                <a:off x="3757259" y="203076"/>
                <a:ext cx="7620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  <p:sp>
            <p:nvSpPr>
              <p:cNvPr id="289" name="c"/>
              <p:cNvSpPr/>
              <p:nvPr/>
            </p:nvSpPr>
            <p:spPr>
              <a:xfrm>
                <a:off x="152963" y="203076"/>
                <a:ext cx="7620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  <p:sp>
            <p:nvSpPr>
              <p:cNvPr id="290" name="d"/>
              <p:cNvSpPr/>
              <p:nvPr/>
            </p:nvSpPr>
            <p:spPr>
              <a:xfrm>
                <a:off x="867799" y="203076"/>
                <a:ext cx="7620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301" name="成组"/>
            <p:cNvGrpSpPr/>
            <p:nvPr/>
          </p:nvGrpSpPr>
          <p:grpSpPr>
            <a:xfrm>
              <a:off x="4475197" y="749679"/>
              <a:ext cx="4352999" cy="1196060"/>
              <a:chOff x="0" y="0"/>
              <a:chExt cx="4352997" cy="1196058"/>
            </a:xfrm>
          </p:grpSpPr>
          <p:sp>
            <p:nvSpPr>
              <p:cNvPr id="292" name="线条"/>
              <p:cNvSpPr/>
              <p:nvPr/>
            </p:nvSpPr>
            <p:spPr>
              <a:xfrm flipH="1">
                <a:off x="4350738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3" name="线条"/>
              <p:cNvSpPr/>
              <p:nvPr/>
            </p:nvSpPr>
            <p:spPr>
              <a:xfrm flipH="1">
                <a:off x="2948659" y="2257"/>
                <a:ext cx="2259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4" name="线条"/>
              <p:cNvSpPr/>
              <p:nvPr/>
            </p:nvSpPr>
            <p:spPr>
              <a:xfrm flipH="1">
                <a:off x="2210364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5" name="线条"/>
              <p:cNvSpPr/>
              <p:nvPr/>
            </p:nvSpPr>
            <p:spPr>
              <a:xfrm flipH="1">
                <a:off x="1474328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6" name="线条"/>
              <p:cNvSpPr/>
              <p:nvPr/>
            </p:nvSpPr>
            <p:spPr>
              <a:xfrm flipH="1">
                <a:off x="736035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7" name="线条"/>
              <p:cNvSpPr/>
              <p:nvPr/>
            </p:nvSpPr>
            <p:spPr>
              <a:xfrm flipH="1">
                <a:off x="-1" y="2257"/>
                <a:ext cx="2259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8" name="线条"/>
              <p:cNvSpPr/>
              <p:nvPr/>
            </p:nvSpPr>
            <p:spPr>
              <a:xfrm flipH="1">
                <a:off x="2257" y="0"/>
                <a:ext cx="4350741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9" name="线条"/>
              <p:cNvSpPr/>
              <p:nvPr/>
            </p:nvSpPr>
            <p:spPr>
              <a:xfrm flipH="1">
                <a:off x="1128" y="1177432"/>
                <a:ext cx="4350741" cy="1580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00" name="线条"/>
              <p:cNvSpPr/>
              <p:nvPr/>
            </p:nvSpPr>
            <p:spPr>
              <a:xfrm flipH="1">
                <a:off x="3684693" y="2257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  <p:sp>
        <p:nvSpPr>
          <p:cNvPr id="303" name="tail端入队后，tail追上head，队满，则空间加倍，并在新的空间中重新安排数据"/>
          <p:cNvSpPr txBox="1"/>
          <p:nvPr/>
        </p:nvSpPr>
        <p:spPr>
          <a:xfrm>
            <a:off x="38339" y="1346622"/>
            <a:ext cx="13001276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29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tail端入队后，tail追上head，队满，则空间加倍，并在新的空间中重新安排数据</a:t>
            </a:r>
          </a:p>
        </p:txBody>
      </p:sp>
      <p:grpSp>
        <p:nvGrpSpPr>
          <p:cNvPr id="324" name="成组"/>
          <p:cNvGrpSpPr/>
          <p:nvPr/>
        </p:nvGrpSpPr>
        <p:grpSpPr>
          <a:xfrm>
            <a:off x="6755953" y="2451537"/>
            <a:ext cx="4520391" cy="2524280"/>
            <a:chOff x="0" y="0"/>
            <a:chExt cx="4520389" cy="2524278"/>
          </a:xfrm>
        </p:grpSpPr>
        <p:sp>
          <p:nvSpPr>
            <p:cNvPr id="304" name="c"/>
            <p:cNvSpPr/>
            <p:nvPr/>
          </p:nvSpPr>
          <p:spPr>
            <a:xfrm>
              <a:off x="1641686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305" name="线条"/>
            <p:cNvSpPr/>
            <p:nvPr/>
          </p:nvSpPr>
          <p:spPr>
            <a:xfrm flipH="1">
              <a:off x="435186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6" name="线条"/>
            <p:cNvSpPr/>
            <p:nvPr/>
          </p:nvSpPr>
          <p:spPr>
            <a:xfrm flipH="1">
              <a:off x="2949788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7" name="线条"/>
            <p:cNvSpPr/>
            <p:nvPr/>
          </p:nvSpPr>
          <p:spPr>
            <a:xfrm flipH="1">
              <a:off x="2211493" y="768773"/>
              <a:ext cx="2261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8" name="线条"/>
            <p:cNvSpPr/>
            <p:nvPr/>
          </p:nvSpPr>
          <p:spPr>
            <a:xfrm flipH="1">
              <a:off x="147545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9" name="线条"/>
            <p:cNvSpPr/>
            <p:nvPr/>
          </p:nvSpPr>
          <p:spPr>
            <a:xfrm flipH="1">
              <a:off x="73716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0" name="线条"/>
            <p:cNvSpPr/>
            <p:nvPr/>
          </p:nvSpPr>
          <p:spPr>
            <a:xfrm flipH="1">
              <a:off x="1129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1" name="线条"/>
            <p:cNvSpPr/>
            <p:nvPr/>
          </p:nvSpPr>
          <p:spPr>
            <a:xfrm flipH="1">
              <a:off x="3386" y="766514"/>
              <a:ext cx="4350741" cy="2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2" name="线条"/>
            <p:cNvSpPr/>
            <p:nvPr/>
          </p:nvSpPr>
          <p:spPr>
            <a:xfrm flipH="1">
              <a:off x="2257" y="1943947"/>
              <a:ext cx="4350741" cy="1580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3" name="线条"/>
            <p:cNvSpPr/>
            <p:nvPr/>
          </p:nvSpPr>
          <p:spPr>
            <a:xfrm flipH="1">
              <a:off x="3685822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" name="0     1     2     3    4     5"/>
            <p:cNvSpPr/>
            <p:nvPr/>
          </p:nvSpPr>
          <p:spPr>
            <a:xfrm>
              <a:off x="0" y="0"/>
              <a:ext cx="4419602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0     1     2     3    4     5</a:t>
              </a:r>
            </a:p>
          </p:txBody>
        </p:sp>
        <p:sp>
          <p:nvSpPr>
            <p:cNvPr id="315" name="线条"/>
            <p:cNvSpPr/>
            <p:nvPr/>
          </p:nvSpPr>
          <p:spPr>
            <a:xfrm>
              <a:off x="16786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6" name="d"/>
            <p:cNvSpPr/>
            <p:nvPr/>
          </p:nvSpPr>
          <p:spPr>
            <a:xfrm>
              <a:off x="2278662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317" name="head"/>
            <p:cNvSpPr/>
            <p:nvPr/>
          </p:nvSpPr>
          <p:spPr>
            <a:xfrm>
              <a:off x="1827715" y="2479748"/>
              <a:ext cx="98345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318" name="tail"/>
            <p:cNvSpPr/>
            <p:nvPr/>
          </p:nvSpPr>
          <p:spPr>
            <a:xfrm>
              <a:off x="1210295" y="2479748"/>
              <a:ext cx="84778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sp>
          <p:nvSpPr>
            <p:cNvPr id="319" name="e"/>
            <p:cNvSpPr/>
            <p:nvPr/>
          </p:nvSpPr>
          <p:spPr>
            <a:xfrm>
              <a:off x="3072588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320" name="f"/>
            <p:cNvSpPr/>
            <p:nvPr/>
          </p:nvSpPr>
          <p:spPr>
            <a:xfrm>
              <a:off x="3758388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321" name="g"/>
            <p:cNvSpPr/>
            <p:nvPr/>
          </p:nvSpPr>
          <p:spPr>
            <a:xfrm>
              <a:off x="166792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322" name="h"/>
            <p:cNvSpPr/>
            <p:nvPr/>
          </p:nvSpPr>
          <p:spPr>
            <a:xfrm>
              <a:off x="868928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323" name="线条"/>
            <p:cNvSpPr/>
            <p:nvPr/>
          </p:nvSpPr>
          <p:spPr>
            <a:xfrm>
              <a:off x="20596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25" name="Deque-队满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Deque-队满</a:t>
            </a:r>
          </a:p>
        </p:txBody>
      </p:sp>
      <p:grpSp>
        <p:nvGrpSpPr>
          <p:cNvPr id="345" name="成组"/>
          <p:cNvGrpSpPr/>
          <p:nvPr/>
        </p:nvGrpSpPr>
        <p:grpSpPr>
          <a:xfrm>
            <a:off x="1604529" y="2451537"/>
            <a:ext cx="4520390" cy="2996965"/>
            <a:chOff x="0" y="0"/>
            <a:chExt cx="4520389" cy="2996963"/>
          </a:xfrm>
        </p:grpSpPr>
        <p:sp>
          <p:nvSpPr>
            <p:cNvPr id="326" name="线条"/>
            <p:cNvSpPr/>
            <p:nvPr/>
          </p:nvSpPr>
          <p:spPr>
            <a:xfrm flipH="1">
              <a:off x="435186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7" name="线条"/>
            <p:cNvSpPr/>
            <p:nvPr/>
          </p:nvSpPr>
          <p:spPr>
            <a:xfrm flipH="1">
              <a:off x="3685822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8" name="f"/>
            <p:cNvSpPr txBox="1"/>
            <p:nvPr/>
          </p:nvSpPr>
          <p:spPr>
            <a:xfrm>
              <a:off x="3758388" y="969591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329" name="c"/>
            <p:cNvSpPr txBox="1"/>
            <p:nvPr/>
          </p:nvSpPr>
          <p:spPr>
            <a:xfrm>
              <a:off x="1616286" y="996244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330" name="线条"/>
            <p:cNvSpPr/>
            <p:nvPr/>
          </p:nvSpPr>
          <p:spPr>
            <a:xfrm flipH="1">
              <a:off x="2949788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1" name="线条"/>
            <p:cNvSpPr/>
            <p:nvPr/>
          </p:nvSpPr>
          <p:spPr>
            <a:xfrm flipH="1">
              <a:off x="221149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2" name="线条"/>
            <p:cNvSpPr/>
            <p:nvPr/>
          </p:nvSpPr>
          <p:spPr>
            <a:xfrm flipH="1">
              <a:off x="147545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3" name="线条"/>
            <p:cNvSpPr/>
            <p:nvPr/>
          </p:nvSpPr>
          <p:spPr>
            <a:xfrm flipH="1">
              <a:off x="73716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4" name="线条"/>
            <p:cNvSpPr/>
            <p:nvPr/>
          </p:nvSpPr>
          <p:spPr>
            <a:xfrm flipH="1">
              <a:off x="1129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5" name="线条"/>
            <p:cNvSpPr/>
            <p:nvPr/>
          </p:nvSpPr>
          <p:spPr>
            <a:xfrm flipH="1">
              <a:off x="3386" y="766514"/>
              <a:ext cx="4350741" cy="2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6" name="线条"/>
            <p:cNvSpPr/>
            <p:nvPr/>
          </p:nvSpPr>
          <p:spPr>
            <a:xfrm flipH="1">
              <a:off x="2257" y="1943947"/>
              <a:ext cx="4350741" cy="1580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7" name="0     1     2     3    4     5"/>
            <p:cNvSpPr txBox="1"/>
            <p:nvPr/>
          </p:nvSpPr>
          <p:spPr>
            <a:xfrm>
              <a:off x="0" y="0"/>
              <a:ext cx="4419602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0     1     2     3    4     5</a:t>
              </a:r>
            </a:p>
          </p:txBody>
        </p:sp>
        <p:sp>
          <p:nvSpPr>
            <p:cNvPr id="338" name="线条"/>
            <p:cNvSpPr/>
            <p:nvPr/>
          </p:nvSpPr>
          <p:spPr>
            <a:xfrm flipH="1">
              <a:off x="10436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9" name="d"/>
            <p:cNvSpPr txBox="1"/>
            <p:nvPr/>
          </p:nvSpPr>
          <p:spPr>
            <a:xfrm>
              <a:off x="2278662" y="992292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340" name="head"/>
            <p:cNvSpPr txBox="1"/>
            <p:nvPr/>
          </p:nvSpPr>
          <p:spPr>
            <a:xfrm>
              <a:off x="1522915" y="2479748"/>
              <a:ext cx="983457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341" name="tail"/>
            <p:cNvSpPr txBox="1"/>
            <p:nvPr/>
          </p:nvSpPr>
          <p:spPr>
            <a:xfrm>
              <a:off x="676895" y="2479748"/>
              <a:ext cx="847787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sp>
          <p:nvSpPr>
            <p:cNvPr id="342" name="e"/>
            <p:cNvSpPr txBox="1"/>
            <p:nvPr/>
          </p:nvSpPr>
          <p:spPr>
            <a:xfrm>
              <a:off x="3072588" y="969591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343" name="g"/>
            <p:cNvSpPr txBox="1"/>
            <p:nvPr/>
          </p:nvSpPr>
          <p:spPr>
            <a:xfrm>
              <a:off x="128693" y="969591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344" name="线条"/>
            <p:cNvSpPr/>
            <p:nvPr/>
          </p:nvSpPr>
          <p:spPr>
            <a:xfrm>
              <a:off x="19072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1、将原队列中[head, a.length)复制到新队列的左端，…"/>
          <p:cNvSpPr txBox="1"/>
          <p:nvPr/>
        </p:nvSpPr>
        <p:spPr>
          <a:xfrm>
            <a:off x="499782" y="3678224"/>
            <a:ext cx="11960080" cy="260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1、将原队列中[head, a.length)复制到新队列的左端，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    然后继续复制原队列中[0, tail)的数据到新队列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2、重新设置head和tail。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3、因为队满则扩充，与循环队列相比，没有浪费那一个存储单元。</a:t>
            </a:r>
          </a:p>
        </p:txBody>
      </p:sp>
      <p:sp>
        <p:nvSpPr>
          <p:cNvPr id="348" name="Deque-队满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Deque-队满</a:t>
            </a:r>
          </a:p>
        </p:txBody>
      </p:sp>
      <p:sp>
        <p:nvSpPr>
          <p:cNvPr id="349" name="入队操作后，如果head == tail，则队满，这时要扩大空间…"/>
          <p:cNvSpPr txBox="1"/>
          <p:nvPr/>
        </p:nvSpPr>
        <p:spPr>
          <a:xfrm>
            <a:off x="377270" y="1323817"/>
            <a:ext cx="11699806" cy="1734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300789" indent="-300789">
              <a:lnSpc>
                <a:spcPct val="100000"/>
              </a:lnSpc>
              <a:buSzPct val="60000"/>
              <a:buBlip>
                <a:blip r:embed="rId2"/>
              </a:buBlip>
              <a:defRPr>
                <a:solidFill>
                  <a:srgbClr val="000000"/>
                </a:solidFill>
              </a:defRPr>
            </a:pPr>
            <a:r>
              <a:t>入队操作后，如果head == tail，则队满，这时要扩大空间</a:t>
            </a:r>
          </a:p>
          <a:p>
            <a:pPr marL="300789" indent="-300789">
              <a:lnSpc>
                <a:spcPct val="100000"/>
              </a:lnSpc>
              <a:buSzPct val="60000"/>
              <a:buBlip>
                <a:blip r:embed="rId2"/>
              </a:buBlip>
              <a:defRPr>
                <a:solidFill>
                  <a:srgbClr val="000000"/>
                </a:solidFill>
              </a:defRPr>
            </a:pPr>
            <a:r>
              <a:t>扩大空间后head != tail，head == tail表示队满是一个暂时状态，</a:t>
            </a:r>
          </a:p>
          <a:p>
            <a:pPr>
              <a:lnSpc>
                <a:spcPct val="100000"/>
              </a:lnSpc>
              <a:defRPr>
                <a:solidFill>
                  <a:srgbClr val="000000"/>
                </a:solidFill>
              </a:defRPr>
            </a:pPr>
            <a:r>
              <a:t>   head == tail 仍然表示队空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doubleCapacity(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doubleCapacity()</a:t>
            </a:r>
          </a:p>
        </p:txBody>
      </p:sp>
      <p:sp>
        <p:nvSpPr>
          <p:cNvPr id="352" name="private void doubleCapacity() {…"/>
          <p:cNvSpPr txBox="1"/>
          <p:nvPr/>
        </p:nvSpPr>
        <p:spPr>
          <a:xfrm>
            <a:off x="249162" y="1848931"/>
            <a:ext cx="12552165" cy="661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4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doubleCapacity() {</a:t>
            </a:r>
          </a:p>
          <a:p>
            <a:pPr indent="0">
              <a:lnSpc>
                <a:spcPct val="100000"/>
              </a:lnSpc>
              <a:defRPr sz="24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assert</a:t>
            </a:r>
            <a:r>
              <a:t>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 == </a:t>
            </a:r>
            <a:r>
              <a:rPr>
                <a:solidFill>
                  <a:srgbClr val="0326CC"/>
                </a:solidFill>
              </a:rPr>
              <a:t>tail</a:t>
            </a:r>
            <a:r>
              <a:t>;</a:t>
            </a:r>
          </a:p>
          <a:p>
            <a:pPr indent="0">
              <a:lnSpc>
                <a:spcPct val="100000"/>
              </a:lnSpc>
              <a:defRPr sz="24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</a:p>
          <a:p>
            <a:pPr indent="0">
              <a:lnSpc>
                <a:spcPct val="100000"/>
              </a:lnSpc>
              <a:defRPr sz="24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 =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;</a:t>
            </a:r>
          </a:p>
          <a:p>
            <a:pPr indent="0">
              <a:lnSpc>
                <a:spcPct val="100000"/>
              </a:lnSpc>
              <a:defRPr sz="24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r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; </a:t>
            </a:r>
            <a:r>
              <a:t>// number of elements to the right of p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newCapacity</a:t>
            </a:r>
            <a:r>
              <a:rPr>
                <a:solidFill>
                  <a:srgbClr val="000000"/>
                </a:solidFill>
              </a:rPr>
              <a:t> = </a:t>
            </a:r>
            <a:r>
              <a:t>n</a:t>
            </a:r>
            <a:r>
              <a:rPr>
                <a:solidFill>
                  <a:srgbClr val="000000"/>
                </a:solidFill>
              </a:rPr>
              <a:t> &lt;&lt; 1;</a:t>
            </a:r>
            <a:r>
              <a:rPr>
                <a:solidFill>
                  <a:srgbClr val="4E9072"/>
                </a:solidFill>
              </a:rPr>
              <a:t>// n*2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   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newCapacity</a:t>
            </a:r>
            <a:r>
              <a:rPr>
                <a:solidFill>
                  <a:srgbClr val="000000"/>
                </a:solidFill>
              </a:rPr>
              <a:t> &lt; 0)</a:t>
            </a:r>
            <a:r>
              <a:rPr>
                <a:solidFill>
                  <a:srgbClr val="4E9072"/>
                </a:solidFill>
              </a:rPr>
              <a:t>// 溢出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IllegalStateException(</a:t>
            </a:r>
            <a:r>
              <a:rPr>
                <a:solidFill>
                  <a:srgbClr val="3933FF"/>
                </a:solidFill>
              </a:rPr>
              <a:t>"Sorry, deque too big"</a:t>
            </a:r>
            <a:r>
              <a:t>);</a:t>
            </a:r>
          </a:p>
          <a:p>
            <a:pPr indent="0">
              <a:lnSpc>
                <a:spcPct val="100000"/>
              </a:lnSpc>
              <a:defRPr sz="24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Object[]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Object[</a:t>
            </a:r>
            <a:r>
              <a:rPr>
                <a:solidFill>
                  <a:srgbClr val="7E504F"/>
                </a:solidFill>
              </a:rPr>
              <a:t>newCapacity</a:t>
            </a:r>
            <a:r>
              <a:t>];</a:t>
            </a:r>
          </a:p>
          <a:p>
            <a:pPr indent="0">
              <a:lnSpc>
                <a:spcPct val="100000"/>
              </a:lnSpc>
              <a:defRPr sz="24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System.arraycopy(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, </a:t>
            </a:r>
            <a:r>
              <a:rPr>
                <a:solidFill>
                  <a:srgbClr val="7E504F"/>
                </a:solidFill>
              </a:rPr>
              <a:t>p</a:t>
            </a:r>
            <a:r>
              <a:t>,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0, </a:t>
            </a:r>
            <a:r>
              <a:rPr>
                <a:solidFill>
                  <a:srgbClr val="7E504F"/>
                </a:solidFill>
              </a:rPr>
              <a:t>r</a:t>
            </a:r>
            <a:r>
              <a:t>);</a:t>
            </a:r>
          </a:p>
          <a:p>
            <a:pPr indent="0">
              <a:lnSpc>
                <a:spcPct val="100000"/>
              </a:lnSpc>
              <a:defRPr sz="24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System.arraycopy(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, 0,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7E504F"/>
                </a:solidFill>
              </a:rPr>
              <a:t>r</a:t>
            </a:r>
            <a:r>
              <a:t>, </a:t>
            </a:r>
            <a:r>
              <a:rPr>
                <a:solidFill>
                  <a:srgbClr val="7E504F"/>
                </a:solidFill>
              </a:rPr>
              <a:t>p</a:t>
            </a:r>
            <a:r>
              <a:t>);</a:t>
            </a:r>
          </a:p>
          <a:p>
            <a:pPr indent="0">
              <a:lnSpc>
                <a:spcPct val="100000"/>
              </a:lnSpc>
              <a:defRPr sz="24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;</a:t>
            </a:r>
          </a:p>
          <a:p>
            <a:pPr indent="0">
              <a:lnSpc>
                <a:spcPct val="100000"/>
              </a:lnSpc>
              <a:defRPr sz="24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 = 0;</a:t>
            </a:r>
          </a:p>
          <a:p>
            <a:pPr indent="0">
              <a:lnSpc>
                <a:spcPct val="100000"/>
              </a:lnSpc>
              <a:defRPr sz="24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0326CC"/>
                </a:solidFill>
              </a:rPr>
              <a:t>tail</a:t>
            </a:r>
            <a:r>
              <a:t> = </a:t>
            </a:r>
            <a:r>
              <a:rPr>
                <a:solidFill>
                  <a:srgbClr val="7E504F"/>
                </a:solidFill>
              </a:rPr>
              <a:t>n</a:t>
            </a:r>
            <a:r>
              <a:t>;</a:t>
            </a:r>
          </a:p>
          <a:p>
            <a:pPr indent="0">
              <a:lnSpc>
                <a:spcPct val="100000"/>
              </a:lnSpc>
              <a:defRPr sz="24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  <p:sp>
        <p:nvSpPr>
          <p:cNvPr id="353" name="借鉴了Java 8；Java 17的代码有变化，扩大1.5倍，减少了1个array copy"/>
          <p:cNvSpPr txBox="1"/>
          <p:nvPr/>
        </p:nvSpPr>
        <p:spPr>
          <a:xfrm>
            <a:off x="146219" y="1155182"/>
            <a:ext cx="1190738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借鉴了Java 8；Java 17的代码有变化，扩大1.5倍，减少了1个array copy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入队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入队</a:t>
            </a:r>
          </a:p>
        </p:txBody>
      </p:sp>
      <p:sp>
        <p:nvSpPr>
          <p:cNvPr id="356" name="public boolean offerFirst(T x) {…"/>
          <p:cNvSpPr txBox="1"/>
          <p:nvPr/>
        </p:nvSpPr>
        <p:spPr>
          <a:xfrm>
            <a:off x="1234288" y="1421844"/>
            <a:ext cx="10491069" cy="6909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offerFirst(T </a:t>
            </a:r>
            <a:r>
              <a:rPr>
                <a:solidFill>
                  <a:srgbClr val="7E504F"/>
                </a:solidFill>
              </a:rPr>
              <a:t>x</a:t>
            </a:r>
            <a:r>
              <a:t>)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Objects.requireNonNull(</a:t>
            </a:r>
            <a:r>
              <a:rPr>
                <a:solidFill>
                  <a:srgbClr val="7E504F"/>
                </a:solidFill>
              </a:rPr>
              <a:t>x</a:t>
            </a:r>
            <a:r>
              <a:t>);</a:t>
            </a:r>
            <a:r>
              <a:rPr>
                <a:solidFill>
                  <a:srgbClr val="4E9072"/>
                </a:solidFill>
              </a:rPr>
              <a:t>// 使用java类库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 = dec(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, 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)] = </a:t>
            </a:r>
            <a:r>
              <a:rPr>
                <a:solidFill>
                  <a:srgbClr val="7E504F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0326CC"/>
                </a:solidFill>
              </a:rPr>
              <a:t>head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0326CC"/>
                </a:solidFill>
              </a:rPr>
              <a:t>tail</a:t>
            </a:r>
            <a:r>
              <a:rPr>
                <a:solidFill>
                  <a:srgbClr val="000000"/>
                </a:solidFill>
              </a:rPr>
              <a:t>)</a:t>
            </a:r>
            <a:r>
              <a:t>// 入队操作造成了head追上了tail，队满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	doubleCapacity();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offerLast(T </a:t>
            </a:r>
            <a:r>
              <a:rPr>
                <a:solidFill>
                  <a:srgbClr val="7E504F"/>
                </a:solidFill>
              </a:rPr>
              <a:t>x</a:t>
            </a:r>
            <a:r>
              <a:t>)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Objects.requireNonNull(</a:t>
            </a:r>
            <a:r>
              <a:rPr>
                <a:solidFill>
                  <a:srgbClr val="7E504F"/>
                </a:solidFill>
              </a:rPr>
              <a:t>x</a:t>
            </a:r>
            <a:r>
              <a:t>);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</a:t>
            </a:r>
            <a:r>
              <a:t>tail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7E504F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 == (</a:t>
            </a:r>
            <a:r>
              <a:t>tail</a:t>
            </a:r>
            <a:r>
              <a:rPr>
                <a:solidFill>
                  <a:srgbClr val="000000"/>
                </a:solidFill>
              </a:rPr>
              <a:t> = inc(</a:t>
            </a:r>
            <a:r>
              <a:t>tail</a:t>
            </a:r>
            <a:r>
              <a:rPr>
                <a:solidFill>
                  <a:srgbClr val="000000"/>
                </a:solidFill>
              </a:rPr>
              <a:t>, 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)))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	doubleCapacity();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成组"/>
          <p:cNvGrpSpPr/>
          <p:nvPr/>
        </p:nvGrpSpPr>
        <p:grpSpPr>
          <a:xfrm>
            <a:off x="7015102" y="991541"/>
            <a:ext cx="4668851" cy="3605700"/>
            <a:chOff x="0" y="0"/>
            <a:chExt cx="4668850" cy="3605698"/>
          </a:xfrm>
        </p:grpSpPr>
        <p:graphicFrame>
          <p:nvGraphicFramePr>
            <p:cNvPr id="358" name="表格"/>
            <p:cNvGraphicFramePr/>
            <p:nvPr/>
          </p:nvGraphicFramePr>
          <p:xfrm>
            <a:off x="144475" y="1130048"/>
            <a:ext cx="4524376" cy="787401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754062"/>
                  <a:gridCol w="754062"/>
                  <a:gridCol w="754062"/>
                  <a:gridCol w="754062"/>
                  <a:gridCol w="754062"/>
                  <a:gridCol w="754062"/>
                </a:tblGrid>
                <a:tr h="787400"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latin typeface="Tahoma"/>
                            <a:ea typeface="Tahoma"/>
                            <a:cs typeface="Tahoma"/>
                            <a:sym typeface="Tahoma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28575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latin typeface="Tahoma"/>
                            <a:ea typeface="Tahoma"/>
                            <a:cs typeface="Tahoma"/>
                            <a:sym typeface="Tahoma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28575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359" name="线条"/>
            <p:cNvSpPr/>
            <p:nvPr/>
          </p:nvSpPr>
          <p:spPr>
            <a:xfrm flipH="1">
              <a:off x="542726" y="465875"/>
              <a:ext cx="1" cy="60057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0" name="head"/>
            <p:cNvSpPr txBox="1"/>
            <p:nvPr/>
          </p:nvSpPr>
          <p:spPr>
            <a:xfrm>
              <a:off x="134445" y="0"/>
              <a:ext cx="747469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361" name="tail"/>
            <p:cNvSpPr txBox="1"/>
            <p:nvPr/>
          </p:nvSpPr>
          <p:spPr>
            <a:xfrm>
              <a:off x="1761174" y="0"/>
              <a:ext cx="561435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sp>
          <p:nvSpPr>
            <p:cNvPr id="362" name="线条"/>
            <p:cNvSpPr/>
            <p:nvPr/>
          </p:nvSpPr>
          <p:spPr>
            <a:xfrm>
              <a:off x="2015926" y="465875"/>
              <a:ext cx="1" cy="60057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3" name="线条"/>
            <p:cNvSpPr/>
            <p:nvPr/>
          </p:nvSpPr>
          <p:spPr>
            <a:xfrm flipH="1">
              <a:off x="466526" y="1596175"/>
              <a:ext cx="1" cy="106990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4" name="线条"/>
            <p:cNvSpPr/>
            <p:nvPr/>
          </p:nvSpPr>
          <p:spPr>
            <a:xfrm flipH="1">
              <a:off x="1355526" y="1596175"/>
              <a:ext cx="1" cy="106990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5" name="椭圆形"/>
            <p:cNvSpPr/>
            <p:nvPr/>
          </p:nvSpPr>
          <p:spPr>
            <a:xfrm>
              <a:off x="0" y="2628644"/>
              <a:ext cx="933054" cy="97705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6" name="椭圆形"/>
            <p:cNvSpPr/>
            <p:nvPr/>
          </p:nvSpPr>
          <p:spPr>
            <a:xfrm>
              <a:off x="952500" y="2628644"/>
              <a:ext cx="933054" cy="977055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7" name="tail端入队2次"/>
            <p:cNvSpPr txBox="1"/>
            <p:nvPr/>
          </p:nvSpPr>
          <p:spPr>
            <a:xfrm>
              <a:off x="2041282" y="2707520"/>
              <a:ext cx="2006407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5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tail端入队2次</a:t>
              </a:r>
            </a:p>
          </p:txBody>
        </p:sp>
      </p:grpSp>
      <p:grpSp>
        <p:nvGrpSpPr>
          <p:cNvPr id="378" name="成组"/>
          <p:cNvGrpSpPr/>
          <p:nvPr/>
        </p:nvGrpSpPr>
        <p:grpSpPr>
          <a:xfrm>
            <a:off x="449202" y="4115741"/>
            <a:ext cx="4732351" cy="3605700"/>
            <a:chOff x="0" y="0"/>
            <a:chExt cx="4732350" cy="3605699"/>
          </a:xfrm>
        </p:grpSpPr>
        <p:graphicFrame>
          <p:nvGraphicFramePr>
            <p:cNvPr id="369" name="表格"/>
            <p:cNvGraphicFramePr/>
            <p:nvPr/>
          </p:nvGraphicFramePr>
          <p:xfrm>
            <a:off x="207975" y="1130048"/>
            <a:ext cx="4524376" cy="787401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754062"/>
                  <a:gridCol w="754062"/>
                  <a:gridCol w="754062"/>
                  <a:gridCol w="754062"/>
                  <a:gridCol w="754062"/>
                  <a:gridCol w="754062"/>
                </a:tblGrid>
                <a:tr h="787400"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olidFill>
                              <a:schemeClr val="accent5"/>
                            </a:solidFill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28575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2800">
                            <a:latin typeface="Tahoma"/>
                            <a:ea typeface="Tahoma"/>
                            <a:cs typeface="Tahoma"/>
                            <a:sym typeface="Tahoma"/>
                          </a:defRPr>
                        </a:pP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28575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370" name="线条"/>
            <p:cNvSpPr/>
            <p:nvPr/>
          </p:nvSpPr>
          <p:spPr>
            <a:xfrm flipH="1">
              <a:off x="1368226" y="465875"/>
              <a:ext cx="1" cy="60057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1" name="head"/>
            <p:cNvSpPr txBox="1"/>
            <p:nvPr/>
          </p:nvSpPr>
          <p:spPr>
            <a:xfrm>
              <a:off x="972645" y="0"/>
              <a:ext cx="747470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372" name="tail"/>
            <p:cNvSpPr txBox="1"/>
            <p:nvPr/>
          </p:nvSpPr>
          <p:spPr>
            <a:xfrm>
              <a:off x="1862774" y="0"/>
              <a:ext cx="561435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sp>
          <p:nvSpPr>
            <p:cNvPr id="373" name="线条"/>
            <p:cNvSpPr/>
            <p:nvPr/>
          </p:nvSpPr>
          <p:spPr>
            <a:xfrm>
              <a:off x="2117526" y="465875"/>
              <a:ext cx="1" cy="60057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4" name="线条"/>
            <p:cNvSpPr/>
            <p:nvPr/>
          </p:nvSpPr>
          <p:spPr>
            <a:xfrm flipH="1">
              <a:off x="1355526" y="1596175"/>
              <a:ext cx="1" cy="106990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5" name="椭圆形"/>
            <p:cNvSpPr/>
            <p:nvPr/>
          </p:nvSpPr>
          <p:spPr>
            <a:xfrm>
              <a:off x="0" y="2628645"/>
              <a:ext cx="933054" cy="977055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6" name="椭圆形"/>
            <p:cNvSpPr/>
            <p:nvPr/>
          </p:nvSpPr>
          <p:spPr>
            <a:xfrm>
              <a:off x="1016000" y="2628644"/>
              <a:ext cx="933054" cy="977055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7" name="head端出队1次"/>
            <p:cNvSpPr txBox="1"/>
            <p:nvPr/>
          </p:nvSpPr>
          <p:spPr>
            <a:xfrm>
              <a:off x="2263395" y="2891602"/>
              <a:ext cx="2200193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5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head端出队1次</a:t>
              </a:r>
            </a:p>
          </p:txBody>
        </p:sp>
      </p:grpSp>
      <p:grpSp>
        <p:nvGrpSpPr>
          <p:cNvPr id="387" name="成组"/>
          <p:cNvGrpSpPr/>
          <p:nvPr/>
        </p:nvGrpSpPr>
        <p:grpSpPr>
          <a:xfrm>
            <a:off x="6367402" y="4877617"/>
            <a:ext cx="4818076" cy="4091213"/>
            <a:chOff x="0" y="215775"/>
            <a:chExt cx="4818075" cy="4091211"/>
          </a:xfrm>
        </p:grpSpPr>
        <p:graphicFrame>
          <p:nvGraphicFramePr>
            <p:cNvPr id="379" name="表格"/>
            <p:cNvGraphicFramePr/>
            <p:nvPr/>
          </p:nvGraphicFramePr>
          <p:xfrm>
            <a:off x="220675" y="1091948"/>
            <a:ext cx="4597401" cy="863601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754062"/>
                  <a:gridCol w="754062"/>
                  <a:gridCol w="754062"/>
                  <a:gridCol w="754062"/>
                  <a:gridCol w="754062"/>
                  <a:gridCol w="754062"/>
                </a:tblGrid>
                <a:tr h="787400"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olidFill>
                              <a:schemeClr val="accent5"/>
                            </a:solidFill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28575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solidFill>
                              <a:schemeClr val="accent5"/>
                            </a:solidFill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28575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380" name="线条"/>
            <p:cNvSpPr/>
            <p:nvPr/>
          </p:nvSpPr>
          <p:spPr>
            <a:xfrm>
              <a:off x="2066726" y="465875"/>
              <a:ext cx="1" cy="60057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1" name="head"/>
            <p:cNvSpPr/>
            <p:nvPr/>
          </p:nvSpPr>
          <p:spPr>
            <a:xfrm>
              <a:off x="1429846" y="21577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382" name="tail"/>
            <p:cNvSpPr/>
            <p:nvPr/>
          </p:nvSpPr>
          <p:spPr>
            <a:xfrm>
              <a:off x="2129474" y="21577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sp>
          <p:nvSpPr>
            <p:cNvPr id="383" name="线条"/>
            <p:cNvSpPr/>
            <p:nvPr/>
          </p:nvSpPr>
          <p:spPr>
            <a:xfrm>
              <a:off x="2282626" y="465875"/>
              <a:ext cx="1" cy="60057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4" name="椭圆形"/>
            <p:cNvSpPr/>
            <p:nvPr/>
          </p:nvSpPr>
          <p:spPr>
            <a:xfrm>
              <a:off x="0" y="2628645"/>
              <a:ext cx="933054" cy="977055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5" name="椭圆形"/>
            <p:cNvSpPr/>
            <p:nvPr/>
          </p:nvSpPr>
          <p:spPr>
            <a:xfrm>
              <a:off x="965200" y="2628644"/>
              <a:ext cx="933054" cy="977055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6" name="head端再出队1次，空队"/>
            <p:cNvSpPr/>
            <p:nvPr/>
          </p:nvSpPr>
          <p:spPr>
            <a:xfrm>
              <a:off x="2042415" y="303698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5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  <a:r>
                <a:t>head端再出队1次，</a:t>
              </a:r>
              <a:r>
                <a:rPr>
                  <a:solidFill>
                    <a:schemeClr val="accent5"/>
                  </a:solidFill>
                </a:rPr>
                <a:t>空队</a:t>
              </a:r>
            </a:p>
          </p:txBody>
        </p:sp>
      </p:grpSp>
      <p:grpSp>
        <p:nvGrpSpPr>
          <p:cNvPr id="394" name="成组"/>
          <p:cNvGrpSpPr/>
          <p:nvPr/>
        </p:nvGrpSpPr>
        <p:grpSpPr>
          <a:xfrm>
            <a:off x="414255" y="1326194"/>
            <a:ext cx="4802223" cy="3606655"/>
            <a:chOff x="0" y="215775"/>
            <a:chExt cx="4802222" cy="3606654"/>
          </a:xfrm>
        </p:grpSpPr>
        <p:graphicFrame>
          <p:nvGraphicFramePr>
            <p:cNvPr id="388" name="表格"/>
            <p:cNvGraphicFramePr/>
            <p:nvPr/>
          </p:nvGraphicFramePr>
          <p:xfrm>
            <a:off x="204822" y="1056617"/>
            <a:ext cx="4597401" cy="863601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754062"/>
                  <a:gridCol w="754062"/>
                  <a:gridCol w="754062"/>
                  <a:gridCol w="754062"/>
                  <a:gridCol w="754062"/>
                  <a:gridCol w="754062"/>
                </a:tblGrid>
                <a:tr h="787400"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28575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 defTabSz="914400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tabLst>
                            <a:tab pos="914400" algn="l"/>
                          </a:tabLst>
                          <a:defRPr sz="1800"/>
                        </a:pPr>
                        <a:r>
                          <a:rPr sz="28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null</a:t>
                        </a:r>
                      </a:p>
                    </a:txBody>
                    <a:tcPr marL="50800" marR="50800" marT="50800" marB="5080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28575">
                        <a:solidFill>
                          <a:srgbClr val="000000"/>
                        </a:solidFill>
                        <a:miter lim="400000"/>
                      </a:lnR>
                      <a:lnT w="28575">
                        <a:solidFill>
                          <a:srgbClr val="000000"/>
                        </a:solidFill>
                        <a:miter lim="400000"/>
                      </a:lnT>
                      <a:lnB w="28575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</a:tbl>
            </a:graphicData>
          </a:graphic>
        </p:graphicFrame>
        <p:sp>
          <p:nvSpPr>
            <p:cNvPr id="389" name="初始时空队"/>
            <p:cNvSpPr/>
            <p:nvPr/>
          </p:nvSpPr>
          <p:spPr>
            <a:xfrm>
              <a:off x="1500862" y="255243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5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初始时空队</a:t>
              </a:r>
            </a:p>
          </p:txBody>
        </p:sp>
        <p:sp>
          <p:nvSpPr>
            <p:cNvPr id="390" name="线条"/>
            <p:cNvSpPr/>
            <p:nvPr/>
          </p:nvSpPr>
          <p:spPr>
            <a:xfrm flipH="1">
              <a:off x="611481" y="465875"/>
              <a:ext cx="1" cy="600571"/>
            </a:xfrm>
            <a:prstGeom prst="line">
              <a:avLst/>
            </a:prstGeom>
            <a:noFill/>
            <a:ln w="25400" cap="flat">
              <a:solidFill>
                <a:schemeClr val="accent4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1" name="head"/>
            <p:cNvSpPr/>
            <p:nvPr/>
          </p:nvSpPr>
          <p:spPr>
            <a:xfrm>
              <a:off x="0" y="215775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392" name="tail"/>
            <p:cNvSpPr/>
            <p:nvPr/>
          </p:nvSpPr>
          <p:spPr>
            <a:xfrm>
              <a:off x="674229" y="21577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sp>
          <p:nvSpPr>
            <p:cNvPr id="393" name="线条"/>
            <p:cNvSpPr/>
            <p:nvPr/>
          </p:nvSpPr>
          <p:spPr>
            <a:xfrm flipH="1">
              <a:off x="738481" y="465875"/>
              <a:ext cx="1" cy="600571"/>
            </a:xfrm>
            <a:prstGeom prst="line">
              <a:avLst/>
            </a:prstGeom>
            <a:noFill/>
            <a:ln w="25400" cap="flat">
              <a:solidFill>
                <a:schemeClr val="accent4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95" name="保证队空时数组元素均为nul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保证队空时数组元素均为null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出队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出队</a:t>
            </a:r>
          </a:p>
        </p:txBody>
      </p:sp>
      <p:sp>
        <p:nvSpPr>
          <p:cNvPr id="398" name="@SuppressWarnings(&quot;unchecked&quot;)…"/>
          <p:cNvSpPr txBox="1"/>
          <p:nvPr/>
        </p:nvSpPr>
        <p:spPr>
          <a:xfrm>
            <a:off x="111630" y="1112567"/>
            <a:ext cx="12781540" cy="6728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9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9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// 保持空队时，所有的数组元素都等于null，所以，没有判断是否为空队，如果为空队，返回null，不抛出异常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9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 pollFirst() {</a:t>
            </a:r>
          </a:p>
          <a:p>
            <a:pPr indent="0">
              <a:lnSpc>
                <a:spcPct val="100000"/>
              </a:lnSpc>
              <a:defRPr sz="19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T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rPr>
                <a:solidFill>
                  <a:srgbClr val="000000"/>
                </a:solidFill>
              </a:rPr>
              <a:t> = (T) 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9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result</a:t>
            </a:r>
            <a:r>
              <a:rPr>
                <a:solidFill>
                  <a:srgbClr val="000000"/>
                </a:solidFill>
              </a:rP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9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0326CC"/>
                </a:solidFill>
              </a:rPr>
              <a:t>head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// 防止内存泄漏，保持null,简化peek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9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 = inc(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, 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9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19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9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19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9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9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 pollLast() {</a:t>
            </a:r>
          </a:p>
          <a:p>
            <a:pPr indent="0">
              <a:lnSpc>
                <a:spcPct val="100000"/>
              </a:lnSpc>
              <a:defRPr sz="19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9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T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rPr>
                <a:solidFill>
                  <a:srgbClr val="000000"/>
                </a:solidFill>
              </a:rPr>
              <a:t> = (T) 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 = dec(</a:t>
            </a:r>
            <a:r>
              <a:t>tail</a:t>
            </a:r>
            <a:r>
              <a:rPr>
                <a:solidFill>
                  <a:srgbClr val="000000"/>
                </a:solidFill>
              </a:rPr>
              <a:t>, 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)];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9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result</a:t>
            </a:r>
            <a:r>
              <a:rPr>
                <a:solidFill>
                  <a:srgbClr val="000000"/>
                </a:solidFill>
              </a:rP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9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</a:t>
            </a:r>
            <a:r>
              <a:t>tail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9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19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9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clea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clear</a:t>
            </a:r>
          </a:p>
        </p:txBody>
      </p:sp>
      <p:sp>
        <p:nvSpPr>
          <p:cNvPr id="401" name="public void clear1() {…"/>
          <p:cNvSpPr txBox="1"/>
          <p:nvPr/>
        </p:nvSpPr>
        <p:spPr>
          <a:xfrm>
            <a:off x="1547142" y="4306165"/>
            <a:ext cx="9869265" cy="510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clear1()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t>tail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t>tail</a:t>
            </a:r>
            <a:r>
              <a:rPr>
                <a:solidFill>
                  <a:srgbClr val="000000"/>
                </a:solidFill>
              </a:rP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++)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} </a:t>
            </a:r>
            <a:r>
              <a:rPr>
                <a:solidFill>
                  <a:srgbClr val="931A68"/>
                </a:solidFill>
              </a:rPr>
              <a:t>else</a:t>
            </a:r>
            <a:r>
              <a:t>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++)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tail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 = </a:t>
            </a:r>
            <a:r>
              <a:rPr>
                <a:solidFill>
                  <a:srgbClr val="0326CC"/>
                </a:solidFill>
              </a:rPr>
              <a:t>tail</a:t>
            </a:r>
            <a:r>
              <a:t> = 0;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420" name="成组"/>
          <p:cNvGrpSpPr/>
          <p:nvPr/>
        </p:nvGrpSpPr>
        <p:grpSpPr>
          <a:xfrm>
            <a:off x="6899817" y="1355379"/>
            <a:ext cx="4520391" cy="2996964"/>
            <a:chOff x="0" y="0"/>
            <a:chExt cx="4520389" cy="2996963"/>
          </a:xfrm>
        </p:grpSpPr>
        <p:sp>
          <p:nvSpPr>
            <p:cNvPr id="402" name="线条"/>
            <p:cNvSpPr/>
            <p:nvPr/>
          </p:nvSpPr>
          <p:spPr>
            <a:xfrm flipH="1">
              <a:off x="435186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3" name="线条"/>
            <p:cNvSpPr/>
            <p:nvPr/>
          </p:nvSpPr>
          <p:spPr>
            <a:xfrm flipH="1">
              <a:off x="3685822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4" name="f"/>
            <p:cNvSpPr txBox="1"/>
            <p:nvPr/>
          </p:nvSpPr>
          <p:spPr>
            <a:xfrm>
              <a:off x="3758388" y="969591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405" name="线条"/>
            <p:cNvSpPr/>
            <p:nvPr/>
          </p:nvSpPr>
          <p:spPr>
            <a:xfrm flipH="1">
              <a:off x="2949788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6" name="线条"/>
            <p:cNvSpPr/>
            <p:nvPr/>
          </p:nvSpPr>
          <p:spPr>
            <a:xfrm flipH="1">
              <a:off x="221149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7" name="线条"/>
            <p:cNvSpPr/>
            <p:nvPr/>
          </p:nvSpPr>
          <p:spPr>
            <a:xfrm flipH="1">
              <a:off x="147545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8" name="线条"/>
            <p:cNvSpPr/>
            <p:nvPr/>
          </p:nvSpPr>
          <p:spPr>
            <a:xfrm flipH="1">
              <a:off x="73716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9" name="线条"/>
            <p:cNvSpPr/>
            <p:nvPr/>
          </p:nvSpPr>
          <p:spPr>
            <a:xfrm flipH="1">
              <a:off x="1129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10" name="线条"/>
            <p:cNvSpPr/>
            <p:nvPr/>
          </p:nvSpPr>
          <p:spPr>
            <a:xfrm flipH="1">
              <a:off x="3386" y="766514"/>
              <a:ext cx="4350741" cy="2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11" name="线条"/>
            <p:cNvSpPr/>
            <p:nvPr/>
          </p:nvSpPr>
          <p:spPr>
            <a:xfrm flipH="1">
              <a:off x="2257" y="1943947"/>
              <a:ext cx="4350741" cy="1580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12" name="0     1     2     3    4     5"/>
            <p:cNvSpPr txBox="1"/>
            <p:nvPr/>
          </p:nvSpPr>
          <p:spPr>
            <a:xfrm>
              <a:off x="0" y="0"/>
              <a:ext cx="4419602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0     1     2     3    4     5</a:t>
              </a:r>
            </a:p>
          </p:txBody>
        </p:sp>
        <p:sp>
          <p:nvSpPr>
            <p:cNvPr id="413" name="线条"/>
            <p:cNvSpPr/>
            <p:nvPr/>
          </p:nvSpPr>
          <p:spPr>
            <a:xfrm flipH="1">
              <a:off x="10436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14" name="d"/>
            <p:cNvSpPr txBox="1"/>
            <p:nvPr/>
          </p:nvSpPr>
          <p:spPr>
            <a:xfrm>
              <a:off x="2278662" y="992292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415" name="head"/>
            <p:cNvSpPr txBox="1"/>
            <p:nvPr/>
          </p:nvSpPr>
          <p:spPr>
            <a:xfrm>
              <a:off x="2208715" y="2479748"/>
              <a:ext cx="983457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416" name="tail"/>
            <p:cNvSpPr txBox="1"/>
            <p:nvPr/>
          </p:nvSpPr>
          <p:spPr>
            <a:xfrm>
              <a:off x="676895" y="2479748"/>
              <a:ext cx="847787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sp>
          <p:nvSpPr>
            <p:cNvPr id="417" name="e"/>
            <p:cNvSpPr txBox="1"/>
            <p:nvPr/>
          </p:nvSpPr>
          <p:spPr>
            <a:xfrm>
              <a:off x="3072588" y="969591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418" name="g"/>
            <p:cNvSpPr txBox="1"/>
            <p:nvPr/>
          </p:nvSpPr>
          <p:spPr>
            <a:xfrm>
              <a:off x="128693" y="969591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419" name="线条"/>
            <p:cNvSpPr/>
            <p:nvPr/>
          </p:nvSpPr>
          <p:spPr>
            <a:xfrm>
              <a:off x="25930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439" name="成组"/>
          <p:cNvGrpSpPr/>
          <p:nvPr/>
        </p:nvGrpSpPr>
        <p:grpSpPr>
          <a:xfrm>
            <a:off x="1579753" y="1195691"/>
            <a:ext cx="4471083" cy="2524280"/>
            <a:chOff x="0" y="0"/>
            <a:chExt cx="4471081" cy="2524278"/>
          </a:xfrm>
        </p:grpSpPr>
        <p:sp>
          <p:nvSpPr>
            <p:cNvPr id="421" name="线条"/>
            <p:cNvSpPr/>
            <p:nvPr/>
          </p:nvSpPr>
          <p:spPr>
            <a:xfrm flipH="1">
              <a:off x="435186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2" name="线条"/>
            <p:cNvSpPr/>
            <p:nvPr/>
          </p:nvSpPr>
          <p:spPr>
            <a:xfrm flipH="1">
              <a:off x="3685822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3" name="f"/>
            <p:cNvSpPr/>
            <p:nvPr/>
          </p:nvSpPr>
          <p:spPr>
            <a:xfrm>
              <a:off x="2247088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424" name="线条"/>
            <p:cNvSpPr/>
            <p:nvPr/>
          </p:nvSpPr>
          <p:spPr>
            <a:xfrm flipH="1">
              <a:off x="2949788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5" name="线条"/>
            <p:cNvSpPr/>
            <p:nvPr/>
          </p:nvSpPr>
          <p:spPr>
            <a:xfrm flipH="1">
              <a:off x="221149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6" name="线条"/>
            <p:cNvSpPr/>
            <p:nvPr/>
          </p:nvSpPr>
          <p:spPr>
            <a:xfrm flipH="1">
              <a:off x="147545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7" name="线条"/>
            <p:cNvSpPr/>
            <p:nvPr/>
          </p:nvSpPr>
          <p:spPr>
            <a:xfrm flipH="1">
              <a:off x="73716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8" name="线条"/>
            <p:cNvSpPr/>
            <p:nvPr/>
          </p:nvSpPr>
          <p:spPr>
            <a:xfrm flipH="1">
              <a:off x="1129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9" name="线条"/>
            <p:cNvSpPr/>
            <p:nvPr/>
          </p:nvSpPr>
          <p:spPr>
            <a:xfrm flipH="1">
              <a:off x="3386" y="766514"/>
              <a:ext cx="4350741" cy="2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30" name="线条"/>
            <p:cNvSpPr/>
            <p:nvPr/>
          </p:nvSpPr>
          <p:spPr>
            <a:xfrm flipH="1">
              <a:off x="2257" y="1943947"/>
              <a:ext cx="4350741" cy="1580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31" name="0     1     2     3    4     5"/>
            <p:cNvSpPr/>
            <p:nvPr/>
          </p:nvSpPr>
          <p:spPr>
            <a:xfrm>
              <a:off x="0" y="0"/>
              <a:ext cx="4419602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0     1     2     3    4     5</a:t>
              </a:r>
            </a:p>
          </p:txBody>
        </p:sp>
        <p:sp>
          <p:nvSpPr>
            <p:cNvPr id="432" name="线条"/>
            <p:cNvSpPr/>
            <p:nvPr/>
          </p:nvSpPr>
          <p:spPr>
            <a:xfrm>
              <a:off x="39900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33" name="d"/>
            <p:cNvSpPr/>
            <p:nvPr/>
          </p:nvSpPr>
          <p:spPr>
            <a:xfrm>
              <a:off x="805462" y="992292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434" name="head"/>
            <p:cNvSpPr/>
            <p:nvPr/>
          </p:nvSpPr>
          <p:spPr>
            <a:xfrm>
              <a:off x="684715" y="2479748"/>
              <a:ext cx="98345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435" name="tail"/>
            <p:cNvSpPr/>
            <p:nvPr/>
          </p:nvSpPr>
          <p:spPr>
            <a:xfrm>
              <a:off x="3623295" y="2479748"/>
              <a:ext cx="84778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sp>
          <p:nvSpPr>
            <p:cNvPr id="436" name="e"/>
            <p:cNvSpPr/>
            <p:nvPr/>
          </p:nvSpPr>
          <p:spPr>
            <a:xfrm>
              <a:off x="1548588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437" name="g"/>
            <p:cNvSpPr/>
            <p:nvPr/>
          </p:nvSpPr>
          <p:spPr>
            <a:xfrm>
              <a:off x="3075092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438" name="线条"/>
            <p:cNvSpPr/>
            <p:nvPr/>
          </p:nvSpPr>
          <p:spPr>
            <a:xfrm flipH="1">
              <a:off x="10690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clea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clear</a:t>
            </a:r>
          </a:p>
        </p:txBody>
      </p:sp>
      <p:sp>
        <p:nvSpPr>
          <p:cNvPr id="442" name="public void clear() {…"/>
          <p:cNvSpPr txBox="1"/>
          <p:nvPr/>
        </p:nvSpPr>
        <p:spPr>
          <a:xfrm>
            <a:off x="152704" y="1372287"/>
            <a:ext cx="12757864" cy="3167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95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clear() {</a:t>
            </a:r>
          </a:p>
          <a:p>
            <a:pPr indent="0">
              <a:lnSpc>
                <a:spcPct val="100000"/>
              </a:lnSpc>
              <a:defRPr sz="195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7E504F"/>
                </a:solidFill>
              </a:rPr>
              <a:t>to</a:t>
            </a:r>
            <a:r>
              <a:rPr>
                <a:solidFill>
                  <a:srgbClr val="000000"/>
                </a:solidFill>
              </a:rPr>
              <a:t> = (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&lt;= </a:t>
            </a:r>
            <a:r>
              <a:t>tail</a:t>
            </a:r>
            <a:r>
              <a:rPr>
                <a:solidFill>
                  <a:srgbClr val="000000"/>
                </a:solidFill>
              </a:rPr>
              <a:t>) ? </a:t>
            </a:r>
            <a:r>
              <a:t>tail</a:t>
            </a:r>
            <a:r>
              <a:rPr>
                <a:solidFill>
                  <a:srgbClr val="000000"/>
                </a:solidFill>
              </a:rPr>
              <a:t> : 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0, </a:t>
            </a:r>
            <a:r>
              <a:rPr>
                <a:solidFill>
                  <a:srgbClr val="7E504F"/>
                </a:solidFill>
              </a:rPr>
              <a:t>to</a:t>
            </a:r>
            <a:r>
              <a:rPr>
                <a:solidFill>
                  <a:srgbClr val="000000"/>
                </a:solidFill>
              </a:rPr>
              <a:t> = </a:t>
            </a:r>
            <a:r>
              <a:t>tail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95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to</a:t>
            </a:r>
            <a:r>
              <a:t>;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++)</a:t>
            </a:r>
          </a:p>
          <a:p>
            <a:pPr indent="0">
              <a:lnSpc>
                <a:spcPct val="100000"/>
              </a:lnSpc>
              <a:defRPr sz="195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95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to</a:t>
            </a:r>
            <a:r>
              <a:t> == </a:t>
            </a:r>
            <a:r>
              <a:rPr>
                <a:solidFill>
                  <a:srgbClr val="0326CC"/>
                </a:solidFill>
              </a:rPr>
              <a:t>tail</a:t>
            </a:r>
            <a:r>
              <a:t>)</a:t>
            </a:r>
          </a:p>
          <a:p>
            <a:pPr indent="0">
              <a:lnSpc>
                <a:spcPct val="100000"/>
              </a:lnSpc>
              <a:defRPr sz="195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break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95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195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 = </a:t>
            </a:r>
            <a:r>
              <a:rPr>
                <a:solidFill>
                  <a:srgbClr val="0326CC"/>
                </a:solidFill>
              </a:rPr>
              <a:t>tail</a:t>
            </a:r>
            <a:r>
              <a:t> = 0;</a:t>
            </a:r>
          </a:p>
          <a:p>
            <a:pPr indent="0">
              <a:lnSpc>
                <a:spcPct val="100000"/>
              </a:lnSpc>
              <a:defRPr sz="195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探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探测</a:t>
            </a:r>
          </a:p>
        </p:txBody>
      </p:sp>
      <p:sp>
        <p:nvSpPr>
          <p:cNvPr id="445" name="// 以下2个peek，空队时要求返回的是null…"/>
          <p:cNvSpPr txBox="1"/>
          <p:nvPr/>
        </p:nvSpPr>
        <p:spPr>
          <a:xfrm>
            <a:off x="1430828" y="1289472"/>
            <a:ext cx="10174189" cy="5233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// 以下2个peek，空队时要求返回的是null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// 没有判断是否队空，利用了队空时各个数组元素为null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5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 peekFirst()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rPr>
                <a:solidFill>
                  <a:srgbClr val="000000"/>
                </a:solidFill>
              </a:rPr>
              <a:t> (T) 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5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 peekLast()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rPr>
                <a:solidFill>
                  <a:srgbClr val="000000"/>
                </a:solidFill>
              </a:rPr>
              <a:t> (T) 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[dec(</a:t>
            </a:r>
            <a:r>
              <a:t>tail</a:t>
            </a:r>
            <a:r>
              <a:rPr>
                <a:solidFill>
                  <a:srgbClr val="000000"/>
                </a:solidFill>
              </a:rPr>
              <a:t>, 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)];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size(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size()</a:t>
            </a:r>
          </a:p>
        </p:txBody>
      </p:sp>
      <p:sp>
        <p:nvSpPr>
          <p:cNvPr id="448" name="public int size() {…"/>
          <p:cNvSpPr txBox="1"/>
          <p:nvPr/>
        </p:nvSpPr>
        <p:spPr>
          <a:xfrm>
            <a:off x="3652499" y="4825575"/>
            <a:ext cx="5487053" cy="2589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size()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</a:t>
            </a:r>
            <a:r>
              <a:t>tail</a:t>
            </a:r>
            <a:r>
              <a:rPr>
                <a:solidFill>
                  <a:srgbClr val="000000"/>
                </a:solidFill>
              </a:rPr>
              <a:t> - 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0)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+= 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467" name="成组"/>
          <p:cNvGrpSpPr/>
          <p:nvPr/>
        </p:nvGrpSpPr>
        <p:grpSpPr>
          <a:xfrm>
            <a:off x="6899817" y="1195691"/>
            <a:ext cx="4520391" cy="2996965"/>
            <a:chOff x="0" y="0"/>
            <a:chExt cx="4520389" cy="2996963"/>
          </a:xfrm>
        </p:grpSpPr>
        <p:sp>
          <p:nvSpPr>
            <p:cNvPr id="449" name="线条"/>
            <p:cNvSpPr/>
            <p:nvPr/>
          </p:nvSpPr>
          <p:spPr>
            <a:xfrm flipH="1">
              <a:off x="435186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0" name="线条"/>
            <p:cNvSpPr/>
            <p:nvPr/>
          </p:nvSpPr>
          <p:spPr>
            <a:xfrm flipH="1">
              <a:off x="3685822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1" name="f"/>
            <p:cNvSpPr txBox="1"/>
            <p:nvPr/>
          </p:nvSpPr>
          <p:spPr>
            <a:xfrm>
              <a:off x="3758388" y="969591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452" name="线条"/>
            <p:cNvSpPr/>
            <p:nvPr/>
          </p:nvSpPr>
          <p:spPr>
            <a:xfrm flipH="1">
              <a:off x="2949788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3" name="线条"/>
            <p:cNvSpPr/>
            <p:nvPr/>
          </p:nvSpPr>
          <p:spPr>
            <a:xfrm flipH="1">
              <a:off x="221149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4" name="线条"/>
            <p:cNvSpPr/>
            <p:nvPr/>
          </p:nvSpPr>
          <p:spPr>
            <a:xfrm flipH="1">
              <a:off x="147545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5" name="线条"/>
            <p:cNvSpPr/>
            <p:nvPr/>
          </p:nvSpPr>
          <p:spPr>
            <a:xfrm flipH="1">
              <a:off x="73716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6" name="线条"/>
            <p:cNvSpPr/>
            <p:nvPr/>
          </p:nvSpPr>
          <p:spPr>
            <a:xfrm flipH="1">
              <a:off x="1129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7" name="线条"/>
            <p:cNvSpPr/>
            <p:nvPr/>
          </p:nvSpPr>
          <p:spPr>
            <a:xfrm flipH="1">
              <a:off x="3386" y="766514"/>
              <a:ext cx="4350741" cy="2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8" name="线条"/>
            <p:cNvSpPr/>
            <p:nvPr/>
          </p:nvSpPr>
          <p:spPr>
            <a:xfrm flipH="1">
              <a:off x="2257" y="1943947"/>
              <a:ext cx="4350741" cy="1580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9" name="0     1     2     3    4     5"/>
            <p:cNvSpPr txBox="1"/>
            <p:nvPr/>
          </p:nvSpPr>
          <p:spPr>
            <a:xfrm>
              <a:off x="0" y="0"/>
              <a:ext cx="4419602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0     1     2     3    4     5</a:t>
              </a:r>
            </a:p>
          </p:txBody>
        </p:sp>
        <p:sp>
          <p:nvSpPr>
            <p:cNvPr id="460" name="线条"/>
            <p:cNvSpPr/>
            <p:nvPr/>
          </p:nvSpPr>
          <p:spPr>
            <a:xfrm flipH="1">
              <a:off x="10436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61" name="d"/>
            <p:cNvSpPr txBox="1"/>
            <p:nvPr/>
          </p:nvSpPr>
          <p:spPr>
            <a:xfrm>
              <a:off x="2278662" y="992292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462" name="head"/>
            <p:cNvSpPr txBox="1"/>
            <p:nvPr/>
          </p:nvSpPr>
          <p:spPr>
            <a:xfrm>
              <a:off x="2208715" y="2479748"/>
              <a:ext cx="983457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463" name="tail"/>
            <p:cNvSpPr txBox="1"/>
            <p:nvPr/>
          </p:nvSpPr>
          <p:spPr>
            <a:xfrm>
              <a:off x="676895" y="2479748"/>
              <a:ext cx="847787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sp>
          <p:nvSpPr>
            <p:cNvPr id="464" name="e"/>
            <p:cNvSpPr txBox="1"/>
            <p:nvPr/>
          </p:nvSpPr>
          <p:spPr>
            <a:xfrm>
              <a:off x="3072588" y="969591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465" name="g"/>
            <p:cNvSpPr txBox="1"/>
            <p:nvPr/>
          </p:nvSpPr>
          <p:spPr>
            <a:xfrm>
              <a:off x="128693" y="969591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466" name="线条"/>
            <p:cNvSpPr/>
            <p:nvPr/>
          </p:nvSpPr>
          <p:spPr>
            <a:xfrm>
              <a:off x="25930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486" name="成组"/>
          <p:cNvGrpSpPr/>
          <p:nvPr/>
        </p:nvGrpSpPr>
        <p:grpSpPr>
          <a:xfrm>
            <a:off x="1579753" y="1195691"/>
            <a:ext cx="4471083" cy="2524280"/>
            <a:chOff x="0" y="0"/>
            <a:chExt cx="4471081" cy="2524278"/>
          </a:xfrm>
        </p:grpSpPr>
        <p:sp>
          <p:nvSpPr>
            <p:cNvPr id="468" name="线条"/>
            <p:cNvSpPr/>
            <p:nvPr/>
          </p:nvSpPr>
          <p:spPr>
            <a:xfrm flipH="1">
              <a:off x="435186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69" name="线条"/>
            <p:cNvSpPr/>
            <p:nvPr/>
          </p:nvSpPr>
          <p:spPr>
            <a:xfrm flipH="1">
              <a:off x="3685822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0" name="f"/>
            <p:cNvSpPr/>
            <p:nvPr/>
          </p:nvSpPr>
          <p:spPr>
            <a:xfrm>
              <a:off x="2247088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471" name="线条"/>
            <p:cNvSpPr/>
            <p:nvPr/>
          </p:nvSpPr>
          <p:spPr>
            <a:xfrm flipH="1">
              <a:off x="2949788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2" name="线条"/>
            <p:cNvSpPr/>
            <p:nvPr/>
          </p:nvSpPr>
          <p:spPr>
            <a:xfrm flipH="1">
              <a:off x="221149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3" name="线条"/>
            <p:cNvSpPr/>
            <p:nvPr/>
          </p:nvSpPr>
          <p:spPr>
            <a:xfrm flipH="1">
              <a:off x="147545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4" name="线条"/>
            <p:cNvSpPr/>
            <p:nvPr/>
          </p:nvSpPr>
          <p:spPr>
            <a:xfrm flipH="1">
              <a:off x="73716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5" name="线条"/>
            <p:cNvSpPr/>
            <p:nvPr/>
          </p:nvSpPr>
          <p:spPr>
            <a:xfrm flipH="1">
              <a:off x="1129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6" name="线条"/>
            <p:cNvSpPr/>
            <p:nvPr/>
          </p:nvSpPr>
          <p:spPr>
            <a:xfrm flipH="1">
              <a:off x="3386" y="766514"/>
              <a:ext cx="4350741" cy="2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7" name="线条"/>
            <p:cNvSpPr/>
            <p:nvPr/>
          </p:nvSpPr>
          <p:spPr>
            <a:xfrm flipH="1">
              <a:off x="2257" y="1943947"/>
              <a:ext cx="4350741" cy="1580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8" name="0     1     2     3    4     5"/>
            <p:cNvSpPr/>
            <p:nvPr/>
          </p:nvSpPr>
          <p:spPr>
            <a:xfrm>
              <a:off x="0" y="0"/>
              <a:ext cx="4419602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0     1     2     3    4     5</a:t>
              </a:r>
            </a:p>
          </p:txBody>
        </p:sp>
        <p:sp>
          <p:nvSpPr>
            <p:cNvPr id="479" name="线条"/>
            <p:cNvSpPr/>
            <p:nvPr/>
          </p:nvSpPr>
          <p:spPr>
            <a:xfrm>
              <a:off x="39900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80" name="d"/>
            <p:cNvSpPr/>
            <p:nvPr/>
          </p:nvSpPr>
          <p:spPr>
            <a:xfrm>
              <a:off x="805462" y="992292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481" name="head"/>
            <p:cNvSpPr/>
            <p:nvPr/>
          </p:nvSpPr>
          <p:spPr>
            <a:xfrm>
              <a:off x="684715" y="2479748"/>
              <a:ext cx="98345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482" name="tail"/>
            <p:cNvSpPr/>
            <p:nvPr/>
          </p:nvSpPr>
          <p:spPr>
            <a:xfrm>
              <a:off x="3623295" y="2479748"/>
              <a:ext cx="84778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sp>
          <p:nvSpPr>
            <p:cNvPr id="483" name="e"/>
            <p:cNvSpPr/>
            <p:nvPr/>
          </p:nvSpPr>
          <p:spPr>
            <a:xfrm>
              <a:off x="1548588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484" name="g"/>
            <p:cNvSpPr/>
            <p:nvPr/>
          </p:nvSpPr>
          <p:spPr>
            <a:xfrm>
              <a:off x="3075092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485" name="线条"/>
            <p:cNvSpPr/>
            <p:nvPr/>
          </p:nvSpPr>
          <p:spPr>
            <a:xfrm flipH="1">
              <a:off x="10690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display:调试用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display:调试用</a:t>
            </a:r>
          </a:p>
        </p:txBody>
      </p:sp>
      <p:sp>
        <p:nvSpPr>
          <p:cNvPr id="489" name="public void display() {// 显示数组各个元素的值，帮助调试…"/>
          <p:cNvSpPr txBox="1"/>
          <p:nvPr/>
        </p:nvSpPr>
        <p:spPr>
          <a:xfrm>
            <a:off x="1335919" y="1226858"/>
            <a:ext cx="10287807" cy="349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rPr>
                <a:solidFill>
                  <a:srgbClr val="000000"/>
                </a:solidFill>
              </a:rPr>
              <a:t> display() {</a:t>
            </a:r>
            <a:r>
              <a:t>// 显示数组各个元素的值，帮助调试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StringBuilder </a:t>
            </a:r>
            <a:r>
              <a:rPr>
                <a:solidFill>
                  <a:srgbClr val="7E504F"/>
                </a:solidFill>
              </a:rPr>
              <a:t>str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StringBuilder();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str</a:t>
            </a:r>
            <a:r>
              <a:t>.append(</a:t>
            </a:r>
            <a:r>
              <a:rPr>
                <a:solidFill>
                  <a:srgbClr val="3933FF"/>
                </a:solidFill>
              </a:rPr>
              <a:t>"head="</a:t>
            </a:r>
            <a:r>
              <a:t> +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);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str</a:t>
            </a:r>
            <a:r>
              <a:t>.append(</a:t>
            </a:r>
            <a:r>
              <a:rPr>
                <a:solidFill>
                  <a:srgbClr val="3933FF"/>
                </a:solidFill>
              </a:rPr>
              <a:t>" tail="</a:t>
            </a:r>
            <a:r>
              <a:t> + </a:t>
            </a:r>
            <a:r>
              <a:rPr>
                <a:solidFill>
                  <a:srgbClr val="0326CC"/>
                </a:solidFill>
              </a:rPr>
              <a:t>tail</a:t>
            </a:r>
            <a:r>
              <a:t> + </a:t>
            </a:r>
            <a:r>
              <a:rPr>
                <a:solidFill>
                  <a:srgbClr val="3933FF"/>
                </a:solidFill>
              </a:rPr>
              <a:t>":   "</a:t>
            </a:r>
            <a:r>
              <a:t>);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++)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str</a:t>
            </a:r>
            <a:r>
              <a:t>.append(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 + </a:t>
            </a:r>
            <a:r>
              <a:rPr>
                <a:solidFill>
                  <a:srgbClr val="3933FF"/>
                </a:solidFill>
              </a:rPr>
              <a:t>"  "</a:t>
            </a:r>
            <a:r>
              <a:t>);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str</a:t>
            </a:r>
            <a:r>
              <a:t>.toString());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490" name="offerLast:1，2，3，4的结果…"/>
          <p:cNvSpPr txBox="1"/>
          <p:nvPr/>
        </p:nvSpPr>
        <p:spPr>
          <a:xfrm>
            <a:off x="873794" y="5259820"/>
            <a:ext cx="11546161" cy="255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offerLast:1，2，3，4的结果</a:t>
            </a:r>
          </a:p>
          <a:p>
            <a:pPr indent="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head=0 tail=4:   1  2  3  4  null  null </a:t>
            </a:r>
          </a:p>
          <a:p>
            <a:pPr indent="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pollFirst 4次，offerLast:5的结果 </a:t>
            </a:r>
          </a:p>
          <a:p>
            <a:pPr indent="0">
              <a:defRPr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head=4 tail=5:   null  null  null  null  5  null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Deque=&gt;Queu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Deque=&gt;Queue</a:t>
            </a:r>
          </a:p>
        </p:txBody>
      </p:sp>
      <p:sp>
        <p:nvSpPr>
          <p:cNvPr id="493" name="Deque虽然可以在两端操作，但本质上是一个(循环)队列，从队头(head)到…"/>
          <p:cNvSpPr txBox="1"/>
          <p:nvPr/>
        </p:nvSpPr>
        <p:spPr>
          <a:xfrm>
            <a:off x="372093" y="1305382"/>
            <a:ext cx="12299174" cy="2216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Deque虽然可以在两端操作，但本质上是一个(循环)队列，从队头(head)到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队尾(tail)的数据依次为：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head、head+1、head+2、…、tail-1</a:t>
            </a:r>
          </a:p>
        </p:txBody>
      </p:sp>
      <p:grpSp>
        <p:nvGrpSpPr>
          <p:cNvPr id="512" name="成组"/>
          <p:cNvGrpSpPr/>
          <p:nvPr/>
        </p:nvGrpSpPr>
        <p:grpSpPr>
          <a:xfrm>
            <a:off x="6619800" y="3937071"/>
            <a:ext cx="4520391" cy="2996965"/>
            <a:chOff x="0" y="0"/>
            <a:chExt cx="4520389" cy="2996963"/>
          </a:xfrm>
        </p:grpSpPr>
        <p:sp>
          <p:nvSpPr>
            <p:cNvPr id="494" name="线条"/>
            <p:cNvSpPr/>
            <p:nvPr/>
          </p:nvSpPr>
          <p:spPr>
            <a:xfrm flipH="1">
              <a:off x="435186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5" name="线条"/>
            <p:cNvSpPr/>
            <p:nvPr/>
          </p:nvSpPr>
          <p:spPr>
            <a:xfrm flipH="1">
              <a:off x="3685822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6" name="f"/>
            <p:cNvSpPr txBox="1"/>
            <p:nvPr/>
          </p:nvSpPr>
          <p:spPr>
            <a:xfrm>
              <a:off x="3758388" y="969591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497" name="线条"/>
            <p:cNvSpPr/>
            <p:nvPr/>
          </p:nvSpPr>
          <p:spPr>
            <a:xfrm flipH="1">
              <a:off x="2949788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8" name="线条"/>
            <p:cNvSpPr/>
            <p:nvPr/>
          </p:nvSpPr>
          <p:spPr>
            <a:xfrm flipH="1">
              <a:off x="221149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9" name="线条"/>
            <p:cNvSpPr/>
            <p:nvPr/>
          </p:nvSpPr>
          <p:spPr>
            <a:xfrm flipH="1">
              <a:off x="147545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0" name="线条"/>
            <p:cNvSpPr/>
            <p:nvPr/>
          </p:nvSpPr>
          <p:spPr>
            <a:xfrm flipH="1">
              <a:off x="73716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1" name="线条"/>
            <p:cNvSpPr/>
            <p:nvPr/>
          </p:nvSpPr>
          <p:spPr>
            <a:xfrm flipH="1">
              <a:off x="1129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2" name="线条"/>
            <p:cNvSpPr/>
            <p:nvPr/>
          </p:nvSpPr>
          <p:spPr>
            <a:xfrm flipH="1">
              <a:off x="3386" y="766514"/>
              <a:ext cx="4350741" cy="2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3" name="线条"/>
            <p:cNvSpPr/>
            <p:nvPr/>
          </p:nvSpPr>
          <p:spPr>
            <a:xfrm flipH="1">
              <a:off x="2257" y="1943947"/>
              <a:ext cx="4350741" cy="1580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4" name="0     1     2     3    4     5"/>
            <p:cNvSpPr txBox="1"/>
            <p:nvPr/>
          </p:nvSpPr>
          <p:spPr>
            <a:xfrm>
              <a:off x="0" y="0"/>
              <a:ext cx="4419602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0     1     2     3    4     5</a:t>
              </a:r>
            </a:p>
          </p:txBody>
        </p:sp>
        <p:sp>
          <p:nvSpPr>
            <p:cNvPr id="505" name="线条"/>
            <p:cNvSpPr/>
            <p:nvPr/>
          </p:nvSpPr>
          <p:spPr>
            <a:xfrm flipH="1">
              <a:off x="10436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6" name="d"/>
            <p:cNvSpPr txBox="1"/>
            <p:nvPr/>
          </p:nvSpPr>
          <p:spPr>
            <a:xfrm>
              <a:off x="2278662" y="992292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507" name="head"/>
            <p:cNvSpPr txBox="1"/>
            <p:nvPr/>
          </p:nvSpPr>
          <p:spPr>
            <a:xfrm>
              <a:off x="2208715" y="2479748"/>
              <a:ext cx="983457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508" name="tail"/>
            <p:cNvSpPr txBox="1"/>
            <p:nvPr/>
          </p:nvSpPr>
          <p:spPr>
            <a:xfrm>
              <a:off x="676895" y="2479748"/>
              <a:ext cx="847787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sp>
          <p:nvSpPr>
            <p:cNvPr id="509" name="e"/>
            <p:cNvSpPr txBox="1"/>
            <p:nvPr/>
          </p:nvSpPr>
          <p:spPr>
            <a:xfrm>
              <a:off x="3072588" y="969591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510" name="g"/>
            <p:cNvSpPr txBox="1"/>
            <p:nvPr/>
          </p:nvSpPr>
          <p:spPr>
            <a:xfrm>
              <a:off x="128693" y="969591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511" name="线条"/>
            <p:cNvSpPr/>
            <p:nvPr/>
          </p:nvSpPr>
          <p:spPr>
            <a:xfrm>
              <a:off x="25930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531" name="成组"/>
          <p:cNvGrpSpPr/>
          <p:nvPr/>
        </p:nvGrpSpPr>
        <p:grpSpPr>
          <a:xfrm>
            <a:off x="1299736" y="3937071"/>
            <a:ext cx="4471083" cy="2524280"/>
            <a:chOff x="0" y="0"/>
            <a:chExt cx="4471081" cy="2524278"/>
          </a:xfrm>
        </p:grpSpPr>
        <p:sp>
          <p:nvSpPr>
            <p:cNvPr id="513" name="线条"/>
            <p:cNvSpPr/>
            <p:nvPr/>
          </p:nvSpPr>
          <p:spPr>
            <a:xfrm flipH="1">
              <a:off x="435186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14" name="线条"/>
            <p:cNvSpPr/>
            <p:nvPr/>
          </p:nvSpPr>
          <p:spPr>
            <a:xfrm flipH="1">
              <a:off x="3685822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15" name="f"/>
            <p:cNvSpPr/>
            <p:nvPr/>
          </p:nvSpPr>
          <p:spPr>
            <a:xfrm>
              <a:off x="2247088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516" name="线条"/>
            <p:cNvSpPr/>
            <p:nvPr/>
          </p:nvSpPr>
          <p:spPr>
            <a:xfrm flipH="1">
              <a:off x="2949788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17" name="线条"/>
            <p:cNvSpPr/>
            <p:nvPr/>
          </p:nvSpPr>
          <p:spPr>
            <a:xfrm flipH="1">
              <a:off x="221149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18" name="线条"/>
            <p:cNvSpPr/>
            <p:nvPr/>
          </p:nvSpPr>
          <p:spPr>
            <a:xfrm flipH="1">
              <a:off x="1475457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19" name="线条"/>
            <p:cNvSpPr/>
            <p:nvPr/>
          </p:nvSpPr>
          <p:spPr>
            <a:xfrm flipH="1">
              <a:off x="737164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0" name="线条"/>
            <p:cNvSpPr/>
            <p:nvPr/>
          </p:nvSpPr>
          <p:spPr>
            <a:xfrm flipH="1">
              <a:off x="1129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1" name="线条"/>
            <p:cNvSpPr/>
            <p:nvPr/>
          </p:nvSpPr>
          <p:spPr>
            <a:xfrm flipH="1">
              <a:off x="3386" y="766514"/>
              <a:ext cx="4350741" cy="22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2" name="线条"/>
            <p:cNvSpPr/>
            <p:nvPr/>
          </p:nvSpPr>
          <p:spPr>
            <a:xfrm flipH="1">
              <a:off x="2257" y="1943947"/>
              <a:ext cx="4350741" cy="1580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3" name="0     1     2     3    4     5"/>
            <p:cNvSpPr/>
            <p:nvPr/>
          </p:nvSpPr>
          <p:spPr>
            <a:xfrm>
              <a:off x="0" y="0"/>
              <a:ext cx="4419602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0     1     2     3    4     5</a:t>
              </a:r>
            </a:p>
          </p:txBody>
        </p:sp>
        <p:sp>
          <p:nvSpPr>
            <p:cNvPr id="524" name="线条"/>
            <p:cNvSpPr/>
            <p:nvPr/>
          </p:nvSpPr>
          <p:spPr>
            <a:xfrm>
              <a:off x="39900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5" name="d"/>
            <p:cNvSpPr/>
            <p:nvPr/>
          </p:nvSpPr>
          <p:spPr>
            <a:xfrm>
              <a:off x="805462" y="992292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526" name="head"/>
            <p:cNvSpPr/>
            <p:nvPr/>
          </p:nvSpPr>
          <p:spPr>
            <a:xfrm>
              <a:off x="684715" y="2479748"/>
              <a:ext cx="98345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527" name="tail"/>
            <p:cNvSpPr/>
            <p:nvPr/>
          </p:nvSpPr>
          <p:spPr>
            <a:xfrm>
              <a:off x="3623295" y="2479748"/>
              <a:ext cx="84778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sp>
          <p:nvSpPr>
            <p:cNvPr id="528" name="e"/>
            <p:cNvSpPr/>
            <p:nvPr/>
          </p:nvSpPr>
          <p:spPr>
            <a:xfrm>
              <a:off x="1548588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529" name="g"/>
            <p:cNvSpPr/>
            <p:nvPr/>
          </p:nvSpPr>
          <p:spPr>
            <a:xfrm>
              <a:off x="3075092" y="969591"/>
              <a:ext cx="762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530" name="线条"/>
            <p:cNvSpPr/>
            <p:nvPr/>
          </p:nvSpPr>
          <p:spPr>
            <a:xfrm flipH="1">
              <a:off x="1069000" y="1957493"/>
              <a:ext cx="1" cy="5667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532" name="两个队列的数据均为d、e、f、g"/>
          <p:cNvSpPr txBox="1"/>
          <p:nvPr/>
        </p:nvSpPr>
        <p:spPr>
          <a:xfrm>
            <a:off x="687380" y="7666104"/>
            <a:ext cx="542108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两个队列的数据均为d、e、f、g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队列的方向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队列的方向</a:t>
            </a:r>
          </a:p>
        </p:txBody>
      </p:sp>
      <p:grpSp>
        <p:nvGrpSpPr>
          <p:cNvPr id="555" name="成组"/>
          <p:cNvGrpSpPr/>
          <p:nvPr/>
        </p:nvGrpSpPr>
        <p:grpSpPr>
          <a:xfrm>
            <a:off x="1804402" y="1552684"/>
            <a:ext cx="9030548" cy="3238741"/>
            <a:chOff x="0" y="0"/>
            <a:chExt cx="9030546" cy="3238739"/>
          </a:xfrm>
        </p:grpSpPr>
        <p:grpSp>
          <p:nvGrpSpPr>
            <p:cNvPr id="544" name="成组"/>
            <p:cNvGrpSpPr/>
            <p:nvPr/>
          </p:nvGrpSpPr>
          <p:grpSpPr>
            <a:xfrm>
              <a:off x="126999" y="0"/>
              <a:ext cx="8903548" cy="1830921"/>
              <a:chOff x="0" y="0"/>
              <a:chExt cx="8903546" cy="1830920"/>
            </a:xfrm>
          </p:grpSpPr>
          <p:grpSp>
            <p:nvGrpSpPr>
              <p:cNvPr id="537" name="成组"/>
              <p:cNvGrpSpPr/>
              <p:nvPr/>
            </p:nvGrpSpPr>
            <p:grpSpPr>
              <a:xfrm>
                <a:off x="1502953" y="0"/>
                <a:ext cx="5913552" cy="582182"/>
                <a:chOff x="0" y="0"/>
                <a:chExt cx="5913550" cy="582181"/>
              </a:xfrm>
            </p:grpSpPr>
            <p:sp>
              <p:nvSpPr>
                <p:cNvPr id="535" name="线条"/>
                <p:cNvSpPr/>
                <p:nvPr/>
              </p:nvSpPr>
              <p:spPr>
                <a:xfrm>
                  <a:off x="0" y="0"/>
                  <a:ext cx="5913551" cy="0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36" name="线条"/>
                <p:cNvSpPr/>
                <p:nvPr/>
              </p:nvSpPr>
              <p:spPr>
                <a:xfrm>
                  <a:off x="0" y="582181"/>
                  <a:ext cx="5913551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grpSp>
            <p:nvGrpSpPr>
              <p:cNvPr id="540" name="成组"/>
              <p:cNvGrpSpPr/>
              <p:nvPr/>
            </p:nvGrpSpPr>
            <p:grpSpPr>
              <a:xfrm>
                <a:off x="7575943" y="266280"/>
                <a:ext cx="1327604" cy="1564641"/>
                <a:chOff x="0" y="0"/>
                <a:chExt cx="1327602" cy="1564639"/>
              </a:xfrm>
            </p:grpSpPr>
            <p:sp>
              <p:nvSpPr>
                <p:cNvPr id="538" name="线条"/>
                <p:cNvSpPr/>
                <p:nvPr/>
              </p:nvSpPr>
              <p:spPr>
                <a:xfrm flipV="1">
                  <a:off x="0" y="0"/>
                  <a:ext cx="107470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headEnd type="triangle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39" name="offerLast"/>
                <p:cNvSpPr/>
                <p:nvPr/>
              </p:nvSpPr>
              <p:spPr>
                <a:xfrm>
                  <a:off x="57602" y="294639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offerLast</a:t>
                  </a:r>
                </a:p>
              </p:txBody>
            </p:sp>
          </p:grpSp>
          <p:grpSp>
            <p:nvGrpSpPr>
              <p:cNvPr id="543" name="成组"/>
              <p:cNvGrpSpPr/>
              <p:nvPr/>
            </p:nvGrpSpPr>
            <p:grpSpPr>
              <a:xfrm>
                <a:off x="-1" y="266280"/>
                <a:ext cx="1358540" cy="1564641"/>
                <a:chOff x="0" y="0"/>
                <a:chExt cx="1358538" cy="1564639"/>
              </a:xfrm>
            </p:grpSpPr>
            <p:sp>
              <p:nvSpPr>
                <p:cNvPr id="541" name="线条"/>
                <p:cNvSpPr/>
                <p:nvPr/>
              </p:nvSpPr>
              <p:spPr>
                <a:xfrm>
                  <a:off x="43997" y="0"/>
                  <a:ext cx="1314542" cy="0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headEnd type="triangle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42" name="pollFirst"/>
                <p:cNvSpPr/>
                <p:nvPr/>
              </p:nvSpPr>
              <p:spPr>
                <a:xfrm>
                  <a:off x="0" y="294639"/>
                  <a:ext cx="1270000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pollFirst</a:t>
                  </a:r>
                </a:p>
              </p:txBody>
            </p:sp>
          </p:grpSp>
        </p:grpSp>
        <p:grpSp>
          <p:nvGrpSpPr>
            <p:cNvPr id="554" name="成组"/>
            <p:cNvGrpSpPr/>
            <p:nvPr/>
          </p:nvGrpSpPr>
          <p:grpSpPr>
            <a:xfrm>
              <a:off x="0" y="1375298"/>
              <a:ext cx="8873178" cy="1863442"/>
              <a:chOff x="0" y="0"/>
              <a:chExt cx="8873177" cy="1863441"/>
            </a:xfrm>
          </p:grpSpPr>
          <p:grpSp>
            <p:nvGrpSpPr>
              <p:cNvPr id="547" name="成组"/>
              <p:cNvGrpSpPr/>
              <p:nvPr/>
            </p:nvGrpSpPr>
            <p:grpSpPr>
              <a:xfrm>
                <a:off x="1602805" y="0"/>
                <a:ext cx="5913552" cy="582182"/>
                <a:chOff x="0" y="0"/>
                <a:chExt cx="5913550" cy="582181"/>
              </a:xfrm>
            </p:grpSpPr>
            <p:sp>
              <p:nvSpPr>
                <p:cNvPr id="545" name="线条"/>
                <p:cNvSpPr/>
                <p:nvPr/>
              </p:nvSpPr>
              <p:spPr>
                <a:xfrm>
                  <a:off x="0" y="0"/>
                  <a:ext cx="5913551" cy="0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46" name="线条"/>
                <p:cNvSpPr/>
                <p:nvPr/>
              </p:nvSpPr>
              <p:spPr>
                <a:xfrm>
                  <a:off x="0" y="582181"/>
                  <a:ext cx="5913551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grpSp>
            <p:nvGrpSpPr>
              <p:cNvPr id="550" name="成组"/>
              <p:cNvGrpSpPr/>
              <p:nvPr/>
            </p:nvGrpSpPr>
            <p:grpSpPr>
              <a:xfrm>
                <a:off x="-1" y="298801"/>
                <a:ext cx="1327604" cy="1564641"/>
                <a:chOff x="0" y="0"/>
                <a:chExt cx="1327602" cy="1564639"/>
              </a:xfrm>
            </p:grpSpPr>
            <p:sp>
              <p:nvSpPr>
                <p:cNvPr id="548" name="线条"/>
                <p:cNvSpPr/>
                <p:nvPr/>
              </p:nvSpPr>
              <p:spPr>
                <a:xfrm flipV="1">
                  <a:off x="0" y="0"/>
                  <a:ext cx="1074704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triangle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49" name="offerFirst"/>
                <p:cNvSpPr/>
                <p:nvPr/>
              </p:nvSpPr>
              <p:spPr>
                <a:xfrm>
                  <a:off x="57602" y="294639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offerFirst</a:t>
                  </a:r>
                </a:p>
              </p:txBody>
            </p:sp>
          </p:grpSp>
          <p:grpSp>
            <p:nvGrpSpPr>
              <p:cNvPr id="553" name="成组"/>
              <p:cNvGrpSpPr/>
              <p:nvPr/>
            </p:nvGrpSpPr>
            <p:grpSpPr>
              <a:xfrm>
                <a:off x="7514638" y="298801"/>
                <a:ext cx="1358540" cy="1564641"/>
                <a:chOff x="0" y="0"/>
                <a:chExt cx="1358538" cy="1564639"/>
              </a:xfrm>
            </p:grpSpPr>
            <p:sp>
              <p:nvSpPr>
                <p:cNvPr id="551" name="线条"/>
                <p:cNvSpPr/>
                <p:nvPr/>
              </p:nvSpPr>
              <p:spPr>
                <a:xfrm>
                  <a:off x="43997" y="0"/>
                  <a:ext cx="1314542" cy="0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  <a:tailEnd type="triangle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52" name="pollLast"/>
                <p:cNvSpPr/>
                <p:nvPr/>
              </p:nvSpPr>
              <p:spPr>
                <a:xfrm>
                  <a:off x="0" y="294639"/>
                  <a:ext cx="1270000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pollLast</a:t>
                  </a:r>
                </a:p>
              </p:txBody>
            </p:sp>
          </p:grpSp>
        </p:grpSp>
      </p:grpSp>
      <p:sp>
        <p:nvSpPr>
          <p:cNvPr id="556" name="将1、2、3、4依次序入队，然后执行4次出队操作，结果一样吗？…"/>
          <p:cNvSpPr txBox="1"/>
          <p:nvPr/>
        </p:nvSpPr>
        <p:spPr>
          <a:xfrm>
            <a:off x="426881" y="4288635"/>
            <a:ext cx="12105883" cy="1425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将1、2、3、4依次序入队，然后执行4次出队操作，结果一样吗？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即offerLast 4次， pollFirst 4次和offerFirst 4次和pollLast 4次的结果一样？</a:t>
            </a:r>
          </a:p>
        </p:txBody>
      </p:sp>
      <p:sp>
        <p:nvSpPr>
          <p:cNvPr id="557" name="答案：一样，因为逻辑上是同一个队列，从头到尾是1、2、3、4"/>
          <p:cNvSpPr txBox="1"/>
          <p:nvPr/>
        </p:nvSpPr>
        <p:spPr>
          <a:xfrm>
            <a:off x="687380" y="6380608"/>
            <a:ext cx="10840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答案：一样，因为逻辑上是同一个队列，从头到尾是1、2、3、4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57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7" name="成组"/>
          <p:cNvGrpSpPr/>
          <p:nvPr/>
        </p:nvGrpSpPr>
        <p:grpSpPr>
          <a:xfrm>
            <a:off x="841573" y="2034042"/>
            <a:ext cx="5498963" cy="3466865"/>
            <a:chOff x="0" y="0"/>
            <a:chExt cx="5498961" cy="3466863"/>
          </a:xfrm>
        </p:grpSpPr>
        <p:sp>
          <p:nvSpPr>
            <p:cNvPr id="559" name="1"/>
            <p:cNvSpPr txBox="1"/>
            <p:nvPr/>
          </p:nvSpPr>
          <p:spPr>
            <a:xfrm>
              <a:off x="765373" y="1044644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560" name="3"/>
            <p:cNvSpPr txBox="1"/>
            <p:nvPr/>
          </p:nvSpPr>
          <p:spPr>
            <a:xfrm>
              <a:off x="2306024" y="1044644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561" name="线条"/>
            <p:cNvSpPr/>
            <p:nvPr/>
          </p:nvSpPr>
          <p:spPr>
            <a:xfrm flipH="1">
              <a:off x="5054305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2" name="线条"/>
            <p:cNvSpPr/>
            <p:nvPr/>
          </p:nvSpPr>
          <p:spPr>
            <a:xfrm flipH="1">
              <a:off x="3652226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3" name="线条"/>
            <p:cNvSpPr/>
            <p:nvPr/>
          </p:nvSpPr>
          <p:spPr>
            <a:xfrm flipH="1">
              <a:off x="2913931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4" name="线条"/>
            <p:cNvSpPr/>
            <p:nvPr/>
          </p:nvSpPr>
          <p:spPr>
            <a:xfrm flipH="1">
              <a:off x="2177895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5" name="线条"/>
            <p:cNvSpPr/>
            <p:nvPr/>
          </p:nvSpPr>
          <p:spPr>
            <a:xfrm flipH="1">
              <a:off x="1439602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6" name="线条"/>
            <p:cNvSpPr/>
            <p:nvPr/>
          </p:nvSpPr>
          <p:spPr>
            <a:xfrm flipH="1">
              <a:off x="703567" y="768773"/>
              <a:ext cx="2258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7" name="线条"/>
            <p:cNvSpPr/>
            <p:nvPr/>
          </p:nvSpPr>
          <p:spPr>
            <a:xfrm flipH="1">
              <a:off x="705824" y="766515"/>
              <a:ext cx="4350741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8" name="线条"/>
            <p:cNvSpPr/>
            <p:nvPr/>
          </p:nvSpPr>
          <p:spPr>
            <a:xfrm flipH="1">
              <a:off x="704695" y="1943947"/>
              <a:ext cx="4350741" cy="1580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9" name="线条"/>
            <p:cNvSpPr/>
            <p:nvPr/>
          </p:nvSpPr>
          <p:spPr>
            <a:xfrm flipH="1">
              <a:off x="4388259" y="768773"/>
              <a:ext cx="2261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0" name="0     1     2     3    4     5"/>
            <p:cNvSpPr txBox="1"/>
            <p:nvPr/>
          </p:nvSpPr>
          <p:spPr>
            <a:xfrm>
              <a:off x="702437" y="0"/>
              <a:ext cx="4419603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0     1     2     3    4     5</a:t>
              </a:r>
            </a:p>
          </p:txBody>
        </p:sp>
        <p:sp>
          <p:nvSpPr>
            <p:cNvPr id="571" name="线条"/>
            <p:cNvSpPr/>
            <p:nvPr/>
          </p:nvSpPr>
          <p:spPr>
            <a:xfrm>
              <a:off x="1085638" y="1944793"/>
              <a:ext cx="2681" cy="9605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2" name="线条"/>
            <p:cNvSpPr/>
            <p:nvPr/>
          </p:nvSpPr>
          <p:spPr>
            <a:xfrm>
              <a:off x="4043667" y="1944793"/>
              <a:ext cx="2681" cy="96058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3" name="4"/>
            <p:cNvSpPr txBox="1"/>
            <p:nvPr/>
          </p:nvSpPr>
          <p:spPr>
            <a:xfrm>
              <a:off x="3019200" y="1044644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574" name="head"/>
            <p:cNvSpPr txBox="1"/>
            <p:nvPr/>
          </p:nvSpPr>
          <p:spPr>
            <a:xfrm>
              <a:off x="0" y="2949648"/>
              <a:ext cx="2024129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     head</a:t>
              </a:r>
            </a:p>
          </p:txBody>
        </p:sp>
        <p:sp>
          <p:nvSpPr>
            <p:cNvPr id="575" name="tail"/>
            <p:cNvSpPr txBox="1"/>
            <p:nvPr/>
          </p:nvSpPr>
          <p:spPr>
            <a:xfrm>
              <a:off x="3474832" y="2949648"/>
              <a:ext cx="202413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 tail</a:t>
              </a:r>
            </a:p>
          </p:txBody>
        </p:sp>
        <p:sp>
          <p:nvSpPr>
            <p:cNvPr id="576" name="2"/>
            <p:cNvSpPr txBox="1"/>
            <p:nvPr/>
          </p:nvSpPr>
          <p:spPr>
            <a:xfrm>
              <a:off x="1552780" y="1044644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578" name="假设初始时空队，head = tail = 0"/>
          <p:cNvSpPr txBox="1"/>
          <p:nvPr/>
        </p:nvSpPr>
        <p:spPr>
          <a:xfrm>
            <a:off x="147630" y="1238672"/>
            <a:ext cx="542722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假设初始时空队，head = tail = 0</a:t>
            </a:r>
          </a:p>
        </p:txBody>
      </p:sp>
      <p:grpSp>
        <p:nvGrpSpPr>
          <p:cNvPr id="597" name="成组"/>
          <p:cNvGrpSpPr/>
          <p:nvPr/>
        </p:nvGrpSpPr>
        <p:grpSpPr>
          <a:xfrm>
            <a:off x="6794823" y="2034042"/>
            <a:ext cx="5261600" cy="3466865"/>
            <a:chOff x="0" y="0"/>
            <a:chExt cx="5261598" cy="3466863"/>
          </a:xfrm>
        </p:grpSpPr>
        <p:sp>
          <p:nvSpPr>
            <p:cNvPr id="579" name="1"/>
            <p:cNvSpPr txBox="1"/>
            <p:nvPr/>
          </p:nvSpPr>
          <p:spPr>
            <a:xfrm>
              <a:off x="4499597" y="1045791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580" name="3"/>
            <p:cNvSpPr txBox="1"/>
            <p:nvPr/>
          </p:nvSpPr>
          <p:spPr>
            <a:xfrm>
              <a:off x="3044600" y="1045791"/>
              <a:ext cx="762003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581" name="线条"/>
            <p:cNvSpPr/>
            <p:nvPr/>
          </p:nvSpPr>
          <p:spPr>
            <a:xfrm flipH="1">
              <a:off x="5054305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2" name="线条"/>
            <p:cNvSpPr/>
            <p:nvPr/>
          </p:nvSpPr>
          <p:spPr>
            <a:xfrm flipH="1">
              <a:off x="3652226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3" name="线条"/>
            <p:cNvSpPr/>
            <p:nvPr/>
          </p:nvSpPr>
          <p:spPr>
            <a:xfrm flipH="1">
              <a:off x="2913932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4" name="线条"/>
            <p:cNvSpPr/>
            <p:nvPr/>
          </p:nvSpPr>
          <p:spPr>
            <a:xfrm flipH="1">
              <a:off x="2177895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5" name="线条"/>
            <p:cNvSpPr/>
            <p:nvPr/>
          </p:nvSpPr>
          <p:spPr>
            <a:xfrm flipH="1">
              <a:off x="1439602" y="768773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6" name="线条"/>
            <p:cNvSpPr/>
            <p:nvPr/>
          </p:nvSpPr>
          <p:spPr>
            <a:xfrm flipH="1">
              <a:off x="703566" y="768773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7" name="线条"/>
            <p:cNvSpPr/>
            <p:nvPr/>
          </p:nvSpPr>
          <p:spPr>
            <a:xfrm flipH="1">
              <a:off x="705824" y="766515"/>
              <a:ext cx="4350741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8" name="线条"/>
            <p:cNvSpPr/>
            <p:nvPr/>
          </p:nvSpPr>
          <p:spPr>
            <a:xfrm flipH="1">
              <a:off x="704695" y="1943947"/>
              <a:ext cx="4350741" cy="1580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9" name="线条"/>
            <p:cNvSpPr/>
            <p:nvPr/>
          </p:nvSpPr>
          <p:spPr>
            <a:xfrm flipH="1">
              <a:off x="4388259" y="768773"/>
              <a:ext cx="2261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0" name="0     1     2     3    4     5"/>
            <p:cNvSpPr txBox="1"/>
            <p:nvPr/>
          </p:nvSpPr>
          <p:spPr>
            <a:xfrm>
              <a:off x="702437" y="0"/>
              <a:ext cx="4419602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0     1     2     3    4     5</a:t>
              </a:r>
            </a:p>
          </p:txBody>
        </p:sp>
        <p:sp>
          <p:nvSpPr>
            <p:cNvPr id="591" name="线条"/>
            <p:cNvSpPr/>
            <p:nvPr/>
          </p:nvSpPr>
          <p:spPr>
            <a:xfrm>
              <a:off x="1085638" y="1944793"/>
              <a:ext cx="2681" cy="9605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2" name="线条"/>
            <p:cNvSpPr/>
            <p:nvPr/>
          </p:nvSpPr>
          <p:spPr>
            <a:xfrm>
              <a:off x="2608567" y="1944793"/>
              <a:ext cx="2681" cy="96058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3" name="4"/>
            <p:cNvSpPr txBox="1"/>
            <p:nvPr/>
          </p:nvSpPr>
          <p:spPr>
            <a:xfrm>
              <a:off x="2307435" y="1045791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594" name="tail"/>
            <p:cNvSpPr txBox="1"/>
            <p:nvPr/>
          </p:nvSpPr>
          <p:spPr>
            <a:xfrm>
              <a:off x="0" y="2949648"/>
              <a:ext cx="2024129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     tail</a:t>
              </a:r>
            </a:p>
          </p:txBody>
        </p:sp>
        <p:sp>
          <p:nvSpPr>
            <p:cNvPr id="595" name="head"/>
            <p:cNvSpPr txBox="1"/>
            <p:nvPr/>
          </p:nvSpPr>
          <p:spPr>
            <a:xfrm>
              <a:off x="2039732" y="2949648"/>
              <a:ext cx="1258946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 head</a:t>
              </a:r>
            </a:p>
          </p:txBody>
        </p:sp>
        <p:sp>
          <p:nvSpPr>
            <p:cNvPr id="596" name="2"/>
            <p:cNvSpPr txBox="1"/>
            <p:nvPr/>
          </p:nvSpPr>
          <p:spPr>
            <a:xfrm>
              <a:off x="3841349" y="1045791"/>
              <a:ext cx="762002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598" name="offerLast: 1、2、3、4的结果"/>
          <p:cNvSpPr txBox="1"/>
          <p:nvPr/>
        </p:nvSpPr>
        <p:spPr>
          <a:xfrm>
            <a:off x="1392136" y="5701041"/>
            <a:ext cx="4810515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offerLast: 1、2、3、4的结果</a:t>
            </a:r>
          </a:p>
        </p:txBody>
      </p:sp>
      <p:sp>
        <p:nvSpPr>
          <p:cNvPr id="599" name="offerFirst:1、2、3、4的结果"/>
          <p:cNvSpPr txBox="1"/>
          <p:nvPr/>
        </p:nvSpPr>
        <p:spPr>
          <a:xfrm>
            <a:off x="7539159" y="5701041"/>
            <a:ext cx="475805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offerFirst:1、2、3、4的结果</a:t>
            </a:r>
          </a:p>
        </p:txBody>
      </p:sp>
      <p:sp>
        <p:nvSpPr>
          <p:cNvPr id="600" name="[1, 2, 3, 4]"/>
          <p:cNvSpPr txBox="1"/>
          <p:nvPr/>
        </p:nvSpPr>
        <p:spPr>
          <a:xfrm>
            <a:off x="2504956" y="6681367"/>
            <a:ext cx="1759352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[1, 2, 3, 4]</a:t>
            </a:r>
          </a:p>
        </p:txBody>
      </p:sp>
      <p:sp>
        <p:nvSpPr>
          <p:cNvPr id="601" name="[4, 3, 2, 1]"/>
          <p:cNvSpPr txBox="1"/>
          <p:nvPr/>
        </p:nvSpPr>
        <p:spPr>
          <a:xfrm>
            <a:off x="9334241" y="6503567"/>
            <a:ext cx="1759352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[4, 3, 2, 1]</a:t>
            </a:r>
          </a:p>
        </p:txBody>
      </p:sp>
      <p:sp>
        <p:nvSpPr>
          <p:cNvPr id="602" name="注意：逻辑上一个队列，有2个不同的物理队列，方向不同。…"/>
          <p:cNvSpPr txBox="1"/>
          <p:nvPr/>
        </p:nvSpPr>
        <p:spPr>
          <a:xfrm>
            <a:off x="213771" y="7515113"/>
            <a:ext cx="10268600" cy="1947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注意：逻辑上一个队列，有2个不同的物理队列，方向不同。</a:t>
            </a:r>
          </a:p>
          <a:p>
            <a:pPr/>
            <a:r>
              <a:t>             根据应用的要求，采用不同方向的队列</a:t>
            </a:r>
          </a:p>
          <a:p>
            <a:pPr/>
            <a:r>
              <a:t>             栈也一样</a:t>
            </a:r>
          </a:p>
        </p:txBody>
      </p:sp>
      <p:sp>
        <p:nvSpPr>
          <p:cNvPr id="603" name="实际的队列："/>
          <p:cNvSpPr txBox="1"/>
          <p:nvPr/>
        </p:nvSpPr>
        <p:spPr>
          <a:xfrm>
            <a:off x="147630" y="6622474"/>
            <a:ext cx="2458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实际的队列：</a:t>
            </a:r>
          </a:p>
        </p:txBody>
      </p:sp>
      <p:sp>
        <p:nvSpPr>
          <p:cNvPr id="604" name="队列的方向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队列的方向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总结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总结</a:t>
            </a:r>
          </a:p>
        </p:txBody>
      </p:sp>
      <p:sp>
        <p:nvSpPr>
          <p:cNvPr id="607" name="1、需要预先确定空间，但能根据需要动态增加（不能动态缩小）…"/>
          <p:cNvSpPr txBox="1"/>
          <p:nvPr/>
        </p:nvSpPr>
        <p:spPr>
          <a:xfrm>
            <a:off x="387209" y="1391072"/>
            <a:ext cx="11886176" cy="260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1、需要预先确定空间，但能根据需要动态增加（不能动态缩小）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2、两端循环：a.length - 1 + 1 -&gt; 0,   0 - 1 -&gt; a.length - 1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3、目前的实现思路</a:t>
            </a:r>
            <a:r>
              <a:rPr>
                <a:solidFill>
                  <a:schemeClr val="accent1"/>
                </a:solidFill>
              </a:rPr>
              <a:t>借鉴</a:t>
            </a:r>
            <a:r>
              <a:t>了Java 17的java.util.ArrayDeque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    Java 8的java.util.ArrayDeque采用了巧妙的解决办法，见后面的ppt。</a:t>
            </a:r>
          </a:p>
        </p:txBody>
      </p:sp>
      <p:sp>
        <p:nvSpPr>
          <p:cNvPr id="608" name="类库的ArrayDeque提供了：…"/>
          <p:cNvSpPr txBox="1"/>
          <p:nvPr/>
        </p:nvSpPr>
        <p:spPr>
          <a:xfrm>
            <a:off x="452415" y="4413469"/>
            <a:ext cx="8461082" cy="1947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类库的ArrayDeque提供了：</a:t>
            </a:r>
          </a:p>
          <a:p>
            <a:pPr lvl="2">
              <a:defRPr>
                <a:solidFill>
                  <a:srgbClr val="000000"/>
                </a:solidFill>
              </a:defRPr>
            </a:pPr>
            <a:r>
              <a:t>1、标准的栈操作：push、pop、peek；在head端</a:t>
            </a:r>
          </a:p>
          <a:p>
            <a:pPr lvl="2">
              <a:defRPr>
                <a:solidFill>
                  <a:srgbClr val="000000"/>
                </a:solidFill>
              </a:defRPr>
            </a:pPr>
            <a:r>
              <a:t>2、标准的队列操作：offer、poll、peek；在head端</a:t>
            </a:r>
          </a:p>
        </p:txBody>
      </p:sp>
      <p:sp>
        <p:nvSpPr>
          <p:cNvPr id="609" name="使用ArrayDeque提供的offerFirst、offerLast、pollFirst和pollLast：…"/>
          <p:cNvSpPr txBox="1"/>
          <p:nvPr/>
        </p:nvSpPr>
        <p:spPr>
          <a:xfrm>
            <a:off x="469279" y="6586291"/>
            <a:ext cx="10845495" cy="260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使用ArrayDeque提供的offerFirst、offerLast、pollFirst和pollLast：</a:t>
            </a:r>
          </a:p>
          <a:p>
            <a:pPr lvl="2">
              <a:defRPr>
                <a:solidFill>
                  <a:srgbClr val="000000"/>
                </a:solidFill>
              </a:defRPr>
            </a:pPr>
            <a:r>
              <a:t>1、不同方向的队列</a:t>
            </a:r>
          </a:p>
          <a:p>
            <a:pPr lvl="2">
              <a:defRPr>
                <a:solidFill>
                  <a:srgbClr val="000000"/>
                </a:solidFill>
              </a:defRPr>
            </a:pPr>
            <a:r>
              <a:t>2、不同方向的栈</a:t>
            </a:r>
          </a:p>
          <a:p>
            <a:pPr lvl="2">
              <a:defRPr>
                <a:solidFill>
                  <a:srgbClr val="000000"/>
                </a:solidFill>
              </a:defRPr>
            </a:pPr>
            <a:r>
              <a:t>3、其他组合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Java 类库相关的接口和类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Java 类库相关的接口和类</a:t>
            </a:r>
          </a:p>
        </p:txBody>
      </p:sp>
      <p:grpSp>
        <p:nvGrpSpPr>
          <p:cNvPr id="623" name="成组"/>
          <p:cNvGrpSpPr/>
          <p:nvPr/>
        </p:nvGrpSpPr>
        <p:grpSpPr>
          <a:xfrm>
            <a:off x="3350519" y="1669942"/>
            <a:ext cx="6533830" cy="5067704"/>
            <a:chOff x="0" y="0"/>
            <a:chExt cx="6533828" cy="5067703"/>
          </a:xfrm>
        </p:grpSpPr>
        <p:sp>
          <p:nvSpPr>
            <p:cNvPr id="612" name="Collection&lt;E&gt;"/>
            <p:cNvSpPr txBox="1"/>
            <p:nvPr/>
          </p:nvSpPr>
          <p:spPr>
            <a:xfrm>
              <a:off x="1756285" y="0"/>
              <a:ext cx="2421823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Collection&lt;E&gt;</a:t>
              </a:r>
            </a:p>
          </p:txBody>
        </p:sp>
        <p:sp>
          <p:nvSpPr>
            <p:cNvPr id="613" name="Queue&lt;E&gt;"/>
            <p:cNvSpPr txBox="1"/>
            <p:nvPr/>
          </p:nvSpPr>
          <p:spPr>
            <a:xfrm>
              <a:off x="2052732" y="1299557"/>
              <a:ext cx="1828929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Queue&lt;E&gt;</a:t>
              </a:r>
            </a:p>
          </p:txBody>
        </p:sp>
        <p:sp>
          <p:nvSpPr>
            <p:cNvPr id="614" name="Deque&lt;E&gt;"/>
            <p:cNvSpPr txBox="1"/>
            <p:nvPr/>
          </p:nvSpPr>
          <p:spPr>
            <a:xfrm>
              <a:off x="1984885" y="2418439"/>
              <a:ext cx="1828929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Deque&lt;E&gt;</a:t>
              </a:r>
            </a:p>
          </p:txBody>
        </p:sp>
        <p:sp>
          <p:nvSpPr>
            <p:cNvPr id="615" name="ArrayDeque&lt;E&gt;"/>
            <p:cNvSpPr txBox="1"/>
            <p:nvPr/>
          </p:nvSpPr>
          <p:spPr>
            <a:xfrm>
              <a:off x="0" y="4550488"/>
              <a:ext cx="271743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ArrayDeque&lt;E&gt;</a:t>
              </a:r>
            </a:p>
          </p:txBody>
        </p:sp>
        <p:sp>
          <p:nvSpPr>
            <p:cNvPr id="616" name="LinkedList&lt;E&gt;"/>
            <p:cNvSpPr txBox="1"/>
            <p:nvPr/>
          </p:nvSpPr>
          <p:spPr>
            <a:xfrm>
              <a:off x="4027359" y="4550488"/>
              <a:ext cx="250647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LinkedList&lt;E&gt;</a:t>
              </a:r>
            </a:p>
          </p:txBody>
        </p:sp>
        <p:sp>
          <p:nvSpPr>
            <p:cNvPr id="617" name="线条"/>
            <p:cNvSpPr/>
            <p:nvPr/>
          </p:nvSpPr>
          <p:spPr>
            <a:xfrm flipV="1">
              <a:off x="2967196" y="581366"/>
              <a:ext cx="1" cy="65404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18" name="线条"/>
            <p:cNvSpPr/>
            <p:nvPr/>
          </p:nvSpPr>
          <p:spPr>
            <a:xfrm flipV="1">
              <a:off x="2967196" y="1821326"/>
              <a:ext cx="1" cy="65404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19" name="线条"/>
            <p:cNvSpPr/>
            <p:nvPr/>
          </p:nvSpPr>
          <p:spPr>
            <a:xfrm flipV="1">
              <a:off x="2967196" y="2921586"/>
              <a:ext cx="1" cy="82678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custDash>
                <a:ds d="200000" sp="200000"/>
              </a:custDash>
              <a:miter lim="400000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20" name="线条"/>
            <p:cNvSpPr/>
            <p:nvPr/>
          </p:nvSpPr>
          <p:spPr>
            <a:xfrm>
              <a:off x="1256056" y="3804878"/>
              <a:ext cx="3725516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21" name="线条"/>
            <p:cNvSpPr/>
            <p:nvPr/>
          </p:nvSpPr>
          <p:spPr>
            <a:xfrm flipV="1">
              <a:off x="1257115" y="3796213"/>
              <a:ext cx="1" cy="82678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22" name="线条"/>
            <p:cNvSpPr/>
            <p:nvPr/>
          </p:nvSpPr>
          <p:spPr>
            <a:xfrm flipV="1">
              <a:off x="4981511" y="3796213"/>
              <a:ext cx="1" cy="82678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Java 类库相关的接口和类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Java 类库相关的接口和类</a:t>
            </a:r>
          </a:p>
        </p:txBody>
      </p:sp>
      <p:sp>
        <p:nvSpPr>
          <p:cNvPr id="626" name="Queue：…"/>
          <p:cNvSpPr txBox="1"/>
          <p:nvPr/>
        </p:nvSpPr>
        <p:spPr>
          <a:xfrm>
            <a:off x="89426" y="1117425"/>
            <a:ext cx="11548718" cy="2572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700">
                <a:solidFill>
                  <a:srgbClr val="000000"/>
                </a:solidFill>
              </a:defRPr>
            </a:pPr>
            <a:r>
              <a:t>Queue：</a:t>
            </a:r>
          </a:p>
          <a:p>
            <a:pPr lvl="1" marL="681789" indent="-300789">
              <a:lnSpc>
                <a:spcPct val="100000"/>
              </a:lnSpc>
              <a:buSzPct val="60000"/>
              <a:buBlip>
                <a:blip r:embed="rId2"/>
              </a:buBlip>
              <a:defRPr sz="2700">
                <a:solidFill>
                  <a:srgbClr val="000000"/>
                </a:solidFill>
              </a:defRPr>
            </a:pPr>
            <a:r>
              <a:t>boolean add(E e): 如果能立刻入队并且没有违反空间约束，则入队，返回</a:t>
            </a:r>
          </a:p>
          <a:p>
            <a:pPr lvl="1" indent="228600">
              <a:lnSpc>
                <a:spcPct val="100000"/>
              </a:lnSpc>
              <a:defRPr sz="2700">
                <a:solidFill>
                  <a:srgbClr val="000000"/>
                </a:solidFill>
              </a:defRPr>
            </a:pPr>
            <a:r>
              <a:t>                                   true，没有空间抛出</a:t>
            </a:r>
            <a:r>
              <a:rPr>
                <a:solidFill>
                  <a:schemeClr val="accent5"/>
                </a:solidFill>
              </a:rPr>
              <a:t>异常</a:t>
            </a:r>
            <a:r>
              <a:t>IllegalStateException。</a:t>
            </a:r>
          </a:p>
          <a:p>
            <a:pPr lvl="1" indent="228600">
              <a:lnSpc>
                <a:spcPct val="100000"/>
              </a:lnSpc>
              <a:defRPr sz="2700">
                <a:solidFill>
                  <a:srgbClr val="000000"/>
                </a:solidFill>
              </a:defRPr>
            </a:pPr>
            <a:r>
              <a:t> boolean </a:t>
            </a:r>
            <a:r>
              <a:rPr>
                <a:solidFill>
                  <a:schemeClr val="accent5"/>
                </a:solidFill>
              </a:rPr>
              <a:t>offer</a:t>
            </a:r>
            <a:r>
              <a:t>(E e):如果能立刻入队并且没有违反空间约束，则入队。</a:t>
            </a:r>
          </a:p>
          <a:p>
            <a:pPr lvl="1" indent="228600">
              <a:lnSpc>
                <a:spcPct val="100000"/>
              </a:lnSpc>
              <a:defRPr sz="2700">
                <a:solidFill>
                  <a:srgbClr val="000000"/>
                </a:solidFill>
              </a:defRPr>
            </a:pPr>
            <a:r>
              <a:t>                                   入队了，返回true，没有入队，返回false</a:t>
            </a:r>
          </a:p>
        </p:txBody>
      </p:sp>
      <p:sp>
        <p:nvSpPr>
          <p:cNvPr id="627" name="Deque：…"/>
          <p:cNvSpPr txBox="1"/>
          <p:nvPr/>
        </p:nvSpPr>
        <p:spPr>
          <a:xfrm>
            <a:off x="89426" y="3629736"/>
            <a:ext cx="12387551" cy="2572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700">
                <a:solidFill>
                  <a:srgbClr val="000000"/>
                </a:solidFill>
              </a:defRPr>
            </a:pPr>
            <a:r>
              <a:t>Deque：</a:t>
            </a:r>
          </a:p>
          <a:p>
            <a:pPr lvl="1" marL="681789" indent="-300789">
              <a:lnSpc>
                <a:spcPct val="100000"/>
              </a:lnSpc>
              <a:buSzPct val="60000"/>
              <a:buBlip>
                <a:blip r:embed="rId2"/>
              </a:buBlip>
              <a:defRPr sz="2700">
                <a:solidFill>
                  <a:srgbClr val="000000"/>
                </a:solidFill>
              </a:defRPr>
            </a:pPr>
            <a:r>
              <a:t>void addFirst(E e): 如果能立刻入队并且没有违反空间约束，则入队，没有空间</a:t>
            </a:r>
          </a:p>
          <a:p>
            <a:pPr lvl="1" indent="228600">
              <a:lnSpc>
                <a:spcPct val="100000"/>
              </a:lnSpc>
              <a:defRPr sz="2700">
                <a:solidFill>
                  <a:srgbClr val="000000"/>
                </a:solidFill>
              </a:defRPr>
            </a:pPr>
            <a:r>
              <a:t>                                    抛出</a:t>
            </a:r>
            <a:r>
              <a:rPr>
                <a:solidFill>
                  <a:schemeClr val="accent5"/>
                </a:solidFill>
              </a:rPr>
              <a:t>异常</a:t>
            </a:r>
            <a:r>
              <a:t>IllegalStateException。</a:t>
            </a:r>
          </a:p>
          <a:p>
            <a:pPr lvl="1" marL="681789" indent="-300789">
              <a:lnSpc>
                <a:spcPct val="100000"/>
              </a:lnSpc>
              <a:buSzPct val="60000"/>
              <a:buBlip>
                <a:blip r:embed="rId2"/>
              </a:buBlip>
              <a:defRPr sz="2700">
                <a:solidFill>
                  <a:srgbClr val="000000"/>
                </a:solidFill>
              </a:defRPr>
            </a:pPr>
            <a:r>
              <a:t>boolean </a:t>
            </a:r>
            <a:r>
              <a:rPr>
                <a:solidFill>
                  <a:schemeClr val="accent5"/>
                </a:solidFill>
              </a:rPr>
              <a:t>offerFirst</a:t>
            </a:r>
            <a:r>
              <a:t>(E e):除非违法空间约束，否则入队。</a:t>
            </a:r>
          </a:p>
          <a:p>
            <a:pPr lvl="1" indent="228600">
              <a:lnSpc>
                <a:spcPct val="100000"/>
              </a:lnSpc>
              <a:defRPr sz="2700">
                <a:solidFill>
                  <a:srgbClr val="000000"/>
                </a:solidFill>
              </a:defRPr>
            </a:pPr>
            <a:r>
              <a:t>                                          入队了，返回true，没有入队，返回false</a:t>
            </a:r>
          </a:p>
        </p:txBody>
      </p:sp>
      <p:sp>
        <p:nvSpPr>
          <p:cNvPr id="628" name="ArrayDeque的实际实现：…"/>
          <p:cNvSpPr txBox="1"/>
          <p:nvPr/>
        </p:nvSpPr>
        <p:spPr>
          <a:xfrm>
            <a:off x="89426" y="6270914"/>
            <a:ext cx="11713136" cy="1578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700">
                <a:solidFill>
                  <a:srgbClr val="000000"/>
                </a:solidFill>
              </a:defRPr>
            </a:pPr>
            <a:r>
              <a:t>ArrayDeque的实际实现：</a:t>
            </a:r>
          </a:p>
          <a:p>
            <a:pPr lvl="1" marL="681789" indent="-300789">
              <a:lnSpc>
                <a:spcPct val="100000"/>
              </a:lnSpc>
              <a:buSzPct val="60000"/>
              <a:buBlip>
                <a:blip r:embed="rId2"/>
              </a:buBlip>
              <a:defRPr sz="2700">
                <a:solidFill>
                  <a:srgbClr val="000000"/>
                </a:solidFill>
              </a:defRPr>
            </a:pPr>
            <a:r>
              <a:t>void addFirst(E e): 插入，插入后没有空间抛出异常IllegalStateException</a:t>
            </a:r>
          </a:p>
          <a:p>
            <a:pPr lvl="1" marL="681789" indent="-300789">
              <a:lnSpc>
                <a:spcPct val="100000"/>
              </a:lnSpc>
              <a:buSzPct val="60000"/>
              <a:buBlip>
                <a:blip r:embed="rId2"/>
              </a:buBlip>
              <a:defRPr sz="2700">
                <a:solidFill>
                  <a:srgbClr val="000000"/>
                </a:solidFill>
              </a:defRPr>
            </a:pPr>
            <a:r>
              <a:t>boolean offerFirst(E e): 调用addFirst，返回true----</a:t>
            </a:r>
            <a:r>
              <a:rPr>
                <a:solidFill>
                  <a:schemeClr val="accent1"/>
                </a:solidFill>
              </a:rPr>
              <a:t>似乎没有遵守接口的约定</a:t>
            </a:r>
          </a:p>
        </p:txBody>
      </p:sp>
      <p:sp>
        <p:nvSpPr>
          <p:cNvPr id="629" name="注意：红色的操作用于空间有限制的队列，但ArrayDeque是空间没有限制…"/>
          <p:cNvSpPr txBox="1"/>
          <p:nvPr/>
        </p:nvSpPr>
        <p:spPr>
          <a:xfrm>
            <a:off x="89426" y="7910811"/>
            <a:ext cx="10313652" cy="978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defRPr sz="2500"/>
            </a:pPr>
            <a:r>
              <a:t>注意：红色的操作用于空间有限制的队列，但ArrayDeque是空间没有限制</a:t>
            </a:r>
          </a:p>
          <a:p>
            <a:pPr>
              <a:lnSpc>
                <a:spcPct val="100000"/>
              </a:lnSpc>
              <a:defRPr sz="2500"/>
            </a:pPr>
            <a:r>
              <a:t>            的队列(能自动扩充)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课后练习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课后练习</a:t>
            </a:r>
          </a:p>
        </p:txBody>
      </p:sp>
      <p:sp>
        <p:nvSpPr>
          <p:cNvPr id="632" name="1、阅读java.util.Queue接口，为了处理非正常状态(IllegalState），…"/>
          <p:cNvSpPr txBox="1"/>
          <p:nvPr/>
        </p:nvSpPr>
        <p:spPr>
          <a:xfrm>
            <a:off x="629920" y="1238167"/>
            <a:ext cx="11699805" cy="4652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1、阅读java.util.Queue接口，为了处理非正常状态(IllegalState），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     同一操作会有2个方法，如何报告非正常状态？这样处理有什么优点？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2、为类CDuque增加迭代器，按照从head到tail的次序枚举队列的所有数据。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3、为类CDuque增加方法   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Object[] toArray() ，将队列按照从head到tail的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       次序存入练习为Object的数组并返回 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4、为类CDuque增加方法   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T[] toArray(T[] a) ，将队列按照从head到tail的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       次序存入数组a并返回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java.util.ArrayDeque 的实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java.util.ArrayDeque 的实现</a:t>
            </a:r>
          </a:p>
        </p:txBody>
      </p:sp>
      <p:sp>
        <p:nvSpPr>
          <p:cNvPr id="635" name="1、保证elements数组的长度为2n。"/>
          <p:cNvSpPr txBox="1"/>
          <p:nvPr/>
        </p:nvSpPr>
        <p:spPr>
          <a:xfrm>
            <a:off x="665378" y="1238672"/>
            <a:ext cx="592195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1、保证elements数组的长度为2</a:t>
            </a:r>
            <a:r>
              <a:rPr baseline="31999"/>
              <a:t>n</a:t>
            </a:r>
            <a:r>
              <a:t>。</a:t>
            </a:r>
          </a:p>
        </p:txBody>
      </p:sp>
      <p:sp>
        <p:nvSpPr>
          <p:cNvPr id="636" name="public ArrayDeque() {…"/>
          <p:cNvSpPr txBox="1"/>
          <p:nvPr/>
        </p:nvSpPr>
        <p:spPr>
          <a:xfrm>
            <a:off x="1465818" y="2028285"/>
            <a:ext cx="7735541" cy="3846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ArrayDeque()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Object[16];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ArrayDeque(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numElements</a:t>
            </a:r>
            <a:r>
              <a:t>)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allocateElements(</a:t>
            </a:r>
            <a:r>
              <a:rPr>
                <a:solidFill>
                  <a:srgbClr val="7E504F"/>
                </a:solidFill>
              </a:rPr>
              <a:t>numElements</a:t>
            </a:r>
            <a:r>
              <a:t>);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rivate void allocateElements(int numElements) {…"/>
          <p:cNvSpPr txBox="1"/>
          <p:nvPr/>
        </p:nvSpPr>
        <p:spPr>
          <a:xfrm>
            <a:off x="123431" y="1416472"/>
            <a:ext cx="12597892" cy="6835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1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allocateElements(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numElements</a:t>
            </a:r>
            <a:r>
              <a:t>) {</a:t>
            </a:r>
          </a:p>
          <a:p>
            <a:pPr indent="0">
              <a:lnSpc>
                <a:spcPct val="100000"/>
              </a:lnSpc>
              <a:defRPr sz="21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initialCapacity</a:t>
            </a:r>
            <a:r>
              <a:rPr>
                <a:solidFill>
                  <a:srgbClr val="000000"/>
                </a:solidFill>
              </a:rPr>
              <a:t> = </a:t>
            </a:r>
            <a:r>
              <a:t>MIN_INITIAL_CAPACITY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</a:t>
            </a:r>
            <a:r>
              <a:t>// Find the best power of two to hold elements.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</a:t>
            </a:r>
            <a:r>
              <a:t>// Tests "&lt;=" because arrays aren't kept full.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numElements</a:t>
            </a:r>
            <a:r>
              <a:rPr>
                <a:solidFill>
                  <a:srgbClr val="000000"/>
                </a:solidFill>
              </a:rPr>
              <a:t> &gt;= </a:t>
            </a:r>
            <a:r>
              <a:t>initialCapacity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    </a:t>
            </a:r>
            <a:r>
              <a:t>initialCapacity</a:t>
            </a:r>
            <a:r>
              <a:rPr>
                <a:solidFill>
                  <a:srgbClr val="000000"/>
                </a:solidFill>
              </a:rPr>
              <a:t> = </a:t>
            </a:r>
            <a:r>
              <a:t>numElements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    </a:t>
            </a:r>
            <a:r>
              <a:t>initialCapacity</a:t>
            </a:r>
            <a:r>
              <a:rPr>
                <a:solidFill>
                  <a:srgbClr val="000000"/>
                </a:solidFill>
              </a:rPr>
              <a:t> |= (</a:t>
            </a:r>
            <a:r>
              <a:t>initialCapacity</a:t>
            </a:r>
            <a:r>
              <a:rPr>
                <a:solidFill>
                  <a:srgbClr val="000000"/>
                </a:solidFill>
              </a:rPr>
              <a:t> &gt;&gt;&gt;  1);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    </a:t>
            </a:r>
            <a:r>
              <a:t>initialCapacity</a:t>
            </a:r>
            <a:r>
              <a:rPr>
                <a:solidFill>
                  <a:srgbClr val="000000"/>
                </a:solidFill>
              </a:rPr>
              <a:t> |= (</a:t>
            </a:r>
            <a:r>
              <a:t>initialCapacity</a:t>
            </a:r>
            <a:r>
              <a:rPr>
                <a:solidFill>
                  <a:srgbClr val="000000"/>
                </a:solidFill>
              </a:rPr>
              <a:t> &gt;&gt;&gt;  2);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    </a:t>
            </a:r>
            <a:r>
              <a:t>initialCapacity</a:t>
            </a:r>
            <a:r>
              <a:rPr>
                <a:solidFill>
                  <a:srgbClr val="000000"/>
                </a:solidFill>
              </a:rPr>
              <a:t> |= (</a:t>
            </a:r>
            <a:r>
              <a:t>initialCapacity</a:t>
            </a:r>
            <a:r>
              <a:rPr>
                <a:solidFill>
                  <a:srgbClr val="000000"/>
                </a:solidFill>
              </a:rPr>
              <a:t> &gt;&gt;&gt;  4);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    </a:t>
            </a:r>
            <a:r>
              <a:t>initialCapacity</a:t>
            </a:r>
            <a:r>
              <a:rPr>
                <a:solidFill>
                  <a:srgbClr val="000000"/>
                </a:solidFill>
              </a:rPr>
              <a:t> |= (</a:t>
            </a:r>
            <a:r>
              <a:t>initialCapacity</a:t>
            </a:r>
            <a:r>
              <a:rPr>
                <a:solidFill>
                  <a:srgbClr val="000000"/>
                </a:solidFill>
              </a:rPr>
              <a:t> &gt;&gt;&gt;  8);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    </a:t>
            </a:r>
            <a:r>
              <a:t>initialCapacity</a:t>
            </a:r>
            <a:r>
              <a:rPr>
                <a:solidFill>
                  <a:srgbClr val="000000"/>
                </a:solidFill>
              </a:rPr>
              <a:t> |= (</a:t>
            </a:r>
            <a:r>
              <a:t>initialCapacity</a:t>
            </a:r>
            <a:r>
              <a:rPr>
                <a:solidFill>
                  <a:srgbClr val="000000"/>
                </a:solidFill>
              </a:rPr>
              <a:t> &gt;&gt;&gt; 16);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    </a:t>
            </a:r>
            <a:r>
              <a:t>initialCapacity</a:t>
            </a:r>
            <a:r>
              <a:rPr>
                <a:solidFill>
                  <a:srgbClr val="000000"/>
                </a:solidFill>
              </a:rPr>
              <a:t>++;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1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initialCapacity</a:t>
            </a:r>
            <a:r>
              <a:rPr>
                <a:solidFill>
                  <a:srgbClr val="000000"/>
                </a:solidFill>
              </a:rPr>
              <a:t> &lt; 0)   </a:t>
            </a:r>
            <a:r>
              <a:t>// Too many elements, must back off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        </a:t>
            </a:r>
            <a:r>
              <a:rPr>
                <a:solidFill>
                  <a:srgbClr val="7E504F"/>
                </a:solidFill>
              </a:rPr>
              <a:t>initialCapacity</a:t>
            </a:r>
            <a:r>
              <a:rPr>
                <a:solidFill>
                  <a:srgbClr val="000000"/>
                </a:solidFill>
              </a:rPr>
              <a:t> &gt;&gt;&gt;= 1;</a:t>
            </a:r>
            <a:r>
              <a:t>// Good luck allocating 2 ^ 30 elements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}</a:t>
            </a:r>
          </a:p>
          <a:p>
            <a:pPr indent="0">
              <a:lnSpc>
                <a:spcPct val="100000"/>
              </a:lnSpc>
              <a:defRPr sz="21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Object[</a:t>
            </a:r>
            <a:r>
              <a:t>initialCapacity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  <p:sp>
        <p:nvSpPr>
          <p:cNvPr id="639" name="java.util.ArrayDeque 的实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java.util.ArrayDeque 的实现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java.util.ArrayDeque 的实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java.util.ArrayDeque 的实现</a:t>
            </a:r>
          </a:p>
        </p:txBody>
      </p:sp>
      <p:sp>
        <p:nvSpPr>
          <p:cNvPr id="642" name="x = 2i (i是最左边1的位置)…"/>
          <p:cNvSpPr txBox="1"/>
          <p:nvPr/>
        </p:nvSpPr>
        <p:spPr>
          <a:xfrm>
            <a:off x="454932" y="1159127"/>
            <a:ext cx="12409286" cy="79652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x = 2</a:t>
            </a:r>
            <a:r>
              <a:rPr baseline="31999"/>
              <a:t>i</a:t>
            </a:r>
            <a:r>
              <a:t> (i是最左边1的位置)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则 &gt;&gt;&gt;1， |=后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x = 2</a:t>
            </a:r>
            <a:r>
              <a:rPr baseline="31999"/>
              <a:t>i</a:t>
            </a:r>
            <a:r>
              <a:t> + 2</a:t>
            </a:r>
            <a:r>
              <a:rPr baseline="31999"/>
              <a:t>i-1</a:t>
            </a:r>
            <a:r>
              <a:t> 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&gt;&gt;&gt;2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x = 2</a:t>
            </a:r>
            <a:r>
              <a:rPr baseline="31999"/>
              <a:t>i</a:t>
            </a:r>
            <a:r>
              <a:t> + 2</a:t>
            </a:r>
            <a:r>
              <a:rPr baseline="31999"/>
              <a:t>i-1</a:t>
            </a:r>
            <a:r>
              <a:t> + 2</a:t>
            </a:r>
            <a:r>
              <a:rPr baseline="31999"/>
              <a:t>i-2</a:t>
            </a:r>
            <a:r>
              <a:t> + 2</a:t>
            </a:r>
            <a:r>
              <a:rPr baseline="31999"/>
              <a:t>i-3</a:t>
            </a:r>
            <a:r>
              <a:t> 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&gt;&gt;&gt;4 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x = 2</a:t>
            </a:r>
            <a:r>
              <a:rPr baseline="31999"/>
              <a:t>i</a:t>
            </a:r>
            <a:r>
              <a:t> + 2</a:t>
            </a:r>
            <a:r>
              <a:rPr baseline="31999"/>
              <a:t>i-1</a:t>
            </a:r>
            <a:r>
              <a:t> + 2</a:t>
            </a:r>
            <a:r>
              <a:rPr baseline="31999"/>
              <a:t>i-2</a:t>
            </a:r>
            <a:r>
              <a:t> + 2</a:t>
            </a:r>
            <a:r>
              <a:rPr baseline="31999"/>
              <a:t>i-3 </a:t>
            </a:r>
            <a:r>
              <a:t>+ 2</a:t>
            </a:r>
            <a:r>
              <a:rPr baseline="31999"/>
              <a:t>i-4</a:t>
            </a:r>
            <a:r>
              <a:t> + 2</a:t>
            </a:r>
            <a:r>
              <a:rPr baseline="31999"/>
              <a:t>i-5</a:t>
            </a:r>
            <a:r>
              <a:t> + 2</a:t>
            </a:r>
            <a:r>
              <a:rPr baseline="31999"/>
              <a:t>i-6</a:t>
            </a:r>
            <a:r>
              <a:t> + 2</a:t>
            </a:r>
            <a:r>
              <a:rPr baseline="31999"/>
              <a:t>i-7</a:t>
            </a:r>
            <a:endParaRPr baseline="31999"/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&gt;&gt;&gt;8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x = 2</a:t>
            </a:r>
            <a:r>
              <a:rPr baseline="31999"/>
              <a:t>i</a:t>
            </a:r>
            <a:r>
              <a:t> + 2</a:t>
            </a:r>
            <a:r>
              <a:rPr baseline="31999"/>
              <a:t>i-1</a:t>
            </a:r>
            <a:r>
              <a:t> + 2</a:t>
            </a:r>
            <a:r>
              <a:rPr baseline="31999"/>
              <a:t>i-2</a:t>
            </a:r>
            <a:r>
              <a:t> + 2</a:t>
            </a:r>
            <a:r>
              <a:rPr baseline="31999"/>
              <a:t>i-3 </a:t>
            </a:r>
            <a:r>
              <a:t>+ 2</a:t>
            </a:r>
            <a:r>
              <a:rPr baseline="31999"/>
              <a:t>i-4</a:t>
            </a:r>
            <a:r>
              <a:t> + 2</a:t>
            </a:r>
            <a:r>
              <a:rPr baseline="31999"/>
              <a:t>i-5</a:t>
            </a:r>
            <a:r>
              <a:t> + 2</a:t>
            </a:r>
            <a:r>
              <a:rPr baseline="31999"/>
              <a:t>i-6</a:t>
            </a:r>
            <a:r>
              <a:t> + 2</a:t>
            </a:r>
            <a:r>
              <a:rPr baseline="31999"/>
              <a:t>i-7 </a:t>
            </a:r>
            <a:r>
              <a:t>+ 2</a:t>
            </a:r>
            <a:r>
              <a:rPr baseline="31999"/>
              <a:t>i-8</a:t>
            </a:r>
            <a:r>
              <a:t> + 2</a:t>
            </a:r>
            <a:r>
              <a:rPr baseline="31999"/>
              <a:t>i-9</a:t>
            </a:r>
            <a:r>
              <a:t> + 2</a:t>
            </a:r>
            <a:r>
              <a:rPr baseline="31999"/>
              <a:t>i-10</a:t>
            </a:r>
            <a:r>
              <a:t> + 2</a:t>
            </a:r>
            <a:r>
              <a:rPr baseline="31999"/>
              <a:t>i-11 </a:t>
            </a:r>
            <a:r>
              <a:t>+ 2</a:t>
            </a:r>
            <a:r>
              <a:rPr baseline="31999"/>
              <a:t>i-12</a:t>
            </a:r>
            <a:r>
              <a:t> + 2</a:t>
            </a:r>
            <a:r>
              <a:rPr baseline="31999"/>
              <a:t>i-13</a:t>
            </a:r>
            <a:r>
              <a:t> + 2</a:t>
            </a:r>
            <a:r>
              <a:rPr baseline="31999"/>
              <a:t>i-14</a:t>
            </a:r>
            <a:r>
              <a:t> + 2</a:t>
            </a:r>
            <a:r>
              <a:rPr baseline="31999"/>
              <a:t>i-15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&gt;&gt;&gt;16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x = 2</a:t>
            </a:r>
            <a:r>
              <a:rPr baseline="31999"/>
              <a:t>i</a:t>
            </a:r>
            <a:r>
              <a:t> + 2</a:t>
            </a:r>
            <a:r>
              <a:rPr baseline="31999"/>
              <a:t>i-1</a:t>
            </a:r>
            <a:r>
              <a:t> + 2</a:t>
            </a:r>
            <a:r>
              <a:rPr baseline="31999"/>
              <a:t>i-2</a:t>
            </a:r>
            <a:r>
              <a:t> + 2</a:t>
            </a:r>
            <a:r>
              <a:rPr baseline="31999"/>
              <a:t>i-3 </a:t>
            </a:r>
            <a:r>
              <a:t>+ 2</a:t>
            </a:r>
            <a:r>
              <a:rPr baseline="31999"/>
              <a:t>i-4</a:t>
            </a:r>
            <a:r>
              <a:t> + 2</a:t>
            </a:r>
            <a:r>
              <a:rPr baseline="31999"/>
              <a:t>i-5</a:t>
            </a:r>
            <a:r>
              <a:t> + 2</a:t>
            </a:r>
            <a:r>
              <a:rPr baseline="31999"/>
              <a:t>i-6</a:t>
            </a:r>
            <a:r>
              <a:t> + 2</a:t>
            </a:r>
            <a:r>
              <a:rPr baseline="31999"/>
              <a:t>i-7 </a:t>
            </a:r>
            <a:r>
              <a:t>+ 2</a:t>
            </a:r>
            <a:r>
              <a:rPr baseline="31999"/>
              <a:t>i-8</a:t>
            </a:r>
            <a:r>
              <a:t> + 2</a:t>
            </a:r>
            <a:r>
              <a:rPr baseline="31999"/>
              <a:t>i-9</a:t>
            </a:r>
            <a:r>
              <a:t> + 2</a:t>
            </a:r>
            <a:r>
              <a:rPr baseline="31999"/>
              <a:t>i-10</a:t>
            </a:r>
            <a:r>
              <a:t> + ...+ 2</a:t>
            </a:r>
            <a:r>
              <a:rPr baseline="31999"/>
              <a:t>i-31</a:t>
            </a:r>
            <a:endParaRPr baseline="31999"/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因为int是32位，因此，x = 2</a:t>
            </a:r>
            <a:r>
              <a:rPr baseline="31999"/>
              <a:t>i</a:t>
            </a:r>
            <a:r>
              <a:t> + 2</a:t>
            </a:r>
            <a:r>
              <a:rPr baseline="31999"/>
              <a:t>i-1</a:t>
            </a:r>
            <a:r>
              <a:t> + 2</a:t>
            </a:r>
            <a:r>
              <a:rPr baseline="31999"/>
              <a:t>i-2</a:t>
            </a:r>
            <a:r>
              <a:t> + …</a:t>
            </a:r>
            <a:r>
              <a:rPr baseline="31999"/>
              <a:t> </a:t>
            </a:r>
            <a:r>
              <a:t>+ 2</a:t>
            </a:r>
            <a:r>
              <a:rPr baseline="31999"/>
              <a:t>2</a:t>
            </a:r>
            <a:r>
              <a:t> + 2</a:t>
            </a:r>
            <a:r>
              <a:rPr baseline="31999"/>
              <a:t>1</a:t>
            </a:r>
            <a:r>
              <a:t> + 2</a:t>
            </a:r>
            <a:r>
              <a:rPr baseline="31999"/>
              <a:t>0</a:t>
            </a:r>
            <a:endParaRPr baseline="31999"/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所以，x + 1 = 2</a:t>
            </a:r>
            <a:r>
              <a:rPr baseline="31999"/>
              <a:t>i+1</a:t>
            </a:r>
            <a:r>
              <a:t>  </a:t>
            </a:r>
          </a:p>
        </p:txBody>
      </p:sp>
      <p:sp>
        <p:nvSpPr>
          <p:cNvPr id="643" name="32位…"/>
          <p:cNvSpPr txBox="1"/>
          <p:nvPr/>
        </p:nvSpPr>
        <p:spPr>
          <a:xfrm>
            <a:off x="6363551" y="1140632"/>
            <a:ext cx="5218351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32位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00000000010000001001100000111000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变为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00000000100000000000000000000000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java.util.ArrayDeque 循环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java.util.ArrayDeque 循环</a:t>
            </a:r>
          </a:p>
        </p:txBody>
      </p:sp>
      <p:sp>
        <p:nvSpPr>
          <p:cNvPr id="646" name="2、使用高效的位操作&amp;求余数，实现循环"/>
          <p:cNvSpPr txBox="1"/>
          <p:nvPr/>
        </p:nvSpPr>
        <p:spPr>
          <a:xfrm>
            <a:off x="258978" y="1149772"/>
            <a:ext cx="784899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2、使用高效的位操作&amp;求余数，实现循环</a:t>
            </a:r>
          </a:p>
        </p:txBody>
      </p:sp>
      <p:sp>
        <p:nvSpPr>
          <p:cNvPr id="647" name="因为表长为2m，所以，下标为0，1，2，...，2m - 1。表示为m位二进制数为：…"/>
          <p:cNvSpPr txBox="1"/>
          <p:nvPr/>
        </p:nvSpPr>
        <p:spPr>
          <a:xfrm>
            <a:off x="64283" y="1885644"/>
            <a:ext cx="12876234" cy="5700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300">
                <a:solidFill>
                  <a:schemeClr val="accent1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因为表长为2</a:t>
            </a:r>
            <a:r>
              <a:rPr baseline="31999"/>
              <a:t>m</a:t>
            </a:r>
            <a:r>
              <a:t>，所以，下标为0，1，2，...，2</a:t>
            </a:r>
            <a:r>
              <a:rPr baseline="31999"/>
              <a:t>m</a:t>
            </a:r>
            <a:r>
              <a:t> - 1。表示为m位二进制数为：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 sz="2300">
                <a:solidFill>
                  <a:schemeClr val="accent1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                                       0...0，0...1， ...，1...1</a:t>
            </a:r>
          </a:p>
          <a:p>
            <a:pPr marL="200526" marR="57798" indent="-200526" defTabSz="1295400">
              <a:lnSpc>
                <a:spcPct val="100000"/>
              </a:lnSpc>
              <a:spcBef>
                <a:spcPts val="1900"/>
              </a:spcBef>
              <a:buSzPct val="60000"/>
              <a:buBlip>
                <a:blip r:embed="rId2"/>
              </a:buBlip>
              <a:defRPr sz="2300">
                <a:solidFill>
                  <a:schemeClr val="accent1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如果下标为n，0 ≤ n ≤ 2</a:t>
            </a:r>
            <a:r>
              <a:rPr baseline="31999"/>
              <a:t>m</a:t>
            </a:r>
            <a:r>
              <a:t> - 1，则n % 2</a:t>
            </a:r>
            <a:r>
              <a:rPr baseline="31999"/>
              <a:t>m</a:t>
            </a:r>
            <a:r>
              <a:t> = n &amp; (2</a:t>
            </a:r>
            <a:r>
              <a:rPr baseline="31999"/>
              <a:t>m</a:t>
            </a:r>
            <a:r>
              <a:t> - 1)</a:t>
            </a:r>
          </a:p>
          <a:p>
            <a:pPr marL="200526" marR="57798" indent="-200526" defTabSz="1295400">
              <a:lnSpc>
                <a:spcPct val="100000"/>
              </a:lnSpc>
              <a:spcBef>
                <a:spcPts val="1900"/>
              </a:spcBef>
              <a:buSzPct val="60000"/>
              <a:buBlip>
                <a:blip r:embed="rId2"/>
              </a:buBlip>
              <a:defRPr sz="2300">
                <a:solidFill>
                  <a:schemeClr val="accent1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如果下标n = 2</a:t>
            </a:r>
            <a:r>
              <a:rPr baseline="31999"/>
              <a:t>m</a:t>
            </a:r>
            <a:r>
              <a:t> - 1， 因为需要循环，所以 n + 1应该为0，即(n + 1) % 2</a:t>
            </a:r>
            <a:r>
              <a:rPr baseline="31999"/>
              <a:t>m</a:t>
            </a:r>
            <a:r>
              <a:t> = 0；</a:t>
            </a:r>
          </a:p>
          <a:p>
            <a:pPr marR="57798" indent="0" defTabSz="1295400">
              <a:lnSpc>
                <a:spcPct val="100000"/>
              </a:lnSpc>
              <a:spcBef>
                <a:spcPts val="1900"/>
              </a:spcBef>
              <a:defRPr sz="2300">
                <a:solidFill>
                  <a:schemeClr val="accent1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    而n + 1 = 2</a:t>
            </a:r>
            <a:r>
              <a:rPr baseline="31999"/>
              <a:t>m</a:t>
            </a:r>
            <a:r>
              <a:t>，其二进制数为 10...0，(n + 1) &amp; (2</a:t>
            </a:r>
            <a:r>
              <a:rPr baseline="31999"/>
              <a:t>m</a:t>
            </a:r>
            <a:r>
              <a:t> - 1) = 0</a:t>
            </a:r>
          </a:p>
          <a:p>
            <a:pPr marL="200526" marR="57798" indent="-200526" defTabSz="1295400">
              <a:lnSpc>
                <a:spcPct val="100000"/>
              </a:lnSpc>
              <a:spcBef>
                <a:spcPts val="1900"/>
              </a:spcBef>
              <a:buSzPct val="60000"/>
              <a:buBlip>
                <a:blip r:embed="rId2"/>
              </a:buBlip>
              <a:defRPr sz="2300">
                <a:solidFill>
                  <a:schemeClr val="accent1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如果下标n = 0， 因为需要循环，所以 n - 1 应该为 2</a:t>
            </a:r>
            <a:r>
              <a:rPr baseline="31999"/>
              <a:t>m</a:t>
            </a:r>
            <a:r>
              <a:t> - 1，即(n - 1) % 2</a:t>
            </a:r>
            <a:r>
              <a:rPr baseline="31999"/>
              <a:t>m</a:t>
            </a:r>
            <a:r>
              <a:t> = 2</a:t>
            </a:r>
            <a:r>
              <a:rPr baseline="31999"/>
              <a:t>m</a:t>
            </a:r>
            <a:r>
              <a:t> - 1；</a:t>
            </a:r>
          </a:p>
          <a:p>
            <a:pPr marR="57798" indent="0" defTabSz="1295400">
              <a:lnSpc>
                <a:spcPct val="100000"/>
              </a:lnSpc>
              <a:spcBef>
                <a:spcPts val="1900"/>
              </a:spcBef>
              <a:defRPr sz="2300">
                <a:solidFill>
                  <a:schemeClr val="accent1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    而n - 1 = -1， 其二进制数为 1...1，(n - 1) &amp; (2</a:t>
            </a:r>
            <a:r>
              <a:rPr baseline="31999"/>
              <a:t>m</a:t>
            </a:r>
            <a:r>
              <a:t> - 1) = 2</a:t>
            </a:r>
            <a:r>
              <a:rPr baseline="31999"/>
              <a:t>m</a:t>
            </a:r>
            <a:r>
              <a:t> - 1</a:t>
            </a:r>
          </a:p>
          <a:p>
            <a:pPr marR="57798" indent="0" defTabSz="1295400">
              <a:lnSpc>
                <a:spcPct val="100000"/>
              </a:lnSpc>
              <a:spcBef>
                <a:spcPts val="1900"/>
              </a:spcBef>
              <a:defRPr sz="2300">
                <a:solidFill>
                  <a:schemeClr val="accent1"/>
                </a:solidFill>
                <a:uFill>
                  <a:solidFill>
                    <a:srgbClr val="000000"/>
                  </a:solidFill>
                </a:uFill>
              </a:defRPr>
            </a:pPr>
          </a:p>
          <a:p>
            <a:pPr marR="57798" indent="0" defTabSz="1295400">
              <a:lnSpc>
                <a:spcPct val="100000"/>
              </a:lnSpc>
              <a:spcBef>
                <a:spcPts val="1900"/>
              </a:spcBef>
              <a:defRPr sz="2300">
                <a:solidFill>
                  <a:schemeClr val="accent1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综上所述，因为需要循环，求出下标n后，</a:t>
            </a:r>
            <a:r>
              <a:rPr>
                <a:solidFill>
                  <a:schemeClr val="accent5"/>
                </a:solidFill>
              </a:rPr>
              <a:t>需要计算n % 2</a:t>
            </a:r>
            <a:r>
              <a:rPr baseline="31999">
                <a:solidFill>
                  <a:schemeClr val="accent5"/>
                </a:solidFill>
              </a:rPr>
              <a:t>m</a:t>
            </a:r>
            <a:r>
              <a:rPr>
                <a:solidFill>
                  <a:schemeClr val="accent5"/>
                </a:solidFill>
              </a:rPr>
              <a:t>作为真正的下标， 而n % 2</a:t>
            </a:r>
            <a:r>
              <a:rPr baseline="31999">
                <a:solidFill>
                  <a:schemeClr val="accent5"/>
                </a:solidFill>
              </a:rPr>
              <a:t>m</a:t>
            </a:r>
            <a:r>
              <a:rPr>
                <a:solidFill>
                  <a:schemeClr val="accent5"/>
                </a:solidFill>
              </a:rPr>
              <a:t> = n &amp; (2</a:t>
            </a:r>
            <a:r>
              <a:rPr baseline="31999">
                <a:solidFill>
                  <a:schemeClr val="accent5"/>
                </a:solidFill>
              </a:rPr>
              <a:t>m</a:t>
            </a:r>
            <a:r>
              <a:rPr>
                <a:solidFill>
                  <a:schemeClr val="accent5"/>
                </a:solidFill>
              </a:rPr>
              <a:t> - 1)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ublic boolean offerFirst(E e) {…"/>
          <p:cNvSpPr txBox="1"/>
          <p:nvPr/>
        </p:nvSpPr>
        <p:spPr>
          <a:xfrm>
            <a:off x="252992" y="1132953"/>
            <a:ext cx="12308285" cy="5523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offerFirst(E </a:t>
            </a:r>
            <a:r>
              <a:rPr>
                <a:solidFill>
                  <a:srgbClr val="7E504F"/>
                </a:solidFill>
              </a:rPr>
              <a:t>e</a:t>
            </a:r>
            <a:r>
              <a:t>)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addFirst(</a:t>
            </a:r>
            <a:r>
              <a:rPr>
                <a:solidFill>
                  <a:srgbClr val="7E504F"/>
                </a:solidFill>
              </a:rPr>
              <a:t>e</a:t>
            </a:r>
            <a:r>
              <a:t>);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true</a:t>
            </a:r>
            <a:r>
              <a:t>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addFirst(E </a:t>
            </a:r>
            <a:r>
              <a:rPr>
                <a:solidFill>
                  <a:srgbClr val="7E504F"/>
                </a:solidFill>
              </a:rPr>
              <a:t>e</a:t>
            </a:r>
            <a:r>
              <a:t>)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e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NullPointerException();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[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 = (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 - 1) &amp; (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- 1)] = </a:t>
            </a:r>
            <a:r>
              <a:rPr>
                <a:solidFill>
                  <a:srgbClr val="7E504F"/>
                </a:solidFill>
              </a:rPr>
              <a:t>e</a:t>
            </a:r>
            <a:r>
              <a:t>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 == </a:t>
            </a:r>
            <a:r>
              <a:rPr>
                <a:solidFill>
                  <a:srgbClr val="0326CC"/>
                </a:solidFill>
              </a:rPr>
              <a:t>tail</a:t>
            </a:r>
            <a:r>
              <a:t>)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doubleCapacity();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  <p:sp>
        <p:nvSpPr>
          <p:cNvPr id="650" name="java.util.ArrayDeque 循环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java.util.ArrayDeque 循环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ublic E pollFirst() {…"/>
          <p:cNvSpPr txBox="1"/>
          <p:nvPr/>
        </p:nvSpPr>
        <p:spPr>
          <a:xfrm>
            <a:off x="248325" y="1191145"/>
            <a:ext cx="12308285" cy="6361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E pollFirst()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h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E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 = (E)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[</a:t>
            </a:r>
            <a:r>
              <a:rPr>
                <a:solidFill>
                  <a:srgbClr val="7E504F"/>
                </a:solidFill>
              </a:rPr>
              <a:t>h</a:t>
            </a:r>
            <a:r>
              <a:t>];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</a:t>
            </a:r>
            <a:r>
              <a:t>// Element is null if deque empty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h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     </a:t>
            </a:r>
            <a:r>
              <a:t>// Must null out slot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 = (</a:t>
            </a:r>
            <a:r>
              <a:rPr>
                <a:solidFill>
                  <a:srgbClr val="7E504F"/>
                </a:solidFill>
              </a:rPr>
              <a:t>h</a:t>
            </a:r>
            <a:r>
              <a:t> + 1) &amp; (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- 1);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t>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E peekLast()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(E)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[(</a:t>
            </a:r>
            <a:r>
              <a:rPr>
                <a:solidFill>
                  <a:srgbClr val="0326CC"/>
                </a:solidFill>
              </a:rPr>
              <a:t>tail</a:t>
            </a:r>
            <a:r>
              <a:t> - 1) &amp; (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- 1)];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  <p:sp>
        <p:nvSpPr>
          <p:cNvPr id="653" name="java.util.ArrayDeque 循环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java.util.ArrayDeque 循环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java.util.ArrayDeque 计算长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java.util.ArrayDeque 计算长度</a:t>
            </a:r>
          </a:p>
        </p:txBody>
      </p:sp>
      <p:sp>
        <p:nvSpPr>
          <p:cNvPr id="656" name="size = (tail - head) &amp; (elements.length - 1)"/>
          <p:cNvSpPr txBox="1"/>
          <p:nvPr/>
        </p:nvSpPr>
        <p:spPr>
          <a:xfrm>
            <a:off x="773340" y="2083661"/>
            <a:ext cx="6168683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size = (</a:t>
            </a:r>
            <a:r>
              <a:rPr>
                <a:solidFill>
                  <a:srgbClr val="0326CC"/>
                </a:solidFill>
              </a:rPr>
              <a:t>tail</a:t>
            </a:r>
            <a:r>
              <a:t> -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) &amp; (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- 1)</a:t>
            </a:r>
          </a:p>
        </p:txBody>
      </p:sp>
      <p:sp>
        <p:nvSpPr>
          <p:cNvPr id="657" name="3、使用位操作&amp;求长度"/>
          <p:cNvSpPr txBox="1"/>
          <p:nvPr/>
        </p:nvSpPr>
        <p:spPr>
          <a:xfrm>
            <a:off x="296661" y="1288839"/>
            <a:ext cx="4108976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3、使用位操作&amp;求长度</a:t>
            </a:r>
          </a:p>
        </p:txBody>
      </p:sp>
      <p:grpSp>
        <p:nvGrpSpPr>
          <p:cNvPr id="682" name="成组"/>
          <p:cNvGrpSpPr/>
          <p:nvPr/>
        </p:nvGrpSpPr>
        <p:grpSpPr>
          <a:xfrm>
            <a:off x="3060764" y="3593050"/>
            <a:ext cx="5790473" cy="2707629"/>
            <a:chOff x="0" y="0"/>
            <a:chExt cx="5790472" cy="2707627"/>
          </a:xfrm>
        </p:grpSpPr>
        <p:sp>
          <p:nvSpPr>
            <p:cNvPr id="658" name="线条"/>
            <p:cNvSpPr/>
            <p:nvPr/>
          </p:nvSpPr>
          <p:spPr>
            <a:xfrm flipH="1" flipV="1">
              <a:off x="93287" y="611731"/>
              <a:ext cx="284988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9" name="线条"/>
            <p:cNvSpPr/>
            <p:nvPr/>
          </p:nvSpPr>
          <p:spPr>
            <a:xfrm flipH="1" flipV="1">
              <a:off x="92158" y="1802709"/>
              <a:ext cx="2852139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0" name="0     1     2     3"/>
            <p:cNvSpPr txBox="1"/>
            <p:nvPr/>
          </p:nvSpPr>
          <p:spPr>
            <a:xfrm>
              <a:off x="89900" y="8056"/>
              <a:ext cx="2856655" cy="5658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0     1     2     3</a:t>
              </a:r>
            </a:p>
          </p:txBody>
        </p:sp>
        <p:sp>
          <p:nvSpPr>
            <p:cNvPr id="661" name="线条"/>
            <p:cNvSpPr/>
            <p:nvPr/>
          </p:nvSpPr>
          <p:spPr>
            <a:xfrm flipH="1">
              <a:off x="436230" y="1776863"/>
              <a:ext cx="1" cy="50085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62" name="head"/>
            <p:cNvSpPr txBox="1"/>
            <p:nvPr/>
          </p:nvSpPr>
          <p:spPr>
            <a:xfrm>
              <a:off x="0" y="2190412"/>
              <a:ext cx="983456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sp>
          <p:nvSpPr>
            <p:cNvPr id="663" name="tail"/>
            <p:cNvSpPr txBox="1"/>
            <p:nvPr/>
          </p:nvSpPr>
          <p:spPr>
            <a:xfrm>
              <a:off x="1674234" y="2190412"/>
              <a:ext cx="847788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tail</a:t>
              </a:r>
            </a:p>
          </p:txBody>
        </p:sp>
        <p:sp>
          <p:nvSpPr>
            <p:cNvPr id="664" name="线条"/>
            <p:cNvSpPr/>
            <p:nvPr/>
          </p:nvSpPr>
          <p:spPr>
            <a:xfrm>
              <a:off x="1956820" y="1776863"/>
              <a:ext cx="1" cy="50085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ysDot"/>
              <a:miter lim="400000"/>
              <a:head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673" name="成组"/>
            <p:cNvGrpSpPr/>
            <p:nvPr/>
          </p:nvGrpSpPr>
          <p:grpSpPr>
            <a:xfrm>
              <a:off x="91028" y="603673"/>
              <a:ext cx="2854400" cy="1201859"/>
              <a:chOff x="0" y="0"/>
              <a:chExt cx="2854398" cy="1201857"/>
            </a:xfrm>
          </p:grpSpPr>
          <p:sp>
            <p:nvSpPr>
              <p:cNvPr id="665" name="线条"/>
              <p:cNvSpPr/>
              <p:nvPr/>
            </p:nvSpPr>
            <p:spPr>
              <a:xfrm flipH="1">
                <a:off x="2852138" y="8056"/>
                <a:ext cx="2261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66" name="线条"/>
              <p:cNvSpPr/>
              <p:nvPr/>
            </p:nvSpPr>
            <p:spPr>
              <a:xfrm flipH="1">
                <a:off x="2210364" y="8056"/>
                <a:ext cx="2261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67" name="线条"/>
              <p:cNvSpPr/>
              <p:nvPr/>
            </p:nvSpPr>
            <p:spPr>
              <a:xfrm flipH="1">
                <a:off x="1474328" y="8056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68" name="线条"/>
              <p:cNvSpPr/>
              <p:nvPr/>
            </p:nvSpPr>
            <p:spPr>
              <a:xfrm flipH="1">
                <a:off x="736035" y="8056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69" name="线条"/>
              <p:cNvSpPr/>
              <p:nvPr/>
            </p:nvSpPr>
            <p:spPr>
              <a:xfrm flipH="1">
                <a:off x="-1" y="8056"/>
                <a:ext cx="2259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0" name="b"/>
              <p:cNvSpPr txBox="1"/>
              <p:nvPr/>
            </p:nvSpPr>
            <p:spPr>
              <a:xfrm>
                <a:off x="942057" y="248228"/>
                <a:ext cx="762002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  <p:sp>
            <p:nvSpPr>
              <p:cNvPr id="671" name="a"/>
              <p:cNvSpPr txBox="1"/>
              <p:nvPr/>
            </p:nvSpPr>
            <p:spPr>
              <a:xfrm>
                <a:off x="192757" y="248228"/>
                <a:ext cx="762002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  <p:sp>
            <p:nvSpPr>
              <p:cNvPr id="672" name="线条"/>
              <p:cNvSpPr/>
              <p:nvPr/>
            </p:nvSpPr>
            <p:spPr>
              <a:xfrm flipH="1">
                <a:off x="2843918" y="0"/>
                <a:ext cx="2259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680" name="成组"/>
            <p:cNvGrpSpPr/>
            <p:nvPr/>
          </p:nvGrpSpPr>
          <p:grpSpPr>
            <a:xfrm>
              <a:off x="2936076" y="616373"/>
              <a:ext cx="2853269" cy="1193802"/>
              <a:chOff x="0" y="0"/>
              <a:chExt cx="2853268" cy="1193801"/>
            </a:xfrm>
          </p:grpSpPr>
          <p:sp>
            <p:nvSpPr>
              <p:cNvPr id="674" name="线条"/>
              <p:cNvSpPr/>
              <p:nvPr/>
            </p:nvSpPr>
            <p:spPr>
              <a:xfrm flipH="1">
                <a:off x="2851009" y="0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5" name="线条"/>
              <p:cNvSpPr/>
              <p:nvPr/>
            </p:nvSpPr>
            <p:spPr>
              <a:xfrm flipH="1">
                <a:off x="2209235" y="0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6" name="线条"/>
              <p:cNvSpPr/>
              <p:nvPr/>
            </p:nvSpPr>
            <p:spPr>
              <a:xfrm flipH="1">
                <a:off x="1473199" y="0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7" name="线条"/>
              <p:cNvSpPr/>
              <p:nvPr/>
            </p:nvSpPr>
            <p:spPr>
              <a:xfrm flipH="1">
                <a:off x="734906" y="0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8" name="线条"/>
              <p:cNvSpPr/>
              <p:nvPr/>
            </p:nvSpPr>
            <p:spPr>
              <a:xfrm flipH="1" flipV="1">
                <a:off x="1128" y="1"/>
                <a:ext cx="2849882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9" name="线条"/>
              <p:cNvSpPr/>
              <p:nvPr/>
            </p:nvSpPr>
            <p:spPr>
              <a:xfrm flipH="1" flipV="1">
                <a:off x="0" y="1190979"/>
                <a:ext cx="2852139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681" name="4     5     6     7"/>
            <p:cNvSpPr txBox="1"/>
            <p:nvPr/>
          </p:nvSpPr>
          <p:spPr>
            <a:xfrm>
              <a:off x="2933818" y="0"/>
              <a:ext cx="2856655" cy="565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 4     5     6     7</a:t>
              </a:r>
            </a:p>
          </p:txBody>
        </p:sp>
      </p:grpSp>
      <p:sp>
        <p:nvSpPr>
          <p:cNvPr id="683" name="第1种情况："/>
          <p:cNvSpPr txBox="1"/>
          <p:nvPr/>
        </p:nvSpPr>
        <p:spPr>
          <a:xfrm>
            <a:off x="687380" y="2852583"/>
            <a:ext cx="22676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第1种情况：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java.util.ArrayDeque 计算长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java.util.ArrayDeque 计算长度</a:t>
            </a:r>
          </a:p>
        </p:txBody>
      </p:sp>
      <p:sp>
        <p:nvSpPr>
          <p:cNvPr id="686" name="size                      tail -head…"/>
          <p:cNvSpPr txBox="1"/>
          <p:nvPr/>
        </p:nvSpPr>
        <p:spPr>
          <a:xfrm>
            <a:off x="7395673" y="2549675"/>
            <a:ext cx="3982100" cy="4259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>
                <a:solidFill>
                  <a:srgbClr val="000000"/>
                </a:solidFill>
              </a:defRPr>
            </a:pPr>
            <a:r>
              <a:t>   size                      tail -head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0  0000                     0000    0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1  0001                     0001    1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2  0010                     0010    2 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3  0011                     0011    3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4  0100                     0100    4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5  0101                     0101    5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6  0110                     0110    6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7  0111                     0111     7</a:t>
            </a:r>
          </a:p>
          <a:p>
            <a:pPr indent="0">
              <a:defRPr sz="2500">
                <a:solidFill>
                  <a:srgbClr val="000000"/>
                </a:solidFill>
              </a:defRPr>
            </a:pPr>
            <a:r>
              <a:rPr>
                <a:solidFill>
                  <a:srgbClr val="0326CC"/>
                </a:solidFill>
              </a:rPr>
              <a:t>elements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- 1 = 0111</a:t>
            </a:r>
          </a:p>
        </p:txBody>
      </p:sp>
      <p:sp>
        <p:nvSpPr>
          <p:cNvPr id="687" name="size、tail、head都是int，带符号数…"/>
          <p:cNvSpPr txBox="1"/>
          <p:nvPr/>
        </p:nvSpPr>
        <p:spPr>
          <a:xfrm>
            <a:off x="297630" y="2557163"/>
            <a:ext cx="5801523" cy="1425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size、tail、head都是int，带符号数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左边的二进制最高位是符号位</a:t>
            </a:r>
          </a:p>
        </p:txBody>
      </p:sp>
      <p:sp>
        <p:nvSpPr>
          <p:cNvPr id="688" name="改写：size = tail - head = (tail - head) &amp; (elements.length - 1) =&gt; 0～7"/>
          <p:cNvSpPr txBox="1"/>
          <p:nvPr/>
        </p:nvSpPr>
        <p:spPr>
          <a:xfrm>
            <a:off x="405040" y="1364908"/>
            <a:ext cx="10325626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改写：size = tail - head = (</a:t>
            </a:r>
            <a:r>
              <a:rPr>
                <a:solidFill>
                  <a:srgbClr val="0326CC"/>
                </a:solidFill>
              </a:rPr>
              <a:t>tail</a:t>
            </a:r>
            <a:r>
              <a:t> -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) &amp; (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- 1) =&gt; 0～7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java.util.ArrayDeque 计算长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java.util.ArrayDeque 计算长度</a:t>
            </a:r>
          </a:p>
        </p:txBody>
      </p:sp>
      <p:sp>
        <p:nvSpPr>
          <p:cNvPr id="691" name="size = elements.length  - head  + tail =&gt;0 ~ 8"/>
          <p:cNvSpPr txBox="1"/>
          <p:nvPr/>
        </p:nvSpPr>
        <p:spPr>
          <a:xfrm>
            <a:off x="2187623" y="1884289"/>
            <a:ext cx="6988343" cy="505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9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size = elements.length  - head  + tail =&gt;0 ~ 8</a:t>
            </a:r>
          </a:p>
        </p:txBody>
      </p:sp>
      <p:sp>
        <p:nvSpPr>
          <p:cNvPr id="692" name="只有head==tail时，才有size = 8，但这时表示空队列，即size = 0…"/>
          <p:cNvSpPr txBox="1"/>
          <p:nvPr/>
        </p:nvSpPr>
        <p:spPr>
          <a:xfrm>
            <a:off x="579146" y="5379413"/>
            <a:ext cx="11091807" cy="1425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只有head==tail时，才有size = 8，但这时表示空队列，即size = 0</a:t>
            </a:r>
          </a:p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所以size的范围：0~7</a:t>
            </a:r>
          </a:p>
        </p:txBody>
      </p:sp>
      <p:grpSp>
        <p:nvGrpSpPr>
          <p:cNvPr id="721" name="成组"/>
          <p:cNvGrpSpPr/>
          <p:nvPr/>
        </p:nvGrpSpPr>
        <p:grpSpPr>
          <a:xfrm>
            <a:off x="2694934" y="2485742"/>
            <a:ext cx="5864413" cy="2755374"/>
            <a:chOff x="0" y="0"/>
            <a:chExt cx="5864412" cy="2755372"/>
          </a:xfrm>
        </p:grpSpPr>
        <p:sp>
          <p:nvSpPr>
            <p:cNvPr id="693" name="线条"/>
            <p:cNvSpPr/>
            <p:nvPr/>
          </p:nvSpPr>
          <p:spPr>
            <a:xfrm flipH="1">
              <a:off x="737164" y="611729"/>
              <a:ext cx="2260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4" name="线条"/>
            <p:cNvSpPr/>
            <p:nvPr/>
          </p:nvSpPr>
          <p:spPr>
            <a:xfrm flipH="1">
              <a:off x="1128" y="611729"/>
              <a:ext cx="2259" cy="1193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3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720" name="成组"/>
            <p:cNvGrpSpPr/>
            <p:nvPr/>
          </p:nvGrpSpPr>
          <p:grpSpPr>
            <a:xfrm>
              <a:off x="-1" y="0"/>
              <a:ext cx="5864414" cy="2755373"/>
              <a:chOff x="0" y="0"/>
              <a:chExt cx="5864412" cy="2755372"/>
            </a:xfrm>
          </p:grpSpPr>
          <p:sp>
            <p:nvSpPr>
              <p:cNvPr id="695" name="线条"/>
              <p:cNvSpPr/>
              <p:nvPr/>
            </p:nvSpPr>
            <p:spPr>
              <a:xfrm flipH="1" flipV="1">
                <a:off x="3386" y="611730"/>
                <a:ext cx="2849882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96" name="线条"/>
              <p:cNvSpPr/>
              <p:nvPr/>
            </p:nvSpPr>
            <p:spPr>
              <a:xfrm flipH="1" flipV="1">
                <a:off x="2257" y="1802709"/>
                <a:ext cx="2852140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97" name="0     1     2     3"/>
              <p:cNvSpPr txBox="1"/>
              <p:nvPr/>
            </p:nvSpPr>
            <p:spPr>
              <a:xfrm>
                <a:off x="0" y="8056"/>
                <a:ext cx="2856655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 0     1     2     3</a:t>
                </a:r>
              </a:p>
            </p:txBody>
          </p:sp>
          <p:sp>
            <p:nvSpPr>
              <p:cNvPr id="698" name="线条"/>
              <p:cNvSpPr/>
              <p:nvPr/>
            </p:nvSpPr>
            <p:spPr>
              <a:xfrm>
                <a:off x="3230597" y="1824608"/>
                <a:ext cx="1" cy="500855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ysDot"/>
                <a:miter lim="400000"/>
                <a:headEnd type="stealth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99" name="head"/>
              <p:cNvSpPr txBox="1"/>
              <p:nvPr/>
            </p:nvSpPr>
            <p:spPr>
              <a:xfrm>
                <a:off x="2794366" y="2238157"/>
                <a:ext cx="983457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head</a:t>
                </a:r>
              </a:p>
            </p:txBody>
          </p:sp>
          <p:sp>
            <p:nvSpPr>
              <p:cNvPr id="700" name="tail"/>
              <p:cNvSpPr txBox="1"/>
              <p:nvPr/>
            </p:nvSpPr>
            <p:spPr>
              <a:xfrm>
                <a:off x="1584334" y="2190412"/>
                <a:ext cx="847787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tail</a:t>
                </a:r>
              </a:p>
            </p:txBody>
          </p:sp>
          <p:sp>
            <p:nvSpPr>
              <p:cNvPr id="701" name="线条"/>
              <p:cNvSpPr/>
              <p:nvPr/>
            </p:nvSpPr>
            <p:spPr>
              <a:xfrm>
                <a:off x="1866919" y="1776862"/>
                <a:ext cx="1" cy="500855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ysDot"/>
                <a:miter lim="400000"/>
                <a:headEnd type="stealth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02" name="线条"/>
              <p:cNvSpPr/>
              <p:nvPr/>
            </p:nvSpPr>
            <p:spPr>
              <a:xfrm flipH="1">
                <a:off x="2853267" y="611729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03" name="线条"/>
              <p:cNvSpPr/>
              <p:nvPr/>
            </p:nvSpPr>
            <p:spPr>
              <a:xfrm flipH="1">
                <a:off x="2211493" y="611729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04" name="线条"/>
              <p:cNvSpPr/>
              <p:nvPr/>
            </p:nvSpPr>
            <p:spPr>
              <a:xfrm flipH="1">
                <a:off x="1475457" y="611729"/>
                <a:ext cx="2260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05" name="f"/>
              <p:cNvSpPr txBox="1"/>
              <p:nvPr/>
            </p:nvSpPr>
            <p:spPr>
              <a:xfrm>
                <a:off x="943186" y="851901"/>
                <a:ext cx="762002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  <p:sp>
            <p:nvSpPr>
              <p:cNvPr id="706" name="e"/>
              <p:cNvSpPr txBox="1"/>
              <p:nvPr/>
            </p:nvSpPr>
            <p:spPr>
              <a:xfrm>
                <a:off x="193886" y="851901"/>
                <a:ext cx="762002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  <p:sp>
            <p:nvSpPr>
              <p:cNvPr id="707" name="线条"/>
              <p:cNvSpPr/>
              <p:nvPr/>
            </p:nvSpPr>
            <p:spPr>
              <a:xfrm flipH="1">
                <a:off x="2845046" y="603673"/>
                <a:ext cx="2259" cy="119380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714" name="成组"/>
              <p:cNvGrpSpPr/>
              <p:nvPr/>
            </p:nvGrpSpPr>
            <p:grpSpPr>
              <a:xfrm>
                <a:off x="2846175" y="603673"/>
                <a:ext cx="2853270" cy="1193802"/>
                <a:chOff x="0" y="0"/>
                <a:chExt cx="2853268" cy="1193801"/>
              </a:xfrm>
            </p:grpSpPr>
            <p:sp>
              <p:nvSpPr>
                <p:cNvPr id="708" name="线条"/>
                <p:cNvSpPr/>
                <p:nvPr/>
              </p:nvSpPr>
              <p:spPr>
                <a:xfrm flipH="1">
                  <a:off x="2851009" y="0"/>
                  <a:ext cx="2260" cy="119380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09" name="线条"/>
                <p:cNvSpPr/>
                <p:nvPr/>
              </p:nvSpPr>
              <p:spPr>
                <a:xfrm flipH="1">
                  <a:off x="2209235" y="0"/>
                  <a:ext cx="2260" cy="119380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10" name="线条"/>
                <p:cNvSpPr/>
                <p:nvPr/>
              </p:nvSpPr>
              <p:spPr>
                <a:xfrm flipH="1">
                  <a:off x="1473199" y="0"/>
                  <a:ext cx="2260" cy="119380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11" name="线条"/>
                <p:cNvSpPr/>
                <p:nvPr/>
              </p:nvSpPr>
              <p:spPr>
                <a:xfrm flipH="1">
                  <a:off x="734906" y="0"/>
                  <a:ext cx="2260" cy="119380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12" name="线条"/>
                <p:cNvSpPr/>
                <p:nvPr/>
              </p:nvSpPr>
              <p:spPr>
                <a:xfrm flipH="1" flipV="1">
                  <a:off x="1128" y="1"/>
                  <a:ext cx="2849882" cy="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13" name="线条"/>
                <p:cNvSpPr/>
                <p:nvPr/>
              </p:nvSpPr>
              <p:spPr>
                <a:xfrm flipH="1" flipV="1">
                  <a:off x="0" y="1190979"/>
                  <a:ext cx="2852139" cy="1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3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sp>
            <p:nvSpPr>
              <p:cNvPr id="715" name="4     5     6     7"/>
              <p:cNvSpPr txBox="1"/>
              <p:nvPr/>
            </p:nvSpPr>
            <p:spPr>
              <a:xfrm>
                <a:off x="2843917" y="0"/>
                <a:ext cx="2856656" cy="5658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 4     5     6     7</a:t>
                </a:r>
              </a:p>
            </p:txBody>
          </p:sp>
          <p:sp>
            <p:nvSpPr>
              <p:cNvPr id="716" name="a"/>
              <p:cNvSpPr txBox="1"/>
              <p:nvPr/>
            </p:nvSpPr>
            <p:spPr>
              <a:xfrm>
                <a:off x="2905093" y="851901"/>
                <a:ext cx="762003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  <p:sp>
            <p:nvSpPr>
              <p:cNvPr id="717" name="b"/>
              <p:cNvSpPr txBox="1"/>
              <p:nvPr/>
            </p:nvSpPr>
            <p:spPr>
              <a:xfrm>
                <a:off x="3667093" y="851901"/>
                <a:ext cx="762003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  <p:sp>
            <p:nvSpPr>
              <p:cNvPr id="718" name="c"/>
              <p:cNvSpPr txBox="1"/>
              <p:nvPr/>
            </p:nvSpPr>
            <p:spPr>
              <a:xfrm>
                <a:off x="4417097" y="851901"/>
                <a:ext cx="762002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  <p:sp>
            <p:nvSpPr>
              <p:cNvPr id="719" name="d"/>
              <p:cNvSpPr txBox="1"/>
              <p:nvPr/>
            </p:nvSpPr>
            <p:spPr>
              <a:xfrm>
                <a:off x="5102411" y="851901"/>
                <a:ext cx="762002" cy="56585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3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</p:grpSp>
      <p:sp>
        <p:nvSpPr>
          <p:cNvPr id="722" name="第2种情况："/>
          <p:cNvSpPr txBox="1"/>
          <p:nvPr/>
        </p:nvSpPr>
        <p:spPr>
          <a:xfrm>
            <a:off x="242880" y="1238671"/>
            <a:ext cx="22676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第2种情况：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改写：size= elements.length  - head  + tail = (tail - head) &amp; (elements.length - 1)"/>
          <p:cNvSpPr txBox="1"/>
          <p:nvPr/>
        </p:nvSpPr>
        <p:spPr>
          <a:xfrm>
            <a:off x="443661" y="1163007"/>
            <a:ext cx="10859989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600">
                <a:solidFill>
                  <a:srgbClr val="000000"/>
                </a:solidFill>
              </a:defRPr>
            </a:pPr>
            <a:r>
              <a:t>改写：size= elements.length  - head  + tail = (</a:t>
            </a:r>
            <a:r>
              <a:rPr>
                <a:solidFill>
                  <a:srgbClr val="0326CC"/>
                </a:solidFill>
              </a:rPr>
              <a:t>tail</a:t>
            </a:r>
            <a:r>
              <a:t> -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) &amp; (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- 1)</a:t>
            </a:r>
          </a:p>
        </p:txBody>
      </p:sp>
      <p:sp>
        <p:nvSpPr>
          <p:cNvPr id="725" name="java.util.ArrayDeque 计算长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java.util.ArrayDeque 计算长度</a:t>
            </a:r>
          </a:p>
        </p:txBody>
      </p:sp>
      <p:sp>
        <p:nvSpPr>
          <p:cNvPr id="726" name="size = elements.length  - head  + tail      tail - head…"/>
          <p:cNvSpPr txBox="1"/>
          <p:nvPr/>
        </p:nvSpPr>
        <p:spPr>
          <a:xfrm>
            <a:off x="446584" y="1903809"/>
            <a:ext cx="6516519" cy="3835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>
                <a:solidFill>
                  <a:srgbClr val="000000"/>
                </a:solidFill>
              </a:defRPr>
            </a:pPr>
            <a:r>
              <a:t>size = elements.length  - head  + tail      tail - head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                              </a:t>
            </a:r>
            <a:r>
              <a:rPr>
                <a:solidFill>
                  <a:schemeClr val="accent5"/>
                </a:solidFill>
              </a:rPr>
              <a:t>8</a:t>
            </a:r>
            <a:r>
              <a:t> =&gt;0                                   0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                              7                                          -1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                              6                                          -2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                              5                                          -3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                              3                                          -4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                              3                                          -5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                              2                                          -6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                              1                                          -7</a:t>
            </a:r>
          </a:p>
        </p:txBody>
      </p:sp>
      <p:sp>
        <p:nvSpPr>
          <p:cNvPr id="727" name="size                         tail -head…"/>
          <p:cNvSpPr txBox="1"/>
          <p:nvPr/>
        </p:nvSpPr>
        <p:spPr>
          <a:xfrm>
            <a:off x="8096251" y="1903810"/>
            <a:ext cx="4078218" cy="4259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>
                <a:solidFill>
                  <a:srgbClr val="000000"/>
                </a:solidFill>
              </a:defRPr>
            </a:pPr>
            <a:r>
              <a:t>   size                         tail -head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                                 0000    0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7  0111                     1111   -1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6  0110                     1110   -2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5  0101                     1101   -3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4  0100                     1100   -4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3  0011                     1011   -5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2  0010                     1010   -6</a:t>
            </a:r>
          </a:p>
          <a:p>
            <a:pPr>
              <a:defRPr sz="2500">
                <a:solidFill>
                  <a:srgbClr val="000000"/>
                </a:solidFill>
              </a:defRPr>
            </a:pPr>
            <a:r>
              <a:t>1  0001                     1001   -7</a:t>
            </a:r>
          </a:p>
          <a:p>
            <a:pPr indent="0">
              <a:defRPr sz="2500">
                <a:solidFill>
                  <a:srgbClr val="000000"/>
                </a:solidFill>
              </a:defRPr>
            </a:pPr>
            <a:r>
              <a:rPr>
                <a:solidFill>
                  <a:srgbClr val="0326CC"/>
                </a:solidFill>
              </a:rPr>
              <a:t>elements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 - 1 = 0111</a:t>
            </a:r>
          </a:p>
        </p:txBody>
      </p:sp>
      <p:sp>
        <p:nvSpPr>
          <p:cNvPr id="728" name="模=8， 则1和7互为补数，2和6互为补数....，4和4互为补数…"/>
          <p:cNvSpPr txBox="1"/>
          <p:nvPr/>
        </p:nvSpPr>
        <p:spPr>
          <a:xfrm>
            <a:off x="1562257" y="6246888"/>
            <a:ext cx="9313632" cy="2495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>
                <a:solidFill>
                  <a:srgbClr val="000000"/>
                </a:solidFill>
              </a:defRPr>
            </a:pPr>
            <a:r>
              <a:t>模=8， 则1和7互为补数，2和6互为补数....，4和4互为补数</a:t>
            </a:r>
          </a:p>
          <a:p>
            <a:pPr>
              <a:defRPr sz="2300">
                <a:solidFill>
                  <a:srgbClr val="000000"/>
                </a:solidFill>
              </a:defRPr>
            </a:pPr>
            <a:r>
              <a:t>二进制的补码：</a:t>
            </a:r>
          </a:p>
          <a:p>
            <a:pPr>
              <a:defRPr sz="2300">
                <a:solidFill>
                  <a:srgbClr val="000000"/>
                </a:solidFill>
              </a:defRPr>
            </a:pPr>
            <a:r>
              <a:t>-1的补码，将它的补数7表示为二进制111，符号位置为1，补码为1111</a:t>
            </a:r>
          </a:p>
          <a:p>
            <a:pPr>
              <a:defRPr sz="2300">
                <a:solidFill>
                  <a:srgbClr val="000000"/>
                </a:solidFill>
              </a:defRPr>
            </a:pPr>
            <a:r>
              <a:t>-3的补码，将它的补数5表示为二进制位101，符号位置为1，补码为1101</a:t>
            </a:r>
          </a:p>
          <a:p>
            <a:pPr>
              <a:defRPr sz="2300">
                <a:solidFill>
                  <a:srgbClr val="000000"/>
                </a:solidFill>
              </a:defRPr>
            </a:pPr>
            <a:r>
              <a:t>即：</a:t>
            </a:r>
            <a:r>
              <a:rPr>
                <a:solidFill>
                  <a:schemeClr val="accent1"/>
                </a:solidFill>
              </a:rPr>
              <a:t>负数的补码除了符号位，其它的位与补数相同</a:t>
            </a:r>
            <a:r>
              <a:t>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FFFFFF"/>
      </a:dk1>
      <a:lt1>
        <a:srgbClr val="BA120A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D3B21C"/>
      </a:accent3>
      <a:accent4>
        <a:srgbClr val="D45510"/>
      </a:accent4>
      <a:accent5>
        <a:srgbClr val="BA120A"/>
      </a:accent5>
      <a:accent6>
        <a:srgbClr val="62298A"/>
      </a:accent6>
      <a:hlink>
        <a:srgbClr val="0000FF"/>
      </a:hlink>
      <a:folHlink>
        <a:srgbClr val="FF00FF"/>
      </a:folHlink>
    </a:clrScheme>
    <a:fontScheme name="White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4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chemeClr val="accent5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D3B21C"/>
      </a:accent3>
      <a:accent4>
        <a:srgbClr val="D45510"/>
      </a:accent4>
      <a:accent5>
        <a:srgbClr val="BA120A"/>
      </a:accent5>
      <a:accent6>
        <a:srgbClr val="62298A"/>
      </a:accent6>
      <a:hlink>
        <a:srgbClr val="0000FF"/>
      </a:hlink>
      <a:folHlink>
        <a:srgbClr val="FF00FF"/>
      </a:folHlink>
    </a:clrScheme>
    <a:fontScheme name="White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4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chemeClr val="accent5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