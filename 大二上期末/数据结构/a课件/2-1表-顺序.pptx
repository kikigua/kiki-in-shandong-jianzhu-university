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盛恩" initials="李" lastIdx="1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35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3-07T08:24:40.108" idx="1">
    <p:pos x="2956" y="2880"/>
    <p:text>关系可以是数据之间自然有的，如：
同学关系。
也可以是根据需要，给加上的：
如菜鸟驿站的包裹的编号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7-18T09:35:39.848" idx="2">
    <p:pos x="3554" y="1315"/>
    <p:text>get(i) 获取第1个位置的数据
set(i, x):设置位置i的值，并返回原有的值
remove(i) 删除第i 个位置的数据
add(i, x)  将x存放到第i 个位置
接口中没有描述数据之间的关系
这个关系体现在操作中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07T09:14:15.436" idx="3">
    <p:pos x="663" y="3535"/>
    <p:text>数组是一个数据结构。数组的逻辑概念是一对值&lt;index, value&gt;，给定index ,可以获取值或更改值
物理上如何实现？数组元素可以连续存放，也可以不连续存放。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7-18T10:05:56.848" idx="4">
    <p:pos x="1574" y="2646"/>
    <p:text>代码是工程中的CArrayList1
JAVA会自动将数值字段的值设为0
引用字段的值为null
boolean的为 false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11T09:00:05.767" idx="5">
    <p:pos x="2985" y="2942"/>
    <p:text>为了清晰，只画出了数组元素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12T08:56:48.495" idx="6">
    <p:pos x="154" y="3381"/>
    <p:text>arraycopy的实现思想就是向前复制和向后复制，一般使用C++或汇编语言实现，效率比for速度快。特别是复制引用类型的
数组，可能的原因：由于多线程的存在，读写引用值需要加锁，arraycopy一次性加锁，for方式的需要多次加锁，所以，
arraycopy的速度快。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04T08:30:52" idx="7">
    <p:pos x="72" y="2400"/>
    <p:text>==是比较变量x和listElem[i]的值是不是
相等，也就是它们是不是引用了同
一个对象。
equals是比较x和listElem[i]引用的
对象是不是“相等”</p:text>
    <p:extLst>
      <p:ext uri="{C676402C-5697-4E1C-873F-D02D1690AC5C}">
        <p15:threadingInfo xmlns:p15="http://schemas.microsoft.com/office/powerpoint/2012/main" timeZoneBias="-480"/>
      </p:ext>
    </p:extLst>
  </p:cm>
  <p:cm authorId="0" dt="2021-09-08T09:25:26.293" idx="8">
    <p:pos x="3815" y="2948"/>
    <p:text>如果有重复的数据：第1个、最后1个
有几个？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04T08:21:34" idx="9">
    <p:pos x="50" y="3314"/>
    <p:text>如果只是让size=0，对对象的引用仍然存在。只有当这个表不存在时，引用的这些对象才会被回收。
在表还存在时，让listElem[i] = null明确说明不再引用这些对象，虚拟机会很快回收这些对象。不用等到上面说的时刻。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3-09T14:38:59.218" idx="10">
    <p:pos x="39" y="3342"/>
    <p:text>ensureCapacity(size + 1)或ensureCapacity(size + a.length), a是某个数组，a.length一定是一个正数
第2种写法没有考虑溢出，minCapacity可能是负数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7-21T08:40:50.338" idx="11">
    <p:pos x="594" y="3578"/>
    <p:text>如果 a &gt; 0     则 a&gt;&gt;&gt;1的结果是a / 2，a&lt;&lt;1的结果是a*2。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06T08:07:10.549" idx="12">
    <p:pos x="820" y="2935"/>
    <p:text>扩充容量代码参考了java类库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8-29T08:57:32.555" idx="13">
    <p:pos x="340" y="3690"/>
    <p:text>溢出：意味着运算结果错误。但上面的代码利用了正负数构成了循环的特点。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07T10:14:50.600" idx="14">
    <p:pos x="1677" y="2577"/>
    <p:text>add还可能需要扩充空间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8-29T09:07:07.070" idx="15">
    <p:pos x="1131" y="3725"/>
    <p:text>注意：没有实现得到迭代器后，表因为插入和删除又发生了变化。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03T15:31:53" idx="16">
    <p:pos x="3632" y="3072"/>
    <p:text>这是个指示性接口，如果类实现了
这个接口，就不要使用迭代器逐个
读取数据。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8-29T09:09:27.362" idx="17">
    <p:pos x="834" y="2955"/>
    <p:text>如果listElem[i]仍然引用了其它的对象，给出的这个clone，还是“浅度”克隆。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8-29T09:11:42.861" idx="18">
    <p:pos x="691" y="2992"/>
    <p:text>String类的value是一经赋值就不能再改变，所以，hash值只计算一次就保存，以后不再计算。
为什么选31？
1、31是不大不小的质数
2、31 *  i = i &lt;&lt; 5 - i   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0" name="正文级别 1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/>
          <p:cNvSpPr/>
          <p:nvPr/>
        </p:nvSpPr>
        <p:spPr>
          <a:xfrm>
            <a:off x="803671" y="73024"/>
            <a:ext cx="328614" cy="474665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lnSpc>
                <a:spcPct val="100000"/>
              </a:lnSpc>
              <a:spcBef>
                <a:spcPts val="1300"/>
              </a:spcBef>
              <a:defRPr sz="18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33" name="Group 7"/>
          <p:cNvGrpSpPr/>
          <p:nvPr/>
        </p:nvGrpSpPr>
        <p:grpSpPr>
          <a:xfrm>
            <a:off x="116085" y="73024"/>
            <a:ext cx="1009056" cy="732237"/>
            <a:chOff x="0" y="0"/>
            <a:chExt cx="1009054" cy="732235"/>
          </a:xfrm>
        </p:grpSpPr>
        <p:sp>
          <p:nvSpPr>
            <p:cNvPr id="29" name="Shape 3"/>
            <p:cNvSpPr/>
            <p:nvPr/>
          </p:nvSpPr>
          <p:spPr>
            <a:xfrm>
              <a:off x="256129" y="-1"/>
              <a:ext cx="383675" cy="385711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35718" tIns="35718" rIns="35718" bIns="35718" numCol="1" anchor="ctr">
              <a:noAutofit/>
            </a:bodyPr>
            <a:lstStyle/>
            <a:p>
              <a:pPr marR="40639" indent="57798" defTabSz="910828">
                <a:lnSpc>
                  <a:spcPct val="100000"/>
                </a:lnSpc>
                <a:spcBef>
                  <a:spcPts val="1300"/>
                </a:spcBef>
                <a:defRPr sz="18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0" name="Shape 4"/>
            <p:cNvSpPr/>
            <p:nvPr/>
          </p:nvSpPr>
          <p:spPr>
            <a:xfrm>
              <a:off x="364558" y="346525"/>
              <a:ext cx="369774" cy="385711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35718" tIns="35718" rIns="35718" bIns="35718" numCol="1" anchor="ctr">
              <a:noAutofit/>
            </a:bodyPr>
            <a:lstStyle/>
            <a:p>
              <a:pPr marR="40639" indent="57798" defTabSz="910828">
                <a:lnSpc>
                  <a:spcPct val="100000"/>
                </a:lnSpc>
                <a:spcBef>
                  <a:spcPts val="1300"/>
                </a:spcBef>
                <a:defRPr sz="18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" name="Shape 5"/>
            <p:cNvSpPr/>
            <p:nvPr/>
          </p:nvSpPr>
          <p:spPr>
            <a:xfrm>
              <a:off x="688456" y="346525"/>
              <a:ext cx="320599" cy="385711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35718" tIns="35718" rIns="35718" bIns="35718" numCol="1" anchor="ctr">
              <a:noAutofit/>
            </a:bodyPr>
            <a:lstStyle/>
            <a:p>
              <a:pPr marR="40639" indent="57798" defTabSz="910828">
                <a:lnSpc>
                  <a:spcPct val="100000"/>
                </a:lnSpc>
                <a:spcBef>
                  <a:spcPts val="1300"/>
                </a:spcBef>
                <a:defRPr sz="18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2" name="Shape 6"/>
            <p:cNvSpPr/>
            <p:nvPr/>
          </p:nvSpPr>
          <p:spPr>
            <a:xfrm>
              <a:off x="-1" y="283799"/>
              <a:ext cx="490715" cy="343140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35718" tIns="35718" rIns="35718" bIns="35718" numCol="1" anchor="ctr">
              <a:noAutofit/>
            </a:bodyPr>
            <a:lstStyle/>
            <a:p>
              <a:pPr marR="40639" indent="57798" defTabSz="910828">
                <a:lnSpc>
                  <a:spcPct val="100000"/>
                </a:lnSpc>
                <a:spcBef>
                  <a:spcPts val="1300"/>
                </a:spcBef>
                <a:defRPr sz="18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34" name="Shape 8"/>
          <p:cNvSpPr/>
          <p:nvPr/>
        </p:nvSpPr>
        <p:spPr>
          <a:xfrm>
            <a:off x="764579" y="-44848"/>
            <a:ext cx="31751" cy="912814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lnSpc>
                <a:spcPct val="100000"/>
              </a:lnSpc>
              <a:spcBef>
                <a:spcPts val="1300"/>
              </a:spcBef>
              <a:defRPr sz="18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35" name="Shape 9"/>
          <p:cNvSpPr/>
          <p:nvPr/>
        </p:nvSpPr>
        <p:spPr>
          <a:xfrm>
            <a:off x="442912" y="701674"/>
            <a:ext cx="8226427" cy="31752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lnSpc>
                <a:spcPct val="100000"/>
              </a:lnSpc>
              <a:spcBef>
                <a:spcPts val="1300"/>
              </a:spcBef>
              <a:defRPr sz="18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pic>
        <p:nvPicPr>
          <p:cNvPr id="36" name="tb.png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946" y="28773"/>
            <a:ext cx="698006" cy="66476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标题文本"/>
          <p:cNvSpPr txBox="1">
            <a:spLocks noGrp="1"/>
          </p:cNvSpPr>
          <p:nvPr>
            <p:ph type="title"/>
          </p:nvPr>
        </p:nvSpPr>
        <p:spPr>
          <a:xfrm>
            <a:off x="1159271" y="13195"/>
            <a:ext cx="6643689" cy="669728"/>
          </a:xfrm>
          <a:prstGeom prst="rect">
            <a:avLst/>
          </a:prstGeom>
        </p:spPr>
        <p:txBody>
          <a:bodyPr lIns="35718" tIns="35718" rIns="35718" bIns="35718" anchor="ctr"/>
          <a:lstStyle>
            <a:lvl1pPr marR="40639" indent="57798" defTabSz="910828"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标题文本</a:t>
            </a:r>
          </a:p>
        </p:txBody>
      </p:sp>
      <p:sp>
        <p:nvSpPr>
          <p:cNvPr id="3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0273" y="6384726"/>
            <a:ext cx="312739" cy="328428"/>
          </a:xfrm>
          <a:prstGeom prst="rect">
            <a:avLst/>
          </a:prstGeom>
        </p:spPr>
        <p:txBody>
          <a:bodyPr lIns="35718" tIns="35718" rIns="35718" bIns="35718"/>
          <a:lstStyle>
            <a:lvl1pPr defTabSz="580429">
              <a:defRPr sz="1800"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415925" y="19050"/>
            <a:ext cx="439738" cy="474663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3" name="矩形"/>
          <p:cNvSpPr/>
          <p:nvPr/>
        </p:nvSpPr>
        <p:spPr>
          <a:xfrm>
            <a:off x="803275" y="19050"/>
            <a:ext cx="328613" cy="474663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4" name="矩形"/>
          <p:cNvSpPr/>
          <p:nvPr/>
        </p:nvSpPr>
        <p:spPr>
          <a:xfrm>
            <a:off x="539750" y="266700"/>
            <a:ext cx="423863" cy="474663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5" name="矩形"/>
          <p:cNvSpPr/>
          <p:nvPr/>
        </p:nvSpPr>
        <p:spPr>
          <a:xfrm>
            <a:off x="909637" y="266700"/>
            <a:ext cx="366713" cy="474663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6" name="矩形"/>
          <p:cNvSpPr/>
          <p:nvPr/>
        </p:nvSpPr>
        <p:spPr>
          <a:xfrm>
            <a:off x="133349" y="314325"/>
            <a:ext cx="560389" cy="422275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7" name="矩形"/>
          <p:cNvSpPr/>
          <p:nvPr/>
        </p:nvSpPr>
        <p:spPr>
          <a:xfrm>
            <a:off x="795337" y="17462"/>
            <a:ext cx="31751" cy="75247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8" name="矩形"/>
          <p:cNvSpPr/>
          <p:nvPr/>
        </p:nvSpPr>
        <p:spPr>
          <a:xfrm>
            <a:off x="441325" y="719137"/>
            <a:ext cx="8228013" cy="31751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lnSpc>
                <a:spcPct val="100000"/>
              </a:lnSpc>
              <a:spcBef>
                <a:spcPts val="1300"/>
              </a:spcBef>
              <a:defRPr sz="2200" b="1"/>
            </a:pPr>
            <a:endParaRPr/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87" y="19050"/>
            <a:ext cx="755651" cy="70485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1377950" y="28575"/>
            <a:ext cx="6607175" cy="704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7" tIns="35717" rIns="35717" bIns="35717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11" name="正文级别 1…"/>
          <p:cNvSpPr txBox="1">
            <a:spLocks noGrp="1"/>
          </p:cNvSpPr>
          <p:nvPr>
            <p:ph type="body" idx="1"/>
          </p:nvPr>
        </p:nvSpPr>
        <p:spPr>
          <a:xfrm>
            <a:off x="5103812" y="2438400"/>
            <a:ext cx="35814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7" tIns="35717" rIns="35717" bIns="35717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275138" y="6383337"/>
            <a:ext cx="592137" cy="646757"/>
          </a:xfrm>
          <a:prstGeom prst="rect">
            <a:avLst/>
          </a:prstGeom>
          <a:ln w="12700">
            <a:miter lim="400000"/>
          </a:ln>
        </p:spPr>
        <p:txBody>
          <a:bodyPr wrap="none" lIns="35717" tIns="35717" rIns="35717" bIns="35717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571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1pPr>
      <a:lvl2pPr marL="0" marR="0" indent="571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2pPr>
      <a:lvl3pPr marL="0" marR="0" indent="571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3pPr>
      <a:lvl4pPr marL="0" marR="0" indent="571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4pPr>
      <a:lvl5pPr marL="0" marR="0" indent="571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5pPr>
      <a:lvl6pPr marL="0" marR="0" indent="5143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6pPr>
      <a:lvl7pPr marL="0" marR="0" indent="9715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7pPr>
      <a:lvl8pPr marL="0" marR="0" indent="14287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8pPr>
      <a:lvl9pPr marL="0" marR="0" indent="1885950" algn="ctr" defTabSz="9096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9pPr>
    </p:titleStyle>
    <p:bodyStyle>
      <a:lvl1pPr marL="273050" marR="0" indent="-233362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872595" marR="0" indent="-37570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1290108" marR="0" indent="-336020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18187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22759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27331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31903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36475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4104745" marR="0" indent="-407458" algn="l" defTabSz="909637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"/>
        <a:tabLst/>
        <a:defRPr sz="30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ctr" defTabSz="57943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主要内容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34950" indent="0" defTabSz="783312">
              <a:defRPr sz="3440"/>
            </a:lvl1pPr>
          </a:lstStyle>
          <a:p>
            <a:r>
              <a:t>主要内容</a:t>
            </a:r>
          </a:p>
        </p:txBody>
      </p:sp>
      <p:sp>
        <p:nvSpPr>
          <p:cNvPr id="48" name="表的定义…"/>
          <p:cNvSpPr txBox="1"/>
          <p:nvPr/>
        </p:nvSpPr>
        <p:spPr>
          <a:xfrm>
            <a:off x="1227162" y="815676"/>
            <a:ext cx="5154731" cy="4644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表的定义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表的功能：接口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表的数组实现：利用下标表示前后关系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复制操作的实现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容量扩充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迭代器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克隆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000">
                <a:uFill>
                  <a:solidFill>
                    <a:srgbClr val="000000"/>
                  </a:solidFill>
                </a:uFill>
              </a:defRPr>
            </a:pPr>
            <a:r>
              <a:t>算法分析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数据结构-表(List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34950" indent="0" defTabSz="783312">
              <a:defRPr sz="3440"/>
            </a:lvl1pPr>
          </a:lstStyle>
          <a:p>
            <a:r>
              <a:t>数据结构-表(List)</a:t>
            </a:r>
          </a:p>
        </p:txBody>
      </p:sp>
      <p:sp>
        <p:nvSpPr>
          <p:cNvPr id="51" name="1、图中的关系是一个抽象的关系，可以表示很多实际关系:…"/>
          <p:cNvSpPr txBox="1"/>
          <p:nvPr/>
        </p:nvSpPr>
        <p:spPr>
          <a:xfrm>
            <a:off x="198507" y="2293924"/>
            <a:ext cx="8666781" cy="332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1、图中的关系是一个抽象的关系，可以表示很多实际关系: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购物队列的次序关系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完成一项任务时，各分任务的依赖关系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数据的大小关系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...</a:t>
            </a:r>
          </a:p>
        </p:txBody>
      </p:sp>
      <p:grpSp>
        <p:nvGrpSpPr>
          <p:cNvPr id="59" name="成组"/>
          <p:cNvGrpSpPr/>
          <p:nvPr/>
        </p:nvGrpSpPr>
        <p:grpSpPr>
          <a:xfrm>
            <a:off x="1629072" y="927100"/>
            <a:ext cx="5936656" cy="887414"/>
            <a:chOff x="0" y="0"/>
            <a:chExt cx="5936654" cy="887413"/>
          </a:xfrm>
        </p:grpSpPr>
        <p:sp>
          <p:nvSpPr>
            <p:cNvPr id="52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53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54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55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56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7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8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数据结构-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34950" indent="0" defTabSz="783312">
              <a:defRPr sz="3440"/>
            </a:lvl1pPr>
          </a:lstStyle>
          <a:p>
            <a:r>
              <a:t>数据结构-表</a:t>
            </a:r>
          </a:p>
        </p:txBody>
      </p:sp>
      <p:sp>
        <p:nvSpPr>
          <p:cNvPr id="62" name="2、为了叙述方便，我们把这种关系叫做前后关系…"/>
          <p:cNvSpPr txBox="1"/>
          <p:nvPr/>
        </p:nvSpPr>
        <p:spPr>
          <a:xfrm>
            <a:off x="160407" y="1681798"/>
            <a:ext cx="8806915" cy="353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2、为了叙述方便，我们把这种关系叫做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前后关系</a:t>
            </a:r>
          </a:p>
          <a:p>
            <a:pPr marL="722429" marR="40640" lvl="1" indent="-300789" defTabSz="914400">
              <a:lnSpc>
                <a:spcPct val="10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除了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2个特殊的数据元素</a:t>
            </a:r>
            <a:r>
              <a:t>，每个数据元素前面有唯一的</a:t>
            </a:r>
          </a:p>
          <a:p>
            <a:pPr marL="40640" marR="40640" lvl="1" indent="228600" defTabSz="914400">
              <a:lnSpc>
                <a:spcPct val="100000"/>
              </a:lnSpc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    数据元素，叫做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前驱(predecessor)</a:t>
            </a:r>
            <a:r>
              <a:t>，后面有唯一的数据元素，</a:t>
            </a:r>
          </a:p>
          <a:p>
            <a:pPr marL="40640" marR="40640" lvl="1" indent="228600" defTabSz="914400">
              <a:lnSpc>
                <a:spcPct val="100000"/>
              </a:lnSpc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    叫做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后继(successor)</a:t>
            </a:r>
          </a:p>
          <a:p>
            <a:pPr marL="722429" marR="40640" lvl="1" indent="-300789" defTabSz="914400">
              <a:lnSpc>
                <a:spcPct val="10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5999"/>
              <a:t>0</a:t>
            </a:r>
            <a:r>
              <a:t>没有前驱，叫做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表头(head)</a:t>
            </a:r>
          </a:p>
          <a:p>
            <a:pPr marL="722429" marR="40640" lvl="1" indent="-300789" defTabSz="914400">
              <a:lnSpc>
                <a:spcPct val="10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5999"/>
              <a:t>3</a:t>
            </a:r>
            <a:r>
              <a:t>没有后继，叫做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表尾(tail)</a:t>
            </a:r>
          </a:p>
        </p:txBody>
      </p:sp>
      <p:grpSp>
        <p:nvGrpSpPr>
          <p:cNvPr id="70" name="成组"/>
          <p:cNvGrpSpPr/>
          <p:nvPr/>
        </p:nvGrpSpPr>
        <p:grpSpPr>
          <a:xfrm>
            <a:off x="1590972" y="774700"/>
            <a:ext cx="5936656" cy="887414"/>
            <a:chOff x="0" y="0"/>
            <a:chExt cx="5936654" cy="887413"/>
          </a:xfrm>
        </p:grpSpPr>
        <p:sp>
          <p:nvSpPr>
            <p:cNvPr id="63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64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65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66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67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8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数据结构-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34950" indent="0" defTabSz="783312">
              <a:defRPr sz="3440"/>
            </a:lvl1pPr>
          </a:lstStyle>
          <a:p>
            <a:r>
              <a:t>数据结构-表</a:t>
            </a:r>
          </a:p>
        </p:txBody>
      </p:sp>
      <p:grpSp>
        <p:nvGrpSpPr>
          <p:cNvPr id="80" name="成组"/>
          <p:cNvGrpSpPr/>
          <p:nvPr/>
        </p:nvGrpSpPr>
        <p:grpSpPr>
          <a:xfrm>
            <a:off x="1629072" y="927100"/>
            <a:ext cx="5936656" cy="887414"/>
            <a:chOff x="0" y="0"/>
            <a:chExt cx="5936654" cy="887413"/>
          </a:xfrm>
        </p:grpSpPr>
        <p:sp>
          <p:nvSpPr>
            <p:cNvPr id="73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74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75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76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77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8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9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81" name="3、图中的数据排成了一条线…"/>
          <p:cNvSpPr txBox="1"/>
          <p:nvPr/>
        </p:nvSpPr>
        <p:spPr>
          <a:xfrm>
            <a:off x="363607" y="2189755"/>
            <a:ext cx="7271976" cy="1226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3、图中的数据排成了一条线</a:t>
            </a:r>
          </a:p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t>     这样的数据结构叫做表(list)或线性表(linear list)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数据结构-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34950" indent="0" defTabSz="783312">
              <a:defRPr sz="3440"/>
            </a:lvl1pPr>
          </a:lstStyle>
          <a:p>
            <a:r>
              <a:t>数据结构-表</a:t>
            </a:r>
          </a:p>
        </p:txBody>
      </p:sp>
      <p:grpSp>
        <p:nvGrpSpPr>
          <p:cNvPr id="91" name="成组"/>
          <p:cNvGrpSpPr/>
          <p:nvPr/>
        </p:nvGrpSpPr>
        <p:grpSpPr>
          <a:xfrm>
            <a:off x="1629072" y="927100"/>
            <a:ext cx="5936656" cy="887414"/>
            <a:chOff x="0" y="0"/>
            <a:chExt cx="5936654" cy="887413"/>
          </a:xfrm>
        </p:grpSpPr>
        <p:sp>
          <p:nvSpPr>
            <p:cNvPr id="84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85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86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87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88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9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0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92" name="4、如果按照前后关系给数据元素编号：…"/>
          <p:cNvSpPr txBox="1"/>
          <p:nvPr/>
        </p:nvSpPr>
        <p:spPr>
          <a:xfrm>
            <a:off x="778784" y="2058690"/>
            <a:ext cx="5933441" cy="2711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4、如果按照</a:t>
            </a:r>
            <a:r>
              <a:rPr dirty="0">
                <a:solidFill>
                  <a:schemeClr val="accent1">
                    <a:lumOff val="-7647"/>
                  </a:schemeClr>
                </a:solidFill>
              </a:rPr>
              <a:t>前后关系</a:t>
            </a:r>
            <a:r>
              <a:rPr dirty="0"/>
              <a:t>给数据元素编号：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0、1、2、3...</a:t>
            </a:r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rPr dirty="0" err="1"/>
              <a:t>每个数据元素有唯一的编号</a:t>
            </a:r>
            <a:endParaRPr dirty="0"/>
          </a:p>
          <a:p>
            <a:pPr marL="722429" marR="40640" lvl="1" indent="-300789" defTabSz="914400">
              <a:spcBef>
                <a:spcPts val="1300"/>
              </a:spcBef>
              <a:buSzPct val="60000"/>
              <a:buBlip>
                <a:blip r:embed="rId2"/>
              </a:buBlip>
              <a:defRPr sz="2600">
                <a:uFill>
                  <a:solidFill>
                    <a:srgbClr val="000000"/>
                  </a:solidFill>
                </a:uFill>
              </a:defRPr>
            </a:pPr>
            <a:r>
              <a:rPr dirty="0" err="1"/>
              <a:t>数据元素的编号叫做</a:t>
            </a:r>
            <a:r>
              <a:rPr dirty="0" err="1">
                <a:solidFill>
                  <a:schemeClr val="accent1">
                    <a:lumOff val="-7647"/>
                  </a:schemeClr>
                </a:solidFill>
              </a:rPr>
              <a:t>索引</a:t>
            </a:r>
            <a:r>
              <a:rPr dirty="0">
                <a:solidFill>
                  <a:schemeClr val="accent1">
                    <a:lumOff val="-7647"/>
                  </a:schemeClr>
                </a:solidFill>
              </a:rPr>
              <a:t>(index)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接口"/>
          <p:cNvSpPr txBox="1"/>
          <p:nvPr/>
        </p:nvSpPr>
        <p:spPr>
          <a:xfrm>
            <a:off x="742950" y="-128588"/>
            <a:ext cx="78994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接口</a:t>
            </a:r>
          </a:p>
        </p:txBody>
      </p:sp>
      <p:sp>
        <p:nvSpPr>
          <p:cNvPr id="95" name="package list;…"/>
          <p:cNvSpPr txBox="1"/>
          <p:nvPr/>
        </p:nvSpPr>
        <p:spPr>
          <a:xfrm>
            <a:off x="336550" y="1709187"/>
            <a:ext cx="5321983" cy="493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package</a:t>
            </a:r>
            <a:r>
              <a:rPr>
                <a:solidFill>
                  <a:srgbClr val="000000"/>
                </a:solidFill>
              </a:rPr>
              <a:t> list;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interface</a:t>
            </a:r>
            <a:r>
              <a:t> Ilist&lt;T&gt;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isEmpty();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T get(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set(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);// </a:t>
            </a:r>
            <a:r>
              <a:t>新加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T remove(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indexOf(T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grpSp>
        <p:nvGrpSpPr>
          <p:cNvPr id="103" name="成组"/>
          <p:cNvGrpSpPr/>
          <p:nvPr/>
        </p:nvGrpSpPr>
        <p:grpSpPr>
          <a:xfrm>
            <a:off x="1629072" y="812800"/>
            <a:ext cx="5936656" cy="887414"/>
            <a:chOff x="0" y="0"/>
            <a:chExt cx="5936654" cy="887413"/>
          </a:xfrm>
        </p:grpSpPr>
        <p:sp>
          <p:nvSpPr>
            <p:cNvPr id="96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97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98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99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100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2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数组(顺序)存储"/>
          <p:cNvSpPr txBox="1"/>
          <p:nvPr/>
        </p:nvSpPr>
        <p:spPr>
          <a:xfrm>
            <a:off x="590550" y="-17463"/>
            <a:ext cx="79375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数组(顺序)存储</a:t>
            </a:r>
          </a:p>
        </p:txBody>
      </p:sp>
      <p:sp>
        <p:nvSpPr>
          <p:cNvPr id="106" name="采用数组实现表…"/>
          <p:cNvSpPr txBox="1"/>
          <p:nvPr/>
        </p:nvSpPr>
        <p:spPr>
          <a:xfrm>
            <a:off x="241687" y="753924"/>
            <a:ext cx="8580912" cy="2305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" marR="40640" defTabSz="914400">
              <a:lnSpc>
                <a:spcPct val="100000"/>
              </a:lnSpc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rPr dirty="0" err="1"/>
              <a:t>采用数组实现表</a:t>
            </a:r>
            <a:endParaRPr dirty="0"/>
          </a:p>
          <a:p>
            <a:pPr marL="722429" marR="40640" lvl="1" indent="-300789" defTabSz="914400">
              <a:lnSpc>
                <a:spcPct val="10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rPr dirty="0" err="1"/>
              <a:t>数组元素存放数据，线性表的数据索引号和数组元素下标</a:t>
            </a:r>
            <a:endParaRPr dirty="0"/>
          </a:p>
          <a:p>
            <a:pPr marL="40640" marR="40640" lvl="1" indent="228600" defTabSz="914400">
              <a:lnSpc>
                <a:spcPct val="100000"/>
              </a:lnSpc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     </a:t>
            </a:r>
            <a:r>
              <a:rPr dirty="0" err="1">
                <a:solidFill>
                  <a:schemeClr val="accent1"/>
                </a:solidFill>
              </a:rPr>
              <a:t>一一对应</a:t>
            </a:r>
            <a:endParaRPr dirty="0">
              <a:solidFill>
                <a:schemeClr val="accent1"/>
              </a:solidFill>
            </a:endParaRPr>
          </a:p>
          <a:p>
            <a:pPr marL="722429" marR="40640" lvl="1" indent="-300789" defTabSz="914400">
              <a:lnSpc>
                <a:spcPct val="10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rPr dirty="0" err="1"/>
              <a:t>借助数组元素的</a:t>
            </a:r>
            <a:r>
              <a:rPr dirty="0" err="1">
                <a:solidFill>
                  <a:schemeClr val="accent1">
                    <a:lumOff val="-7647"/>
                  </a:schemeClr>
                </a:solidFill>
              </a:rPr>
              <a:t>相邻关系</a:t>
            </a:r>
            <a:r>
              <a:rPr dirty="0" err="1"/>
              <a:t>表示线性表的数据的</a:t>
            </a:r>
            <a:r>
              <a:rPr dirty="0" err="1">
                <a:solidFill>
                  <a:schemeClr val="accent1">
                    <a:lumOff val="-7647"/>
                  </a:schemeClr>
                </a:solidFill>
              </a:rPr>
              <a:t>前后关系</a:t>
            </a:r>
            <a:endParaRPr dirty="0">
              <a:solidFill>
                <a:schemeClr val="accent1">
                  <a:lumOff val="-7647"/>
                </a:schemeClr>
              </a:solidFill>
            </a:endParaRPr>
          </a:p>
        </p:txBody>
      </p:sp>
      <p:grpSp>
        <p:nvGrpSpPr>
          <p:cNvPr id="133" name="成组"/>
          <p:cNvGrpSpPr/>
          <p:nvPr/>
        </p:nvGrpSpPr>
        <p:grpSpPr>
          <a:xfrm>
            <a:off x="824229" y="2928289"/>
            <a:ext cx="7383459" cy="2720978"/>
            <a:chOff x="25400" y="25399"/>
            <a:chExt cx="7383457" cy="2720977"/>
          </a:xfrm>
        </p:grpSpPr>
        <p:grpSp>
          <p:nvGrpSpPr>
            <p:cNvPr id="127" name="成组"/>
            <p:cNvGrpSpPr/>
            <p:nvPr/>
          </p:nvGrpSpPr>
          <p:grpSpPr>
            <a:xfrm>
              <a:off x="25400" y="25399"/>
              <a:ext cx="7383457" cy="2720977"/>
              <a:chOff x="25400" y="25400"/>
              <a:chExt cx="7383456" cy="2720975"/>
            </a:xfrm>
          </p:grpSpPr>
          <p:graphicFrame>
            <p:nvGraphicFramePr>
              <p:cNvPr id="107" name="表格"/>
              <p:cNvGraphicFramePr/>
              <p:nvPr/>
            </p:nvGraphicFramePr>
            <p:xfrm>
              <a:off x="41275" y="838200"/>
              <a:ext cx="7367581" cy="787399"/>
            </p:xfrm>
            <a:graphic>
              <a:graphicData uri="http://schemas.openxmlformats.org/drawingml/2006/table">
                <a:tbl>
                  <a:tblPr>
                    <a:tableStyleId>{4C3C2611-4C71-4FC5-86AE-919BDF0F9419}</a:tableStyleId>
                  </a:tblPr>
                  <a:tblGrid>
                    <a:gridCol w="1052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87400"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28575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......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2800">
                              <a:sym typeface="Tahoma"/>
                            </a:defRPr>
                          </a:pPr>
                          <a:endParaRPr/>
                        </a:p>
                      </a:txBody>
                      <a:tcPr marL="50800" marR="50800" marT="50800" marB="50800" anchor="ctr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28575">
                          <a:solidFill>
                            <a:srgbClr val="000000"/>
                          </a:solidFill>
                          <a:miter lim="400000"/>
                        </a:lnR>
                        <a:lnT w="28575">
                          <a:solidFill>
                            <a:srgbClr val="000000"/>
                          </a:solidFill>
                          <a:miter lim="400000"/>
                        </a:lnT>
                        <a:lnB w="28575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graphicFrame>
            <p:nvGraphicFramePr>
              <p:cNvPr id="108" name="表格"/>
              <p:cNvGraphicFramePr/>
              <p:nvPr/>
            </p:nvGraphicFramePr>
            <p:xfrm>
              <a:off x="25400" y="25400"/>
              <a:ext cx="7367581" cy="787399"/>
            </p:xfrm>
            <a:graphic>
              <a:graphicData uri="http://schemas.openxmlformats.org/drawingml/2006/table">
                <a:tbl>
                  <a:tblPr>
                    <a:tableStyleId>{4C3C2611-4C71-4FC5-86AE-919BDF0F9419}</a:tableStyleId>
                  </a:tblPr>
                  <a:tblGrid>
                    <a:gridCol w="1052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525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87400"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0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4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800">
                              <a:sym typeface="Tahoma"/>
                            </a:rPr>
                            <a:t>......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/>
                          </a:pPr>
                          <a:r>
                            <a:rPr sz="2300">
                              <a:sym typeface="Tahoma"/>
                            </a:rPr>
                            <a:t>size - 1</a:t>
                          </a:r>
                        </a:p>
                      </a:txBody>
                      <a:tcPr marL="50800" marR="50800" marT="50800" marB="50800" anchor="ctr" horzOverflow="overflow">
                        <a:lnL w="12700">
                          <a:miter lim="400000"/>
                        </a:lnL>
                        <a:lnR w="12700">
                          <a:miter lim="400000"/>
                        </a:lnR>
                        <a:lnT w="12700">
                          <a:miter lim="400000"/>
                        </a:lnT>
                        <a:lnB w="12700">
                          <a:miter lim="400000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grpSp>
            <p:nvGrpSpPr>
              <p:cNvPr id="111" name="成组"/>
              <p:cNvGrpSpPr/>
              <p:nvPr/>
            </p:nvGrpSpPr>
            <p:grpSpPr>
              <a:xfrm>
                <a:off x="161925" y="1157287"/>
                <a:ext cx="730250" cy="1589088"/>
                <a:chOff x="0" y="0"/>
                <a:chExt cx="730250" cy="1589087"/>
              </a:xfrm>
            </p:grpSpPr>
            <p:sp>
              <p:nvSpPr>
                <p:cNvPr id="109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10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  <p:grpSp>
            <p:nvGrpSpPr>
              <p:cNvPr id="114" name="成组"/>
              <p:cNvGrpSpPr/>
              <p:nvPr/>
            </p:nvGrpSpPr>
            <p:grpSpPr>
              <a:xfrm>
                <a:off x="1252537" y="1157287"/>
                <a:ext cx="730251" cy="1589088"/>
                <a:chOff x="0" y="0"/>
                <a:chExt cx="730250" cy="1589087"/>
              </a:xfrm>
            </p:grpSpPr>
            <p:sp>
              <p:nvSpPr>
                <p:cNvPr id="112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13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  <p:grpSp>
            <p:nvGrpSpPr>
              <p:cNvPr id="117" name="成组"/>
              <p:cNvGrpSpPr/>
              <p:nvPr/>
            </p:nvGrpSpPr>
            <p:grpSpPr>
              <a:xfrm>
                <a:off x="2322512" y="1157287"/>
                <a:ext cx="730251" cy="1589088"/>
                <a:chOff x="0" y="0"/>
                <a:chExt cx="730250" cy="1589087"/>
              </a:xfrm>
            </p:grpSpPr>
            <p:sp>
              <p:nvSpPr>
                <p:cNvPr id="115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16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  <p:grpSp>
            <p:nvGrpSpPr>
              <p:cNvPr id="120" name="成组"/>
              <p:cNvGrpSpPr/>
              <p:nvPr/>
            </p:nvGrpSpPr>
            <p:grpSpPr>
              <a:xfrm>
                <a:off x="3343275" y="1157287"/>
                <a:ext cx="730250" cy="1589088"/>
                <a:chOff x="0" y="0"/>
                <a:chExt cx="730250" cy="1589087"/>
              </a:xfrm>
            </p:grpSpPr>
            <p:sp>
              <p:nvSpPr>
                <p:cNvPr id="118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19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  <p:grpSp>
            <p:nvGrpSpPr>
              <p:cNvPr id="123" name="成组"/>
              <p:cNvGrpSpPr/>
              <p:nvPr/>
            </p:nvGrpSpPr>
            <p:grpSpPr>
              <a:xfrm>
                <a:off x="4424362" y="1157287"/>
                <a:ext cx="730251" cy="1589088"/>
                <a:chOff x="0" y="0"/>
                <a:chExt cx="730250" cy="1589087"/>
              </a:xfrm>
            </p:grpSpPr>
            <p:sp>
              <p:nvSpPr>
                <p:cNvPr id="121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22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  <p:grpSp>
            <p:nvGrpSpPr>
              <p:cNvPr id="126" name="成组"/>
              <p:cNvGrpSpPr/>
              <p:nvPr/>
            </p:nvGrpSpPr>
            <p:grpSpPr>
              <a:xfrm>
                <a:off x="6526212" y="1157287"/>
                <a:ext cx="730251" cy="1589088"/>
                <a:chOff x="0" y="0"/>
                <a:chExt cx="730250" cy="1589087"/>
              </a:xfrm>
            </p:grpSpPr>
            <p:sp>
              <p:nvSpPr>
                <p:cNvPr id="124" name="椭圆形"/>
                <p:cNvSpPr/>
                <p:nvPr/>
              </p:nvSpPr>
              <p:spPr>
                <a:xfrm>
                  <a:off x="0" y="861984"/>
                  <a:ext cx="730250" cy="727104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lnSpc>
                      <a:spcPct val="100000"/>
                    </a:lnSpc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25" name="线条"/>
                <p:cNvSpPr/>
                <p:nvPr/>
              </p:nvSpPr>
              <p:spPr>
                <a:xfrm flipH="1">
                  <a:off x="365124" y="0"/>
                  <a:ext cx="1" cy="81622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</p:grpSp>
        <p:sp>
          <p:nvSpPr>
            <p:cNvPr id="128" name="线条"/>
            <p:cNvSpPr/>
            <p:nvPr/>
          </p:nvSpPr>
          <p:spPr>
            <a:xfrm>
              <a:off x="900430" y="2423490"/>
              <a:ext cx="32861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29" name="线条"/>
            <p:cNvSpPr/>
            <p:nvPr/>
          </p:nvSpPr>
          <p:spPr>
            <a:xfrm>
              <a:off x="2023110" y="2423490"/>
              <a:ext cx="32861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0" name="线条"/>
            <p:cNvSpPr/>
            <p:nvPr/>
          </p:nvSpPr>
          <p:spPr>
            <a:xfrm>
              <a:off x="3069590" y="2423490"/>
              <a:ext cx="32861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1" name="线条"/>
            <p:cNvSpPr/>
            <p:nvPr/>
          </p:nvSpPr>
          <p:spPr>
            <a:xfrm>
              <a:off x="4103370" y="2423490"/>
              <a:ext cx="32861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2" name="线条"/>
            <p:cNvSpPr/>
            <p:nvPr/>
          </p:nvSpPr>
          <p:spPr>
            <a:xfrm>
              <a:off x="6183629" y="2423490"/>
              <a:ext cx="328614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线性表的数据在数组中从左到右，连续存放。"/>
          <p:cNvSpPr txBox="1"/>
          <p:nvPr/>
        </p:nvSpPr>
        <p:spPr>
          <a:xfrm>
            <a:off x="411162" y="1039812"/>
            <a:ext cx="6464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线性表的数据在数组中</a:t>
            </a:r>
            <a:r>
              <a:rPr>
                <a:solidFill>
                  <a:schemeClr val="accent1"/>
                </a:solidFill>
              </a:rPr>
              <a:t>从左到右</a:t>
            </a:r>
            <a:r>
              <a:t>，</a:t>
            </a:r>
            <a:r>
              <a:rPr>
                <a:solidFill>
                  <a:srgbClr val="FF2600"/>
                </a:solidFill>
              </a:rPr>
              <a:t>连续</a:t>
            </a:r>
            <a:r>
              <a:t>存放。</a:t>
            </a:r>
          </a:p>
        </p:txBody>
      </p:sp>
      <p:sp>
        <p:nvSpPr>
          <p:cNvPr id="136" name="数组(顺序)存储"/>
          <p:cNvSpPr txBox="1"/>
          <p:nvPr/>
        </p:nvSpPr>
        <p:spPr>
          <a:xfrm>
            <a:off x="590550" y="-30163"/>
            <a:ext cx="79375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数组(顺序)存储</a:t>
            </a:r>
          </a:p>
        </p:txBody>
      </p:sp>
      <p:grpSp>
        <p:nvGrpSpPr>
          <p:cNvPr id="139" name="成组"/>
          <p:cNvGrpSpPr/>
          <p:nvPr/>
        </p:nvGrpSpPr>
        <p:grpSpPr>
          <a:xfrm>
            <a:off x="279208" y="4074498"/>
            <a:ext cx="8049281" cy="1196552"/>
            <a:chOff x="25400" y="25400"/>
            <a:chExt cx="8049279" cy="1196550"/>
          </a:xfrm>
        </p:grpSpPr>
        <p:graphicFrame>
          <p:nvGraphicFramePr>
            <p:cNvPr id="137" name="表格"/>
            <p:cNvGraphicFramePr/>
            <p:nvPr/>
          </p:nvGraphicFramePr>
          <p:xfrm>
            <a:off x="201527" y="633216"/>
            <a:ext cx="7795447" cy="588734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38" name="表格"/>
            <p:cNvGraphicFramePr/>
            <p:nvPr/>
          </p:nvGraphicFramePr>
          <p:xfrm>
            <a:off x="25400" y="25400"/>
            <a:ext cx="8049279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57" name="成组"/>
          <p:cNvGrpSpPr/>
          <p:nvPr/>
        </p:nvGrpSpPr>
        <p:grpSpPr>
          <a:xfrm>
            <a:off x="279208" y="1695241"/>
            <a:ext cx="8049281" cy="2879451"/>
            <a:chOff x="25400" y="25400"/>
            <a:chExt cx="8049279" cy="2879450"/>
          </a:xfrm>
        </p:grpSpPr>
        <p:graphicFrame>
          <p:nvGraphicFramePr>
            <p:cNvPr id="140" name="表格"/>
            <p:cNvGraphicFramePr/>
            <p:nvPr/>
          </p:nvGraphicFramePr>
          <p:xfrm>
            <a:off x="201527" y="633216"/>
            <a:ext cx="7795447" cy="588735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41" name="表格"/>
            <p:cNvGraphicFramePr/>
            <p:nvPr/>
          </p:nvGraphicFramePr>
          <p:xfrm>
            <a:off x="25400" y="25400"/>
            <a:ext cx="8049279" cy="787400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144" name="成组"/>
            <p:cNvGrpSpPr/>
            <p:nvPr/>
          </p:nvGrpSpPr>
          <p:grpSpPr>
            <a:xfrm>
              <a:off x="450971" y="899143"/>
              <a:ext cx="430370" cy="1002407"/>
              <a:chOff x="0" y="0"/>
              <a:chExt cx="430369" cy="1002406"/>
            </a:xfrm>
          </p:grpSpPr>
          <p:sp>
            <p:nvSpPr>
              <p:cNvPr id="142" name="a0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0</a:t>
                </a:r>
              </a:p>
            </p:txBody>
          </p:sp>
          <p:sp>
            <p:nvSpPr>
              <p:cNvPr id="143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47" name="成组"/>
            <p:cNvGrpSpPr/>
            <p:nvPr/>
          </p:nvGrpSpPr>
          <p:grpSpPr>
            <a:xfrm>
              <a:off x="1426988" y="899143"/>
              <a:ext cx="430370" cy="1002407"/>
              <a:chOff x="0" y="0"/>
              <a:chExt cx="430369" cy="1002406"/>
            </a:xfrm>
          </p:grpSpPr>
          <p:sp>
            <p:nvSpPr>
              <p:cNvPr id="145" name="a1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1</a:t>
                </a:r>
              </a:p>
            </p:txBody>
          </p:sp>
          <p:sp>
            <p:nvSpPr>
              <p:cNvPr id="146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50" name="成组"/>
            <p:cNvGrpSpPr/>
            <p:nvPr/>
          </p:nvGrpSpPr>
          <p:grpSpPr>
            <a:xfrm>
              <a:off x="2367116" y="899143"/>
              <a:ext cx="430371" cy="1002407"/>
              <a:chOff x="0" y="0"/>
              <a:chExt cx="430369" cy="1002406"/>
            </a:xfrm>
          </p:grpSpPr>
          <p:sp>
            <p:nvSpPr>
              <p:cNvPr id="148" name="a2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2</a:t>
                </a:r>
              </a:p>
            </p:txBody>
          </p:sp>
          <p:sp>
            <p:nvSpPr>
              <p:cNvPr id="149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53" name="成组"/>
            <p:cNvGrpSpPr/>
            <p:nvPr/>
          </p:nvGrpSpPr>
          <p:grpSpPr>
            <a:xfrm>
              <a:off x="3239083" y="899143"/>
              <a:ext cx="430370" cy="1002407"/>
              <a:chOff x="0" y="0"/>
              <a:chExt cx="430369" cy="1002406"/>
            </a:xfrm>
          </p:grpSpPr>
          <p:sp>
            <p:nvSpPr>
              <p:cNvPr id="151" name="a3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3</a:t>
                </a:r>
              </a:p>
            </p:txBody>
          </p:sp>
          <p:sp>
            <p:nvSpPr>
              <p:cNvPr id="152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56" name="成组"/>
            <p:cNvGrpSpPr/>
            <p:nvPr/>
          </p:nvGrpSpPr>
          <p:grpSpPr>
            <a:xfrm>
              <a:off x="4719125" y="899143"/>
              <a:ext cx="1270001" cy="2005707"/>
              <a:chOff x="0" y="0"/>
              <a:chExt cx="1270000" cy="2005706"/>
            </a:xfrm>
          </p:grpSpPr>
          <p:sp>
            <p:nvSpPr>
              <p:cNvPr id="154" name="asize-1"/>
              <p:cNvSpPr/>
              <p:nvPr/>
            </p:nvSpPr>
            <p:spPr>
              <a:xfrm>
                <a:off x="0" y="735706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size-1</a:t>
                </a:r>
              </a:p>
            </p:txBody>
          </p:sp>
          <p:sp>
            <p:nvSpPr>
              <p:cNvPr id="155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sp>
        <p:nvSpPr>
          <p:cNvPr id="158" name="简单画法"/>
          <p:cNvSpPr txBox="1"/>
          <p:nvPr/>
        </p:nvSpPr>
        <p:spPr>
          <a:xfrm>
            <a:off x="436562" y="5503820"/>
            <a:ext cx="1384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简单画法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ublic class CArrayList&lt;T&gt; implements Ilist&lt;T&gt;,…"/>
          <p:cNvSpPr txBox="1"/>
          <p:nvPr/>
        </p:nvSpPr>
        <p:spPr>
          <a:xfrm>
            <a:off x="217414" y="849956"/>
            <a:ext cx="8709171" cy="3268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CArrayList&lt;T&gt;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Ilist&lt;T&gt;, 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Iterable&lt;T&gt;, RandomAccess, Cloneable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存储数据的数组</a:t>
            </a: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已经存储的数据的个数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CArrayList(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空表</a:t>
            </a:r>
          </a:p>
          <a:p>
            <a:pPr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size = 0;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61" name="数组(顺序)表CArrayList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数组(顺序)表CArrayList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ArrayList&lt;Integer&gt; sl = new CArrayList&lt;&gt;(6);"/>
          <p:cNvSpPr txBox="1"/>
          <p:nvPr/>
        </p:nvSpPr>
        <p:spPr>
          <a:xfrm>
            <a:off x="1004887" y="1019460"/>
            <a:ext cx="6973417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CArrayList&lt;Integer&gt; </a:t>
            </a:r>
            <a:r>
              <a:rPr>
                <a:solidFill>
                  <a:srgbClr val="7E504F"/>
                </a:solidFill>
              </a:rPr>
              <a:t>sl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CArrayList&lt;&gt;(6);</a:t>
            </a:r>
          </a:p>
        </p:txBody>
      </p:sp>
      <p:sp>
        <p:nvSpPr>
          <p:cNvPr id="164" name="数组(顺序)表CArrayList"/>
          <p:cNvSpPr txBox="1"/>
          <p:nvPr/>
        </p:nvSpPr>
        <p:spPr>
          <a:xfrm>
            <a:off x="590550" y="-63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数组(顺序)表CArrayList</a:t>
            </a:r>
          </a:p>
        </p:txBody>
      </p:sp>
      <p:grpSp>
        <p:nvGrpSpPr>
          <p:cNvPr id="182" name="成组"/>
          <p:cNvGrpSpPr/>
          <p:nvPr/>
        </p:nvGrpSpPr>
        <p:grpSpPr>
          <a:xfrm>
            <a:off x="422275" y="1976292"/>
            <a:ext cx="8278426" cy="3049396"/>
            <a:chOff x="0" y="0"/>
            <a:chExt cx="8278425" cy="3049395"/>
          </a:xfrm>
        </p:grpSpPr>
        <p:sp>
          <p:nvSpPr>
            <p:cNvPr id="165" name="矩形"/>
            <p:cNvSpPr/>
            <p:nvPr/>
          </p:nvSpPr>
          <p:spPr>
            <a:xfrm>
              <a:off x="4895778" y="0"/>
              <a:ext cx="3382648" cy="206578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174" name="成组"/>
            <p:cNvGrpSpPr/>
            <p:nvPr/>
          </p:nvGrpSpPr>
          <p:grpSpPr>
            <a:xfrm>
              <a:off x="0" y="356995"/>
              <a:ext cx="4903297" cy="2692401"/>
              <a:chOff x="0" y="0"/>
              <a:chExt cx="4903296" cy="2692399"/>
            </a:xfrm>
          </p:grpSpPr>
          <p:sp>
            <p:nvSpPr>
              <p:cNvPr id="166" name="矩形"/>
              <p:cNvSpPr/>
              <p:nvPr/>
            </p:nvSpPr>
            <p:spPr>
              <a:xfrm>
                <a:off x="0" y="0"/>
                <a:ext cx="3744070" cy="26924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dash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grpSp>
            <p:nvGrpSpPr>
              <p:cNvPr id="169" name="成组"/>
              <p:cNvGrpSpPr/>
              <p:nvPr/>
            </p:nvGrpSpPr>
            <p:grpSpPr>
              <a:xfrm>
                <a:off x="790730" y="452661"/>
                <a:ext cx="2126088" cy="505077"/>
                <a:chOff x="0" y="0"/>
                <a:chExt cx="2126086" cy="505075"/>
              </a:xfrm>
            </p:grpSpPr>
            <p:sp>
              <p:nvSpPr>
                <p:cNvPr id="167" name="矩形"/>
                <p:cNvSpPr/>
                <p:nvPr/>
              </p:nvSpPr>
              <p:spPr>
                <a:xfrm>
                  <a:off x="0" y="0"/>
                  <a:ext cx="2126087" cy="5050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/>
                  </a:pPr>
                  <a:endParaRPr/>
                </a:p>
              </p:txBody>
            </p:sp>
            <p:sp>
              <p:nvSpPr>
                <p:cNvPr id="168" name="Object[] listElem"/>
                <p:cNvSpPr/>
                <p:nvPr/>
              </p:nvSpPr>
              <p:spPr>
                <a:xfrm>
                  <a:off x="0" y="252537"/>
                  <a:ext cx="2126087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indent="39687" defTabSz="914400">
                    <a:lnSpc>
                      <a:spcPct val="100000"/>
                    </a:lnSpc>
                    <a:spcBef>
                      <a:spcPts val="1300"/>
                    </a:spcBef>
                    <a:defRPr sz="2000" b="1">
                      <a:solidFill>
                        <a:srgbClr val="C82506"/>
                      </a:solidFill>
                    </a:defRPr>
                  </a:pPr>
                  <a:r>
                    <a:t>Object[]</a:t>
                  </a:r>
                  <a:r>
                    <a:rPr>
                      <a:solidFill>
                        <a:srgbClr val="000000"/>
                      </a:solidFill>
                    </a:rPr>
                    <a:t> listElem</a:t>
                  </a:r>
                </a:p>
              </p:txBody>
            </p:sp>
          </p:grpSp>
          <p:grpSp>
            <p:nvGrpSpPr>
              <p:cNvPr id="172" name="成组"/>
              <p:cNvGrpSpPr/>
              <p:nvPr/>
            </p:nvGrpSpPr>
            <p:grpSpPr>
              <a:xfrm>
                <a:off x="790730" y="1564461"/>
                <a:ext cx="2126088" cy="505077"/>
                <a:chOff x="0" y="7812"/>
                <a:chExt cx="2126086" cy="505075"/>
              </a:xfrm>
            </p:grpSpPr>
            <p:sp>
              <p:nvSpPr>
                <p:cNvPr id="170" name="矩形"/>
                <p:cNvSpPr/>
                <p:nvPr/>
              </p:nvSpPr>
              <p:spPr>
                <a:xfrm>
                  <a:off x="0" y="7812"/>
                  <a:ext cx="2126087" cy="5050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/>
                  </a:pPr>
                  <a:endParaRPr/>
                </a:p>
              </p:txBody>
            </p:sp>
            <p:sp>
              <p:nvSpPr>
                <p:cNvPr id="171" name="int size：0"/>
                <p:cNvSpPr/>
                <p:nvPr/>
              </p:nvSpPr>
              <p:spPr>
                <a:xfrm>
                  <a:off x="0" y="260349"/>
                  <a:ext cx="2126087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indent="39687"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>
                      <a:solidFill>
                        <a:srgbClr val="C82506"/>
                      </a:solidFill>
                    </a:defRPr>
                  </a:pPr>
                  <a:r>
                    <a:t>int</a:t>
                  </a:r>
                  <a:r>
                    <a:rPr>
                      <a:solidFill>
                        <a:srgbClr val="000000"/>
                      </a:solidFill>
                    </a:rPr>
                    <a:t> size：0</a:t>
                  </a:r>
                </a:p>
              </p:txBody>
            </p:sp>
          </p:grpSp>
          <p:sp>
            <p:nvSpPr>
              <p:cNvPr id="173" name="线条"/>
              <p:cNvSpPr/>
              <p:nvPr/>
            </p:nvSpPr>
            <p:spPr>
              <a:xfrm>
                <a:off x="2773524" y="708356"/>
                <a:ext cx="2129773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175" name="矩形"/>
            <p:cNvSpPr/>
            <p:nvPr/>
          </p:nvSpPr>
          <p:spPr>
            <a:xfrm>
              <a:off x="5263115" y="188451"/>
              <a:ext cx="824279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76" name="length"/>
            <p:cNvSpPr txBox="1"/>
            <p:nvPr/>
          </p:nvSpPr>
          <p:spPr>
            <a:xfrm>
              <a:off x="5255074" y="677560"/>
              <a:ext cx="875080" cy="444501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length</a:t>
              </a:r>
            </a:p>
          </p:txBody>
        </p:sp>
        <p:sp>
          <p:nvSpPr>
            <p:cNvPr id="177" name="6"/>
            <p:cNvSpPr/>
            <p:nvPr/>
          </p:nvSpPr>
          <p:spPr>
            <a:xfrm>
              <a:off x="6183331" y="714072"/>
              <a:ext cx="509117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178" name="..."/>
            <p:cNvSpPr/>
            <p:nvPr/>
          </p:nvSpPr>
          <p:spPr>
            <a:xfrm>
              <a:off x="6075915" y="188451"/>
              <a:ext cx="824280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...</a:t>
              </a:r>
            </a:p>
          </p:txBody>
        </p:sp>
        <p:sp>
          <p:nvSpPr>
            <p:cNvPr id="179" name="矩形"/>
            <p:cNvSpPr/>
            <p:nvPr/>
          </p:nvSpPr>
          <p:spPr>
            <a:xfrm>
              <a:off x="6879987" y="188451"/>
              <a:ext cx="824280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80" name="componentType"/>
            <p:cNvSpPr txBox="1"/>
            <p:nvPr/>
          </p:nvSpPr>
          <p:spPr>
            <a:xfrm>
              <a:off x="5162203" y="1274391"/>
              <a:ext cx="1622228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defRPr sz="17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componentType</a:t>
              </a:r>
            </a:p>
          </p:txBody>
        </p:sp>
        <p:sp>
          <p:nvSpPr>
            <p:cNvPr id="181" name="Object"/>
            <p:cNvSpPr/>
            <p:nvPr/>
          </p:nvSpPr>
          <p:spPr>
            <a:xfrm>
              <a:off x="6813600" y="1239692"/>
              <a:ext cx="1260204" cy="449264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solidFill>
                    <a:srgbClr val="C82506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Object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ArrayList&lt;Integer&gt; sl = new CArrayList&lt;&gt;(6);"/>
          <p:cNvSpPr txBox="1"/>
          <p:nvPr/>
        </p:nvSpPr>
        <p:spPr>
          <a:xfrm>
            <a:off x="1004887" y="1019460"/>
            <a:ext cx="6973417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CArrayList&lt;Integer&gt; </a:t>
            </a:r>
            <a:r>
              <a:rPr>
                <a:solidFill>
                  <a:srgbClr val="7E504F"/>
                </a:solidFill>
              </a:rPr>
              <a:t>sl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CArrayList&lt;&gt;(6);</a:t>
            </a:r>
          </a:p>
        </p:txBody>
      </p:sp>
      <p:sp>
        <p:nvSpPr>
          <p:cNvPr id="185" name="CArrayList的对象"/>
          <p:cNvSpPr txBox="1"/>
          <p:nvPr/>
        </p:nvSpPr>
        <p:spPr>
          <a:xfrm>
            <a:off x="590550" y="-63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CArrayList的对象</a:t>
            </a:r>
          </a:p>
        </p:txBody>
      </p:sp>
      <p:grpSp>
        <p:nvGrpSpPr>
          <p:cNvPr id="202" name="成组"/>
          <p:cNvGrpSpPr/>
          <p:nvPr/>
        </p:nvGrpSpPr>
        <p:grpSpPr>
          <a:xfrm>
            <a:off x="638174" y="1977688"/>
            <a:ext cx="7994651" cy="2692400"/>
            <a:chOff x="0" y="0"/>
            <a:chExt cx="7994649" cy="2692399"/>
          </a:xfrm>
        </p:grpSpPr>
        <p:sp>
          <p:nvSpPr>
            <p:cNvPr id="186" name="矩形"/>
            <p:cNvSpPr/>
            <p:nvPr/>
          </p:nvSpPr>
          <p:spPr>
            <a:xfrm>
              <a:off x="0" y="0"/>
              <a:ext cx="3744070" cy="26924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grpSp>
          <p:nvGrpSpPr>
            <p:cNvPr id="193" name="成组"/>
            <p:cNvGrpSpPr/>
            <p:nvPr/>
          </p:nvGrpSpPr>
          <p:grpSpPr>
            <a:xfrm>
              <a:off x="4104503" y="1389750"/>
              <a:ext cx="3890147" cy="613080"/>
              <a:chOff x="1" y="0"/>
              <a:chExt cx="3890146" cy="613079"/>
            </a:xfrm>
          </p:grpSpPr>
          <p:sp>
            <p:nvSpPr>
              <p:cNvPr id="187" name="成组"/>
              <p:cNvSpPr/>
              <p:nvPr/>
            </p:nvSpPr>
            <p:spPr>
              <a:xfrm>
                <a:off x="1" y="0"/>
                <a:ext cx="3890147" cy="61307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188" name="线条"/>
              <p:cNvSpPr/>
              <p:nvPr/>
            </p:nvSpPr>
            <p:spPr>
              <a:xfrm flipV="1">
                <a:off x="638301" y="-1"/>
                <a:ext cx="1592" cy="61308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9" name="线条"/>
              <p:cNvSpPr/>
              <p:nvPr/>
            </p:nvSpPr>
            <p:spPr>
              <a:xfrm flipV="1">
                <a:off x="1311536" y="-1"/>
                <a:ext cx="1590" cy="61308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0" name="线条"/>
              <p:cNvSpPr/>
              <p:nvPr/>
            </p:nvSpPr>
            <p:spPr>
              <a:xfrm flipV="1">
                <a:off x="1984769" y="-1"/>
                <a:ext cx="1591" cy="61308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1" name="线条"/>
              <p:cNvSpPr/>
              <p:nvPr/>
            </p:nvSpPr>
            <p:spPr>
              <a:xfrm flipV="1">
                <a:off x="2654827" y="-1"/>
                <a:ext cx="1590" cy="61308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2" name="线条"/>
              <p:cNvSpPr/>
              <p:nvPr/>
            </p:nvSpPr>
            <p:spPr>
              <a:xfrm flipV="1">
                <a:off x="3294715" y="-1"/>
                <a:ext cx="1591" cy="61308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96" name="成组"/>
            <p:cNvGrpSpPr/>
            <p:nvPr/>
          </p:nvGrpSpPr>
          <p:grpSpPr>
            <a:xfrm>
              <a:off x="790730" y="452661"/>
              <a:ext cx="2126088" cy="505077"/>
              <a:chOff x="0" y="0"/>
              <a:chExt cx="2126086" cy="505075"/>
            </a:xfrm>
          </p:grpSpPr>
          <p:sp>
            <p:nvSpPr>
              <p:cNvPr id="194" name="矩形"/>
              <p:cNvSpPr/>
              <p:nvPr/>
            </p:nvSpPr>
            <p:spPr>
              <a:xfrm>
                <a:off x="0" y="0"/>
                <a:ext cx="2126087" cy="5050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195" name="Object[] listElem"/>
              <p:cNvSpPr txBox="1"/>
              <p:nvPr/>
            </p:nvSpPr>
            <p:spPr>
              <a:xfrm>
                <a:off x="0" y="61082"/>
                <a:ext cx="212608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000" b="1">
                    <a:solidFill>
                      <a:srgbClr val="C82506"/>
                    </a:solidFill>
                  </a:defRPr>
                </a:pPr>
                <a:r>
                  <a:t>Object[]</a:t>
                </a:r>
                <a:r>
                  <a:rPr>
                    <a:solidFill>
                      <a:srgbClr val="000000"/>
                    </a:solidFill>
                  </a:rPr>
                  <a:t> listElem</a:t>
                </a:r>
              </a:p>
            </p:txBody>
          </p:sp>
        </p:grpSp>
        <p:grpSp>
          <p:nvGrpSpPr>
            <p:cNvPr id="199" name="成组"/>
            <p:cNvGrpSpPr/>
            <p:nvPr/>
          </p:nvGrpSpPr>
          <p:grpSpPr>
            <a:xfrm>
              <a:off x="790730" y="1564461"/>
              <a:ext cx="2126088" cy="505077"/>
              <a:chOff x="0" y="7812"/>
              <a:chExt cx="2126086" cy="505075"/>
            </a:xfrm>
          </p:grpSpPr>
          <p:sp>
            <p:nvSpPr>
              <p:cNvPr id="197" name="矩形"/>
              <p:cNvSpPr/>
              <p:nvPr/>
            </p:nvSpPr>
            <p:spPr>
              <a:xfrm>
                <a:off x="0" y="7812"/>
                <a:ext cx="2126087" cy="5050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198" name="int size：0"/>
              <p:cNvSpPr/>
              <p:nvPr/>
            </p:nvSpPr>
            <p:spPr>
              <a:xfrm>
                <a:off x="0" y="260349"/>
                <a:ext cx="2126087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>
                    <a:solidFill>
                      <a:srgbClr val="C82506"/>
                    </a:solidFill>
                  </a:defRPr>
                </a:pPr>
                <a:r>
                  <a:t>int</a:t>
                </a:r>
                <a:r>
                  <a:rPr>
                    <a:solidFill>
                      <a:srgbClr val="000000"/>
                    </a:solidFill>
                  </a:rPr>
                  <a:t> size：0</a:t>
                </a:r>
              </a:p>
            </p:txBody>
          </p:sp>
        </p:grpSp>
        <p:sp>
          <p:nvSpPr>
            <p:cNvPr id="200" name="线条"/>
            <p:cNvSpPr/>
            <p:nvPr/>
          </p:nvSpPr>
          <p:spPr>
            <a:xfrm>
              <a:off x="2915294" y="682956"/>
              <a:ext cx="1489305" cy="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01" name="线条"/>
            <p:cNvSpPr/>
            <p:nvPr/>
          </p:nvSpPr>
          <p:spPr>
            <a:xfrm>
              <a:off x="4391895" y="668668"/>
              <a:ext cx="1590" cy="72108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索引号的合法性检查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索引号的合法性检查</a:t>
            </a:r>
          </a:p>
        </p:txBody>
      </p:sp>
      <p:sp>
        <p:nvSpPr>
          <p:cNvPr id="205" name="private void rangeCheckForAdd(int index) {// add用…"/>
          <p:cNvSpPr txBox="1"/>
          <p:nvPr/>
        </p:nvSpPr>
        <p:spPr>
          <a:xfrm>
            <a:off x="174108" y="1973615"/>
            <a:ext cx="8680351" cy="2544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rangeCheckForAdd(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add用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&lt; 0 ||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&gt;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)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IndexOutOfBoundsException(String.valueOf(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));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rangeCheck(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其它函数用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&lt; 0 ||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&gt;=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)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IndexOutOfBoundsException(String.valueOf(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));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08" name="成组"/>
          <p:cNvGrpSpPr/>
          <p:nvPr/>
        </p:nvGrpSpPr>
        <p:grpSpPr>
          <a:xfrm>
            <a:off x="529431" y="651316"/>
            <a:ext cx="8049281" cy="1196552"/>
            <a:chOff x="25400" y="25400"/>
            <a:chExt cx="8049280" cy="1196550"/>
          </a:xfrm>
        </p:grpSpPr>
        <p:graphicFrame>
          <p:nvGraphicFramePr>
            <p:cNvPr id="206" name="表格"/>
            <p:cNvGraphicFramePr/>
            <p:nvPr/>
          </p:nvGraphicFramePr>
          <p:xfrm>
            <a:off x="201527" y="633216"/>
            <a:ext cx="7795448" cy="588734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07" name="表格"/>
            <p:cNvGraphicFramePr/>
            <p:nvPr/>
          </p:nvGraphicFramePr>
          <p:xfrm>
            <a:off x="25400" y="25400"/>
            <a:ext cx="8049280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ublic boolean isEmpty() {…"/>
          <p:cNvSpPr txBox="1"/>
          <p:nvPr/>
        </p:nvSpPr>
        <p:spPr>
          <a:xfrm>
            <a:off x="753186" y="976312"/>
            <a:ext cx="4336393" cy="272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isEmpty() {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== 0;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 {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11" name="操作的实现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操作的实现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 get(int index)"/>
          <p:cNvSpPr txBox="1"/>
          <p:nvPr/>
        </p:nvSpPr>
        <p:spPr>
          <a:xfrm>
            <a:off x="590550" y="-17463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T get(int index)</a:t>
            </a:r>
          </a:p>
        </p:txBody>
      </p:sp>
      <p:sp>
        <p:nvSpPr>
          <p:cNvPr id="214" name="@SuppressWarnings(&quot;unchecked&quot;)…"/>
          <p:cNvSpPr txBox="1"/>
          <p:nvPr/>
        </p:nvSpPr>
        <p:spPr>
          <a:xfrm>
            <a:off x="1238250" y="865742"/>
            <a:ext cx="6287431" cy="2170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get(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</a:p>
          <a:p>
            <a:pPr>
              <a:lnSpc>
                <a:spcPct val="100000"/>
              </a:lnSpc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lnSpc>
                <a:spcPct val="100000"/>
              </a:lnSpc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(T)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>
              <a:lnSpc>
                <a:spcPct val="100000"/>
              </a:lnSpc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17" name="成组"/>
          <p:cNvGrpSpPr/>
          <p:nvPr/>
        </p:nvGrpSpPr>
        <p:grpSpPr>
          <a:xfrm>
            <a:off x="345281" y="3745303"/>
            <a:ext cx="8049281" cy="1196552"/>
            <a:chOff x="25400" y="25400"/>
            <a:chExt cx="8049280" cy="1196550"/>
          </a:xfrm>
        </p:grpSpPr>
        <p:graphicFrame>
          <p:nvGraphicFramePr>
            <p:cNvPr id="215" name="表格"/>
            <p:cNvGraphicFramePr/>
            <p:nvPr/>
          </p:nvGraphicFramePr>
          <p:xfrm>
            <a:off x="201527" y="633216"/>
            <a:ext cx="7795448" cy="588734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16" name="表格"/>
            <p:cNvGraphicFramePr/>
            <p:nvPr/>
          </p:nvGraphicFramePr>
          <p:xfrm>
            <a:off x="25400" y="25400"/>
            <a:ext cx="8049280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 set(int index, T x)"/>
          <p:cNvSpPr txBox="1"/>
          <p:nvPr/>
        </p:nvSpPr>
        <p:spPr>
          <a:xfrm>
            <a:off x="590550" y="-17463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T set(int index, T x)</a:t>
            </a:r>
          </a:p>
        </p:txBody>
      </p:sp>
      <p:sp>
        <p:nvSpPr>
          <p:cNvPr id="220" name="@SuppressWarnings(&quot;unchecked&quot;)…"/>
          <p:cNvSpPr txBox="1"/>
          <p:nvPr/>
        </p:nvSpPr>
        <p:spPr>
          <a:xfrm>
            <a:off x="324701" y="747712"/>
            <a:ext cx="6630312" cy="33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1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set(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Objects.checkIndex(index, size);</a:t>
            </a:r>
          </a:p>
          <a:p>
            <a:pPr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// 同下面的rangeCheck同样的作用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OldValue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t>index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OldValue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23" name="成组"/>
          <p:cNvGrpSpPr/>
          <p:nvPr/>
        </p:nvGrpSpPr>
        <p:grpSpPr>
          <a:xfrm>
            <a:off x="465931" y="3944164"/>
            <a:ext cx="8049281" cy="1196552"/>
            <a:chOff x="25400" y="25400"/>
            <a:chExt cx="8049280" cy="1196550"/>
          </a:xfrm>
        </p:grpSpPr>
        <p:graphicFrame>
          <p:nvGraphicFramePr>
            <p:cNvPr id="221" name="表格"/>
            <p:cNvGraphicFramePr/>
            <p:nvPr/>
          </p:nvGraphicFramePr>
          <p:xfrm>
            <a:off x="201527" y="633216"/>
            <a:ext cx="7795448" cy="588734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22" name="表格"/>
            <p:cNvGraphicFramePr/>
            <p:nvPr/>
          </p:nvGraphicFramePr>
          <p:xfrm>
            <a:off x="25400" y="25400"/>
            <a:ext cx="8049280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1BC8C22C-A9F7-6554-A389-59943BAC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40" y="1702449"/>
            <a:ext cx="1971950" cy="485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void add(int index, T x)"/>
          <p:cNvSpPr txBox="1"/>
          <p:nvPr/>
        </p:nvSpPr>
        <p:spPr>
          <a:xfrm>
            <a:off x="723900" y="1587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void add(int index, T x)</a:t>
            </a:r>
          </a:p>
        </p:txBody>
      </p:sp>
      <p:sp>
        <p:nvSpPr>
          <p:cNvPr id="226" name="功能：增加一个数据x，它的索引号是index。…"/>
          <p:cNvSpPr txBox="1"/>
          <p:nvPr/>
        </p:nvSpPr>
        <p:spPr>
          <a:xfrm>
            <a:off x="823912" y="868936"/>
            <a:ext cx="7416801" cy="158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功能：增加一个数据x，它的索引号是index。</a:t>
            </a:r>
          </a:p>
          <a:p>
            <a:r>
              <a:t>这个操作会造成</a:t>
            </a:r>
            <a:r>
              <a:rPr>
                <a:solidFill>
                  <a:srgbClr val="FF2600"/>
                </a:solidFill>
              </a:rPr>
              <a:t>结构</a:t>
            </a:r>
            <a:r>
              <a:t>改变，即某些数据的先驱和后继</a:t>
            </a:r>
          </a:p>
          <a:p>
            <a:r>
              <a:t>发生了变化</a:t>
            </a:r>
          </a:p>
        </p:txBody>
      </p:sp>
      <p:sp>
        <p:nvSpPr>
          <p:cNvPr id="227" name="(a0, a1, ..., aindex - 1, aindex, aindex + 1, ...)"/>
          <p:cNvSpPr txBox="1"/>
          <p:nvPr/>
        </p:nvSpPr>
        <p:spPr>
          <a:xfrm>
            <a:off x="1660065" y="2414617"/>
            <a:ext cx="4690512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(a</a:t>
            </a:r>
            <a:r>
              <a:rPr sz="2400" baseline="-5999"/>
              <a:t>0</a:t>
            </a:r>
            <a:r>
              <a:t>, a</a:t>
            </a:r>
            <a:r>
              <a:rPr baseline="-5999"/>
              <a:t>1</a:t>
            </a:r>
            <a:r>
              <a:t>, ...,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- 1</a:t>
            </a:r>
            <a:r>
              <a:t>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</a:t>
            </a:r>
            <a:r>
              <a:t>, a</a:t>
            </a:r>
            <a:r>
              <a:rPr baseline="-5999"/>
              <a:t>index + 1</a:t>
            </a:r>
            <a:r>
              <a:t>, ...)</a:t>
            </a:r>
          </a:p>
        </p:txBody>
      </p:sp>
      <p:sp>
        <p:nvSpPr>
          <p:cNvPr id="228" name="(a0, a1, ..., aindex - 1, xindex, aindex+1, aindex + 2, ...)"/>
          <p:cNvSpPr txBox="1"/>
          <p:nvPr/>
        </p:nvSpPr>
        <p:spPr>
          <a:xfrm>
            <a:off x="1634665" y="3900626"/>
            <a:ext cx="5703474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(a</a:t>
            </a:r>
            <a:r>
              <a:rPr sz="2400" baseline="-5999"/>
              <a:t>0</a:t>
            </a:r>
            <a:r>
              <a:t>, a</a:t>
            </a:r>
            <a:r>
              <a:rPr baseline="-5999"/>
              <a:t>1</a:t>
            </a:r>
            <a:r>
              <a:t>, ...,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- 1</a:t>
            </a:r>
            <a:r>
              <a:t>, x</a:t>
            </a:r>
            <a:r>
              <a:rPr baseline="-5999">
                <a:solidFill>
                  <a:srgbClr val="FF2600"/>
                </a:solidFill>
              </a:rPr>
              <a:t>index</a:t>
            </a:r>
            <a:r>
              <a:t>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index+1</a:t>
            </a:r>
            <a:r>
              <a:t>, a</a:t>
            </a:r>
            <a:r>
              <a:rPr baseline="-5999"/>
              <a:t>index + 2</a:t>
            </a:r>
            <a:r>
              <a:t>, ...)</a:t>
            </a:r>
          </a:p>
        </p:txBody>
      </p:sp>
      <p:sp>
        <p:nvSpPr>
          <p:cNvPr id="229" name="线条"/>
          <p:cNvSpPr/>
          <p:nvPr/>
        </p:nvSpPr>
        <p:spPr>
          <a:xfrm>
            <a:off x="3872764" y="2942469"/>
            <a:ext cx="1" cy="973062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0" name="线条"/>
          <p:cNvSpPr/>
          <p:nvPr/>
        </p:nvSpPr>
        <p:spPr>
          <a:xfrm>
            <a:off x="4462101" y="2800760"/>
            <a:ext cx="744899" cy="1263241"/>
          </a:xfrm>
          <a:prstGeom prst="line">
            <a:avLst/>
          </a:prstGeom>
          <a:ln w="25400">
            <a:solidFill>
              <a:srgbClr val="941751"/>
            </a:solidFill>
            <a:custDash>
              <a:ds d="200000" sp="200000"/>
            </a:custDash>
            <a:miter lim="400000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1" name="线条"/>
          <p:cNvSpPr/>
          <p:nvPr/>
        </p:nvSpPr>
        <p:spPr>
          <a:xfrm>
            <a:off x="5246145" y="2808418"/>
            <a:ext cx="744900" cy="1263241"/>
          </a:xfrm>
          <a:prstGeom prst="line">
            <a:avLst/>
          </a:prstGeom>
          <a:ln w="25400">
            <a:solidFill>
              <a:srgbClr val="941751"/>
            </a:solidFill>
            <a:custDash>
              <a:ds d="200000" sp="200000"/>
            </a:custDash>
            <a:miter lim="400000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2" name="线条"/>
          <p:cNvSpPr/>
          <p:nvPr/>
        </p:nvSpPr>
        <p:spPr>
          <a:xfrm flipH="1">
            <a:off x="1897505" y="2799998"/>
            <a:ext cx="1" cy="1263660"/>
          </a:xfrm>
          <a:prstGeom prst="line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233" name="线条"/>
          <p:cNvSpPr/>
          <p:nvPr/>
        </p:nvSpPr>
        <p:spPr>
          <a:xfrm>
            <a:off x="3258808" y="2814668"/>
            <a:ext cx="1" cy="1263660"/>
          </a:xfrm>
          <a:prstGeom prst="line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成组"/>
          <p:cNvGrpSpPr/>
          <p:nvPr/>
        </p:nvGrpSpPr>
        <p:grpSpPr>
          <a:xfrm>
            <a:off x="1105017" y="3567432"/>
            <a:ext cx="6553201" cy="612776"/>
            <a:chOff x="0" y="0"/>
            <a:chExt cx="6553200" cy="612775"/>
          </a:xfrm>
        </p:grpSpPr>
        <p:grpSp>
          <p:nvGrpSpPr>
            <p:cNvPr id="237" name="成组"/>
            <p:cNvGrpSpPr/>
            <p:nvPr/>
          </p:nvGrpSpPr>
          <p:grpSpPr>
            <a:xfrm>
              <a:off x="0" y="0"/>
              <a:ext cx="6553200" cy="612775"/>
              <a:chOff x="0" y="0"/>
              <a:chExt cx="6553200" cy="612775"/>
            </a:xfrm>
          </p:grpSpPr>
          <p:sp>
            <p:nvSpPr>
              <p:cNvPr id="235" name="矩形"/>
              <p:cNvSpPr/>
              <p:nvPr/>
            </p:nvSpPr>
            <p:spPr>
              <a:xfrm>
                <a:off x="0" y="0"/>
                <a:ext cx="6553200" cy="61277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236" name="a0          a1        e         a2         a3        a4        a5"/>
              <p:cNvSpPr txBox="1"/>
              <p:nvPr/>
            </p:nvSpPr>
            <p:spPr>
              <a:xfrm>
                <a:off x="0" y="61655"/>
                <a:ext cx="4454873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0          </a:t>
                </a:r>
                <a:r>
                  <a:t>a</a:t>
                </a:r>
                <a:r>
                  <a:rPr baseline="-25000"/>
                  <a:t>1        </a:t>
                </a:r>
                <a:r>
                  <a:t>e</a:t>
                </a:r>
                <a:r>
                  <a:rPr baseline="-25000"/>
                  <a:t>         </a:t>
                </a:r>
                <a:r>
                  <a:t>a</a:t>
                </a:r>
                <a:r>
                  <a:rPr baseline="-25000"/>
                  <a:t>2         </a:t>
                </a:r>
                <a:r>
                  <a:t>a</a:t>
                </a:r>
                <a:r>
                  <a:rPr baseline="-25000"/>
                  <a:t>3        </a:t>
                </a:r>
                <a:r>
                  <a:t>a</a:t>
                </a:r>
                <a:r>
                  <a:rPr baseline="-25000"/>
                  <a:t>4        </a:t>
                </a:r>
                <a:r>
                  <a:t>a</a:t>
                </a:r>
                <a:r>
                  <a:rPr baseline="-25000"/>
                  <a:t>5</a:t>
                </a:r>
              </a:p>
            </p:txBody>
          </p:sp>
        </p:grpSp>
        <p:sp>
          <p:nvSpPr>
            <p:cNvPr id="238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39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0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1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2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3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4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5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46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260" name="成组"/>
          <p:cNvGrpSpPr/>
          <p:nvPr/>
        </p:nvGrpSpPr>
        <p:grpSpPr>
          <a:xfrm>
            <a:off x="1105017" y="2294257"/>
            <a:ext cx="6553201" cy="612776"/>
            <a:chOff x="0" y="0"/>
            <a:chExt cx="6553200" cy="612775"/>
          </a:xfrm>
        </p:grpSpPr>
        <p:grpSp>
          <p:nvGrpSpPr>
            <p:cNvPr id="250" name="成组"/>
            <p:cNvGrpSpPr/>
            <p:nvPr/>
          </p:nvGrpSpPr>
          <p:grpSpPr>
            <a:xfrm>
              <a:off x="0" y="0"/>
              <a:ext cx="6553200" cy="612775"/>
              <a:chOff x="0" y="0"/>
              <a:chExt cx="6553200" cy="612775"/>
            </a:xfrm>
          </p:grpSpPr>
          <p:sp>
            <p:nvSpPr>
              <p:cNvPr id="248" name="矩形"/>
              <p:cNvSpPr/>
              <p:nvPr/>
            </p:nvSpPr>
            <p:spPr>
              <a:xfrm>
                <a:off x="0" y="0"/>
                <a:ext cx="6553200" cy="61277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249" name="a0          a1         a2       a3        a4       a5"/>
              <p:cNvSpPr txBox="1"/>
              <p:nvPr/>
            </p:nvSpPr>
            <p:spPr>
              <a:xfrm>
                <a:off x="0" y="61655"/>
                <a:ext cx="4065588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0          </a:t>
                </a:r>
                <a:r>
                  <a:t>a</a:t>
                </a:r>
                <a:r>
                  <a:rPr baseline="-25000"/>
                  <a:t>1         </a:t>
                </a:r>
                <a:r>
                  <a:t>a</a:t>
                </a:r>
                <a:r>
                  <a:rPr baseline="-25000"/>
                  <a:t>2       </a:t>
                </a:r>
                <a:r>
                  <a:t>a</a:t>
                </a:r>
                <a:r>
                  <a:rPr baseline="-25000"/>
                  <a:t>3        </a:t>
                </a:r>
                <a:r>
                  <a:t>a</a:t>
                </a:r>
                <a:r>
                  <a:rPr baseline="-25000"/>
                  <a:t>4       </a:t>
                </a:r>
                <a:r>
                  <a:t>a</a:t>
                </a:r>
                <a:r>
                  <a:rPr baseline="-25000"/>
                  <a:t>5      </a:t>
                </a:r>
              </a:p>
            </p:txBody>
          </p:sp>
        </p:grpSp>
        <p:sp>
          <p:nvSpPr>
            <p:cNvPr id="251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2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3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4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5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6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7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8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59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261" name="在位置2插入新元素e"/>
          <p:cNvSpPr txBox="1"/>
          <p:nvPr/>
        </p:nvSpPr>
        <p:spPr>
          <a:xfrm>
            <a:off x="1062154" y="1597344"/>
            <a:ext cx="306756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t>在位置2插入新元素e</a:t>
            </a:r>
          </a:p>
        </p:txBody>
      </p:sp>
      <p:sp>
        <p:nvSpPr>
          <p:cNvPr id="262" name="0"/>
          <p:cNvSpPr txBox="1"/>
          <p:nvPr/>
        </p:nvSpPr>
        <p:spPr>
          <a:xfrm>
            <a:off x="1224079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0</a:t>
            </a:r>
          </a:p>
        </p:txBody>
      </p:sp>
      <p:sp>
        <p:nvSpPr>
          <p:cNvPr id="263" name="1"/>
          <p:cNvSpPr txBox="1"/>
          <p:nvPr/>
        </p:nvSpPr>
        <p:spPr>
          <a:xfrm>
            <a:off x="1935279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</a:t>
            </a:r>
          </a:p>
        </p:txBody>
      </p:sp>
      <p:sp>
        <p:nvSpPr>
          <p:cNvPr id="264" name="2"/>
          <p:cNvSpPr txBox="1"/>
          <p:nvPr/>
        </p:nvSpPr>
        <p:spPr>
          <a:xfrm>
            <a:off x="2646479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2</a:t>
            </a:r>
          </a:p>
        </p:txBody>
      </p:sp>
      <p:sp>
        <p:nvSpPr>
          <p:cNvPr id="265" name="3"/>
          <p:cNvSpPr txBox="1"/>
          <p:nvPr/>
        </p:nvSpPr>
        <p:spPr>
          <a:xfrm>
            <a:off x="3268779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3</a:t>
            </a:r>
          </a:p>
        </p:txBody>
      </p:sp>
      <p:sp>
        <p:nvSpPr>
          <p:cNvPr id="266" name="4"/>
          <p:cNvSpPr txBox="1"/>
          <p:nvPr/>
        </p:nvSpPr>
        <p:spPr>
          <a:xfrm>
            <a:off x="3949817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4</a:t>
            </a:r>
          </a:p>
        </p:txBody>
      </p:sp>
      <p:sp>
        <p:nvSpPr>
          <p:cNvPr id="267" name="5"/>
          <p:cNvSpPr txBox="1"/>
          <p:nvPr/>
        </p:nvSpPr>
        <p:spPr>
          <a:xfrm>
            <a:off x="4602279" y="29260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5</a:t>
            </a:r>
          </a:p>
        </p:txBody>
      </p:sp>
      <p:sp>
        <p:nvSpPr>
          <p:cNvPr id="268" name="0"/>
          <p:cNvSpPr txBox="1"/>
          <p:nvPr/>
        </p:nvSpPr>
        <p:spPr>
          <a:xfrm>
            <a:off x="12367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0</a:t>
            </a:r>
          </a:p>
        </p:txBody>
      </p:sp>
      <p:sp>
        <p:nvSpPr>
          <p:cNvPr id="269" name="1"/>
          <p:cNvSpPr txBox="1"/>
          <p:nvPr/>
        </p:nvSpPr>
        <p:spPr>
          <a:xfrm>
            <a:off x="19479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</a:t>
            </a:r>
          </a:p>
        </p:txBody>
      </p:sp>
      <p:sp>
        <p:nvSpPr>
          <p:cNvPr id="270" name="2"/>
          <p:cNvSpPr txBox="1"/>
          <p:nvPr/>
        </p:nvSpPr>
        <p:spPr>
          <a:xfrm>
            <a:off x="26591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2</a:t>
            </a:r>
          </a:p>
        </p:txBody>
      </p:sp>
      <p:sp>
        <p:nvSpPr>
          <p:cNvPr id="271" name="3"/>
          <p:cNvSpPr txBox="1"/>
          <p:nvPr/>
        </p:nvSpPr>
        <p:spPr>
          <a:xfrm>
            <a:off x="32814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3</a:t>
            </a:r>
          </a:p>
        </p:txBody>
      </p:sp>
      <p:sp>
        <p:nvSpPr>
          <p:cNvPr id="272" name="4"/>
          <p:cNvSpPr txBox="1"/>
          <p:nvPr/>
        </p:nvSpPr>
        <p:spPr>
          <a:xfrm>
            <a:off x="3962517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4</a:t>
            </a:r>
          </a:p>
        </p:txBody>
      </p:sp>
      <p:sp>
        <p:nvSpPr>
          <p:cNvPr id="273" name="5"/>
          <p:cNvSpPr txBox="1"/>
          <p:nvPr/>
        </p:nvSpPr>
        <p:spPr>
          <a:xfrm>
            <a:off x="46149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5</a:t>
            </a:r>
          </a:p>
        </p:txBody>
      </p:sp>
      <p:sp>
        <p:nvSpPr>
          <p:cNvPr id="274" name="6"/>
          <p:cNvSpPr txBox="1"/>
          <p:nvPr/>
        </p:nvSpPr>
        <p:spPr>
          <a:xfrm>
            <a:off x="5237279" y="4246882"/>
            <a:ext cx="26682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6</a:t>
            </a:r>
          </a:p>
        </p:txBody>
      </p:sp>
      <p:sp>
        <p:nvSpPr>
          <p:cNvPr id="275" name="复制(移动)－向后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复制(移动)－向后</a:t>
            </a:r>
          </a:p>
        </p:txBody>
      </p:sp>
      <p:sp>
        <p:nvSpPr>
          <p:cNvPr id="276" name="为了保证结构的正确性，必须复制数据"/>
          <p:cNvSpPr txBox="1"/>
          <p:nvPr/>
        </p:nvSpPr>
        <p:spPr>
          <a:xfrm>
            <a:off x="310306" y="997724"/>
            <a:ext cx="5511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1"/>
                </a:solidFill>
              </a:defRPr>
            </a:pPr>
            <a:r>
              <a:t>为了保证</a:t>
            </a:r>
            <a:r>
              <a:rPr>
                <a:solidFill>
                  <a:srgbClr val="FF2600"/>
                </a:solidFill>
              </a:rPr>
              <a:t>结构</a:t>
            </a:r>
            <a:r>
              <a:t>的正确性，必须</a:t>
            </a:r>
            <a:r>
              <a:rPr>
                <a:solidFill>
                  <a:srgbClr val="FF2600"/>
                </a:solidFill>
              </a:rPr>
              <a:t>复制</a:t>
            </a:r>
            <a:r>
              <a:t>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e[6]=e[5]…"/>
          <p:cNvSpPr txBox="1"/>
          <p:nvPr/>
        </p:nvSpPr>
        <p:spPr>
          <a:xfrm>
            <a:off x="1895475" y="3470275"/>
            <a:ext cx="1436688" cy="1754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000"/>
            </a:pPr>
            <a:r>
              <a:t>e[6]=e[5]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000"/>
            </a:pPr>
            <a:r>
              <a:t>e[5]=e[4]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000"/>
            </a:pPr>
            <a:r>
              <a:t>e[4]=e[3]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000"/>
            </a:pPr>
            <a:r>
              <a:t>e[3]=e[2]</a:t>
            </a:r>
          </a:p>
        </p:txBody>
      </p:sp>
      <p:sp>
        <p:nvSpPr>
          <p:cNvPr id="279" name="e[k] = e[k - 1]"/>
          <p:cNvSpPr txBox="1"/>
          <p:nvPr/>
        </p:nvSpPr>
        <p:spPr>
          <a:xfrm>
            <a:off x="4575175" y="3335337"/>
            <a:ext cx="2311400" cy="519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>
                <a:solidFill>
                  <a:srgbClr val="F81F08"/>
                </a:solidFill>
              </a:defRPr>
            </a:pPr>
            <a:r>
              <a:t>e[k]</a:t>
            </a:r>
            <a:r>
              <a:rPr baseline="-30000"/>
              <a:t> </a:t>
            </a:r>
            <a:r>
              <a:t>= e[k - 1]</a:t>
            </a:r>
          </a:p>
        </p:txBody>
      </p:sp>
      <p:sp>
        <p:nvSpPr>
          <p:cNvPr id="280" name="k=size→  i + 1"/>
          <p:cNvSpPr txBox="1"/>
          <p:nvPr/>
        </p:nvSpPr>
        <p:spPr>
          <a:xfrm>
            <a:off x="4565650" y="4079875"/>
            <a:ext cx="4076700" cy="554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39687" defTabSz="914400">
              <a:lnSpc>
                <a:spcPct val="100000"/>
              </a:lnSpc>
              <a:spcBef>
                <a:spcPts val="1300"/>
              </a:spcBef>
              <a:defRPr sz="3200" b="1">
                <a:solidFill>
                  <a:srgbClr val="F81F08"/>
                </a:solidFill>
              </a:defRPr>
            </a:lvl1pPr>
          </a:lstStyle>
          <a:p>
            <a:r>
              <a:t>k=size→  i + 1</a:t>
            </a:r>
          </a:p>
        </p:txBody>
      </p:sp>
      <p:sp>
        <p:nvSpPr>
          <p:cNvPr id="281" name="线条"/>
          <p:cNvSpPr/>
          <p:nvPr/>
        </p:nvSpPr>
        <p:spPr>
          <a:xfrm>
            <a:off x="3711575" y="3294062"/>
            <a:ext cx="1588" cy="212407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294" name="成组"/>
          <p:cNvGrpSpPr/>
          <p:nvPr/>
        </p:nvGrpSpPr>
        <p:grpSpPr>
          <a:xfrm>
            <a:off x="1514475" y="2236787"/>
            <a:ext cx="6553200" cy="612776"/>
            <a:chOff x="0" y="0"/>
            <a:chExt cx="6553200" cy="612775"/>
          </a:xfrm>
        </p:grpSpPr>
        <p:grpSp>
          <p:nvGrpSpPr>
            <p:cNvPr id="284" name="成组"/>
            <p:cNvGrpSpPr/>
            <p:nvPr/>
          </p:nvGrpSpPr>
          <p:grpSpPr>
            <a:xfrm>
              <a:off x="0" y="0"/>
              <a:ext cx="6553200" cy="612775"/>
              <a:chOff x="0" y="0"/>
              <a:chExt cx="6553200" cy="612775"/>
            </a:xfrm>
          </p:grpSpPr>
          <p:sp>
            <p:nvSpPr>
              <p:cNvPr id="282" name="矩形"/>
              <p:cNvSpPr/>
              <p:nvPr/>
            </p:nvSpPr>
            <p:spPr>
              <a:xfrm>
                <a:off x="0" y="0"/>
                <a:ext cx="6553200" cy="61277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283" name="a0          a1        e         a2         a3        a4        a5"/>
              <p:cNvSpPr txBox="1"/>
              <p:nvPr/>
            </p:nvSpPr>
            <p:spPr>
              <a:xfrm>
                <a:off x="0" y="61655"/>
                <a:ext cx="4454873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0          </a:t>
                </a:r>
                <a:r>
                  <a:t>a</a:t>
                </a:r>
                <a:r>
                  <a:rPr baseline="-25000"/>
                  <a:t>1        </a:t>
                </a:r>
                <a:r>
                  <a:t>e</a:t>
                </a:r>
                <a:r>
                  <a:rPr baseline="-25000"/>
                  <a:t>         </a:t>
                </a:r>
                <a:r>
                  <a:t>a</a:t>
                </a:r>
                <a:r>
                  <a:rPr baseline="-25000"/>
                  <a:t>2         </a:t>
                </a:r>
                <a:r>
                  <a:t>a</a:t>
                </a:r>
                <a:r>
                  <a:rPr baseline="-25000"/>
                  <a:t>3        </a:t>
                </a:r>
                <a:r>
                  <a:t>a</a:t>
                </a:r>
                <a:r>
                  <a:rPr baseline="-25000"/>
                  <a:t>4        </a:t>
                </a:r>
                <a:r>
                  <a:t>a</a:t>
                </a:r>
                <a:r>
                  <a:rPr baseline="-25000"/>
                  <a:t>5</a:t>
                </a:r>
              </a:p>
            </p:txBody>
          </p:sp>
        </p:grpSp>
        <p:sp>
          <p:nvSpPr>
            <p:cNvPr id="285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6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7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8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9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0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1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2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3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07" name="成组"/>
          <p:cNvGrpSpPr/>
          <p:nvPr/>
        </p:nvGrpSpPr>
        <p:grpSpPr>
          <a:xfrm>
            <a:off x="1501775" y="1016000"/>
            <a:ext cx="6553200" cy="612775"/>
            <a:chOff x="0" y="0"/>
            <a:chExt cx="6553200" cy="612775"/>
          </a:xfrm>
        </p:grpSpPr>
        <p:grpSp>
          <p:nvGrpSpPr>
            <p:cNvPr id="297" name="成组"/>
            <p:cNvGrpSpPr/>
            <p:nvPr/>
          </p:nvGrpSpPr>
          <p:grpSpPr>
            <a:xfrm>
              <a:off x="0" y="0"/>
              <a:ext cx="6553200" cy="612775"/>
              <a:chOff x="0" y="0"/>
              <a:chExt cx="6553200" cy="612775"/>
            </a:xfrm>
          </p:grpSpPr>
          <p:sp>
            <p:nvSpPr>
              <p:cNvPr id="295" name="矩形"/>
              <p:cNvSpPr/>
              <p:nvPr/>
            </p:nvSpPr>
            <p:spPr>
              <a:xfrm>
                <a:off x="0" y="0"/>
                <a:ext cx="6553200" cy="61277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296" name="a0          a1         a2       a3        a4       a5"/>
              <p:cNvSpPr txBox="1"/>
              <p:nvPr/>
            </p:nvSpPr>
            <p:spPr>
              <a:xfrm>
                <a:off x="0" y="61655"/>
                <a:ext cx="4065588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0          </a:t>
                </a:r>
                <a:r>
                  <a:t>a</a:t>
                </a:r>
                <a:r>
                  <a:rPr baseline="-25000"/>
                  <a:t>1         </a:t>
                </a:r>
                <a:r>
                  <a:t>a</a:t>
                </a:r>
                <a:r>
                  <a:rPr baseline="-25000"/>
                  <a:t>2       </a:t>
                </a:r>
                <a:r>
                  <a:t>a</a:t>
                </a:r>
                <a:r>
                  <a:rPr baseline="-25000"/>
                  <a:t>3        </a:t>
                </a:r>
                <a:r>
                  <a:t>a</a:t>
                </a:r>
                <a:r>
                  <a:rPr baseline="-25000"/>
                  <a:t>4       </a:t>
                </a:r>
                <a:r>
                  <a:t>a</a:t>
                </a:r>
                <a:r>
                  <a:rPr baseline="-25000"/>
                  <a:t>5      </a:t>
                </a:r>
              </a:p>
            </p:txBody>
          </p:sp>
        </p:grpSp>
        <p:sp>
          <p:nvSpPr>
            <p:cNvPr id="298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9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0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1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2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3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4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5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6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308" name="e[0]"/>
          <p:cNvSpPr txBox="1"/>
          <p:nvPr/>
        </p:nvSpPr>
        <p:spPr>
          <a:xfrm>
            <a:off x="1535112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e[0]</a:t>
            </a:r>
          </a:p>
        </p:txBody>
      </p:sp>
      <p:sp>
        <p:nvSpPr>
          <p:cNvPr id="309" name="e[1]"/>
          <p:cNvSpPr txBox="1"/>
          <p:nvPr/>
        </p:nvSpPr>
        <p:spPr>
          <a:xfrm>
            <a:off x="2235200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e[1]</a:t>
            </a:r>
          </a:p>
        </p:txBody>
      </p:sp>
      <p:sp>
        <p:nvSpPr>
          <p:cNvPr id="310" name="e[2]"/>
          <p:cNvSpPr txBox="1"/>
          <p:nvPr/>
        </p:nvSpPr>
        <p:spPr>
          <a:xfrm>
            <a:off x="2849562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e[2]</a:t>
            </a:r>
          </a:p>
        </p:txBody>
      </p:sp>
      <p:sp>
        <p:nvSpPr>
          <p:cNvPr id="311" name="e[3]"/>
          <p:cNvSpPr txBox="1"/>
          <p:nvPr/>
        </p:nvSpPr>
        <p:spPr>
          <a:xfrm>
            <a:off x="3556000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e[3]</a:t>
            </a:r>
          </a:p>
        </p:txBody>
      </p:sp>
      <p:sp>
        <p:nvSpPr>
          <p:cNvPr id="312" name="e[4]"/>
          <p:cNvSpPr txBox="1"/>
          <p:nvPr/>
        </p:nvSpPr>
        <p:spPr>
          <a:xfrm>
            <a:off x="4248150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e[4]</a:t>
            </a:r>
          </a:p>
        </p:txBody>
      </p:sp>
      <p:sp>
        <p:nvSpPr>
          <p:cNvPr id="313" name="e[5]"/>
          <p:cNvSpPr txBox="1"/>
          <p:nvPr/>
        </p:nvSpPr>
        <p:spPr>
          <a:xfrm>
            <a:off x="4941887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e[5]</a:t>
            </a:r>
          </a:p>
        </p:txBody>
      </p:sp>
      <p:sp>
        <p:nvSpPr>
          <p:cNvPr id="314" name="e[6]"/>
          <p:cNvSpPr txBox="1"/>
          <p:nvPr/>
        </p:nvSpPr>
        <p:spPr>
          <a:xfrm>
            <a:off x="5648325" y="2913425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e[6]</a:t>
            </a:r>
          </a:p>
        </p:txBody>
      </p:sp>
      <p:sp>
        <p:nvSpPr>
          <p:cNvPr id="315" name="e[0]"/>
          <p:cNvSpPr txBox="1"/>
          <p:nvPr/>
        </p:nvSpPr>
        <p:spPr>
          <a:xfrm>
            <a:off x="1500187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e[0]</a:t>
            </a:r>
          </a:p>
        </p:txBody>
      </p:sp>
      <p:sp>
        <p:nvSpPr>
          <p:cNvPr id="316" name="e[1]"/>
          <p:cNvSpPr txBox="1"/>
          <p:nvPr/>
        </p:nvSpPr>
        <p:spPr>
          <a:xfrm>
            <a:off x="2200275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e[1]</a:t>
            </a:r>
          </a:p>
        </p:txBody>
      </p:sp>
      <p:sp>
        <p:nvSpPr>
          <p:cNvPr id="317" name="e[2]"/>
          <p:cNvSpPr txBox="1"/>
          <p:nvPr/>
        </p:nvSpPr>
        <p:spPr>
          <a:xfrm>
            <a:off x="2814637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e[2]</a:t>
            </a:r>
          </a:p>
        </p:txBody>
      </p:sp>
      <p:sp>
        <p:nvSpPr>
          <p:cNvPr id="318" name="e[3]"/>
          <p:cNvSpPr txBox="1"/>
          <p:nvPr/>
        </p:nvSpPr>
        <p:spPr>
          <a:xfrm>
            <a:off x="3522662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e[3]</a:t>
            </a:r>
          </a:p>
        </p:txBody>
      </p:sp>
      <p:sp>
        <p:nvSpPr>
          <p:cNvPr id="319" name="e[4]"/>
          <p:cNvSpPr txBox="1"/>
          <p:nvPr/>
        </p:nvSpPr>
        <p:spPr>
          <a:xfrm>
            <a:off x="4214812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e[4]</a:t>
            </a:r>
          </a:p>
        </p:txBody>
      </p:sp>
      <p:sp>
        <p:nvSpPr>
          <p:cNvPr id="320" name="e[5]"/>
          <p:cNvSpPr txBox="1"/>
          <p:nvPr/>
        </p:nvSpPr>
        <p:spPr>
          <a:xfrm>
            <a:off x="4906962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e[5]</a:t>
            </a:r>
          </a:p>
        </p:txBody>
      </p:sp>
      <p:sp>
        <p:nvSpPr>
          <p:cNvPr id="321" name="e[6]"/>
          <p:cNvSpPr txBox="1"/>
          <p:nvPr/>
        </p:nvSpPr>
        <p:spPr>
          <a:xfrm>
            <a:off x="5613400" y="1639456"/>
            <a:ext cx="502761" cy="370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900"/>
            </a:lvl1pPr>
          </a:lstStyle>
          <a:p>
            <a:r>
              <a:t>e[6]</a:t>
            </a:r>
          </a:p>
        </p:txBody>
      </p:sp>
      <p:sp>
        <p:nvSpPr>
          <p:cNvPr id="322" name="复制－向后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复制－向后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1" animBg="1" advAuto="0"/>
      <p:bldP spid="279" grpId="3" animBg="1" advAuto="0"/>
      <p:bldP spid="280" grpId="4" animBg="1" advAuto="0"/>
      <p:bldP spid="281" grpId="2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复制－向后"/>
          <p:cNvSpPr txBox="1"/>
          <p:nvPr/>
        </p:nvSpPr>
        <p:spPr>
          <a:xfrm>
            <a:off x="590550" y="-19050"/>
            <a:ext cx="7937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复制－向后</a:t>
            </a:r>
          </a:p>
        </p:txBody>
      </p:sp>
      <p:sp>
        <p:nvSpPr>
          <p:cNvPr id="325" name="private void moveBackward(int pos) {…"/>
          <p:cNvSpPr txBox="1"/>
          <p:nvPr/>
        </p:nvSpPr>
        <p:spPr>
          <a:xfrm>
            <a:off x="717550" y="990624"/>
            <a:ext cx="7156252" cy="2108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400" u="sng">
                <a:latin typeface="Monaco"/>
                <a:ea typeface="Monaco"/>
                <a:cs typeface="Monaco"/>
                <a:sym typeface="Monaco"/>
              </a:defRPr>
            </a:pPr>
            <a:r>
              <a:rPr u="none"/>
              <a:t>	</a:t>
            </a:r>
            <a:r>
              <a:rPr u="none">
                <a:solidFill>
                  <a:srgbClr val="931A68"/>
                </a:solidFill>
              </a:rPr>
              <a:t>private</a:t>
            </a:r>
            <a:r>
              <a:rPr u="none"/>
              <a:t> </a:t>
            </a:r>
            <a:r>
              <a:rPr u="none">
                <a:solidFill>
                  <a:srgbClr val="931A68"/>
                </a:solidFill>
              </a:rPr>
              <a:t>void</a:t>
            </a:r>
            <a:r>
              <a:rPr u="none"/>
              <a:t> moveBackward(</a:t>
            </a:r>
            <a:r>
              <a:rPr u="none">
                <a:solidFill>
                  <a:srgbClr val="931A68"/>
                </a:solidFill>
              </a:rPr>
              <a:t>int</a:t>
            </a:r>
            <a:r>
              <a:rPr u="none"/>
              <a:t> </a:t>
            </a:r>
            <a:r>
              <a:rPr u="none">
                <a:solidFill>
                  <a:srgbClr val="7E504F"/>
                </a:solidFill>
              </a:rPr>
              <a:t>pos</a:t>
            </a:r>
            <a:r>
              <a:rPr u="none"/>
              <a:t>) {</a:t>
            </a:r>
          </a:p>
          <a:p>
            <a:pPr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; --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- 1];</a:t>
            </a:r>
          </a:p>
          <a:p>
            <a:pPr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功能：插入到位置i…"/>
          <p:cNvSpPr txBox="1"/>
          <p:nvPr/>
        </p:nvSpPr>
        <p:spPr>
          <a:xfrm>
            <a:off x="1454150" y="839787"/>
            <a:ext cx="6527800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功能：插入到位置i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过程：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1、判断表是不是已满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2、判断i的合法性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3、向后复制，腾出空间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4、赋值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latin typeface="SimSun"/>
                <a:ea typeface="SimSun"/>
                <a:cs typeface="SimSun"/>
                <a:sym typeface="SimSun"/>
              </a:defRPr>
            </a:pPr>
            <a:r>
              <a:t>5、++size</a:t>
            </a:r>
          </a:p>
        </p:txBody>
      </p:sp>
      <p:sp>
        <p:nvSpPr>
          <p:cNvPr id="328" name="void add(int index, T x)"/>
          <p:cNvSpPr txBox="1"/>
          <p:nvPr/>
        </p:nvSpPr>
        <p:spPr>
          <a:xfrm>
            <a:off x="723900" y="1587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void add(int index, T 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ublic void add(int index, T x) {…"/>
          <p:cNvSpPr txBox="1"/>
          <p:nvPr/>
        </p:nvSpPr>
        <p:spPr>
          <a:xfrm>
            <a:off x="25939" y="786615"/>
            <a:ext cx="8947318" cy="3735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void</a:t>
            </a:r>
            <a:r>
              <a:rPr>
                <a:solidFill>
                  <a:srgbClr val="000000"/>
                </a:solidFill>
              </a:rPr>
              <a:t> add(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rangeCheckForAdd(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ensureCapacity(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+ 1); //确保有空间存放x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//moveBackward(i);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, 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+ 1,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lnSpc>
                <a:spcPct val="100000"/>
              </a:lnSpc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++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331" name="void add(int index, T x)"/>
          <p:cNvSpPr txBox="1"/>
          <p:nvPr/>
        </p:nvSpPr>
        <p:spPr>
          <a:xfrm>
            <a:off x="723900" y="1587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void add(int index, T 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ystem 类的arraycopy"/>
          <p:cNvSpPr txBox="1"/>
          <p:nvPr/>
        </p:nvSpPr>
        <p:spPr>
          <a:xfrm>
            <a:off x="927100" y="-619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System 类的arraycopy</a:t>
            </a:r>
          </a:p>
        </p:txBody>
      </p:sp>
      <p:sp>
        <p:nvSpPr>
          <p:cNvPr id="334" name="public static native void arraycopy(Object src,  int  srcPos,…"/>
          <p:cNvSpPr txBox="1"/>
          <p:nvPr/>
        </p:nvSpPr>
        <p:spPr>
          <a:xfrm>
            <a:off x="-50800" y="838218"/>
            <a:ext cx="9031152" cy="1035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native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arraycopy(Object </a:t>
            </a:r>
            <a:r>
              <a:rPr>
                <a:solidFill>
                  <a:srgbClr val="7E504F"/>
                </a:solidFill>
              </a:rPr>
              <a:t>src</a:t>
            </a:r>
            <a:r>
              <a:t>,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 </a:t>
            </a:r>
            <a:r>
              <a:rPr>
                <a:solidFill>
                  <a:srgbClr val="7E504F"/>
                </a:solidFill>
              </a:rPr>
              <a:t>srcPos</a:t>
            </a:r>
            <a:r>
              <a:t>,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            Object </a:t>
            </a:r>
            <a:r>
              <a:rPr>
                <a:solidFill>
                  <a:srgbClr val="7E504F"/>
                </a:solidFill>
              </a:rPr>
              <a:t>dest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destPos</a:t>
            </a:r>
            <a:r>
              <a:t>,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);</a:t>
            </a:r>
          </a:p>
        </p:txBody>
      </p:sp>
      <p:grpSp>
        <p:nvGrpSpPr>
          <p:cNvPr id="345" name="成组"/>
          <p:cNvGrpSpPr/>
          <p:nvPr/>
        </p:nvGrpSpPr>
        <p:grpSpPr>
          <a:xfrm>
            <a:off x="1395412" y="2486025"/>
            <a:ext cx="6553201" cy="612775"/>
            <a:chOff x="0" y="0"/>
            <a:chExt cx="6553200" cy="612775"/>
          </a:xfrm>
        </p:grpSpPr>
        <p:sp>
          <p:nvSpPr>
            <p:cNvPr id="335" name="矩形"/>
            <p:cNvSpPr/>
            <p:nvPr/>
          </p:nvSpPr>
          <p:spPr>
            <a:xfrm>
              <a:off x="0" y="0"/>
              <a:ext cx="6553200" cy="6127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336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37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38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39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0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1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2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3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4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56" name="成组"/>
          <p:cNvGrpSpPr/>
          <p:nvPr/>
        </p:nvGrpSpPr>
        <p:grpSpPr>
          <a:xfrm>
            <a:off x="1692275" y="4140200"/>
            <a:ext cx="6553200" cy="612775"/>
            <a:chOff x="0" y="0"/>
            <a:chExt cx="6553200" cy="612775"/>
          </a:xfrm>
        </p:grpSpPr>
        <p:sp>
          <p:nvSpPr>
            <p:cNvPr id="346" name="矩形"/>
            <p:cNvSpPr/>
            <p:nvPr/>
          </p:nvSpPr>
          <p:spPr>
            <a:xfrm>
              <a:off x="0" y="0"/>
              <a:ext cx="6553200" cy="6127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347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8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49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0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1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2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3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4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5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357" name="src ：source"/>
          <p:cNvSpPr txBox="1"/>
          <p:nvPr/>
        </p:nvSpPr>
        <p:spPr>
          <a:xfrm>
            <a:off x="212725" y="1906587"/>
            <a:ext cx="150261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src ：source</a:t>
            </a:r>
          </a:p>
        </p:txBody>
      </p:sp>
      <p:sp>
        <p:nvSpPr>
          <p:cNvPr id="358" name="dest : destination"/>
          <p:cNvSpPr txBox="1"/>
          <p:nvPr/>
        </p:nvSpPr>
        <p:spPr>
          <a:xfrm>
            <a:off x="217487" y="3554412"/>
            <a:ext cx="206320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dest : destination</a:t>
            </a:r>
          </a:p>
        </p:txBody>
      </p:sp>
      <p:sp>
        <p:nvSpPr>
          <p:cNvPr id="359" name="srcPos"/>
          <p:cNvSpPr txBox="1"/>
          <p:nvPr/>
        </p:nvSpPr>
        <p:spPr>
          <a:xfrm>
            <a:off x="2581275" y="1963756"/>
            <a:ext cx="937394" cy="400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srcPos</a:t>
            </a:r>
          </a:p>
        </p:txBody>
      </p:sp>
      <p:sp>
        <p:nvSpPr>
          <p:cNvPr id="360" name="destPos"/>
          <p:cNvSpPr txBox="1"/>
          <p:nvPr/>
        </p:nvSpPr>
        <p:spPr>
          <a:xfrm>
            <a:off x="3556000" y="4932381"/>
            <a:ext cx="1074577" cy="400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destPos</a:t>
            </a:r>
          </a:p>
        </p:txBody>
      </p:sp>
      <p:sp>
        <p:nvSpPr>
          <p:cNvPr id="361" name="线条"/>
          <p:cNvSpPr/>
          <p:nvPr/>
        </p:nvSpPr>
        <p:spPr>
          <a:xfrm>
            <a:off x="3092449" y="2859087"/>
            <a:ext cx="744539" cy="125253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62" name="线条"/>
          <p:cNvSpPr/>
          <p:nvPr/>
        </p:nvSpPr>
        <p:spPr>
          <a:xfrm>
            <a:off x="3752849" y="2859087"/>
            <a:ext cx="744539" cy="125253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63" name="线条"/>
          <p:cNvSpPr/>
          <p:nvPr/>
        </p:nvSpPr>
        <p:spPr>
          <a:xfrm>
            <a:off x="6384924" y="2859087"/>
            <a:ext cx="744539" cy="125253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64" name="srcPos + length - 1"/>
          <p:cNvSpPr txBox="1"/>
          <p:nvPr/>
        </p:nvSpPr>
        <p:spPr>
          <a:xfrm>
            <a:off x="5829300" y="1963756"/>
            <a:ext cx="2857947" cy="400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</a:t>
            </a:r>
            <a:r>
              <a:rPr>
                <a:solidFill>
                  <a:srgbClr val="7E504F"/>
                </a:solidFill>
              </a:rPr>
              <a:t>srcPos + length - 1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功能：删除索引号为index的数据。…"/>
          <p:cNvSpPr txBox="1"/>
          <p:nvPr/>
        </p:nvSpPr>
        <p:spPr>
          <a:xfrm>
            <a:off x="823912" y="868936"/>
            <a:ext cx="7416801" cy="158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功能：删除索引号为index的数据。</a:t>
            </a:r>
          </a:p>
          <a:p>
            <a:r>
              <a:t>这个操作会造成</a:t>
            </a:r>
            <a:r>
              <a:rPr>
                <a:solidFill>
                  <a:srgbClr val="FF2600"/>
                </a:solidFill>
              </a:rPr>
              <a:t>结构</a:t>
            </a:r>
            <a:r>
              <a:t>改变，即某些数据的先驱和后继</a:t>
            </a:r>
          </a:p>
          <a:p>
            <a:r>
              <a:t>发生了变化</a:t>
            </a:r>
          </a:p>
        </p:txBody>
      </p:sp>
      <p:sp>
        <p:nvSpPr>
          <p:cNvPr id="367" name="(a0, a1, ..., aindex - 1, aindex, aindex + 1, ...)"/>
          <p:cNvSpPr txBox="1"/>
          <p:nvPr/>
        </p:nvSpPr>
        <p:spPr>
          <a:xfrm>
            <a:off x="1660065" y="2516217"/>
            <a:ext cx="4690512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(a</a:t>
            </a:r>
            <a:r>
              <a:rPr sz="2400" baseline="-5999"/>
              <a:t>0</a:t>
            </a:r>
            <a:r>
              <a:t>, a</a:t>
            </a:r>
            <a:r>
              <a:rPr baseline="-5999"/>
              <a:t>1</a:t>
            </a:r>
            <a:r>
              <a:t>, ...,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- 1</a:t>
            </a:r>
            <a:r>
              <a:t>, a</a:t>
            </a:r>
            <a:r>
              <a:rPr baseline="-5999"/>
              <a:t>index</a:t>
            </a:r>
            <a:r>
              <a:t>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+ 1</a:t>
            </a:r>
            <a:r>
              <a:t>, ...)</a:t>
            </a:r>
          </a:p>
        </p:txBody>
      </p:sp>
      <p:sp>
        <p:nvSpPr>
          <p:cNvPr id="368" name="(a0, a1, ..., aindex - 1, aindex + 1, ...)"/>
          <p:cNvSpPr txBox="1"/>
          <p:nvPr/>
        </p:nvSpPr>
        <p:spPr>
          <a:xfrm>
            <a:off x="1634665" y="4002226"/>
            <a:ext cx="3920585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(a</a:t>
            </a:r>
            <a:r>
              <a:rPr sz="2400" baseline="-5999"/>
              <a:t>0</a:t>
            </a:r>
            <a:r>
              <a:t>, a</a:t>
            </a:r>
            <a:r>
              <a:rPr baseline="-5999"/>
              <a:t>1</a:t>
            </a:r>
            <a:r>
              <a:t>, ...,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- 1</a:t>
            </a:r>
            <a:r>
              <a:t>, </a:t>
            </a:r>
            <a:r>
              <a:rPr>
                <a:solidFill>
                  <a:srgbClr val="FF2600"/>
                </a:solidFill>
              </a:rPr>
              <a:t>a</a:t>
            </a:r>
            <a:r>
              <a:rPr baseline="-5999">
                <a:solidFill>
                  <a:srgbClr val="FF2600"/>
                </a:solidFill>
              </a:rPr>
              <a:t>index + 1</a:t>
            </a:r>
            <a:r>
              <a:t>, ...)</a:t>
            </a:r>
          </a:p>
        </p:txBody>
      </p:sp>
      <p:sp>
        <p:nvSpPr>
          <p:cNvPr id="369" name="线条"/>
          <p:cNvSpPr/>
          <p:nvPr/>
        </p:nvSpPr>
        <p:spPr>
          <a:xfrm>
            <a:off x="3872764" y="2942469"/>
            <a:ext cx="1" cy="973062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70" name="T remove(int index)"/>
          <p:cNvSpPr txBox="1"/>
          <p:nvPr/>
        </p:nvSpPr>
        <p:spPr>
          <a:xfrm>
            <a:off x="927100" y="15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T remove(int index)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成组"/>
          <p:cNvGrpSpPr/>
          <p:nvPr/>
        </p:nvGrpSpPr>
        <p:grpSpPr>
          <a:xfrm>
            <a:off x="1704647" y="3609152"/>
            <a:ext cx="6553200" cy="612776"/>
            <a:chOff x="0" y="0"/>
            <a:chExt cx="6553199" cy="612775"/>
          </a:xfrm>
        </p:grpSpPr>
        <p:grpSp>
          <p:nvGrpSpPr>
            <p:cNvPr id="374" name="成组"/>
            <p:cNvGrpSpPr/>
            <p:nvPr/>
          </p:nvGrpSpPr>
          <p:grpSpPr>
            <a:xfrm>
              <a:off x="0" y="0"/>
              <a:ext cx="6553201" cy="612775"/>
              <a:chOff x="0" y="0"/>
              <a:chExt cx="6553199" cy="612775"/>
            </a:xfrm>
          </p:grpSpPr>
          <p:sp>
            <p:nvSpPr>
              <p:cNvPr id="372" name="矩形"/>
              <p:cNvSpPr/>
              <p:nvPr/>
            </p:nvSpPr>
            <p:spPr>
              <a:xfrm>
                <a:off x="0" y="0"/>
                <a:ext cx="6553201" cy="61277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373" name="a0          a1         a3       a4       a5"/>
              <p:cNvSpPr txBox="1"/>
              <p:nvPr/>
            </p:nvSpPr>
            <p:spPr>
              <a:xfrm>
                <a:off x="0" y="61655"/>
                <a:ext cx="3100389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0          </a:t>
                </a:r>
                <a:r>
                  <a:t>a</a:t>
                </a:r>
                <a:r>
                  <a:rPr baseline="-25000"/>
                  <a:t>1         </a:t>
                </a:r>
                <a:r>
                  <a:t>a</a:t>
                </a:r>
                <a:r>
                  <a:rPr baseline="-25000"/>
                  <a:t>3       </a:t>
                </a:r>
                <a:r>
                  <a:t>a</a:t>
                </a:r>
                <a:r>
                  <a:rPr baseline="-25000"/>
                  <a:t>4       </a:t>
                </a:r>
                <a:r>
                  <a:t>a</a:t>
                </a:r>
                <a:r>
                  <a:rPr baseline="-25000"/>
                  <a:t>5</a:t>
                </a:r>
              </a:p>
            </p:txBody>
          </p:sp>
        </p:grpSp>
        <p:sp>
          <p:nvSpPr>
            <p:cNvPr id="375" name="线条"/>
            <p:cNvSpPr/>
            <p:nvPr/>
          </p:nvSpPr>
          <p:spPr>
            <a:xfrm flipV="1">
              <a:off x="6381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76" name="线条"/>
            <p:cNvSpPr/>
            <p:nvPr/>
          </p:nvSpPr>
          <p:spPr>
            <a:xfrm flipV="1">
              <a:off x="13112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77" name="线条"/>
            <p:cNvSpPr/>
            <p:nvPr/>
          </p:nvSpPr>
          <p:spPr>
            <a:xfrm flipV="1">
              <a:off x="19843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78" name="线条"/>
            <p:cNvSpPr/>
            <p:nvPr/>
          </p:nvSpPr>
          <p:spPr>
            <a:xfrm flipV="1">
              <a:off x="2654300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79" name="线条"/>
            <p:cNvSpPr/>
            <p:nvPr/>
          </p:nvSpPr>
          <p:spPr>
            <a:xfrm flipV="1">
              <a:off x="32940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0" name="线条"/>
            <p:cNvSpPr/>
            <p:nvPr/>
          </p:nvSpPr>
          <p:spPr>
            <a:xfrm flipV="1">
              <a:off x="396557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1" name="线条"/>
            <p:cNvSpPr/>
            <p:nvPr/>
          </p:nvSpPr>
          <p:spPr>
            <a:xfrm flipV="1">
              <a:off x="4637087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2" name="线条"/>
            <p:cNvSpPr/>
            <p:nvPr/>
          </p:nvSpPr>
          <p:spPr>
            <a:xfrm flipV="1">
              <a:off x="5275262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3" name="线条"/>
            <p:cNvSpPr/>
            <p:nvPr/>
          </p:nvSpPr>
          <p:spPr>
            <a:xfrm flipV="1">
              <a:off x="5915025" y="0"/>
              <a:ext cx="1590" cy="612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87" name="成组"/>
          <p:cNvGrpSpPr/>
          <p:nvPr/>
        </p:nvGrpSpPr>
        <p:grpSpPr>
          <a:xfrm>
            <a:off x="1704646" y="2515365"/>
            <a:ext cx="6553201" cy="612776"/>
            <a:chOff x="0" y="0"/>
            <a:chExt cx="6553200" cy="612775"/>
          </a:xfrm>
        </p:grpSpPr>
        <p:sp>
          <p:nvSpPr>
            <p:cNvPr id="385" name="矩形"/>
            <p:cNvSpPr/>
            <p:nvPr/>
          </p:nvSpPr>
          <p:spPr>
            <a:xfrm>
              <a:off x="0" y="0"/>
              <a:ext cx="6553200" cy="6127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386" name="a0          a1         a2       a3         a4        a5"/>
            <p:cNvSpPr txBox="1"/>
            <p:nvPr/>
          </p:nvSpPr>
          <p:spPr>
            <a:xfrm>
              <a:off x="0" y="61655"/>
              <a:ext cx="4217988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indent="39687"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r>
                <a:t>a</a:t>
              </a:r>
              <a:r>
                <a:rPr baseline="-25000"/>
                <a:t>0          </a:t>
              </a:r>
              <a:r>
                <a:t>a</a:t>
              </a:r>
              <a:r>
                <a:rPr baseline="-25000"/>
                <a:t>1         </a:t>
              </a:r>
              <a:r>
                <a:t>a</a:t>
              </a:r>
              <a:r>
                <a:rPr baseline="-25000"/>
                <a:t>2       </a:t>
              </a:r>
              <a:r>
                <a:t>a</a:t>
              </a:r>
              <a:r>
                <a:rPr baseline="-25000"/>
                <a:t>3         </a:t>
              </a:r>
              <a:r>
                <a:t>a</a:t>
              </a:r>
              <a:r>
                <a:rPr baseline="-25000"/>
                <a:t>4        </a:t>
              </a:r>
              <a:r>
                <a:t>a</a:t>
              </a:r>
              <a:r>
                <a:rPr baseline="-25000"/>
                <a:t>5       </a:t>
              </a:r>
            </a:p>
          </p:txBody>
        </p:sp>
      </p:grpSp>
      <p:sp>
        <p:nvSpPr>
          <p:cNvPr id="388" name="线条"/>
          <p:cNvSpPr/>
          <p:nvPr/>
        </p:nvSpPr>
        <p:spPr>
          <a:xfrm flipV="1">
            <a:off x="2342821" y="2515365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89" name="线条"/>
          <p:cNvSpPr/>
          <p:nvPr/>
        </p:nvSpPr>
        <p:spPr>
          <a:xfrm flipV="1">
            <a:off x="3015921" y="2515365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0" name="线条"/>
          <p:cNvSpPr/>
          <p:nvPr/>
        </p:nvSpPr>
        <p:spPr>
          <a:xfrm flipV="1">
            <a:off x="3689021" y="2515365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1" name="线条"/>
          <p:cNvSpPr/>
          <p:nvPr/>
        </p:nvSpPr>
        <p:spPr>
          <a:xfrm flipV="1">
            <a:off x="4358946" y="2515365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2" name="线条"/>
          <p:cNvSpPr/>
          <p:nvPr/>
        </p:nvSpPr>
        <p:spPr>
          <a:xfrm flipV="1">
            <a:off x="4998709" y="2515365"/>
            <a:ext cx="1588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3" name="线条"/>
          <p:cNvSpPr/>
          <p:nvPr/>
        </p:nvSpPr>
        <p:spPr>
          <a:xfrm flipV="1">
            <a:off x="5670221" y="2515365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4" name="线条"/>
          <p:cNvSpPr/>
          <p:nvPr/>
        </p:nvSpPr>
        <p:spPr>
          <a:xfrm flipV="1">
            <a:off x="6341734" y="2515365"/>
            <a:ext cx="1588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5" name="线条"/>
          <p:cNvSpPr/>
          <p:nvPr/>
        </p:nvSpPr>
        <p:spPr>
          <a:xfrm flipV="1">
            <a:off x="6979909" y="2515365"/>
            <a:ext cx="1588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6" name="线条"/>
          <p:cNvSpPr/>
          <p:nvPr/>
        </p:nvSpPr>
        <p:spPr>
          <a:xfrm flipV="1">
            <a:off x="7619671" y="2513777"/>
            <a:ext cx="1589" cy="6127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97" name="删除位置2的元素(注意：不能直接将位置2设置为null???)"/>
          <p:cNvSpPr txBox="1"/>
          <p:nvPr/>
        </p:nvSpPr>
        <p:spPr>
          <a:xfrm>
            <a:off x="267959" y="1772415"/>
            <a:ext cx="826518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39687" defTabSz="914400">
              <a:lnSpc>
                <a:spcPct val="100000"/>
              </a:lnSpc>
              <a:spcBef>
                <a:spcPts val="1300"/>
              </a:spcBef>
              <a:defRPr sz="2400" b="1"/>
            </a:lvl1pPr>
          </a:lstStyle>
          <a:p>
            <a:r>
              <a:t>删除位置2的元素(注意：不能直接将位置2设置为null???)</a:t>
            </a:r>
          </a:p>
        </p:txBody>
      </p:sp>
      <p:sp>
        <p:nvSpPr>
          <p:cNvPr id="398" name="复制－向前(练习)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复制－向前(练习)</a:t>
            </a:r>
          </a:p>
        </p:txBody>
      </p:sp>
      <p:sp>
        <p:nvSpPr>
          <p:cNvPr id="399" name="为了保证结构的正确性，必须复制数据"/>
          <p:cNvSpPr txBox="1"/>
          <p:nvPr/>
        </p:nvSpPr>
        <p:spPr>
          <a:xfrm>
            <a:off x="310306" y="997724"/>
            <a:ext cx="5511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1"/>
                </a:solidFill>
              </a:defRPr>
            </a:pPr>
            <a:r>
              <a:t>为了保证</a:t>
            </a:r>
            <a:r>
              <a:rPr>
                <a:solidFill>
                  <a:srgbClr val="FF2600"/>
                </a:solidFill>
              </a:rPr>
              <a:t>结构</a:t>
            </a:r>
            <a:r>
              <a:t>的正确性，必须复制数据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rivate void moveForward(int pos) {…"/>
          <p:cNvSpPr txBox="1"/>
          <p:nvPr/>
        </p:nvSpPr>
        <p:spPr>
          <a:xfrm>
            <a:off x="847824" y="1016024"/>
            <a:ext cx="6973343" cy="2108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400" u="sng">
                <a:latin typeface="Monaco"/>
                <a:ea typeface="Monaco"/>
                <a:cs typeface="Monaco"/>
                <a:sym typeface="Monaco"/>
              </a:defRPr>
            </a:pPr>
            <a:r>
              <a:rPr u="none"/>
              <a:t>	</a:t>
            </a:r>
            <a:r>
              <a:rPr u="none">
                <a:solidFill>
                  <a:srgbClr val="931A68"/>
                </a:solidFill>
              </a:rPr>
              <a:t>private</a:t>
            </a:r>
            <a:r>
              <a:rPr u="none"/>
              <a:t> </a:t>
            </a:r>
            <a:r>
              <a:rPr u="none">
                <a:solidFill>
                  <a:srgbClr val="931A68"/>
                </a:solidFill>
              </a:rPr>
              <a:t>void</a:t>
            </a:r>
            <a:r>
              <a:rPr u="none"/>
              <a:t> moveForward(</a:t>
            </a:r>
            <a:r>
              <a:rPr u="none">
                <a:solidFill>
                  <a:srgbClr val="931A68"/>
                </a:solidFill>
              </a:rPr>
              <a:t>int</a:t>
            </a:r>
            <a:r>
              <a:rPr u="none"/>
              <a:t> </a:t>
            </a:r>
            <a:r>
              <a:rPr u="none">
                <a:solidFill>
                  <a:srgbClr val="7E504F"/>
                </a:solidFill>
              </a:rPr>
              <a:t>pos</a:t>
            </a:r>
            <a:r>
              <a:rPr u="none"/>
              <a:t>) {</a:t>
            </a:r>
          </a:p>
          <a:p>
            <a:pPr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+ 1];</a:t>
            </a:r>
          </a:p>
          <a:p>
            <a:pPr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02" name="复制－向前(练习)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复制－向前(练习)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过程：…"/>
          <p:cNvSpPr txBox="1"/>
          <p:nvPr/>
        </p:nvSpPr>
        <p:spPr>
          <a:xfrm>
            <a:off x="1304925" y="984250"/>
            <a:ext cx="6913563" cy="2659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/>
            </a:pPr>
            <a:r>
              <a:t>过程：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/>
            </a:pPr>
            <a:r>
              <a:t>1、判断下标的合法性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/>
            </a:pPr>
            <a:r>
              <a:t>2、向前移动（覆盖掉被删除的数据元素）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/>
            </a:pPr>
            <a:r>
              <a:t>3、--size</a:t>
            </a:r>
          </a:p>
        </p:txBody>
      </p:sp>
      <p:sp>
        <p:nvSpPr>
          <p:cNvPr id="405" name="T remove(int index)"/>
          <p:cNvSpPr txBox="1"/>
          <p:nvPr/>
        </p:nvSpPr>
        <p:spPr>
          <a:xfrm>
            <a:off x="927100" y="15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T remove(int index)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@SuppressWarnings(&quot;unchecked&quot;)…"/>
          <p:cNvSpPr txBox="1"/>
          <p:nvPr/>
        </p:nvSpPr>
        <p:spPr>
          <a:xfrm>
            <a:off x="89439" y="885593"/>
            <a:ext cx="8947318" cy="429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remove(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moveForward(i);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+ 1, 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,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- 1);</a:t>
            </a:r>
          </a:p>
          <a:p>
            <a:pPr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[--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FF2600"/>
                </a:solidFill>
              </a:rPr>
              <a:t>// 防止内存泄漏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08" name="T remove(int index)"/>
          <p:cNvSpPr txBox="1"/>
          <p:nvPr/>
        </p:nvSpPr>
        <p:spPr>
          <a:xfrm>
            <a:off x="927100" y="15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T remove(int index)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int indexOf(T x)"/>
          <p:cNvSpPr txBox="1"/>
          <p:nvPr/>
        </p:nvSpPr>
        <p:spPr>
          <a:xfrm>
            <a:off x="590550" y="20637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int indexOf(T x)</a:t>
            </a:r>
          </a:p>
        </p:txBody>
      </p:sp>
      <p:sp>
        <p:nvSpPr>
          <p:cNvPr id="411" name="给定一个值，输出这个值在表中的位置"/>
          <p:cNvSpPr txBox="1"/>
          <p:nvPr/>
        </p:nvSpPr>
        <p:spPr>
          <a:xfrm>
            <a:off x="1333500" y="847724"/>
            <a:ext cx="59436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700"/>
            </a:pPr>
            <a:r>
              <a:t>给定一个值，输出这个值在表中的</a:t>
            </a:r>
            <a:r>
              <a:rPr>
                <a:solidFill>
                  <a:srgbClr val="FF2600"/>
                </a:solidFill>
              </a:rPr>
              <a:t>位置</a:t>
            </a:r>
          </a:p>
        </p:txBody>
      </p:sp>
      <p:sp>
        <p:nvSpPr>
          <p:cNvPr id="412" name="顺序查找算法：…"/>
          <p:cNvSpPr txBox="1"/>
          <p:nvPr/>
        </p:nvSpPr>
        <p:spPr>
          <a:xfrm>
            <a:off x="725487" y="2896432"/>
            <a:ext cx="7705317" cy="2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700">
                <a:solidFill>
                  <a:srgbClr val="C82506"/>
                </a:solidFill>
              </a:defRPr>
            </a:pPr>
            <a:r>
              <a:t>顺序查找算法</a:t>
            </a:r>
            <a:r>
              <a:rPr>
                <a:solidFill>
                  <a:srgbClr val="000000"/>
                </a:solidFill>
              </a:rPr>
              <a:t>：</a:t>
            </a:r>
          </a:p>
          <a:p>
            <a:pPr>
              <a:defRPr sz="2700"/>
            </a:pPr>
            <a:r>
              <a:t>      位置0到size -1的数据元素逐一与x比较，如果有</a:t>
            </a:r>
          </a:p>
          <a:p>
            <a:pPr>
              <a:defRPr sz="2700"/>
            </a:pPr>
            <a:r>
              <a:t>      相等的的数据，则返回它所在的位置；</a:t>
            </a:r>
          </a:p>
          <a:p>
            <a:pPr>
              <a:lnSpc>
                <a:spcPct val="100000"/>
              </a:lnSpc>
              <a:defRPr sz="2700"/>
            </a:pPr>
            <a:r>
              <a:t>      如果所有的都不等于x，则返回-1。 </a:t>
            </a:r>
          </a:p>
        </p:txBody>
      </p:sp>
      <p:grpSp>
        <p:nvGrpSpPr>
          <p:cNvPr id="415" name="成组"/>
          <p:cNvGrpSpPr/>
          <p:nvPr/>
        </p:nvGrpSpPr>
        <p:grpSpPr>
          <a:xfrm>
            <a:off x="430927" y="1336490"/>
            <a:ext cx="8049281" cy="1196552"/>
            <a:chOff x="25400" y="25400"/>
            <a:chExt cx="8049279" cy="1196551"/>
          </a:xfrm>
        </p:grpSpPr>
        <p:graphicFrame>
          <p:nvGraphicFramePr>
            <p:cNvPr id="413" name="表格"/>
            <p:cNvGraphicFramePr/>
            <p:nvPr/>
          </p:nvGraphicFramePr>
          <p:xfrm>
            <a:off x="201527" y="633216"/>
            <a:ext cx="7795447" cy="588735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414" name="表格"/>
            <p:cNvGraphicFramePr/>
            <p:nvPr/>
          </p:nvGraphicFramePr>
          <p:xfrm>
            <a:off x="25400" y="25400"/>
            <a:ext cx="8049279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int indexOf(T x)"/>
          <p:cNvSpPr txBox="1"/>
          <p:nvPr/>
        </p:nvSpPr>
        <p:spPr>
          <a:xfrm>
            <a:off x="590550" y="-4763"/>
            <a:ext cx="79375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int indexOf(T x)</a:t>
            </a:r>
          </a:p>
        </p:txBody>
      </p:sp>
      <p:sp>
        <p:nvSpPr>
          <p:cNvPr id="418" name="public int indexOf(T x) {…"/>
          <p:cNvSpPr txBox="1"/>
          <p:nvPr/>
        </p:nvSpPr>
        <p:spPr>
          <a:xfrm>
            <a:off x="866775" y="967085"/>
            <a:ext cx="4858702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</a:t>
            </a:r>
            <a:r>
              <a:rPr dirty="0">
                <a:solidFill>
                  <a:srgbClr val="931A68"/>
                </a:solidFill>
              </a:rPr>
              <a:t>public</a:t>
            </a:r>
            <a:r>
              <a:rPr dirty="0"/>
              <a:t> </a:t>
            </a:r>
            <a:r>
              <a:rPr dirty="0">
                <a:solidFill>
                  <a:srgbClr val="931A68"/>
                </a:solidFill>
              </a:rPr>
              <a:t>int</a:t>
            </a:r>
            <a:r>
              <a:rPr dirty="0"/>
              <a:t> </a:t>
            </a:r>
            <a:r>
              <a:rPr dirty="0" err="1"/>
              <a:t>indexOf</a:t>
            </a:r>
            <a:r>
              <a:rPr dirty="0"/>
              <a:t>(T </a:t>
            </a:r>
            <a:r>
              <a:rPr dirty="0">
                <a:solidFill>
                  <a:srgbClr val="7E504F"/>
                </a:solidFill>
              </a:rPr>
              <a:t>x</a:t>
            </a:r>
            <a:r>
              <a:rPr dirty="0"/>
              <a:t>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</a:t>
            </a:r>
            <a:r>
              <a:rPr dirty="0">
                <a:solidFill>
                  <a:srgbClr val="931A68"/>
                </a:solidFill>
              </a:rPr>
              <a:t>for</a:t>
            </a:r>
            <a:r>
              <a:rPr dirty="0"/>
              <a:t>(</a:t>
            </a:r>
            <a:r>
              <a:rPr dirty="0">
                <a:solidFill>
                  <a:srgbClr val="931A68"/>
                </a:solidFill>
              </a:rPr>
              <a:t>int</a:t>
            </a:r>
            <a:r>
              <a:rPr dirty="0"/>
              <a:t>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 = 0;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 &lt; </a:t>
            </a:r>
            <a:r>
              <a:rPr dirty="0">
                <a:solidFill>
                  <a:srgbClr val="0326CC"/>
                </a:solidFill>
              </a:rPr>
              <a:t>size</a:t>
            </a:r>
            <a:r>
              <a:rPr dirty="0"/>
              <a:t>;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++)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	</a:t>
            </a:r>
            <a:r>
              <a:rPr dirty="0">
                <a:solidFill>
                  <a:srgbClr val="931A68"/>
                </a:solidFill>
              </a:rPr>
              <a:t>if</a:t>
            </a:r>
            <a:r>
              <a:rPr dirty="0"/>
              <a:t>(</a:t>
            </a:r>
            <a:r>
              <a:rPr dirty="0" err="1">
                <a:solidFill>
                  <a:srgbClr val="0326CC"/>
                </a:solidFill>
              </a:rPr>
              <a:t>listElem</a:t>
            </a:r>
            <a:r>
              <a:rPr dirty="0"/>
              <a:t>[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].equals(</a:t>
            </a:r>
            <a:r>
              <a:rPr dirty="0">
                <a:solidFill>
                  <a:srgbClr val="7E504F"/>
                </a:solidFill>
              </a:rPr>
              <a:t>x</a:t>
            </a:r>
            <a:r>
              <a:rPr dirty="0"/>
              <a:t>)) 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            </a:t>
            </a:r>
            <a:r>
              <a:rPr lang="en-US" dirty="0"/>
              <a:t>            </a:t>
            </a:r>
            <a:r>
              <a:rPr dirty="0">
                <a:solidFill>
                  <a:srgbClr val="931A68"/>
                </a:solidFill>
              </a:rPr>
              <a:t>return</a:t>
            </a:r>
            <a:r>
              <a:rPr dirty="0"/>
              <a:t>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             </a:t>
            </a:r>
            <a:r>
              <a:rPr dirty="0">
                <a:solidFill>
                  <a:srgbClr val="4E9072"/>
                </a:solidFill>
              </a:rPr>
              <a:t>//</a:t>
            </a:r>
            <a:r>
              <a:rPr dirty="0" err="1">
                <a:solidFill>
                  <a:srgbClr val="4E9072"/>
                </a:solidFill>
              </a:rPr>
              <a:t>必须调用equals,不能listElem</a:t>
            </a:r>
            <a:r>
              <a:rPr dirty="0">
                <a:solidFill>
                  <a:srgbClr val="4E9072"/>
                </a:solidFill>
              </a:rPr>
              <a:t>[</a:t>
            </a:r>
            <a:r>
              <a:rPr dirty="0" err="1">
                <a:solidFill>
                  <a:srgbClr val="4E9072"/>
                </a:solidFill>
              </a:rPr>
              <a:t>i</a:t>
            </a:r>
            <a:r>
              <a:rPr dirty="0">
                <a:solidFill>
                  <a:srgbClr val="4E9072"/>
                </a:solidFill>
              </a:rPr>
              <a:t>] == x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}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</a:t>
            </a:r>
            <a:r>
              <a:rPr dirty="0">
                <a:solidFill>
                  <a:srgbClr val="931A68"/>
                </a:solidFill>
              </a:rPr>
              <a:t>return</a:t>
            </a:r>
            <a:r>
              <a:rPr dirty="0"/>
              <a:t> -1 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}</a:t>
            </a:r>
          </a:p>
        </p:txBody>
      </p:sp>
      <p:grpSp>
        <p:nvGrpSpPr>
          <p:cNvPr id="421" name="成组"/>
          <p:cNvGrpSpPr/>
          <p:nvPr/>
        </p:nvGrpSpPr>
        <p:grpSpPr>
          <a:xfrm>
            <a:off x="3911600" y="4198937"/>
            <a:ext cx="730250" cy="1589088"/>
            <a:chOff x="0" y="0"/>
            <a:chExt cx="730250" cy="1589087"/>
          </a:xfrm>
        </p:grpSpPr>
        <p:sp>
          <p:nvSpPr>
            <p:cNvPr id="419" name="椭圆形"/>
            <p:cNvSpPr/>
            <p:nvPr/>
          </p:nvSpPr>
          <p:spPr>
            <a:xfrm>
              <a:off x="0" y="861984"/>
              <a:ext cx="730250" cy="727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0" name="线条"/>
            <p:cNvSpPr/>
            <p:nvPr/>
          </p:nvSpPr>
          <p:spPr>
            <a:xfrm flipH="1">
              <a:off x="365124" y="0"/>
              <a:ext cx="1" cy="81622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424" name="成组"/>
          <p:cNvGrpSpPr/>
          <p:nvPr/>
        </p:nvGrpSpPr>
        <p:grpSpPr>
          <a:xfrm>
            <a:off x="5422900" y="4211637"/>
            <a:ext cx="730250" cy="1589088"/>
            <a:chOff x="0" y="0"/>
            <a:chExt cx="730250" cy="1589087"/>
          </a:xfrm>
        </p:grpSpPr>
        <p:sp>
          <p:nvSpPr>
            <p:cNvPr id="422" name="椭圆形"/>
            <p:cNvSpPr/>
            <p:nvPr/>
          </p:nvSpPr>
          <p:spPr>
            <a:xfrm>
              <a:off x="0" y="861984"/>
              <a:ext cx="730250" cy="727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23" name="线条"/>
            <p:cNvSpPr/>
            <p:nvPr/>
          </p:nvSpPr>
          <p:spPr>
            <a:xfrm flipH="1">
              <a:off x="365124" y="0"/>
              <a:ext cx="1" cy="81622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425" name="x"/>
          <p:cNvSpPr txBox="1"/>
          <p:nvPr/>
        </p:nvSpPr>
        <p:spPr>
          <a:xfrm>
            <a:off x="3378200" y="3714350"/>
            <a:ext cx="273050" cy="44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x</a:t>
            </a:r>
          </a:p>
        </p:txBody>
      </p:sp>
      <p:sp>
        <p:nvSpPr>
          <p:cNvPr id="426" name="listElem[i]"/>
          <p:cNvSpPr txBox="1"/>
          <p:nvPr/>
        </p:nvSpPr>
        <p:spPr>
          <a:xfrm>
            <a:off x="6608762" y="3693712"/>
            <a:ext cx="1472203" cy="44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listElem[i]</a:t>
            </a:r>
          </a:p>
        </p:txBody>
      </p:sp>
      <p:sp>
        <p:nvSpPr>
          <p:cNvPr id="427" name="文本"/>
          <p:cNvSpPr txBox="1"/>
          <p:nvPr/>
        </p:nvSpPr>
        <p:spPr>
          <a:xfrm>
            <a:off x="3724275" y="3731812"/>
            <a:ext cx="1171575" cy="469113"/>
          </a:xfrm>
          <a:prstGeom prst="rect">
            <a:avLst/>
          </a:prstGeom>
          <a:ln w="25400">
            <a:solidFill>
              <a:schemeClr val="accent1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            </a:t>
            </a:r>
          </a:p>
        </p:txBody>
      </p:sp>
      <p:sp>
        <p:nvSpPr>
          <p:cNvPr id="428" name="文本"/>
          <p:cNvSpPr txBox="1"/>
          <p:nvPr/>
        </p:nvSpPr>
        <p:spPr>
          <a:xfrm>
            <a:off x="5227637" y="3731812"/>
            <a:ext cx="1171576" cy="469113"/>
          </a:xfrm>
          <a:prstGeom prst="rect">
            <a:avLst/>
          </a:prstGeom>
          <a:ln w="25400">
            <a:solidFill>
              <a:schemeClr val="accent1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ublic void clear() {…"/>
          <p:cNvSpPr txBox="1"/>
          <p:nvPr/>
        </p:nvSpPr>
        <p:spPr>
          <a:xfrm>
            <a:off x="389575" y="812155"/>
            <a:ext cx="6340618" cy="1754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lvl="1"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  <a:r>
              <a:rPr>
                <a:solidFill>
                  <a:srgbClr val="FF2600"/>
                </a:solidFill>
              </a:rPr>
              <a:t>// 防止内存泄漏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0;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31" name="void clear()"/>
          <p:cNvSpPr txBox="1"/>
          <p:nvPr/>
        </p:nvSpPr>
        <p:spPr>
          <a:xfrm>
            <a:off x="590550" y="-19050"/>
            <a:ext cx="7937500" cy="67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void clear()</a:t>
            </a:r>
          </a:p>
        </p:txBody>
      </p:sp>
      <p:grpSp>
        <p:nvGrpSpPr>
          <p:cNvPr id="434" name="成组"/>
          <p:cNvGrpSpPr/>
          <p:nvPr/>
        </p:nvGrpSpPr>
        <p:grpSpPr>
          <a:xfrm>
            <a:off x="279208" y="4099898"/>
            <a:ext cx="8049281" cy="1196552"/>
            <a:chOff x="25400" y="25400"/>
            <a:chExt cx="8049279" cy="1196550"/>
          </a:xfrm>
        </p:grpSpPr>
        <p:graphicFrame>
          <p:nvGraphicFramePr>
            <p:cNvPr id="432" name="表格"/>
            <p:cNvGraphicFramePr/>
            <p:nvPr/>
          </p:nvGraphicFramePr>
          <p:xfrm>
            <a:off x="201527" y="633216"/>
            <a:ext cx="7795447" cy="588734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r>
                          <a:t>a</a:t>
                        </a:r>
                        <a:r>
                          <a:rPr baseline="-5999"/>
                          <a:t>size-1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433" name="表格"/>
            <p:cNvGraphicFramePr/>
            <p:nvPr/>
          </p:nvGraphicFramePr>
          <p:xfrm>
            <a:off x="25400" y="25400"/>
            <a:ext cx="8049279" cy="7873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452" name="成组"/>
          <p:cNvGrpSpPr/>
          <p:nvPr/>
        </p:nvGrpSpPr>
        <p:grpSpPr>
          <a:xfrm>
            <a:off x="266508" y="2355641"/>
            <a:ext cx="8049281" cy="2879451"/>
            <a:chOff x="25400" y="25400"/>
            <a:chExt cx="8049279" cy="2879450"/>
          </a:xfrm>
        </p:grpSpPr>
        <p:graphicFrame>
          <p:nvGraphicFramePr>
            <p:cNvPr id="435" name="表格"/>
            <p:cNvGraphicFramePr/>
            <p:nvPr/>
          </p:nvGraphicFramePr>
          <p:xfrm>
            <a:off x="201527" y="633216"/>
            <a:ext cx="7795447" cy="588735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93556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914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444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9668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406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7642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7457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79320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990138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58873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rgbClr val="FF2600"/>
                            </a:solidFill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436" name="表格"/>
            <p:cNvGraphicFramePr/>
            <p:nvPr/>
          </p:nvGraphicFramePr>
          <p:xfrm>
            <a:off x="25400" y="25400"/>
            <a:ext cx="8049279" cy="787400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9100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143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883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92587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4242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917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300">
                            <a:sym typeface="Tahoma"/>
                          </a:rPr>
                          <a:t>size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3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000">
                            <a:sym typeface="Tahoma"/>
                          </a:rPr>
                          <a:t>length-1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439" name="成组"/>
            <p:cNvGrpSpPr/>
            <p:nvPr/>
          </p:nvGrpSpPr>
          <p:grpSpPr>
            <a:xfrm>
              <a:off x="450971" y="899143"/>
              <a:ext cx="430370" cy="1002407"/>
              <a:chOff x="0" y="0"/>
              <a:chExt cx="430369" cy="1002406"/>
            </a:xfrm>
          </p:grpSpPr>
          <p:sp>
            <p:nvSpPr>
              <p:cNvPr id="437" name="a0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0</a:t>
                </a:r>
              </a:p>
            </p:txBody>
          </p:sp>
          <p:sp>
            <p:nvSpPr>
              <p:cNvPr id="438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42" name="成组"/>
            <p:cNvGrpSpPr/>
            <p:nvPr/>
          </p:nvGrpSpPr>
          <p:grpSpPr>
            <a:xfrm>
              <a:off x="1426988" y="899143"/>
              <a:ext cx="430370" cy="1002407"/>
              <a:chOff x="0" y="0"/>
              <a:chExt cx="430369" cy="1002406"/>
            </a:xfrm>
          </p:grpSpPr>
          <p:sp>
            <p:nvSpPr>
              <p:cNvPr id="440" name="a1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1</a:t>
                </a:r>
              </a:p>
            </p:txBody>
          </p:sp>
          <p:sp>
            <p:nvSpPr>
              <p:cNvPr id="441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45" name="成组"/>
            <p:cNvGrpSpPr/>
            <p:nvPr/>
          </p:nvGrpSpPr>
          <p:grpSpPr>
            <a:xfrm>
              <a:off x="2367116" y="899143"/>
              <a:ext cx="430371" cy="1002407"/>
              <a:chOff x="0" y="0"/>
              <a:chExt cx="430369" cy="1002406"/>
            </a:xfrm>
          </p:grpSpPr>
          <p:sp>
            <p:nvSpPr>
              <p:cNvPr id="443" name="a2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2</a:t>
                </a:r>
              </a:p>
            </p:txBody>
          </p:sp>
          <p:sp>
            <p:nvSpPr>
              <p:cNvPr id="444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48" name="成组"/>
            <p:cNvGrpSpPr/>
            <p:nvPr/>
          </p:nvGrpSpPr>
          <p:grpSpPr>
            <a:xfrm>
              <a:off x="3239083" y="899143"/>
              <a:ext cx="430370" cy="1002407"/>
              <a:chOff x="0" y="0"/>
              <a:chExt cx="430369" cy="1002406"/>
            </a:xfrm>
          </p:grpSpPr>
          <p:sp>
            <p:nvSpPr>
              <p:cNvPr id="446" name="a3"/>
              <p:cNvSpPr txBox="1"/>
              <p:nvPr/>
            </p:nvSpPr>
            <p:spPr>
              <a:xfrm>
                <a:off x="0" y="469006"/>
                <a:ext cx="430370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3</a:t>
                </a:r>
              </a:p>
            </p:txBody>
          </p:sp>
          <p:sp>
            <p:nvSpPr>
              <p:cNvPr id="447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51" name="成组"/>
            <p:cNvGrpSpPr/>
            <p:nvPr/>
          </p:nvGrpSpPr>
          <p:grpSpPr>
            <a:xfrm>
              <a:off x="4719125" y="899143"/>
              <a:ext cx="1270001" cy="2005707"/>
              <a:chOff x="0" y="0"/>
              <a:chExt cx="1270000" cy="2005706"/>
            </a:xfrm>
          </p:grpSpPr>
          <p:sp>
            <p:nvSpPr>
              <p:cNvPr id="449" name="asize-1"/>
              <p:cNvSpPr/>
              <p:nvPr/>
            </p:nvSpPr>
            <p:spPr>
              <a:xfrm>
                <a:off x="0" y="735706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800">
                    <a:latin typeface="Tahoma"/>
                    <a:ea typeface="Tahoma"/>
                    <a:cs typeface="Tahoma"/>
                    <a:sym typeface="Tahoma"/>
                  </a:defRPr>
                </a:pPr>
                <a:r>
                  <a:t>a</a:t>
                </a:r>
                <a:r>
                  <a:rPr baseline="-5999"/>
                  <a:t>size-1</a:t>
                </a:r>
              </a:p>
            </p:txBody>
          </p:sp>
          <p:sp>
            <p:nvSpPr>
              <p:cNvPr id="450" name="线条"/>
              <p:cNvSpPr/>
              <p:nvPr/>
            </p:nvSpPr>
            <p:spPr>
              <a:xfrm flipH="1">
                <a:off x="197714" y="0"/>
                <a:ext cx="1" cy="61731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扩充容量"/>
          <p:cNvSpPr txBox="1"/>
          <p:nvPr/>
        </p:nvSpPr>
        <p:spPr>
          <a:xfrm>
            <a:off x="927100" y="-365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扩充容量</a:t>
            </a:r>
          </a:p>
        </p:txBody>
      </p:sp>
      <p:graphicFrame>
        <p:nvGraphicFramePr>
          <p:cNvPr id="455" name="表格"/>
          <p:cNvGraphicFramePr/>
          <p:nvPr/>
        </p:nvGraphicFramePr>
        <p:xfrm>
          <a:off x="1247775" y="1419225"/>
          <a:ext cx="4524372" cy="7874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5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0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6" name="表格"/>
          <p:cNvGraphicFramePr/>
          <p:nvPr/>
        </p:nvGraphicFramePr>
        <p:xfrm>
          <a:off x="1266825" y="3298825"/>
          <a:ext cx="6786558" cy="7874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5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0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2800">
                          <a:sym typeface="Tahoma"/>
                        </a:defRPr>
                      </a:pPr>
                      <a:r>
                        <a:t>a</a:t>
                      </a:r>
                      <a:r>
                        <a:rPr baseline="-5999"/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800">
                          <a:sym typeface="Tahoma"/>
                        </a:rPr>
                        <a:t>null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800">
                          <a:sym typeface="Tahoma"/>
                        </a:rPr>
                        <a:t>null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800">
                          <a:sym typeface="Tahoma"/>
                        </a:rPr>
                        <a:t>null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7" name="原有的数组满了"/>
          <p:cNvSpPr txBox="1"/>
          <p:nvPr/>
        </p:nvSpPr>
        <p:spPr>
          <a:xfrm>
            <a:off x="573087" y="744537"/>
            <a:ext cx="20701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原有的数组满了</a:t>
            </a:r>
          </a:p>
        </p:txBody>
      </p:sp>
      <p:sp>
        <p:nvSpPr>
          <p:cNvPr id="458" name="生成新的的数组，并将原数组的数据复制过来。"/>
          <p:cNvSpPr txBox="1"/>
          <p:nvPr/>
        </p:nvSpPr>
        <p:spPr>
          <a:xfrm>
            <a:off x="573087" y="2581275"/>
            <a:ext cx="5981701" cy="4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生成新的的数组，并将原数组的数据复制过来。</a:t>
            </a:r>
          </a:p>
        </p:txBody>
      </p:sp>
      <p:sp>
        <p:nvSpPr>
          <p:cNvPr id="459" name="例如，将原数组a扩大为a的1.5倍：…"/>
          <p:cNvSpPr txBox="1"/>
          <p:nvPr/>
        </p:nvSpPr>
        <p:spPr>
          <a:xfrm>
            <a:off x="812263" y="4254478"/>
            <a:ext cx="6836235" cy="1606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例如，将原数组a扩大为a的1.5倍：</a:t>
            </a: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Arrays.copyOf(a, a.length + a.length / 2) </a:t>
            </a: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由数组a生成一个新数组，新数组的前length个数组元素</a:t>
            </a:r>
          </a:p>
          <a:p>
            <a:pPr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复制于a，其它的数组元素=null。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扩充容量"/>
          <p:cNvSpPr txBox="1"/>
          <p:nvPr/>
        </p:nvSpPr>
        <p:spPr>
          <a:xfrm>
            <a:off x="927100" y="-254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扩充容量</a:t>
            </a:r>
          </a:p>
        </p:txBody>
      </p:sp>
      <p:sp>
        <p:nvSpPr>
          <p:cNvPr id="462" name="public void add(int i, T x) {…"/>
          <p:cNvSpPr txBox="1"/>
          <p:nvPr/>
        </p:nvSpPr>
        <p:spPr>
          <a:xfrm>
            <a:off x="1713152" y="755481"/>
            <a:ext cx="4991821" cy="766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ensureCapacity(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+ 1);</a:t>
            </a:r>
          </a:p>
        </p:txBody>
      </p:sp>
      <p:sp>
        <p:nvSpPr>
          <p:cNvPr id="463" name="private void ensureCapacity(int minCapacity) {…"/>
          <p:cNvSpPr txBox="1"/>
          <p:nvPr/>
        </p:nvSpPr>
        <p:spPr>
          <a:xfrm>
            <a:off x="657076" y="1484801"/>
            <a:ext cx="7796511" cy="2052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326CC"/>
                </a:solidFill>
              </a:rPr>
              <a:t> </a:t>
            </a:r>
            <a:r>
              <a:t>   </a:t>
            </a:r>
            <a:r>
              <a:rPr sz="2000">
                <a:solidFill>
                  <a:srgbClr val="931A68"/>
                </a:solidFill>
              </a:rPr>
              <a:t>private</a:t>
            </a:r>
            <a:r>
              <a:rPr sz="2000"/>
              <a:t> </a:t>
            </a:r>
            <a:r>
              <a:rPr sz="2000">
                <a:solidFill>
                  <a:srgbClr val="931A68"/>
                </a:solidFill>
              </a:rPr>
              <a:t>void</a:t>
            </a:r>
            <a:r>
              <a:rPr sz="2000"/>
              <a:t> ensureCapacity(</a:t>
            </a:r>
            <a:r>
              <a:rPr sz="2000">
                <a:solidFill>
                  <a:srgbClr val="931A68"/>
                </a:solidFill>
              </a:rPr>
              <a:t>int</a:t>
            </a:r>
            <a:r>
              <a:rPr sz="2000"/>
              <a:t> </a:t>
            </a:r>
            <a:r>
              <a:rPr sz="2000">
                <a:solidFill>
                  <a:srgbClr val="7E504F"/>
                </a:solidFill>
              </a:rPr>
              <a:t>minCapacity</a:t>
            </a:r>
            <a:r>
              <a:rPr sz="2000"/>
              <a:t>) { 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4E9072"/>
                </a:solidFill>
              </a:rPr>
              <a:t>// overflow-conscious code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 -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&gt; 0)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grow(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464" name="private void ensureCapacity(int minCapacity) {…"/>
          <p:cNvSpPr txBox="1"/>
          <p:nvPr/>
        </p:nvSpPr>
        <p:spPr>
          <a:xfrm>
            <a:off x="657076" y="3337974"/>
            <a:ext cx="8344992" cy="2017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 sz="2000">
                <a:solidFill>
                  <a:srgbClr val="931A68"/>
                </a:solidFill>
              </a:rPr>
              <a:t>private</a:t>
            </a:r>
            <a:r>
              <a:rPr sz="2000"/>
              <a:t> </a:t>
            </a:r>
            <a:r>
              <a:rPr sz="2000">
                <a:solidFill>
                  <a:srgbClr val="931A68"/>
                </a:solidFill>
              </a:rPr>
              <a:t>void</a:t>
            </a:r>
            <a:r>
              <a:rPr sz="2000"/>
              <a:t> ensureCapacity(</a:t>
            </a:r>
            <a:r>
              <a:rPr sz="2000">
                <a:solidFill>
                  <a:srgbClr val="931A68"/>
                </a:solidFill>
              </a:rPr>
              <a:t>int</a:t>
            </a:r>
            <a:r>
              <a:rPr sz="2000"/>
              <a:t> </a:t>
            </a:r>
            <a:r>
              <a:rPr sz="2000">
                <a:solidFill>
                  <a:srgbClr val="7E504F"/>
                </a:solidFill>
              </a:rPr>
              <a:t>minCapacity</a:t>
            </a:r>
            <a:r>
              <a:rPr sz="2000"/>
              <a:t>) { 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 &gt;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)// 有溢出则错误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grow(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扩充容量"/>
          <p:cNvSpPr txBox="1"/>
          <p:nvPr/>
        </p:nvSpPr>
        <p:spPr>
          <a:xfrm>
            <a:off x="927100" y="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扩充容量</a:t>
            </a:r>
          </a:p>
        </p:txBody>
      </p:sp>
      <p:sp>
        <p:nvSpPr>
          <p:cNvPr id="467" name="private static final int MAX_ARRAY_SIZE = Integer.MAX_VALUE - 8;…"/>
          <p:cNvSpPr txBox="1"/>
          <p:nvPr/>
        </p:nvSpPr>
        <p:spPr>
          <a:xfrm>
            <a:off x="10771" y="819476"/>
            <a:ext cx="8985276" cy="4859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0326CC"/>
                </a:solidFill>
              </a:rPr>
              <a:t>MAX_ARRAY_SIZE</a:t>
            </a:r>
            <a:r>
              <a:t> = Integer.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 - 8;</a:t>
            </a:r>
          </a:p>
          <a:p>
            <a: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grow(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minCapacity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overflow-conscious code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 + (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 &gt;&gt; 1);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- </a:t>
            </a:r>
            <a:r>
              <a:t>minCapacity</a:t>
            </a:r>
            <a:r>
              <a:rPr>
                <a:solidFill>
                  <a:srgbClr val="000000"/>
                </a:solidFill>
              </a:rPr>
              <a:t> &lt; 0)</a:t>
            </a:r>
          </a:p>
          <a:p>
            <a:pPr>
              <a:lnSpc>
                <a:spcPct val="10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minCapacity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rPr>
                <a:solidFill>
                  <a:srgbClr val="000000"/>
                </a:solidFill>
              </a:rPr>
              <a:t> - </a:t>
            </a:r>
            <a:r>
              <a:t>MAX_ARRAY_SIZE</a:t>
            </a:r>
            <a:r>
              <a:rPr>
                <a:solidFill>
                  <a:srgbClr val="000000"/>
                </a:solidFill>
              </a:rPr>
              <a:t> &gt; 0)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t> = hugeCapacity(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minCapacity is usually close to size, so this is a win: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 = Arrays.copyOf(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t>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扩充容量"/>
          <p:cNvSpPr txBox="1"/>
          <p:nvPr/>
        </p:nvSpPr>
        <p:spPr>
          <a:xfrm>
            <a:off x="927100" y="-111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扩充容量</a:t>
            </a:r>
          </a:p>
        </p:txBody>
      </p:sp>
      <p:sp>
        <p:nvSpPr>
          <p:cNvPr id="470" name="private static int hugeCapacity(int minCapacity) {…"/>
          <p:cNvSpPr txBox="1"/>
          <p:nvPr/>
        </p:nvSpPr>
        <p:spPr>
          <a:xfrm>
            <a:off x="500062" y="890079"/>
            <a:ext cx="8040391" cy="2480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hugeCapacity(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 &lt; 0) </a:t>
            </a:r>
            <a:r>
              <a:rPr>
                <a:solidFill>
                  <a:srgbClr val="4E9072"/>
                </a:solidFill>
              </a:rPr>
              <a:t>// overflow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OutOfMemoryError();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</a:t>
            </a:r>
            <a:r>
              <a:rPr>
                <a:solidFill>
                  <a:srgbClr val="7E504F"/>
                </a:solidFill>
              </a:rPr>
              <a:t>minCapacity</a:t>
            </a:r>
            <a:r>
              <a:t> &gt; </a:t>
            </a:r>
            <a:r>
              <a:rPr>
                <a:solidFill>
                  <a:srgbClr val="0326CC"/>
                </a:solidFill>
              </a:rPr>
              <a:t>MAX_ARRAY_SIZE</a:t>
            </a:r>
            <a:r>
              <a:t>) ?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Integer.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 :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0326CC"/>
                </a:solidFill>
              </a:rPr>
              <a:t>MAX_ARRAY_SIZE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溢出"/>
          <p:cNvSpPr txBox="1"/>
          <p:nvPr/>
        </p:nvSpPr>
        <p:spPr>
          <a:xfrm>
            <a:off x="927100" y="-492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溢出</a:t>
            </a:r>
          </a:p>
        </p:txBody>
      </p:sp>
      <p:sp>
        <p:nvSpPr>
          <p:cNvPr id="473" name="如果a &gt; 0, a 的值=Byte.MAX_VALUE，则a + 1 &lt; 0"/>
          <p:cNvSpPr txBox="1"/>
          <p:nvPr/>
        </p:nvSpPr>
        <p:spPr>
          <a:xfrm>
            <a:off x="469900" y="817562"/>
            <a:ext cx="614063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t>如果a &gt; 0, a 的值=Byte.MAX_VALUE，则a + 1 &lt; 0</a:t>
            </a:r>
          </a:p>
        </p:txBody>
      </p:sp>
      <p:sp>
        <p:nvSpPr>
          <p:cNvPr id="474" name="如果a &lt; 0, ， a 的值=Byte.MIN_VALUE，则a - 1 &gt; 0"/>
          <p:cNvSpPr txBox="1"/>
          <p:nvPr/>
        </p:nvSpPr>
        <p:spPr>
          <a:xfrm>
            <a:off x="469900" y="1284287"/>
            <a:ext cx="6316626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t>如果a &lt; 0, ， a 的值=Byte.MIN_VALUE，则a - 1 &gt; 0</a:t>
            </a:r>
          </a:p>
        </p:txBody>
      </p:sp>
      <p:sp>
        <p:nvSpPr>
          <p:cNvPr id="475" name="byte的范围 -128～127"/>
          <p:cNvSpPr txBox="1"/>
          <p:nvPr/>
        </p:nvSpPr>
        <p:spPr>
          <a:xfrm>
            <a:off x="461962" y="1708150"/>
            <a:ext cx="271403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t>byte的范围 -128～127</a:t>
            </a:r>
          </a:p>
        </p:txBody>
      </p:sp>
      <p:grpSp>
        <p:nvGrpSpPr>
          <p:cNvPr id="483" name="成组"/>
          <p:cNvGrpSpPr/>
          <p:nvPr/>
        </p:nvGrpSpPr>
        <p:grpSpPr>
          <a:xfrm>
            <a:off x="1400810" y="2189162"/>
            <a:ext cx="671622" cy="3166081"/>
            <a:chOff x="0" y="0"/>
            <a:chExt cx="671621" cy="3166079"/>
          </a:xfrm>
        </p:grpSpPr>
        <p:sp>
          <p:nvSpPr>
            <p:cNvPr id="476" name="线条"/>
            <p:cNvSpPr/>
            <p:nvPr/>
          </p:nvSpPr>
          <p:spPr>
            <a:xfrm>
              <a:off x="520600" y="2453330"/>
              <a:ext cx="14964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3930516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77" name="线条"/>
            <p:cNvSpPr/>
            <p:nvPr/>
          </p:nvSpPr>
          <p:spPr>
            <a:xfrm flipV="1">
              <a:off x="671621" y="-1"/>
              <a:ext cx="1" cy="316608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78" name="线条"/>
            <p:cNvSpPr/>
            <p:nvPr/>
          </p:nvSpPr>
          <p:spPr>
            <a:xfrm>
              <a:off x="520600" y="1480510"/>
              <a:ext cx="14964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3930516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79" name="线条"/>
            <p:cNvSpPr/>
            <p:nvPr/>
          </p:nvSpPr>
          <p:spPr>
            <a:xfrm>
              <a:off x="520600" y="515937"/>
              <a:ext cx="149643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3930516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80" name="0"/>
            <p:cNvSpPr txBox="1"/>
            <p:nvPr/>
          </p:nvSpPr>
          <p:spPr>
            <a:xfrm>
              <a:off x="266700" y="1289055"/>
              <a:ext cx="2413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r>
                <a:t>0</a:t>
              </a:r>
            </a:p>
          </p:txBody>
        </p:sp>
        <p:sp>
          <p:nvSpPr>
            <p:cNvPr id="481" name="-128"/>
            <p:cNvSpPr txBox="1"/>
            <p:nvPr/>
          </p:nvSpPr>
          <p:spPr>
            <a:xfrm>
              <a:off x="0" y="2249175"/>
              <a:ext cx="57988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r>
                <a:t>-128</a:t>
              </a:r>
            </a:p>
          </p:txBody>
        </p:sp>
        <p:sp>
          <p:nvSpPr>
            <p:cNvPr id="482" name="127"/>
            <p:cNvSpPr txBox="1"/>
            <p:nvPr/>
          </p:nvSpPr>
          <p:spPr>
            <a:xfrm>
              <a:off x="101600" y="328935"/>
              <a:ext cx="4953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r>
                <a:t>127</a:t>
              </a:r>
            </a:p>
          </p:txBody>
        </p:sp>
      </p:grpSp>
      <p:grpSp>
        <p:nvGrpSpPr>
          <p:cNvPr id="501" name="成组"/>
          <p:cNvGrpSpPr/>
          <p:nvPr/>
        </p:nvGrpSpPr>
        <p:grpSpPr>
          <a:xfrm>
            <a:off x="4000311" y="1785286"/>
            <a:ext cx="4433336" cy="3973832"/>
            <a:chOff x="0" y="0"/>
            <a:chExt cx="4433335" cy="3973830"/>
          </a:xfrm>
        </p:grpSpPr>
        <p:sp>
          <p:nvSpPr>
            <p:cNvPr id="484" name="椭圆形"/>
            <p:cNvSpPr/>
            <p:nvPr/>
          </p:nvSpPr>
          <p:spPr>
            <a:xfrm>
              <a:off x="847623" y="438272"/>
              <a:ext cx="2763223" cy="25902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11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85" name="0"/>
            <p:cNvSpPr txBox="1"/>
            <p:nvPr/>
          </p:nvSpPr>
          <p:spPr>
            <a:xfrm>
              <a:off x="2144935" y="0"/>
              <a:ext cx="236388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486" name="1"/>
            <p:cNvSpPr txBox="1"/>
            <p:nvPr/>
          </p:nvSpPr>
          <p:spPr>
            <a:xfrm>
              <a:off x="2989978" y="244142"/>
              <a:ext cx="236388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87" name="127"/>
            <p:cNvSpPr txBox="1"/>
            <p:nvPr/>
          </p:nvSpPr>
          <p:spPr>
            <a:xfrm>
              <a:off x="3334327" y="2451467"/>
              <a:ext cx="483149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127</a:t>
              </a:r>
            </a:p>
          </p:txBody>
        </p:sp>
        <p:sp>
          <p:nvSpPr>
            <p:cNvPr id="488" name="-128"/>
            <p:cNvSpPr txBox="1"/>
            <p:nvPr/>
          </p:nvSpPr>
          <p:spPr>
            <a:xfrm>
              <a:off x="1899367" y="3145439"/>
              <a:ext cx="565257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-128</a:t>
              </a:r>
            </a:p>
          </p:txBody>
        </p:sp>
        <p:sp>
          <p:nvSpPr>
            <p:cNvPr id="489" name="-127"/>
            <p:cNvSpPr txBox="1"/>
            <p:nvPr/>
          </p:nvSpPr>
          <p:spPr>
            <a:xfrm>
              <a:off x="795494" y="2718532"/>
              <a:ext cx="565256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-127</a:t>
              </a:r>
            </a:p>
          </p:txBody>
        </p:sp>
        <p:sp>
          <p:nvSpPr>
            <p:cNvPr id="490" name="-1"/>
            <p:cNvSpPr txBox="1"/>
            <p:nvPr/>
          </p:nvSpPr>
          <p:spPr>
            <a:xfrm>
              <a:off x="969056" y="357902"/>
              <a:ext cx="318495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-1</a:t>
              </a:r>
            </a:p>
          </p:txBody>
        </p:sp>
        <p:sp>
          <p:nvSpPr>
            <p:cNvPr id="491" name="2"/>
            <p:cNvSpPr txBox="1"/>
            <p:nvPr/>
          </p:nvSpPr>
          <p:spPr>
            <a:xfrm>
              <a:off x="3341542" y="540808"/>
              <a:ext cx="236389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92" name="-2"/>
            <p:cNvSpPr txBox="1"/>
            <p:nvPr/>
          </p:nvSpPr>
          <p:spPr>
            <a:xfrm>
              <a:off x="734880" y="773300"/>
              <a:ext cx="318495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solidFill>
                    <a:srgbClr val="00A2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-2</a:t>
              </a:r>
            </a:p>
          </p:txBody>
        </p:sp>
        <p:sp>
          <p:nvSpPr>
            <p:cNvPr id="502" name="连接线"/>
            <p:cNvSpPr/>
            <p:nvPr/>
          </p:nvSpPr>
          <p:spPr>
            <a:xfrm>
              <a:off x="3294898" y="506627"/>
              <a:ext cx="867114" cy="26991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65" h="21600" extrusionOk="0">
                  <a:moveTo>
                    <a:pt x="0" y="21600"/>
                  </a:moveTo>
                  <a:cubicBezTo>
                    <a:pt x="18021" y="16188"/>
                    <a:pt x="21600" y="8988"/>
                    <a:pt x="10738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head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503" name="连接线"/>
            <p:cNvSpPr/>
            <p:nvPr/>
          </p:nvSpPr>
          <p:spPr>
            <a:xfrm>
              <a:off x="354662" y="288792"/>
              <a:ext cx="726973" cy="2932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76" h="21600" extrusionOk="0">
                  <a:moveTo>
                    <a:pt x="12131" y="21600"/>
                  </a:moveTo>
                  <a:cubicBezTo>
                    <a:pt x="-5324" y="13311"/>
                    <a:pt x="-3942" y="6111"/>
                    <a:pt x="16276" y="0"/>
                  </a:cubicBezTo>
                </a:path>
              </a:pathLst>
            </a:custGeom>
            <a:noFill/>
            <a:ln w="25400" cap="flat">
              <a:solidFill>
                <a:srgbClr val="FF2600"/>
              </a:solidFill>
              <a:custDash>
                <a:ds d="200000" sp="200000"/>
              </a:custDash>
              <a:miter lim="400000"/>
              <a:head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495" name="+"/>
            <p:cNvSpPr txBox="1"/>
            <p:nvPr/>
          </p:nvSpPr>
          <p:spPr>
            <a:xfrm>
              <a:off x="4143295" y="1534580"/>
              <a:ext cx="290041" cy="4320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496" name="-"/>
            <p:cNvSpPr txBox="1"/>
            <p:nvPr/>
          </p:nvSpPr>
          <p:spPr>
            <a:xfrm>
              <a:off x="145360" y="1410040"/>
              <a:ext cx="217542" cy="4320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t>-</a:t>
              </a:r>
            </a:p>
          </p:txBody>
        </p:sp>
        <p:sp>
          <p:nvSpPr>
            <p:cNvPr id="497" name="128"/>
            <p:cNvSpPr txBox="1"/>
            <p:nvPr/>
          </p:nvSpPr>
          <p:spPr>
            <a:xfrm>
              <a:off x="1987261" y="3602883"/>
              <a:ext cx="483150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128</a:t>
              </a:r>
            </a:p>
          </p:txBody>
        </p:sp>
        <p:sp>
          <p:nvSpPr>
            <p:cNvPr id="498" name="129"/>
            <p:cNvSpPr txBox="1"/>
            <p:nvPr/>
          </p:nvSpPr>
          <p:spPr>
            <a:xfrm>
              <a:off x="12556" y="2718475"/>
              <a:ext cx="483150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129</a:t>
              </a:r>
            </a:p>
          </p:txBody>
        </p:sp>
        <p:sp>
          <p:nvSpPr>
            <p:cNvPr id="499" name="255"/>
            <p:cNvSpPr txBox="1"/>
            <p:nvPr/>
          </p:nvSpPr>
          <p:spPr>
            <a:xfrm>
              <a:off x="249398" y="231720"/>
              <a:ext cx="483150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255</a:t>
              </a:r>
            </a:p>
          </p:txBody>
        </p:sp>
        <p:sp>
          <p:nvSpPr>
            <p:cNvPr id="500" name="254"/>
            <p:cNvSpPr txBox="1"/>
            <p:nvPr/>
          </p:nvSpPr>
          <p:spPr>
            <a:xfrm>
              <a:off x="0" y="769643"/>
              <a:ext cx="483149" cy="370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254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溢出"/>
          <p:cNvSpPr txBox="1"/>
          <p:nvPr/>
        </p:nvSpPr>
        <p:spPr>
          <a:xfrm>
            <a:off x="927100" y="-492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溢出</a:t>
            </a:r>
          </a:p>
        </p:txBody>
      </p:sp>
      <p:sp>
        <p:nvSpPr>
          <p:cNvPr id="506" name="public class Test {…"/>
          <p:cNvSpPr txBox="1"/>
          <p:nvPr/>
        </p:nvSpPr>
        <p:spPr>
          <a:xfrm>
            <a:off x="143510" y="801493"/>
            <a:ext cx="7118071" cy="3995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Test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.println(Byte.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.println((</a:t>
            </a:r>
            <a:r>
              <a:rPr>
                <a:solidFill>
                  <a:srgbClr val="931A68"/>
                </a:solidFill>
              </a:rPr>
              <a:t>byte</a:t>
            </a:r>
            <a:r>
              <a:t>)(Byte.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 + 1));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.println((</a:t>
            </a:r>
            <a:r>
              <a:rPr>
                <a:solidFill>
                  <a:srgbClr val="931A68"/>
                </a:solidFill>
              </a:rPr>
              <a:t>byte</a:t>
            </a:r>
            <a:r>
              <a:t>)(Byte.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 + 3));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.println(Byte.</a:t>
            </a:r>
            <a:r>
              <a:rPr>
                <a:solidFill>
                  <a:srgbClr val="0326CC"/>
                </a:solidFill>
              </a:rPr>
              <a:t>MIN_VALUE</a:t>
            </a:r>
            <a:r>
              <a:t>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.println((</a:t>
            </a:r>
            <a:r>
              <a:rPr>
                <a:solidFill>
                  <a:srgbClr val="931A68"/>
                </a:solidFill>
              </a:rPr>
              <a:t>byte</a:t>
            </a:r>
            <a:r>
              <a:t>)(Byte.</a:t>
            </a:r>
            <a:r>
              <a:rPr>
                <a:solidFill>
                  <a:srgbClr val="0326CC"/>
                </a:solidFill>
              </a:rPr>
              <a:t>MIN_VALUE</a:t>
            </a:r>
            <a:r>
              <a:t> - 1));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.println((</a:t>
            </a:r>
            <a:r>
              <a:rPr>
                <a:solidFill>
                  <a:srgbClr val="931A68"/>
                </a:solidFill>
              </a:rPr>
              <a:t>byte</a:t>
            </a:r>
            <a:r>
              <a:t>)(Byte.</a:t>
            </a:r>
            <a:r>
              <a:rPr>
                <a:solidFill>
                  <a:srgbClr val="0326CC"/>
                </a:solidFill>
              </a:rPr>
              <a:t>MIN_VALUE</a:t>
            </a:r>
            <a:r>
              <a:t> - 3));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507" name="127…"/>
          <p:cNvSpPr txBox="1"/>
          <p:nvPr/>
        </p:nvSpPr>
        <p:spPr>
          <a:xfrm>
            <a:off x="7808859" y="1566033"/>
            <a:ext cx="632546" cy="92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127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-128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-126</a:t>
            </a:r>
          </a:p>
        </p:txBody>
      </p:sp>
      <p:sp>
        <p:nvSpPr>
          <p:cNvPr id="508" name="-128…"/>
          <p:cNvSpPr txBox="1"/>
          <p:nvPr/>
        </p:nvSpPr>
        <p:spPr>
          <a:xfrm>
            <a:off x="7808859" y="3084953"/>
            <a:ext cx="632546" cy="92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-128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127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125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算法复杂性分析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算法复杂性分析</a:t>
            </a:r>
          </a:p>
        </p:txBody>
      </p:sp>
      <p:sp>
        <p:nvSpPr>
          <p:cNvPr id="511" name="问题的规模：表中的数据个数:size，令n = size"/>
          <p:cNvSpPr txBox="1"/>
          <p:nvPr/>
        </p:nvSpPr>
        <p:spPr>
          <a:xfrm>
            <a:off x="47736" y="1068387"/>
            <a:ext cx="585455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200">
                <a:solidFill>
                  <a:srgbClr val="C82506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问题的规模</a:t>
            </a:r>
            <a:r>
              <a:rPr>
                <a:solidFill>
                  <a:srgbClr val="000000"/>
                </a:solidFill>
              </a:rPr>
              <a:t>：表中的数据个数:size，令n = size</a:t>
            </a:r>
          </a:p>
        </p:txBody>
      </p:sp>
      <p:sp>
        <p:nvSpPr>
          <p:cNvPr id="512" name="size()、isEmpty()、get(int index): O(1)"/>
          <p:cNvSpPr txBox="1"/>
          <p:nvPr/>
        </p:nvSpPr>
        <p:spPr>
          <a:xfrm>
            <a:off x="47736" y="1671637"/>
            <a:ext cx="4942546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size()、isEmpty()、get(int index): O(1)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算法复杂性分析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算法复杂性分析</a:t>
            </a:r>
          </a:p>
        </p:txBody>
      </p:sp>
      <p:sp>
        <p:nvSpPr>
          <p:cNvPr id="515" name="平均次数（等概率）：…"/>
          <p:cNvSpPr txBox="1"/>
          <p:nvPr/>
        </p:nvSpPr>
        <p:spPr>
          <a:xfrm>
            <a:off x="466660" y="1916112"/>
            <a:ext cx="6845958" cy="2265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</a:t>
            </a:r>
            <a:r>
              <a:rPr>
                <a:solidFill>
                  <a:srgbClr val="FF2600"/>
                </a:solidFill>
              </a:rPr>
              <a:t>平均次数</a:t>
            </a:r>
            <a:r>
              <a:t>（等概率）：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 位置       0     1   2     ...... n -1   n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 次数       n     n-1                 1    0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endParaRPr/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(1/(n + 1)) * (n + n-1 + ... +1 + 0) = n/2，即O(n)</a:t>
            </a:r>
          </a:p>
        </p:txBody>
      </p:sp>
      <p:pic>
        <p:nvPicPr>
          <p:cNvPr id="51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85" y="4416742"/>
            <a:ext cx="4038601" cy="1130301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add(int index, T x): 主要操作是复制操作，复制即赋值，复制次数 n - index…"/>
          <p:cNvSpPr txBox="1"/>
          <p:nvPr/>
        </p:nvSpPr>
        <p:spPr>
          <a:xfrm>
            <a:off x="46341" y="852439"/>
            <a:ext cx="8937018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add(int index, T x): </a:t>
            </a:r>
            <a:r>
              <a:rPr>
                <a:solidFill>
                  <a:srgbClr val="FF2600"/>
                </a:solidFill>
              </a:rPr>
              <a:t>主要操作</a:t>
            </a:r>
            <a:r>
              <a:t>是复制操作，复制即赋值，复制次数 n - index</a:t>
            </a:r>
          </a:p>
          <a:p>
            <a:pPr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              </a:t>
            </a:r>
            <a:r>
              <a:rPr>
                <a:solidFill>
                  <a:srgbClr val="C82506"/>
                </a:solidFill>
              </a:rPr>
              <a:t>最少复制次数？ 最多复制次数？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move(int index): 复制次数 n - index - 1…"/>
          <p:cNvSpPr txBox="1"/>
          <p:nvPr/>
        </p:nvSpPr>
        <p:spPr>
          <a:xfrm>
            <a:off x="1115973" y="787804"/>
            <a:ext cx="6210487" cy="318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remove(int index): 复制次数 n - index - 1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                最少复制次数？ 最多复制次数？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平均次数（等概率）：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 位置       0     1   2     ......n-2  n-1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  次数      n-1  n-2                1   0    </a:t>
            </a:r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endParaRPr/>
          </a:p>
          <a:p>
            <a:pPr>
              <a:defRPr sz="2200">
                <a:latin typeface="Tahoma"/>
                <a:ea typeface="Tahoma"/>
                <a:cs typeface="Tahoma"/>
                <a:sym typeface="Tahoma"/>
              </a:defRPr>
            </a:pPr>
            <a:r>
              <a:t>    (1/n ) * (n -1 + ... +1 + 0) = (n-1)/2，即O(n)</a:t>
            </a:r>
          </a:p>
        </p:txBody>
      </p:sp>
      <p:pic>
        <p:nvPicPr>
          <p:cNvPr id="52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4014326"/>
            <a:ext cx="4483100" cy="1117601"/>
          </a:xfrm>
          <a:prstGeom prst="rect">
            <a:avLst/>
          </a:prstGeom>
          <a:ln w="12700">
            <a:miter lim="400000"/>
          </a:ln>
        </p:spPr>
      </p:pic>
      <p:sp>
        <p:nvSpPr>
          <p:cNvPr id="521" name="算法复杂性分析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算法复杂性分析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indexOf(T x):  主要操作是比较操作。…"/>
          <p:cNvSpPr txBox="1"/>
          <p:nvPr/>
        </p:nvSpPr>
        <p:spPr>
          <a:xfrm>
            <a:off x="672771" y="819429"/>
            <a:ext cx="5336463" cy="354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</a:pPr>
            <a:r>
              <a:t>indexOf(T x):  主要操作是比较操作。</a:t>
            </a:r>
          </a:p>
          <a:p>
            <a:pPr>
              <a:lnSpc>
                <a:spcPct val="100000"/>
              </a:lnSpc>
            </a:pPr>
            <a:r>
              <a:t>查找成功：</a:t>
            </a:r>
          </a:p>
          <a:p>
            <a:pPr>
              <a:lnSpc>
                <a:spcPct val="100000"/>
              </a:lnSpc>
            </a:pPr>
            <a:r>
              <a:t>     最少比较次数？ 最多比较次数？</a:t>
            </a:r>
          </a:p>
          <a:p>
            <a:pPr>
              <a:lnSpc>
                <a:spcPct val="100000"/>
              </a:lnSpc>
            </a:pPr>
            <a:r>
              <a:t>     平均次数（等概率）：</a:t>
            </a:r>
          </a:p>
          <a:p>
            <a:pPr>
              <a:lnSpc>
                <a:spcPct val="100000"/>
              </a:lnSpc>
            </a:pPr>
            <a:r>
              <a:t>      位置       0     1   2     ......n-2   n-1</a:t>
            </a:r>
          </a:p>
          <a:p>
            <a:pPr>
              <a:lnSpc>
                <a:spcPct val="100000"/>
              </a:lnSpc>
            </a:pPr>
            <a:r>
              <a:t>      次数       1     2                n-1   n    </a:t>
            </a:r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t>    (1/n ) * (n + ... +1) = (n+1)/2，即O(n)</a:t>
            </a:r>
          </a:p>
        </p:txBody>
      </p:sp>
      <p:sp>
        <p:nvSpPr>
          <p:cNvPr id="524" name="算法复杂性分析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算法复杂性分析</a:t>
            </a:r>
          </a:p>
        </p:txBody>
      </p:sp>
      <p:sp>
        <p:nvSpPr>
          <p:cNvPr id="525" name="查找失败：…"/>
          <p:cNvSpPr txBox="1"/>
          <p:nvPr/>
        </p:nvSpPr>
        <p:spPr>
          <a:xfrm>
            <a:off x="633105" y="4565778"/>
            <a:ext cx="7143175" cy="978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</a:pPr>
            <a:r>
              <a:t>查找失败：                    </a:t>
            </a:r>
          </a:p>
          <a:p>
            <a:pPr>
              <a:lnSpc>
                <a:spcPct val="100000"/>
              </a:lnSpc>
            </a:pPr>
            <a:r>
              <a:t>         对任何不在表中的x，都需要比较n次，即O(n)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扩充容量:  除了需要new新对象外，主要操作是复制原有的…"/>
          <p:cNvSpPr txBox="1"/>
          <p:nvPr/>
        </p:nvSpPr>
        <p:spPr>
          <a:xfrm>
            <a:off x="298450" y="875588"/>
            <a:ext cx="8192722" cy="106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扩充容量:  除了需要new新对象外，主要操作是复制原有的</a:t>
            </a:r>
          </a:p>
          <a:p>
            <a:r>
              <a:t>数据，需要复制n个数据，O(n)</a:t>
            </a:r>
          </a:p>
        </p:txBody>
      </p:sp>
      <p:sp>
        <p:nvSpPr>
          <p:cNvPr id="528" name="算法复杂性分析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算法复杂性分析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实现Iterable接口"/>
          <p:cNvSpPr txBox="1"/>
          <p:nvPr/>
        </p:nvSpPr>
        <p:spPr>
          <a:xfrm>
            <a:off x="927100" y="-508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实现Iterable接口</a:t>
            </a:r>
          </a:p>
        </p:txBody>
      </p:sp>
      <p:sp>
        <p:nvSpPr>
          <p:cNvPr id="531" name="public Iterator&lt;T&gt; iterator(){…"/>
          <p:cNvSpPr txBox="1"/>
          <p:nvPr/>
        </p:nvSpPr>
        <p:spPr>
          <a:xfrm>
            <a:off x="597819" y="879383"/>
            <a:ext cx="8040192" cy="5634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Iterator&lt;T&gt; iterator(){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Itr(); 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Itr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Iterator&lt;T&gt;{// 内部类</a:t>
            </a: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下一个数据的下标</a:t>
            </a: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public </a:t>
            </a:r>
            <a:r>
              <a:rPr u="sng"/>
              <a:t>Itr</a:t>
            </a:r>
            <a:r>
              <a:t>() {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curPos = 0;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}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hasNext()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t> !=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>
              <a:lnSpc>
                <a:spcPct val="10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next() {</a:t>
            </a:r>
          </a:p>
          <a:p>
            <a:pPr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(T) </a:t>
            </a:r>
            <a:r>
              <a:t>listElem</a:t>
            </a:r>
            <a:r>
              <a:rPr>
                <a:solidFill>
                  <a:srgbClr val="000000"/>
                </a:solidFill>
              </a:rPr>
              <a:t>[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++];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实现Iterable接口"/>
          <p:cNvSpPr txBox="1"/>
          <p:nvPr/>
        </p:nvSpPr>
        <p:spPr>
          <a:xfrm>
            <a:off x="927100" y="-508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实现Iterable接口</a:t>
            </a:r>
          </a:p>
        </p:txBody>
      </p:sp>
      <p:grpSp>
        <p:nvGrpSpPr>
          <p:cNvPr id="538" name="成组"/>
          <p:cNvGrpSpPr/>
          <p:nvPr/>
        </p:nvGrpSpPr>
        <p:grpSpPr>
          <a:xfrm>
            <a:off x="714429" y="4546051"/>
            <a:ext cx="2783054" cy="1751249"/>
            <a:chOff x="0" y="0"/>
            <a:chExt cx="2783053" cy="1751247"/>
          </a:xfrm>
        </p:grpSpPr>
        <p:sp>
          <p:nvSpPr>
            <p:cNvPr id="534" name="矩形"/>
            <p:cNvSpPr/>
            <p:nvPr/>
          </p:nvSpPr>
          <p:spPr>
            <a:xfrm>
              <a:off x="0" y="0"/>
              <a:ext cx="2783054" cy="175124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grpSp>
          <p:nvGrpSpPr>
            <p:cNvPr id="537" name="成组"/>
            <p:cNvGrpSpPr/>
            <p:nvPr/>
          </p:nvGrpSpPr>
          <p:grpSpPr>
            <a:xfrm>
              <a:off x="328483" y="623085"/>
              <a:ext cx="2126087" cy="505077"/>
              <a:chOff x="0" y="0"/>
              <a:chExt cx="2126086" cy="505075"/>
            </a:xfrm>
          </p:grpSpPr>
          <p:sp>
            <p:nvSpPr>
              <p:cNvPr id="535" name="矩形"/>
              <p:cNvSpPr/>
              <p:nvPr/>
            </p:nvSpPr>
            <p:spPr>
              <a:xfrm>
                <a:off x="0" y="0"/>
                <a:ext cx="2126087" cy="5050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536" name="int curPos"/>
              <p:cNvSpPr txBox="1"/>
              <p:nvPr/>
            </p:nvSpPr>
            <p:spPr>
              <a:xfrm>
                <a:off x="0" y="36761"/>
                <a:ext cx="2126087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>
                    <a:solidFill>
                      <a:srgbClr val="C82506"/>
                    </a:solidFill>
                  </a:defRPr>
                </a:pPr>
                <a:r>
                  <a:t>int</a:t>
                </a:r>
                <a:r>
                  <a:rPr>
                    <a:solidFill>
                      <a:srgbClr val="000000"/>
                    </a:solidFill>
                  </a:rPr>
                  <a:t> curPos</a:t>
                </a:r>
              </a:p>
            </p:txBody>
          </p:sp>
        </p:grpSp>
      </p:grpSp>
      <p:sp>
        <p:nvSpPr>
          <p:cNvPr id="539" name="线条"/>
          <p:cNvSpPr/>
          <p:nvPr/>
        </p:nvSpPr>
        <p:spPr>
          <a:xfrm flipV="1">
            <a:off x="2106825" y="4079874"/>
            <a:ext cx="1" cy="474664"/>
          </a:xfrm>
          <a:prstGeom prst="line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557" name="成组"/>
          <p:cNvGrpSpPr/>
          <p:nvPr/>
        </p:nvGrpSpPr>
        <p:grpSpPr>
          <a:xfrm>
            <a:off x="422274" y="1049192"/>
            <a:ext cx="8278427" cy="3049396"/>
            <a:chOff x="0" y="0"/>
            <a:chExt cx="8278425" cy="3049395"/>
          </a:xfrm>
        </p:grpSpPr>
        <p:sp>
          <p:nvSpPr>
            <p:cNvPr id="540" name="矩形"/>
            <p:cNvSpPr/>
            <p:nvPr/>
          </p:nvSpPr>
          <p:spPr>
            <a:xfrm>
              <a:off x="4895778" y="0"/>
              <a:ext cx="3382648" cy="206578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549" name="成组"/>
            <p:cNvGrpSpPr/>
            <p:nvPr/>
          </p:nvGrpSpPr>
          <p:grpSpPr>
            <a:xfrm>
              <a:off x="-1" y="356995"/>
              <a:ext cx="4738198" cy="2692401"/>
              <a:chOff x="0" y="0"/>
              <a:chExt cx="4738196" cy="2692399"/>
            </a:xfrm>
          </p:grpSpPr>
          <p:sp>
            <p:nvSpPr>
              <p:cNvPr id="541" name="矩形"/>
              <p:cNvSpPr/>
              <p:nvPr/>
            </p:nvSpPr>
            <p:spPr>
              <a:xfrm>
                <a:off x="0" y="0"/>
                <a:ext cx="3744070" cy="26924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dash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grpSp>
            <p:nvGrpSpPr>
              <p:cNvPr id="544" name="成组"/>
              <p:cNvGrpSpPr/>
              <p:nvPr/>
            </p:nvGrpSpPr>
            <p:grpSpPr>
              <a:xfrm>
                <a:off x="790730" y="452661"/>
                <a:ext cx="2126088" cy="505077"/>
                <a:chOff x="0" y="0"/>
                <a:chExt cx="2126086" cy="505075"/>
              </a:xfrm>
            </p:grpSpPr>
            <p:sp>
              <p:nvSpPr>
                <p:cNvPr id="542" name="矩形"/>
                <p:cNvSpPr/>
                <p:nvPr/>
              </p:nvSpPr>
              <p:spPr>
                <a:xfrm>
                  <a:off x="0" y="0"/>
                  <a:ext cx="2126087" cy="5050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/>
                  </a:pPr>
                  <a:endParaRPr/>
                </a:p>
              </p:txBody>
            </p:sp>
            <p:sp>
              <p:nvSpPr>
                <p:cNvPr id="543" name="Object[] listElem"/>
                <p:cNvSpPr txBox="1"/>
                <p:nvPr/>
              </p:nvSpPr>
              <p:spPr>
                <a:xfrm>
                  <a:off x="0" y="61082"/>
                  <a:ext cx="2126087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indent="39687" defTabSz="914400">
                    <a:lnSpc>
                      <a:spcPct val="100000"/>
                    </a:lnSpc>
                    <a:spcBef>
                      <a:spcPts val="1300"/>
                    </a:spcBef>
                    <a:defRPr sz="2000" b="1">
                      <a:solidFill>
                        <a:srgbClr val="C82506"/>
                      </a:solidFill>
                    </a:defRPr>
                  </a:pPr>
                  <a:r>
                    <a:t>Object[]</a:t>
                  </a:r>
                  <a:r>
                    <a:rPr>
                      <a:solidFill>
                        <a:srgbClr val="000000"/>
                      </a:solidFill>
                    </a:rPr>
                    <a:t> listElem</a:t>
                  </a:r>
                </a:p>
              </p:txBody>
            </p:sp>
          </p:grpSp>
          <p:grpSp>
            <p:nvGrpSpPr>
              <p:cNvPr id="547" name="成组"/>
              <p:cNvGrpSpPr/>
              <p:nvPr/>
            </p:nvGrpSpPr>
            <p:grpSpPr>
              <a:xfrm>
                <a:off x="790730" y="1564461"/>
                <a:ext cx="2126088" cy="505077"/>
                <a:chOff x="0" y="0"/>
                <a:chExt cx="2126086" cy="505075"/>
              </a:xfrm>
            </p:grpSpPr>
            <p:sp>
              <p:nvSpPr>
                <p:cNvPr id="545" name="矩形"/>
                <p:cNvSpPr/>
                <p:nvPr/>
              </p:nvSpPr>
              <p:spPr>
                <a:xfrm>
                  <a:off x="0" y="0"/>
                  <a:ext cx="2126087" cy="5050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/>
                  </a:pPr>
                  <a:endParaRPr/>
                </a:p>
              </p:txBody>
            </p:sp>
            <p:sp>
              <p:nvSpPr>
                <p:cNvPr id="546" name="int size"/>
                <p:cNvSpPr txBox="1"/>
                <p:nvPr/>
              </p:nvSpPr>
              <p:spPr>
                <a:xfrm>
                  <a:off x="0" y="36761"/>
                  <a:ext cx="2126087" cy="431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indent="39687" defTabSz="914400">
                    <a:lnSpc>
                      <a:spcPct val="100000"/>
                    </a:lnSpc>
                    <a:spcBef>
                      <a:spcPts val="1300"/>
                    </a:spcBef>
                    <a:defRPr sz="2400" b="1">
                      <a:solidFill>
                        <a:srgbClr val="C82506"/>
                      </a:solidFill>
                    </a:defRPr>
                  </a:pPr>
                  <a:r>
                    <a:t>int</a:t>
                  </a:r>
                  <a:r>
                    <a:rPr>
                      <a:solidFill>
                        <a:srgbClr val="000000"/>
                      </a:solidFill>
                    </a:rPr>
                    <a:t> size</a:t>
                  </a:r>
                </a:p>
              </p:txBody>
            </p:sp>
          </p:grpSp>
          <p:sp>
            <p:nvSpPr>
              <p:cNvPr id="548" name="线条"/>
              <p:cNvSpPr/>
              <p:nvPr/>
            </p:nvSpPr>
            <p:spPr>
              <a:xfrm>
                <a:off x="2902594" y="670256"/>
                <a:ext cx="1835603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550" name="矩形"/>
            <p:cNvSpPr/>
            <p:nvPr/>
          </p:nvSpPr>
          <p:spPr>
            <a:xfrm>
              <a:off x="5263115" y="188451"/>
              <a:ext cx="824279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51" name="length"/>
            <p:cNvSpPr txBox="1"/>
            <p:nvPr/>
          </p:nvSpPr>
          <p:spPr>
            <a:xfrm>
              <a:off x="5255074" y="677560"/>
              <a:ext cx="875080" cy="444501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length</a:t>
              </a:r>
            </a:p>
          </p:txBody>
        </p:sp>
        <p:sp>
          <p:nvSpPr>
            <p:cNvPr id="552" name="6"/>
            <p:cNvSpPr/>
            <p:nvPr/>
          </p:nvSpPr>
          <p:spPr>
            <a:xfrm>
              <a:off x="6183331" y="714072"/>
              <a:ext cx="509117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553" name="..."/>
            <p:cNvSpPr/>
            <p:nvPr/>
          </p:nvSpPr>
          <p:spPr>
            <a:xfrm>
              <a:off x="6075915" y="188451"/>
              <a:ext cx="824280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...</a:t>
              </a:r>
            </a:p>
          </p:txBody>
        </p:sp>
        <p:sp>
          <p:nvSpPr>
            <p:cNvPr id="554" name="矩形"/>
            <p:cNvSpPr/>
            <p:nvPr/>
          </p:nvSpPr>
          <p:spPr>
            <a:xfrm>
              <a:off x="6879987" y="188451"/>
              <a:ext cx="824280" cy="39687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lnSpc>
                  <a:spcPct val="100000"/>
                </a:lnSpc>
                <a:defRPr sz="21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55" name="componentType"/>
            <p:cNvSpPr txBox="1"/>
            <p:nvPr/>
          </p:nvSpPr>
          <p:spPr>
            <a:xfrm>
              <a:off x="5162203" y="1274391"/>
              <a:ext cx="1622228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defRPr sz="17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componentType</a:t>
              </a:r>
            </a:p>
          </p:txBody>
        </p:sp>
        <p:sp>
          <p:nvSpPr>
            <p:cNvPr id="556" name="Object[]"/>
            <p:cNvSpPr/>
            <p:nvPr/>
          </p:nvSpPr>
          <p:spPr>
            <a:xfrm>
              <a:off x="6813600" y="1239692"/>
              <a:ext cx="1260204" cy="449264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00000"/>
                </a:lnSpc>
                <a:defRPr sz="2100">
                  <a:solidFill>
                    <a:srgbClr val="C82506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Object[]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实现Iterable接口"/>
          <p:cNvSpPr txBox="1"/>
          <p:nvPr/>
        </p:nvSpPr>
        <p:spPr>
          <a:xfrm>
            <a:off x="927100" y="-254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实现Iterable接口</a:t>
            </a:r>
          </a:p>
        </p:txBody>
      </p:sp>
      <p:sp>
        <p:nvSpPr>
          <p:cNvPr id="560" name="for(Iterator&lt;Integer&gt; i = sl.iterator(); i.hasNext();)…"/>
          <p:cNvSpPr txBox="1"/>
          <p:nvPr/>
        </p:nvSpPr>
        <p:spPr>
          <a:xfrm>
            <a:off x="113686" y="1601833"/>
            <a:ext cx="8436546" cy="2940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(Iterator&lt;Integer&gt;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sl</a:t>
            </a:r>
            <a:r>
              <a:t>.iterator();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.hasNext();)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i</a:t>
            </a:r>
            <a:r>
              <a:t>.next()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(Integer </a:t>
            </a:r>
            <a:r>
              <a:rPr>
                <a:solidFill>
                  <a:srgbClr val="7E504F"/>
                </a:solidFill>
              </a:rPr>
              <a:t>ele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sl</a:t>
            </a:r>
            <a:r>
              <a:t>)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ele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sl</a:t>
            </a:r>
            <a:r>
              <a:t>.forEach(System.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::print);</a:t>
            </a:r>
          </a:p>
        </p:txBody>
      </p:sp>
      <p:sp>
        <p:nvSpPr>
          <p:cNvPr id="561" name="实现了Iterable接口，除了for-get外，还可以如下读取所有的数据:"/>
          <p:cNvSpPr txBox="1"/>
          <p:nvPr/>
        </p:nvSpPr>
        <p:spPr>
          <a:xfrm>
            <a:off x="73919" y="978716"/>
            <a:ext cx="901437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实现了Iterable接口，除了for-get外，还可以如下读取所有的数据: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实现RandomAccess接口"/>
          <p:cNvSpPr txBox="1"/>
          <p:nvPr/>
        </p:nvSpPr>
        <p:spPr>
          <a:xfrm>
            <a:off x="927100" y="-12700"/>
            <a:ext cx="69469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实现RandomAccess接口</a:t>
            </a:r>
          </a:p>
        </p:txBody>
      </p:sp>
      <p:sp>
        <p:nvSpPr>
          <p:cNvPr id="564" name="import java.util.RandomAccess;…"/>
          <p:cNvSpPr txBox="1"/>
          <p:nvPr/>
        </p:nvSpPr>
        <p:spPr>
          <a:xfrm>
            <a:off x="198437" y="664653"/>
            <a:ext cx="5906444" cy="145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import</a:t>
            </a:r>
            <a:r>
              <a:rPr>
                <a:solidFill>
                  <a:srgbClr val="000000"/>
                </a:solidFill>
              </a:rPr>
              <a:t> java.util.RandomAccess;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CArrayList&lt;T&gt; </a:t>
            </a:r>
            <a:r>
              <a:t>implements</a:t>
            </a:r>
            <a:r>
              <a:rPr>
                <a:solidFill>
                  <a:srgbClr val="000000"/>
                </a:solidFill>
              </a:rPr>
              <a:t> Ilist&lt;T&gt; ,RandomAccess{</a:t>
            </a:r>
          </a:p>
        </p:txBody>
      </p:sp>
      <p:sp>
        <p:nvSpPr>
          <p:cNvPr id="565" name="//未实现了RandomAccess接口，用以下的方法…"/>
          <p:cNvSpPr txBox="1"/>
          <p:nvPr/>
        </p:nvSpPr>
        <p:spPr>
          <a:xfrm>
            <a:off x="58737" y="2225937"/>
            <a:ext cx="8848093" cy="3096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//未实现了RandomAccess接口，用以下的方法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(Iterator&lt;Integer&gt;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sl</a:t>
            </a:r>
            <a:r>
              <a:t>.iterator();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.hasNext();)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i</a:t>
            </a:r>
            <a:r>
              <a:t>.next()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//实现了RandomAccess接口，用以下的方法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sl</a:t>
            </a:r>
            <a:r>
              <a:t>.size();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sl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));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tring toString()"/>
          <p:cNvSpPr txBox="1"/>
          <p:nvPr/>
        </p:nvSpPr>
        <p:spPr>
          <a:xfrm>
            <a:off x="927100" y="269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String toString()</a:t>
            </a:r>
          </a:p>
        </p:txBody>
      </p:sp>
      <p:sp>
        <p:nvSpPr>
          <p:cNvPr id="568" name="public static void main(String[] args) {…"/>
          <p:cNvSpPr txBox="1"/>
          <p:nvPr/>
        </p:nvSpPr>
        <p:spPr>
          <a:xfrm>
            <a:off x="705076" y="976312"/>
            <a:ext cx="7390948" cy="3411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	public static void main(String[] args) {</a:t>
            </a:r>
          </a:p>
          <a:p>
            <a:r>
              <a:t>		CLinkedList&lt;Integer&gt; sl = new CLinkedList&lt;&gt;();</a:t>
            </a:r>
          </a:p>
          <a:p>
            <a:endParaRPr/>
          </a:p>
          <a:p>
            <a:r>
              <a:t>		sl.add(0, 1);</a:t>
            </a:r>
          </a:p>
          <a:p>
            <a:r>
              <a:t>		sl.add(0, 2);</a:t>
            </a:r>
          </a:p>
          <a:p>
            <a:r>
              <a:t>		sl.add(0, 3);</a:t>
            </a:r>
          </a:p>
          <a:p>
            <a:r>
              <a:t>		System.out.println(sl);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tring toString()"/>
          <p:cNvSpPr txBox="1"/>
          <p:nvPr/>
        </p:nvSpPr>
        <p:spPr>
          <a:xfrm>
            <a:off x="927100" y="269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String toString()</a:t>
            </a:r>
          </a:p>
        </p:txBody>
      </p:sp>
      <p:sp>
        <p:nvSpPr>
          <p:cNvPr id="571" name="public String toString() {…"/>
          <p:cNvSpPr txBox="1"/>
          <p:nvPr/>
        </p:nvSpPr>
        <p:spPr>
          <a:xfrm>
            <a:off x="112712" y="1315259"/>
            <a:ext cx="8802515" cy="847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String toString() {</a:t>
            </a:r>
          </a:p>
          <a:p>
            <a:pPr>
              <a:lnSpc>
                <a:spcPct val="10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getClass().getName() + </a:t>
            </a:r>
            <a:r>
              <a:rPr>
                <a:solidFill>
                  <a:srgbClr val="3933FF"/>
                </a:solidFill>
              </a:rPr>
              <a:t>"@"</a:t>
            </a:r>
            <a:r>
              <a:t> + Integer.toHexString(hashCode());</a:t>
            </a:r>
          </a:p>
          <a:p>
            <a:pPr>
              <a:lnSpc>
                <a:spcPct val="10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572" name="Object类有成员函数："/>
          <p:cNvSpPr txBox="1"/>
          <p:nvPr/>
        </p:nvSpPr>
        <p:spPr>
          <a:xfrm>
            <a:off x="561975" y="806450"/>
            <a:ext cx="2619822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Object类有成员函数：</a:t>
            </a:r>
          </a:p>
        </p:txBody>
      </p:sp>
      <p:sp>
        <p:nvSpPr>
          <p:cNvPr id="573" name="Object的子类可以覆盖该函数，方便调试。"/>
          <p:cNvSpPr txBox="1"/>
          <p:nvPr/>
        </p:nvSpPr>
        <p:spPr>
          <a:xfrm>
            <a:off x="561975" y="2182812"/>
            <a:ext cx="49058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Object的子类可以覆盖该函数，方便调试。</a:t>
            </a:r>
          </a:p>
        </p:txBody>
      </p:sp>
      <p:sp>
        <p:nvSpPr>
          <p:cNvPr id="574" name="public String toString() {…"/>
          <p:cNvSpPr txBox="1"/>
          <p:nvPr/>
        </p:nvSpPr>
        <p:spPr>
          <a:xfrm>
            <a:off x="901700" y="2666491"/>
            <a:ext cx="7125693" cy="213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String toString()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String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 = getClass().getName() + </a:t>
            </a:r>
            <a:r>
              <a:rPr>
                <a:solidFill>
                  <a:srgbClr val="3933FF"/>
                </a:solidFill>
              </a:rPr>
              <a:t>":"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str</a:t>
            </a:r>
            <a:r>
              <a:t> += 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+ </a:t>
            </a:r>
            <a:r>
              <a:rPr>
                <a:solidFill>
                  <a:srgbClr val="3933FF"/>
                </a:solidFill>
              </a:rPr>
              <a:t>"  "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Object clone()"/>
          <p:cNvSpPr txBox="1"/>
          <p:nvPr/>
        </p:nvSpPr>
        <p:spPr>
          <a:xfrm>
            <a:off x="927100" y="15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Object clone()</a:t>
            </a:r>
          </a:p>
        </p:txBody>
      </p:sp>
      <p:sp>
        <p:nvSpPr>
          <p:cNvPr id="577" name="protected native Object clone() throws CloneNotSupportedException;"/>
          <p:cNvSpPr txBox="1"/>
          <p:nvPr/>
        </p:nvSpPr>
        <p:spPr>
          <a:xfrm>
            <a:off x="255587" y="1372409"/>
            <a:ext cx="8573878" cy="33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protected</a:t>
            </a:r>
            <a:r>
              <a:t> </a:t>
            </a:r>
            <a:r>
              <a:rPr>
                <a:solidFill>
                  <a:srgbClr val="931A68"/>
                </a:solidFill>
              </a:rPr>
              <a:t>native</a:t>
            </a:r>
            <a:r>
              <a:t> Object clone() </a:t>
            </a:r>
            <a:r>
              <a:rPr>
                <a:solidFill>
                  <a:srgbClr val="931A68"/>
                </a:solidFill>
              </a:rPr>
              <a:t>throws</a:t>
            </a:r>
            <a:r>
              <a:t> CloneNotSupportedException;</a:t>
            </a:r>
          </a:p>
        </p:txBody>
      </p:sp>
      <p:sp>
        <p:nvSpPr>
          <p:cNvPr id="578" name="Object类有成员函数："/>
          <p:cNvSpPr txBox="1"/>
          <p:nvPr/>
        </p:nvSpPr>
        <p:spPr>
          <a:xfrm>
            <a:off x="561975" y="755650"/>
            <a:ext cx="2619822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Object类有成员函数：</a:t>
            </a:r>
          </a:p>
        </p:txBody>
      </p:sp>
      <p:sp>
        <p:nvSpPr>
          <p:cNvPr id="579" name="clone函数“浅度”复制了一个对象。即生成一个新对象，新对象的各字段…"/>
          <p:cNvSpPr txBox="1"/>
          <p:nvPr/>
        </p:nvSpPr>
        <p:spPr>
          <a:xfrm>
            <a:off x="612775" y="1952783"/>
            <a:ext cx="8018686" cy="88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Tahoma"/>
                <a:ea typeface="Tahoma"/>
                <a:cs typeface="Tahoma"/>
                <a:sym typeface="Tahoma"/>
              </a:defRPr>
            </a:pPr>
            <a:r>
              <a:t>clone函数“浅度”复制了一个对象。即生成一个新对象，新对象的各字段</a:t>
            </a:r>
          </a:p>
          <a:p>
            <a:pPr>
              <a:defRPr sz="2000">
                <a:latin typeface="Tahoma"/>
                <a:ea typeface="Tahoma"/>
                <a:cs typeface="Tahoma"/>
                <a:sym typeface="Tahoma"/>
              </a:defRPr>
            </a:pPr>
            <a:r>
              <a:t>(成员变量)的值和被克隆的对象相同。</a:t>
            </a:r>
          </a:p>
        </p:txBody>
      </p:sp>
      <p:grpSp>
        <p:nvGrpSpPr>
          <p:cNvPr id="587" name="成组"/>
          <p:cNvGrpSpPr/>
          <p:nvPr/>
        </p:nvGrpSpPr>
        <p:grpSpPr>
          <a:xfrm>
            <a:off x="919162" y="3059112"/>
            <a:ext cx="2774951" cy="2360613"/>
            <a:chOff x="0" y="0"/>
            <a:chExt cx="2774950" cy="2360612"/>
          </a:xfrm>
        </p:grpSpPr>
        <p:sp>
          <p:nvSpPr>
            <p:cNvPr id="580" name="矩形"/>
            <p:cNvSpPr/>
            <p:nvPr/>
          </p:nvSpPr>
          <p:spPr>
            <a:xfrm>
              <a:off x="0" y="0"/>
              <a:ext cx="2774950" cy="23606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grpSp>
          <p:nvGrpSpPr>
            <p:cNvPr id="583" name="成组"/>
            <p:cNvGrpSpPr/>
            <p:nvPr/>
          </p:nvGrpSpPr>
          <p:grpSpPr>
            <a:xfrm>
              <a:off x="371675" y="297816"/>
              <a:ext cx="2125451" cy="505098"/>
              <a:chOff x="0" y="0"/>
              <a:chExt cx="2125449" cy="505097"/>
            </a:xfrm>
          </p:grpSpPr>
          <p:sp>
            <p:nvSpPr>
              <p:cNvPr id="581" name="矩形"/>
              <p:cNvSpPr/>
              <p:nvPr/>
            </p:nvSpPr>
            <p:spPr>
              <a:xfrm>
                <a:off x="0" y="0"/>
                <a:ext cx="2125450" cy="50509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582" name="100"/>
              <p:cNvSpPr txBox="1"/>
              <p:nvPr/>
            </p:nvSpPr>
            <p:spPr>
              <a:xfrm>
                <a:off x="0" y="36772"/>
                <a:ext cx="212545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lvl1pPr>
              </a:lstStyle>
              <a:p>
                <a:r>
                  <a:t>100</a:t>
                </a:r>
              </a:p>
            </p:txBody>
          </p:sp>
        </p:grpSp>
        <p:grpSp>
          <p:nvGrpSpPr>
            <p:cNvPr id="586" name="成组"/>
            <p:cNvGrpSpPr/>
            <p:nvPr/>
          </p:nvGrpSpPr>
          <p:grpSpPr>
            <a:xfrm>
              <a:off x="371675" y="1409664"/>
              <a:ext cx="2125451" cy="505098"/>
              <a:chOff x="0" y="0"/>
              <a:chExt cx="2125449" cy="505097"/>
            </a:xfrm>
          </p:grpSpPr>
          <p:sp>
            <p:nvSpPr>
              <p:cNvPr id="584" name="矩形"/>
              <p:cNvSpPr/>
              <p:nvPr/>
            </p:nvSpPr>
            <p:spPr>
              <a:xfrm>
                <a:off x="0" y="0"/>
                <a:ext cx="2125450" cy="50509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585" name="Hello"/>
              <p:cNvSpPr txBox="1"/>
              <p:nvPr/>
            </p:nvSpPr>
            <p:spPr>
              <a:xfrm>
                <a:off x="0" y="36772"/>
                <a:ext cx="212545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lvl1pPr>
              </a:lstStyle>
              <a:p>
                <a:r>
                  <a:t>Hello</a:t>
                </a:r>
              </a:p>
            </p:txBody>
          </p:sp>
        </p:grpSp>
      </p:grpSp>
      <p:grpSp>
        <p:nvGrpSpPr>
          <p:cNvPr id="595" name="成组"/>
          <p:cNvGrpSpPr/>
          <p:nvPr/>
        </p:nvGrpSpPr>
        <p:grpSpPr>
          <a:xfrm>
            <a:off x="5600700" y="3059112"/>
            <a:ext cx="2774950" cy="2360613"/>
            <a:chOff x="0" y="0"/>
            <a:chExt cx="2774950" cy="2360612"/>
          </a:xfrm>
        </p:grpSpPr>
        <p:sp>
          <p:nvSpPr>
            <p:cNvPr id="588" name="矩形"/>
            <p:cNvSpPr/>
            <p:nvPr/>
          </p:nvSpPr>
          <p:spPr>
            <a:xfrm>
              <a:off x="0" y="0"/>
              <a:ext cx="2774950" cy="23606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C82506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grpSp>
          <p:nvGrpSpPr>
            <p:cNvPr id="591" name="成组"/>
            <p:cNvGrpSpPr/>
            <p:nvPr/>
          </p:nvGrpSpPr>
          <p:grpSpPr>
            <a:xfrm>
              <a:off x="371674" y="297816"/>
              <a:ext cx="2125452" cy="505098"/>
              <a:chOff x="0" y="0"/>
              <a:chExt cx="2125450" cy="505097"/>
            </a:xfrm>
          </p:grpSpPr>
          <p:sp>
            <p:nvSpPr>
              <p:cNvPr id="589" name="矩形"/>
              <p:cNvSpPr/>
              <p:nvPr/>
            </p:nvSpPr>
            <p:spPr>
              <a:xfrm>
                <a:off x="0" y="0"/>
                <a:ext cx="2125451" cy="50509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590" name="100"/>
              <p:cNvSpPr txBox="1"/>
              <p:nvPr/>
            </p:nvSpPr>
            <p:spPr>
              <a:xfrm>
                <a:off x="0" y="36772"/>
                <a:ext cx="212545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lvl1pPr>
              </a:lstStyle>
              <a:p>
                <a:r>
                  <a:t>100</a:t>
                </a:r>
              </a:p>
            </p:txBody>
          </p:sp>
        </p:grpSp>
        <p:grpSp>
          <p:nvGrpSpPr>
            <p:cNvPr id="594" name="成组"/>
            <p:cNvGrpSpPr/>
            <p:nvPr/>
          </p:nvGrpSpPr>
          <p:grpSpPr>
            <a:xfrm>
              <a:off x="371674" y="1409664"/>
              <a:ext cx="2125452" cy="505098"/>
              <a:chOff x="0" y="0"/>
              <a:chExt cx="2125450" cy="505097"/>
            </a:xfrm>
          </p:grpSpPr>
          <p:sp>
            <p:nvSpPr>
              <p:cNvPr id="592" name="矩形"/>
              <p:cNvSpPr/>
              <p:nvPr/>
            </p:nvSpPr>
            <p:spPr>
              <a:xfrm>
                <a:off x="0" y="0"/>
                <a:ext cx="2125451" cy="50509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593" name="Hello"/>
              <p:cNvSpPr txBox="1"/>
              <p:nvPr/>
            </p:nvSpPr>
            <p:spPr>
              <a:xfrm>
                <a:off x="0" y="36772"/>
                <a:ext cx="212545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lvl1pPr>
              </a:lstStyle>
              <a:p>
                <a:r>
                  <a:t>Hello</a:t>
                </a:r>
              </a:p>
            </p:txBody>
          </p:sp>
        </p:grpSp>
      </p:grpSp>
      <p:sp>
        <p:nvSpPr>
          <p:cNvPr id="596" name="箭头"/>
          <p:cNvSpPr/>
          <p:nvPr/>
        </p:nvSpPr>
        <p:spPr>
          <a:xfrm>
            <a:off x="3843337" y="3825875"/>
            <a:ext cx="1601788" cy="725488"/>
          </a:xfrm>
          <a:prstGeom prst="rightArrow">
            <a:avLst>
              <a:gd name="adj1" fmla="val 32000"/>
              <a:gd name="adj2" fmla="val 11211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97" name="clone"/>
          <p:cNvSpPr txBox="1"/>
          <p:nvPr/>
        </p:nvSpPr>
        <p:spPr>
          <a:xfrm>
            <a:off x="4168775" y="3253975"/>
            <a:ext cx="801855" cy="44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clone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如果直接使用clone"/>
          <p:cNvSpPr txBox="1"/>
          <p:nvPr/>
        </p:nvSpPr>
        <p:spPr>
          <a:xfrm>
            <a:off x="927100" y="-74613"/>
            <a:ext cx="69469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如果直接使用clone</a:t>
            </a:r>
          </a:p>
        </p:txBody>
      </p:sp>
      <p:sp>
        <p:nvSpPr>
          <p:cNvPr id="600" name="矩形"/>
          <p:cNvSpPr/>
          <p:nvPr/>
        </p:nvSpPr>
        <p:spPr>
          <a:xfrm>
            <a:off x="869950" y="822324"/>
            <a:ext cx="2776538" cy="235902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spcBef>
                <a:spcPts val="1300"/>
              </a:spcBef>
              <a:defRPr sz="2400" b="1"/>
            </a:pPr>
            <a:endParaRPr/>
          </a:p>
        </p:txBody>
      </p:sp>
      <p:grpSp>
        <p:nvGrpSpPr>
          <p:cNvPr id="609" name="成组"/>
          <p:cNvGrpSpPr/>
          <p:nvPr/>
        </p:nvGrpSpPr>
        <p:grpSpPr>
          <a:xfrm>
            <a:off x="4554537" y="2055812"/>
            <a:ext cx="3889376" cy="614363"/>
            <a:chOff x="0" y="0"/>
            <a:chExt cx="3889375" cy="614362"/>
          </a:xfrm>
        </p:grpSpPr>
        <p:grpSp>
          <p:nvGrpSpPr>
            <p:cNvPr id="603" name="成组"/>
            <p:cNvGrpSpPr/>
            <p:nvPr/>
          </p:nvGrpSpPr>
          <p:grpSpPr>
            <a:xfrm>
              <a:off x="-1" y="0"/>
              <a:ext cx="3889376" cy="614362"/>
              <a:chOff x="0" y="0"/>
              <a:chExt cx="3889374" cy="614360"/>
            </a:xfrm>
          </p:grpSpPr>
          <p:sp>
            <p:nvSpPr>
              <p:cNvPr id="601" name="矩形"/>
              <p:cNvSpPr/>
              <p:nvPr/>
            </p:nvSpPr>
            <p:spPr>
              <a:xfrm>
                <a:off x="1" y="0"/>
                <a:ext cx="3889374" cy="61436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602" name="……"/>
              <p:cNvSpPr txBox="1"/>
              <p:nvPr/>
            </p:nvSpPr>
            <p:spPr>
              <a:xfrm>
                <a:off x="-1" y="91403"/>
                <a:ext cx="2744789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lvl1pPr>
              </a:lstStyle>
              <a:p>
                <a:r>
                  <a:t>                          ……</a:t>
                </a:r>
              </a:p>
            </p:txBody>
          </p:sp>
        </p:grpSp>
        <p:sp>
          <p:nvSpPr>
            <p:cNvPr id="604" name="线条"/>
            <p:cNvSpPr/>
            <p:nvPr/>
          </p:nvSpPr>
          <p:spPr>
            <a:xfrm flipV="1">
              <a:off x="638174" y="0"/>
              <a:ext cx="1591" cy="614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5" name="线条"/>
            <p:cNvSpPr/>
            <p:nvPr/>
          </p:nvSpPr>
          <p:spPr>
            <a:xfrm flipV="1">
              <a:off x="1311275" y="0"/>
              <a:ext cx="1590" cy="614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6" name="线条"/>
            <p:cNvSpPr/>
            <p:nvPr/>
          </p:nvSpPr>
          <p:spPr>
            <a:xfrm flipV="1">
              <a:off x="1984375" y="0"/>
              <a:ext cx="1590" cy="614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7" name="线条"/>
            <p:cNvSpPr/>
            <p:nvPr/>
          </p:nvSpPr>
          <p:spPr>
            <a:xfrm flipV="1">
              <a:off x="2654300" y="0"/>
              <a:ext cx="1590" cy="614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8" name="线条"/>
            <p:cNvSpPr/>
            <p:nvPr/>
          </p:nvSpPr>
          <p:spPr>
            <a:xfrm flipV="1">
              <a:off x="3294061" y="0"/>
              <a:ext cx="1590" cy="6143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612" name="成组"/>
          <p:cNvGrpSpPr/>
          <p:nvPr/>
        </p:nvGrpSpPr>
        <p:grpSpPr>
          <a:xfrm>
            <a:off x="1241425" y="1120775"/>
            <a:ext cx="2125663" cy="504825"/>
            <a:chOff x="0" y="0"/>
            <a:chExt cx="2125662" cy="504825"/>
          </a:xfrm>
        </p:grpSpPr>
        <p:sp>
          <p:nvSpPr>
            <p:cNvPr id="610" name="矩形"/>
            <p:cNvSpPr/>
            <p:nvPr/>
          </p:nvSpPr>
          <p:spPr>
            <a:xfrm>
              <a:off x="0" y="0"/>
              <a:ext cx="2125663" cy="5048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611" name="listElem"/>
            <p:cNvSpPr txBox="1"/>
            <p:nvPr/>
          </p:nvSpPr>
          <p:spPr>
            <a:xfrm>
              <a:off x="0" y="36635"/>
              <a:ext cx="2125663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indent="39687" defTabSz="914400">
                <a:lnSpc>
                  <a:spcPct val="100000"/>
                </a:lnSpc>
                <a:spcBef>
                  <a:spcPts val="1300"/>
                </a:spcBef>
                <a:defRPr sz="2400" b="1"/>
              </a:lvl1pPr>
            </a:lstStyle>
            <a:p>
              <a:r>
                <a:t>listElem</a:t>
              </a:r>
            </a:p>
          </p:txBody>
        </p:sp>
      </p:grpSp>
      <p:grpSp>
        <p:nvGrpSpPr>
          <p:cNvPr id="615" name="成组"/>
          <p:cNvGrpSpPr/>
          <p:nvPr/>
        </p:nvGrpSpPr>
        <p:grpSpPr>
          <a:xfrm>
            <a:off x="1241425" y="2232025"/>
            <a:ext cx="2125663" cy="504825"/>
            <a:chOff x="0" y="0"/>
            <a:chExt cx="2125662" cy="504825"/>
          </a:xfrm>
        </p:grpSpPr>
        <p:sp>
          <p:nvSpPr>
            <p:cNvPr id="613" name="矩形"/>
            <p:cNvSpPr/>
            <p:nvPr/>
          </p:nvSpPr>
          <p:spPr>
            <a:xfrm>
              <a:off x="0" y="0"/>
              <a:ext cx="2125663" cy="5048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614" name="size"/>
            <p:cNvSpPr txBox="1"/>
            <p:nvPr/>
          </p:nvSpPr>
          <p:spPr>
            <a:xfrm>
              <a:off x="0" y="36635"/>
              <a:ext cx="2125663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indent="39687" defTabSz="914400">
                <a:lnSpc>
                  <a:spcPct val="100000"/>
                </a:lnSpc>
                <a:spcBef>
                  <a:spcPts val="1300"/>
                </a:spcBef>
                <a:defRPr sz="2400" b="1"/>
              </a:lvl1pPr>
            </a:lstStyle>
            <a:p>
              <a:r>
                <a:t>size</a:t>
              </a:r>
            </a:p>
          </p:txBody>
        </p:sp>
      </p:grpSp>
      <p:sp>
        <p:nvSpPr>
          <p:cNvPr id="616" name="线条"/>
          <p:cNvSpPr/>
          <p:nvPr/>
        </p:nvSpPr>
        <p:spPr>
          <a:xfrm>
            <a:off x="3354387" y="1336674"/>
            <a:ext cx="1489076" cy="158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17" name="线条"/>
          <p:cNvSpPr/>
          <p:nvPr/>
        </p:nvSpPr>
        <p:spPr>
          <a:xfrm>
            <a:off x="4841875" y="1336675"/>
            <a:ext cx="1588" cy="71913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18" name="矩形"/>
          <p:cNvSpPr/>
          <p:nvPr/>
        </p:nvSpPr>
        <p:spPr>
          <a:xfrm>
            <a:off x="855662" y="3652837"/>
            <a:ext cx="2774951" cy="235902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spcBef>
                <a:spcPts val="1300"/>
              </a:spcBef>
              <a:defRPr sz="2400" b="1"/>
            </a:pPr>
            <a:endParaRPr/>
          </a:p>
        </p:txBody>
      </p:sp>
      <p:grpSp>
        <p:nvGrpSpPr>
          <p:cNvPr id="621" name="成组"/>
          <p:cNvGrpSpPr/>
          <p:nvPr/>
        </p:nvGrpSpPr>
        <p:grpSpPr>
          <a:xfrm>
            <a:off x="1227137" y="3949700"/>
            <a:ext cx="2125663" cy="504825"/>
            <a:chOff x="0" y="0"/>
            <a:chExt cx="2125662" cy="504825"/>
          </a:xfrm>
        </p:grpSpPr>
        <p:sp>
          <p:nvSpPr>
            <p:cNvPr id="619" name="矩形"/>
            <p:cNvSpPr/>
            <p:nvPr/>
          </p:nvSpPr>
          <p:spPr>
            <a:xfrm>
              <a:off x="0" y="0"/>
              <a:ext cx="2125663" cy="5048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620" name="listElem"/>
            <p:cNvSpPr txBox="1"/>
            <p:nvPr/>
          </p:nvSpPr>
          <p:spPr>
            <a:xfrm>
              <a:off x="0" y="36635"/>
              <a:ext cx="2125663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indent="39687" defTabSz="914400">
                <a:lnSpc>
                  <a:spcPct val="100000"/>
                </a:lnSpc>
                <a:spcBef>
                  <a:spcPts val="1300"/>
                </a:spcBef>
                <a:defRPr sz="2400" b="1">
                  <a:solidFill>
                    <a:srgbClr val="C82506"/>
                  </a:solidFill>
                </a:defRPr>
              </a:lvl1pPr>
            </a:lstStyle>
            <a:p>
              <a:r>
                <a:t>listElem</a:t>
              </a:r>
            </a:p>
          </p:txBody>
        </p:sp>
      </p:grpSp>
      <p:grpSp>
        <p:nvGrpSpPr>
          <p:cNvPr id="624" name="成组"/>
          <p:cNvGrpSpPr/>
          <p:nvPr/>
        </p:nvGrpSpPr>
        <p:grpSpPr>
          <a:xfrm>
            <a:off x="1227137" y="5060950"/>
            <a:ext cx="2125663" cy="504825"/>
            <a:chOff x="0" y="0"/>
            <a:chExt cx="2125662" cy="504825"/>
          </a:xfrm>
        </p:grpSpPr>
        <p:sp>
          <p:nvSpPr>
            <p:cNvPr id="622" name="矩形"/>
            <p:cNvSpPr/>
            <p:nvPr/>
          </p:nvSpPr>
          <p:spPr>
            <a:xfrm>
              <a:off x="0" y="0"/>
              <a:ext cx="2125663" cy="5048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623" name="size"/>
            <p:cNvSpPr txBox="1"/>
            <p:nvPr/>
          </p:nvSpPr>
          <p:spPr>
            <a:xfrm>
              <a:off x="0" y="36635"/>
              <a:ext cx="2125663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indent="39687" defTabSz="914400">
                <a:lnSpc>
                  <a:spcPct val="100000"/>
                </a:lnSpc>
                <a:spcBef>
                  <a:spcPts val="1300"/>
                </a:spcBef>
                <a:defRPr sz="2400" b="1">
                  <a:solidFill>
                    <a:srgbClr val="C82506"/>
                  </a:solidFill>
                </a:defRPr>
              </a:lvl1pPr>
            </a:lstStyle>
            <a:p>
              <a:r>
                <a:t>size</a:t>
              </a:r>
            </a:p>
          </p:txBody>
        </p:sp>
      </p:grpSp>
      <p:sp>
        <p:nvSpPr>
          <p:cNvPr id="625" name="线条"/>
          <p:cNvSpPr/>
          <p:nvPr/>
        </p:nvSpPr>
        <p:spPr>
          <a:xfrm>
            <a:off x="3351212" y="4167187"/>
            <a:ext cx="1489076" cy="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26" name="线条"/>
          <p:cNvSpPr/>
          <p:nvPr/>
        </p:nvSpPr>
        <p:spPr>
          <a:xfrm flipV="1">
            <a:off x="4841875" y="2695575"/>
            <a:ext cx="0" cy="146685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Object clone()"/>
          <p:cNvSpPr txBox="1"/>
          <p:nvPr/>
        </p:nvSpPr>
        <p:spPr>
          <a:xfrm>
            <a:off x="927100" y="269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Object clone()</a:t>
            </a:r>
          </a:p>
        </p:txBody>
      </p:sp>
      <p:sp>
        <p:nvSpPr>
          <p:cNvPr id="629" name="@SuppressWarnings(&quot;unchecked&quot;)…"/>
          <p:cNvSpPr txBox="1"/>
          <p:nvPr/>
        </p:nvSpPr>
        <p:spPr>
          <a:xfrm>
            <a:off x="84137" y="1436969"/>
            <a:ext cx="8942388" cy="315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r>
              <a:t> 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Object clone()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try</a:t>
            </a:r>
            <a:r>
              <a:t>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CArrayList&lt;T&gt;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(CArrayList&lt;T&gt;)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.clone();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7E504F"/>
                </a:solidFill>
              </a:rPr>
              <a:t>v</a:t>
            </a:r>
            <a:r>
              <a:t>.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 = Arrays.copyOf(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, </a:t>
            </a:r>
            <a:r>
              <a:rPr>
                <a:solidFill>
                  <a:srgbClr val="0326CC"/>
                </a:solidFill>
              </a:rPr>
              <a:t>listElem.length</a:t>
            </a:r>
            <a:r>
              <a:t>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} </a:t>
            </a:r>
            <a:r>
              <a:rPr>
                <a:solidFill>
                  <a:srgbClr val="931A68"/>
                </a:solidFill>
              </a:rPr>
              <a:t>catch</a:t>
            </a:r>
            <a:r>
              <a:t> (CloneNotSupportedException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4E9072"/>
                </a:solidFill>
              </a:rPr>
              <a:t>// this shouldn't happen, since we are </a:t>
            </a:r>
            <a:r>
              <a:rPr u="sng">
                <a:solidFill>
                  <a:srgbClr val="4E9072"/>
                </a:solidFill>
              </a:rPr>
              <a:t>Cloneable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InternalError(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630" name="public class CArrayList&lt;T&gt; implements Ilist&lt;T&gt; ,RandomAccess,Cloneable{"/>
          <p:cNvSpPr txBox="1"/>
          <p:nvPr/>
        </p:nvSpPr>
        <p:spPr>
          <a:xfrm>
            <a:off x="157162" y="765457"/>
            <a:ext cx="5037622" cy="642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CArrayList&lt;T&gt; </a:t>
            </a:r>
            <a:r>
              <a:t>implements</a:t>
            </a:r>
            <a:r>
              <a:rPr>
                <a:solidFill>
                  <a:srgbClr val="000000"/>
                </a:solidFill>
              </a:rPr>
              <a:t> Ilist&lt;T&gt; ,RandomAccess,Cloneable{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Object 的equals"/>
          <p:cNvSpPr txBox="1"/>
          <p:nvPr/>
        </p:nvSpPr>
        <p:spPr>
          <a:xfrm>
            <a:off x="590550" y="-4763"/>
            <a:ext cx="793750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Object 的equals</a:t>
            </a:r>
          </a:p>
        </p:txBody>
      </p:sp>
      <p:sp>
        <p:nvSpPr>
          <p:cNvPr id="633" name="public boolean equals(Object obj) {…"/>
          <p:cNvSpPr txBox="1"/>
          <p:nvPr/>
        </p:nvSpPr>
        <p:spPr>
          <a:xfrm>
            <a:off x="723900" y="914424"/>
            <a:ext cx="7247781" cy="1295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equals(Object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) {</a:t>
            </a:r>
          </a:p>
          <a:p>
            <a:pPr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);</a:t>
            </a:r>
          </a:p>
          <a:p>
            <a:pPr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634" name="Object的equals是判断是不是引用了同一个对象。…"/>
          <p:cNvSpPr txBox="1"/>
          <p:nvPr/>
        </p:nvSpPr>
        <p:spPr>
          <a:xfrm>
            <a:off x="842962" y="2569371"/>
            <a:ext cx="6851719" cy="1489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Object的equals是判断是不是引用了同一个对象。</a:t>
            </a:r>
          </a:p>
          <a:p>
            <a:endParaRPr/>
          </a:p>
          <a:p>
            <a:r>
              <a:t>CArrayList应该覆盖这个方法，定义“相等”。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Arrays.equals"/>
          <p:cNvSpPr txBox="1"/>
          <p:nvPr/>
        </p:nvSpPr>
        <p:spPr>
          <a:xfrm>
            <a:off x="927100" y="142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Arrays.equals</a:t>
            </a:r>
          </a:p>
        </p:txBody>
      </p:sp>
      <p:sp>
        <p:nvSpPr>
          <p:cNvPr id="637" name="public static boolean equals(Object[] a, Object[] a2) {…"/>
          <p:cNvSpPr txBox="1"/>
          <p:nvPr/>
        </p:nvSpPr>
        <p:spPr>
          <a:xfrm>
            <a:off x="684212" y="841657"/>
            <a:ext cx="7758405" cy="5392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equals(Object[]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Object[] </a:t>
            </a:r>
            <a:r>
              <a:rPr>
                <a:solidFill>
                  <a:srgbClr val="7E504F"/>
                </a:solidFill>
              </a:rPr>
              <a:t>a2</a:t>
            </a:r>
            <a:r>
              <a:t>)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==</a:t>
            </a:r>
            <a:r>
              <a:rPr>
                <a:solidFill>
                  <a:srgbClr val="7E504F"/>
                </a:solidFill>
              </a:rPr>
              <a:t>a2</a:t>
            </a:r>
            <a:r>
              <a:t>)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==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a2</a:t>
            </a:r>
            <a:r>
              <a:t>==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a2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!=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)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=0;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&lt;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Object </a:t>
            </a:r>
            <a:r>
              <a:rPr>
                <a:solidFill>
                  <a:srgbClr val="7E504F"/>
                </a:solidFill>
              </a:rPr>
              <a:t>o1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Object </a:t>
            </a:r>
            <a:r>
              <a:rPr>
                <a:solidFill>
                  <a:srgbClr val="7E504F"/>
                </a:solidFill>
              </a:rPr>
              <a:t>o2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a2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(!(</a:t>
            </a:r>
            <a:r>
              <a:rPr>
                <a:solidFill>
                  <a:srgbClr val="7E504F"/>
                </a:solidFill>
              </a:rPr>
              <a:t>o1</a:t>
            </a:r>
            <a:r>
              <a:t>==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? </a:t>
            </a:r>
            <a:r>
              <a:rPr>
                <a:solidFill>
                  <a:srgbClr val="7E504F"/>
                </a:solidFill>
              </a:rPr>
              <a:t>o2</a:t>
            </a:r>
            <a:r>
              <a:t>==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: </a:t>
            </a:r>
            <a:r>
              <a:rPr>
                <a:solidFill>
                  <a:srgbClr val="7E504F"/>
                </a:solidFill>
              </a:rPr>
              <a:t>o1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o2</a:t>
            </a:r>
            <a:r>
              <a:t>)))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>
              <a:lnSpc>
                <a:spcPct val="100000"/>
              </a:lnSpc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boolean equals()"/>
          <p:cNvSpPr txBox="1"/>
          <p:nvPr/>
        </p:nvSpPr>
        <p:spPr>
          <a:xfrm>
            <a:off x="927100" y="142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boolean equals()</a:t>
            </a:r>
          </a:p>
        </p:txBody>
      </p:sp>
      <p:sp>
        <p:nvSpPr>
          <p:cNvPr id="640" name="Object的子类可以覆盖该函数，定义“相等”，“相等”是一个等价关系。"/>
          <p:cNvSpPr txBox="1"/>
          <p:nvPr/>
        </p:nvSpPr>
        <p:spPr>
          <a:xfrm>
            <a:off x="561975" y="760412"/>
            <a:ext cx="785361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Object的子类可以覆盖该函数，定义“相等”，“相等”是一个等价关系。</a:t>
            </a:r>
          </a:p>
        </p:txBody>
      </p:sp>
      <p:sp>
        <p:nvSpPr>
          <p:cNvPr id="641" name="@SuppressWarnings(&quot;unchecked&quot;)…"/>
          <p:cNvSpPr txBox="1"/>
          <p:nvPr/>
        </p:nvSpPr>
        <p:spPr>
          <a:xfrm>
            <a:off x="69850" y="1419624"/>
            <a:ext cx="8954493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6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equals(Object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) {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7E504F"/>
                </a:solidFill>
              </a:rPr>
              <a:t>obj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obj</a:t>
            </a:r>
            <a:r>
              <a:t> </a:t>
            </a:r>
            <a:r>
              <a:rPr>
                <a:solidFill>
                  <a:srgbClr val="931A68"/>
                </a:solidFill>
              </a:rPr>
              <a:t>instanceof</a:t>
            </a:r>
            <a:r>
              <a:t> CArrayList&lt;?&gt;) {//语法要求，不能写成CArrayList&lt;T&gt;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CArrayList&lt;T&gt;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 = (CArrayList&lt;T&gt;)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;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(!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].equals(</a:t>
            </a:r>
            <a:r>
              <a:rPr>
                <a:solidFill>
                  <a:srgbClr val="7E504F"/>
                </a:solidFill>
              </a:rPr>
              <a:t>rhd</a:t>
            </a:r>
            <a:r>
              <a:t>.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]))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lnSpc>
                <a:spcPct val="100000"/>
              </a:lnSpc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int hashCode()"/>
          <p:cNvSpPr txBox="1"/>
          <p:nvPr/>
        </p:nvSpPr>
        <p:spPr>
          <a:xfrm>
            <a:off x="927100" y="142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int hashCode()</a:t>
            </a:r>
          </a:p>
        </p:txBody>
      </p:sp>
      <p:sp>
        <p:nvSpPr>
          <p:cNvPr id="644" name="public native int hashCode();"/>
          <p:cNvSpPr txBox="1"/>
          <p:nvPr/>
        </p:nvSpPr>
        <p:spPr>
          <a:xfrm>
            <a:off x="1125262" y="1423987"/>
            <a:ext cx="5898822" cy="470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native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hashCode();</a:t>
            </a:r>
          </a:p>
        </p:txBody>
      </p:sp>
      <p:sp>
        <p:nvSpPr>
          <p:cNvPr id="645" name="Object类有成员函数："/>
          <p:cNvSpPr txBox="1"/>
          <p:nvPr/>
        </p:nvSpPr>
        <p:spPr>
          <a:xfrm>
            <a:off x="244475" y="831849"/>
            <a:ext cx="29956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23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Object类有成员函数：</a:t>
            </a:r>
          </a:p>
        </p:txBody>
      </p:sp>
      <p:sp>
        <p:nvSpPr>
          <p:cNvPr id="646" name="2个对象equals，它们的 hashCode必须相等。…"/>
          <p:cNvSpPr txBox="1"/>
          <p:nvPr/>
        </p:nvSpPr>
        <p:spPr>
          <a:xfrm>
            <a:off x="244475" y="2153639"/>
            <a:ext cx="6541642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2个对象equals，它们的 hashCode必须相等。</a:t>
            </a:r>
          </a:p>
          <a:p>
            <a:pPr>
              <a:lnSpc>
                <a:spcPct val="150000"/>
              </a:lnSpc>
              <a:defRPr sz="2300">
                <a:latin typeface="Tahoma"/>
                <a:ea typeface="Tahoma"/>
                <a:cs typeface="Tahoma"/>
                <a:sym typeface="Tahoma"/>
              </a:defRPr>
            </a:pPr>
            <a:r>
              <a:t>2个对象不equals，它们的 hashCode不必不相等。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Integer.hashCode"/>
          <p:cNvSpPr txBox="1"/>
          <p:nvPr/>
        </p:nvSpPr>
        <p:spPr>
          <a:xfrm>
            <a:off x="927100" y="0"/>
            <a:ext cx="6946900" cy="67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Integer.hashCode</a:t>
            </a:r>
          </a:p>
        </p:txBody>
      </p:sp>
      <p:sp>
        <p:nvSpPr>
          <p:cNvPr id="649" name="public int hashCode() {…"/>
          <p:cNvSpPr txBox="1"/>
          <p:nvPr/>
        </p:nvSpPr>
        <p:spPr>
          <a:xfrm>
            <a:off x="808614" y="910321"/>
            <a:ext cx="7156327" cy="2745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hashCode() {</a:t>
            </a:r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Integer.hashCode(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);</a:t>
            </a:r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) {</a:t>
            </a:r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;</a:t>
            </a:r>
          </a:p>
          <a:p>
            <a:pPr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tring.hashCode"/>
          <p:cNvSpPr txBox="1"/>
          <p:nvPr/>
        </p:nvSpPr>
        <p:spPr>
          <a:xfrm>
            <a:off x="927100" y="15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String.hashCode</a:t>
            </a:r>
          </a:p>
        </p:txBody>
      </p:sp>
      <p:sp>
        <p:nvSpPr>
          <p:cNvPr id="652" name="public int hashCode() {…"/>
          <p:cNvSpPr txBox="1"/>
          <p:nvPr/>
        </p:nvSpPr>
        <p:spPr>
          <a:xfrm>
            <a:off x="551805" y="885535"/>
            <a:ext cx="8040391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hash</a:t>
            </a:r>
            <a:r>
              <a:t>;//hash的初值=0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h</a:t>
            </a:r>
            <a:r>
              <a:t> == 0 &amp;&amp; 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&gt; 0)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val</a:t>
            </a:r>
            <a:r>
              <a:t>[] = 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7E504F"/>
                </a:solidFill>
              </a:rPr>
              <a:t>h</a:t>
            </a:r>
            <a:r>
              <a:t> = 31 * </a:t>
            </a:r>
            <a:r>
              <a:rPr>
                <a:solidFill>
                  <a:srgbClr val="7E504F"/>
                </a:solidFill>
              </a:rPr>
              <a:t>h</a:t>
            </a:r>
            <a:r>
              <a:t> + </a:t>
            </a:r>
            <a:r>
              <a:rPr>
                <a:solidFill>
                  <a:srgbClr val="7E504F"/>
                </a:solidFill>
              </a:rPr>
              <a:t>val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}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0326CC"/>
                </a:solidFill>
              </a:rPr>
              <a:t>hash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h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h</a:t>
            </a:r>
            <a:r>
              <a:t>;</a:t>
            </a:r>
          </a:p>
          <a:p>
            <a:pPr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Arrays.hashCode"/>
          <p:cNvSpPr txBox="1"/>
          <p:nvPr/>
        </p:nvSpPr>
        <p:spPr>
          <a:xfrm>
            <a:off x="927100" y="-36513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Arrays.hashCode</a:t>
            </a:r>
          </a:p>
        </p:txBody>
      </p:sp>
      <p:sp>
        <p:nvSpPr>
          <p:cNvPr id="655" name="public static int hashCode(Object a[]) {…"/>
          <p:cNvSpPr txBox="1"/>
          <p:nvPr/>
        </p:nvSpPr>
        <p:spPr>
          <a:xfrm>
            <a:off x="153909" y="1009659"/>
            <a:ext cx="8802515" cy="3053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hashCode(Object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[]) {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0;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1;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(Object </a:t>
            </a:r>
            <a:r>
              <a:rPr>
                <a:solidFill>
                  <a:srgbClr val="7E504F"/>
                </a:solidFill>
              </a:rPr>
              <a:t>element</a:t>
            </a:r>
            <a:r>
              <a:t> : </a:t>
            </a:r>
            <a:r>
              <a:rPr>
                <a:solidFill>
                  <a:srgbClr val="7E504F"/>
                </a:solidFill>
              </a:rPr>
              <a:t>a</a:t>
            </a:r>
            <a:r>
              <a:t>)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31 *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+ 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         (</a:t>
            </a:r>
            <a:r>
              <a:rPr>
                <a:solidFill>
                  <a:srgbClr val="7E504F"/>
                </a:solidFill>
              </a:rPr>
              <a:t>element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? 0 : </a:t>
            </a:r>
            <a:r>
              <a:rPr>
                <a:solidFill>
                  <a:srgbClr val="7E504F"/>
                </a:solidFill>
              </a:rPr>
              <a:t>element</a:t>
            </a:r>
            <a:r>
              <a:t>.hashCode());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;</a:t>
            </a:r>
          </a:p>
          <a:p>
            <a:pPr>
              <a:lnSpc>
                <a:spcPct val="100000"/>
              </a:lnSpc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CArrayList-hashCode"/>
          <p:cNvSpPr txBox="1"/>
          <p:nvPr/>
        </p:nvSpPr>
        <p:spPr>
          <a:xfrm>
            <a:off x="927100" y="14287"/>
            <a:ext cx="6946900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CArrayList-hashCode</a:t>
            </a:r>
          </a:p>
        </p:txBody>
      </p:sp>
      <p:sp>
        <p:nvSpPr>
          <p:cNvPr id="658" name="public int hashCode() {…"/>
          <p:cNvSpPr txBox="1"/>
          <p:nvPr/>
        </p:nvSpPr>
        <p:spPr>
          <a:xfrm>
            <a:off x="275511" y="1129887"/>
            <a:ext cx="6561721" cy="136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hashCode() 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Arrays.hashCode(</a:t>
            </a:r>
            <a:r>
              <a:rPr>
                <a:solidFill>
                  <a:srgbClr val="0326CC"/>
                </a:solidFill>
              </a:rPr>
              <a:t>listElem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小 结"/>
          <p:cNvSpPr txBox="1"/>
          <p:nvPr/>
        </p:nvSpPr>
        <p:spPr>
          <a:xfrm>
            <a:off x="717550" y="-95250"/>
            <a:ext cx="7939088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小 结</a:t>
            </a:r>
          </a:p>
        </p:txBody>
      </p:sp>
      <p:sp>
        <p:nvSpPr>
          <p:cNvPr id="661" name="线条"/>
          <p:cNvSpPr/>
          <p:nvPr/>
        </p:nvSpPr>
        <p:spPr>
          <a:xfrm>
            <a:off x="368300" y="828675"/>
            <a:ext cx="515938" cy="5162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spcBef>
                <a:spcPts val="1300"/>
              </a:spcBef>
              <a:defRPr sz="2400" b="1"/>
            </a:pPr>
            <a:endParaRPr/>
          </a:p>
        </p:txBody>
      </p:sp>
      <p:sp>
        <p:nvSpPr>
          <p:cNvPr id="662" name="逻辑结构    &lt;ai-1, ai&gt; &lt;ai, ai+1&gt; ,位置"/>
          <p:cNvSpPr txBox="1"/>
          <p:nvPr/>
        </p:nvSpPr>
        <p:spPr>
          <a:xfrm>
            <a:off x="692150" y="809625"/>
            <a:ext cx="6527800" cy="63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 b="1"/>
            </a:pPr>
            <a:r>
              <a:t> </a:t>
            </a:r>
            <a:r>
              <a:rPr b="0"/>
              <a:t>逻辑结构</a:t>
            </a:r>
            <a:r>
              <a:t>    &lt;a</a:t>
            </a:r>
            <a:r>
              <a:rPr baseline="-25000"/>
              <a:t>i-1</a:t>
            </a:r>
            <a:r>
              <a:t>, a</a:t>
            </a:r>
            <a:r>
              <a:rPr baseline="-25000"/>
              <a:t>i</a:t>
            </a:r>
            <a:r>
              <a:t>&gt; &lt;a</a:t>
            </a:r>
            <a:r>
              <a:rPr baseline="-25000"/>
              <a:t>i</a:t>
            </a:r>
            <a:r>
              <a:t>, a</a:t>
            </a:r>
            <a:r>
              <a:rPr baseline="-25000"/>
              <a:t>i+1</a:t>
            </a:r>
            <a:r>
              <a:t>&gt; ,</a:t>
            </a:r>
            <a:r>
              <a:rPr>
                <a:solidFill>
                  <a:srgbClr val="C82506"/>
                </a:solidFill>
              </a:rPr>
              <a:t>位置</a:t>
            </a:r>
          </a:p>
        </p:txBody>
      </p:sp>
      <p:sp>
        <p:nvSpPr>
          <p:cNvPr id="663" name="顺序存储"/>
          <p:cNvSpPr txBox="1"/>
          <p:nvPr/>
        </p:nvSpPr>
        <p:spPr>
          <a:xfrm>
            <a:off x="700087" y="2019300"/>
            <a:ext cx="1754188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39687" algn="ctr" defTabSz="914400">
              <a:lnSpc>
                <a:spcPct val="100000"/>
              </a:lnSpc>
              <a:spcBef>
                <a:spcPts val="1300"/>
              </a:spcBef>
              <a:defRPr sz="2800" b="1"/>
            </a:pPr>
            <a:r>
              <a:t> </a:t>
            </a:r>
            <a:r>
              <a:rPr b="0"/>
              <a:t>顺序存储</a:t>
            </a:r>
            <a:r>
              <a:t> </a:t>
            </a:r>
          </a:p>
        </p:txBody>
      </p:sp>
      <p:sp>
        <p:nvSpPr>
          <p:cNvPr id="664" name="java类库：List、ListIterator接口…"/>
          <p:cNvSpPr txBox="1"/>
          <p:nvPr/>
        </p:nvSpPr>
        <p:spPr>
          <a:xfrm>
            <a:off x="798512" y="3794125"/>
            <a:ext cx="8115301" cy="1870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/>
            </a:pPr>
            <a:r>
              <a:t>j</a:t>
            </a:r>
            <a:r>
              <a:rPr sz="2600"/>
              <a:t>ava类库：List、ListIterator接口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600"/>
            </a:pPr>
            <a:r>
              <a:t>                   java.util.ArrayList、</a:t>
            </a:r>
          </a:p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600"/>
            </a:pPr>
            <a:r>
              <a:t>                   java.util.Vector（线程安全）</a:t>
            </a:r>
          </a:p>
        </p:txBody>
      </p:sp>
      <p:sp>
        <p:nvSpPr>
          <p:cNvPr id="665" name="线条"/>
          <p:cNvSpPr/>
          <p:nvPr/>
        </p:nvSpPr>
        <p:spPr>
          <a:xfrm>
            <a:off x="3683000" y="1641475"/>
            <a:ext cx="141288" cy="1508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spcBef>
                <a:spcPts val="1300"/>
              </a:spcBef>
              <a:defRPr sz="2400" b="1"/>
            </a:pPr>
            <a:endParaRPr/>
          </a:p>
        </p:txBody>
      </p:sp>
      <p:sp>
        <p:nvSpPr>
          <p:cNvPr id="666" name="数组"/>
          <p:cNvSpPr txBox="1"/>
          <p:nvPr/>
        </p:nvSpPr>
        <p:spPr>
          <a:xfrm>
            <a:off x="3866356" y="1507331"/>
            <a:ext cx="95408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39687" algn="ctr" defTabSz="914400">
              <a:lnSpc>
                <a:spcPct val="100000"/>
              </a:lnSpc>
              <a:spcBef>
                <a:spcPts val="1300"/>
              </a:spcBef>
              <a:defRPr sz="2800" b="1"/>
            </a:pPr>
            <a:r>
              <a:t> </a:t>
            </a:r>
            <a:r>
              <a:rPr b="0"/>
              <a:t>数组</a:t>
            </a:r>
          </a:p>
        </p:txBody>
      </p:sp>
      <p:sp>
        <p:nvSpPr>
          <p:cNvPr id="667" name="动态扩展"/>
          <p:cNvSpPr txBox="1"/>
          <p:nvPr/>
        </p:nvSpPr>
        <p:spPr>
          <a:xfrm>
            <a:off x="3898900" y="2260600"/>
            <a:ext cx="1665288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39687" algn="ctr" defTabSz="914400">
              <a:lnSpc>
                <a:spcPct val="100000"/>
              </a:lnSpc>
              <a:spcBef>
                <a:spcPts val="1300"/>
              </a:spcBef>
              <a:defRPr sz="2800">
                <a:solidFill>
                  <a:srgbClr val="FF2600"/>
                </a:solidFill>
              </a:defRPr>
            </a:pPr>
            <a:r>
              <a:t>动态扩展</a:t>
            </a:r>
            <a:r>
              <a:rPr b="1"/>
              <a:t> </a:t>
            </a:r>
          </a:p>
        </p:txBody>
      </p:sp>
      <p:sp>
        <p:nvSpPr>
          <p:cNvPr id="668" name="算法：向前、向后复制，顺序查找"/>
          <p:cNvSpPr txBox="1"/>
          <p:nvPr/>
        </p:nvSpPr>
        <p:spPr>
          <a:xfrm>
            <a:off x="744537" y="3109912"/>
            <a:ext cx="557688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39687" algn="ctr" defTabSz="914400">
              <a:lnSpc>
                <a:spcPct val="100000"/>
              </a:lnSpc>
              <a:spcBef>
                <a:spcPts val="1300"/>
              </a:spcBef>
              <a:defRPr sz="2800" b="1">
                <a:solidFill>
                  <a:srgbClr val="FF2600"/>
                </a:solidFill>
              </a:defRPr>
            </a:pPr>
            <a:r>
              <a:t> </a:t>
            </a:r>
            <a:r>
              <a:rPr b="0"/>
              <a:t>算法：向前、向后复制，顺序查找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致谢"/>
          <p:cNvSpPr txBox="1"/>
          <p:nvPr/>
        </p:nvSpPr>
        <p:spPr>
          <a:xfrm>
            <a:off x="717550" y="-95250"/>
            <a:ext cx="7939088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致谢</a:t>
            </a:r>
          </a:p>
        </p:txBody>
      </p:sp>
      <p:sp>
        <p:nvSpPr>
          <p:cNvPr id="671" name="部分代码参考了java类库的ArrayList类，向作者表示感谢。"/>
          <p:cNvSpPr txBox="1"/>
          <p:nvPr/>
        </p:nvSpPr>
        <p:spPr>
          <a:xfrm>
            <a:off x="194143" y="989012"/>
            <a:ext cx="8785507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39687" defTabSz="914400">
              <a:lnSpc>
                <a:spcPct val="100000"/>
              </a:lnSpc>
              <a:spcBef>
                <a:spcPts val="1300"/>
              </a:spcBef>
              <a:defRPr sz="2800">
                <a:solidFill>
                  <a:srgbClr val="FF2600"/>
                </a:solidFill>
              </a:defRPr>
            </a:pPr>
            <a:r>
              <a:t>部分代码参考了j</a:t>
            </a:r>
            <a:r>
              <a:rPr sz="2600"/>
              <a:t>ava类库的ArrayList类，向作者表示感谢。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作业"/>
          <p:cNvSpPr txBox="1"/>
          <p:nvPr/>
        </p:nvSpPr>
        <p:spPr>
          <a:xfrm>
            <a:off x="768350" y="-57150"/>
            <a:ext cx="7939088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79437">
              <a:lnSpc>
                <a:spcPct val="100000"/>
              </a:lnSpc>
              <a:defRPr sz="4000" b="1"/>
            </a:lvl1pPr>
          </a:lstStyle>
          <a:p>
            <a:r>
              <a:t>作业</a:t>
            </a:r>
          </a:p>
        </p:txBody>
      </p:sp>
      <p:grpSp>
        <p:nvGrpSpPr>
          <p:cNvPr id="676" name="成组"/>
          <p:cNvGrpSpPr/>
          <p:nvPr/>
        </p:nvGrpSpPr>
        <p:grpSpPr>
          <a:xfrm>
            <a:off x="1557337" y="1622425"/>
            <a:ext cx="6553201" cy="612775"/>
            <a:chOff x="0" y="0"/>
            <a:chExt cx="6553200" cy="612775"/>
          </a:xfrm>
        </p:grpSpPr>
        <p:sp>
          <p:nvSpPr>
            <p:cNvPr id="674" name="矩形"/>
            <p:cNvSpPr/>
            <p:nvPr/>
          </p:nvSpPr>
          <p:spPr>
            <a:xfrm>
              <a:off x="0" y="0"/>
              <a:ext cx="6553200" cy="6127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675" name="a0          a1         a2       a3         a4        a5"/>
            <p:cNvSpPr txBox="1"/>
            <p:nvPr/>
          </p:nvSpPr>
          <p:spPr>
            <a:xfrm>
              <a:off x="0" y="61655"/>
              <a:ext cx="4217988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indent="39687"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r>
                <a:t>a</a:t>
              </a:r>
              <a:r>
                <a:rPr baseline="-25000"/>
                <a:t>0          </a:t>
              </a:r>
              <a:r>
                <a:t>a</a:t>
              </a:r>
              <a:r>
                <a:rPr baseline="-25000"/>
                <a:t>1         </a:t>
              </a:r>
              <a:r>
                <a:t>a</a:t>
              </a:r>
              <a:r>
                <a:rPr baseline="-25000"/>
                <a:t>2       </a:t>
              </a:r>
              <a:r>
                <a:t>a</a:t>
              </a:r>
              <a:r>
                <a:rPr baseline="-25000"/>
                <a:t>3         </a:t>
              </a:r>
              <a:r>
                <a:t>a</a:t>
              </a:r>
              <a:r>
                <a:rPr baseline="-25000"/>
                <a:t>4        </a:t>
              </a:r>
              <a:r>
                <a:t>a</a:t>
              </a:r>
              <a:r>
                <a:rPr baseline="-25000"/>
                <a:t>5       </a:t>
              </a:r>
            </a:p>
          </p:txBody>
        </p:sp>
      </p:grpSp>
      <p:sp>
        <p:nvSpPr>
          <p:cNvPr id="677" name="线条"/>
          <p:cNvSpPr/>
          <p:nvPr/>
        </p:nvSpPr>
        <p:spPr>
          <a:xfrm flipV="1">
            <a:off x="2195512" y="1635125"/>
            <a:ext cx="1589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78" name="线条"/>
          <p:cNvSpPr/>
          <p:nvPr/>
        </p:nvSpPr>
        <p:spPr>
          <a:xfrm flipV="1">
            <a:off x="2868612" y="1635125"/>
            <a:ext cx="1589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79" name="线条"/>
          <p:cNvSpPr/>
          <p:nvPr/>
        </p:nvSpPr>
        <p:spPr>
          <a:xfrm flipV="1">
            <a:off x="3541712" y="1635125"/>
            <a:ext cx="1589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0" name="线条"/>
          <p:cNvSpPr/>
          <p:nvPr/>
        </p:nvSpPr>
        <p:spPr>
          <a:xfrm flipV="1">
            <a:off x="4211637" y="1622425"/>
            <a:ext cx="1588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1" name="线条"/>
          <p:cNvSpPr/>
          <p:nvPr/>
        </p:nvSpPr>
        <p:spPr>
          <a:xfrm flipV="1">
            <a:off x="4851399" y="1609725"/>
            <a:ext cx="1589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2" name="线条"/>
          <p:cNvSpPr/>
          <p:nvPr/>
        </p:nvSpPr>
        <p:spPr>
          <a:xfrm flipV="1">
            <a:off x="5522912" y="1609725"/>
            <a:ext cx="1588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3" name="线条"/>
          <p:cNvSpPr/>
          <p:nvPr/>
        </p:nvSpPr>
        <p:spPr>
          <a:xfrm flipV="1">
            <a:off x="6194424" y="1609725"/>
            <a:ext cx="1589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4" name="线条"/>
          <p:cNvSpPr/>
          <p:nvPr/>
        </p:nvSpPr>
        <p:spPr>
          <a:xfrm flipV="1">
            <a:off x="6832600" y="1609725"/>
            <a:ext cx="1588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85" name="线条"/>
          <p:cNvSpPr/>
          <p:nvPr/>
        </p:nvSpPr>
        <p:spPr>
          <a:xfrm flipV="1">
            <a:off x="7473950" y="1622425"/>
            <a:ext cx="1588" cy="6127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698" name="成组"/>
          <p:cNvGrpSpPr/>
          <p:nvPr/>
        </p:nvGrpSpPr>
        <p:grpSpPr>
          <a:xfrm>
            <a:off x="1557337" y="2400299"/>
            <a:ext cx="6553201" cy="625476"/>
            <a:chOff x="0" y="0"/>
            <a:chExt cx="6553200" cy="625475"/>
          </a:xfrm>
        </p:grpSpPr>
        <p:grpSp>
          <p:nvGrpSpPr>
            <p:cNvPr id="688" name="成组"/>
            <p:cNvGrpSpPr/>
            <p:nvPr/>
          </p:nvGrpSpPr>
          <p:grpSpPr>
            <a:xfrm>
              <a:off x="0" y="-1"/>
              <a:ext cx="6553200" cy="612777"/>
              <a:chOff x="0" y="0"/>
              <a:chExt cx="6553200" cy="612775"/>
            </a:xfrm>
          </p:grpSpPr>
          <p:sp>
            <p:nvSpPr>
              <p:cNvPr id="686" name="矩形"/>
              <p:cNvSpPr/>
              <p:nvPr/>
            </p:nvSpPr>
            <p:spPr>
              <a:xfrm>
                <a:off x="0" y="0"/>
                <a:ext cx="6553200" cy="6127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endParaRPr/>
              </a:p>
            </p:txBody>
          </p:sp>
          <p:sp>
            <p:nvSpPr>
              <p:cNvPr id="687" name="a5          a4         a3       a2        a1         a0"/>
              <p:cNvSpPr txBox="1"/>
              <p:nvPr/>
            </p:nvSpPr>
            <p:spPr>
              <a:xfrm>
                <a:off x="0" y="61655"/>
                <a:ext cx="4167188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indent="39687" defTabSz="914400">
                  <a:lnSpc>
                    <a:spcPct val="100000"/>
                  </a:lnSpc>
                  <a:spcBef>
                    <a:spcPts val="1300"/>
                  </a:spcBef>
                  <a:defRPr sz="2400" b="1"/>
                </a:pPr>
                <a:r>
                  <a:t>a</a:t>
                </a:r>
                <a:r>
                  <a:rPr baseline="-25000"/>
                  <a:t>5          </a:t>
                </a:r>
                <a:r>
                  <a:t>a</a:t>
                </a:r>
                <a:r>
                  <a:rPr baseline="-25000"/>
                  <a:t>4         </a:t>
                </a:r>
                <a:r>
                  <a:t>a</a:t>
                </a:r>
                <a:r>
                  <a:rPr baseline="-25000"/>
                  <a:t>3       </a:t>
                </a:r>
                <a:r>
                  <a:t>a</a:t>
                </a:r>
                <a:r>
                  <a:rPr baseline="-25000"/>
                  <a:t>2        </a:t>
                </a:r>
                <a:r>
                  <a:t>a</a:t>
                </a:r>
                <a:r>
                  <a:rPr baseline="-25000"/>
                  <a:t>1         </a:t>
                </a:r>
                <a:r>
                  <a:t>a</a:t>
                </a:r>
                <a:r>
                  <a:rPr baseline="-25000"/>
                  <a:t>0      </a:t>
                </a:r>
              </a:p>
            </p:txBody>
          </p:sp>
        </p:grpSp>
        <p:sp>
          <p:nvSpPr>
            <p:cNvPr id="689" name="线条"/>
            <p:cNvSpPr/>
            <p:nvPr/>
          </p:nvSpPr>
          <p:spPr>
            <a:xfrm flipV="1">
              <a:off x="638173" y="12699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0" name="线条"/>
            <p:cNvSpPr/>
            <p:nvPr/>
          </p:nvSpPr>
          <p:spPr>
            <a:xfrm flipV="1">
              <a:off x="1311273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1" name="线条"/>
            <p:cNvSpPr/>
            <p:nvPr/>
          </p:nvSpPr>
          <p:spPr>
            <a:xfrm flipV="1">
              <a:off x="1984373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2" name="线条"/>
            <p:cNvSpPr/>
            <p:nvPr/>
          </p:nvSpPr>
          <p:spPr>
            <a:xfrm flipV="1">
              <a:off x="2654298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3" name="线条"/>
            <p:cNvSpPr/>
            <p:nvPr/>
          </p:nvSpPr>
          <p:spPr>
            <a:xfrm flipV="1">
              <a:off x="3294061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4" name="线条"/>
            <p:cNvSpPr/>
            <p:nvPr/>
          </p:nvSpPr>
          <p:spPr>
            <a:xfrm flipV="1">
              <a:off x="3965573" y="-1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5" name="线条"/>
            <p:cNvSpPr/>
            <p:nvPr/>
          </p:nvSpPr>
          <p:spPr>
            <a:xfrm flipV="1">
              <a:off x="4637086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6" name="线条"/>
            <p:cNvSpPr/>
            <p:nvPr/>
          </p:nvSpPr>
          <p:spPr>
            <a:xfrm flipV="1">
              <a:off x="5275261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7" name="线条"/>
            <p:cNvSpPr/>
            <p:nvPr/>
          </p:nvSpPr>
          <p:spPr>
            <a:xfrm flipV="1">
              <a:off x="5915813" y="11869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699" name="2、实现public void removeRange(int from, int to)，删除位置为[from, to]的所有数据。"/>
          <p:cNvSpPr txBox="1"/>
          <p:nvPr/>
        </p:nvSpPr>
        <p:spPr>
          <a:xfrm>
            <a:off x="257175" y="3040538"/>
            <a:ext cx="7818438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2、实现public void removeRange(int from, int to)，删除位置为[from, to]的所有数据。</a:t>
            </a:r>
          </a:p>
        </p:txBody>
      </p:sp>
      <p:sp>
        <p:nvSpPr>
          <p:cNvPr id="700" name="3、设顺序表中的数据元素递增有序。实现public void insertSortedList(AnyType x)，将x插入到顺序表的适当位置上，以保持该表的有序性。"/>
          <p:cNvSpPr txBox="1"/>
          <p:nvPr/>
        </p:nvSpPr>
        <p:spPr>
          <a:xfrm>
            <a:off x="257175" y="3966577"/>
            <a:ext cx="7818438" cy="1353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3、设顺序表中的数据元素递增有序。实现public void insertSortedList(AnyType x)，将x插入到顺序表的适当位置上，以保持该表的有序性。</a:t>
            </a:r>
          </a:p>
        </p:txBody>
      </p:sp>
      <p:grpSp>
        <p:nvGrpSpPr>
          <p:cNvPr id="711" name="成组"/>
          <p:cNvGrpSpPr/>
          <p:nvPr/>
        </p:nvGrpSpPr>
        <p:grpSpPr>
          <a:xfrm>
            <a:off x="1484312" y="5583237"/>
            <a:ext cx="6554788" cy="625476"/>
            <a:chOff x="0" y="0"/>
            <a:chExt cx="6554787" cy="625475"/>
          </a:xfrm>
        </p:grpSpPr>
        <p:sp>
          <p:nvSpPr>
            <p:cNvPr id="701" name="矩形"/>
            <p:cNvSpPr/>
            <p:nvPr/>
          </p:nvSpPr>
          <p:spPr>
            <a:xfrm>
              <a:off x="0" y="-1"/>
              <a:ext cx="6554788" cy="6127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1300"/>
                </a:spcBef>
                <a:defRPr sz="2400" b="1"/>
              </a:pPr>
              <a:endParaRPr/>
            </a:p>
          </p:txBody>
        </p:sp>
        <p:sp>
          <p:nvSpPr>
            <p:cNvPr id="702" name="线条"/>
            <p:cNvSpPr/>
            <p:nvPr/>
          </p:nvSpPr>
          <p:spPr>
            <a:xfrm flipV="1">
              <a:off x="638328" y="12699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3" name="线条"/>
            <p:cNvSpPr/>
            <p:nvPr/>
          </p:nvSpPr>
          <p:spPr>
            <a:xfrm flipV="1">
              <a:off x="1311591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4" name="线条"/>
            <p:cNvSpPr/>
            <p:nvPr/>
          </p:nvSpPr>
          <p:spPr>
            <a:xfrm flipV="1">
              <a:off x="1984854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5" name="线条"/>
            <p:cNvSpPr/>
            <p:nvPr/>
          </p:nvSpPr>
          <p:spPr>
            <a:xfrm flipV="1">
              <a:off x="2654941" y="12699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6" name="线条"/>
            <p:cNvSpPr/>
            <p:nvPr/>
          </p:nvSpPr>
          <p:spPr>
            <a:xfrm flipV="1">
              <a:off x="3294859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7" name="线条"/>
            <p:cNvSpPr/>
            <p:nvPr/>
          </p:nvSpPr>
          <p:spPr>
            <a:xfrm flipV="1">
              <a:off x="3966534" y="-1"/>
              <a:ext cx="1592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8" name="线条"/>
            <p:cNvSpPr/>
            <p:nvPr/>
          </p:nvSpPr>
          <p:spPr>
            <a:xfrm flipV="1">
              <a:off x="4638209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9" name="线条"/>
            <p:cNvSpPr/>
            <p:nvPr/>
          </p:nvSpPr>
          <p:spPr>
            <a:xfrm flipV="1">
              <a:off x="5276539" y="-1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10" name="线条"/>
            <p:cNvSpPr/>
            <p:nvPr/>
          </p:nvSpPr>
          <p:spPr>
            <a:xfrm flipV="1">
              <a:off x="5917247" y="11869"/>
              <a:ext cx="1591" cy="6127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712" name="0"/>
          <p:cNvSpPr txBox="1"/>
          <p:nvPr/>
        </p:nvSpPr>
        <p:spPr>
          <a:xfrm>
            <a:off x="1700212" y="51879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0</a:t>
            </a:r>
          </a:p>
        </p:txBody>
      </p:sp>
      <p:sp>
        <p:nvSpPr>
          <p:cNvPr id="713" name="1"/>
          <p:cNvSpPr txBox="1"/>
          <p:nvPr/>
        </p:nvSpPr>
        <p:spPr>
          <a:xfrm>
            <a:off x="2347912" y="51879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</a:t>
            </a:r>
          </a:p>
        </p:txBody>
      </p:sp>
      <p:sp>
        <p:nvSpPr>
          <p:cNvPr id="714" name="2"/>
          <p:cNvSpPr txBox="1"/>
          <p:nvPr/>
        </p:nvSpPr>
        <p:spPr>
          <a:xfrm>
            <a:off x="2995612" y="51879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2</a:t>
            </a:r>
          </a:p>
        </p:txBody>
      </p:sp>
      <p:sp>
        <p:nvSpPr>
          <p:cNvPr id="715" name="3"/>
          <p:cNvSpPr txBox="1"/>
          <p:nvPr/>
        </p:nvSpPr>
        <p:spPr>
          <a:xfrm>
            <a:off x="3643312" y="51879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3</a:t>
            </a:r>
          </a:p>
        </p:txBody>
      </p:sp>
      <p:sp>
        <p:nvSpPr>
          <p:cNvPr id="716" name="4"/>
          <p:cNvSpPr txBox="1"/>
          <p:nvPr/>
        </p:nvSpPr>
        <p:spPr>
          <a:xfrm>
            <a:off x="4291012" y="51879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4</a:t>
            </a:r>
          </a:p>
        </p:txBody>
      </p:sp>
      <p:sp>
        <p:nvSpPr>
          <p:cNvPr id="717" name="1"/>
          <p:cNvSpPr txBox="1"/>
          <p:nvPr/>
        </p:nvSpPr>
        <p:spPr>
          <a:xfrm>
            <a:off x="1687512" y="56451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</a:t>
            </a:r>
          </a:p>
        </p:txBody>
      </p:sp>
      <p:sp>
        <p:nvSpPr>
          <p:cNvPr id="718" name="6"/>
          <p:cNvSpPr txBox="1"/>
          <p:nvPr/>
        </p:nvSpPr>
        <p:spPr>
          <a:xfrm>
            <a:off x="2335212" y="56451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6</a:t>
            </a:r>
          </a:p>
        </p:txBody>
      </p:sp>
      <p:sp>
        <p:nvSpPr>
          <p:cNvPr id="719" name="9"/>
          <p:cNvSpPr txBox="1"/>
          <p:nvPr/>
        </p:nvSpPr>
        <p:spPr>
          <a:xfrm>
            <a:off x="2982912" y="5645150"/>
            <a:ext cx="23909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9</a:t>
            </a:r>
          </a:p>
        </p:txBody>
      </p:sp>
      <p:sp>
        <p:nvSpPr>
          <p:cNvPr id="720" name="12"/>
          <p:cNvSpPr txBox="1"/>
          <p:nvPr/>
        </p:nvSpPr>
        <p:spPr>
          <a:xfrm>
            <a:off x="3630612" y="5645150"/>
            <a:ext cx="363886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12</a:t>
            </a:r>
          </a:p>
        </p:txBody>
      </p:sp>
      <p:sp>
        <p:nvSpPr>
          <p:cNvPr id="721" name="18"/>
          <p:cNvSpPr txBox="1"/>
          <p:nvPr/>
        </p:nvSpPr>
        <p:spPr>
          <a:xfrm>
            <a:off x="4278312" y="5645150"/>
            <a:ext cx="363886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1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18</a:t>
            </a:r>
          </a:p>
        </p:txBody>
      </p:sp>
      <p:sp>
        <p:nvSpPr>
          <p:cNvPr id="722" name="为CArrayList类增加以下的函数：…"/>
          <p:cNvSpPr txBox="1"/>
          <p:nvPr/>
        </p:nvSpPr>
        <p:spPr>
          <a:xfrm>
            <a:off x="261143" y="743635"/>
            <a:ext cx="6782973" cy="849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100"/>
            </a:pPr>
            <a:r>
              <a:t>为CArrayList类增加以下的函数：</a:t>
            </a:r>
          </a:p>
          <a:p>
            <a:pPr>
              <a:lnSpc>
                <a:spcPct val="100000"/>
              </a:lnSpc>
              <a:defRPr sz="2100"/>
            </a:pPr>
            <a:r>
              <a:t>1、实现表的就地（S(n) = O(1)）逆序: pubic void  reverse()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3619</Words>
  <Application>Microsoft Office PowerPoint</Application>
  <PresentationFormat>全屏显示(4:3)</PresentationFormat>
  <Paragraphs>745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8" baseType="lpstr">
      <vt:lpstr>Lucida Grande</vt:lpstr>
      <vt:lpstr>Monaco</vt:lpstr>
      <vt:lpstr>SimSun</vt:lpstr>
      <vt:lpstr>Arial Black</vt:lpstr>
      <vt:lpstr>Tahoma</vt:lpstr>
      <vt:lpstr>Times New Roman</vt:lpstr>
      <vt:lpstr>White</vt:lpstr>
      <vt:lpstr>主要内容</vt:lpstr>
      <vt:lpstr>数据结构-表(List)</vt:lpstr>
      <vt:lpstr>数据结构-表</vt:lpstr>
      <vt:lpstr>数据结构-表</vt:lpstr>
      <vt:lpstr>数据结构-表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主要内容</dc:title>
  <cp:lastModifiedBy>陈 宇</cp:lastModifiedBy>
  <cp:revision>2</cp:revision>
  <dcterms:modified xsi:type="dcterms:W3CDTF">2023-02-06T12:38:56Z</dcterms:modified>
</cp:coreProperties>
</file>