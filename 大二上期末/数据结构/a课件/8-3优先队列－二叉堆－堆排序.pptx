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comments/comment1.xml" ContentType="application/vnd.openxmlformats-officedocument.presentationml.comment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comments/comment2.xml" ContentType="application/vnd.openxmlformats-officedocument.presentationml.comments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2" r:id="rId46"/>
    <p:sldId id="293" r:id="rId47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57798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1pPr>
    <a:lvl2pPr marL="0" marR="0" indent="57798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2pPr>
    <a:lvl3pPr marL="0" marR="0" indent="57798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3pPr>
    <a:lvl4pPr marL="0" marR="0" indent="57798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4pPr>
    <a:lvl5pPr marL="0" marR="0" indent="57798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5pPr>
    <a:lvl6pPr marL="0" marR="0" indent="57798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6pPr>
    <a:lvl7pPr marL="0" marR="0" indent="57798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7pPr>
    <a:lvl8pPr marL="0" marR="0" indent="57798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8pPr>
    <a:lvl9pPr marL="0" marR="0" indent="57798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Author id="0" name="李盛恩" initials="李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n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EA"/>
          </a:solidFill>
        </a:fill>
      </a:tcStyle>
    </a:wholeTbl>
    <a:band2H>
      <a:tcTxStyle b="def" i="def"/>
      <a:tcStyle>
        <a:tcBdr/>
        <a:fill>
          <a:solidFill>
            <a:srgbClr val="E6E9F5"/>
          </a:solidFill>
        </a:fill>
      </a:tcStyle>
    </a:band2H>
    <a:fir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n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FE4CB"/>
          </a:solidFill>
        </a:fill>
      </a:tcStyle>
    </a:wholeTbl>
    <a:band2H>
      <a:tcTxStyle b="def" i="def"/>
      <a:tcStyle>
        <a:tcBdr/>
        <a:fill>
          <a:solidFill>
            <a:srgbClr val="F7F2E7"/>
          </a:solidFill>
        </a:fill>
      </a:tcStyle>
    </a:band2H>
    <a:fir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n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CBD9"/>
          </a:solidFill>
        </a:fill>
      </a:tcStyle>
    </a:wholeTbl>
    <a:band2H>
      <a:tcTxStyle b="def" i="def"/>
      <a:tcStyle>
        <a:tcBdr/>
        <a:fill>
          <a:solidFill>
            <a:srgbClr val="EAE7ED"/>
          </a:solidFill>
        </a:fill>
      </a:tcStyle>
    </a:band2H>
    <a:fir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n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n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n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comments" Target="comments/comment1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comments" Target="comments/comment2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36" Type="http://schemas.openxmlformats.org/officeDocument/2006/relationships/slide" Target="slides/slide27.xml"/><Relationship Id="rId37" Type="http://schemas.openxmlformats.org/officeDocument/2006/relationships/slide" Target="slides/slide28.xml"/><Relationship Id="rId38" Type="http://schemas.openxmlformats.org/officeDocument/2006/relationships/slide" Target="slides/slide29.xml"/><Relationship Id="rId39" Type="http://schemas.openxmlformats.org/officeDocument/2006/relationships/slide" Target="slides/slide30.xml"/><Relationship Id="rId40" Type="http://schemas.openxmlformats.org/officeDocument/2006/relationships/slide" Target="slides/slide31.xml"/><Relationship Id="rId41" Type="http://schemas.openxmlformats.org/officeDocument/2006/relationships/slide" Target="slides/slide32.xml"/><Relationship Id="rId42" Type="http://schemas.openxmlformats.org/officeDocument/2006/relationships/slide" Target="slides/slide33.xml"/><Relationship Id="rId43" Type="http://schemas.openxmlformats.org/officeDocument/2006/relationships/slide" Target="slides/slide34.xml"/><Relationship Id="rId44" Type="http://schemas.openxmlformats.org/officeDocument/2006/relationships/slide" Target="slides/slide35.xml"/><Relationship Id="rId45" Type="http://schemas.openxmlformats.org/officeDocument/2006/relationships/slide" Target="slides/slide36.xml"/><Relationship Id="rId46" Type="http://schemas.openxmlformats.org/officeDocument/2006/relationships/slide" Target="slides/slide37.xml"/><Relationship Id="rId47" Type="http://schemas.openxmlformats.org/officeDocument/2006/relationships/slide" Target="slides/slide38.xml"/></Relationships>
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 authorId="0" dt="2022-11-29T15:28:25.480" idx="1">
    <p:pos x="4285" y="4542"/>
    <p:text>优先级：数据的大小
优先级队列要求数据实现了Comparable接口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 authorId="0" dt="2021-05-25T16:27:28.218" idx="2">
    <p:pos x="5217" y="4588"/>
    <p:text>左孩子：2*i + 1
双亲： (i-1)/2 下取整</p:text>
    <p:extLst>
      <p:ext uri="{C676402C-5697-4E1C-873F-D02D1690AC5C}">
        <p15:threadingInfo xmlns:p15="http://schemas.microsoft.com/office/powerpoint/2012/main" timeZoneBias="-480"/>
      </p:ext>
    </p:extLst>
  </p:cm>
</p:cmLst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3" name="Shape 53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25000"/>
      </a:lnSpc>
      <a:defRPr sz="2400">
        <a:latin typeface="+mn-lt"/>
        <a:ea typeface="+mn-ea"/>
        <a:cs typeface="+mn-cs"/>
        <a:sym typeface="Avenir Roman"/>
      </a:defRPr>
    </a:lvl1pPr>
    <a:lvl2pPr indent="228600" defTabSz="457200" latinLnBrk="0">
      <a:lnSpc>
        <a:spcPct val="125000"/>
      </a:lnSpc>
      <a:defRPr sz="2400">
        <a:latin typeface="+mn-lt"/>
        <a:ea typeface="+mn-ea"/>
        <a:cs typeface="+mn-cs"/>
        <a:sym typeface="Avenir Roman"/>
      </a:defRPr>
    </a:lvl2pPr>
    <a:lvl3pPr indent="457200" defTabSz="457200" latinLnBrk="0">
      <a:lnSpc>
        <a:spcPct val="125000"/>
      </a:lnSpc>
      <a:defRPr sz="2400">
        <a:latin typeface="+mn-lt"/>
        <a:ea typeface="+mn-ea"/>
        <a:cs typeface="+mn-cs"/>
        <a:sym typeface="Avenir Roman"/>
      </a:defRPr>
    </a:lvl3pPr>
    <a:lvl4pPr indent="685800" defTabSz="457200" latinLnBrk="0">
      <a:lnSpc>
        <a:spcPct val="125000"/>
      </a:lnSpc>
      <a:defRPr sz="2400">
        <a:latin typeface="+mn-lt"/>
        <a:ea typeface="+mn-ea"/>
        <a:cs typeface="+mn-cs"/>
        <a:sym typeface="Avenir Roman"/>
      </a:defRPr>
    </a:lvl4pPr>
    <a:lvl5pPr indent="914400" defTabSz="457200" latinLnBrk="0">
      <a:lnSpc>
        <a:spcPct val="125000"/>
      </a:lnSpc>
      <a:defRPr sz="2400">
        <a:latin typeface="+mn-lt"/>
        <a:ea typeface="+mn-ea"/>
        <a:cs typeface="+mn-cs"/>
        <a:sym typeface="Avenir Roman"/>
      </a:defRPr>
    </a:lvl5pPr>
    <a:lvl6pPr indent="1143000" defTabSz="457200" latinLnBrk="0">
      <a:lnSpc>
        <a:spcPct val="125000"/>
      </a:lnSpc>
      <a:defRPr sz="2400">
        <a:latin typeface="+mn-lt"/>
        <a:ea typeface="+mn-ea"/>
        <a:cs typeface="+mn-cs"/>
        <a:sym typeface="Avenir Roman"/>
      </a:defRPr>
    </a:lvl6pPr>
    <a:lvl7pPr indent="1371600" defTabSz="457200" latinLnBrk="0">
      <a:lnSpc>
        <a:spcPct val="125000"/>
      </a:lnSpc>
      <a:defRPr sz="2400">
        <a:latin typeface="+mn-lt"/>
        <a:ea typeface="+mn-ea"/>
        <a:cs typeface="+mn-cs"/>
        <a:sym typeface="Avenir Roman"/>
      </a:defRPr>
    </a:lvl7pPr>
    <a:lvl8pPr indent="1600200" defTabSz="457200" latinLnBrk="0">
      <a:lnSpc>
        <a:spcPct val="125000"/>
      </a:lnSpc>
      <a:defRPr sz="2400">
        <a:latin typeface="+mn-lt"/>
        <a:ea typeface="+mn-ea"/>
        <a:cs typeface="+mn-cs"/>
        <a:sym typeface="Avenir Roman"/>
      </a:defRPr>
    </a:lvl8pPr>
    <a:lvl9pPr indent="1828800" defTabSz="457200" latinLnBrk="0">
      <a:lnSpc>
        <a:spcPct val="125000"/>
      </a:lnSpc>
      <a:defRPr sz="2400">
        <a:latin typeface="+mn-lt"/>
        <a:ea typeface="+mn-ea"/>
        <a:cs typeface="+mn-cs"/>
        <a:sym typeface="Avenir Roman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1_Blen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文本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2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_Blen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"/>
          <p:cNvSpPr/>
          <p:nvPr/>
        </p:nvSpPr>
        <p:spPr>
          <a:xfrm>
            <a:off x="1143000" y="206304"/>
            <a:ext cx="467360" cy="675078"/>
          </a:xfrm>
          <a:prstGeom prst="rect">
            <a:avLst/>
          </a:prstGeom>
          <a:gradFill>
            <a:gsLst>
              <a:gs pos="0">
                <a:srgbClr val="F82408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33" name="成组"/>
          <p:cNvGrpSpPr/>
          <p:nvPr/>
        </p:nvGrpSpPr>
        <p:grpSpPr>
          <a:xfrm>
            <a:off x="165099" y="206303"/>
            <a:ext cx="1435101" cy="1041403"/>
            <a:chOff x="0" y="0"/>
            <a:chExt cx="1435099" cy="1041401"/>
          </a:xfrm>
        </p:grpSpPr>
        <p:sp>
          <p:nvSpPr>
            <p:cNvPr id="29" name="正方形"/>
            <p:cNvSpPr/>
            <p:nvPr/>
          </p:nvSpPr>
          <p:spPr>
            <a:xfrm>
              <a:off x="364273" y="-1"/>
              <a:ext cx="545671" cy="548565"/>
            </a:xfrm>
            <a:prstGeom prst="rect">
              <a:avLst/>
            </a:prstGeom>
            <a:solidFill>
              <a:srgbClr val="F82408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0" name="矩形"/>
            <p:cNvSpPr/>
            <p:nvPr/>
          </p:nvSpPr>
          <p:spPr>
            <a:xfrm>
              <a:off x="518483" y="492836"/>
              <a:ext cx="525900" cy="548566"/>
            </a:xfrm>
            <a:prstGeom prst="rect">
              <a:avLst/>
            </a:prstGeom>
            <a:solidFill>
              <a:srgbClr val="3333CC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1" name="矩形"/>
            <p:cNvSpPr/>
            <p:nvPr/>
          </p:nvSpPr>
          <p:spPr>
            <a:xfrm>
              <a:off x="979138" y="492836"/>
              <a:ext cx="455962" cy="548566"/>
            </a:xfrm>
            <a:prstGeom prst="rect">
              <a:avLst/>
            </a:prstGeom>
            <a:gradFill flip="none" rotWithShape="1">
              <a:gsLst>
                <a:gs pos="0">
                  <a:srgbClr val="3333CC"/>
                </a:gs>
                <a:gs pos="100000">
                  <a:srgbClr val="FEE8F7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2" name="矩形"/>
            <p:cNvSpPr/>
            <p:nvPr/>
          </p:nvSpPr>
          <p:spPr>
            <a:xfrm>
              <a:off x="-1" y="403625"/>
              <a:ext cx="697904" cy="488022"/>
            </a:xfrm>
            <a:prstGeom prst="rect">
              <a:avLst/>
            </a:prstGeom>
            <a:gradFill flip="none" rotWithShape="1">
              <a:gsLst>
                <a:gs pos="0">
                  <a:srgbClr val="FEE8F7"/>
                </a:gs>
                <a:gs pos="100000">
                  <a:srgbClr val="FF2600"/>
                </a:gs>
              </a:gsLst>
              <a:lin ang="189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34" name="矩形"/>
          <p:cNvSpPr/>
          <p:nvPr/>
        </p:nvSpPr>
        <p:spPr>
          <a:xfrm>
            <a:off x="1087402" y="-11572"/>
            <a:ext cx="45157" cy="1344508"/>
          </a:xfrm>
          <a:prstGeom prst="rect">
            <a:avLst/>
          </a:prstGeom>
          <a:solidFill>
            <a:srgbClr val="1C1C1C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5" name="矩形"/>
          <p:cNvSpPr/>
          <p:nvPr/>
        </p:nvSpPr>
        <p:spPr>
          <a:xfrm>
            <a:off x="629919" y="973948"/>
            <a:ext cx="11699807" cy="45158"/>
          </a:xfrm>
          <a:prstGeom prst="rect">
            <a:avLst/>
          </a:prstGeom>
          <a:gradFill>
            <a:gsLst>
              <a:gs pos="0">
                <a:srgbClr val="1C1C1C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pic>
        <p:nvPicPr>
          <p:cNvPr id="36" name="image1.png" descr="image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135924" y="206304"/>
            <a:ext cx="800102" cy="762002"/>
          </a:xfrm>
          <a:prstGeom prst="rect">
            <a:avLst/>
          </a:prstGeom>
          <a:ln w="12700">
            <a:miter lim="400000"/>
          </a:ln>
        </p:spPr>
      </p:pic>
      <p:sp>
        <p:nvSpPr>
          <p:cNvPr id="37" name="标题文本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200"/>
            </a:lvl1pPr>
          </a:lstStyle>
          <a:p>
            <a:pPr/>
            <a:r>
              <a:t>标题文本</a:t>
            </a:r>
          </a:p>
        </p:txBody>
      </p:sp>
      <p:sp>
        <p:nvSpPr>
          <p:cNvPr id="38" name="幻灯片编号"/>
          <p:cNvSpPr txBox="1"/>
          <p:nvPr>
            <p:ph type="sldNum" sz="quarter" idx="2"/>
          </p:nvPr>
        </p:nvSpPr>
        <p:spPr>
          <a:xfrm>
            <a:off x="6259830" y="9080500"/>
            <a:ext cx="469901" cy="492894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1_Blen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文本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/>
            </a:lvl1pPr>
          </a:lstStyle>
          <a:p>
            <a:pPr/>
            <a:r>
              <a:t>标题文本</a:t>
            </a:r>
          </a:p>
        </p:txBody>
      </p:sp>
      <p:sp>
        <p:nvSpPr>
          <p:cNvPr id="46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1143000" y="320604"/>
            <a:ext cx="467360" cy="675078"/>
          </a:xfrm>
          <a:prstGeom prst="rect">
            <a:avLst/>
          </a:prstGeom>
          <a:gradFill>
            <a:gsLst>
              <a:gs pos="0">
                <a:srgbClr val="F81F08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7" name="Group 7"/>
          <p:cNvGrpSpPr/>
          <p:nvPr/>
        </p:nvGrpSpPr>
        <p:grpSpPr>
          <a:xfrm>
            <a:off x="165099" y="320603"/>
            <a:ext cx="1435101" cy="1041403"/>
            <a:chOff x="0" y="0"/>
            <a:chExt cx="1435099" cy="1041401"/>
          </a:xfrm>
        </p:grpSpPr>
        <p:sp>
          <p:nvSpPr>
            <p:cNvPr id="3" name="Shape 3"/>
            <p:cNvSpPr/>
            <p:nvPr/>
          </p:nvSpPr>
          <p:spPr>
            <a:xfrm>
              <a:off x="364273" y="-1"/>
              <a:ext cx="545671" cy="548565"/>
            </a:xfrm>
            <a:prstGeom prst="rect">
              <a:avLst/>
            </a:prstGeom>
            <a:solidFill>
              <a:srgbClr val="F81F08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" name="Shape 4"/>
            <p:cNvSpPr/>
            <p:nvPr/>
          </p:nvSpPr>
          <p:spPr>
            <a:xfrm>
              <a:off x="518483" y="492836"/>
              <a:ext cx="525900" cy="548566"/>
            </a:xfrm>
            <a:prstGeom prst="rect">
              <a:avLst/>
            </a:prstGeom>
            <a:solidFill>
              <a:srgbClr val="3333CC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" name="Shape 5"/>
            <p:cNvSpPr/>
            <p:nvPr/>
          </p:nvSpPr>
          <p:spPr>
            <a:xfrm>
              <a:off x="979138" y="492836"/>
              <a:ext cx="455962" cy="548566"/>
            </a:xfrm>
            <a:prstGeom prst="rect">
              <a:avLst/>
            </a:prstGeom>
            <a:gradFill flip="none" rotWithShape="1">
              <a:gsLst>
                <a:gs pos="0">
                  <a:srgbClr val="3333CC"/>
                </a:gs>
                <a:gs pos="100000">
                  <a:srgbClr val="FEE8F7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" name="Shape 6"/>
            <p:cNvSpPr/>
            <p:nvPr/>
          </p:nvSpPr>
          <p:spPr>
            <a:xfrm>
              <a:off x="-1" y="403625"/>
              <a:ext cx="697904" cy="488022"/>
            </a:xfrm>
            <a:prstGeom prst="rect">
              <a:avLst/>
            </a:prstGeom>
            <a:gradFill flip="none" rotWithShape="1">
              <a:gsLst>
                <a:gs pos="0">
                  <a:srgbClr val="FEE8F7"/>
                </a:gs>
                <a:gs pos="100000">
                  <a:srgbClr val="FF0000"/>
                </a:gs>
              </a:gsLst>
              <a:lin ang="189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8" name="Shape 8"/>
          <p:cNvSpPr/>
          <p:nvPr/>
        </p:nvSpPr>
        <p:spPr>
          <a:xfrm>
            <a:off x="1087402" y="26528"/>
            <a:ext cx="45157" cy="1496908"/>
          </a:xfrm>
          <a:prstGeom prst="rect">
            <a:avLst/>
          </a:prstGeom>
          <a:solidFill>
            <a:srgbClr val="1C1C1C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9" name="Shape 9"/>
          <p:cNvSpPr/>
          <p:nvPr/>
        </p:nvSpPr>
        <p:spPr>
          <a:xfrm>
            <a:off x="629919" y="1088248"/>
            <a:ext cx="11699807" cy="45158"/>
          </a:xfrm>
          <a:prstGeom prst="rect">
            <a:avLst/>
          </a:prstGeom>
          <a:gradFill>
            <a:gsLst>
              <a:gs pos="0">
                <a:srgbClr val="1C1C1C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pic>
        <p:nvPicPr>
          <p:cNvPr id="10" name="tb.png" descr="tb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135924" y="206304"/>
            <a:ext cx="800102" cy="762002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标题文本"/>
          <p:cNvSpPr txBox="1"/>
          <p:nvPr>
            <p:ph type="title"/>
          </p:nvPr>
        </p:nvSpPr>
        <p:spPr>
          <a:xfrm>
            <a:off x="1611487" y="125587"/>
            <a:ext cx="9448802" cy="9525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标题文本</a:t>
            </a:r>
          </a:p>
        </p:txBody>
      </p:sp>
      <p:sp>
        <p:nvSpPr>
          <p:cNvPr id="12" name="正文级别 1…"/>
          <p:cNvSpPr txBox="1"/>
          <p:nvPr>
            <p:ph type="body" idx="1"/>
          </p:nvPr>
        </p:nvSpPr>
        <p:spPr>
          <a:xfrm>
            <a:off x="7258755" y="3467946"/>
            <a:ext cx="5093548" cy="62856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3" name="幻灯片编号"/>
          <p:cNvSpPr txBox="1"/>
          <p:nvPr>
            <p:ph type="sldNum" sz="quarter" idx="2"/>
          </p:nvPr>
        </p:nvSpPr>
        <p:spPr>
          <a:xfrm>
            <a:off x="6229773" y="9080500"/>
            <a:ext cx="546101" cy="565857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indent="0" algn="ctr" defTabSz="825500">
              <a:defRPr b="1" sz="3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</p:sldLayoutIdLst>
  <p:transition xmlns:p14="http://schemas.microsoft.com/office/powerpoint/2010/main" spd="med" advClick="1"/>
  <p:txStyles>
    <p:titleStyle>
      <a:lvl1pPr marL="0" marR="57798" indent="57798" algn="ctr" defTabSz="1295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5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1pPr>
      <a:lvl2pPr marL="0" marR="57798" indent="57798" algn="ctr" defTabSz="1295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5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2pPr>
      <a:lvl3pPr marL="0" marR="57798" indent="57798" algn="ctr" defTabSz="1295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5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3pPr>
      <a:lvl4pPr marL="0" marR="57798" indent="57798" algn="ctr" defTabSz="1295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5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4pPr>
      <a:lvl5pPr marL="0" marR="57798" indent="57798" algn="ctr" defTabSz="1295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5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5pPr>
      <a:lvl6pPr marL="0" marR="57798" indent="57798" algn="ctr" defTabSz="1295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5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6pPr>
      <a:lvl7pPr marL="0" marR="57798" indent="57798" algn="ctr" defTabSz="1295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5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7pPr>
      <a:lvl8pPr marL="0" marR="57798" indent="57798" algn="ctr" defTabSz="1295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5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8pPr>
      <a:lvl9pPr marL="0" marR="57798" indent="57798" algn="ctr" defTabSz="1295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5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9pPr>
    </p:titleStyle>
    <p:bodyStyle>
      <a:lvl1pPr marL="383540" marR="57798" indent="-342900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60000"/>
        <a:buFontTx/>
        <a:buChar char="■"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1pPr>
      <a:lvl2pPr marL="828708" marR="57798" indent="-330868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5000"/>
        <a:buFontTx/>
        <a:buChar char="■"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2pPr>
      <a:lvl3pPr marL="1250874" marR="57798" indent="-295835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■"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3pPr>
      <a:lvl4pPr marL="1771467" marR="57798" indent="-359228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5000"/>
        <a:buFontTx/>
        <a:buChar char="■"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4pPr>
      <a:lvl5pPr marL="2228667" marR="57798" indent="-359228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■"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5pPr>
      <a:lvl6pPr marL="2228668" marR="57798" indent="-359228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■"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6pPr>
      <a:lvl7pPr marL="2228668" marR="57798" indent="-359228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■"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7pPr>
      <a:lvl8pPr marL="2228668" marR="57798" indent="-359228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■"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8pPr>
      <a:lvl9pPr marL="2228668" marR="57798" indent="-359228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■"/>
        <a:tabLst/>
        <a:defRPr b="0" baseline="0" cap="none" i="0" spc="0" strike="noStrike" sz="44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4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1pPr>
      <a:lvl2pPr marL="0" marR="0" indent="57798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4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2pPr>
      <a:lvl3pPr marL="0" marR="0" indent="57798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4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3pPr>
      <a:lvl4pPr marL="0" marR="0" indent="57798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4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4pPr>
      <a:lvl5pPr marL="0" marR="0" indent="57798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4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5pPr>
      <a:lvl6pPr marL="0" marR="0" indent="57798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4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6pPr>
      <a:lvl7pPr marL="0" marR="0" indent="57798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4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7pPr>
      <a:lvl8pPr marL="0" marR="0" indent="57798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4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8pPr>
      <a:lvl9pPr marL="0" marR="0" indent="57798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4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2.xml"/><Relationship Id="rId3" Type="http://schemas.openxmlformats.org/officeDocument/2006/relationships/image" Target="../media/image4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69"/>
          <p:cNvSpPr txBox="1"/>
          <p:nvPr>
            <p:ph type="title"/>
          </p:nvPr>
        </p:nvSpPr>
        <p:spPr>
          <a:xfrm>
            <a:off x="1611488" y="125588"/>
            <a:ext cx="9448801" cy="952501"/>
          </a:xfrm>
          <a:prstGeom prst="rect">
            <a:avLst/>
          </a:prstGeom>
        </p:spPr>
        <p:txBody>
          <a:bodyPr/>
          <a:lstStyle>
            <a:lvl1pPr marR="56065" indent="56065" defTabSz="1256538"/>
          </a:lstStyle>
          <a:p>
            <a:pPr/>
            <a:r>
              <a:t>优先级队列(priorityQueue)</a:t>
            </a:r>
          </a:p>
        </p:txBody>
      </p:sp>
      <p:sp>
        <p:nvSpPr>
          <p:cNvPr id="56" name="Shape 70"/>
          <p:cNvSpPr txBox="1"/>
          <p:nvPr/>
        </p:nvSpPr>
        <p:spPr>
          <a:xfrm>
            <a:off x="1193800" y="1532747"/>
            <a:ext cx="9960124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lnSpc>
                <a:spcPct val="120000"/>
              </a:lnSpc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普通队列：具有FIFO特点的队列，即不能“夹塞”的队列。</a:t>
            </a:r>
          </a:p>
        </p:txBody>
      </p:sp>
      <p:sp>
        <p:nvSpPr>
          <p:cNvPr id="57" name="Shape 71"/>
          <p:cNvSpPr txBox="1"/>
          <p:nvPr/>
        </p:nvSpPr>
        <p:spPr>
          <a:xfrm>
            <a:off x="1193800" y="2265962"/>
            <a:ext cx="10844952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lnSpc>
                <a:spcPct val="120000"/>
              </a:lnSpc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优先级队列：不具有FIFO特点的队列，即可以“夹塞”的队列。</a:t>
            </a:r>
          </a:p>
        </p:txBody>
      </p:sp>
      <p:sp>
        <p:nvSpPr>
          <p:cNvPr id="58" name="Shape 72"/>
          <p:cNvSpPr txBox="1"/>
          <p:nvPr/>
        </p:nvSpPr>
        <p:spPr>
          <a:xfrm>
            <a:off x="1193800" y="3205762"/>
            <a:ext cx="6065492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lnSpc>
                <a:spcPct val="120000"/>
              </a:lnSpc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例如：银行的排队系统</a:t>
            </a:r>
          </a:p>
        </p:txBody>
      </p:sp>
      <p:sp>
        <p:nvSpPr>
          <p:cNvPr id="59" name="Shape 73"/>
          <p:cNvSpPr txBox="1"/>
          <p:nvPr/>
        </p:nvSpPr>
        <p:spPr>
          <a:xfrm>
            <a:off x="2362199" y="3919218"/>
            <a:ext cx="7518794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lnSpc>
                <a:spcPct val="120000"/>
              </a:lnSpc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客户被分为：VIP、企业用户、普通用户。</a:t>
            </a:r>
          </a:p>
        </p:txBody>
      </p:sp>
      <p:sp>
        <p:nvSpPr>
          <p:cNvPr id="60" name="Shape 74"/>
          <p:cNvSpPr txBox="1"/>
          <p:nvPr/>
        </p:nvSpPr>
        <p:spPr>
          <a:xfrm>
            <a:off x="1193800" y="4637475"/>
            <a:ext cx="6065492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lnSpc>
                <a:spcPct val="120000"/>
              </a:lnSpc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例如：操作系统中进程的调度。</a:t>
            </a:r>
          </a:p>
        </p:txBody>
      </p:sp>
      <p:sp>
        <p:nvSpPr>
          <p:cNvPr id="61" name="Shape 75"/>
          <p:cNvSpPr txBox="1"/>
          <p:nvPr/>
        </p:nvSpPr>
        <p:spPr>
          <a:xfrm>
            <a:off x="1193800" y="5419230"/>
            <a:ext cx="6065492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lnSpc>
                <a:spcPct val="120000"/>
              </a:lnSpc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例如：计算机的中断系统。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Class="entr" nodeType="after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57" grpId="1"/>
      <p:bldP build="whole" bldLvl="1" animBg="1" rev="0" advAuto="0" spid="59" grpId="3"/>
      <p:bldP build="whole" bldLvl="1" animBg="1" rev="0" advAuto="0" spid="61" grpId="5"/>
      <p:bldP build="whole" bldLvl="1" animBg="1" rev="0" advAuto="0" spid="58" grpId="2"/>
      <p:bldP build="whole" bldLvl="1" animBg="1" rev="0" advAuto="0" spid="60" grpId="4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77"/>
          <p:cNvSpPr txBox="1"/>
          <p:nvPr>
            <p:ph type="title"/>
          </p:nvPr>
        </p:nvSpPr>
        <p:spPr>
          <a:xfrm>
            <a:off x="1611488" y="125588"/>
            <a:ext cx="9448801" cy="952501"/>
          </a:xfrm>
          <a:prstGeom prst="rect">
            <a:avLst/>
          </a:prstGeom>
        </p:spPr>
        <p:txBody>
          <a:bodyPr/>
          <a:lstStyle>
            <a:lvl1pPr marR="56065" indent="56065" defTabSz="1256538"/>
          </a:lstStyle>
          <a:p>
            <a:pPr/>
            <a:r>
              <a:t>优先级队列(priorityQueue)</a:t>
            </a:r>
          </a:p>
        </p:txBody>
      </p:sp>
      <p:sp>
        <p:nvSpPr>
          <p:cNvPr id="64" name="Shape 78"/>
          <p:cNvSpPr txBox="1"/>
          <p:nvPr/>
        </p:nvSpPr>
        <p:spPr>
          <a:xfrm>
            <a:off x="347696" y="1405748"/>
            <a:ext cx="11699808" cy="1291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R="57798" defTabSz="1295400">
              <a:lnSpc>
                <a:spcPct val="120000"/>
              </a:lnSpc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  <a:r>
              <a:t>定义：优先级队列：队列中的数据元素都被赋予了一个“</a:t>
            </a:r>
            <a:r>
              <a:rPr>
                <a:solidFill>
                  <a:srgbClr val="FF2600"/>
                </a:solidFill>
              </a:rPr>
              <a:t>优先级</a:t>
            </a:r>
            <a:r>
              <a:t>”，下一个出队的是队列中优先级最大(最小)的数据元素。</a:t>
            </a:r>
          </a:p>
        </p:txBody>
      </p:sp>
      <p:sp>
        <p:nvSpPr>
          <p:cNvPr id="65" name="Shape 79"/>
          <p:cNvSpPr txBox="1"/>
          <p:nvPr/>
        </p:nvSpPr>
        <p:spPr>
          <a:xfrm>
            <a:off x="1732136" y="2909992"/>
            <a:ext cx="5125100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常用操作：查找、入队、出队</a:t>
            </a:r>
          </a:p>
        </p:txBody>
      </p:sp>
      <p:sp>
        <p:nvSpPr>
          <p:cNvPr id="66" name="Shape 80"/>
          <p:cNvSpPr txBox="1"/>
          <p:nvPr/>
        </p:nvSpPr>
        <p:spPr>
          <a:xfrm>
            <a:off x="1732136" y="3735168"/>
            <a:ext cx="10840100" cy="140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  <a:r>
              <a:t>最小优先级队列：查找和出队的元素是具有最小优先级的元素。</a:t>
            </a:r>
          </a:p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  <a:r>
              <a:t>最大优先级队列：查找和出队的元素是具有最大优先级的元素。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83"/>
          <p:cNvSpPr txBox="1"/>
          <p:nvPr>
            <p:ph type="title"/>
          </p:nvPr>
        </p:nvSpPr>
        <p:spPr>
          <a:xfrm>
            <a:off x="1611488" y="125588"/>
            <a:ext cx="9448801" cy="952501"/>
          </a:xfrm>
          <a:prstGeom prst="rect">
            <a:avLst/>
          </a:prstGeom>
        </p:spPr>
        <p:txBody>
          <a:bodyPr/>
          <a:lstStyle/>
          <a:p>
            <a:pPr/>
            <a:r>
              <a:t>优先级队列－线性表</a:t>
            </a:r>
          </a:p>
        </p:txBody>
      </p:sp>
      <p:sp>
        <p:nvSpPr>
          <p:cNvPr id="69" name="Shape 84"/>
          <p:cNvSpPr txBox="1"/>
          <p:nvPr/>
        </p:nvSpPr>
        <p:spPr>
          <a:xfrm>
            <a:off x="249222" y="2541889"/>
            <a:ext cx="12865101" cy="1425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  <a:r>
              <a:t>顺序存储： 在表的右端（后面）入队 O(1)</a:t>
            </a:r>
          </a:p>
          <a:p>
            <a:pPr lvl="2" marR="57798" indent="7435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  <a:r>
              <a:t>              查找和出队时要在表中找具有最大（小）优先权的元素，O(n)。</a:t>
            </a:r>
          </a:p>
        </p:txBody>
      </p:sp>
      <p:sp>
        <p:nvSpPr>
          <p:cNvPr id="70" name="Shape 85"/>
          <p:cNvSpPr txBox="1"/>
          <p:nvPr/>
        </p:nvSpPr>
        <p:spPr>
          <a:xfrm>
            <a:off x="249222" y="4129389"/>
            <a:ext cx="12865101" cy="1425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  <a:r>
              <a:t>链式存储： 在表的左端（前面）入队 O(1)</a:t>
            </a:r>
          </a:p>
          <a:p>
            <a:pPr lvl="2" marR="57798" indent="7435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  <a:r>
              <a:t>              查找和出队时要在表中找具有最大（小）优先权的元素，O(n)。</a:t>
            </a:r>
          </a:p>
        </p:txBody>
      </p:sp>
      <p:sp>
        <p:nvSpPr>
          <p:cNvPr id="71" name="Shape 87"/>
          <p:cNvSpPr txBox="1"/>
          <p:nvPr/>
        </p:nvSpPr>
        <p:spPr>
          <a:xfrm>
            <a:off x="249222" y="1463985"/>
            <a:ext cx="9727317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defRPr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无序线性表：（13，38，27，50，76，65，49，97）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83"/>
          <p:cNvSpPr txBox="1"/>
          <p:nvPr>
            <p:ph type="title"/>
          </p:nvPr>
        </p:nvSpPr>
        <p:spPr>
          <a:xfrm>
            <a:off x="1611488" y="125588"/>
            <a:ext cx="9448801" cy="952501"/>
          </a:xfrm>
          <a:prstGeom prst="rect">
            <a:avLst/>
          </a:prstGeom>
        </p:spPr>
        <p:txBody>
          <a:bodyPr/>
          <a:lstStyle/>
          <a:p>
            <a:pPr/>
            <a:r>
              <a:t>优先级队列－线性表</a:t>
            </a:r>
          </a:p>
        </p:txBody>
      </p:sp>
      <p:sp>
        <p:nvSpPr>
          <p:cNvPr id="74" name="Shape 84"/>
          <p:cNvSpPr txBox="1"/>
          <p:nvPr/>
        </p:nvSpPr>
        <p:spPr>
          <a:xfrm>
            <a:off x="283038" y="2762091"/>
            <a:ext cx="12865101" cy="1425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  <a:r>
              <a:t>顺序存储： 入队 O(logn)</a:t>
            </a:r>
          </a:p>
          <a:p>
            <a:pPr lvl="2" marR="57798" indent="7435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  <a:r>
              <a:t>              查找和出队O(1)。</a:t>
            </a:r>
          </a:p>
        </p:txBody>
      </p:sp>
      <p:sp>
        <p:nvSpPr>
          <p:cNvPr id="75" name="Shape 85"/>
          <p:cNvSpPr txBox="1"/>
          <p:nvPr/>
        </p:nvSpPr>
        <p:spPr>
          <a:xfrm>
            <a:off x="283038" y="4349591"/>
            <a:ext cx="12865101" cy="1425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  <a:r>
              <a:t>链式存储： 入队 O(n)</a:t>
            </a:r>
          </a:p>
          <a:p>
            <a:pPr lvl="2" marR="57798" indent="7435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  <a:r>
              <a:t>              查找和出队O(1)。</a:t>
            </a:r>
          </a:p>
        </p:txBody>
      </p:sp>
      <p:sp>
        <p:nvSpPr>
          <p:cNvPr id="76" name="Shape 87"/>
          <p:cNvSpPr txBox="1"/>
          <p:nvPr/>
        </p:nvSpPr>
        <p:spPr>
          <a:xfrm>
            <a:off x="283038" y="1990876"/>
            <a:ext cx="10223107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defRPr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有序线性表：（13，27，38，49，50，65，76，97）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83"/>
          <p:cNvSpPr txBox="1"/>
          <p:nvPr>
            <p:ph type="title"/>
          </p:nvPr>
        </p:nvSpPr>
        <p:spPr>
          <a:xfrm>
            <a:off x="1611488" y="125588"/>
            <a:ext cx="9448801" cy="952501"/>
          </a:xfrm>
          <a:prstGeom prst="rect">
            <a:avLst/>
          </a:prstGeom>
        </p:spPr>
        <p:txBody>
          <a:bodyPr/>
          <a:lstStyle/>
          <a:p>
            <a:pPr/>
            <a:r>
              <a:t>优先级队列－平衡二叉搜索树</a:t>
            </a:r>
          </a:p>
        </p:txBody>
      </p:sp>
      <p:sp>
        <p:nvSpPr>
          <p:cNvPr id="79" name="入队：平衡二叉搜索树的插入操作"/>
          <p:cNvSpPr txBox="1"/>
          <p:nvPr/>
        </p:nvSpPr>
        <p:spPr>
          <a:xfrm>
            <a:off x="415600" y="1696096"/>
            <a:ext cx="5887100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入队：平衡二叉搜索树的插入操作</a:t>
            </a:r>
          </a:p>
        </p:txBody>
      </p:sp>
      <p:sp>
        <p:nvSpPr>
          <p:cNvPr id="80" name="出队：从平衡二叉搜索树找最大值或最小值"/>
          <p:cNvSpPr txBox="1"/>
          <p:nvPr/>
        </p:nvSpPr>
        <p:spPr>
          <a:xfrm>
            <a:off x="415600" y="2665186"/>
            <a:ext cx="7411100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出队：从平衡二叉搜索树找最大值或最小值</a:t>
            </a:r>
          </a:p>
        </p:txBody>
      </p:sp>
      <p:sp>
        <p:nvSpPr>
          <p:cNvPr id="81" name="时间复杂度O(logn)"/>
          <p:cNvSpPr txBox="1"/>
          <p:nvPr/>
        </p:nvSpPr>
        <p:spPr>
          <a:xfrm>
            <a:off x="415600" y="3807980"/>
            <a:ext cx="3283352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时间复杂度O(logn)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222"/>
          <p:cNvSpPr txBox="1"/>
          <p:nvPr/>
        </p:nvSpPr>
        <p:spPr>
          <a:xfrm>
            <a:off x="183824" y="1512370"/>
            <a:ext cx="10439402" cy="655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R="57798" defTabSz="1295400">
              <a:defRPr>
                <a:solidFill>
                  <a:srgbClr val="800000"/>
                </a:solidFill>
                <a:uFill>
                  <a:solidFill>
                    <a:srgbClr val="800000"/>
                  </a:solidFill>
                </a:uFill>
              </a:defRPr>
            </a:pPr>
            <a:r>
              <a:t>堆是满足下列性质的数据序列</a:t>
            </a:r>
            <a:r>
              <a:rPr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rPr>
              <a:t>r</a:t>
            </a:r>
            <a:r>
              <a:rPr baseline="-23733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rPr>
              <a:t>0</a:t>
            </a:r>
            <a:r>
              <a:rPr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rPr>
              <a:t>, r</a:t>
            </a:r>
            <a:r>
              <a:rPr baseline="-23733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rPr>
              <a:t>1</a:t>
            </a:r>
            <a:r>
              <a:rPr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rPr>
              <a:t>, …，r</a:t>
            </a:r>
            <a:r>
              <a:rPr baseline="-23733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rPr>
              <a:t>n-1</a:t>
            </a:r>
          </a:p>
        </p:txBody>
      </p:sp>
      <p:sp>
        <p:nvSpPr>
          <p:cNvPr id="84" name="Shape 223"/>
          <p:cNvSpPr txBox="1"/>
          <p:nvPr/>
        </p:nvSpPr>
        <p:spPr>
          <a:xfrm>
            <a:off x="4837780" y="2747026"/>
            <a:ext cx="553100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defRPr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SimSun"/>
                <a:ea typeface="SimSun"/>
                <a:cs typeface="SimSun"/>
                <a:sym typeface="SimSun"/>
              </a:defRPr>
            </a:lvl1pPr>
          </a:lstStyle>
          <a:p>
            <a:pPr/>
            <a:r>
              <a:t>或</a:t>
            </a:r>
          </a:p>
        </p:txBody>
      </p:sp>
      <p:sp>
        <p:nvSpPr>
          <p:cNvPr id="85" name="Shape 225"/>
          <p:cNvSpPr txBox="1"/>
          <p:nvPr/>
        </p:nvSpPr>
        <p:spPr>
          <a:xfrm>
            <a:off x="2723371" y="2753798"/>
            <a:ext cx="1568852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defRPr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(小顶堆)</a:t>
            </a:r>
          </a:p>
        </p:txBody>
      </p:sp>
      <p:sp>
        <p:nvSpPr>
          <p:cNvPr id="86" name="Shape 226"/>
          <p:cNvSpPr txBox="1"/>
          <p:nvPr/>
        </p:nvSpPr>
        <p:spPr>
          <a:xfrm>
            <a:off x="8456150" y="2753798"/>
            <a:ext cx="1568852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defRPr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(大顶堆)</a:t>
            </a:r>
          </a:p>
        </p:txBody>
      </p:sp>
      <p:sp>
        <p:nvSpPr>
          <p:cNvPr id="87" name="Shape 229"/>
          <p:cNvSpPr txBox="1"/>
          <p:nvPr/>
        </p:nvSpPr>
        <p:spPr>
          <a:xfrm>
            <a:off x="1674988" y="112888"/>
            <a:ext cx="9448802" cy="1003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>
            <a:lvl1pPr marR="57798" algn="ctr" defTabSz="1295400">
              <a:defRPr sz="4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堆(heap)</a:t>
            </a:r>
          </a:p>
        </p:txBody>
      </p:sp>
      <p:pic>
        <p:nvPicPr>
          <p:cNvPr id="88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3740" y="2467626"/>
            <a:ext cx="1727201" cy="1193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9" name="图像" descr="图像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059914" y="2633464"/>
            <a:ext cx="1727201" cy="1193801"/>
          </a:xfrm>
          <a:prstGeom prst="rect">
            <a:avLst/>
          </a:prstGeom>
          <a:ln w="12700">
            <a:miter lim="400000"/>
          </a:ln>
        </p:spPr>
      </p:pic>
      <p:sp>
        <p:nvSpPr>
          <p:cNvPr id="90" name="Shape 231"/>
          <p:cNvSpPr txBox="1"/>
          <p:nvPr/>
        </p:nvSpPr>
        <p:spPr>
          <a:xfrm>
            <a:off x="343965" y="5513355"/>
            <a:ext cx="12110847" cy="14512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>
              <a:lnSpc>
                <a:spcPct val="150000"/>
              </a:lnSpc>
            </a:pPr>
            <a:r>
              <a:t>小顶堆：r</a:t>
            </a:r>
            <a:r>
              <a:rPr baseline="-5999"/>
              <a:t>0</a:t>
            </a:r>
            <a:r>
              <a:t>是最小值</a:t>
            </a:r>
          </a:p>
          <a:p>
            <a:pPr>
              <a:lnSpc>
                <a:spcPct val="150000"/>
              </a:lnSpc>
            </a:pPr>
            <a:r>
              <a:t>大顶堆：r</a:t>
            </a:r>
            <a:r>
              <a:rPr baseline="-5999"/>
              <a:t>0</a:t>
            </a:r>
            <a:r>
              <a:t>是最大值</a:t>
            </a:r>
          </a:p>
        </p:txBody>
      </p:sp>
      <p:sp>
        <p:nvSpPr>
          <p:cNvPr id="91" name="Shape 159"/>
          <p:cNvSpPr txBox="1"/>
          <p:nvPr/>
        </p:nvSpPr>
        <p:spPr>
          <a:xfrm>
            <a:off x="96265" y="4328516"/>
            <a:ext cx="6275637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R="57798" defTabSz="1295400">
              <a:defRPr sz="2800">
                <a:uFill>
                  <a:solidFill>
                    <a:srgbClr val="000000"/>
                  </a:solidFill>
                </a:uFill>
                <a:latin typeface="SimSun"/>
                <a:ea typeface="SimSun"/>
                <a:cs typeface="SimSun"/>
                <a:sym typeface="SimSun"/>
              </a:defRPr>
            </a:pP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13</a:t>
            </a:r>
            <a:r>
              <a:t>，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38</a:t>
            </a:r>
            <a:r>
              <a:t>，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27</a:t>
            </a:r>
            <a:r>
              <a:t>，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50</a:t>
            </a:r>
            <a:r>
              <a:t>，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76</a:t>
            </a:r>
            <a:r>
              <a:t>，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65</a:t>
            </a:r>
            <a:r>
              <a:t>，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49</a:t>
            </a:r>
            <a:r>
              <a:t>，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97</a:t>
            </a:r>
          </a:p>
        </p:txBody>
      </p:sp>
      <p:sp>
        <p:nvSpPr>
          <p:cNvPr id="92" name="Shape 160"/>
          <p:cNvSpPr txBox="1"/>
          <p:nvPr/>
        </p:nvSpPr>
        <p:spPr>
          <a:xfrm>
            <a:off x="7121976" y="4358283"/>
            <a:ext cx="5080001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R="57798" defTabSz="1295400">
              <a:defRPr sz="2800">
                <a:uFill>
                  <a:solidFill>
                    <a:srgbClr val="000000"/>
                  </a:solidFill>
                </a:uFill>
                <a:latin typeface="SimSun"/>
                <a:ea typeface="SimSun"/>
                <a:cs typeface="SimSun"/>
                <a:sym typeface="SimSun"/>
              </a:defRPr>
            </a:pP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96</a:t>
            </a:r>
            <a:r>
              <a:t>，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83</a:t>
            </a:r>
            <a:r>
              <a:t>，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27</a:t>
            </a:r>
            <a:r>
              <a:t>，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38</a:t>
            </a:r>
            <a:r>
              <a:t>，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r>
              <a:t>，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</a:p>
        </p:txBody>
      </p:sp>
      <p:sp>
        <p:nvSpPr>
          <p:cNvPr id="93" name="主要操作：插入操作和删除操作，删除的是最(小)大的数据"/>
          <p:cNvSpPr txBox="1"/>
          <p:nvPr/>
        </p:nvSpPr>
        <p:spPr>
          <a:xfrm>
            <a:off x="415600" y="7510112"/>
            <a:ext cx="9950852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主要操作：插入操作和删除操作，删除的是最(小)大的数据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223"/>
          <p:cNvSpPr txBox="1"/>
          <p:nvPr/>
        </p:nvSpPr>
        <p:spPr>
          <a:xfrm>
            <a:off x="4843038" y="6235990"/>
            <a:ext cx="553100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defRPr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SimSun"/>
                <a:ea typeface="SimSun"/>
                <a:cs typeface="SimSun"/>
                <a:sym typeface="SimSun"/>
              </a:defRPr>
            </a:lvl1pPr>
          </a:lstStyle>
          <a:p>
            <a:pPr/>
            <a:r>
              <a:t>或</a:t>
            </a:r>
          </a:p>
        </p:txBody>
      </p:sp>
      <p:sp>
        <p:nvSpPr>
          <p:cNvPr id="96" name="Shape 225"/>
          <p:cNvSpPr txBox="1"/>
          <p:nvPr/>
        </p:nvSpPr>
        <p:spPr>
          <a:xfrm>
            <a:off x="2728629" y="6242763"/>
            <a:ext cx="1568852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defRPr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(小顶堆)</a:t>
            </a:r>
          </a:p>
        </p:txBody>
      </p:sp>
      <p:sp>
        <p:nvSpPr>
          <p:cNvPr id="97" name="Shape 226"/>
          <p:cNvSpPr txBox="1"/>
          <p:nvPr/>
        </p:nvSpPr>
        <p:spPr>
          <a:xfrm>
            <a:off x="8461409" y="6242763"/>
            <a:ext cx="1568852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defRPr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(大顶堆)</a:t>
            </a:r>
          </a:p>
        </p:txBody>
      </p:sp>
      <p:sp>
        <p:nvSpPr>
          <p:cNvPr id="98" name="Shape 229"/>
          <p:cNvSpPr txBox="1"/>
          <p:nvPr/>
        </p:nvSpPr>
        <p:spPr>
          <a:xfrm>
            <a:off x="1674988" y="112888"/>
            <a:ext cx="9448802" cy="1003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>
            <a:lvl1pPr marR="57798" algn="ctr" defTabSz="1295400">
              <a:defRPr sz="4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堆(heap)</a:t>
            </a:r>
          </a:p>
        </p:txBody>
      </p:sp>
      <p:pic>
        <p:nvPicPr>
          <p:cNvPr id="99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8999" y="5956590"/>
            <a:ext cx="1727201" cy="1193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0" name="图像" descr="图像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065172" y="6122429"/>
            <a:ext cx="1727201" cy="1193801"/>
          </a:xfrm>
          <a:prstGeom prst="rect">
            <a:avLst/>
          </a:prstGeom>
          <a:ln w="12700">
            <a:miter lim="400000"/>
          </a:ln>
        </p:spPr>
      </p:pic>
      <p:sp>
        <p:nvSpPr>
          <p:cNvPr id="101" name="建立以下对应关系，视堆为一棵完全二叉树：…"/>
          <p:cNvSpPr txBox="1"/>
          <p:nvPr/>
        </p:nvSpPr>
        <p:spPr>
          <a:xfrm>
            <a:off x="-128412" y="1253347"/>
            <a:ext cx="13055601" cy="29853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355600">
              <a:lnSpc>
                <a:spcPct val="120000"/>
              </a:lnSpc>
              <a:spcBef>
                <a:spcPts val="1200"/>
              </a:spcBef>
              <a:defRPr sz="2900"/>
            </a:pPr>
            <a:r>
              <a:rPr>
                <a:solidFill>
                  <a:schemeClr val="accent1"/>
                </a:solidFill>
              </a:rPr>
              <a:t>建立以下对应关系，视堆为一棵完全二叉树</a:t>
            </a:r>
            <a:r>
              <a:t>：</a:t>
            </a:r>
          </a:p>
          <a:p>
            <a:pPr lvl="1" marL="987257" indent="-250657">
              <a:lnSpc>
                <a:spcPct val="120000"/>
              </a:lnSpc>
              <a:spcBef>
                <a:spcPts val="1200"/>
              </a:spcBef>
              <a:buSzPct val="60000"/>
              <a:buBlip>
                <a:blip r:embed="rId4"/>
              </a:buBlip>
              <a:defRPr sz="2900"/>
            </a:pPr>
            <a:r>
              <a:t>完全二叉树编号为</a:t>
            </a:r>
            <a:r>
              <a:rPr i="1"/>
              <a:t>i</a:t>
            </a:r>
            <a:r>
              <a:t>的结点对应</a:t>
            </a:r>
            <a:r>
              <a:rPr i="1"/>
              <a:t>下标为i</a:t>
            </a:r>
            <a:r>
              <a:t>的数组元素</a:t>
            </a:r>
          </a:p>
          <a:p>
            <a:pPr lvl="1" marL="987257" indent="-250657">
              <a:lnSpc>
                <a:spcPct val="120000"/>
              </a:lnSpc>
              <a:spcBef>
                <a:spcPts val="1200"/>
              </a:spcBef>
              <a:buSzPct val="60000"/>
              <a:buBlip>
                <a:blip r:embed="rId4"/>
              </a:buBlip>
              <a:defRPr sz="2900"/>
            </a:pPr>
            <a:r>
              <a:t>若完全二叉树的结点有孩子结点，则其值大(小)于等于左、右孩子结点的值，</a:t>
            </a:r>
          </a:p>
          <a:p>
            <a:pPr lvl="1" marL="987257" indent="-250657">
              <a:lnSpc>
                <a:spcPct val="120000"/>
              </a:lnSpc>
              <a:spcBef>
                <a:spcPts val="1200"/>
              </a:spcBef>
              <a:buSzPct val="60000"/>
              <a:buBlip>
                <a:blip r:embed="rId4"/>
              </a:buBlip>
              <a:defRPr sz="2900"/>
            </a:pPr>
            <a:r>
              <a:t>二叉树根结点对应最大的数据。</a:t>
            </a:r>
          </a:p>
        </p:txBody>
      </p:sp>
      <p:sp>
        <p:nvSpPr>
          <p:cNvPr id="102" name="建立了对应关系后，用二叉树的术语描述堆的操作，更形象"/>
          <p:cNvSpPr txBox="1"/>
          <p:nvPr/>
        </p:nvSpPr>
        <p:spPr>
          <a:xfrm>
            <a:off x="205580" y="4780124"/>
            <a:ext cx="10078100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/>
            <a:r>
              <a:t>建立了对应关系后，用二叉树的术语描述堆的操作，更形象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159"/>
          <p:cNvSpPr txBox="1"/>
          <p:nvPr/>
        </p:nvSpPr>
        <p:spPr>
          <a:xfrm>
            <a:off x="86289" y="1467139"/>
            <a:ext cx="6275636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R="57798" defTabSz="1295400">
              <a:defRPr sz="2800">
                <a:uFill>
                  <a:solidFill>
                    <a:srgbClr val="000000"/>
                  </a:solidFill>
                </a:uFill>
                <a:latin typeface="SimSun"/>
                <a:ea typeface="SimSun"/>
                <a:cs typeface="SimSun"/>
                <a:sym typeface="SimSun"/>
              </a:defRPr>
            </a:pPr>
            <a:r>
              <a:t>（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13</a:t>
            </a:r>
            <a:r>
              <a:t>，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38</a:t>
            </a:r>
            <a:r>
              <a:t>，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27</a:t>
            </a:r>
            <a:r>
              <a:t>，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50</a:t>
            </a:r>
            <a:r>
              <a:t>，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76</a:t>
            </a:r>
            <a:r>
              <a:t>，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65</a:t>
            </a:r>
            <a:r>
              <a:t>，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49</a:t>
            </a:r>
            <a:r>
              <a:t>，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97</a:t>
            </a:r>
            <a:r>
              <a:t>）</a:t>
            </a:r>
          </a:p>
        </p:txBody>
      </p:sp>
      <p:sp>
        <p:nvSpPr>
          <p:cNvPr id="105" name="Shape 160"/>
          <p:cNvSpPr txBox="1"/>
          <p:nvPr/>
        </p:nvSpPr>
        <p:spPr>
          <a:xfrm>
            <a:off x="7112000" y="1496906"/>
            <a:ext cx="50800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R="57798" defTabSz="1295400">
              <a:defRPr sz="2800">
                <a:uFill>
                  <a:solidFill>
                    <a:srgbClr val="000000"/>
                  </a:solidFill>
                </a:uFill>
                <a:latin typeface="SimSun"/>
                <a:ea typeface="SimSun"/>
                <a:cs typeface="SimSun"/>
                <a:sym typeface="SimSun"/>
              </a:defRPr>
            </a:pPr>
            <a:r>
              <a:t>（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96</a:t>
            </a:r>
            <a:r>
              <a:t>，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83</a:t>
            </a:r>
            <a:r>
              <a:t>，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27</a:t>
            </a:r>
            <a:r>
              <a:t>，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38</a:t>
            </a:r>
            <a:r>
              <a:t>，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r>
              <a:t>，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t>）</a:t>
            </a:r>
          </a:p>
        </p:txBody>
      </p:sp>
      <p:sp>
        <p:nvSpPr>
          <p:cNvPr id="106" name="Shape 161"/>
          <p:cNvSpPr/>
          <p:nvPr/>
        </p:nvSpPr>
        <p:spPr>
          <a:xfrm>
            <a:off x="6426200" y="1139048"/>
            <a:ext cx="2258" cy="7949637"/>
          </a:xfrm>
          <a:prstGeom prst="line">
            <a:avLst/>
          </a:prstGeom>
          <a:ln w="28575">
            <a:solidFill>
              <a:srgbClr val="333399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139" name="Group 194"/>
          <p:cNvGrpSpPr/>
          <p:nvPr/>
        </p:nvGrpSpPr>
        <p:grpSpPr>
          <a:xfrm>
            <a:off x="656448" y="2691553"/>
            <a:ext cx="5756207" cy="4661183"/>
            <a:chOff x="0" y="0"/>
            <a:chExt cx="5756206" cy="4661182"/>
          </a:xfrm>
        </p:grpSpPr>
        <p:sp>
          <p:nvSpPr>
            <p:cNvPr id="107" name="Shape 162"/>
            <p:cNvSpPr/>
            <p:nvPr/>
          </p:nvSpPr>
          <p:spPr>
            <a:xfrm>
              <a:off x="2998329" y="465101"/>
              <a:ext cx="666047" cy="666047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8" name="Shape 163"/>
            <p:cNvSpPr/>
            <p:nvPr/>
          </p:nvSpPr>
          <p:spPr>
            <a:xfrm flipH="1">
              <a:off x="1616568" y="503484"/>
              <a:ext cx="835380" cy="673102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9" name="Shape 164"/>
            <p:cNvSpPr/>
            <p:nvPr/>
          </p:nvSpPr>
          <p:spPr>
            <a:xfrm flipH="1">
              <a:off x="981851" y="1740746"/>
              <a:ext cx="410917" cy="666046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0" name="Shape 165"/>
            <p:cNvSpPr/>
            <p:nvPr/>
          </p:nvSpPr>
          <p:spPr>
            <a:xfrm>
              <a:off x="1727200" y="1632373"/>
              <a:ext cx="512517" cy="819575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1" name="Shape 166"/>
            <p:cNvSpPr/>
            <p:nvPr/>
          </p:nvSpPr>
          <p:spPr>
            <a:xfrm flipH="1">
              <a:off x="3230881" y="1740746"/>
              <a:ext cx="410917" cy="666046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2" name="Shape 167"/>
            <p:cNvSpPr/>
            <p:nvPr/>
          </p:nvSpPr>
          <p:spPr>
            <a:xfrm>
              <a:off x="3878863" y="1632373"/>
              <a:ext cx="609602" cy="819575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3" name="Shape 168"/>
            <p:cNvSpPr/>
            <p:nvPr/>
          </p:nvSpPr>
          <p:spPr>
            <a:xfrm flipH="1">
              <a:off x="293511" y="2862862"/>
              <a:ext cx="410917" cy="666046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116" name="Group 171"/>
            <p:cNvGrpSpPr/>
            <p:nvPr/>
          </p:nvGrpSpPr>
          <p:grpSpPr>
            <a:xfrm>
              <a:off x="2366151" y="0"/>
              <a:ext cx="1613184" cy="1270001"/>
              <a:chOff x="0" y="0"/>
              <a:chExt cx="1613182" cy="1270000"/>
            </a:xfrm>
          </p:grpSpPr>
          <p:sp>
            <p:nvSpPr>
              <p:cNvPr id="114" name="Shape 169"/>
              <p:cNvSpPr/>
              <p:nvPr/>
            </p:nvSpPr>
            <p:spPr>
              <a:xfrm>
                <a:off x="0" y="29351"/>
                <a:ext cx="673102" cy="6731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5" name="Shape 170"/>
              <p:cNvSpPr/>
              <p:nvPr/>
            </p:nvSpPr>
            <p:spPr>
              <a:xfrm>
                <a:off x="343182" y="0"/>
                <a:ext cx="1270001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13</a:t>
                </a:r>
              </a:p>
            </p:txBody>
          </p:sp>
        </p:grpSp>
        <p:grpSp>
          <p:nvGrpSpPr>
            <p:cNvPr id="119" name="Group 174"/>
            <p:cNvGrpSpPr/>
            <p:nvPr/>
          </p:nvGrpSpPr>
          <p:grpSpPr>
            <a:xfrm>
              <a:off x="1282417" y="1167270"/>
              <a:ext cx="1590606" cy="1270001"/>
              <a:chOff x="0" y="0"/>
              <a:chExt cx="1590604" cy="1270000"/>
            </a:xfrm>
          </p:grpSpPr>
          <p:sp>
            <p:nvSpPr>
              <p:cNvPr id="117" name="Shape 172"/>
              <p:cNvSpPr/>
              <p:nvPr/>
            </p:nvSpPr>
            <p:spPr>
              <a:xfrm>
                <a:off x="0" y="4515"/>
                <a:ext cx="673102" cy="666049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18" name="Shape 173"/>
              <p:cNvSpPr/>
              <p:nvPr/>
            </p:nvSpPr>
            <p:spPr>
              <a:xfrm>
                <a:off x="320604" y="0"/>
                <a:ext cx="1270001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38</a:t>
                </a:r>
              </a:p>
            </p:txBody>
          </p:sp>
        </p:grpSp>
        <p:grpSp>
          <p:nvGrpSpPr>
            <p:cNvPr id="122" name="Group 177"/>
            <p:cNvGrpSpPr/>
            <p:nvPr/>
          </p:nvGrpSpPr>
          <p:grpSpPr>
            <a:xfrm>
              <a:off x="3413760" y="1153724"/>
              <a:ext cx="1631245" cy="1270001"/>
              <a:chOff x="0" y="0"/>
              <a:chExt cx="1631244" cy="1270000"/>
            </a:xfrm>
          </p:grpSpPr>
          <p:sp>
            <p:nvSpPr>
              <p:cNvPr id="120" name="Shape 175"/>
              <p:cNvSpPr/>
              <p:nvPr/>
            </p:nvSpPr>
            <p:spPr>
              <a:xfrm>
                <a:off x="0" y="2258"/>
                <a:ext cx="673102" cy="666047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21" name="Shape 176"/>
              <p:cNvSpPr/>
              <p:nvPr/>
            </p:nvSpPr>
            <p:spPr>
              <a:xfrm>
                <a:off x="361244" y="0"/>
                <a:ext cx="1270001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27</a:t>
                </a:r>
              </a:p>
            </p:txBody>
          </p:sp>
        </p:grpSp>
        <p:grpSp>
          <p:nvGrpSpPr>
            <p:cNvPr id="125" name="Group 180"/>
            <p:cNvGrpSpPr/>
            <p:nvPr/>
          </p:nvGrpSpPr>
          <p:grpSpPr>
            <a:xfrm>
              <a:off x="535093" y="2246488"/>
              <a:ext cx="1610926" cy="1281289"/>
              <a:chOff x="0" y="0"/>
              <a:chExt cx="1610925" cy="1281287"/>
            </a:xfrm>
          </p:grpSpPr>
          <p:sp>
            <p:nvSpPr>
              <p:cNvPr id="123" name="Shape 178"/>
              <p:cNvSpPr/>
              <p:nvPr/>
            </p:nvSpPr>
            <p:spPr>
              <a:xfrm>
                <a:off x="-1" y="0"/>
                <a:ext cx="666048" cy="663791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24" name="Shape 179"/>
              <p:cNvSpPr/>
              <p:nvPr/>
            </p:nvSpPr>
            <p:spPr>
              <a:xfrm>
                <a:off x="340925" y="11288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50</a:t>
                </a:r>
              </a:p>
            </p:txBody>
          </p:sp>
        </p:grpSp>
        <p:grpSp>
          <p:nvGrpSpPr>
            <p:cNvPr id="128" name="Group 183"/>
            <p:cNvGrpSpPr/>
            <p:nvPr/>
          </p:nvGrpSpPr>
          <p:grpSpPr>
            <a:xfrm>
              <a:off x="1984586" y="2246488"/>
              <a:ext cx="1613184" cy="1288063"/>
              <a:chOff x="0" y="0"/>
              <a:chExt cx="1613182" cy="1288062"/>
            </a:xfrm>
          </p:grpSpPr>
          <p:sp>
            <p:nvSpPr>
              <p:cNvPr id="126" name="Shape 181"/>
              <p:cNvSpPr/>
              <p:nvPr/>
            </p:nvSpPr>
            <p:spPr>
              <a:xfrm>
                <a:off x="0" y="0"/>
                <a:ext cx="673102" cy="673102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27" name="Shape 182"/>
              <p:cNvSpPr/>
              <p:nvPr/>
            </p:nvSpPr>
            <p:spPr>
              <a:xfrm>
                <a:off x="343182" y="18062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76</a:t>
                </a:r>
              </a:p>
            </p:txBody>
          </p:sp>
        </p:grpSp>
        <p:grpSp>
          <p:nvGrpSpPr>
            <p:cNvPr id="131" name="Group 186"/>
            <p:cNvGrpSpPr/>
            <p:nvPr/>
          </p:nvGrpSpPr>
          <p:grpSpPr>
            <a:xfrm>
              <a:off x="2971236" y="2223346"/>
              <a:ext cx="1610926" cy="1281854"/>
              <a:chOff x="0" y="0"/>
              <a:chExt cx="1610925" cy="1281853"/>
            </a:xfrm>
          </p:grpSpPr>
          <p:sp>
            <p:nvSpPr>
              <p:cNvPr id="129" name="Shape 184"/>
              <p:cNvSpPr/>
              <p:nvPr/>
            </p:nvSpPr>
            <p:spPr>
              <a:xfrm>
                <a:off x="-1" y="0"/>
                <a:ext cx="666048" cy="663791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30" name="Shape 185"/>
              <p:cNvSpPr/>
              <p:nvPr/>
            </p:nvSpPr>
            <p:spPr>
              <a:xfrm>
                <a:off x="340925" y="11853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65</a:t>
                </a:r>
              </a:p>
            </p:txBody>
          </p:sp>
        </p:grpSp>
        <p:grpSp>
          <p:nvGrpSpPr>
            <p:cNvPr id="134" name="Group 189"/>
            <p:cNvGrpSpPr/>
            <p:nvPr/>
          </p:nvGrpSpPr>
          <p:grpSpPr>
            <a:xfrm>
              <a:off x="4143023" y="2192302"/>
              <a:ext cx="1613184" cy="1288063"/>
              <a:chOff x="0" y="0"/>
              <a:chExt cx="1613182" cy="1288062"/>
            </a:xfrm>
          </p:grpSpPr>
          <p:sp>
            <p:nvSpPr>
              <p:cNvPr id="132" name="Shape 187"/>
              <p:cNvSpPr/>
              <p:nvPr/>
            </p:nvSpPr>
            <p:spPr>
              <a:xfrm>
                <a:off x="0" y="0"/>
                <a:ext cx="673102" cy="673102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33" name="Shape 188"/>
              <p:cNvSpPr/>
              <p:nvPr/>
            </p:nvSpPr>
            <p:spPr>
              <a:xfrm>
                <a:off x="343182" y="18062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49</a:t>
                </a:r>
              </a:p>
            </p:txBody>
          </p:sp>
        </p:grpSp>
        <p:grpSp>
          <p:nvGrpSpPr>
            <p:cNvPr id="137" name="Group 192"/>
            <p:cNvGrpSpPr/>
            <p:nvPr/>
          </p:nvGrpSpPr>
          <p:grpSpPr>
            <a:xfrm>
              <a:off x="-1" y="3373120"/>
              <a:ext cx="1613184" cy="1288063"/>
              <a:chOff x="0" y="0"/>
              <a:chExt cx="1613182" cy="1288062"/>
            </a:xfrm>
          </p:grpSpPr>
          <p:sp>
            <p:nvSpPr>
              <p:cNvPr id="135" name="Shape 190"/>
              <p:cNvSpPr/>
              <p:nvPr/>
            </p:nvSpPr>
            <p:spPr>
              <a:xfrm>
                <a:off x="-1" y="0"/>
                <a:ext cx="673101" cy="673102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36" name="Shape 191"/>
              <p:cNvSpPr/>
              <p:nvPr/>
            </p:nvSpPr>
            <p:spPr>
              <a:xfrm>
                <a:off x="343182" y="18062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97</a:t>
                </a:r>
              </a:p>
            </p:txBody>
          </p:sp>
        </p:grpSp>
        <p:sp>
          <p:nvSpPr>
            <p:cNvPr id="138" name="Shape 193"/>
            <p:cNvSpPr/>
            <p:nvPr/>
          </p:nvSpPr>
          <p:spPr>
            <a:xfrm>
              <a:off x="1630826" y="3969404"/>
              <a:ext cx="1720603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defRPr sz="28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lvl1pPr>
            </a:lstStyle>
            <a:p>
              <a:pPr/>
              <a:r>
                <a:t>小顶堆</a:t>
              </a:r>
            </a:p>
          </p:txBody>
        </p:sp>
      </p:grpSp>
      <p:grpSp>
        <p:nvGrpSpPr>
          <p:cNvPr id="164" name="Group 219"/>
          <p:cNvGrpSpPr/>
          <p:nvPr/>
        </p:nvGrpSpPr>
        <p:grpSpPr>
          <a:xfrm>
            <a:off x="7611344" y="2907171"/>
            <a:ext cx="4509913" cy="3746737"/>
            <a:chOff x="0" y="0"/>
            <a:chExt cx="4509911" cy="3746736"/>
          </a:xfrm>
        </p:grpSpPr>
        <p:sp>
          <p:nvSpPr>
            <p:cNvPr id="140" name="Shape 195"/>
            <p:cNvSpPr/>
            <p:nvPr/>
          </p:nvSpPr>
          <p:spPr>
            <a:xfrm>
              <a:off x="2463235" y="465101"/>
              <a:ext cx="666047" cy="666047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1" name="Shape 196"/>
            <p:cNvSpPr/>
            <p:nvPr/>
          </p:nvSpPr>
          <p:spPr>
            <a:xfrm flipH="1">
              <a:off x="1081475" y="503483"/>
              <a:ext cx="835380" cy="673102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2" name="Shape 197"/>
            <p:cNvSpPr/>
            <p:nvPr/>
          </p:nvSpPr>
          <p:spPr>
            <a:xfrm flipH="1">
              <a:off x="447886" y="1736230"/>
              <a:ext cx="410918" cy="666047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3" name="Shape 198"/>
            <p:cNvSpPr/>
            <p:nvPr/>
          </p:nvSpPr>
          <p:spPr>
            <a:xfrm>
              <a:off x="1192107" y="1632373"/>
              <a:ext cx="512517" cy="819575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4" name="Shape 199"/>
            <p:cNvSpPr/>
            <p:nvPr/>
          </p:nvSpPr>
          <p:spPr>
            <a:xfrm flipH="1">
              <a:off x="2695786" y="1736230"/>
              <a:ext cx="410918" cy="666047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147" name="Group 202"/>
            <p:cNvGrpSpPr/>
            <p:nvPr/>
          </p:nvGrpSpPr>
          <p:grpSpPr>
            <a:xfrm>
              <a:off x="1831058" y="0"/>
              <a:ext cx="1613184" cy="1270001"/>
              <a:chOff x="0" y="0"/>
              <a:chExt cx="1613183" cy="1270000"/>
            </a:xfrm>
          </p:grpSpPr>
          <p:sp>
            <p:nvSpPr>
              <p:cNvPr id="145" name="Shape 200"/>
              <p:cNvSpPr/>
              <p:nvPr/>
            </p:nvSpPr>
            <p:spPr>
              <a:xfrm>
                <a:off x="0" y="29351"/>
                <a:ext cx="673102" cy="6731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46" name="Shape 201"/>
              <p:cNvSpPr/>
              <p:nvPr/>
            </p:nvSpPr>
            <p:spPr>
              <a:xfrm>
                <a:off x="343183" y="0"/>
                <a:ext cx="1270001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96</a:t>
                </a:r>
              </a:p>
            </p:txBody>
          </p:sp>
        </p:grpSp>
        <p:grpSp>
          <p:nvGrpSpPr>
            <p:cNvPr id="150" name="Group 205"/>
            <p:cNvGrpSpPr/>
            <p:nvPr/>
          </p:nvGrpSpPr>
          <p:grpSpPr>
            <a:xfrm>
              <a:off x="747324" y="1167270"/>
              <a:ext cx="1590605" cy="1270001"/>
              <a:chOff x="0" y="0"/>
              <a:chExt cx="1590604" cy="1270000"/>
            </a:xfrm>
          </p:grpSpPr>
          <p:sp>
            <p:nvSpPr>
              <p:cNvPr id="148" name="Shape 203"/>
              <p:cNvSpPr/>
              <p:nvPr/>
            </p:nvSpPr>
            <p:spPr>
              <a:xfrm>
                <a:off x="0" y="4514"/>
                <a:ext cx="673102" cy="666049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49" name="Shape 204"/>
              <p:cNvSpPr/>
              <p:nvPr/>
            </p:nvSpPr>
            <p:spPr>
              <a:xfrm>
                <a:off x="320604" y="0"/>
                <a:ext cx="1270001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83</a:t>
                </a:r>
              </a:p>
            </p:txBody>
          </p:sp>
        </p:grpSp>
        <p:grpSp>
          <p:nvGrpSpPr>
            <p:cNvPr id="153" name="Group 208"/>
            <p:cNvGrpSpPr/>
            <p:nvPr/>
          </p:nvGrpSpPr>
          <p:grpSpPr>
            <a:xfrm>
              <a:off x="2878666" y="1153724"/>
              <a:ext cx="1631246" cy="1270001"/>
              <a:chOff x="0" y="0"/>
              <a:chExt cx="1631245" cy="1270000"/>
            </a:xfrm>
          </p:grpSpPr>
          <p:sp>
            <p:nvSpPr>
              <p:cNvPr id="151" name="Shape 206"/>
              <p:cNvSpPr/>
              <p:nvPr/>
            </p:nvSpPr>
            <p:spPr>
              <a:xfrm>
                <a:off x="0" y="2258"/>
                <a:ext cx="673102" cy="666047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52" name="Shape 207"/>
              <p:cNvSpPr/>
              <p:nvPr/>
            </p:nvSpPr>
            <p:spPr>
              <a:xfrm>
                <a:off x="361245" y="0"/>
                <a:ext cx="1270001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27</a:t>
                </a:r>
              </a:p>
            </p:txBody>
          </p:sp>
        </p:grpSp>
        <p:grpSp>
          <p:nvGrpSpPr>
            <p:cNvPr id="156" name="Group 211"/>
            <p:cNvGrpSpPr/>
            <p:nvPr/>
          </p:nvGrpSpPr>
          <p:grpSpPr>
            <a:xfrm>
              <a:off x="0" y="2246488"/>
              <a:ext cx="1610926" cy="1281289"/>
              <a:chOff x="0" y="0"/>
              <a:chExt cx="1610925" cy="1281287"/>
            </a:xfrm>
          </p:grpSpPr>
          <p:sp>
            <p:nvSpPr>
              <p:cNvPr id="154" name="Shape 209"/>
              <p:cNvSpPr/>
              <p:nvPr/>
            </p:nvSpPr>
            <p:spPr>
              <a:xfrm>
                <a:off x="-1" y="0"/>
                <a:ext cx="666048" cy="663791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55" name="Shape 210"/>
              <p:cNvSpPr/>
              <p:nvPr/>
            </p:nvSpPr>
            <p:spPr>
              <a:xfrm>
                <a:off x="340925" y="11288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38</a:t>
                </a:r>
              </a:p>
            </p:txBody>
          </p:sp>
        </p:grpSp>
        <p:grpSp>
          <p:nvGrpSpPr>
            <p:cNvPr id="159" name="Group 214"/>
            <p:cNvGrpSpPr/>
            <p:nvPr/>
          </p:nvGrpSpPr>
          <p:grpSpPr>
            <a:xfrm>
              <a:off x="1449493" y="2246488"/>
              <a:ext cx="1613183" cy="1288063"/>
              <a:chOff x="0" y="0"/>
              <a:chExt cx="1613182" cy="1288062"/>
            </a:xfrm>
          </p:grpSpPr>
          <p:sp>
            <p:nvSpPr>
              <p:cNvPr id="157" name="Shape 212"/>
              <p:cNvSpPr/>
              <p:nvPr/>
            </p:nvSpPr>
            <p:spPr>
              <a:xfrm>
                <a:off x="0" y="0"/>
                <a:ext cx="673102" cy="673102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58" name="Shape 213"/>
              <p:cNvSpPr/>
              <p:nvPr/>
            </p:nvSpPr>
            <p:spPr>
              <a:xfrm>
                <a:off x="343182" y="18062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11</a:t>
                </a:r>
              </a:p>
            </p:txBody>
          </p:sp>
        </p:grpSp>
        <p:grpSp>
          <p:nvGrpSpPr>
            <p:cNvPr id="162" name="Group 217"/>
            <p:cNvGrpSpPr/>
            <p:nvPr/>
          </p:nvGrpSpPr>
          <p:grpSpPr>
            <a:xfrm>
              <a:off x="2436142" y="2223910"/>
              <a:ext cx="1610926" cy="1281289"/>
              <a:chOff x="0" y="0"/>
              <a:chExt cx="1610924" cy="1281287"/>
            </a:xfrm>
          </p:grpSpPr>
          <p:sp>
            <p:nvSpPr>
              <p:cNvPr id="160" name="Shape 215"/>
              <p:cNvSpPr/>
              <p:nvPr/>
            </p:nvSpPr>
            <p:spPr>
              <a:xfrm>
                <a:off x="0" y="0"/>
                <a:ext cx="666049" cy="663791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61" name="Shape 216"/>
              <p:cNvSpPr/>
              <p:nvPr/>
            </p:nvSpPr>
            <p:spPr>
              <a:xfrm>
                <a:off x="340924" y="11288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9</a:t>
                </a:r>
              </a:p>
            </p:txBody>
          </p:sp>
        </p:grpSp>
        <p:sp>
          <p:nvSpPr>
            <p:cNvPr id="163" name="Shape 218"/>
            <p:cNvSpPr/>
            <p:nvPr/>
          </p:nvSpPr>
          <p:spPr>
            <a:xfrm>
              <a:off x="1360138" y="3746736"/>
              <a:ext cx="1281088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defRPr sz="27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  <a:latin typeface="SimSun"/>
                  <a:ea typeface="SimSun"/>
                  <a:cs typeface="SimSun"/>
                  <a:sym typeface="SimSun"/>
                </a:defRPr>
              </a:lvl1pPr>
            </a:lstStyle>
            <a:p>
              <a:pPr/>
              <a:r>
                <a:t>大顶堆</a:t>
              </a:r>
            </a:p>
          </p:txBody>
        </p:sp>
      </p:grpSp>
      <p:sp>
        <p:nvSpPr>
          <p:cNvPr id="165" name="Shape 220"/>
          <p:cNvSpPr txBox="1"/>
          <p:nvPr>
            <p:ph type="title"/>
          </p:nvPr>
        </p:nvSpPr>
        <p:spPr>
          <a:xfrm>
            <a:off x="1674988" y="112888"/>
            <a:ext cx="9448802" cy="1003301"/>
          </a:xfrm>
          <a:prstGeom prst="rect">
            <a:avLst/>
          </a:prstGeom>
        </p:spPr>
        <p:txBody>
          <a:bodyPr/>
          <a:lstStyle/>
          <a:p>
            <a:pPr/>
            <a:r>
              <a:t>堆</a:t>
            </a:r>
          </a:p>
        </p:txBody>
      </p:sp>
      <p:sp>
        <p:nvSpPr>
          <p:cNvPr id="166" name="0"/>
          <p:cNvSpPr txBox="1"/>
          <p:nvPr/>
        </p:nvSpPr>
        <p:spPr>
          <a:xfrm>
            <a:off x="3119007" y="3425739"/>
            <a:ext cx="362600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0</a:t>
            </a:r>
          </a:p>
        </p:txBody>
      </p:sp>
      <p:sp>
        <p:nvSpPr>
          <p:cNvPr id="167" name="1"/>
          <p:cNvSpPr txBox="1"/>
          <p:nvPr/>
        </p:nvSpPr>
        <p:spPr>
          <a:xfrm>
            <a:off x="2068276" y="4494924"/>
            <a:ext cx="362600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1</a:t>
            </a:r>
          </a:p>
        </p:txBody>
      </p:sp>
      <p:sp>
        <p:nvSpPr>
          <p:cNvPr id="168" name="2"/>
          <p:cNvSpPr txBox="1"/>
          <p:nvPr/>
        </p:nvSpPr>
        <p:spPr>
          <a:xfrm>
            <a:off x="4252794" y="4494924"/>
            <a:ext cx="362600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2</a:t>
            </a:r>
          </a:p>
        </p:txBody>
      </p:sp>
      <p:sp>
        <p:nvSpPr>
          <p:cNvPr id="169" name="3"/>
          <p:cNvSpPr txBox="1"/>
          <p:nvPr/>
        </p:nvSpPr>
        <p:spPr>
          <a:xfrm>
            <a:off x="1364760" y="5593552"/>
            <a:ext cx="362600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3</a:t>
            </a:r>
          </a:p>
        </p:txBody>
      </p:sp>
      <p:sp>
        <p:nvSpPr>
          <p:cNvPr id="170" name="4"/>
          <p:cNvSpPr txBox="1"/>
          <p:nvPr/>
        </p:nvSpPr>
        <p:spPr>
          <a:xfrm>
            <a:off x="2802557" y="5593552"/>
            <a:ext cx="362600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4</a:t>
            </a:r>
          </a:p>
        </p:txBody>
      </p:sp>
      <p:sp>
        <p:nvSpPr>
          <p:cNvPr id="171" name="5"/>
          <p:cNvSpPr txBox="1"/>
          <p:nvPr/>
        </p:nvSpPr>
        <p:spPr>
          <a:xfrm>
            <a:off x="3769261" y="5593552"/>
            <a:ext cx="362600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5</a:t>
            </a:r>
          </a:p>
        </p:txBody>
      </p:sp>
      <p:sp>
        <p:nvSpPr>
          <p:cNvPr id="172" name="6"/>
          <p:cNvSpPr txBox="1"/>
          <p:nvPr/>
        </p:nvSpPr>
        <p:spPr>
          <a:xfrm>
            <a:off x="5007714" y="5593552"/>
            <a:ext cx="362600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6</a:t>
            </a:r>
          </a:p>
        </p:txBody>
      </p:sp>
      <p:sp>
        <p:nvSpPr>
          <p:cNvPr id="173" name="7"/>
          <p:cNvSpPr txBox="1"/>
          <p:nvPr/>
        </p:nvSpPr>
        <p:spPr>
          <a:xfrm>
            <a:off x="793851" y="6705451"/>
            <a:ext cx="362600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7</a:t>
            </a:r>
          </a:p>
        </p:txBody>
      </p:sp>
      <p:sp>
        <p:nvSpPr>
          <p:cNvPr id="174" name="0"/>
          <p:cNvSpPr txBox="1"/>
          <p:nvPr/>
        </p:nvSpPr>
        <p:spPr>
          <a:xfrm>
            <a:off x="9613302" y="3527339"/>
            <a:ext cx="362600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0</a:t>
            </a:r>
          </a:p>
        </p:txBody>
      </p:sp>
      <p:sp>
        <p:nvSpPr>
          <p:cNvPr id="175" name="1"/>
          <p:cNvSpPr txBox="1"/>
          <p:nvPr/>
        </p:nvSpPr>
        <p:spPr>
          <a:xfrm>
            <a:off x="8474240" y="4722447"/>
            <a:ext cx="362600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1</a:t>
            </a:r>
          </a:p>
        </p:txBody>
      </p:sp>
      <p:sp>
        <p:nvSpPr>
          <p:cNvPr id="176" name="2"/>
          <p:cNvSpPr txBox="1"/>
          <p:nvPr/>
        </p:nvSpPr>
        <p:spPr>
          <a:xfrm>
            <a:off x="10739921" y="4722447"/>
            <a:ext cx="362600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2</a:t>
            </a:r>
          </a:p>
        </p:txBody>
      </p:sp>
      <p:sp>
        <p:nvSpPr>
          <p:cNvPr id="177" name="3"/>
          <p:cNvSpPr txBox="1"/>
          <p:nvPr/>
        </p:nvSpPr>
        <p:spPr>
          <a:xfrm>
            <a:off x="7800206" y="5821076"/>
            <a:ext cx="362600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3</a:t>
            </a:r>
          </a:p>
        </p:txBody>
      </p:sp>
      <p:sp>
        <p:nvSpPr>
          <p:cNvPr id="178" name="4"/>
          <p:cNvSpPr txBox="1"/>
          <p:nvPr/>
        </p:nvSpPr>
        <p:spPr>
          <a:xfrm>
            <a:off x="9205929" y="5821076"/>
            <a:ext cx="362600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4</a:t>
            </a:r>
          </a:p>
        </p:txBody>
      </p:sp>
      <p:sp>
        <p:nvSpPr>
          <p:cNvPr id="179" name="5"/>
          <p:cNvSpPr txBox="1"/>
          <p:nvPr/>
        </p:nvSpPr>
        <p:spPr>
          <a:xfrm>
            <a:off x="10244790" y="5821076"/>
            <a:ext cx="362600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5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9" presetID="15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9" presetID="15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64" grpId="2"/>
      <p:bldP build="whole" bldLvl="1" animBg="1" rev="0" advAuto="0" spid="139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Group 267"/>
          <p:cNvGrpSpPr/>
          <p:nvPr/>
        </p:nvGrpSpPr>
        <p:grpSpPr>
          <a:xfrm>
            <a:off x="1246464" y="3879701"/>
            <a:ext cx="3993426" cy="2699755"/>
            <a:chOff x="0" y="0"/>
            <a:chExt cx="3993425" cy="2699754"/>
          </a:xfrm>
        </p:grpSpPr>
        <p:sp>
          <p:nvSpPr>
            <p:cNvPr id="181" name="Shape 240"/>
            <p:cNvSpPr/>
            <p:nvPr/>
          </p:nvSpPr>
          <p:spPr>
            <a:xfrm>
              <a:off x="2300330" y="407709"/>
              <a:ext cx="621998" cy="623184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82" name="Shape 241"/>
            <p:cNvSpPr/>
            <p:nvPr/>
          </p:nvSpPr>
          <p:spPr>
            <a:xfrm flipH="1">
              <a:off x="1009952" y="443620"/>
              <a:ext cx="780133" cy="625297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83" name="Shape 242"/>
            <p:cNvSpPr/>
            <p:nvPr/>
          </p:nvSpPr>
          <p:spPr>
            <a:xfrm flipH="1">
              <a:off x="413258" y="1597037"/>
              <a:ext cx="383741" cy="623184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84" name="Shape 243"/>
            <p:cNvSpPr/>
            <p:nvPr/>
          </p:nvSpPr>
          <p:spPr>
            <a:xfrm>
              <a:off x="1113266" y="1499862"/>
              <a:ext cx="478622" cy="766833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85" name="Shape 244"/>
            <p:cNvSpPr/>
            <p:nvPr/>
          </p:nvSpPr>
          <p:spPr>
            <a:xfrm flipH="1">
              <a:off x="2517500" y="1597037"/>
              <a:ext cx="383742" cy="623184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86" name="Shape 245"/>
            <p:cNvSpPr/>
            <p:nvPr/>
          </p:nvSpPr>
          <p:spPr>
            <a:xfrm>
              <a:off x="3122628" y="1499862"/>
              <a:ext cx="573503" cy="766833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189" name="Group 248"/>
            <p:cNvGrpSpPr/>
            <p:nvPr/>
          </p:nvGrpSpPr>
          <p:grpSpPr>
            <a:xfrm>
              <a:off x="1709960" y="0"/>
              <a:ext cx="624107" cy="625296"/>
              <a:chOff x="0" y="0"/>
              <a:chExt cx="624105" cy="625295"/>
            </a:xfrm>
          </p:grpSpPr>
          <p:sp>
            <p:nvSpPr>
              <p:cNvPr id="187" name="Shape 246"/>
              <p:cNvSpPr/>
              <p:nvPr/>
            </p:nvSpPr>
            <p:spPr>
              <a:xfrm>
                <a:off x="-1" y="0"/>
                <a:ext cx="624107" cy="625296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88" name="Shape 247"/>
              <p:cNvSpPr txBox="1"/>
              <p:nvPr/>
            </p:nvSpPr>
            <p:spPr>
              <a:xfrm>
                <a:off x="59341" y="38024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97</a:t>
                </a:r>
              </a:p>
            </p:txBody>
          </p:sp>
        </p:grpSp>
        <p:grpSp>
          <p:nvGrpSpPr>
            <p:cNvPr id="192" name="Group 251"/>
            <p:cNvGrpSpPr/>
            <p:nvPr/>
          </p:nvGrpSpPr>
          <p:grpSpPr>
            <a:xfrm>
              <a:off x="697900" y="1068915"/>
              <a:ext cx="624107" cy="623185"/>
              <a:chOff x="0" y="0"/>
              <a:chExt cx="624105" cy="623184"/>
            </a:xfrm>
          </p:grpSpPr>
          <p:sp>
            <p:nvSpPr>
              <p:cNvPr id="190" name="Shape 249"/>
              <p:cNvSpPr/>
              <p:nvPr/>
            </p:nvSpPr>
            <p:spPr>
              <a:xfrm>
                <a:off x="-1" y="0"/>
                <a:ext cx="624107" cy="62318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91" name="Shape 250"/>
              <p:cNvSpPr txBox="1"/>
              <p:nvPr/>
            </p:nvSpPr>
            <p:spPr>
              <a:xfrm>
                <a:off x="37203" y="61261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76</a:t>
                </a:r>
              </a:p>
            </p:txBody>
          </p:sp>
        </p:grpSp>
        <p:grpSp>
          <p:nvGrpSpPr>
            <p:cNvPr id="195" name="Group 254"/>
            <p:cNvGrpSpPr/>
            <p:nvPr/>
          </p:nvGrpSpPr>
          <p:grpSpPr>
            <a:xfrm>
              <a:off x="2688286" y="1054128"/>
              <a:ext cx="624107" cy="623185"/>
              <a:chOff x="0" y="0"/>
              <a:chExt cx="624105" cy="623184"/>
            </a:xfrm>
          </p:grpSpPr>
          <p:sp>
            <p:nvSpPr>
              <p:cNvPr id="193" name="Shape 252"/>
              <p:cNvSpPr/>
              <p:nvPr/>
            </p:nvSpPr>
            <p:spPr>
              <a:xfrm>
                <a:off x="-1" y="0"/>
                <a:ext cx="624107" cy="62318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94" name="Shape 253"/>
              <p:cNvSpPr txBox="1"/>
              <p:nvPr/>
            </p:nvSpPr>
            <p:spPr>
              <a:xfrm>
                <a:off x="75155" y="63374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65</a:t>
                </a:r>
              </a:p>
            </p:txBody>
          </p:sp>
        </p:grpSp>
        <p:grpSp>
          <p:nvGrpSpPr>
            <p:cNvPr id="198" name="Group 257"/>
            <p:cNvGrpSpPr/>
            <p:nvPr/>
          </p:nvGrpSpPr>
          <p:grpSpPr>
            <a:xfrm>
              <a:off x="0" y="2074458"/>
              <a:ext cx="621999" cy="621073"/>
              <a:chOff x="0" y="0"/>
              <a:chExt cx="621998" cy="621072"/>
            </a:xfrm>
          </p:grpSpPr>
          <p:sp>
            <p:nvSpPr>
              <p:cNvPr id="196" name="Shape 255"/>
              <p:cNvSpPr/>
              <p:nvPr/>
            </p:nvSpPr>
            <p:spPr>
              <a:xfrm>
                <a:off x="-1" y="0"/>
                <a:ext cx="622000" cy="62107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97" name="Shape 256"/>
              <p:cNvSpPr txBox="1"/>
              <p:nvPr/>
            </p:nvSpPr>
            <p:spPr>
              <a:xfrm>
                <a:off x="56179" y="76049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49</a:t>
                </a:r>
              </a:p>
            </p:txBody>
          </p:sp>
        </p:grpSp>
        <p:grpSp>
          <p:nvGrpSpPr>
            <p:cNvPr id="201" name="Group 260"/>
            <p:cNvGrpSpPr/>
            <p:nvPr/>
          </p:nvGrpSpPr>
          <p:grpSpPr>
            <a:xfrm>
              <a:off x="1353631" y="2074458"/>
              <a:ext cx="624107" cy="625297"/>
              <a:chOff x="0" y="0"/>
              <a:chExt cx="624105" cy="625295"/>
            </a:xfrm>
          </p:grpSpPr>
          <p:sp>
            <p:nvSpPr>
              <p:cNvPr id="199" name="Shape 258"/>
              <p:cNvSpPr/>
              <p:nvPr/>
            </p:nvSpPr>
            <p:spPr>
              <a:xfrm>
                <a:off x="-1" y="0"/>
                <a:ext cx="624107" cy="625296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00" name="Shape 259"/>
              <p:cNvSpPr txBox="1"/>
              <p:nvPr/>
            </p:nvSpPr>
            <p:spPr>
              <a:xfrm>
                <a:off x="59341" y="82386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50</a:t>
                </a:r>
              </a:p>
            </p:txBody>
          </p:sp>
        </p:grpSp>
        <p:grpSp>
          <p:nvGrpSpPr>
            <p:cNvPr id="204" name="Group 263"/>
            <p:cNvGrpSpPr/>
            <p:nvPr/>
          </p:nvGrpSpPr>
          <p:grpSpPr>
            <a:xfrm>
              <a:off x="2275028" y="2053333"/>
              <a:ext cx="621999" cy="621073"/>
              <a:chOff x="0" y="0"/>
              <a:chExt cx="621998" cy="621072"/>
            </a:xfrm>
          </p:grpSpPr>
          <p:sp>
            <p:nvSpPr>
              <p:cNvPr id="202" name="Shape 261"/>
              <p:cNvSpPr/>
              <p:nvPr/>
            </p:nvSpPr>
            <p:spPr>
              <a:xfrm>
                <a:off x="-1" y="0"/>
                <a:ext cx="622000" cy="62107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03" name="Shape 262"/>
              <p:cNvSpPr txBox="1"/>
              <p:nvPr/>
            </p:nvSpPr>
            <p:spPr>
              <a:xfrm>
                <a:off x="57234" y="76049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27</a:t>
                </a:r>
              </a:p>
            </p:txBody>
          </p:sp>
        </p:grpSp>
        <p:grpSp>
          <p:nvGrpSpPr>
            <p:cNvPr id="207" name="Group 266"/>
            <p:cNvGrpSpPr/>
            <p:nvPr/>
          </p:nvGrpSpPr>
          <p:grpSpPr>
            <a:xfrm>
              <a:off x="3369319" y="2023758"/>
              <a:ext cx="624107" cy="625297"/>
              <a:chOff x="0" y="0"/>
              <a:chExt cx="624105" cy="625295"/>
            </a:xfrm>
          </p:grpSpPr>
          <p:sp>
            <p:nvSpPr>
              <p:cNvPr id="205" name="Shape 264"/>
              <p:cNvSpPr/>
              <p:nvPr/>
            </p:nvSpPr>
            <p:spPr>
              <a:xfrm>
                <a:off x="-1" y="0"/>
                <a:ext cx="624107" cy="625296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06" name="Shape 265"/>
              <p:cNvSpPr txBox="1"/>
              <p:nvPr/>
            </p:nvSpPr>
            <p:spPr>
              <a:xfrm>
                <a:off x="59341" y="80274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38</a:t>
                </a:r>
              </a:p>
            </p:txBody>
          </p:sp>
        </p:grpSp>
      </p:grpSp>
      <p:sp>
        <p:nvSpPr>
          <p:cNvPr id="209" name="Shape 268"/>
          <p:cNvSpPr/>
          <p:nvPr/>
        </p:nvSpPr>
        <p:spPr>
          <a:xfrm>
            <a:off x="6157241" y="5430801"/>
            <a:ext cx="1126634" cy="205460"/>
          </a:xfrm>
          <a:prstGeom prst="rightArrow">
            <a:avLst>
              <a:gd name="adj1" fmla="val 50000"/>
              <a:gd name="adj2" fmla="val 96390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10" name="Shape 269"/>
          <p:cNvSpPr txBox="1"/>
          <p:nvPr/>
        </p:nvSpPr>
        <p:spPr>
          <a:xfrm>
            <a:off x="651175" y="2110221"/>
            <a:ext cx="1689102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defRPr>
                <a:uFill>
                  <a:solidFill>
                    <a:srgbClr val="000000"/>
                  </a:solidFill>
                </a:uFill>
                <a:latin typeface="SimSun"/>
                <a:ea typeface="SimSun"/>
                <a:cs typeface="SimSun"/>
                <a:sym typeface="SimSun"/>
              </a:defRPr>
            </a:lvl1pPr>
          </a:lstStyle>
          <a:p>
            <a:pPr/>
            <a:r>
              <a:t>插入81</a:t>
            </a:r>
          </a:p>
        </p:txBody>
      </p:sp>
      <p:sp>
        <p:nvSpPr>
          <p:cNvPr id="211" name="Shape 270"/>
          <p:cNvSpPr/>
          <p:nvPr/>
        </p:nvSpPr>
        <p:spPr>
          <a:xfrm>
            <a:off x="10689449" y="3730412"/>
            <a:ext cx="623148" cy="623150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12" name="Shape 271"/>
          <p:cNvSpPr/>
          <p:nvPr/>
        </p:nvSpPr>
        <p:spPr>
          <a:xfrm flipH="1">
            <a:off x="9400258" y="3764279"/>
            <a:ext cx="778935" cy="625407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13" name="Shape 272"/>
          <p:cNvSpPr/>
          <p:nvPr/>
        </p:nvSpPr>
        <p:spPr>
          <a:xfrm flipH="1">
            <a:off x="8801947" y="4918004"/>
            <a:ext cx="383824" cy="623149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14" name="Shape 273"/>
          <p:cNvSpPr/>
          <p:nvPr/>
        </p:nvSpPr>
        <p:spPr>
          <a:xfrm>
            <a:off x="9501858" y="4816685"/>
            <a:ext cx="478649" cy="767647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15" name="Shape 274"/>
          <p:cNvSpPr/>
          <p:nvPr/>
        </p:nvSpPr>
        <p:spPr>
          <a:xfrm flipH="1">
            <a:off x="10906194" y="4918004"/>
            <a:ext cx="383824" cy="623149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16" name="Shape 275"/>
          <p:cNvSpPr/>
          <p:nvPr/>
        </p:nvSpPr>
        <p:spPr>
          <a:xfrm>
            <a:off x="11511280" y="4816685"/>
            <a:ext cx="573477" cy="767647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219" name="Group 279"/>
          <p:cNvGrpSpPr/>
          <p:nvPr/>
        </p:nvGrpSpPr>
        <p:grpSpPr>
          <a:xfrm>
            <a:off x="11077785" y="4376137"/>
            <a:ext cx="624339" cy="623439"/>
            <a:chOff x="0" y="0"/>
            <a:chExt cx="624337" cy="623438"/>
          </a:xfrm>
        </p:grpSpPr>
        <p:sp>
          <p:nvSpPr>
            <p:cNvPr id="217" name="Shape 277"/>
            <p:cNvSpPr/>
            <p:nvPr/>
          </p:nvSpPr>
          <p:spPr>
            <a:xfrm>
              <a:off x="0" y="0"/>
              <a:ext cx="624338" cy="623439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18" name="Shape 278"/>
            <p:cNvSpPr txBox="1"/>
            <p:nvPr/>
          </p:nvSpPr>
          <p:spPr>
            <a:xfrm>
              <a:off x="75278" y="63400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65</a:t>
              </a:r>
            </a:p>
          </p:txBody>
        </p:sp>
      </p:grpSp>
      <p:sp>
        <p:nvSpPr>
          <p:cNvPr id="220" name="Shape 280"/>
          <p:cNvSpPr/>
          <p:nvPr/>
        </p:nvSpPr>
        <p:spPr>
          <a:xfrm>
            <a:off x="8382569" y="5514885"/>
            <a:ext cx="623149" cy="620119"/>
          </a:xfrm>
          <a:prstGeom prst="ellipse">
            <a:avLst/>
          </a:prstGeom>
          <a:solidFill>
            <a:srgbClr val="990000"/>
          </a:solidFill>
          <a:ln w="12700" cap="sq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21" name="Shape 281"/>
          <p:cNvSpPr txBox="1"/>
          <p:nvPr/>
        </p:nvSpPr>
        <p:spPr>
          <a:xfrm>
            <a:off x="8439323" y="5590817"/>
            <a:ext cx="5277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algn="ctr" defTabSz="1295400">
              <a:defRPr sz="2800">
                <a:solidFill>
                  <a:srgbClr val="FEE8F7"/>
                </a:solidFill>
                <a:uFill>
                  <a:solidFill>
                    <a:srgbClr val="FEE8F7"/>
                  </a:solidFill>
                </a:uFill>
              </a:defRPr>
            </a:lvl1pPr>
          </a:lstStyle>
          <a:p>
            <a:pPr/>
            <a:r>
              <a:t>49</a:t>
            </a:r>
          </a:p>
        </p:txBody>
      </p:sp>
      <p:grpSp>
        <p:nvGrpSpPr>
          <p:cNvPr id="224" name="Group 285"/>
          <p:cNvGrpSpPr/>
          <p:nvPr/>
        </p:nvGrpSpPr>
        <p:grpSpPr>
          <a:xfrm>
            <a:off x="9743440" y="5396653"/>
            <a:ext cx="623301" cy="624625"/>
            <a:chOff x="0" y="0"/>
            <a:chExt cx="623299" cy="624623"/>
          </a:xfrm>
        </p:grpSpPr>
        <p:sp>
          <p:nvSpPr>
            <p:cNvPr id="222" name="Shape 283"/>
            <p:cNvSpPr/>
            <p:nvPr/>
          </p:nvSpPr>
          <p:spPr>
            <a:xfrm>
              <a:off x="0" y="0"/>
              <a:ext cx="623300" cy="624625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23" name="Shape 284"/>
            <p:cNvSpPr txBox="1"/>
            <p:nvPr/>
          </p:nvSpPr>
          <p:spPr>
            <a:xfrm>
              <a:off x="58936" y="82298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50</a:t>
              </a:r>
            </a:p>
          </p:txBody>
        </p:sp>
      </p:grpSp>
      <p:grpSp>
        <p:nvGrpSpPr>
          <p:cNvPr id="227" name="Group 288"/>
          <p:cNvGrpSpPr/>
          <p:nvPr/>
        </p:nvGrpSpPr>
        <p:grpSpPr>
          <a:xfrm>
            <a:off x="10664613" y="5374075"/>
            <a:ext cx="621045" cy="622167"/>
            <a:chOff x="0" y="0"/>
            <a:chExt cx="621044" cy="622165"/>
          </a:xfrm>
        </p:grpSpPr>
        <p:sp>
          <p:nvSpPr>
            <p:cNvPr id="225" name="Shape 286"/>
            <p:cNvSpPr/>
            <p:nvPr/>
          </p:nvSpPr>
          <p:spPr>
            <a:xfrm>
              <a:off x="-1" y="0"/>
              <a:ext cx="621046" cy="622166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26" name="Shape 287"/>
            <p:cNvSpPr txBox="1"/>
            <p:nvPr/>
          </p:nvSpPr>
          <p:spPr>
            <a:xfrm>
              <a:off x="56755" y="76183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27</a:t>
              </a:r>
            </a:p>
          </p:txBody>
        </p:sp>
      </p:grpSp>
      <p:grpSp>
        <p:nvGrpSpPr>
          <p:cNvPr id="230" name="Group 291"/>
          <p:cNvGrpSpPr/>
          <p:nvPr/>
        </p:nvGrpSpPr>
        <p:grpSpPr>
          <a:xfrm>
            <a:off x="11759634" y="5350085"/>
            <a:ext cx="623301" cy="626673"/>
            <a:chOff x="0" y="0"/>
            <a:chExt cx="623299" cy="626671"/>
          </a:xfrm>
        </p:grpSpPr>
        <p:sp>
          <p:nvSpPr>
            <p:cNvPr id="228" name="Shape 289"/>
            <p:cNvSpPr/>
            <p:nvPr/>
          </p:nvSpPr>
          <p:spPr>
            <a:xfrm>
              <a:off x="0" y="0"/>
              <a:ext cx="623301" cy="626673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29" name="Shape 290"/>
            <p:cNvSpPr txBox="1"/>
            <p:nvPr/>
          </p:nvSpPr>
          <p:spPr>
            <a:xfrm>
              <a:off x="58936" y="75088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38</a:t>
              </a:r>
            </a:p>
          </p:txBody>
        </p:sp>
      </p:grpSp>
      <p:sp>
        <p:nvSpPr>
          <p:cNvPr id="231" name="Shape 292"/>
          <p:cNvSpPr/>
          <p:nvPr/>
        </p:nvSpPr>
        <p:spPr>
          <a:xfrm>
            <a:off x="9087350" y="4379203"/>
            <a:ext cx="624483" cy="623295"/>
          </a:xfrm>
          <a:prstGeom prst="ellipse">
            <a:avLst/>
          </a:prstGeom>
          <a:solidFill>
            <a:srgbClr val="990000"/>
          </a:solidFill>
          <a:ln w="12700" cap="sq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32" name="Shape 293"/>
          <p:cNvSpPr txBox="1"/>
          <p:nvPr/>
        </p:nvSpPr>
        <p:spPr>
          <a:xfrm>
            <a:off x="9124729" y="4440475"/>
            <a:ext cx="5277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algn="ctr" defTabSz="1295400">
              <a:defRPr sz="2800">
                <a:solidFill>
                  <a:srgbClr val="FEE8F7"/>
                </a:solidFill>
                <a:uFill>
                  <a:solidFill>
                    <a:srgbClr val="FEE8F7"/>
                  </a:solidFill>
                </a:uFill>
              </a:defRPr>
            </a:lvl1pPr>
          </a:lstStyle>
          <a:p>
            <a:pPr/>
            <a:r>
              <a:t>76</a:t>
            </a:r>
          </a:p>
        </p:txBody>
      </p:sp>
      <p:grpSp>
        <p:nvGrpSpPr>
          <p:cNvPr id="235" name="Group 297"/>
          <p:cNvGrpSpPr/>
          <p:nvPr/>
        </p:nvGrpSpPr>
        <p:grpSpPr>
          <a:xfrm>
            <a:off x="10131776" y="3318085"/>
            <a:ext cx="623301" cy="625409"/>
            <a:chOff x="0" y="0"/>
            <a:chExt cx="623299" cy="625407"/>
          </a:xfrm>
        </p:grpSpPr>
        <p:sp>
          <p:nvSpPr>
            <p:cNvPr id="233" name="Shape 295"/>
            <p:cNvSpPr/>
            <p:nvPr/>
          </p:nvSpPr>
          <p:spPr>
            <a:xfrm>
              <a:off x="0" y="-1"/>
              <a:ext cx="623301" cy="625409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34" name="Shape 296"/>
            <p:cNvSpPr txBox="1"/>
            <p:nvPr/>
          </p:nvSpPr>
          <p:spPr>
            <a:xfrm>
              <a:off x="58936" y="41700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97</a:t>
              </a:r>
            </a:p>
          </p:txBody>
        </p:sp>
      </p:grpSp>
      <p:sp>
        <p:nvSpPr>
          <p:cNvPr id="236" name="Shape 307"/>
          <p:cNvSpPr txBox="1"/>
          <p:nvPr/>
        </p:nvSpPr>
        <p:spPr>
          <a:xfrm>
            <a:off x="1643661" y="0"/>
            <a:ext cx="9448801" cy="1003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>
            <a:normAutofit fontScale="100000" lnSpcReduction="0"/>
          </a:bodyPr>
          <a:lstStyle>
            <a:lvl1pPr marR="57798" algn="ctr" defTabSz="1295400">
              <a:defRPr sz="4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堆－插入过程（大顶堆）</a:t>
            </a:r>
          </a:p>
        </p:txBody>
      </p:sp>
      <p:sp>
        <p:nvSpPr>
          <p:cNvPr id="237" name="Shape 308"/>
          <p:cNvSpPr txBox="1"/>
          <p:nvPr/>
        </p:nvSpPr>
        <p:spPr>
          <a:xfrm>
            <a:off x="2524759" y="1470660"/>
            <a:ext cx="6653611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defRPr sz="3200">
                <a:uFill>
                  <a:solidFill>
                    <a:srgbClr val="000000"/>
                  </a:solidFill>
                </a:uFill>
                <a:latin typeface="SimSun"/>
                <a:ea typeface="SimSun"/>
                <a:cs typeface="SimSun"/>
                <a:sym typeface="SimSun"/>
              </a:defRPr>
            </a:lvl1pPr>
          </a:lstStyle>
          <a:p>
            <a:pPr/>
            <a:r>
              <a:t>（97，76，65，49，50，27，38）</a:t>
            </a:r>
          </a:p>
        </p:txBody>
      </p:sp>
      <p:sp>
        <p:nvSpPr>
          <p:cNvPr id="238" name="Shape 309"/>
          <p:cNvSpPr txBox="1"/>
          <p:nvPr/>
        </p:nvSpPr>
        <p:spPr>
          <a:xfrm>
            <a:off x="2524758" y="2110221"/>
            <a:ext cx="8636442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R="57798" defTabSz="1295400">
              <a:defRPr sz="3200">
                <a:uFill>
                  <a:solidFill>
                    <a:srgbClr val="000000"/>
                  </a:solidFill>
                </a:uFill>
                <a:latin typeface="SimSun"/>
                <a:ea typeface="SimSun"/>
                <a:cs typeface="SimSun"/>
                <a:sym typeface="SimSun"/>
              </a:defRPr>
            </a:pPr>
            <a:r>
              <a:t>（97，76，65，49，50，27，38，</a:t>
            </a:r>
            <a:r>
              <a:rPr>
                <a:solidFill>
                  <a:schemeClr val="accent5"/>
                </a:solidFill>
              </a:rPr>
              <a:t>81</a:t>
            </a:r>
            <a:r>
              <a:t>）</a:t>
            </a:r>
          </a:p>
        </p:txBody>
      </p:sp>
      <p:sp>
        <p:nvSpPr>
          <p:cNvPr id="239" name="Shape 310"/>
          <p:cNvSpPr txBox="1"/>
          <p:nvPr/>
        </p:nvSpPr>
        <p:spPr>
          <a:xfrm>
            <a:off x="2524758" y="2850796"/>
            <a:ext cx="8636442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R="57798" defTabSz="1295400">
              <a:defRPr sz="3200">
                <a:uFill>
                  <a:solidFill>
                    <a:srgbClr val="000000"/>
                  </a:solidFill>
                </a:uFill>
                <a:latin typeface="SimSun"/>
                <a:ea typeface="SimSun"/>
                <a:cs typeface="SimSun"/>
                <a:sym typeface="SimSun"/>
              </a:defRPr>
            </a:pPr>
            <a:r>
              <a:t>（97，</a:t>
            </a:r>
            <a:r>
              <a:rPr>
                <a:solidFill>
                  <a:schemeClr val="accent5"/>
                </a:solidFill>
              </a:rPr>
              <a:t>81</a:t>
            </a:r>
            <a:r>
              <a:t>，65，76，50，27，38，49）</a:t>
            </a:r>
          </a:p>
        </p:txBody>
      </p:sp>
      <p:sp>
        <p:nvSpPr>
          <p:cNvPr id="240" name="Shape 311"/>
          <p:cNvSpPr txBox="1"/>
          <p:nvPr/>
        </p:nvSpPr>
        <p:spPr>
          <a:xfrm>
            <a:off x="651175" y="1470660"/>
            <a:ext cx="1689102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defRPr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初始</a:t>
            </a:r>
          </a:p>
        </p:txBody>
      </p:sp>
      <p:sp>
        <p:nvSpPr>
          <p:cNvPr id="241" name="Shape 312"/>
          <p:cNvSpPr txBox="1"/>
          <p:nvPr/>
        </p:nvSpPr>
        <p:spPr>
          <a:xfrm>
            <a:off x="651175" y="2850796"/>
            <a:ext cx="1689102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defRPr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调整后</a:t>
            </a:r>
          </a:p>
        </p:txBody>
      </p:sp>
      <p:sp>
        <p:nvSpPr>
          <p:cNvPr id="242" name="0"/>
          <p:cNvSpPr txBox="1"/>
          <p:nvPr/>
        </p:nvSpPr>
        <p:spPr>
          <a:xfrm>
            <a:off x="3061572" y="4446833"/>
            <a:ext cx="362600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0</a:t>
            </a:r>
          </a:p>
        </p:txBody>
      </p:sp>
      <p:sp>
        <p:nvSpPr>
          <p:cNvPr id="243" name="1"/>
          <p:cNvSpPr txBox="1"/>
          <p:nvPr/>
        </p:nvSpPr>
        <p:spPr>
          <a:xfrm>
            <a:off x="2010841" y="5516018"/>
            <a:ext cx="362600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1</a:t>
            </a:r>
          </a:p>
        </p:txBody>
      </p:sp>
      <p:sp>
        <p:nvSpPr>
          <p:cNvPr id="244" name="2"/>
          <p:cNvSpPr txBox="1"/>
          <p:nvPr/>
        </p:nvSpPr>
        <p:spPr>
          <a:xfrm>
            <a:off x="4144559" y="5516018"/>
            <a:ext cx="362600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2</a:t>
            </a:r>
          </a:p>
        </p:txBody>
      </p:sp>
      <p:sp>
        <p:nvSpPr>
          <p:cNvPr id="245" name="3"/>
          <p:cNvSpPr txBox="1"/>
          <p:nvPr/>
        </p:nvSpPr>
        <p:spPr>
          <a:xfrm>
            <a:off x="1307325" y="6614647"/>
            <a:ext cx="362600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3</a:t>
            </a:r>
          </a:p>
        </p:txBody>
      </p:sp>
      <p:sp>
        <p:nvSpPr>
          <p:cNvPr id="246" name="4"/>
          <p:cNvSpPr txBox="1"/>
          <p:nvPr/>
        </p:nvSpPr>
        <p:spPr>
          <a:xfrm>
            <a:off x="2745122" y="6614647"/>
            <a:ext cx="362600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4</a:t>
            </a:r>
          </a:p>
        </p:txBody>
      </p:sp>
      <p:sp>
        <p:nvSpPr>
          <p:cNvPr id="247" name="5"/>
          <p:cNvSpPr txBox="1"/>
          <p:nvPr/>
        </p:nvSpPr>
        <p:spPr>
          <a:xfrm>
            <a:off x="3711825" y="6614647"/>
            <a:ext cx="362600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5</a:t>
            </a:r>
          </a:p>
        </p:txBody>
      </p:sp>
      <p:sp>
        <p:nvSpPr>
          <p:cNvPr id="248" name="6"/>
          <p:cNvSpPr txBox="1"/>
          <p:nvPr/>
        </p:nvSpPr>
        <p:spPr>
          <a:xfrm>
            <a:off x="4950279" y="6614647"/>
            <a:ext cx="362600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6</a:t>
            </a:r>
          </a:p>
        </p:txBody>
      </p:sp>
      <p:sp>
        <p:nvSpPr>
          <p:cNvPr id="249" name="0"/>
          <p:cNvSpPr txBox="1"/>
          <p:nvPr/>
        </p:nvSpPr>
        <p:spPr>
          <a:xfrm>
            <a:off x="10267090" y="3954613"/>
            <a:ext cx="362600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0</a:t>
            </a:r>
          </a:p>
        </p:txBody>
      </p:sp>
      <p:sp>
        <p:nvSpPr>
          <p:cNvPr id="250" name="1"/>
          <p:cNvSpPr txBox="1"/>
          <p:nvPr/>
        </p:nvSpPr>
        <p:spPr>
          <a:xfrm>
            <a:off x="9216359" y="5023798"/>
            <a:ext cx="362600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1</a:t>
            </a:r>
          </a:p>
        </p:txBody>
      </p:sp>
      <p:sp>
        <p:nvSpPr>
          <p:cNvPr id="251" name="2"/>
          <p:cNvSpPr txBox="1"/>
          <p:nvPr/>
        </p:nvSpPr>
        <p:spPr>
          <a:xfrm>
            <a:off x="11350077" y="5023798"/>
            <a:ext cx="362600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2</a:t>
            </a:r>
          </a:p>
        </p:txBody>
      </p:sp>
      <p:sp>
        <p:nvSpPr>
          <p:cNvPr id="252" name="3"/>
          <p:cNvSpPr txBox="1"/>
          <p:nvPr/>
        </p:nvSpPr>
        <p:spPr>
          <a:xfrm>
            <a:off x="8512843" y="6122427"/>
            <a:ext cx="362600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3</a:t>
            </a:r>
          </a:p>
        </p:txBody>
      </p:sp>
      <p:sp>
        <p:nvSpPr>
          <p:cNvPr id="253" name="4"/>
          <p:cNvSpPr txBox="1"/>
          <p:nvPr/>
        </p:nvSpPr>
        <p:spPr>
          <a:xfrm>
            <a:off x="9912540" y="6122427"/>
            <a:ext cx="362600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4</a:t>
            </a:r>
          </a:p>
        </p:txBody>
      </p:sp>
      <p:sp>
        <p:nvSpPr>
          <p:cNvPr id="254" name="5"/>
          <p:cNvSpPr txBox="1"/>
          <p:nvPr/>
        </p:nvSpPr>
        <p:spPr>
          <a:xfrm>
            <a:off x="10891943" y="6122427"/>
            <a:ext cx="362600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5</a:t>
            </a:r>
          </a:p>
        </p:txBody>
      </p:sp>
      <p:sp>
        <p:nvSpPr>
          <p:cNvPr id="255" name="6"/>
          <p:cNvSpPr txBox="1"/>
          <p:nvPr/>
        </p:nvSpPr>
        <p:spPr>
          <a:xfrm>
            <a:off x="11977997" y="6122427"/>
            <a:ext cx="362600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6</a:t>
            </a:r>
          </a:p>
        </p:txBody>
      </p:sp>
      <p:grpSp>
        <p:nvGrpSpPr>
          <p:cNvPr id="260" name="成组"/>
          <p:cNvGrpSpPr/>
          <p:nvPr/>
        </p:nvGrpSpPr>
        <p:grpSpPr>
          <a:xfrm>
            <a:off x="7747000" y="6086685"/>
            <a:ext cx="799818" cy="1804556"/>
            <a:chOff x="0" y="0"/>
            <a:chExt cx="799817" cy="1804554"/>
          </a:xfrm>
        </p:grpSpPr>
        <p:sp>
          <p:nvSpPr>
            <p:cNvPr id="256" name="Shape 237"/>
            <p:cNvSpPr/>
            <p:nvPr/>
          </p:nvSpPr>
          <p:spPr>
            <a:xfrm>
              <a:off x="0" y="596053"/>
              <a:ext cx="623300" cy="624625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57" name="Shape 238"/>
            <p:cNvSpPr txBox="1"/>
            <p:nvPr/>
          </p:nvSpPr>
          <p:spPr>
            <a:xfrm>
              <a:off x="61583" y="680525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81</a:t>
              </a:r>
            </a:p>
          </p:txBody>
        </p:sp>
        <p:sp>
          <p:nvSpPr>
            <p:cNvPr id="258" name="Shape 276"/>
            <p:cNvSpPr/>
            <p:nvPr/>
          </p:nvSpPr>
          <p:spPr>
            <a:xfrm flipH="1">
              <a:off x="415994" y="0"/>
              <a:ext cx="383824" cy="623149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59" name="7"/>
            <p:cNvSpPr txBox="1"/>
            <p:nvPr/>
          </p:nvSpPr>
          <p:spPr>
            <a:xfrm>
              <a:off x="144134" y="1287339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/>
              <a:r>
                <a:t>7</a:t>
              </a:r>
            </a:p>
          </p:txBody>
        </p:sp>
      </p:grpSp>
      <p:grpSp>
        <p:nvGrpSpPr>
          <p:cNvPr id="263" name="成组"/>
          <p:cNvGrpSpPr/>
          <p:nvPr/>
        </p:nvGrpSpPr>
        <p:grpSpPr>
          <a:xfrm>
            <a:off x="8388767" y="5513822"/>
            <a:ext cx="623301" cy="626673"/>
            <a:chOff x="0" y="0"/>
            <a:chExt cx="623299" cy="626671"/>
          </a:xfrm>
        </p:grpSpPr>
        <p:sp>
          <p:nvSpPr>
            <p:cNvPr id="261" name="Shape 289"/>
            <p:cNvSpPr/>
            <p:nvPr/>
          </p:nvSpPr>
          <p:spPr>
            <a:xfrm>
              <a:off x="0" y="0"/>
              <a:ext cx="623300" cy="626672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62" name="Shape 290"/>
            <p:cNvSpPr txBox="1"/>
            <p:nvPr/>
          </p:nvSpPr>
          <p:spPr>
            <a:xfrm>
              <a:off x="58935" y="75087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81</a:t>
              </a:r>
            </a:p>
          </p:txBody>
        </p:sp>
      </p:grpSp>
      <p:grpSp>
        <p:nvGrpSpPr>
          <p:cNvPr id="266" name="成组"/>
          <p:cNvGrpSpPr/>
          <p:nvPr/>
        </p:nvGrpSpPr>
        <p:grpSpPr>
          <a:xfrm>
            <a:off x="7736899" y="6675626"/>
            <a:ext cx="623301" cy="626673"/>
            <a:chOff x="0" y="0"/>
            <a:chExt cx="623299" cy="626671"/>
          </a:xfrm>
        </p:grpSpPr>
        <p:sp>
          <p:nvSpPr>
            <p:cNvPr id="264" name="Shape 289"/>
            <p:cNvSpPr/>
            <p:nvPr/>
          </p:nvSpPr>
          <p:spPr>
            <a:xfrm>
              <a:off x="0" y="0"/>
              <a:ext cx="623300" cy="626672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65" name="Shape 290"/>
            <p:cNvSpPr txBox="1"/>
            <p:nvPr/>
          </p:nvSpPr>
          <p:spPr>
            <a:xfrm>
              <a:off x="58935" y="75087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49</a:t>
              </a:r>
            </a:p>
          </p:txBody>
        </p:sp>
      </p:grpSp>
      <p:grpSp>
        <p:nvGrpSpPr>
          <p:cNvPr id="269" name="成组"/>
          <p:cNvGrpSpPr/>
          <p:nvPr/>
        </p:nvGrpSpPr>
        <p:grpSpPr>
          <a:xfrm>
            <a:off x="9088813" y="4366705"/>
            <a:ext cx="623301" cy="626673"/>
            <a:chOff x="0" y="0"/>
            <a:chExt cx="623299" cy="626671"/>
          </a:xfrm>
        </p:grpSpPr>
        <p:sp>
          <p:nvSpPr>
            <p:cNvPr id="267" name="Shape 289"/>
            <p:cNvSpPr/>
            <p:nvPr/>
          </p:nvSpPr>
          <p:spPr>
            <a:xfrm>
              <a:off x="0" y="0"/>
              <a:ext cx="623300" cy="626672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68" name="Shape 290"/>
            <p:cNvSpPr txBox="1"/>
            <p:nvPr/>
          </p:nvSpPr>
          <p:spPr>
            <a:xfrm>
              <a:off x="58935" y="75087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81</a:t>
              </a:r>
            </a:p>
          </p:txBody>
        </p:sp>
      </p:grpSp>
      <p:grpSp>
        <p:nvGrpSpPr>
          <p:cNvPr id="272" name="成组"/>
          <p:cNvGrpSpPr/>
          <p:nvPr/>
        </p:nvGrpSpPr>
        <p:grpSpPr>
          <a:xfrm>
            <a:off x="8388767" y="5504180"/>
            <a:ext cx="623301" cy="626673"/>
            <a:chOff x="0" y="0"/>
            <a:chExt cx="623299" cy="626671"/>
          </a:xfrm>
        </p:grpSpPr>
        <p:sp>
          <p:nvSpPr>
            <p:cNvPr id="270" name="Shape 289"/>
            <p:cNvSpPr/>
            <p:nvPr/>
          </p:nvSpPr>
          <p:spPr>
            <a:xfrm>
              <a:off x="0" y="0"/>
              <a:ext cx="623300" cy="626672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71" name="Shape 290"/>
            <p:cNvSpPr txBox="1"/>
            <p:nvPr/>
          </p:nvSpPr>
          <p:spPr>
            <a:xfrm>
              <a:off x="58935" y="75087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76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Class="entr" nodeType="after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after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69" grpId="4"/>
      <p:bldP build="whole" bldLvl="1" animBg="1" rev="0" advAuto="0" spid="260" grpId="1"/>
      <p:bldP build="whole" bldLvl="1" animBg="1" rev="0" advAuto="0" spid="272" grpId="5"/>
      <p:bldP build="whole" bldLvl="1" animBg="1" rev="0" advAuto="0" spid="263" grpId="2"/>
      <p:bldP build="whole" bldLvl="1" animBg="1" rev="0" advAuto="0" spid="266" grpId="3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Shape 315"/>
          <p:cNvSpPr txBox="1"/>
          <p:nvPr/>
        </p:nvSpPr>
        <p:spPr>
          <a:xfrm>
            <a:off x="476065" y="1470522"/>
            <a:ext cx="11030600" cy="30076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  <a:r>
              <a:t>1、二叉树的增加一个结点，作为最后一个结点，称做</a:t>
            </a:r>
            <a:r>
              <a:rPr>
                <a:solidFill>
                  <a:schemeClr val="accent1"/>
                </a:solidFill>
              </a:rPr>
              <a:t>当前结点，</a:t>
            </a:r>
            <a:endParaRPr>
              <a:solidFill>
                <a:schemeClr val="accent1"/>
              </a:solidFill>
            </a:endParaRPr>
          </a:p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  <a:r>
              <a:rPr>
                <a:solidFill>
                  <a:schemeClr val="accent1"/>
                </a:solidFill>
              </a:rPr>
              <a:t>     </a:t>
            </a:r>
            <a:r>
              <a:t>存储加入的数据</a:t>
            </a:r>
          </a:p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  <a:r>
              <a:t>2、如果当前结点为根结点或比父结点小，则结束。否则，进行3</a:t>
            </a:r>
          </a:p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  <a:r>
              <a:t>3、交换当前结点和父结点的值，重复2</a:t>
            </a:r>
          </a:p>
        </p:txBody>
      </p:sp>
      <p:sp>
        <p:nvSpPr>
          <p:cNvPr id="275" name="Shape 316"/>
          <p:cNvSpPr txBox="1"/>
          <p:nvPr/>
        </p:nvSpPr>
        <p:spPr>
          <a:xfrm>
            <a:off x="847478" y="5087542"/>
            <a:ext cx="10040095" cy="14258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R="57798" defTabSz="1295400">
              <a:spcBef>
                <a:spcPts val="1900"/>
              </a:spcBef>
              <a:defRPr b="1">
                <a:uFill>
                  <a:solidFill>
                    <a:srgbClr val="000000"/>
                  </a:solidFill>
                </a:uFill>
              </a:defRPr>
            </a:pPr>
            <a:r>
              <a:t>该算法的核心思想叫做向上筛选SiftUp</a:t>
            </a:r>
          </a:p>
          <a:p>
            <a:pPr marR="57798" defTabSz="1295400">
              <a:spcBef>
                <a:spcPts val="1900"/>
              </a:spcBef>
              <a:defRPr b="1">
                <a:uFill>
                  <a:solidFill>
                    <a:srgbClr val="000000"/>
                  </a:solidFill>
                </a:uFill>
              </a:defRPr>
            </a:pPr>
            <a:r>
              <a:t>时间复杂度：O(logn)</a:t>
            </a:r>
          </a:p>
        </p:txBody>
      </p:sp>
      <p:sp>
        <p:nvSpPr>
          <p:cNvPr id="276" name="Shape 307"/>
          <p:cNvSpPr txBox="1"/>
          <p:nvPr/>
        </p:nvSpPr>
        <p:spPr>
          <a:xfrm>
            <a:off x="1643661" y="25400"/>
            <a:ext cx="9448801" cy="1003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>
            <a:normAutofit fontScale="100000" lnSpcReduction="0"/>
          </a:bodyPr>
          <a:lstStyle>
            <a:lvl1pPr marR="57798" algn="ctr" defTabSz="1295400">
              <a:defRPr sz="4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堆－插入过程（大顶堆）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Shape 318"/>
          <p:cNvSpPr txBox="1"/>
          <p:nvPr>
            <p:ph type="title"/>
          </p:nvPr>
        </p:nvSpPr>
        <p:spPr>
          <a:xfrm>
            <a:off x="1611488" y="125588"/>
            <a:ext cx="9448801" cy="952501"/>
          </a:xfrm>
          <a:prstGeom prst="rect">
            <a:avLst/>
          </a:prstGeom>
        </p:spPr>
        <p:txBody>
          <a:bodyPr/>
          <a:lstStyle/>
          <a:p>
            <a:pPr/>
            <a:r>
              <a:t>课堂练习（大顶堆）</a:t>
            </a:r>
          </a:p>
        </p:txBody>
      </p:sp>
      <p:sp>
        <p:nvSpPr>
          <p:cNvPr id="279" name="Shape 319"/>
          <p:cNvSpPr txBox="1"/>
          <p:nvPr/>
        </p:nvSpPr>
        <p:spPr>
          <a:xfrm>
            <a:off x="1900838" y="1264071"/>
            <a:ext cx="1315100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插入98</a:t>
            </a:r>
          </a:p>
        </p:txBody>
      </p:sp>
      <p:grpSp>
        <p:nvGrpSpPr>
          <p:cNvPr id="323" name="Group 363"/>
          <p:cNvGrpSpPr/>
          <p:nvPr/>
        </p:nvGrpSpPr>
        <p:grpSpPr>
          <a:xfrm>
            <a:off x="3984218" y="1253348"/>
            <a:ext cx="4635939" cy="3874979"/>
            <a:chOff x="0" y="0"/>
            <a:chExt cx="4635937" cy="3874978"/>
          </a:xfrm>
        </p:grpSpPr>
        <p:grpSp>
          <p:nvGrpSpPr>
            <p:cNvPr id="282" name="Group 322"/>
            <p:cNvGrpSpPr/>
            <p:nvPr/>
          </p:nvGrpSpPr>
          <p:grpSpPr>
            <a:xfrm>
              <a:off x="584200" y="2197100"/>
              <a:ext cx="623301" cy="624625"/>
              <a:chOff x="0" y="0"/>
              <a:chExt cx="623299" cy="624623"/>
            </a:xfrm>
          </p:grpSpPr>
          <p:sp>
            <p:nvSpPr>
              <p:cNvPr id="280" name="Shape 320"/>
              <p:cNvSpPr/>
              <p:nvPr/>
            </p:nvSpPr>
            <p:spPr>
              <a:xfrm>
                <a:off x="0" y="0"/>
                <a:ext cx="623301" cy="62462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81" name="Shape 321"/>
              <p:cNvSpPr txBox="1"/>
              <p:nvPr/>
            </p:nvSpPr>
            <p:spPr>
              <a:xfrm>
                <a:off x="63451" y="82298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81</a:t>
                </a:r>
              </a:p>
            </p:txBody>
          </p:sp>
        </p:grpSp>
        <p:grpSp>
          <p:nvGrpSpPr>
            <p:cNvPr id="285" name="Group 325"/>
            <p:cNvGrpSpPr/>
            <p:nvPr/>
          </p:nvGrpSpPr>
          <p:grpSpPr>
            <a:xfrm>
              <a:off x="-1" y="3250352"/>
              <a:ext cx="623301" cy="624627"/>
              <a:chOff x="0" y="0"/>
              <a:chExt cx="623299" cy="624626"/>
            </a:xfrm>
          </p:grpSpPr>
          <p:sp>
            <p:nvSpPr>
              <p:cNvPr id="283" name="Shape 323"/>
              <p:cNvSpPr/>
              <p:nvPr/>
            </p:nvSpPr>
            <p:spPr>
              <a:xfrm>
                <a:off x="0" y="-1"/>
                <a:ext cx="623301" cy="624628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84" name="Shape 324"/>
              <p:cNvSpPr txBox="1"/>
              <p:nvPr/>
            </p:nvSpPr>
            <p:spPr>
              <a:xfrm>
                <a:off x="63451" y="82298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81</a:t>
                </a:r>
              </a:p>
            </p:txBody>
          </p:sp>
        </p:grpSp>
        <p:sp>
          <p:nvSpPr>
            <p:cNvPr id="286" name="Shape 326"/>
            <p:cNvSpPr/>
            <p:nvPr/>
          </p:nvSpPr>
          <p:spPr>
            <a:xfrm>
              <a:off x="2942448" y="412326"/>
              <a:ext cx="623149" cy="623149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87" name="Shape 327"/>
            <p:cNvSpPr/>
            <p:nvPr/>
          </p:nvSpPr>
          <p:spPr>
            <a:xfrm flipH="1">
              <a:off x="1653258" y="446193"/>
              <a:ext cx="778935" cy="625406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88" name="Shape 328"/>
            <p:cNvSpPr/>
            <p:nvPr/>
          </p:nvSpPr>
          <p:spPr>
            <a:xfrm flipH="1">
              <a:off x="1054947" y="1599917"/>
              <a:ext cx="383824" cy="623149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89" name="Shape 329"/>
            <p:cNvSpPr/>
            <p:nvPr/>
          </p:nvSpPr>
          <p:spPr>
            <a:xfrm>
              <a:off x="1754858" y="1498600"/>
              <a:ext cx="478650" cy="767646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90" name="Shape 330"/>
            <p:cNvSpPr/>
            <p:nvPr/>
          </p:nvSpPr>
          <p:spPr>
            <a:xfrm flipH="1">
              <a:off x="3159195" y="1599917"/>
              <a:ext cx="383824" cy="623149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91" name="Shape 331"/>
            <p:cNvSpPr/>
            <p:nvPr/>
          </p:nvSpPr>
          <p:spPr>
            <a:xfrm>
              <a:off x="3764280" y="1498600"/>
              <a:ext cx="573477" cy="767646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92" name="Shape 332"/>
            <p:cNvSpPr/>
            <p:nvPr/>
          </p:nvSpPr>
          <p:spPr>
            <a:xfrm flipH="1">
              <a:off x="415995" y="2654300"/>
              <a:ext cx="383824" cy="623148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295" name="Group 335"/>
            <p:cNvGrpSpPr/>
            <p:nvPr/>
          </p:nvGrpSpPr>
          <p:grpSpPr>
            <a:xfrm>
              <a:off x="3330786" y="1058051"/>
              <a:ext cx="624339" cy="623439"/>
              <a:chOff x="0" y="0"/>
              <a:chExt cx="624338" cy="623438"/>
            </a:xfrm>
          </p:grpSpPr>
          <p:sp>
            <p:nvSpPr>
              <p:cNvPr id="293" name="Shape 333"/>
              <p:cNvSpPr/>
              <p:nvPr/>
            </p:nvSpPr>
            <p:spPr>
              <a:xfrm>
                <a:off x="-1" y="0"/>
                <a:ext cx="624339" cy="623439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94" name="Shape 334"/>
              <p:cNvSpPr txBox="1"/>
              <p:nvPr/>
            </p:nvSpPr>
            <p:spPr>
              <a:xfrm>
                <a:off x="75278" y="63400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65</a:t>
                </a:r>
              </a:p>
            </p:txBody>
          </p:sp>
        </p:grpSp>
        <p:grpSp>
          <p:nvGrpSpPr>
            <p:cNvPr id="298" name="Group 338"/>
            <p:cNvGrpSpPr/>
            <p:nvPr/>
          </p:nvGrpSpPr>
          <p:grpSpPr>
            <a:xfrm>
              <a:off x="590973" y="2192866"/>
              <a:ext cx="623149" cy="620121"/>
              <a:chOff x="0" y="0"/>
              <a:chExt cx="623148" cy="620119"/>
            </a:xfrm>
          </p:grpSpPr>
          <p:sp>
            <p:nvSpPr>
              <p:cNvPr id="296" name="Shape 336"/>
              <p:cNvSpPr/>
              <p:nvPr/>
            </p:nvSpPr>
            <p:spPr>
              <a:xfrm>
                <a:off x="-1" y="-1"/>
                <a:ext cx="623149" cy="620121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97" name="Shape 337"/>
              <p:cNvSpPr txBox="1"/>
              <p:nvPr/>
            </p:nvSpPr>
            <p:spPr>
              <a:xfrm>
                <a:off x="56754" y="75932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49</a:t>
                </a:r>
              </a:p>
            </p:txBody>
          </p:sp>
        </p:grpSp>
        <p:grpSp>
          <p:nvGrpSpPr>
            <p:cNvPr id="301" name="Group 341"/>
            <p:cNvGrpSpPr/>
            <p:nvPr/>
          </p:nvGrpSpPr>
          <p:grpSpPr>
            <a:xfrm>
              <a:off x="1996440" y="2078566"/>
              <a:ext cx="623301" cy="624625"/>
              <a:chOff x="0" y="0"/>
              <a:chExt cx="623299" cy="624623"/>
            </a:xfrm>
          </p:grpSpPr>
          <p:sp>
            <p:nvSpPr>
              <p:cNvPr id="299" name="Shape 339"/>
              <p:cNvSpPr/>
              <p:nvPr/>
            </p:nvSpPr>
            <p:spPr>
              <a:xfrm>
                <a:off x="0" y="0"/>
                <a:ext cx="623301" cy="62462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00" name="Shape 340"/>
              <p:cNvSpPr txBox="1"/>
              <p:nvPr/>
            </p:nvSpPr>
            <p:spPr>
              <a:xfrm>
                <a:off x="58936" y="82298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50</a:t>
                </a:r>
              </a:p>
            </p:txBody>
          </p:sp>
        </p:grpSp>
        <p:grpSp>
          <p:nvGrpSpPr>
            <p:cNvPr id="304" name="Group 344"/>
            <p:cNvGrpSpPr/>
            <p:nvPr/>
          </p:nvGrpSpPr>
          <p:grpSpPr>
            <a:xfrm>
              <a:off x="2917613" y="2055988"/>
              <a:ext cx="621045" cy="622167"/>
              <a:chOff x="0" y="0"/>
              <a:chExt cx="621044" cy="622165"/>
            </a:xfrm>
          </p:grpSpPr>
          <p:sp>
            <p:nvSpPr>
              <p:cNvPr id="302" name="Shape 342"/>
              <p:cNvSpPr/>
              <p:nvPr/>
            </p:nvSpPr>
            <p:spPr>
              <a:xfrm>
                <a:off x="-1" y="-1"/>
                <a:ext cx="621046" cy="622167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03" name="Shape 343"/>
              <p:cNvSpPr txBox="1"/>
              <p:nvPr/>
            </p:nvSpPr>
            <p:spPr>
              <a:xfrm>
                <a:off x="56755" y="76183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27</a:t>
                </a:r>
              </a:p>
            </p:txBody>
          </p:sp>
        </p:grpSp>
        <p:grpSp>
          <p:nvGrpSpPr>
            <p:cNvPr id="307" name="Group 347"/>
            <p:cNvGrpSpPr/>
            <p:nvPr/>
          </p:nvGrpSpPr>
          <p:grpSpPr>
            <a:xfrm>
              <a:off x="4012635" y="2032000"/>
              <a:ext cx="623303" cy="626673"/>
              <a:chOff x="0" y="0"/>
              <a:chExt cx="623302" cy="626671"/>
            </a:xfrm>
          </p:grpSpPr>
          <p:sp>
            <p:nvSpPr>
              <p:cNvPr id="305" name="Shape 345"/>
              <p:cNvSpPr/>
              <p:nvPr/>
            </p:nvSpPr>
            <p:spPr>
              <a:xfrm>
                <a:off x="-1" y="0"/>
                <a:ext cx="623304" cy="626672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06" name="Shape 346"/>
              <p:cNvSpPr txBox="1"/>
              <p:nvPr/>
            </p:nvSpPr>
            <p:spPr>
              <a:xfrm>
                <a:off x="58936" y="75088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38</a:t>
                </a:r>
              </a:p>
            </p:txBody>
          </p:sp>
        </p:grpSp>
        <p:grpSp>
          <p:nvGrpSpPr>
            <p:cNvPr id="310" name="Group 350"/>
            <p:cNvGrpSpPr/>
            <p:nvPr/>
          </p:nvGrpSpPr>
          <p:grpSpPr>
            <a:xfrm>
              <a:off x="1340351" y="1071597"/>
              <a:ext cx="624483" cy="623295"/>
              <a:chOff x="0" y="0"/>
              <a:chExt cx="624481" cy="623294"/>
            </a:xfrm>
          </p:grpSpPr>
          <p:sp>
            <p:nvSpPr>
              <p:cNvPr id="308" name="Shape 348"/>
              <p:cNvSpPr/>
              <p:nvPr/>
            </p:nvSpPr>
            <p:spPr>
              <a:xfrm>
                <a:off x="0" y="0"/>
                <a:ext cx="624482" cy="62329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09" name="Shape 349"/>
              <p:cNvSpPr txBox="1"/>
              <p:nvPr/>
            </p:nvSpPr>
            <p:spPr>
              <a:xfrm>
                <a:off x="37379" y="61272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76</a:t>
                </a:r>
              </a:p>
            </p:txBody>
          </p:sp>
        </p:grpSp>
        <p:grpSp>
          <p:nvGrpSpPr>
            <p:cNvPr id="313" name="Group 353"/>
            <p:cNvGrpSpPr/>
            <p:nvPr/>
          </p:nvGrpSpPr>
          <p:grpSpPr>
            <a:xfrm>
              <a:off x="2384777" y="0"/>
              <a:ext cx="623303" cy="625407"/>
              <a:chOff x="0" y="0"/>
              <a:chExt cx="623302" cy="625405"/>
            </a:xfrm>
          </p:grpSpPr>
          <p:sp>
            <p:nvSpPr>
              <p:cNvPr id="311" name="Shape 351"/>
              <p:cNvSpPr/>
              <p:nvPr/>
            </p:nvSpPr>
            <p:spPr>
              <a:xfrm>
                <a:off x="-1" y="0"/>
                <a:ext cx="623304" cy="625406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12" name="Shape 352"/>
              <p:cNvSpPr txBox="1"/>
              <p:nvPr/>
            </p:nvSpPr>
            <p:spPr>
              <a:xfrm>
                <a:off x="58936" y="41700"/>
                <a:ext cx="527700" cy="4928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97</a:t>
                </a:r>
              </a:p>
            </p:txBody>
          </p:sp>
        </p:grpSp>
        <p:grpSp>
          <p:nvGrpSpPr>
            <p:cNvPr id="316" name="Group 356"/>
            <p:cNvGrpSpPr/>
            <p:nvPr/>
          </p:nvGrpSpPr>
          <p:grpSpPr>
            <a:xfrm>
              <a:off x="-1" y="3251200"/>
              <a:ext cx="623149" cy="620119"/>
              <a:chOff x="0" y="0"/>
              <a:chExt cx="623148" cy="620117"/>
            </a:xfrm>
          </p:grpSpPr>
          <p:sp>
            <p:nvSpPr>
              <p:cNvPr id="314" name="Shape 354"/>
              <p:cNvSpPr/>
              <p:nvPr/>
            </p:nvSpPr>
            <p:spPr>
              <a:xfrm>
                <a:off x="-1" y="0"/>
                <a:ext cx="623149" cy="620118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15" name="Shape 355"/>
              <p:cNvSpPr txBox="1"/>
              <p:nvPr/>
            </p:nvSpPr>
            <p:spPr>
              <a:xfrm>
                <a:off x="56754" y="75932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49</a:t>
                </a:r>
              </a:p>
            </p:txBody>
          </p:sp>
        </p:grpSp>
        <p:grpSp>
          <p:nvGrpSpPr>
            <p:cNvPr id="319" name="Group 359"/>
            <p:cNvGrpSpPr/>
            <p:nvPr/>
          </p:nvGrpSpPr>
          <p:grpSpPr>
            <a:xfrm>
              <a:off x="1333500" y="1066800"/>
              <a:ext cx="623301" cy="624625"/>
              <a:chOff x="0" y="0"/>
              <a:chExt cx="623299" cy="624623"/>
            </a:xfrm>
          </p:grpSpPr>
          <p:sp>
            <p:nvSpPr>
              <p:cNvPr id="317" name="Shape 357"/>
              <p:cNvSpPr/>
              <p:nvPr/>
            </p:nvSpPr>
            <p:spPr>
              <a:xfrm>
                <a:off x="0" y="0"/>
                <a:ext cx="623301" cy="62462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18" name="Shape 358"/>
              <p:cNvSpPr txBox="1"/>
              <p:nvPr/>
            </p:nvSpPr>
            <p:spPr>
              <a:xfrm>
                <a:off x="63451" y="82298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81</a:t>
                </a:r>
              </a:p>
            </p:txBody>
          </p:sp>
        </p:grpSp>
        <p:grpSp>
          <p:nvGrpSpPr>
            <p:cNvPr id="322" name="Group 362"/>
            <p:cNvGrpSpPr/>
            <p:nvPr/>
          </p:nvGrpSpPr>
          <p:grpSpPr>
            <a:xfrm>
              <a:off x="584200" y="2197100"/>
              <a:ext cx="624483" cy="623295"/>
              <a:chOff x="0" y="0"/>
              <a:chExt cx="624481" cy="623293"/>
            </a:xfrm>
          </p:grpSpPr>
          <p:sp>
            <p:nvSpPr>
              <p:cNvPr id="320" name="Shape 360"/>
              <p:cNvSpPr/>
              <p:nvPr/>
            </p:nvSpPr>
            <p:spPr>
              <a:xfrm>
                <a:off x="0" y="0"/>
                <a:ext cx="624482" cy="623294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21" name="Shape 361"/>
              <p:cNvSpPr txBox="1"/>
              <p:nvPr/>
            </p:nvSpPr>
            <p:spPr>
              <a:xfrm>
                <a:off x="37379" y="61273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76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6" name="Group 399"/>
          <p:cNvGrpSpPr/>
          <p:nvPr/>
        </p:nvGrpSpPr>
        <p:grpSpPr>
          <a:xfrm>
            <a:off x="1584960" y="2124567"/>
            <a:ext cx="4493131" cy="3753886"/>
            <a:chOff x="0" y="0"/>
            <a:chExt cx="4493129" cy="3753884"/>
          </a:xfrm>
        </p:grpSpPr>
        <p:sp>
          <p:nvSpPr>
            <p:cNvPr id="325" name="Shape 368"/>
            <p:cNvSpPr/>
            <p:nvPr/>
          </p:nvSpPr>
          <p:spPr>
            <a:xfrm>
              <a:off x="2800034" y="407709"/>
              <a:ext cx="621997" cy="623184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26" name="Shape 369"/>
            <p:cNvSpPr/>
            <p:nvPr/>
          </p:nvSpPr>
          <p:spPr>
            <a:xfrm flipH="1">
              <a:off x="1509656" y="443620"/>
              <a:ext cx="780132" cy="625297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27" name="Shape 370"/>
            <p:cNvSpPr/>
            <p:nvPr/>
          </p:nvSpPr>
          <p:spPr>
            <a:xfrm flipH="1">
              <a:off x="912962" y="1597036"/>
              <a:ext cx="383742" cy="623184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28" name="Shape 371"/>
            <p:cNvSpPr/>
            <p:nvPr/>
          </p:nvSpPr>
          <p:spPr>
            <a:xfrm>
              <a:off x="1612971" y="1499861"/>
              <a:ext cx="478622" cy="766833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29" name="Shape 372"/>
            <p:cNvSpPr/>
            <p:nvPr/>
          </p:nvSpPr>
          <p:spPr>
            <a:xfrm flipH="1">
              <a:off x="3017204" y="1597036"/>
              <a:ext cx="383742" cy="623184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30" name="Shape 373"/>
            <p:cNvSpPr/>
            <p:nvPr/>
          </p:nvSpPr>
          <p:spPr>
            <a:xfrm>
              <a:off x="3622332" y="1499861"/>
              <a:ext cx="573503" cy="766833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31" name="Shape 374"/>
            <p:cNvSpPr/>
            <p:nvPr/>
          </p:nvSpPr>
          <p:spPr>
            <a:xfrm flipH="1">
              <a:off x="274099" y="2651165"/>
              <a:ext cx="383742" cy="623184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334" name="Group 377"/>
            <p:cNvGrpSpPr/>
            <p:nvPr/>
          </p:nvGrpSpPr>
          <p:grpSpPr>
            <a:xfrm>
              <a:off x="2209665" y="0"/>
              <a:ext cx="624107" cy="625296"/>
              <a:chOff x="0" y="0"/>
              <a:chExt cx="624105" cy="625295"/>
            </a:xfrm>
          </p:grpSpPr>
          <p:sp>
            <p:nvSpPr>
              <p:cNvPr id="332" name="Shape 375"/>
              <p:cNvSpPr/>
              <p:nvPr/>
            </p:nvSpPr>
            <p:spPr>
              <a:xfrm>
                <a:off x="0" y="0"/>
                <a:ext cx="624107" cy="625297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33" name="Shape 376"/>
              <p:cNvSpPr txBox="1"/>
              <p:nvPr/>
            </p:nvSpPr>
            <p:spPr>
              <a:xfrm>
                <a:off x="59341" y="38024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97</a:t>
                </a:r>
              </a:p>
            </p:txBody>
          </p:sp>
        </p:grpSp>
        <p:grpSp>
          <p:nvGrpSpPr>
            <p:cNvPr id="337" name="Group 380"/>
            <p:cNvGrpSpPr/>
            <p:nvPr/>
          </p:nvGrpSpPr>
          <p:grpSpPr>
            <a:xfrm>
              <a:off x="1197604" y="1068915"/>
              <a:ext cx="624107" cy="623185"/>
              <a:chOff x="0" y="0"/>
              <a:chExt cx="624105" cy="623184"/>
            </a:xfrm>
          </p:grpSpPr>
          <p:sp>
            <p:nvSpPr>
              <p:cNvPr id="335" name="Shape 378"/>
              <p:cNvSpPr/>
              <p:nvPr/>
            </p:nvSpPr>
            <p:spPr>
              <a:xfrm>
                <a:off x="0" y="-1"/>
                <a:ext cx="624107" cy="62318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36" name="Shape 379"/>
              <p:cNvSpPr txBox="1"/>
              <p:nvPr/>
            </p:nvSpPr>
            <p:spPr>
              <a:xfrm>
                <a:off x="37203" y="61261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76</a:t>
                </a:r>
              </a:p>
            </p:txBody>
          </p:sp>
        </p:grpSp>
        <p:grpSp>
          <p:nvGrpSpPr>
            <p:cNvPr id="340" name="Group 383"/>
            <p:cNvGrpSpPr/>
            <p:nvPr/>
          </p:nvGrpSpPr>
          <p:grpSpPr>
            <a:xfrm>
              <a:off x="3187990" y="1054128"/>
              <a:ext cx="624107" cy="623185"/>
              <a:chOff x="0" y="0"/>
              <a:chExt cx="624105" cy="623184"/>
            </a:xfrm>
          </p:grpSpPr>
          <p:sp>
            <p:nvSpPr>
              <p:cNvPr id="338" name="Shape 381"/>
              <p:cNvSpPr/>
              <p:nvPr/>
            </p:nvSpPr>
            <p:spPr>
              <a:xfrm>
                <a:off x="0" y="-1"/>
                <a:ext cx="624107" cy="62318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39" name="Shape 382"/>
              <p:cNvSpPr txBox="1"/>
              <p:nvPr/>
            </p:nvSpPr>
            <p:spPr>
              <a:xfrm>
                <a:off x="75155" y="63374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65</a:t>
                </a:r>
              </a:p>
            </p:txBody>
          </p:sp>
        </p:grpSp>
        <p:grpSp>
          <p:nvGrpSpPr>
            <p:cNvPr id="343" name="Group 386"/>
            <p:cNvGrpSpPr/>
            <p:nvPr/>
          </p:nvGrpSpPr>
          <p:grpSpPr>
            <a:xfrm>
              <a:off x="499704" y="2074458"/>
              <a:ext cx="621999" cy="621073"/>
              <a:chOff x="0" y="0"/>
              <a:chExt cx="621998" cy="621072"/>
            </a:xfrm>
          </p:grpSpPr>
          <p:sp>
            <p:nvSpPr>
              <p:cNvPr id="341" name="Shape 384"/>
              <p:cNvSpPr/>
              <p:nvPr/>
            </p:nvSpPr>
            <p:spPr>
              <a:xfrm>
                <a:off x="-1" y="-1"/>
                <a:ext cx="622000" cy="621074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42" name="Shape 385"/>
              <p:cNvSpPr txBox="1"/>
              <p:nvPr/>
            </p:nvSpPr>
            <p:spPr>
              <a:xfrm>
                <a:off x="56179" y="76049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49</a:t>
                </a:r>
              </a:p>
            </p:txBody>
          </p:sp>
        </p:grpSp>
        <p:grpSp>
          <p:nvGrpSpPr>
            <p:cNvPr id="346" name="Group 389"/>
            <p:cNvGrpSpPr/>
            <p:nvPr/>
          </p:nvGrpSpPr>
          <p:grpSpPr>
            <a:xfrm>
              <a:off x="1853336" y="2074458"/>
              <a:ext cx="624107" cy="625297"/>
              <a:chOff x="0" y="0"/>
              <a:chExt cx="624105" cy="625295"/>
            </a:xfrm>
          </p:grpSpPr>
          <p:sp>
            <p:nvSpPr>
              <p:cNvPr id="344" name="Shape 387"/>
              <p:cNvSpPr/>
              <p:nvPr/>
            </p:nvSpPr>
            <p:spPr>
              <a:xfrm>
                <a:off x="0" y="0"/>
                <a:ext cx="624107" cy="625297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45" name="Shape 388"/>
              <p:cNvSpPr txBox="1"/>
              <p:nvPr/>
            </p:nvSpPr>
            <p:spPr>
              <a:xfrm>
                <a:off x="59341" y="82386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50</a:t>
                </a:r>
              </a:p>
            </p:txBody>
          </p:sp>
        </p:grpSp>
        <p:grpSp>
          <p:nvGrpSpPr>
            <p:cNvPr id="349" name="Group 392"/>
            <p:cNvGrpSpPr/>
            <p:nvPr/>
          </p:nvGrpSpPr>
          <p:grpSpPr>
            <a:xfrm>
              <a:off x="2774732" y="2053333"/>
              <a:ext cx="621999" cy="621073"/>
              <a:chOff x="0" y="0"/>
              <a:chExt cx="621997" cy="621072"/>
            </a:xfrm>
          </p:grpSpPr>
          <p:sp>
            <p:nvSpPr>
              <p:cNvPr id="347" name="Shape 390"/>
              <p:cNvSpPr/>
              <p:nvPr/>
            </p:nvSpPr>
            <p:spPr>
              <a:xfrm>
                <a:off x="0" y="-1"/>
                <a:ext cx="621998" cy="621074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48" name="Shape 391"/>
              <p:cNvSpPr txBox="1"/>
              <p:nvPr/>
            </p:nvSpPr>
            <p:spPr>
              <a:xfrm>
                <a:off x="57234" y="76049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27</a:t>
                </a:r>
              </a:p>
            </p:txBody>
          </p:sp>
        </p:grpSp>
        <p:grpSp>
          <p:nvGrpSpPr>
            <p:cNvPr id="352" name="Group 395"/>
            <p:cNvGrpSpPr/>
            <p:nvPr/>
          </p:nvGrpSpPr>
          <p:grpSpPr>
            <a:xfrm>
              <a:off x="3869023" y="2023758"/>
              <a:ext cx="624107" cy="625297"/>
              <a:chOff x="0" y="0"/>
              <a:chExt cx="624105" cy="625295"/>
            </a:xfrm>
          </p:grpSpPr>
          <p:sp>
            <p:nvSpPr>
              <p:cNvPr id="350" name="Shape 393"/>
              <p:cNvSpPr/>
              <p:nvPr/>
            </p:nvSpPr>
            <p:spPr>
              <a:xfrm>
                <a:off x="0" y="0"/>
                <a:ext cx="624107" cy="625297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51" name="Shape 394"/>
              <p:cNvSpPr txBox="1"/>
              <p:nvPr/>
            </p:nvSpPr>
            <p:spPr>
              <a:xfrm>
                <a:off x="59341" y="80274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38</a:t>
                </a:r>
              </a:p>
            </p:txBody>
          </p:sp>
        </p:grpSp>
        <p:grpSp>
          <p:nvGrpSpPr>
            <p:cNvPr id="355" name="Group 398"/>
            <p:cNvGrpSpPr/>
            <p:nvPr/>
          </p:nvGrpSpPr>
          <p:grpSpPr>
            <a:xfrm>
              <a:off x="0" y="3128586"/>
              <a:ext cx="624107" cy="625299"/>
              <a:chOff x="0" y="0"/>
              <a:chExt cx="624105" cy="625298"/>
            </a:xfrm>
          </p:grpSpPr>
          <p:sp>
            <p:nvSpPr>
              <p:cNvPr id="353" name="Shape 396"/>
              <p:cNvSpPr/>
              <p:nvPr/>
            </p:nvSpPr>
            <p:spPr>
              <a:xfrm>
                <a:off x="0" y="-1"/>
                <a:ext cx="624107" cy="625300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54" name="Shape 397"/>
              <p:cNvSpPr txBox="1"/>
              <p:nvPr/>
            </p:nvSpPr>
            <p:spPr>
              <a:xfrm>
                <a:off x="59342" y="82386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13</a:t>
                </a:r>
              </a:p>
            </p:txBody>
          </p:sp>
        </p:grpSp>
      </p:grpSp>
      <p:sp>
        <p:nvSpPr>
          <p:cNvPr id="357" name="Shape 400"/>
          <p:cNvSpPr/>
          <p:nvPr/>
        </p:nvSpPr>
        <p:spPr>
          <a:xfrm>
            <a:off x="6296941" y="3966914"/>
            <a:ext cx="1126634" cy="205460"/>
          </a:xfrm>
          <a:prstGeom prst="rightArrow">
            <a:avLst>
              <a:gd name="adj1" fmla="val 50000"/>
              <a:gd name="adj2" fmla="val 96390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58" name="Shape 401"/>
          <p:cNvSpPr txBox="1"/>
          <p:nvPr/>
        </p:nvSpPr>
        <p:spPr>
          <a:xfrm>
            <a:off x="274508" y="1391412"/>
            <a:ext cx="6237991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R="57798" defTabSz="1295400">
              <a:defRPr>
                <a:uFill>
                  <a:solidFill>
                    <a:srgbClr val="000000"/>
                  </a:solidFill>
                </a:uFill>
                <a:latin typeface="SimSun"/>
                <a:ea typeface="SimSun"/>
                <a:cs typeface="SimSun"/>
                <a:sym typeface="SimSun"/>
              </a:defRPr>
            </a:pP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97</a:t>
            </a:r>
            <a:r>
              <a:t>，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76</a:t>
            </a:r>
            <a:r>
              <a:t>，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65</a:t>
            </a:r>
            <a:r>
              <a:t>，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49</a:t>
            </a:r>
            <a:r>
              <a:t>，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50</a:t>
            </a:r>
            <a:r>
              <a:t>，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27</a:t>
            </a:r>
            <a:r>
              <a:t>，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38</a:t>
            </a:r>
            <a:r>
              <a:t>，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13</a:t>
            </a:r>
          </a:p>
        </p:txBody>
      </p:sp>
      <p:sp>
        <p:nvSpPr>
          <p:cNvPr id="359" name="Shape 402"/>
          <p:cNvSpPr/>
          <p:nvPr/>
        </p:nvSpPr>
        <p:spPr>
          <a:xfrm>
            <a:off x="9927449" y="2431625"/>
            <a:ext cx="623148" cy="623150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60" name="Shape 403"/>
          <p:cNvSpPr/>
          <p:nvPr/>
        </p:nvSpPr>
        <p:spPr>
          <a:xfrm flipH="1">
            <a:off x="8638257" y="2465492"/>
            <a:ext cx="778935" cy="625406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61" name="Shape 404"/>
          <p:cNvSpPr/>
          <p:nvPr/>
        </p:nvSpPr>
        <p:spPr>
          <a:xfrm flipH="1">
            <a:off x="8039947" y="3619217"/>
            <a:ext cx="383824" cy="623149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62" name="Shape 405"/>
          <p:cNvSpPr/>
          <p:nvPr/>
        </p:nvSpPr>
        <p:spPr>
          <a:xfrm>
            <a:off x="8739858" y="3517900"/>
            <a:ext cx="478648" cy="767646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63" name="Shape 406"/>
          <p:cNvSpPr/>
          <p:nvPr/>
        </p:nvSpPr>
        <p:spPr>
          <a:xfrm flipH="1">
            <a:off x="10144194" y="3619217"/>
            <a:ext cx="383824" cy="623149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64" name="Shape 407"/>
          <p:cNvSpPr/>
          <p:nvPr/>
        </p:nvSpPr>
        <p:spPr>
          <a:xfrm>
            <a:off x="10749280" y="3517900"/>
            <a:ext cx="573477" cy="767646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367" name="Group 411"/>
          <p:cNvGrpSpPr/>
          <p:nvPr/>
        </p:nvGrpSpPr>
        <p:grpSpPr>
          <a:xfrm>
            <a:off x="10315785" y="3077349"/>
            <a:ext cx="624339" cy="623439"/>
            <a:chOff x="0" y="0"/>
            <a:chExt cx="624337" cy="623438"/>
          </a:xfrm>
        </p:grpSpPr>
        <p:sp>
          <p:nvSpPr>
            <p:cNvPr id="365" name="Shape 409"/>
            <p:cNvSpPr/>
            <p:nvPr/>
          </p:nvSpPr>
          <p:spPr>
            <a:xfrm>
              <a:off x="0" y="0"/>
              <a:ext cx="624338" cy="623439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66" name="Shape 410"/>
            <p:cNvSpPr txBox="1"/>
            <p:nvPr/>
          </p:nvSpPr>
          <p:spPr>
            <a:xfrm>
              <a:off x="75278" y="63400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65</a:t>
              </a:r>
            </a:p>
          </p:txBody>
        </p:sp>
      </p:grpSp>
      <p:sp>
        <p:nvSpPr>
          <p:cNvPr id="368" name="Shape 412"/>
          <p:cNvSpPr/>
          <p:nvPr/>
        </p:nvSpPr>
        <p:spPr>
          <a:xfrm>
            <a:off x="7626773" y="4097866"/>
            <a:ext cx="623149" cy="620121"/>
          </a:xfrm>
          <a:prstGeom prst="ellipse">
            <a:avLst/>
          </a:prstGeom>
          <a:solidFill>
            <a:srgbClr val="990000"/>
          </a:solidFill>
          <a:ln w="12700" cap="sq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69" name="Shape 413"/>
          <p:cNvSpPr txBox="1"/>
          <p:nvPr/>
        </p:nvSpPr>
        <p:spPr>
          <a:xfrm>
            <a:off x="7683527" y="4173798"/>
            <a:ext cx="5277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algn="ctr" defTabSz="1295400">
              <a:defRPr sz="2800">
                <a:solidFill>
                  <a:srgbClr val="FEE8F7"/>
                </a:solidFill>
                <a:uFill>
                  <a:solidFill>
                    <a:srgbClr val="FEE8F7"/>
                  </a:solidFill>
                </a:uFill>
              </a:defRPr>
            </a:lvl1pPr>
          </a:lstStyle>
          <a:p>
            <a:pPr/>
            <a:r>
              <a:t>49</a:t>
            </a:r>
          </a:p>
        </p:txBody>
      </p:sp>
      <p:sp>
        <p:nvSpPr>
          <p:cNvPr id="370" name="Shape 415"/>
          <p:cNvSpPr/>
          <p:nvPr/>
        </p:nvSpPr>
        <p:spPr>
          <a:xfrm>
            <a:off x="8981440" y="4097866"/>
            <a:ext cx="623301" cy="624625"/>
          </a:xfrm>
          <a:prstGeom prst="ellipse">
            <a:avLst/>
          </a:prstGeom>
          <a:solidFill>
            <a:srgbClr val="990000"/>
          </a:solidFill>
          <a:ln w="12700" cap="sq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71" name="Shape 416"/>
          <p:cNvSpPr txBox="1"/>
          <p:nvPr/>
        </p:nvSpPr>
        <p:spPr>
          <a:xfrm>
            <a:off x="9040375" y="4180164"/>
            <a:ext cx="5277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algn="ctr" defTabSz="1295400">
              <a:defRPr sz="2800">
                <a:solidFill>
                  <a:srgbClr val="FEE8F7"/>
                </a:solidFill>
                <a:uFill>
                  <a:solidFill>
                    <a:srgbClr val="FEE8F7"/>
                  </a:solidFill>
                </a:uFill>
              </a:defRPr>
            </a:lvl1pPr>
          </a:lstStyle>
          <a:p>
            <a:pPr/>
            <a:r>
              <a:t>50</a:t>
            </a:r>
          </a:p>
        </p:txBody>
      </p:sp>
      <p:grpSp>
        <p:nvGrpSpPr>
          <p:cNvPr id="374" name="Group 420"/>
          <p:cNvGrpSpPr/>
          <p:nvPr/>
        </p:nvGrpSpPr>
        <p:grpSpPr>
          <a:xfrm>
            <a:off x="9902613" y="4075288"/>
            <a:ext cx="621045" cy="622167"/>
            <a:chOff x="0" y="0"/>
            <a:chExt cx="621044" cy="622165"/>
          </a:xfrm>
        </p:grpSpPr>
        <p:sp>
          <p:nvSpPr>
            <p:cNvPr id="372" name="Shape 418"/>
            <p:cNvSpPr/>
            <p:nvPr/>
          </p:nvSpPr>
          <p:spPr>
            <a:xfrm>
              <a:off x="-1" y="0"/>
              <a:ext cx="621046" cy="622166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73" name="Shape 419"/>
            <p:cNvSpPr txBox="1"/>
            <p:nvPr/>
          </p:nvSpPr>
          <p:spPr>
            <a:xfrm>
              <a:off x="56755" y="76183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27</a:t>
              </a:r>
            </a:p>
          </p:txBody>
        </p:sp>
      </p:grpSp>
      <p:grpSp>
        <p:nvGrpSpPr>
          <p:cNvPr id="377" name="Group 423"/>
          <p:cNvGrpSpPr/>
          <p:nvPr/>
        </p:nvGrpSpPr>
        <p:grpSpPr>
          <a:xfrm>
            <a:off x="10997634" y="4051300"/>
            <a:ext cx="623301" cy="626673"/>
            <a:chOff x="0" y="0"/>
            <a:chExt cx="623299" cy="626671"/>
          </a:xfrm>
        </p:grpSpPr>
        <p:sp>
          <p:nvSpPr>
            <p:cNvPr id="375" name="Shape 421"/>
            <p:cNvSpPr/>
            <p:nvPr/>
          </p:nvSpPr>
          <p:spPr>
            <a:xfrm>
              <a:off x="0" y="0"/>
              <a:ext cx="623301" cy="626673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76" name="Shape 422"/>
            <p:cNvSpPr txBox="1"/>
            <p:nvPr/>
          </p:nvSpPr>
          <p:spPr>
            <a:xfrm>
              <a:off x="58936" y="75088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38</a:t>
              </a:r>
            </a:p>
          </p:txBody>
        </p:sp>
      </p:grpSp>
      <p:sp>
        <p:nvSpPr>
          <p:cNvPr id="378" name="Shape 424"/>
          <p:cNvSpPr/>
          <p:nvPr/>
        </p:nvSpPr>
        <p:spPr>
          <a:xfrm>
            <a:off x="8325350" y="3090896"/>
            <a:ext cx="624483" cy="623296"/>
          </a:xfrm>
          <a:prstGeom prst="ellipse">
            <a:avLst/>
          </a:prstGeom>
          <a:solidFill>
            <a:srgbClr val="990000"/>
          </a:solidFill>
          <a:ln w="12700" cap="sq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79" name="Shape 425"/>
          <p:cNvSpPr txBox="1"/>
          <p:nvPr/>
        </p:nvSpPr>
        <p:spPr>
          <a:xfrm>
            <a:off x="8362729" y="3152169"/>
            <a:ext cx="5277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algn="ctr" defTabSz="1295400">
              <a:defRPr sz="2800">
                <a:solidFill>
                  <a:srgbClr val="FEE8F7"/>
                </a:solidFill>
                <a:uFill>
                  <a:solidFill>
                    <a:srgbClr val="FEE8F7"/>
                  </a:solidFill>
                </a:uFill>
              </a:defRPr>
            </a:lvl1pPr>
          </a:lstStyle>
          <a:p>
            <a:pPr/>
            <a:r>
              <a:t>76</a:t>
            </a:r>
          </a:p>
        </p:txBody>
      </p:sp>
      <p:sp>
        <p:nvSpPr>
          <p:cNvPr id="380" name="Shape 427"/>
          <p:cNvSpPr/>
          <p:nvPr/>
        </p:nvSpPr>
        <p:spPr>
          <a:xfrm>
            <a:off x="9364519" y="2030165"/>
            <a:ext cx="623301" cy="625407"/>
          </a:xfrm>
          <a:prstGeom prst="ellipse">
            <a:avLst/>
          </a:prstGeom>
          <a:solidFill>
            <a:srgbClr val="990000"/>
          </a:solidFill>
          <a:ln w="12700" cap="sq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81" name="Shape 428"/>
          <p:cNvSpPr txBox="1"/>
          <p:nvPr/>
        </p:nvSpPr>
        <p:spPr>
          <a:xfrm>
            <a:off x="9358169" y="2023815"/>
            <a:ext cx="5277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algn="ctr" defTabSz="1295400">
              <a:defRPr sz="2800">
                <a:solidFill>
                  <a:srgbClr val="FEE8F7"/>
                </a:solidFill>
                <a:uFill>
                  <a:solidFill>
                    <a:srgbClr val="FEE8F7"/>
                  </a:solidFill>
                </a:uFill>
              </a:defRPr>
            </a:lvl1pPr>
          </a:lstStyle>
          <a:p>
            <a:pPr/>
            <a:r>
              <a:t>97</a:t>
            </a:r>
          </a:p>
        </p:txBody>
      </p:sp>
      <p:sp>
        <p:nvSpPr>
          <p:cNvPr id="382" name="Shape 445"/>
          <p:cNvSpPr txBox="1"/>
          <p:nvPr>
            <p:ph type="title"/>
          </p:nvPr>
        </p:nvSpPr>
        <p:spPr>
          <a:xfrm>
            <a:off x="1643661" y="43180"/>
            <a:ext cx="9448801" cy="1003301"/>
          </a:xfrm>
          <a:prstGeom prst="rect">
            <a:avLst/>
          </a:prstGeom>
        </p:spPr>
        <p:txBody>
          <a:bodyPr/>
          <a:lstStyle/>
          <a:p>
            <a:pPr/>
            <a:r>
              <a:t>堆－大顶堆删除过程</a:t>
            </a:r>
          </a:p>
        </p:txBody>
      </p:sp>
      <p:sp>
        <p:nvSpPr>
          <p:cNvPr id="383" name="Shape 401"/>
          <p:cNvSpPr txBox="1"/>
          <p:nvPr/>
        </p:nvSpPr>
        <p:spPr>
          <a:xfrm>
            <a:off x="7305816" y="1391412"/>
            <a:ext cx="5515308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R="57798" defTabSz="1295400">
              <a:defRPr>
                <a:uFill>
                  <a:solidFill>
                    <a:srgbClr val="000000"/>
                  </a:solidFill>
                </a:uFill>
                <a:latin typeface="SimSun"/>
                <a:ea typeface="SimSun"/>
                <a:cs typeface="SimSun"/>
                <a:sym typeface="SimSun"/>
              </a:defRPr>
            </a:pPr>
            <a:r>
              <a:rPr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r>
            <a:r>
              <a:t>，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76</a:t>
            </a:r>
            <a:r>
              <a:t>，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65</a:t>
            </a:r>
            <a:r>
              <a:t>，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49</a:t>
            </a:r>
            <a:r>
              <a:t>，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50</a:t>
            </a:r>
            <a:r>
              <a:t>，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27</a:t>
            </a:r>
            <a:r>
              <a:t>，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38</a:t>
            </a:r>
          </a:p>
        </p:txBody>
      </p:sp>
      <p:sp>
        <p:nvSpPr>
          <p:cNvPr id="384" name="0"/>
          <p:cNvSpPr txBox="1"/>
          <p:nvPr/>
        </p:nvSpPr>
        <p:spPr>
          <a:xfrm>
            <a:off x="3893849" y="2717078"/>
            <a:ext cx="362600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0</a:t>
            </a:r>
          </a:p>
        </p:txBody>
      </p:sp>
      <p:sp>
        <p:nvSpPr>
          <p:cNvPr id="385" name="1"/>
          <p:cNvSpPr txBox="1"/>
          <p:nvPr/>
        </p:nvSpPr>
        <p:spPr>
          <a:xfrm>
            <a:off x="2843118" y="3786263"/>
            <a:ext cx="362600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1</a:t>
            </a:r>
          </a:p>
        </p:txBody>
      </p:sp>
      <p:sp>
        <p:nvSpPr>
          <p:cNvPr id="386" name="2"/>
          <p:cNvSpPr txBox="1"/>
          <p:nvPr/>
        </p:nvSpPr>
        <p:spPr>
          <a:xfrm>
            <a:off x="4964137" y="3786263"/>
            <a:ext cx="362600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2</a:t>
            </a:r>
          </a:p>
        </p:txBody>
      </p:sp>
      <p:sp>
        <p:nvSpPr>
          <p:cNvPr id="387" name="3"/>
          <p:cNvSpPr txBox="1"/>
          <p:nvPr/>
        </p:nvSpPr>
        <p:spPr>
          <a:xfrm>
            <a:off x="2215803" y="4821392"/>
            <a:ext cx="362600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3</a:t>
            </a:r>
          </a:p>
        </p:txBody>
      </p:sp>
      <p:sp>
        <p:nvSpPr>
          <p:cNvPr id="388" name="4"/>
          <p:cNvSpPr txBox="1"/>
          <p:nvPr/>
        </p:nvSpPr>
        <p:spPr>
          <a:xfrm>
            <a:off x="3577399" y="4821392"/>
            <a:ext cx="362600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4</a:t>
            </a:r>
          </a:p>
        </p:txBody>
      </p:sp>
      <p:sp>
        <p:nvSpPr>
          <p:cNvPr id="389" name="5"/>
          <p:cNvSpPr txBox="1"/>
          <p:nvPr/>
        </p:nvSpPr>
        <p:spPr>
          <a:xfrm>
            <a:off x="4467903" y="4821392"/>
            <a:ext cx="362600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5</a:t>
            </a:r>
          </a:p>
        </p:txBody>
      </p:sp>
      <p:sp>
        <p:nvSpPr>
          <p:cNvPr id="390" name="6"/>
          <p:cNvSpPr txBox="1"/>
          <p:nvPr/>
        </p:nvSpPr>
        <p:spPr>
          <a:xfrm>
            <a:off x="5604757" y="4821392"/>
            <a:ext cx="362600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6</a:t>
            </a:r>
          </a:p>
        </p:txBody>
      </p:sp>
      <p:sp>
        <p:nvSpPr>
          <p:cNvPr id="391" name="7"/>
          <p:cNvSpPr txBox="1"/>
          <p:nvPr/>
        </p:nvSpPr>
        <p:spPr>
          <a:xfrm>
            <a:off x="1670294" y="5907890"/>
            <a:ext cx="362600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7</a:t>
            </a:r>
          </a:p>
        </p:txBody>
      </p:sp>
      <p:sp>
        <p:nvSpPr>
          <p:cNvPr id="392" name="0"/>
          <p:cNvSpPr txBox="1"/>
          <p:nvPr/>
        </p:nvSpPr>
        <p:spPr>
          <a:xfrm>
            <a:off x="9488520" y="2677449"/>
            <a:ext cx="362600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0</a:t>
            </a:r>
          </a:p>
        </p:txBody>
      </p:sp>
      <p:sp>
        <p:nvSpPr>
          <p:cNvPr id="393" name="1"/>
          <p:cNvSpPr txBox="1"/>
          <p:nvPr/>
        </p:nvSpPr>
        <p:spPr>
          <a:xfrm>
            <a:off x="8386988" y="3772034"/>
            <a:ext cx="362600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1</a:t>
            </a:r>
          </a:p>
        </p:txBody>
      </p:sp>
      <p:sp>
        <p:nvSpPr>
          <p:cNvPr id="394" name="2"/>
          <p:cNvSpPr txBox="1"/>
          <p:nvPr/>
        </p:nvSpPr>
        <p:spPr>
          <a:xfrm>
            <a:off x="10469906" y="3695834"/>
            <a:ext cx="362600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2</a:t>
            </a:r>
          </a:p>
        </p:txBody>
      </p:sp>
      <p:sp>
        <p:nvSpPr>
          <p:cNvPr id="395" name="3"/>
          <p:cNvSpPr txBox="1"/>
          <p:nvPr/>
        </p:nvSpPr>
        <p:spPr>
          <a:xfrm>
            <a:off x="7785073" y="4756363"/>
            <a:ext cx="362600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3</a:t>
            </a:r>
          </a:p>
        </p:txBody>
      </p:sp>
      <p:sp>
        <p:nvSpPr>
          <p:cNvPr id="396" name="4"/>
          <p:cNvSpPr txBox="1"/>
          <p:nvPr/>
        </p:nvSpPr>
        <p:spPr>
          <a:xfrm>
            <a:off x="9121269" y="4756363"/>
            <a:ext cx="362600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4</a:t>
            </a:r>
          </a:p>
        </p:txBody>
      </p:sp>
      <p:sp>
        <p:nvSpPr>
          <p:cNvPr id="397" name="5"/>
          <p:cNvSpPr txBox="1"/>
          <p:nvPr/>
        </p:nvSpPr>
        <p:spPr>
          <a:xfrm>
            <a:off x="10024473" y="4756363"/>
            <a:ext cx="362600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5</a:t>
            </a:r>
          </a:p>
        </p:txBody>
      </p:sp>
      <p:sp>
        <p:nvSpPr>
          <p:cNvPr id="398" name="6"/>
          <p:cNvSpPr txBox="1"/>
          <p:nvPr/>
        </p:nvSpPr>
        <p:spPr>
          <a:xfrm>
            <a:off x="11199426" y="4756363"/>
            <a:ext cx="362600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6</a:t>
            </a:r>
          </a:p>
        </p:txBody>
      </p:sp>
      <p:grpSp>
        <p:nvGrpSpPr>
          <p:cNvPr id="404" name="成组"/>
          <p:cNvGrpSpPr/>
          <p:nvPr/>
        </p:nvGrpSpPr>
        <p:grpSpPr>
          <a:xfrm>
            <a:off x="7112000" y="4673599"/>
            <a:ext cx="672819" cy="1724578"/>
            <a:chOff x="0" y="0"/>
            <a:chExt cx="672818" cy="1724576"/>
          </a:xfrm>
        </p:grpSpPr>
        <p:grpSp>
          <p:nvGrpSpPr>
            <p:cNvPr id="401" name="Group 367"/>
            <p:cNvGrpSpPr/>
            <p:nvPr/>
          </p:nvGrpSpPr>
          <p:grpSpPr>
            <a:xfrm>
              <a:off x="0" y="596051"/>
              <a:ext cx="623300" cy="624625"/>
              <a:chOff x="0" y="0"/>
              <a:chExt cx="623299" cy="624623"/>
            </a:xfrm>
          </p:grpSpPr>
          <p:sp>
            <p:nvSpPr>
              <p:cNvPr id="399" name="Shape 365"/>
              <p:cNvSpPr/>
              <p:nvPr/>
            </p:nvSpPr>
            <p:spPr>
              <a:xfrm>
                <a:off x="0" y="0"/>
                <a:ext cx="623300" cy="62462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00" name="Shape 366"/>
              <p:cNvSpPr txBox="1"/>
              <p:nvPr/>
            </p:nvSpPr>
            <p:spPr>
              <a:xfrm>
                <a:off x="25351" y="69598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13</a:t>
                </a:r>
              </a:p>
            </p:txBody>
          </p:sp>
        </p:grpSp>
        <p:sp>
          <p:nvSpPr>
            <p:cNvPr id="402" name="Shape 408"/>
            <p:cNvSpPr/>
            <p:nvPr/>
          </p:nvSpPr>
          <p:spPr>
            <a:xfrm flipH="1">
              <a:off x="288995" y="-1"/>
              <a:ext cx="383824" cy="623148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03" name="7"/>
            <p:cNvSpPr txBox="1"/>
            <p:nvPr/>
          </p:nvSpPr>
          <p:spPr>
            <a:xfrm>
              <a:off x="140264" y="1207361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/>
              <a:r>
                <a:t>7</a:t>
              </a:r>
            </a:p>
          </p:txBody>
        </p:sp>
      </p:grpSp>
      <p:grpSp>
        <p:nvGrpSpPr>
          <p:cNvPr id="407" name="Group 423"/>
          <p:cNvGrpSpPr/>
          <p:nvPr/>
        </p:nvGrpSpPr>
        <p:grpSpPr>
          <a:xfrm>
            <a:off x="9358169" y="2023815"/>
            <a:ext cx="623301" cy="626673"/>
            <a:chOff x="0" y="0"/>
            <a:chExt cx="623299" cy="626671"/>
          </a:xfrm>
        </p:grpSpPr>
        <p:sp>
          <p:nvSpPr>
            <p:cNvPr id="405" name="Shape 421"/>
            <p:cNvSpPr/>
            <p:nvPr/>
          </p:nvSpPr>
          <p:spPr>
            <a:xfrm>
              <a:off x="0" y="0"/>
              <a:ext cx="623301" cy="626673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06" name="Shape 422"/>
            <p:cNvSpPr txBox="1"/>
            <p:nvPr/>
          </p:nvSpPr>
          <p:spPr>
            <a:xfrm>
              <a:off x="58936" y="75088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13</a:t>
              </a:r>
            </a:p>
          </p:txBody>
        </p:sp>
      </p:grpSp>
      <p:grpSp>
        <p:nvGrpSpPr>
          <p:cNvPr id="410" name="Group 423"/>
          <p:cNvGrpSpPr/>
          <p:nvPr/>
        </p:nvGrpSpPr>
        <p:grpSpPr>
          <a:xfrm>
            <a:off x="8325821" y="3089207"/>
            <a:ext cx="623301" cy="626673"/>
            <a:chOff x="0" y="0"/>
            <a:chExt cx="623299" cy="626671"/>
          </a:xfrm>
        </p:grpSpPr>
        <p:sp>
          <p:nvSpPr>
            <p:cNvPr id="408" name="Shape 421"/>
            <p:cNvSpPr/>
            <p:nvPr/>
          </p:nvSpPr>
          <p:spPr>
            <a:xfrm>
              <a:off x="0" y="0"/>
              <a:ext cx="623301" cy="626673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09" name="Shape 422"/>
            <p:cNvSpPr txBox="1"/>
            <p:nvPr/>
          </p:nvSpPr>
          <p:spPr>
            <a:xfrm>
              <a:off x="58936" y="75088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13</a:t>
              </a:r>
            </a:p>
          </p:txBody>
        </p:sp>
      </p:grpSp>
      <p:grpSp>
        <p:nvGrpSpPr>
          <p:cNvPr id="413" name="Group 423"/>
          <p:cNvGrpSpPr/>
          <p:nvPr/>
        </p:nvGrpSpPr>
        <p:grpSpPr>
          <a:xfrm>
            <a:off x="8981440" y="4100236"/>
            <a:ext cx="623301" cy="626673"/>
            <a:chOff x="0" y="0"/>
            <a:chExt cx="623299" cy="626671"/>
          </a:xfrm>
        </p:grpSpPr>
        <p:sp>
          <p:nvSpPr>
            <p:cNvPr id="411" name="Shape 421"/>
            <p:cNvSpPr/>
            <p:nvPr/>
          </p:nvSpPr>
          <p:spPr>
            <a:xfrm>
              <a:off x="0" y="0"/>
              <a:ext cx="623301" cy="626673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12" name="Shape 422"/>
            <p:cNvSpPr txBox="1"/>
            <p:nvPr/>
          </p:nvSpPr>
          <p:spPr>
            <a:xfrm>
              <a:off x="58936" y="75088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13</a:t>
              </a:r>
            </a:p>
          </p:txBody>
        </p:sp>
      </p:grpSp>
      <p:grpSp>
        <p:nvGrpSpPr>
          <p:cNvPr id="416" name="Group 423"/>
          <p:cNvGrpSpPr/>
          <p:nvPr/>
        </p:nvGrpSpPr>
        <p:grpSpPr>
          <a:xfrm>
            <a:off x="8321629" y="3084547"/>
            <a:ext cx="623301" cy="626672"/>
            <a:chOff x="0" y="0"/>
            <a:chExt cx="623299" cy="626671"/>
          </a:xfrm>
        </p:grpSpPr>
        <p:sp>
          <p:nvSpPr>
            <p:cNvPr id="414" name="Shape 421"/>
            <p:cNvSpPr/>
            <p:nvPr/>
          </p:nvSpPr>
          <p:spPr>
            <a:xfrm>
              <a:off x="0" y="0"/>
              <a:ext cx="623301" cy="626673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15" name="Shape 422"/>
            <p:cNvSpPr txBox="1"/>
            <p:nvPr/>
          </p:nvSpPr>
          <p:spPr>
            <a:xfrm>
              <a:off x="58936" y="75088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50</a:t>
              </a:r>
            </a:p>
          </p:txBody>
        </p:sp>
      </p:grpSp>
      <p:grpSp>
        <p:nvGrpSpPr>
          <p:cNvPr id="419" name="Group 423"/>
          <p:cNvGrpSpPr/>
          <p:nvPr/>
        </p:nvGrpSpPr>
        <p:grpSpPr>
          <a:xfrm>
            <a:off x="9358169" y="2023815"/>
            <a:ext cx="623301" cy="626673"/>
            <a:chOff x="0" y="0"/>
            <a:chExt cx="623299" cy="626671"/>
          </a:xfrm>
        </p:grpSpPr>
        <p:sp>
          <p:nvSpPr>
            <p:cNvPr id="417" name="Shape 421"/>
            <p:cNvSpPr/>
            <p:nvPr/>
          </p:nvSpPr>
          <p:spPr>
            <a:xfrm>
              <a:off x="0" y="0"/>
              <a:ext cx="623301" cy="626673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18" name="Shape 422"/>
            <p:cNvSpPr txBox="1"/>
            <p:nvPr/>
          </p:nvSpPr>
          <p:spPr>
            <a:xfrm>
              <a:off x="58936" y="75088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76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xit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Class="entr" nodeType="after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after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419" grpId="3"/>
      <p:bldP build="whole" bldLvl="1" animBg="1" rev="0" advAuto="0" spid="404" grpId="2"/>
      <p:bldP build="whole" bldLvl="1" animBg="1" rev="0" advAuto="0" spid="407" grpId="1"/>
      <p:bldP build="whole" bldLvl="1" animBg="1" rev="0" advAuto="0" spid="410" grpId="4"/>
      <p:bldP build="whole" bldLvl="1" animBg="1" rev="0" advAuto="0" spid="416" grpId="6"/>
      <p:bldP build="whole" bldLvl="1" animBg="1" rev="0" advAuto="0" spid="413" grpId="5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2" name="Group 399"/>
          <p:cNvGrpSpPr/>
          <p:nvPr/>
        </p:nvGrpSpPr>
        <p:grpSpPr>
          <a:xfrm>
            <a:off x="1584960" y="2124567"/>
            <a:ext cx="4493131" cy="3753886"/>
            <a:chOff x="0" y="0"/>
            <a:chExt cx="4493129" cy="3753884"/>
          </a:xfrm>
        </p:grpSpPr>
        <p:sp>
          <p:nvSpPr>
            <p:cNvPr id="421" name="Shape 368"/>
            <p:cNvSpPr/>
            <p:nvPr/>
          </p:nvSpPr>
          <p:spPr>
            <a:xfrm>
              <a:off x="2800034" y="407709"/>
              <a:ext cx="621997" cy="623184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22" name="Shape 369"/>
            <p:cNvSpPr/>
            <p:nvPr/>
          </p:nvSpPr>
          <p:spPr>
            <a:xfrm flipH="1">
              <a:off x="1509656" y="443620"/>
              <a:ext cx="780132" cy="625297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23" name="Shape 370"/>
            <p:cNvSpPr/>
            <p:nvPr/>
          </p:nvSpPr>
          <p:spPr>
            <a:xfrm flipH="1">
              <a:off x="912962" y="1597036"/>
              <a:ext cx="383742" cy="623184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24" name="Shape 371"/>
            <p:cNvSpPr/>
            <p:nvPr/>
          </p:nvSpPr>
          <p:spPr>
            <a:xfrm>
              <a:off x="1612971" y="1499861"/>
              <a:ext cx="478622" cy="766833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25" name="Shape 372"/>
            <p:cNvSpPr/>
            <p:nvPr/>
          </p:nvSpPr>
          <p:spPr>
            <a:xfrm flipH="1">
              <a:off x="3017204" y="1597036"/>
              <a:ext cx="383742" cy="623184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26" name="Shape 373"/>
            <p:cNvSpPr/>
            <p:nvPr/>
          </p:nvSpPr>
          <p:spPr>
            <a:xfrm>
              <a:off x="3622332" y="1499861"/>
              <a:ext cx="573503" cy="766833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27" name="Shape 374"/>
            <p:cNvSpPr/>
            <p:nvPr/>
          </p:nvSpPr>
          <p:spPr>
            <a:xfrm flipH="1">
              <a:off x="274099" y="2651165"/>
              <a:ext cx="383742" cy="623184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430" name="Group 377"/>
            <p:cNvGrpSpPr/>
            <p:nvPr/>
          </p:nvGrpSpPr>
          <p:grpSpPr>
            <a:xfrm>
              <a:off x="2209665" y="0"/>
              <a:ext cx="624107" cy="625296"/>
              <a:chOff x="0" y="0"/>
              <a:chExt cx="624105" cy="625295"/>
            </a:xfrm>
          </p:grpSpPr>
          <p:sp>
            <p:nvSpPr>
              <p:cNvPr id="428" name="Shape 375"/>
              <p:cNvSpPr/>
              <p:nvPr/>
            </p:nvSpPr>
            <p:spPr>
              <a:xfrm>
                <a:off x="0" y="0"/>
                <a:ext cx="624107" cy="625297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29" name="Shape 376"/>
              <p:cNvSpPr txBox="1"/>
              <p:nvPr/>
            </p:nvSpPr>
            <p:spPr>
              <a:xfrm>
                <a:off x="59341" y="38024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97</a:t>
                </a:r>
              </a:p>
            </p:txBody>
          </p:sp>
        </p:grpSp>
        <p:grpSp>
          <p:nvGrpSpPr>
            <p:cNvPr id="433" name="Group 380"/>
            <p:cNvGrpSpPr/>
            <p:nvPr/>
          </p:nvGrpSpPr>
          <p:grpSpPr>
            <a:xfrm>
              <a:off x="1197604" y="1068915"/>
              <a:ext cx="624107" cy="623185"/>
              <a:chOff x="0" y="0"/>
              <a:chExt cx="624105" cy="623184"/>
            </a:xfrm>
          </p:grpSpPr>
          <p:sp>
            <p:nvSpPr>
              <p:cNvPr id="431" name="Shape 378"/>
              <p:cNvSpPr/>
              <p:nvPr/>
            </p:nvSpPr>
            <p:spPr>
              <a:xfrm>
                <a:off x="0" y="-1"/>
                <a:ext cx="624107" cy="62318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32" name="Shape 379"/>
              <p:cNvSpPr txBox="1"/>
              <p:nvPr/>
            </p:nvSpPr>
            <p:spPr>
              <a:xfrm>
                <a:off x="37203" y="61261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76</a:t>
                </a:r>
              </a:p>
            </p:txBody>
          </p:sp>
        </p:grpSp>
        <p:grpSp>
          <p:nvGrpSpPr>
            <p:cNvPr id="436" name="Group 383"/>
            <p:cNvGrpSpPr/>
            <p:nvPr/>
          </p:nvGrpSpPr>
          <p:grpSpPr>
            <a:xfrm>
              <a:off x="3187990" y="1054128"/>
              <a:ext cx="624107" cy="623185"/>
              <a:chOff x="0" y="0"/>
              <a:chExt cx="624105" cy="623184"/>
            </a:xfrm>
          </p:grpSpPr>
          <p:sp>
            <p:nvSpPr>
              <p:cNvPr id="434" name="Shape 381"/>
              <p:cNvSpPr/>
              <p:nvPr/>
            </p:nvSpPr>
            <p:spPr>
              <a:xfrm>
                <a:off x="0" y="-1"/>
                <a:ext cx="624107" cy="62318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35" name="Shape 382"/>
              <p:cNvSpPr txBox="1"/>
              <p:nvPr/>
            </p:nvSpPr>
            <p:spPr>
              <a:xfrm>
                <a:off x="75155" y="63374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65</a:t>
                </a:r>
              </a:p>
            </p:txBody>
          </p:sp>
        </p:grpSp>
        <p:grpSp>
          <p:nvGrpSpPr>
            <p:cNvPr id="439" name="Group 386"/>
            <p:cNvGrpSpPr/>
            <p:nvPr/>
          </p:nvGrpSpPr>
          <p:grpSpPr>
            <a:xfrm>
              <a:off x="499704" y="2074458"/>
              <a:ext cx="621999" cy="621073"/>
              <a:chOff x="0" y="0"/>
              <a:chExt cx="621998" cy="621072"/>
            </a:xfrm>
          </p:grpSpPr>
          <p:sp>
            <p:nvSpPr>
              <p:cNvPr id="437" name="Shape 384"/>
              <p:cNvSpPr/>
              <p:nvPr/>
            </p:nvSpPr>
            <p:spPr>
              <a:xfrm>
                <a:off x="-1" y="-1"/>
                <a:ext cx="622000" cy="621074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38" name="Shape 385"/>
              <p:cNvSpPr txBox="1"/>
              <p:nvPr/>
            </p:nvSpPr>
            <p:spPr>
              <a:xfrm>
                <a:off x="56179" y="76049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49</a:t>
                </a:r>
              </a:p>
            </p:txBody>
          </p:sp>
        </p:grpSp>
        <p:grpSp>
          <p:nvGrpSpPr>
            <p:cNvPr id="442" name="Group 389"/>
            <p:cNvGrpSpPr/>
            <p:nvPr/>
          </p:nvGrpSpPr>
          <p:grpSpPr>
            <a:xfrm>
              <a:off x="1853336" y="2074458"/>
              <a:ext cx="624107" cy="625297"/>
              <a:chOff x="0" y="0"/>
              <a:chExt cx="624105" cy="625295"/>
            </a:xfrm>
          </p:grpSpPr>
          <p:sp>
            <p:nvSpPr>
              <p:cNvPr id="440" name="Shape 387"/>
              <p:cNvSpPr/>
              <p:nvPr/>
            </p:nvSpPr>
            <p:spPr>
              <a:xfrm>
                <a:off x="0" y="0"/>
                <a:ext cx="624107" cy="625297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41" name="Shape 388"/>
              <p:cNvSpPr txBox="1"/>
              <p:nvPr/>
            </p:nvSpPr>
            <p:spPr>
              <a:xfrm>
                <a:off x="59341" y="82386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50</a:t>
                </a:r>
              </a:p>
            </p:txBody>
          </p:sp>
        </p:grpSp>
        <p:grpSp>
          <p:nvGrpSpPr>
            <p:cNvPr id="445" name="Group 392"/>
            <p:cNvGrpSpPr/>
            <p:nvPr/>
          </p:nvGrpSpPr>
          <p:grpSpPr>
            <a:xfrm>
              <a:off x="2774732" y="2053333"/>
              <a:ext cx="621999" cy="621073"/>
              <a:chOff x="0" y="0"/>
              <a:chExt cx="621997" cy="621072"/>
            </a:xfrm>
          </p:grpSpPr>
          <p:sp>
            <p:nvSpPr>
              <p:cNvPr id="443" name="Shape 390"/>
              <p:cNvSpPr/>
              <p:nvPr/>
            </p:nvSpPr>
            <p:spPr>
              <a:xfrm>
                <a:off x="0" y="-1"/>
                <a:ext cx="621998" cy="621074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44" name="Shape 391"/>
              <p:cNvSpPr txBox="1"/>
              <p:nvPr/>
            </p:nvSpPr>
            <p:spPr>
              <a:xfrm>
                <a:off x="57234" y="76049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27</a:t>
                </a:r>
              </a:p>
            </p:txBody>
          </p:sp>
        </p:grpSp>
        <p:grpSp>
          <p:nvGrpSpPr>
            <p:cNvPr id="448" name="Group 395"/>
            <p:cNvGrpSpPr/>
            <p:nvPr/>
          </p:nvGrpSpPr>
          <p:grpSpPr>
            <a:xfrm>
              <a:off x="3869023" y="2023758"/>
              <a:ext cx="624107" cy="625297"/>
              <a:chOff x="0" y="0"/>
              <a:chExt cx="624105" cy="625295"/>
            </a:xfrm>
          </p:grpSpPr>
          <p:sp>
            <p:nvSpPr>
              <p:cNvPr id="446" name="Shape 393"/>
              <p:cNvSpPr/>
              <p:nvPr/>
            </p:nvSpPr>
            <p:spPr>
              <a:xfrm>
                <a:off x="0" y="0"/>
                <a:ext cx="624107" cy="625297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47" name="Shape 394"/>
              <p:cNvSpPr txBox="1"/>
              <p:nvPr/>
            </p:nvSpPr>
            <p:spPr>
              <a:xfrm>
                <a:off x="59341" y="80274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38</a:t>
                </a:r>
              </a:p>
            </p:txBody>
          </p:sp>
        </p:grpSp>
        <p:grpSp>
          <p:nvGrpSpPr>
            <p:cNvPr id="451" name="Group 398"/>
            <p:cNvGrpSpPr/>
            <p:nvPr/>
          </p:nvGrpSpPr>
          <p:grpSpPr>
            <a:xfrm>
              <a:off x="0" y="3128586"/>
              <a:ext cx="624107" cy="625299"/>
              <a:chOff x="0" y="0"/>
              <a:chExt cx="624105" cy="625298"/>
            </a:xfrm>
          </p:grpSpPr>
          <p:sp>
            <p:nvSpPr>
              <p:cNvPr id="449" name="Shape 396"/>
              <p:cNvSpPr/>
              <p:nvPr/>
            </p:nvSpPr>
            <p:spPr>
              <a:xfrm>
                <a:off x="0" y="-1"/>
                <a:ext cx="624107" cy="625300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50" name="Shape 397"/>
              <p:cNvSpPr txBox="1"/>
              <p:nvPr/>
            </p:nvSpPr>
            <p:spPr>
              <a:xfrm>
                <a:off x="59342" y="82386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13</a:t>
                </a:r>
              </a:p>
            </p:txBody>
          </p:sp>
        </p:grpSp>
      </p:grpSp>
      <p:sp>
        <p:nvSpPr>
          <p:cNvPr id="453" name="Shape 400"/>
          <p:cNvSpPr/>
          <p:nvPr/>
        </p:nvSpPr>
        <p:spPr>
          <a:xfrm>
            <a:off x="6296941" y="3966914"/>
            <a:ext cx="1126634" cy="205460"/>
          </a:xfrm>
          <a:prstGeom prst="rightArrow">
            <a:avLst>
              <a:gd name="adj1" fmla="val 50000"/>
              <a:gd name="adj2" fmla="val 96390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454" name="Shape 401"/>
          <p:cNvSpPr txBox="1"/>
          <p:nvPr/>
        </p:nvSpPr>
        <p:spPr>
          <a:xfrm>
            <a:off x="274508" y="1391412"/>
            <a:ext cx="6237991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R="57798" defTabSz="1295400">
              <a:defRPr>
                <a:uFill>
                  <a:solidFill>
                    <a:srgbClr val="000000"/>
                  </a:solidFill>
                </a:uFill>
                <a:latin typeface="SimSun"/>
                <a:ea typeface="SimSun"/>
                <a:cs typeface="SimSun"/>
                <a:sym typeface="SimSun"/>
              </a:defRPr>
            </a:pP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97</a:t>
            </a:r>
            <a:r>
              <a:t>，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76</a:t>
            </a:r>
            <a:r>
              <a:t>，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65</a:t>
            </a:r>
            <a:r>
              <a:t>，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49</a:t>
            </a:r>
            <a:r>
              <a:t>，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50</a:t>
            </a:r>
            <a:r>
              <a:t>，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27</a:t>
            </a:r>
            <a:r>
              <a:t>，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38</a:t>
            </a:r>
            <a:r>
              <a:t>，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13</a:t>
            </a:r>
          </a:p>
        </p:txBody>
      </p:sp>
      <p:sp>
        <p:nvSpPr>
          <p:cNvPr id="455" name="Shape 402"/>
          <p:cNvSpPr/>
          <p:nvPr/>
        </p:nvSpPr>
        <p:spPr>
          <a:xfrm>
            <a:off x="9927449" y="2431625"/>
            <a:ext cx="623148" cy="623150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456" name="Shape 403"/>
          <p:cNvSpPr/>
          <p:nvPr/>
        </p:nvSpPr>
        <p:spPr>
          <a:xfrm flipH="1">
            <a:off x="8638257" y="2465492"/>
            <a:ext cx="778935" cy="625406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457" name="Shape 404"/>
          <p:cNvSpPr/>
          <p:nvPr/>
        </p:nvSpPr>
        <p:spPr>
          <a:xfrm flipH="1">
            <a:off x="8039947" y="3619217"/>
            <a:ext cx="383824" cy="623149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458" name="Shape 405"/>
          <p:cNvSpPr/>
          <p:nvPr/>
        </p:nvSpPr>
        <p:spPr>
          <a:xfrm>
            <a:off x="8739858" y="3517900"/>
            <a:ext cx="478648" cy="767646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459" name="Shape 406"/>
          <p:cNvSpPr/>
          <p:nvPr/>
        </p:nvSpPr>
        <p:spPr>
          <a:xfrm flipH="1">
            <a:off x="10144194" y="3619217"/>
            <a:ext cx="383824" cy="623149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460" name="Shape 407"/>
          <p:cNvSpPr/>
          <p:nvPr/>
        </p:nvSpPr>
        <p:spPr>
          <a:xfrm>
            <a:off x="10749280" y="3517900"/>
            <a:ext cx="573477" cy="767646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463" name="Group 411"/>
          <p:cNvGrpSpPr/>
          <p:nvPr/>
        </p:nvGrpSpPr>
        <p:grpSpPr>
          <a:xfrm>
            <a:off x="10315785" y="3077349"/>
            <a:ext cx="624339" cy="623439"/>
            <a:chOff x="0" y="0"/>
            <a:chExt cx="624337" cy="623438"/>
          </a:xfrm>
        </p:grpSpPr>
        <p:sp>
          <p:nvSpPr>
            <p:cNvPr id="461" name="Shape 409"/>
            <p:cNvSpPr/>
            <p:nvPr/>
          </p:nvSpPr>
          <p:spPr>
            <a:xfrm>
              <a:off x="0" y="0"/>
              <a:ext cx="624338" cy="623439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62" name="Shape 410"/>
            <p:cNvSpPr txBox="1"/>
            <p:nvPr/>
          </p:nvSpPr>
          <p:spPr>
            <a:xfrm>
              <a:off x="75278" y="63400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65</a:t>
              </a:r>
            </a:p>
          </p:txBody>
        </p:sp>
      </p:grpSp>
      <p:sp>
        <p:nvSpPr>
          <p:cNvPr id="464" name="Shape 412"/>
          <p:cNvSpPr/>
          <p:nvPr/>
        </p:nvSpPr>
        <p:spPr>
          <a:xfrm>
            <a:off x="7626773" y="4097866"/>
            <a:ext cx="623149" cy="620121"/>
          </a:xfrm>
          <a:prstGeom prst="ellipse">
            <a:avLst/>
          </a:prstGeom>
          <a:solidFill>
            <a:srgbClr val="990000"/>
          </a:solidFill>
          <a:ln w="12700" cap="sq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465" name="Shape 413"/>
          <p:cNvSpPr txBox="1"/>
          <p:nvPr/>
        </p:nvSpPr>
        <p:spPr>
          <a:xfrm>
            <a:off x="7683527" y="4173798"/>
            <a:ext cx="5277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algn="ctr" defTabSz="1295400">
              <a:defRPr sz="2800">
                <a:solidFill>
                  <a:srgbClr val="FEE8F7"/>
                </a:solidFill>
                <a:uFill>
                  <a:solidFill>
                    <a:srgbClr val="FEE8F7"/>
                  </a:solidFill>
                </a:uFill>
              </a:defRPr>
            </a:lvl1pPr>
          </a:lstStyle>
          <a:p>
            <a:pPr/>
            <a:r>
              <a:t>49</a:t>
            </a:r>
          </a:p>
        </p:txBody>
      </p:sp>
      <p:sp>
        <p:nvSpPr>
          <p:cNvPr id="466" name="Shape 415"/>
          <p:cNvSpPr/>
          <p:nvPr/>
        </p:nvSpPr>
        <p:spPr>
          <a:xfrm>
            <a:off x="8981440" y="4097866"/>
            <a:ext cx="623301" cy="624625"/>
          </a:xfrm>
          <a:prstGeom prst="ellipse">
            <a:avLst/>
          </a:prstGeom>
          <a:solidFill>
            <a:srgbClr val="990000"/>
          </a:solidFill>
          <a:ln w="12700" cap="sq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467" name="Shape 416"/>
          <p:cNvSpPr txBox="1"/>
          <p:nvPr/>
        </p:nvSpPr>
        <p:spPr>
          <a:xfrm>
            <a:off x="9040375" y="4180164"/>
            <a:ext cx="5277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algn="ctr" defTabSz="1295400">
              <a:defRPr sz="2800">
                <a:solidFill>
                  <a:srgbClr val="FEE8F7"/>
                </a:solidFill>
                <a:uFill>
                  <a:solidFill>
                    <a:srgbClr val="FEE8F7"/>
                  </a:solidFill>
                </a:uFill>
              </a:defRPr>
            </a:lvl1pPr>
          </a:lstStyle>
          <a:p>
            <a:pPr/>
            <a:r>
              <a:t>50</a:t>
            </a:r>
          </a:p>
        </p:txBody>
      </p:sp>
      <p:grpSp>
        <p:nvGrpSpPr>
          <p:cNvPr id="470" name="Group 420"/>
          <p:cNvGrpSpPr/>
          <p:nvPr/>
        </p:nvGrpSpPr>
        <p:grpSpPr>
          <a:xfrm>
            <a:off x="9902613" y="4075288"/>
            <a:ext cx="621045" cy="622167"/>
            <a:chOff x="0" y="0"/>
            <a:chExt cx="621044" cy="622165"/>
          </a:xfrm>
        </p:grpSpPr>
        <p:sp>
          <p:nvSpPr>
            <p:cNvPr id="468" name="Shape 418"/>
            <p:cNvSpPr/>
            <p:nvPr/>
          </p:nvSpPr>
          <p:spPr>
            <a:xfrm>
              <a:off x="-1" y="0"/>
              <a:ext cx="621046" cy="622166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69" name="Shape 419"/>
            <p:cNvSpPr txBox="1"/>
            <p:nvPr/>
          </p:nvSpPr>
          <p:spPr>
            <a:xfrm>
              <a:off x="56755" y="76183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27</a:t>
              </a:r>
            </a:p>
          </p:txBody>
        </p:sp>
      </p:grpSp>
      <p:grpSp>
        <p:nvGrpSpPr>
          <p:cNvPr id="473" name="Group 423"/>
          <p:cNvGrpSpPr/>
          <p:nvPr/>
        </p:nvGrpSpPr>
        <p:grpSpPr>
          <a:xfrm>
            <a:off x="10997634" y="4051300"/>
            <a:ext cx="623301" cy="626673"/>
            <a:chOff x="0" y="0"/>
            <a:chExt cx="623299" cy="626671"/>
          </a:xfrm>
        </p:grpSpPr>
        <p:sp>
          <p:nvSpPr>
            <p:cNvPr id="471" name="Shape 421"/>
            <p:cNvSpPr/>
            <p:nvPr/>
          </p:nvSpPr>
          <p:spPr>
            <a:xfrm>
              <a:off x="0" y="0"/>
              <a:ext cx="623301" cy="626673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72" name="Shape 422"/>
            <p:cNvSpPr txBox="1"/>
            <p:nvPr/>
          </p:nvSpPr>
          <p:spPr>
            <a:xfrm>
              <a:off x="58936" y="75088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38</a:t>
              </a:r>
            </a:p>
          </p:txBody>
        </p:sp>
      </p:grpSp>
      <p:sp>
        <p:nvSpPr>
          <p:cNvPr id="474" name="Shape 424"/>
          <p:cNvSpPr/>
          <p:nvPr/>
        </p:nvSpPr>
        <p:spPr>
          <a:xfrm>
            <a:off x="8325350" y="3090896"/>
            <a:ext cx="624483" cy="623296"/>
          </a:xfrm>
          <a:prstGeom prst="ellipse">
            <a:avLst/>
          </a:prstGeom>
          <a:solidFill>
            <a:srgbClr val="990000"/>
          </a:solidFill>
          <a:ln w="12700" cap="sq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475" name="Shape 425"/>
          <p:cNvSpPr txBox="1"/>
          <p:nvPr/>
        </p:nvSpPr>
        <p:spPr>
          <a:xfrm>
            <a:off x="8362729" y="3152169"/>
            <a:ext cx="5277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algn="ctr" defTabSz="1295400">
              <a:defRPr sz="2800">
                <a:solidFill>
                  <a:srgbClr val="FEE8F7"/>
                </a:solidFill>
                <a:uFill>
                  <a:solidFill>
                    <a:srgbClr val="FEE8F7"/>
                  </a:solidFill>
                </a:uFill>
              </a:defRPr>
            </a:lvl1pPr>
          </a:lstStyle>
          <a:p>
            <a:pPr/>
            <a:r>
              <a:t>76</a:t>
            </a:r>
          </a:p>
        </p:txBody>
      </p:sp>
      <p:sp>
        <p:nvSpPr>
          <p:cNvPr id="476" name="Shape 427"/>
          <p:cNvSpPr/>
          <p:nvPr/>
        </p:nvSpPr>
        <p:spPr>
          <a:xfrm>
            <a:off x="9364519" y="2030165"/>
            <a:ext cx="623301" cy="625407"/>
          </a:xfrm>
          <a:prstGeom prst="ellipse">
            <a:avLst/>
          </a:prstGeom>
          <a:solidFill>
            <a:srgbClr val="990000"/>
          </a:solidFill>
          <a:ln w="12700" cap="sq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477" name="Shape 428"/>
          <p:cNvSpPr txBox="1"/>
          <p:nvPr/>
        </p:nvSpPr>
        <p:spPr>
          <a:xfrm>
            <a:off x="9358169" y="2023815"/>
            <a:ext cx="527700" cy="492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algn="ctr" defTabSz="1295400">
              <a:defRPr sz="2800">
                <a:solidFill>
                  <a:srgbClr val="FEE8F7"/>
                </a:solidFill>
                <a:uFill>
                  <a:solidFill>
                    <a:srgbClr val="FEE8F7"/>
                  </a:solidFill>
                </a:uFill>
              </a:defRPr>
            </a:lvl1pPr>
          </a:lstStyle>
          <a:p>
            <a:pPr/>
            <a:r>
              <a:t>97</a:t>
            </a:r>
          </a:p>
        </p:txBody>
      </p:sp>
      <p:sp>
        <p:nvSpPr>
          <p:cNvPr id="478" name="Shape 445"/>
          <p:cNvSpPr txBox="1"/>
          <p:nvPr>
            <p:ph type="title"/>
          </p:nvPr>
        </p:nvSpPr>
        <p:spPr>
          <a:xfrm>
            <a:off x="1643661" y="43180"/>
            <a:ext cx="9448801" cy="1003301"/>
          </a:xfrm>
          <a:prstGeom prst="rect">
            <a:avLst/>
          </a:prstGeom>
        </p:spPr>
        <p:txBody>
          <a:bodyPr/>
          <a:lstStyle/>
          <a:p>
            <a:pPr/>
            <a:r>
              <a:t>堆－大顶堆删除过程</a:t>
            </a:r>
          </a:p>
        </p:txBody>
      </p:sp>
      <p:sp>
        <p:nvSpPr>
          <p:cNvPr id="479" name="Shape 401"/>
          <p:cNvSpPr txBox="1"/>
          <p:nvPr/>
        </p:nvSpPr>
        <p:spPr>
          <a:xfrm>
            <a:off x="7305816" y="1391412"/>
            <a:ext cx="5515308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R="57798" defTabSz="1295400">
              <a:defRPr>
                <a:uFill>
                  <a:solidFill>
                    <a:srgbClr val="000000"/>
                  </a:solidFill>
                </a:uFill>
                <a:latin typeface="SimSun"/>
                <a:ea typeface="SimSun"/>
                <a:cs typeface="SimSun"/>
                <a:sym typeface="SimSun"/>
              </a:defRPr>
            </a:pPr>
            <a:r>
              <a:rPr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r>
            <a:r>
              <a:t>，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76</a:t>
            </a:r>
            <a:r>
              <a:t>，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65</a:t>
            </a:r>
            <a:r>
              <a:t>，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49</a:t>
            </a:r>
            <a:r>
              <a:t>，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50</a:t>
            </a:r>
            <a:r>
              <a:t>，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27</a:t>
            </a:r>
            <a:r>
              <a:t>，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38</a:t>
            </a:r>
          </a:p>
        </p:txBody>
      </p:sp>
      <p:sp>
        <p:nvSpPr>
          <p:cNvPr id="480" name="0"/>
          <p:cNvSpPr txBox="1"/>
          <p:nvPr/>
        </p:nvSpPr>
        <p:spPr>
          <a:xfrm>
            <a:off x="3893849" y="2717078"/>
            <a:ext cx="362600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0</a:t>
            </a:r>
          </a:p>
        </p:txBody>
      </p:sp>
      <p:sp>
        <p:nvSpPr>
          <p:cNvPr id="481" name="1"/>
          <p:cNvSpPr txBox="1"/>
          <p:nvPr/>
        </p:nvSpPr>
        <p:spPr>
          <a:xfrm>
            <a:off x="2843118" y="3786263"/>
            <a:ext cx="362600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1</a:t>
            </a:r>
          </a:p>
        </p:txBody>
      </p:sp>
      <p:sp>
        <p:nvSpPr>
          <p:cNvPr id="482" name="2"/>
          <p:cNvSpPr txBox="1"/>
          <p:nvPr/>
        </p:nvSpPr>
        <p:spPr>
          <a:xfrm>
            <a:off x="4964137" y="3786263"/>
            <a:ext cx="362600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2</a:t>
            </a:r>
          </a:p>
        </p:txBody>
      </p:sp>
      <p:sp>
        <p:nvSpPr>
          <p:cNvPr id="483" name="3"/>
          <p:cNvSpPr txBox="1"/>
          <p:nvPr/>
        </p:nvSpPr>
        <p:spPr>
          <a:xfrm>
            <a:off x="2215803" y="4821392"/>
            <a:ext cx="362600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3</a:t>
            </a:r>
          </a:p>
        </p:txBody>
      </p:sp>
      <p:sp>
        <p:nvSpPr>
          <p:cNvPr id="484" name="4"/>
          <p:cNvSpPr txBox="1"/>
          <p:nvPr/>
        </p:nvSpPr>
        <p:spPr>
          <a:xfrm>
            <a:off x="3577399" y="4821392"/>
            <a:ext cx="362600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4</a:t>
            </a:r>
          </a:p>
        </p:txBody>
      </p:sp>
      <p:sp>
        <p:nvSpPr>
          <p:cNvPr id="485" name="5"/>
          <p:cNvSpPr txBox="1"/>
          <p:nvPr/>
        </p:nvSpPr>
        <p:spPr>
          <a:xfrm>
            <a:off x="4467903" y="4821392"/>
            <a:ext cx="362600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5</a:t>
            </a:r>
          </a:p>
        </p:txBody>
      </p:sp>
      <p:sp>
        <p:nvSpPr>
          <p:cNvPr id="486" name="6"/>
          <p:cNvSpPr txBox="1"/>
          <p:nvPr/>
        </p:nvSpPr>
        <p:spPr>
          <a:xfrm>
            <a:off x="5604757" y="4821392"/>
            <a:ext cx="362600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6</a:t>
            </a:r>
          </a:p>
        </p:txBody>
      </p:sp>
      <p:sp>
        <p:nvSpPr>
          <p:cNvPr id="487" name="7"/>
          <p:cNvSpPr txBox="1"/>
          <p:nvPr/>
        </p:nvSpPr>
        <p:spPr>
          <a:xfrm>
            <a:off x="1670294" y="5907890"/>
            <a:ext cx="362600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7</a:t>
            </a:r>
          </a:p>
        </p:txBody>
      </p:sp>
      <p:sp>
        <p:nvSpPr>
          <p:cNvPr id="488" name="0"/>
          <p:cNvSpPr txBox="1"/>
          <p:nvPr/>
        </p:nvSpPr>
        <p:spPr>
          <a:xfrm>
            <a:off x="9488520" y="2677449"/>
            <a:ext cx="362600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0</a:t>
            </a:r>
          </a:p>
        </p:txBody>
      </p:sp>
      <p:sp>
        <p:nvSpPr>
          <p:cNvPr id="489" name="1"/>
          <p:cNvSpPr txBox="1"/>
          <p:nvPr/>
        </p:nvSpPr>
        <p:spPr>
          <a:xfrm>
            <a:off x="8386988" y="3772034"/>
            <a:ext cx="362600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1</a:t>
            </a:r>
          </a:p>
        </p:txBody>
      </p:sp>
      <p:sp>
        <p:nvSpPr>
          <p:cNvPr id="490" name="2"/>
          <p:cNvSpPr txBox="1"/>
          <p:nvPr/>
        </p:nvSpPr>
        <p:spPr>
          <a:xfrm>
            <a:off x="10469906" y="3695834"/>
            <a:ext cx="362600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2</a:t>
            </a:r>
          </a:p>
        </p:txBody>
      </p:sp>
      <p:sp>
        <p:nvSpPr>
          <p:cNvPr id="491" name="3"/>
          <p:cNvSpPr txBox="1"/>
          <p:nvPr/>
        </p:nvSpPr>
        <p:spPr>
          <a:xfrm>
            <a:off x="7785073" y="4756363"/>
            <a:ext cx="362600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3</a:t>
            </a:r>
          </a:p>
        </p:txBody>
      </p:sp>
      <p:sp>
        <p:nvSpPr>
          <p:cNvPr id="492" name="4"/>
          <p:cNvSpPr txBox="1"/>
          <p:nvPr/>
        </p:nvSpPr>
        <p:spPr>
          <a:xfrm>
            <a:off x="9121269" y="4756363"/>
            <a:ext cx="362600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4</a:t>
            </a:r>
          </a:p>
        </p:txBody>
      </p:sp>
      <p:sp>
        <p:nvSpPr>
          <p:cNvPr id="493" name="5"/>
          <p:cNvSpPr txBox="1"/>
          <p:nvPr/>
        </p:nvSpPr>
        <p:spPr>
          <a:xfrm>
            <a:off x="10024473" y="4756363"/>
            <a:ext cx="362600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5</a:t>
            </a:r>
          </a:p>
        </p:txBody>
      </p:sp>
      <p:sp>
        <p:nvSpPr>
          <p:cNvPr id="494" name="6"/>
          <p:cNvSpPr txBox="1"/>
          <p:nvPr/>
        </p:nvSpPr>
        <p:spPr>
          <a:xfrm>
            <a:off x="11199426" y="4756363"/>
            <a:ext cx="362600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6</a:t>
            </a:r>
          </a:p>
        </p:txBody>
      </p:sp>
      <p:grpSp>
        <p:nvGrpSpPr>
          <p:cNvPr id="500" name="成组"/>
          <p:cNvGrpSpPr/>
          <p:nvPr/>
        </p:nvGrpSpPr>
        <p:grpSpPr>
          <a:xfrm>
            <a:off x="7112000" y="4673599"/>
            <a:ext cx="672819" cy="1724578"/>
            <a:chOff x="0" y="0"/>
            <a:chExt cx="672818" cy="1724576"/>
          </a:xfrm>
        </p:grpSpPr>
        <p:grpSp>
          <p:nvGrpSpPr>
            <p:cNvPr id="497" name="Group 367"/>
            <p:cNvGrpSpPr/>
            <p:nvPr/>
          </p:nvGrpSpPr>
          <p:grpSpPr>
            <a:xfrm>
              <a:off x="0" y="596051"/>
              <a:ext cx="623300" cy="624625"/>
              <a:chOff x="0" y="0"/>
              <a:chExt cx="623299" cy="624623"/>
            </a:xfrm>
          </p:grpSpPr>
          <p:sp>
            <p:nvSpPr>
              <p:cNvPr id="495" name="Shape 365"/>
              <p:cNvSpPr/>
              <p:nvPr/>
            </p:nvSpPr>
            <p:spPr>
              <a:xfrm>
                <a:off x="0" y="0"/>
                <a:ext cx="623300" cy="62462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96" name="Shape 366"/>
              <p:cNvSpPr txBox="1"/>
              <p:nvPr/>
            </p:nvSpPr>
            <p:spPr>
              <a:xfrm>
                <a:off x="25351" y="69598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13</a:t>
                </a:r>
              </a:p>
            </p:txBody>
          </p:sp>
        </p:grpSp>
        <p:sp>
          <p:nvSpPr>
            <p:cNvPr id="498" name="Shape 408"/>
            <p:cNvSpPr/>
            <p:nvPr/>
          </p:nvSpPr>
          <p:spPr>
            <a:xfrm flipH="1">
              <a:off x="288995" y="-1"/>
              <a:ext cx="383824" cy="623148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99" name="7"/>
            <p:cNvSpPr txBox="1"/>
            <p:nvPr/>
          </p:nvSpPr>
          <p:spPr>
            <a:xfrm>
              <a:off x="140264" y="1207361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/>
              <a:r>
                <a:t>7</a:t>
              </a:r>
            </a:p>
          </p:txBody>
        </p:sp>
      </p:grpSp>
      <p:grpSp>
        <p:nvGrpSpPr>
          <p:cNvPr id="503" name="Group 423"/>
          <p:cNvGrpSpPr/>
          <p:nvPr/>
        </p:nvGrpSpPr>
        <p:grpSpPr>
          <a:xfrm>
            <a:off x="9358169" y="2017613"/>
            <a:ext cx="623301" cy="626673"/>
            <a:chOff x="0" y="0"/>
            <a:chExt cx="623299" cy="626671"/>
          </a:xfrm>
        </p:grpSpPr>
        <p:sp>
          <p:nvSpPr>
            <p:cNvPr id="501" name="Shape 421"/>
            <p:cNvSpPr/>
            <p:nvPr/>
          </p:nvSpPr>
          <p:spPr>
            <a:xfrm>
              <a:off x="0" y="0"/>
              <a:ext cx="623301" cy="626673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02" name="Shape 422"/>
            <p:cNvSpPr txBox="1"/>
            <p:nvPr/>
          </p:nvSpPr>
          <p:spPr>
            <a:xfrm>
              <a:off x="58936" y="75088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13</a:t>
              </a:r>
            </a:p>
          </p:txBody>
        </p:sp>
      </p:grpSp>
      <p:grpSp>
        <p:nvGrpSpPr>
          <p:cNvPr id="506" name="Group 423"/>
          <p:cNvGrpSpPr/>
          <p:nvPr/>
        </p:nvGrpSpPr>
        <p:grpSpPr>
          <a:xfrm>
            <a:off x="8973315" y="4087875"/>
            <a:ext cx="623301" cy="626673"/>
            <a:chOff x="0" y="0"/>
            <a:chExt cx="623299" cy="626671"/>
          </a:xfrm>
        </p:grpSpPr>
        <p:sp>
          <p:nvSpPr>
            <p:cNvPr id="504" name="Shape 421"/>
            <p:cNvSpPr/>
            <p:nvPr/>
          </p:nvSpPr>
          <p:spPr>
            <a:xfrm>
              <a:off x="0" y="0"/>
              <a:ext cx="623301" cy="626673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05" name="Shape 422"/>
            <p:cNvSpPr txBox="1"/>
            <p:nvPr/>
          </p:nvSpPr>
          <p:spPr>
            <a:xfrm>
              <a:off x="58936" y="75088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13</a:t>
              </a:r>
            </a:p>
          </p:txBody>
        </p:sp>
      </p:grpSp>
      <p:grpSp>
        <p:nvGrpSpPr>
          <p:cNvPr id="509" name="Group 423"/>
          <p:cNvGrpSpPr/>
          <p:nvPr/>
        </p:nvGrpSpPr>
        <p:grpSpPr>
          <a:xfrm>
            <a:off x="8314929" y="3093869"/>
            <a:ext cx="623301" cy="626673"/>
            <a:chOff x="0" y="0"/>
            <a:chExt cx="623299" cy="626671"/>
          </a:xfrm>
        </p:grpSpPr>
        <p:sp>
          <p:nvSpPr>
            <p:cNvPr id="507" name="Shape 421"/>
            <p:cNvSpPr/>
            <p:nvPr/>
          </p:nvSpPr>
          <p:spPr>
            <a:xfrm>
              <a:off x="0" y="0"/>
              <a:ext cx="623301" cy="626673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08" name="Shape 422"/>
            <p:cNvSpPr txBox="1"/>
            <p:nvPr/>
          </p:nvSpPr>
          <p:spPr>
            <a:xfrm>
              <a:off x="58936" y="75088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50</a:t>
              </a:r>
            </a:p>
          </p:txBody>
        </p:sp>
      </p:grpSp>
      <p:grpSp>
        <p:nvGrpSpPr>
          <p:cNvPr id="512" name="Group 423"/>
          <p:cNvGrpSpPr/>
          <p:nvPr/>
        </p:nvGrpSpPr>
        <p:grpSpPr>
          <a:xfrm>
            <a:off x="9370869" y="2004913"/>
            <a:ext cx="623301" cy="626673"/>
            <a:chOff x="0" y="0"/>
            <a:chExt cx="623299" cy="626671"/>
          </a:xfrm>
        </p:grpSpPr>
        <p:sp>
          <p:nvSpPr>
            <p:cNvPr id="510" name="Shape 421"/>
            <p:cNvSpPr/>
            <p:nvPr/>
          </p:nvSpPr>
          <p:spPr>
            <a:xfrm>
              <a:off x="0" y="0"/>
              <a:ext cx="623301" cy="626673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11" name="Shape 422"/>
            <p:cNvSpPr txBox="1"/>
            <p:nvPr/>
          </p:nvSpPr>
          <p:spPr>
            <a:xfrm>
              <a:off x="58936" y="75088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76</a:t>
              </a:r>
            </a:p>
          </p:txBody>
        </p:sp>
      </p:grpSp>
      <p:sp>
        <p:nvSpPr>
          <p:cNvPr id="513" name="将13暂时保存，不存入1号结点…"/>
          <p:cNvSpPr txBox="1"/>
          <p:nvPr/>
        </p:nvSpPr>
        <p:spPr>
          <a:xfrm>
            <a:off x="6848273" y="6556242"/>
            <a:ext cx="5315600" cy="11845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将13暂时保存，不存入1号结点</a:t>
            </a:r>
          </a:p>
          <a:p>
            <a:pPr/>
            <a:r>
              <a:t>等确定了最终位置，再存入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xit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509" grpId="4"/>
      <p:bldP build="whole" bldLvl="1" animBg="1" rev="0" advAuto="0" spid="506" grpId="5"/>
      <p:bldP build="whole" bldLvl="1" animBg="1" rev="0" advAuto="0" spid="500" grpId="2"/>
      <p:bldP build="whole" bldLvl="1" animBg="1" rev="0" advAuto="0" spid="512" grpId="3"/>
      <p:bldP build="whole" bldLvl="1" animBg="1" rev="0" advAuto="0" spid="503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Shape 447"/>
          <p:cNvSpPr txBox="1"/>
          <p:nvPr/>
        </p:nvSpPr>
        <p:spPr>
          <a:xfrm>
            <a:off x="242427" y="1490132"/>
            <a:ext cx="12622358" cy="279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lvl="1">
              <a:lnSpc>
                <a:spcPct val="150000"/>
              </a:lnSpc>
              <a:defRPr sz="2700"/>
            </a:pPr>
            <a:r>
              <a:t>1.将最后一个结点的数据复制到根结点，删除最后一个结点，令根结点为当前结点</a:t>
            </a:r>
          </a:p>
          <a:p>
            <a:pPr lvl="1">
              <a:lnSpc>
                <a:spcPct val="150000"/>
              </a:lnSpc>
              <a:defRPr sz="2700"/>
            </a:pPr>
            <a:r>
              <a:t>2.然后将当前结点与左、右孩子进行比较，若当前结点大，则结束。</a:t>
            </a:r>
          </a:p>
          <a:p>
            <a:pPr lvl="1">
              <a:lnSpc>
                <a:spcPct val="150000"/>
              </a:lnSpc>
              <a:defRPr sz="2700"/>
            </a:pPr>
            <a:r>
              <a:t>   否则与其中大者交换值，令大的孩子结点为当前结点</a:t>
            </a:r>
          </a:p>
          <a:p>
            <a:pPr lvl="1">
              <a:lnSpc>
                <a:spcPct val="150000"/>
              </a:lnSpc>
              <a:defRPr sz="2700"/>
            </a:pPr>
            <a:r>
              <a:t>3.若当前结点为叶子结点，则结束，否则，转2</a:t>
            </a:r>
          </a:p>
        </p:txBody>
      </p:sp>
      <p:sp>
        <p:nvSpPr>
          <p:cNvPr id="516" name="Shape 448"/>
          <p:cNvSpPr txBox="1"/>
          <p:nvPr>
            <p:ph type="title"/>
          </p:nvPr>
        </p:nvSpPr>
        <p:spPr>
          <a:xfrm>
            <a:off x="1681761" y="43180"/>
            <a:ext cx="9448801" cy="1003301"/>
          </a:xfrm>
          <a:prstGeom prst="rect">
            <a:avLst/>
          </a:prstGeom>
        </p:spPr>
        <p:txBody>
          <a:bodyPr/>
          <a:lstStyle/>
          <a:p>
            <a:pPr/>
            <a:r>
              <a:t>堆－大顶堆删除过程</a:t>
            </a:r>
          </a:p>
        </p:txBody>
      </p:sp>
      <p:sp>
        <p:nvSpPr>
          <p:cNvPr id="517" name="Shape 316"/>
          <p:cNvSpPr txBox="1"/>
          <p:nvPr/>
        </p:nvSpPr>
        <p:spPr>
          <a:xfrm>
            <a:off x="565744" y="4668017"/>
            <a:ext cx="11142797" cy="1425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R="57798" defTabSz="1295400">
              <a:spcBef>
                <a:spcPts val="1900"/>
              </a:spcBef>
              <a:defRPr b="1">
                <a:uFill>
                  <a:solidFill>
                    <a:srgbClr val="000000"/>
                  </a:solidFill>
                </a:uFill>
              </a:defRPr>
            </a:pPr>
            <a:r>
              <a:t>该算法的核心思想叫做向下筛选SiftDown</a:t>
            </a:r>
          </a:p>
          <a:p>
            <a:pPr marR="57798" defTabSz="1295400">
              <a:spcBef>
                <a:spcPts val="1900"/>
              </a:spcBef>
              <a:defRPr b="1">
                <a:uFill>
                  <a:solidFill>
                    <a:srgbClr val="000000"/>
                  </a:solidFill>
                </a:uFill>
              </a:defRPr>
            </a:pPr>
            <a:r>
              <a:t>时间复杂度：O(logn)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Shape 451"/>
          <p:cNvSpPr txBox="1"/>
          <p:nvPr>
            <p:ph type="title"/>
          </p:nvPr>
        </p:nvSpPr>
        <p:spPr>
          <a:xfrm>
            <a:off x="1611488" y="125588"/>
            <a:ext cx="9448801" cy="952501"/>
          </a:xfrm>
          <a:prstGeom prst="rect">
            <a:avLst/>
          </a:prstGeom>
        </p:spPr>
        <p:txBody>
          <a:bodyPr/>
          <a:lstStyle/>
          <a:p>
            <a:pPr/>
            <a:r>
              <a:t>课堂练习（大顶堆）</a:t>
            </a:r>
          </a:p>
        </p:txBody>
      </p:sp>
      <p:grpSp>
        <p:nvGrpSpPr>
          <p:cNvPr id="555" name="Group 487"/>
          <p:cNvGrpSpPr/>
          <p:nvPr/>
        </p:nvGrpSpPr>
        <p:grpSpPr>
          <a:xfrm>
            <a:off x="3975894" y="1282698"/>
            <a:ext cx="5738426" cy="4695050"/>
            <a:chOff x="0" y="0"/>
            <a:chExt cx="5738425" cy="4695048"/>
          </a:xfrm>
        </p:grpSpPr>
        <p:sp>
          <p:nvSpPr>
            <p:cNvPr id="520" name="Shape 452"/>
            <p:cNvSpPr/>
            <p:nvPr/>
          </p:nvSpPr>
          <p:spPr>
            <a:xfrm>
              <a:off x="2967849" y="435751"/>
              <a:ext cx="896258" cy="714644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21" name="Shape 453"/>
            <p:cNvSpPr/>
            <p:nvPr/>
          </p:nvSpPr>
          <p:spPr>
            <a:xfrm flipH="1">
              <a:off x="1586089" y="474132"/>
              <a:ext cx="835380" cy="673102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22" name="Shape 454"/>
            <p:cNvSpPr/>
            <p:nvPr/>
          </p:nvSpPr>
          <p:spPr>
            <a:xfrm flipH="1">
              <a:off x="952500" y="1706880"/>
              <a:ext cx="410917" cy="666046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23" name="Shape 455"/>
            <p:cNvSpPr/>
            <p:nvPr/>
          </p:nvSpPr>
          <p:spPr>
            <a:xfrm>
              <a:off x="1696720" y="1603022"/>
              <a:ext cx="512518" cy="819575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24" name="Shape 456"/>
            <p:cNvSpPr/>
            <p:nvPr/>
          </p:nvSpPr>
          <p:spPr>
            <a:xfrm flipH="1">
              <a:off x="3352800" y="1732280"/>
              <a:ext cx="410917" cy="666046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527" name="Group 459"/>
            <p:cNvGrpSpPr/>
            <p:nvPr/>
          </p:nvGrpSpPr>
          <p:grpSpPr>
            <a:xfrm>
              <a:off x="2335671" y="-1"/>
              <a:ext cx="1587784" cy="1354950"/>
              <a:chOff x="0" y="0"/>
              <a:chExt cx="1587783" cy="1354948"/>
            </a:xfrm>
          </p:grpSpPr>
          <p:sp>
            <p:nvSpPr>
              <p:cNvPr id="525" name="Shape 457"/>
              <p:cNvSpPr/>
              <p:nvPr/>
            </p:nvSpPr>
            <p:spPr>
              <a:xfrm>
                <a:off x="0" y="0"/>
                <a:ext cx="673102" cy="673102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26" name="Shape 458"/>
              <p:cNvSpPr/>
              <p:nvPr/>
            </p:nvSpPr>
            <p:spPr>
              <a:xfrm>
                <a:off x="317783" y="84948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96</a:t>
                </a:r>
              </a:p>
            </p:txBody>
          </p:sp>
        </p:grpSp>
        <p:grpSp>
          <p:nvGrpSpPr>
            <p:cNvPr id="530" name="Group 462"/>
            <p:cNvGrpSpPr/>
            <p:nvPr/>
          </p:nvGrpSpPr>
          <p:grpSpPr>
            <a:xfrm>
              <a:off x="1251938" y="1137920"/>
              <a:ext cx="1590605" cy="1270001"/>
              <a:chOff x="0" y="0"/>
              <a:chExt cx="1590604" cy="1270000"/>
            </a:xfrm>
          </p:grpSpPr>
          <p:sp>
            <p:nvSpPr>
              <p:cNvPr id="528" name="Shape 460"/>
              <p:cNvSpPr/>
              <p:nvPr/>
            </p:nvSpPr>
            <p:spPr>
              <a:xfrm>
                <a:off x="0" y="4515"/>
                <a:ext cx="673102" cy="666049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29" name="Shape 461"/>
              <p:cNvSpPr/>
              <p:nvPr/>
            </p:nvSpPr>
            <p:spPr>
              <a:xfrm>
                <a:off x="320604" y="0"/>
                <a:ext cx="1270001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83</a:t>
                </a:r>
              </a:p>
            </p:txBody>
          </p:sp>
        </p:grpSp>
        <p:grpSp>
          <p:nvGrpSpPr>
            <p:cNvPr id="533" name="Group 465"/>
            <p:cNvGrpSpPr/>
            <p:nvPr/>
          </p:nvGrpSpPr>
          <p:grpSpPr>
            <a:xfrm>
              <a:off x="3535680" y="1149773"/>
              <a:ext cx="1631246" cy="1270001"/>
              <a:chOff x="0" y="0"/>
              <a:chExt cx="1631245" cy="1270000"/>
            </a:xfrm>
          </p:grpSpPr>
          <p:sp>
            <p:nvSpPr>
              <p:cNvPr id="531" name="Shape 463"/>
              <p:cNvSpPr/>
              <p:nvPr/>
            </p:nvSpPr>
            <p:spPr>
              <a:xfrm>
                <a:off x="0" y="2258"/>
                <a:ext cx="673102" cy="666047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32" name="Shape 464"/>
              <p:cNvSpPr/>
              <p:nvPr/>
            </p:nvSpPr>
            <p:spPr>
              <a:xfrm>
                <a:off x="361245" y="0"/>
                <a:ext cx="1270001" cy="1270000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27</a:t>
                </a:r>
              </a:p>
            </p:txBody>
          </p:sp>
        </p:grpSp>
        <p:grpSp>
          <p:nvGrpSpPr>
            <p:cNvPr id="536" name="Group 468"/>
            <p:cNvGrpSpPr/>
            <p:nvPr/>
          </p:nvGrpSpPr>
          <p:grpSpPr>
            <a:xfrm>
              <a:off x="504613" y="2217138"/>
              <a:ext cx="1610926" cy="1281289"/>
              <a:chOff x="0" y="0"/>
              <a:chExt cx="1610925" cy="1281287"/>
            </a:xfrm>
          </p:grpSpPr>
          <p:sp>
            <p:nvSpPr>
              <p:cNvPr id="534" name="Shape 466"/>
              <p:cNvSpPr/>
              <p:nvPr/>
            </p:nvSpPr>
            <p:spPr>
              <a:xfrm>
                <a:off x="-1" y="0"/>
                <a:ext cx="666048" cy="663789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35" name="Shape 467"/>
              <p:cNvSpPr/>
              <p:nvPr/>
            </p:nvSpPr>
            <p:spPr>
              <a:xfrm>
                <a:off x="340925" y="11287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38</a:t>
                </a:r>
              </a:p>
            </p:txBody>
          </p:sp>
        </p:grpSp>
        <p:grpSp>
          <p:nvGrpSpPr>
            <p:cNvPr id="539" name="Group 471"/>
            <p:cNvGrpSpPr/>
            <p:nvPr/>
          </p:nvGrpSpPr>
          <p:grpSpPr>
            <a:xfrm>
              <a:off x="1954107" y="2217138"/>
              <a:ext cx="1613183" cy="1288063"/>
              <a:chOff x="0" y="0"/>
              <a:chExt cx="1613182" cy="1288062"/>
            </a:xfrm>
          </p:grpSpPr>
          <p:sp>
            <p:nvSpPr>
              <p:cNvPr id="537" name="Shape 469"/>
              <p:cNvSpPr/>
              <p:nvPr/>
            </p:nvSpPr>
            <p:spPr>
              <a:xfrm>
                <a:off x="0" y="0"/>
                <a:ext cx="673102" cy="673102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38" name="Shape 470"/>
              <p:cNvSpPr/>
              <p:nvPr/>
            </p:nvSpPr>
            <p:spPr>
              <a:xfrm>
                <a:off x="343182" y="18062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11</a:t>
                </a:r>
              </a:p>
            </p:txBody>
          </p:sp>
        </p:grpSp>
        <p:grpSp>
          <p:nvGrpSpPr>
            <p:cNvPr id="542" name="Group 474"/>
            <p:cNvGrpSpPr/>
            <p:nvPr/>
          </p:nvGrpSpPr>
          <p:grpSpPr>
            <a:xfrm>
              <a:off x="3093156" y="2219959"/>
              <a:ext cx="1610925" cy="1281289"/>
              <a:chOff x="0" y="0"/>
              <a:chExt cx="1610924" cy="1281288"/>
            </a:xfrm>
          </p:grpSpPr>
          <p:sp>
            <p:nvSpPr>
              <p:cNvPr id="540" name="Shape 472"/>
              <p:cNvSpPr/>
              <p:nvPr/>
            </p:nvSpPr>
            <p:spPr>
              <a:xfrm>
                <a:off x="-1" y="-1"/>
                <a:ext cx="666048" cy="663791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41" name="Shape 473"/>
              <p:cNvSpPr/>
              <p:nvPr/>
            </p:nvSpPr>
            <p:spPr>
              <a:xfrm>
                <a:off x="340924" y="11288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9</a:t>
                </a:r>
              </a:p>
            </p:txBody>
          </p:sp>
        </p:grpSp>
        <p:grpSp>
          <p:nvGrpSpPr>
            <p:cNvPr id="545" name="Group 477"/>
            <p:cNvGrpSpPr/>
            <p:nvPr/>
          </p:nvGrpSpPr>
          <p:grpSpPr>
            <a:xfrm>
              <a:off x="4127500" y="2232659"/>
              <a:ext cx="1610926" cy="1281289"/>
              <a:chOff x="0" y="0"/>
              <a:chExt cx="1610924" cy="1281288"/>
            </a:xfrm>
          </p:grpSpPr>
          <p:sp>
            <p:nvSpPr>
              <p:cNvPr id="543" name="Shape 475"/>
              <p:cNvSpPr/>
              <p:nvPr/>
            </p:nvSpPr>
            <p:spPr>
              <a:xfrm>
                <a:off x="0" y="0"/>
                <a:ext cx="666047" cy="663789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44" name="Shape 476"/>
              <p:cNvSpPr/>
              <p:nvPr/>
            </p:nvSpPr>
            <p:spPr>
              <a:xfrm>
                <a:off x="340924" y="11288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10</a:t>
                </a:r>
              </a:p>
            </p:txBody>
          </p:sp>
        </p:grpSp>
        <p:grpSp>
          <p:nvGrpSpPr>
            <p:cNvPr id="548" name="Group 480"/>
            <p:cNvGrpSpPr/>
            <p:nvPr/>
          </p:nvGrpSpPr>
          <p:grpSpPr>
            <a:xfrm>
              <a:off x="-1" y="3413760"/>
              <a:ext cx="1610926" cy="1281289"/>
              <a:chOff x="0" y="0"/>
              <a:chExt cx="1610924" cy="1281288"/>
            </a:xfrm>
          </p:grpSpPr>
          <p:sp>
            <p:nvSpPr>
              <p:cNvPr id="546" name="Shape 478"/>
              <p:cNvSpPr/>
              <p:nvPr/>
            </p:nvSpPr>
            <p:spPr>
              <a:xfrm>
                <a:off x="-1" y="-1"/>
                <a:ext cx="666048" cy="663791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47" name="Shape 479"/>
              <p:cNvSpPr/>
              <p:nvPr/>
            </p:nvSpPr>
            <p:spPr>
              <a:xfrm>
                <a:off x="340924" y="11288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7</a:t>
                </a:r>
              </a:p>
            </p:txBody>
          </p:sp>
        </p:grpSp>
        <p:grpSp>
          <p:nvGrpSpPr>
            <p:cNvPr id="551" name="Group 483"/>
            <p:cNvGrpSpPr/>
            <p:nvPr/>
          </p:nvGrpSpPr>
          <p:grpSpPr>
            <a:xfrm>
              <a:off x="977900" y="3413760"/>
              <a:ext cx="1610925" cy="1281289"/>
              <a:chOff x="0" y="0"/>
              <a:chExt cx="1610924" cy="1281288"/>
            </a:xfrm>
          </p:grpSpPr>
          <p:sp>
            <p:nvSpPr>
              <p:cNvPr id="549" name="Shape 481"/>
              <p:cNvSpPr/>
              <p:nvPr/>
            </p:nvSpPr>
            <p:spPr>
              <a:xfrm>
                <a:off x="-1" y="-1"/>
                <a:ext cx="666048" cy="663791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50" name="Shape 482"/>
              <p:cNvSpPr/>
              <p:nvPr/>
            </p:nvSpPr>
            <p:spPr>
              <a:xfrm>
                <a:off x="340924" y="11288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8</a:t>
                </a:r>
              </a:p>
            </p:txBody>
          </p:sp>
        </p:grpSp>
        <p:sp>
          <p:nvSpPr>
            <p:cNvPr id="552" name="Shape 484"/>
            <p:cNvSpPr/>
            <p:nvPr/>
          </p:nvSpPr>
          <p:spPr>
            <a:xfrm>
              <a:off x="4079974" y="1747388"/>
              <a:ext cx="378571" cy="487006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53" name="Shape 485"/>
            <p:cNvSpPr/>
            <p:nvPr/>
          </p:nvSpPr>
          <p:spPr>
            <a:xfrm flipH="1">
              <a:off x="397530" y="2880200"/>
              <a:ext cx="294025" cy="542033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54" name="Shape 486"/>
            <p:cNvSpPr/>
            <p:nvPr/>
          </p:nvSpPr>
          <p:spPr>
            <a:xfrm>
              <a:off x="983717" y="2855308"/>
              <a:ext cx="313862" cy="576700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556" name="Shape 488"/>
          <p:cNvSpPr txBox="1"/>
          <p:nvPr/>
        </p:nvSpPr>
        <p:spPr>
          <a:xfrm>
            <a:off x="1896676" y="1253348"/>
            <a:ext cx="1315100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删除96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Shape 591"/>
          <p:cNvSpPr txBox="1"/>
          <p:nvPr>
            <p:ph type="title"/>
          </p:nvPr>
        </p:nvSpPr>
        <p:spPr>
          <a:xfrm>
            <a:off x="1611488" y="125588"/>
            <a:ext cx="9448801" cy="952501"/>
          </a:xfrm>
          <a:prstGeom prst="rect">
            <a:avLst/>
          </a:prstGeom>
        </p:spPr>
        <p:txBody>
          <a:bodyPr/>
          <a:lstStyle/>
          <a:p>
            <a:pPr/>
            <a:r>
              <a:t>最大优先级队列的实现</a:t>
            </a:r>
          </a:p>
        </p:txBody>
      </p:sp>
      <p:sp>
        <p:nvSpPr>
          <p:cNvPr id="559" name="offer和poll分别对应堆的插入和删除操作…"/>
          <p:cNvSpPr txBox="1"/>
          <p:nvPr/>
        </p:nvSpPr>
        <p:spPr>
          <a:xfrm>
            <a:off x="201449" y="1501646"/>
            <a:ext cx="11464091" cy="14512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300789" indent="-300789">
              <a:lnSpc>
                <a:spcPct val="150000"/>
              </a:lnSpc>
              <a:buSzPct val="60000"/>
              <a:buBlip>
                <a:blip r:embed="rId3"/>
              </a:buBlip>
            </a:pPr>
            <a:r>
              <a:t>offer和poll分别对应堆的插入和删除操作</a:t>
            </a:r>
          </a:p>
          <a:p>
            <a:pPr marL="300789" indent="-300789">
              <a:lnSpc>
                <a:spcPct val="150000"/>
              </a:lnSpc>
              <a:buSzPct val="60000"/>
              <a:buBlip>
                <a:blip r:embed="rId3"/>
              </a:buBlip>
            </a:pPr>
            <a:r>
              <a:t>使用数组存储优先级队列的数据，即堆的数据，视其为完全二叉树</a:t>
            </a:r>
          </a:p>
        </p:txBody>
      </p:sp>
      <p:grpSp>
        <p:nvGrpSpPr>
          <p:cNvPr id="611" name="成组"/>
          <p:cNvGrpSpPr/>
          <p:nvPr/>
        </p:nvGrpSpPr>
        <p:grpSpPr>
          <a:xfrm>
            <a:off x="3391652" y="3594249"/>
            <a:ext cx="4483540" cy="4381254"/>
            <a:chOff x="0" y="0"/>
            <a:chExt cx="4483538" cy="4381253"/>
          </a:xfrm>
        </p:grpSpPr>
        <p:grpSp>
          <p:nvGrpSpPr>
            <p:cNvPr id="562" name="Group 610"/>
            <p:cNvGrpSpPr/>
            <p:nvPr/>
          </p:nvGrpSpPr>
          <p:grpSpPr>
            <a:xfrm>
              <a:off x="584200" y="2197101"/>
              <a:ext cx="623301" cy="624625"/>
              <a:chOff x="0" y="0"/>
              <a:chExt cx="623299" cy="624623"/>
            </a:xfrm>
          </p:grpSpPr>
          <p:sp>
            <p:nvSpPr>
              <p:cNvPr id="560" name="Shape 608"/>
              <p:cNvSpPr/>
              <p:nvPr/>
            </p:nvSpPr>
            <p:spPr>
              <a:xfrm>
                <a:off x="-1" y="0"/>
                <a:ext cx="623301" cy="62462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61" name="Shape 609"/>
              <p:cNvSpPr txBox="1"/>
              <p:nvPr/>
            </p:nvSpPr>
            <p:spPr>
              <a:xfrm>
                <a:off x="63451" y="82298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81</a:t>
                </a:r>
              </a:p>
            </p:txBody>
          </p:sp>
        </p:grpSp>
        <p:grpSp>
          <p:nvGrpSpPr>
            <p:cNvPr id="565" name="Group 613"/>
            <p:cNvGrpSpPr/>
            <p:nvPr/>
          </p:nvGrpSpPr>
          <p:grpSpPr>
            <a:xfrm>
              <a:off x="0" y="3250353"/>
              <a:ext cx="623300" cy="624627"/>
              <a:chOff x="0" y="0"/>
              <a:chExt cx="623299" cy="624626"/>
            </a:xfrm>
          </p:grpSpPr>
          <p:sp>
            <p:nvSpPr>
              <p:cNvPr id="563" name="Shape 611"/>
              <p:cNvSpPr/>
              <p:nvPr/>
            </p:nvSpPr>
            <p:spPr>
              <a:xfrm>
                <a:off x="-1" y="-1"/>
                <a:ext cx="623301" cy="624628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64" name="Shape 612"/>
              <p:cNvSpPr txBox="1"/>
              <p:nvPr/>
            </p:nvSpPr>
            <p:spPr>
              <a:xfrm>
                <a:off x="63451" y="82298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81</a:t>
                </a:r>
              </a:p>
            </p:txBody>
          </p:sp>
        </p:grpSp>
        <p:sp>
          <p:nvSpPr>
            <p:cNvPr id="566" name="Shape 614"/>
            <p:cNvSpPr/>
            <p:nvPr/>
          </p:nvSpPr>
          <p:spPr>
            <a:xfrm>
              <a:off x="2942450" y="412326"/>
              <a:ext cx="583351" cy="673486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67" name="Shape 615"/>
            <p:cNvSpPr/>
            <p:nvPr/>
          </p:nvSpPr>
          <p:spPr>
            <a:xfrm flipH="1">
              <a:off x="1653259" y="446193"/>
              <a:ext cx="778935" cy="625406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68" name="Shape 616"/>
            <p:cNvSpPr/>
            <p:nvPr/>
          </p:nvSpPr>
          <p:spPr>
            <a:xfrm flipH="1">
              <a:off x="1054947" y="1599918"/>
              <a:ext cx="383824" cy="623149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69" name="Shape 617"/>
            <p:cNvSpPr/>
            <p:nvPr/>
          </p:nvSpPr>
          <p:spPr>
            <a:xfrm>
              <a:off x="1754858" y="1498600"/>
              <a:ext cx="478650" cy="767646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70" name="Shape 618"/>
            <p:cNvSpPr/>
            <p:nvPr/>
          </p:nvSpPr>
          <p:spPr>
            <a:xfrm flipH="1">
              <a:off x="3159196" y="1599918"/>
              <a:ext cx="383824" cy="623149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71" name="Shape 619"/>
            <p:cNvSpPr/>
            <p:nvPr/>
          </p:nvSpPr>
          <p:spPr>
            <a:xfrm>
              <a:off x="3764281" y="1498600"/>
              <a:ext cx="573477" cy="767646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72" name="Shape 620"/>
            <p:cNvSpPr/>
            <p:nvPr/>
          </p:nvSpPr>
          <p:spPr>
            <a:xfrm flipH="1">
              <a:off x="415995" y="2654301"/>
              <a:ext cx="383824" cy="623148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575" name="Group 623"/>
            <p:cNvGrpSpPr/>
            <p:nvPr/>
          </p:nvGrpSpPr>
          <p:grpSpPr>
            <a:xfrm>
              <a:off x="3330787" y="1058050"/>
              <a:ext cx="624339" cy="623439"/>
              <a:chOff x="0" y="0"/>
              <a:chExt cx="624338" cy="623438"/>
            </a:xfrm>
          </p:grpSpPr>
          <p:sp>
            <p:nvSpPr>
              <p:cNvPr id="573" name="Shape 621"/>
              <p:cNvSpPr/>
              <p:nvPr/>
            </p:nvSpPr>
            <p:spPr>
              <a:xfrm>
                <a:off x="-1" y="0"/>
                <a:ext cx="624339" cy="623439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74" name="Shape 622"/>
              <p:cNvSpPr txBox="1"/>
              <p:nvPr/>
            </p:nvSpPr>
            <p:spPr>
              <a:xfrm>
                <a:off x="75278" y="63400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65</a:t>
                </a:r>
              </a:p>
            </p:txBody>
          </p:sp>
        </p:grpSp>
        <p:grpSp>
          <p:nvGrpSpPr>
            <p:cNvPr id="578" name="Group 626"/>
            <p:cNvGrpSpPr/>
            <p:nvPr/>
          </p:nvGrpSpPr>
          <p:grpSpPr>
            <a:xfrm>
              <a:off x="590973" y="2192867"/>
              <a:ext cx="623149" cy="620121"/>
              <a:chOff x="0" y="0"/>
              <a:chExt cx="623148" cy="620119"/>
            </a:xfrm>
          </p:grpSpPr>
          <p:sp>
            <p:nvSpPr>
              <p:cNvPr id="576" name="Shape 624"/>
              <p:cNvSpPr/>
              <p:nvPr/>
            </p:nvSpPr>
            <p:spPr>
              <a:xfrm>
                <a:off x="0" y="-1"/>
                <a:ext cx="623149" cy="620121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77" name="Shape 625"/>
              <p:cNvSpPr txBox="1"/>
              <p:nvPr/>
            </p:nvSpPr>
            <p:spPr>
              <a:xfrm>
                <a:off x="56754" y="75932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49</a:t>
                </a:r>
              </a:p>
            </p:txBody>
          </p:sp>
        </p:grpSp>
        <p:grpSp>
          <p:nvGrpSpPr>
            <p:cNvPr id="581" name="Group 629"/>
            <p:cNvGrpSpPr/>
            <p:nvPr/>
          </p:nvGrpSpPr>
          <p:grpSpPr>
            <a:xfrm>
              <a:off x="1996440" y="2078567"/>
              <a:ext cx="623301" cy="624625"/>
              <a:chOff x="0" y="0"/>
              <a:chExt cx="623299" cy="624623"/>
            </a:xfrm>
          </p:grpSpPr>
          <p:sp>
            <p:nvSpPr>
              <p:cNvPr id="579" name="Shape 627"/>
              <p:cNvSpPr/>
              <p:nvPr/>
            </p:nvSpPr>
            <p:spPr>
              <a:xfrm>
                <a:off x="-1" y="0"/>
                <a:ext cx="623301" cy="62462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80" name="Shape 628"/>
              <p:cNvSpPr txBox="1"/>
              <p:nvPr/>
            </p:nvSpPr>
            <p:spPr>
              <a:xfrm>
                <a:off x="58936" y="82298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50</a:t>
                </a:r>
              </a:p>
            </p:txBody>
          </p:sp>
        </p:grpSp>
        <p:grpSp>
          <p:nvGrpSpPr>
            <p:cNvPr id="584" name="Group 632"/>
            <p:cNvGrpSpPr/>
            <p:nvPr/>
          </p:nvGrpSpPr>
          <p:grpSpPr>
            <a:xfrm>
              <a:off x="2917614" y="2055989"/>
              <a:ext cx="621045" cy="622167"/>
              <a:chOff x="0" y="0"/>
              <a:chExt cx="621044" cy="622165"/>
            </a:xfrm>
          </p:grpSpPr>
          <p:sp>
            <p:nvSpPr>
              <p:cNvPr id="582" name="Shape 630"/>
              <p:cNvSpPr/>
              <p:nvPr/>
            </p:nvSpPr>
            <p:spPr>
              <a:xfrm>
                <a:off x="-1" y="0"/>
                <a:ext cx="621046" cy="622167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83" name="Shape 631"/>
              <p:cNvSpPr txBox="1"/>
              <p:nvPr/>
            </p:nvSpPr>
            <p:spPr>
              <a:xfrm>
                <a:off x="56755" y="76183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27</a:t>
                </a:r>
              </a:p>
            </p:txBody>
          </p:sp>
        </p:grpSp>
        <p:grpSp>
          <p:nvGrpSpPr>
            <p:cNvPr id="587" name="Group 635"/>
            <p:cNvGrpSpPr/>
            <p:nvPr/>
          </p:nvGrpSpPr>
          <p:grpSpPr>
            <a:xfrm>
              <a:off x="3860236" y="2057401"/>
              <a:ext cx="623303" cy="626673"/>
              <a:chOff x="0" y="0"/>
              <a:chExt cx="623302" cy="626672"/>
            </a:xfrm>
          </p:grpSpPr>
          <p:sp>
            <p:nvSpPr>
              <p:cNvPr id="585" name="Shape 633"/>
              <p:cNvSpPr/>
              <p:nvPr/>
            </p:nvSpPr>
            <p:spPr>
              <a:xfrm>
                <a:off x="0" y="-1"/>
                <a:ext cx="623303" cy="626674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86" name="Shape 634"/>
              <p:cNvSpPr txBox="1"/>
              <p:nvPr/>
            </p:nvSpPr>
            <p:spPr>
              <a:xfrm>
                <a:off x="58936" y="75088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38</a:t>
                </a:r>
              </a:p>
            </p:txBody>
          </p:sp>
        </p:grpSp>
        <p:grpSp>
          <p:nvGrpSpPr>
            <p:cNvPr id="590" name="Group 638"/>
            <p:cNvGrpSpPr/>
            <p:nvPr/>
          </p:nvGrpSpPr>
          <p:grpSpPr>
            <a:xfrm>
              <a:off x="1340351" y="1071597"/>
              <a:ext cx="624483" cy="623295"/>
              <a:chOff x="0" y="0"/>
              <a:chExt cx="624481" cy="623294"/>
            </a:xfrm>
          </p:grpSpPr>
          <p:sp>
            <p:nvSpPr>
              <p:cNvPr id="588" name="Shape 636"/>
              <p:cNvSpPr/>
              <p:nvPr/>
            </p:nvSpPr>
            <p:spPr>
              <a:xfrm>
                <a:off x="0" y="-1"/>
                <a:ext cx="624483" cy="623296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89" name="Shape 637"/>
              <p:cNvSpPr txBox="1"/>
              <p:nvPr/>
            </p:nvSpPr>
            <p:spPr>
              <a:xfrm>
                <a:off x="37379" y="61272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76</a:t>
                </a:r>
              </a:p>
            </p:txBody>
          </p:sp>
        </p:grpSp>
        <p:grpSp>
          <p:nvGrpSpPr>
            <p:cNvPr id="593" name="Group 641"/>
            <p:cNvGrpSpPr/>
            <p:nvPr/>
          </p:nvGrpSpPr>
          <p:grpSpPr>
            <a:xfrm>
              <a:off x="2384778" y="0"/>
              <a:ext cx="623303" cy="625406"/>
              <a:chOff x="0" y="0"/>
              <a:chExt cx="623302" cy="625405"/>
            </a:xfrm>
          </p:grpSpPr>
          <p:sp>
            <p:nvSpPr>
              <p:cNvPr id="591" name="Shape 639"/>
              <p:cNvSpPr/>
              <p:nvPr/>
            </p:nvSpPr>
            <p:spPr>
              <a:xfrm>
                <a:off x="0" y="0"/>
                <a:ext cx="623303" cy="625406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92" name="Shape 640"/>
              <p:cNvSpPr txBox="1"/>
              <p:nvPr/>
            </p:nvSpPr>
            <p:spPr>
              <a:xfrm>
                <a:off x="58936" y="41700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97</a:t>
                </a:r>
              </a:p>
            </p:txBody>
          </p:sp>
        </p:grpSp>
        <p:grpSp>
          <p:nvGrpSpPr>
            <p:cNvPr id="596" name="Group 644"/>
            <p:cNvGrpSpPr/>
            <p:nvPr/>
          </p:nvGrpSpPr>
          <p:grpSpPr>
            <a:xfrm>
              <a:off x="0" y="3251201"/>
              <a:ext cx="623149" cy="620119"/>
              <a:chOff x="0" y="0"/>
              <a:chExt cx="623148" cy="620117"/>
            </a:xfrm>
          </p:grpSpPr>
          <p:sp>
            <p:nvSpPr>
              <p:cNvPr id="594" name="Shape 642"/>
              <p:cNvSpPr/>
              <p:nvPr/>
            </p:nvSpPr>
            <p:spPr>
              <a:xfrm>
                <a:off x="0" y="0"/>
                <a:ext cx="623149" cy="620118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95" name="Shape 643"/>
              <p:cNvSpPr txBox="1"/>
              <p:nvPr/>
            </p:nvSpPr>
            <p:spPr>
              <a:xfrm>
                <a:off x="56754" y="75932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49</a:t>
                </a:r>
              </a:p>
            </p:txBody>
          </p:sp>
        </p:grpSp>
        <p:grpSp>
          <p:nvGrpSpPr>
            <p:cNvPr id="599" name="Group 647"/>
            <p:cNvGrpSpPr/>
            <p:nvPr/>
          </p:nvGrpSpPr>
          <p:grpSpPr>
            <a:xfrm>
              <a:off x="1333500" y="1066800"/>
              <a:ext cx="623301" cy="624625"/>
              <a:chOff x="0" y="0"/>
              <a:chExt cx="623299" cy="624623"/>
            </a:xfrm>
          </p:grpSpPr>
          <p:sp>
            <p:nvSpPr>
              <p:cNvPr id="597" name="Shape 645"/>
              <p:cNvSpPr/>
              <p:nvPr/>
            </p:nvSpPr>
            <p:spPr>
              <a:xfrm>
                <a:off x="-1" y="0"/>
                <a:ext cx="623301" cy="62462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98" name="Shape 646"/>
              <p:cNvSpPr txBox="1"/>
              <p:nvPr/>
            </p:nvSpPr>
            <p:spPr>
              <a:xfrm>
                <a:off x="63451" y="82298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81</a:t>
                </a:r>
              </a:p>
            </p:txBody>
          </p:sp>
        </p:grpSp>
        <p:grpSp>
          <p:nvGrpSpPr>
            <p:cNvPr id="602" name="Group 650"/>
            <p:cNvGrpSpPr/>
            <p:nvPr/>
          </p:nvGrpSpPr>
          <p:grpSpPr>
            <a:xfrm>
              <a:off x="584200" y="2197101"/>
              <a:ext cx="624483" cy="623295"/>
              <a:chOff x="0" y="0"/>
              <a:chExt cx="624481" cy="623293"/>
            </a:xfrm>
          </p:grpSpPr>
          <p:sp>
            <p:nvSpPr>
              <p:cNvPr id="600" name="Shape 648"/>
              <p:cNvSpPr/>
              <p:nvPr/>
            </p:nvSpPr>
            <p:spPr>
              <a:xfrm>
                <a:off x="0" y="0"/>
                <a:ext cx="624483" cy="623294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01" name="Shape 649"/>
              <p:cNvSpPr txBox="1"/>
              <p:nvPr/>
            </p:nvSpPr>
            <p:spPr>
              <a:xfrm>
                <a:off x="37379" y="61273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76</a:t>
                </a:r>
              </a:p>
            </p:txBody>
          </p:sp>
        </p:grpSp>
        <p:sp>
          <p:nvSpPr>
            <p:cNvPr id="603" name="0"/>
            <p:cNvSpPr txBox="1"/>
            <p:nvPr/>
          </p:nvSpPr>
          <p:spPr>
            <a:xfrm>
              <a:off x="2502429" y="541261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604" name="1"/>
            <p:cNvSpPr txBox="1"/>
            <p:nvPr/>
          </p:nvSpPr>
          <p:spPr>
            <a:xfrm>
              <a:off x="1420671" y="1753955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605" name="2"/>
            <p:cNvSpPr txBox="1"/>
            <p:nvPr/>
          </p:nvSpPr>
          <p:spPr>
            <a:xfrm>
              <a:off x="3461657" y="1753955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606" name="3"/>
            <p:cNvSpPr txBox="1"/>
            <p:nvPr/>
          </p:nvSpPr>
          <p:spPr>
            <a:xfrm>
              <a:off x="721247" y="2745367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607" name="4"/>
            <p:cNvSpPr txBox="1"/>
            <p:nvPr/>
          </p:nvSpPr>
          <p:spPr>
            <a:xfrm>
              <a:off x="2126791" y="2745367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608" name="5"/>
            <p:cNvSpPr txBox="1"/>
            <p:nvPr/>
          </p:nvSpPr>
          <p:spPr>
            <a:xfrm>
              <a:off x="3046836" y="2745367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609" name="6"/>
            <p:cNvSpPr txBox="1"/>
            <p:nvPr/>
          </p:nvSpPr>
          <p:spPr>
            <a:xfrm>
              <a:off x="3990588" y="2745367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6</a:t>
              </a:r>
            </a:p>
          </p:txBody>
        </p:sp>
        <p:sp>
          <p:nvSpPr>
            <p:cNvPr id="610" name="7"/>
            <p:cNvSpPr txBox="1"/>
            <p:nvPr/>
          </p:nvSpPr>
          <p:spPr>
            <a:xfrm>
              <a:off x="92250" y="3864038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Shape 591"/>
          <p:cNvSpPr txBox="1"/>
          <p:nvPr>
            <p:ph type="title"/>
          </p:nvPr>
        </p:nvSpPr>
        <p:spPr>
          <a:xfrm>
            <a:off x="1611488" y="125588"/>
            <a:ext cx="9448801" cy="952501"/>
          </a:xfrm>
          <a:prstGeom prst="rect">
            <a:avLst/>
          </a:prstGeom>
        </p:spPr>
        <p:txBody>
          <a:bodyPr/>
          <a:lstStyle/>
          <a:p>
            <a:pPr/>
            <a:r>
              <a:t>最大优先级队列的实现</a:t>
            </a:r>
          </a:p>
        </p:txBody>
      </p:sp>
      <p:sp>
        <p:nvSpPr>
          <p:cNvPr id="614" name="public class PriorityElementsMax&lt;T&gt; {…"/>
          <p:cNvSpPr txBox="1"/>
          <p:nvPr/>
        </p:nvSpPr>
        <p:spPr>
          <a:xfrm>
            <a:off x="2049901" y="1225490"/>
            <a:ext cx="8992748" cy="39775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2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class</a:t>
            </a:r>
            <a:r>
              <a:t> PriorityElementsMax&lt;T&gt; {	</a:t>
            </a:r>
          </a:p>
          <a:p>
            <a:pPr indent="0">
              <a:lnSpc>
                <a:spcPct val="12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    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Object[] </a:t>
            </a:r>
            <a:r>
              <a:rPr>
                <a:solidFill>
                  <a:srgbClr val="0326CC"/>
                </a:solidFill>
              </a:rPr>
              <a:t>elements</a:t>
            </a:r>
            <a:r>
              <a:t>; </a:t>
            </a:r>
          </a:p>
          <a:p>
            <a:pPr indent="0">
              <a:lnSpc>
                <a:spcPct val="120000"/>
              </a:lnSpc>
              <a:defRPr sz="25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    </a:t>
            </a:r>
            <a:r>
              <a:t>private</a:t>
            </a:r>
            <a:r>
              <a:rPr>
                <a:solidFill>
                  <a:srgbClr val="000000"/>
                </a:solidFill>
              </a:rPr>
              <a:t> </a:t>
            </a:r>
            <a: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0326CC"/>
                </a:solidFill>
              </a:rPr>
              <a:t>size</a:t>
            </a:r>
            <a:r>
              <a:rPr>
                <a:solidFill>
                  <a:srgbClr val="000000"/>
                </a:solidFill>
              </a:rPr>
              <a:t> = 0;</a:t>
            </a:r>
            <a:r>
              <a:t> </a:t>
            </a:r>
          </a:p>
          <a:p>
            <a:pPr indent="0">
              <a:lnSpc>
                <a:spcPct val="12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    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PriorityElementsMax(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maxSize</a:t>
            </a:r>
            <a:r>
              <a:t>) {</a:t>
            </a:r>
          </a:p>
          <a:p>
            <a:pPr lvl="2" indent="457200">
              <a:lnSpc>
                <a:spcPct val="120000"/>
              </a:lnSpc>
              <a:defRPr sz="25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    </a:t>
            </a:r>
            <a:r>
              <a:rPr>
                <a:solidFill>
                  <a:srgbClr val="931A68"/>
                </a:solidFill>
              </a:rPr>
              <a:t>if</a:t>
            </a:r>
            <a:r>
              <a:rPr>
                <a:solidFill>
                  <a:srgbClr val="000000"/>
                </a:solidFill>
              </a:rPr>
              <a:t> (</a:t>
            </a:r>
            <a:r>
              <a:t>maxSize</a:t>
            </a:r>
            <a:r>
              <a:rPr>
                <a:solidFill>
                  <a:srgbClr val="000000"/>
                </a:solidFill>
              </a:rPr>
              <a:t> &lt; 1)</a:t>
            </a:r>
            <a:endParaRPr>
              <a:solidFill>
                <a:srgbClr val="000000"/>
              </a:solidFill>
            </a:endParaRPr>
          </a:p>
          <a:p>
            <a:pPr lvl="1" indent="228600">
              <a:lnSpc>
                <a:spcPct val="12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    		</a:t>
            </a:r>
            <a:r>
              <a:rPr>
                <a:solidFill>
                  <a:srgbClr val="931A68"/>
                </a:solidFill>
              </a:rPr>
              <a:t>throw</a:t>
            </a:r>
            <a:r>
              <a:t>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IllegalArgumentException();</a:t>
            </a:r>
          </a:p>
          <a:p>
            <a:pPr lvl="1" indent="228600">
              <a:lnSpc>
                <a:spcPct val="12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    	</a:t>
            </a:r>
            <a:r>
              <a:rPr>
                <a:solidFill>
                  <a:srgbClr val="0326CC"/>
                </a:solidFill>
              </a:rPr>
              <a:t>elements</a:t>
            </a:r>
            <a:r>
              <a:t> =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Object[</a:t>
            </a:r>
            <a:r>
              <a:rPr>
                <a:solidFill>
                  <a:srgbClr val="7E504F"/>
                </a:solidFill>
              </a:rPr>
              <a:t>maxSize</a:t>
            </a:r>
            <a:r>
              <a:t>];</a:t>
            </a:r>
          </a:p>
          <a:p>
            <a:pPr indent="0">
              <a:lnSpc>
                <a:spcPct val="120000"/>
              </a:lnSpc>
              <a:defRPr sz="2500">
                <a:latin typeface="Monaco"/>
                <a:ea typeface="Monaco"/>
                <a:cs typeface="Monaco"/>
                <a:sym typeface="Monaco"/>
              </a:defRPr>
            </a:pPr>
            <a:r>
              <a:t>    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Shape 591"/>
          <p:cNvSpPr txBox="1"/>
          <p:nvPr>
            <p:ph type="title"/>
          </p:nvPr>
        </p:nvSpPr>
        <p:spPr>
          <a:xfrm>
            <a:off x="1611488" y="125588"/>
            <a:ext cx="9448801" cy="952501"/>
          </a:xfrm>
          <a:prstGeom prst="rect">
            <a:avLst/>
          </a:prstGeom>
        </p:spPr>
        <p:txBody>
          <a:bodyPr/>
          <a:lstStyle/>
          <a:p>
            <a:pPr/>
            <a:r>
              <a:t>最大优先级队列的实现</a:t>
            </a:r>
          </a:p>
        </p:txBody>
      </p:sp>
      <p:sp>
        <p:nvSpPr>
          <p:cNvPr id="617" name="public T peek() {…"/>
          <p:cNvSpPr txBox="1"/>
          <p:nvPr/>
        </p:nvSpPr>
        <p:spPr>
          <a:xfrm>
            <a:off x="1046815" y="1225972"/>
            <a:ext cx="5906443" cy="48809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T peek() {</a:t>
            </a:r>
          </a:p>
          <a:p>
            <a:pPr indent="0">
              <a:defRPr sz="20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rPr>
                <a:solidFill>
                  <a:srgbClr val="000000"/>
                </a:solidFill>
              </a:rPr>
              <a:t> (T) </a:t>
            </a:r>
            <a:r>
              <a:t>elements</a:t>
            </a:r>
            <a:r>
              <a:rPr>
                <a:solidFill>
                  <a:srgbClr val="000000"/>
                </a:solidFill>
              </a:rPr>
              <a:t>[0];</a:t>
            </a:r>
            <a:endParaRPr>
              <a:solidFill>
                <a:srgbClr val="000000"/>
              </a:solidFill>
            </a:endParaRP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clear() {</a:t>
            </a: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t> = 0; </a:t>
            </a:r>
            <a:r>
              <a:rPr>
                <a:solidFill>
                  <a:srgbClr val="7E504F"/>
                </a:solidFill>
              </a:rPr>
              <a:t>i</a:t>
            </a:r>
            <a:r>
              <a:t> &lt; </a:t>
            </a:r>
            <a:r>
              <a:rPr>
                <a:solidFill>
                  <a:srgbClr val="0326CC"/>
                </a:solidFill>
              </a:rPr>
              <a:t>size</a:t>
            </a:r>
            <a:r>
              <a:t>; </a:t>
            </a:r>
            <a:r>
              <a:rPr>
                <a:solidFill>
                  <a:srgbClr val="7E504F"/>
                </a:solidFill>
              </a:rPr>
              <a:t>i</a:t>
            </a:r>
            <a:r>
              <a:t>++)</a:t>
            </a: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    </a:t>
            </a:r>
            <a:r>
              <a:rPr>
                <a:solidFill>
                  <a:srgbClr val="0326CC"/>
                </a:solidFill>
              </a:rPr>
              <a:t>elements</a:t>
            </a:r>
            <a:r>
              <a:t>[</a:t>
            </a:r>
            <a:r>
              <a:rPr>
                <a:solidFill>
                  <a:srgbClr val="7E504F"/>
                </a:solidFill>
              </a:rPr>
              <a:t>i</a:t>
            </a:r>
            <a:r>
              <a:t>] 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;</a:t>
            </a: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</a:t>
            </a:r>
            <a:r>
              <a:rPr>
                <a:solidFill>
                  <a:srgbClr val="0326CC"/>
                </a:solidFill>
              </a:rPr>
              <a:t>size</a:t>
            </a:r>
            <a:r>
              <a:t> = 0;</a:t>
            </a: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}</a:t>
            </a: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size() {</a:t>
            </a: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</a:t>
            </a:r>
            <a:r>
              <a:rPr>
                <a:solidFill>
                  <a:srgbClr val="0326CC"/>
                </a:solidFill>
              </a:rPr>
              <a:t>size</a:t>
            </a:r>
            <a:r>
              <a:t>;</a:t>
            </a: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}</a:t>
            </a:r>
          </a:p>
        </p:txBody>
      </p:sp>
      <p:grpSp>
        <p:nvGrpSpPr>
          <p:cNvPr id="669" name="成组"/>
          <p:cNvGrpSpPr/>
          <p:nvPr/>
        </p:nvGrpSpPr>
        <p:grpSpPr>
          <a:xfrm>
            <a:off x="7489763" y="2185637"/>
            <a:ext cx="4483540" cy="4381254"/>
            <a:chOff x="0" y="0"/>
            <a:chExt cx="4483538" cy="4381253"/>
          </a:xfrm>
        </p:grpSpPr>
        <p:grpSp>
          <p:nvGrpSpPr>
            <p:cNvPr id="620" name="Group 610"/>
            <p:cNvGrpSpPr/>
            <p:nvPr/>
          </p:nvGrpSpPr>
          <p:grpSpPr>
            <a:xfrm>
              <a:off x="584200" y="2197101"/>
              <a:ext cx="623301" cy="624625"/>
              <a:chOff x="0" y="0"/>
              <a:chExt cx="623299" cy="624623"/>
            </a:xfrm>
          </p:grpSpPr>
          <p:sp>
            <p:nvSpPr>
              <p:cNvPr id="618" name="Shape 608"/>
              <p:cNvSpPr/>
              <p:nvPr/>
            </p:nvSpPr>
            <p:spPr>
              <a:xfrm>
                <a:off x="-1" y="0"/>
                <a:ext cx="623301" cy="62462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19" name="Shape 609"/>
              <p:cNvSpPr txBox="1"/>
              <p:nvPr/>
            </p:nvSpPr>
            <p:spPr>
              <a:xfrm>
                <a:off x="63451" y="82298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81</a:t>
                </a:r>
              </a:p>
            </p:txBody>
          </p:sp>
        </p:grpSp>
        <p:grpSp>
          <p:nvGrpSpPr>
            <p:cNvPr id="623" name="Group 613"/>
            <p:cNvGrpSpPr/>
            <p:nvPr/>
          </p:nvGrpSpPr>
          <p:grpSpPr>
            <a:xfrm>
              <a:off x="0" y="3250353"/>
              <a:ext cx="623300" cy="624627"/>
              <a:chOff x="0" y="0"/>
              <a:chExt cx="623299" cy="624626"/>
            </a:xfrm>
          </p:grpSpPr>
          <p:sp>
            <p:nvSpPr>
              <p:cNvPr id="621" name="Shape 611"/>
              <p:cNvSpPr/>
              <p:nvPr/>
            </p:nvSpPr>
            <p:spPr>
              <a:xfrm>
                <a:off x="-1" y="-1"/>
                <a:ext cx="623301" cy="624628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22" name="Shape 612"/>
              <p:cNvSpPr txBox="1"/>
              <p:nvPr/>
            </p:nvSpPr>
            <p:spPr>
              <a:xfrm>
                <a:off x="63451" y="82298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81</a:t>
                </a:r>
              </a:p>
            </p:txBody>
          </p:sp>
        </p:grpSp>
        <p:sp>
          <p:nvSpPr>
            <p:cNvPr id="624" name="Shape 614"/>
            <p:cNvSpPr/>
            <p:nvPr/>
          </p:nvSpPr>
          <p:spPr>
            <a:xfrm>
              <a:off x="2942450" y="412326"/>
              <a:ext cx="583351" cy="673486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25" name="Shape 615"/>
            <p:cNvSpPr/>
            <p:nvPr/>
          </p:nvSpPr>
          <p:spPr>
            <a:xfrm flipH="1">
              <a:off x="1653259" y="446193"/>
              <a:ext cx="778935" cy="625406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26" name="Shape 616"/>
            <p:cNvSpPr/>
            <p:nvPr/>
          </p:nvSpPr>
          <p:spPr>
            <a:xfrm flipH="1">
              <a:off x="1054947" y="1599918"/>
              <a:ext cx="383824" cy="623149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27" name="Shape 617"/>
            <p:cNvSpPr/>
            <p:nvPr/>
          </p:nvSpPr>
          <p:spPr>
            <a:xfrm>
              <a:off x="1754858" y="1498600"/>
              <a:ext cx="478650" cy="767646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28" name="Shape 618"/>
            <p:cNvSpPr/>
            <p:nvPr/>
          </p:nvSpPr>
          <p:spPr>
            <a:xfrm flipH="1">
              <a:off x="3159196" y="1599918"/>
              <a:ext cx="383824" cy="623149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29" name="Shape 619"/>
            <p:cNvSpPr/>
            <p:nvPr/>
          </p:nvSpPr>
          <p:spPr>
            <a:xfrm>
              <a:off x="3764281" y="1498600"/>
              <a:ext cx="573477" cy="767646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30" name="Shape 620"/>
            <p:cNvSpPr/>
            <p:nvPr/>
          </p:nvSpPr>
          <p:spPr>
            <a:xfrm flipH="1">
              <a:off x="415995" y="2654301"/>
              <a:ext cx="383824" cy="623148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633" name="Group 623"/>
            <p:cNvGrpSpPr/>
            <p:nvPr/>
          </p:nvGrpSpPr>
          <p:grpSpPr>
            <a:xfrm>
              <a:off x="3330787" y="1058050"/>
              <a:ext cx="624339" cy="623439"/>
              <a:chOff x="0" y="0"/>
              <a:chExt cx="624338" cy="623438"/>
            </a:xfrm>
          </p:grpSpPr>
          <p:sp>
            <p:nvSpPr>
              <p:cNvPr id="631" name="Shape 621"/>
              <p:cNvSpPr/>
              <p:nvPr/>
            </p:nvSpPr>
            <p:spPr>
              <a:xfrm>
                <a:off x="-1" y="0"/>
                <a:ext cx="624339" cy="623439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32" name="Shape 622"/>
              <p:cNvSpPr txBox="1"/>
              <p:nvPr/>
            </p:nvSpPr>
            <p:spPr>
              <a:xfrm>
                <a:off x="75278" y="63400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65</a:t>
                </a:r>
              </a:p>
            </p:txBody>
          </p:sp>
        </p:grpSp>
        <p:grpSp>
          <p:nvGrpSpPr>
            <p:cNvPr id="636" name="Group 626"/>
            <p:cNvGrpSpPr/>
            <p:nvPr/>
          </p:nvGrpSpPr>
          <p:grpSpPr>
            <a:xfrm>
              <a:off x="590973" y="2192867"/>
              <a:ext cx="623149" cy="620121"/>
              <a:chOff x="0" y="0"/>
              <a:chExt cx="623148" cy="620119"/>
            </a:xfrm>
          </p:grpSpPr>
          <p:sp>
            <p:nvSpPr>
              <p:cNvPr id="634" name="Shape 624"/>
              <p:cNvSpPr/>
              <p:nvPr/>
            </p:nvSpPr>
            <p:spPr>
              <a:xfrm>
                <a:off x="0" y="-1"/>
                <a:ext cx="623149" cy="620121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35" name="Shape 625"/>
              <p:cNvSpPr txBox="1"/>
              <p:nvPr/>
            </p:nvSpPr>
            <p:spPr>
              <a:xfrm>
                <a:off x="56754" y="75932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49</a:t>
                </a:r>
              </a:p>
            </p:txBody>
          </p:sp>
        </p:grpSp>
        <p:grpSp>
          <p:nvGrpSpPr>
            <p:cNvPr id="639" name="Group 629"/>
            <p:cNvGrpSpPr/>
            <p:nvPr/>
          </p:nvGrpSpPr>
          <p:grpSpPr>
            <a:xfrm>
              <a:off x="1996440" y="2078567"/>
              <a:ext cx="623301" cy="624625"/>
              <a:chOff x="0" y="0"/>
              <a:chExt cx="623299" cy="624623"/>
            </a:xfrm>
          </p:grpSpPr>
          <p:sp>
            <p:nvSpPr>
              <p:cNvPr id="637" name="Shape 627"/>
              <p:cNvSpPr/>
              <p:nvPr/>
            </p:nvSpPr>
            <p:spPr>
              <a:xfrm>
                <a:off x="-1" y="0"/>
                <a:ext cx="623301" cy="62462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38" name="Shape 628"/>
              <p:cNvSpPr txBox="1"/>
              <p:nvPr/>
            </p:nvSpPr>
            <p:spPr>
              <a:xfrm>
                <a:off x="58936" y="82298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50</a:t>
                </a:r>
              </a:p>
            </p:txBody>
          </p:sp>
        </p:grpSp>
        <p:grpSp>
          <p:nvGrpSpPr>
            <p:cNvPr id="642" name="Group 632"/>
            <p:cNvGrpSpPr/>
            <p:nvPr/>
          </p:nvGrpSpPr>
          <p:grpSpPr>
            <a:xfrm>
              <a:off x="2917614" y="2055989"/>
              <a:ext cx="621045" cy="622167"/>
              <a:chOff x="0" y="0"/>
              <a:chExt cx="621044" cy="622165"/>
            </a:xfrm>
          </p:grpSpPr>
          <p:sp>
            <p:nvSpPr>
              <p:cNvPr id="640" name="Shape 630"/>
              <p:cNvSpPr/>
              <p:nvPr/>
            </p:nvSpPr>
            <p:spPr>
              <a:xfrm>
                <a:off x="-1" y="0"/>
                <a:ext cx="621046" cy="622167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41" name="Shape 631"/>
              <p:cNvSpPr txBox="1"/>
              <p:nvPr/>
            </p:nvSpPr>
            <p:spPr>
              <a:xfrm>
                <a:off x="56755" y="76183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27</a:t>
                </a:r>
              </a:p>
            </p:txBody>
          </p:sp>
        </p:grpSp>
        <p:grpSp>
          <p:nvGrpSpPr>
            <p:cNvPr id="645" name="Group 635"/>
            <p:cNvGrpSpPr/>
            <p:nvPr/>
          </p:nvGrpSpPr>
          <p:grpSpPr>
            <a:xfrm>
              <a:off x="3860236" y="2057401"/>
              <a:ext cx="623303" cy="626673"/>
              <a:chOff x="0" y="0"/>
              <a:chExt cx="623302" cy="626672"/>
            </a:xfrm>
          </p:grpSpPr>
          <p:sp>
            <p:nvSpPr>
              <p:cNvPr id="643" name="Shape 633"/>
              <p:cNvSpPr/>
              <p:nvPr/>
            </p:nvSpPr>
            <p:spPr>
              <a:xfrm>
                <a:off x="0" y="-1"/>
                <a:ext cx="623303" cy="626674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44" name="Shape 634"/>
              <p:cNvSpPr txBox="1"/>
              <p:nvPr/>
            </p:nvSpPr>
            <p:spPr>
              <a:xfrm>
                <a:off x="58936" y="75088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38</a:t>
                </a:r>
              </a:p>
            </p:txBody>
          </p:sp>
        </p:grpSp>
        <p:grpSp>
          <p:nvGrpSpPr>
            <p:cNvPr id="648" name="Group 638"/>
            <p:cNvGrpSpPr/>
            <p:nvPr/>
          </p:nvGrpSpPr>
          <p:grpSpPr>
            <a:xfrm>
              <a:off x="1340351" y="1071597"/>
              <a:ext cx="624483" cy="623295"/>
              <a:chOff x="0" y="0"/>
              <a:chExt cx="624481" cy="623294"/>
            </a:xfrm>
          </p:grpSpPr>
          <p:sp>
            <p:nvSpPr>
              <p:cNvPr id="646" name="Shape 636"/>
              <p:cNvSpPr/>
              <p:nvPr/>
            </p:nvSpPr>
            <p:spPr>
              <a:xfrm>
                <a:off x="0" y="-1"/>
                <a:ext cx="624483" cy="623296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47" name="Shape 637"/>
              <p:cNvSpPr txBox="1"/>
              <p:nvPr/>
            </p:nvSpPr>
            <p:spPr>
              <a:xfrm>
                <a:off x="37379" y="61272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76</a:t>
                </a:r>
              </a:p>
            </p:txBody>
          </p:sp>
        </p:grpSp>
        <p:grpSp>
          <p:nvGrpSpPr>
            <p:cNvPr id="651" name="Group 641"/>
            <p:cNvGrpSpPr/>
            <p:nvPr/>
          </p:nvGrpSpPr>
          <p:grpSpPr>
            <a:xfrm>
              <a:off x="2384778" y="0"/>
              <a:ext cx="623303" cy="625406"/>
              <a:chOff x="0" y="0"/>
              <a:chExt cx="623302" cy="625405"/>
            </a:xfrm>
          </p:grpSpPr>
          <p:sp>
            <p:nvSpPr>
              <p:cNvPr id="649" name="Shape 639"/>
              <p:cNvSpPr/>
              <p:nvPr/>
            </p:nvSpPr>
            <p:spPr>
              <a:xfrm>
                <a:off x="0" y="0"/>
                <a:ext cx="623303" cy="625406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50" name="Shape 640"/>
              <p:cNvSpPr txBox="1"/>
              <p:nvPr/>
            </p:nvSpPr>
            <p:spPr>
              <a:xfrm>
                <a:off x="58936" y="41700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97</a:t>
                </a:r>
              </a:p>
            </p:txBody>
          </p:sp>
        </p:grpSp>
        <p:grpSp>
          <p:nvGrpSpPr>
            <p:cNvPr id="654" name="Group 644"/>
            <p:cNvGrpSpPr/>
            <p:nvPr/>
          </p:nvGrpSpPr>
          <p:grpSpPr>
            <a:xfrm>
              <a:off x="0" y="3251201"/>
              <a:ext cx="623149" cy="620119"/>
              <a:chOff x="0" y="0"/>
              <a:chExt cx="623148" cy="620117"/>
            </a:xfrm>
          </p:grpSpPr>
          <p:sp>
            <p:nvSpPr>
              <p:cNvPr id="652" name="Shape 642"/>
              <p:cNvSpPr/>
              <p:nvPr/>
            </p:nvSpPr>
            <p:spPr>
              <a:xfrm>
                <a:off x="0" y="0"/>
                <a:ext cx="623149" cy="620118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53" name="Shape 643"/>
              <p:cNvSpPr txBox="1"/>
              <p:nvPr/>
            </p:nvSpPr>
            <p:spPr>
              <a:xfrm>
                <a:off x="56754" y="75932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49</a:t>
                </a:r>
              </a:p>
            </p:txBody>
          </p:sp>
        </p:grpSp>
        <p:grpSp>
          <p:nvGrpSpPr>
            <p:cNvPr id="657" name="Group 647"/>
            <p:cNvGrpSpPr/>
            <p:nvPr/>
          </p:nvGrpSpPr>
          <p:grpSpPr>
            <a:xfrm>
              <a:off x="1333500" y="1066800"/>
              <a:ext cx="623301" cy="624625"/>
              <a:chOff x="0" y="0"/>
              <a:chExt cx="623299" cy="624623"/>
            </a:xfrm>
          </p:grpSpPr>
          <p:sp>
            <p:nvSpPr>
              <p:cNvPr id="655" name="Shape 645"/>
              <p:cNvSpPr/>
              <p:nvPr/>
            </p:nvSpPr>
            <p:spPr>
              <a:xfrm>
                <a:off x="-1" y="0"/>
                <a:ext cx="623301" cy="62462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56" name="Shape 646"/>
              <p:cNvSpPr txBox="1"/>
              <p:nvPr/>
            </p:nvSpPr>
            <p:spPr>
              <a:xfrm>
                <a:off x="63451" y="82298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81</a:t>
                </a:r>
              </a:p>
            </p:txBody>
          </p:sp>
        </p:grpSp>
        <p:grpSp>
          <p:nvGrpSpPr>
            <p:cNvPr id="660" name="Group 650"/>
            <p:cNvGrpSpPr/>
            <p:nvPr/>
          </p:nvGrpSpPr>
          <p:grpSpPr>
            <a:xfrm>
              <a:off x="584200" y="2197101"/>
              <a:ext cx="624483" cy="623295"/>
              <a:chOff x="0" y="0"/>
              <a:chExt cx="624481" cy="623293"/>
            </a:xfrm>
          </p:grpSpPr>
          <p:sp>
            <p:nvSpPr>
              <p:cNvPr id="658" name="Shape 648"/>
              <p:cNvSpPr/>
              <p:nvPr/>
            </p:nvSpPr>
            <p:spPr>
              <a:xfrm>
                <a:off x="0" y="0"/>
                <a:ext cx="624483" cy="623294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59" name="Shape 649"/>
              <p:cNvSpPr txBox="1"/>
              <p:nvPr/>
            </p:nvSpPr>
            <p:spPr>
              <a:xfrm>
                <a:off x="37379" y="61273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76</a:t>
                </a:r>
              </a:p>
            </p:txBody>
          </p:sp>
        </p:grpSp>
        <p:sp>
          <p:nvSpPr>
            <p:cNvPr id="661" name="0"/>
            <p:cNvSpPr txBox="1"/>
            <p:nvPr/>
          </p:nvSpPr>
          <p:spPr>
            <a:xfrm>
              <a:off x="2502429" y="541261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662" name="1"/>
            <p:cNvSpPr txBox="1"/>
            <p:nvPr/>
          </p:nvSpPr>
          <p:spPr>
            <a:xfrm>
              <a:off x="1420671" y="1753955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663" name="2"/>
            <p:cNvSpPr txBox="1"/>
            <p:nvPr/>
          </p:nvSpPr>
          <p:spPr>
            <a:xfrm>
              <a:off x="3461657" y="1753955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664" name="3"/>
            <p:cNvSpPr txBox="1"/>
            <p:nvPr/>
          </p:nvSpPr>
          <p:spPr>
            <a:xfrm>
              <a:off x="721247" y="2745367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665" name="4"/>
            <p:cNvSpPr txBox="1"/>
            <p:nvPr/>
          </p:nvSpPr>
          <p:spPr>
            <a:xfrm>
              <a:off x="2126791" y="2745367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666" name="5"/>
            <p:cNvSpPr txBox="1"/>
            <p:nvPr/>
          </p:nvSpPr>
          <p:spPr>
            <a:xfrm>
              <a:off x="3046836" y="2745367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667" name="6"/>
            <p:cNvSpPr txBox="1"/>
            <p:nvPr/>
          </p:nvSpPr>
          <p:spPr>
            <a:xfrm>
              <a:off x="3990588" y="2745367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6</a:t>
              </a:r>
            </a:p>
          </p:txBody>
        </p:sp>
        <p:sp>
          <p:nvSpPr>
            <p:cNvPr id="668" name="7"/>
            <p:cNvSpPr txBox="1"/>
            <p:nvPr/>
          </p:nvSpPr>
          <p:spPr>
            <a:xfrm>
              <a:off x="92250" y="3864038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Shape 591"/>
          <p:cNvSpPr txBox="1"/>
          <p:nvPr>
            <p:ph type="title"/>
          </p:nvPr>
        </p:nvSpPr>
        <p:spPr>
          <a:xfrm>
            <a:off x="1611488" y="125588"/>
            <a:ext cx="9448801" cy="952501"/>
          </a:xfrm>
          <a:prstGeom prst="rect">
            <a:avLst/>
          </a:prstGeom>
        </p:spPr>
        <p:txBody>
          <a:bodyPr/>
          <a:lstStyle/>
          <a:p>
            <a:pPr/>
            <a:r>
              <a:t>最大优先级队列的实现-SiftUp</a:t>
            </a:r>
          </a:p>
        </p:txBody>
      </p:sp>
      <p:sp>
        <p:nvSpPr>
          <p:cNvPr id="672" name="@SuppressWarnings(&quot;unchecked&quot;)…"/>
          <p:cNvSpPr txBox="1"/>
          <p:nvPr/>
        </p:nvSpPr>
        <p:spPr>
          <a:xfrm>
            <a:off x="225656" y="2221723"/>
            <a:ext cx="9564639" cy="5310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20000"/>
              </a:lnSpc>
              <a:defRPr sz="2000">
                <a:solidFill>
                  <a:srgbClr val="777777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    </a:t>
            </a:r>
            <a:r>
              <a:t>@SuppressWarnings</a:t>
            </a:r>
            <a:r>
              <a:rPr>
                <a:solidFill>
                  <a:srgbClr val="000000"/>
                </a:solidFill>
              </a:rPr>
              <a:t>(</a:t>
            </a:r>
            <a:r>
              <a:rPr>
                <a:solidFill>
                  <a:srgbClr val="3933FF"/>
                </a:solidFill>
              </a:rPr>
              <a:t>"unchecked"</a:t>
            </a:r>
            <a:r>
              <a:rPr>
                <a:solidFill>
                  <a:srgbClr val="000000"/>
                </a:solidFill>
              </a:rPr>
              <a:t>)</a:t>
            </a:r>
            <a:endParaRPr>
              <a:solidFill>
                <a:srgbClr val="000000"/>
              </a:solidFill>
            </a:endParaRPr>
          </a:p>
          <a:p>
            <a:pPr indent="0">
              <a:lnSpc>
                <a:spcPct val="12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siftUp(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k</a:t>
            </a:r>
            <a:r>
              <a:t>, T </a:t>
            </a:r>
            <a:r>
              <a:rPr>
                <a:solidFill>
                  <a:srgbClr val="7E504F"/>
                </a:solidFill>
              </a:rPr>
              <a:t>x</a:t>
            </a:r>
            <a:r>
              <a:t>) {</a:t>
            </a:r>
          </a:p>
          <a:p>
            <a:pPr indent="0">
              <a:lnSpc>
                <a:spcPct val="12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Comparable&lt;? </a:t>
            </a:r>
            <a:r>
              <a:rPr>
                <a:solidFill>
                  <a:srgbClr val="931A68"/>
                </a:solidFill>
              </a:rPr>
              <a:t>super</a:t>
            </a:r>
            <a:r>
              <a:t> T&gt; </a:t>
            </a:r>
            <a:r>
              <a:rPr>
                <a:solidFill>
                  <a:srgbClr val="7E504F"/>
                </a:solidFill>
              </a:rPr>
              <a:t>key</a:t>
            </a:r>
            <a:r>
              <a:t> = (Comparable&lt;? </a:t>
            </a:r>
            <a:r>
              <a:rPr>
                <a:solidFill>
                  <a:srgbClr val="931A68"/>
                </a:solidFill>
              </a:rPr>
              <a:t>super</a:t>
            </a:r>
            <a:r>
              <a:t> T&gt;) </a:t>
            </a:r>
            <a:r>
              <a:rPr>
                <a:solidFill>
                  <a:srgbClr val="7E504F"/>
                </a:solidFill>
              </a:rPr>
              <a:t>x</a:t>
            </a:r>
            <a:r>
              <a:t>;</a:t>
            </a:r>
          </a:p>
          <a:p>
            <a:pPr indent="0">
              <a:lnSpc>
                <a:spcPct val="12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</a:t>
            </a:r>
            <a:r>
              <a:rPr>
                <a:solidFill>
                  <a:srgbClr val="931A68"/>
                </a:solidFill>
              </a:rPr>
              <a:t>while</a:t>
            </a:r>
            <a:r>
              <a:t> (</a:t>
            </a:r>
            <a:r>
              <a:rPr>
                <a:solidFill>
                  <a:srgbClr val="7E504F"/>
                </a:solidFill>
              </a:rPr>
              <a:t>k</a:t>
            </a:r>
            <a:r>
              <a:t> &gt; 0) {</a:t>
            </a:r>
          </a:p>
          <a:p>
            <a:pPr indent="0">
              <a:lnSpc>
                <a:spcPct val="12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   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parent</a:t>
            </a:r>
            <a:r>
              <a:t> = (</a:t>
            </a:r>
            <a:r>
              <a:rPr>
                <a:solidFill>
                  <a:srgbClr val="7E504F"/>
                </a:solidFill>
              </a:rPr>
              <a:t>k</a:t>
            </a:r>
            <a:r>
              <a:t> - 1) &gt;&gt;&gt; 1;</a:t>
            </a:r>
          </a:p>
          <a:p>
            <a:pPr indent="0">
              <a:lnSpc>
                <a:spcPct val="12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    Object </a:t>
            </a:r>
            <a:r>
              <a:rPr>
                <a:solidFill>
                  <a:srgbClr val="7E504F"/>
                </a:solidFill>
              </a:rPr>
              <a:t>e</a:t>
            </a:r>
            <a:r>
              <a:t> = </a:t>
            </a:r>
            <a:r>
              <a:rPr>
                <a:solidFill>
                  <a:srgbClr val="0326CC"/>
                </a:solidFill>
              </a:rPr>
              <a:t>elements</a:t>
            </a:r>
            <a:r>
              <a:t>[</a:t>
            </a:r>
            <a:r>
              <a:rPr>
                <a:solidFill>
                  <a:srgbClr val="7E504F"/>
                </a:solidFill>
              </a:rPr>
              <a:t>parent</a:t>
            </a:r>
            <a:r>
              <a:t>];</a:t>
            </a:r>
          </a:p>
          <a:p>
            <a:pPr indent="0">
              <a:lnSpc>
                <a:spcPct val="12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    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key</a:t>
            </a:r>
            <a:r>
              <a:t>.compareTo((T) </a:t>
            </a:r>
            <a:r>
              <a:rPr>
                <a:solidFill>
                  <a:srgbClr val="7E504F"/>
                </a:solidFill>
              </a:rPr>
              <a:t>e</a:t>
            </a:r>
            <a:r>
              <a:t>) &lt; 0)</a:t>
            </a:r>
          </a:p>
          <a:p>
            <a:pPr indent="0">
              <a:lnSpc>
                <a:spcPct val="12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        </a:t>
            </a:r>
            <a:r>
              <a:rPr>
                <a:solidFill>
                  <a:srgbClr val="931A68"/>
                </a:solidFill>
              </a:rPr>
              <a:t>break</a:t>
            </a:r>
            <a:r>
              <a:t>;</a:t>
            </a:r>
          </a:p>
          <a:p>
            <a:pPr indent="0">
              <a:lnSpc>
                <a:spcPct val="12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    </a:t>
            </a:r>
            <a:r>
              <a:rPr>
                <a:solidFill>
                  <a:srgbClr val="0326CC"/>
                </a:solidFill>
              </a:rPr>
              <a:t>elements</a:t>
            </a:r>
            <a:r>
              <a:t>[</a:t>
            </a:r>
            <a:r>
              <a:rPr>
                <a:solidFill>
                  <a:srgbClr val="7E504F"/>
                </a:solidFill>
              </a:rPr>
              <a:t>k</a:t>
            </a:r>
            <a:r>
              <a:t>] = </a:t>
            </a:r>
            <a:r>
              <a:rPr>
                <a:solidFill>
                  <a:srgbClr val="7E504F"/>
                </a:solidFill>
              </a:rPr>
              <a:t>e</a:t>
            </a:r>
            <a:r>
              <a:t>;</a:t>
            </a:r>
          </a:p>
          <a:p>
            <a:pPr indent="0">
              <a:lnSpc>
                <a:spcPct val="12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    </a:t>
            </a:r>
            <a:r>
              <a:rPr>
                <a:solidFill>
                  <a:srgbClr val="7E504F"/>
                </a:solidFill>
              </a:rPr>
              <a:t>k</a:t>
            </a:r>
            <a:r>
              <a:t> = </a:t>
            </a:r>
            <a:r>
              <a:rPr>
                <a:solidFill>
                  <a:srgbClr val="7E504F"/>
                </a:solidFill>
              </a:rPr>
              <a:t>parent</a:t>
            </a:r>
            <a:r>
              <a:t>;</a:t>
            </a:r>
          </a:p>
          <a:p>
            <a:pPr indent="0">
              <a:lnSpc>
                <a:spcPct val="12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}</a:t>
            </a:r>
          </a:p>
          <a:p>
            <a:pPr indent="0">
              <a:lnSpc>
                <a:spcPct val="12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</a:t>
            </a:r>
            <a:r>
              <a:rPr>
                <a:solidFill>
                  <a:srgbClr val="0326CC"/>
                </a:solidFill>
              </a:rPr>
              <a:t>elements</a:t>
            </a:r>
            <a:r>
              <a:t>[</a:t>
            </a:r>
            <a:r>
              <a:rPr>
                <a:solidFill>
                  <a:srgbClr val="7E504F"/>
                </a:solidFill>
              </a:rPr>
              <a:t>k</a:t>
            </a:r>
            <a:r>
              <a:t>] = </a:t>
            </a:r>
            <a:r>
              <a:rPr>
                <a:solidFill>
                  <a:srgbClr val="7E504F"/>
                </a:solidFill>
              </a:rPr>
              <a:t>key</a:t>
            </a:r>
            <a:r>
              <a:t>;</a:t>
            </a:r>
          </a:p>
          <a:p>
            <a:pPr indent="0">
              <a:lnSpc>
                <a:spcPct val="120000"/>
              </a:lnSpc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}</a:t>
            </a:r>
          </a:p>
        </p:txBody>
      </p:sp>
      <p:grpSp>
        <p:nvGrpSpPr>
          <p:cNvPr id="729" name="成组"/>
          <p:cNvGrpSpPr/>
          <p:nvPr/>
        </p:nvGrpSpPr>
        <p:grpSpPr>
          <a:xfrm>
            <a:off x="7445599" y="3436977"/>
            <a:ext cx="4483539" cy="4479900"/>
            <a:chOff x="0" y="0"/>
            <a:chExt cx="4483538" cy="4479899"/>
          </a:xfrm>
        </p:grpSpPr>
        <p:grpSp>
          <p:nvGrpSpPr>
            <p:cNvPr id="675" name="Group 610"/>
            <p:cNvGrpSpPr/>
            <p:nvPr/>
          </p:nvGrpSpPr>
          <p:grpSpPr>
            <a:xfrm>
              <a:off x="584199" y="2197101"/>
              <a:ext cx="623301" cy="624625"/>
              <a:chOff x="0" y="0"/>
              <a:chExt cx="623299" cy="624623"/>
            </a:xfrm>
          </p:grpSpPr>
          <p:sp>
            <p:nvSpPr>
              <p:cNvPr id="673" name="Shape 608"/>
              <p:cNvSpPr/>
              <p:nvPr/>
            </p:nvSpPr>
            <p:spPr>
              <a:xfrm>
                <a:off x="-1" y="0"/>
                <a:ext cx="623301" cy="62462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74" name="Shape 609"/>
              <p:cNvSpPr txBox="1"/>
              <p:nvPr/>
            </p:nvSpPr>
            <p:spPr>
              <a:xfrm>
                <a:off x="63451" y="82298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81</a:t>
                </a:r>
              </a:p>
            </p:txBody>
          </p:sp>
        </p:grpSp>
        <p:grpSp>
          <p:nvGrpSpPr>
            <p:cNvPr id="678" name="Group 613"/>
            <p:cNvGrpSpPr/>
            <p:nvPr/>
          </p:nvGrpSpPr>
          <p:grpSpPr>
            <a:xfrm>
              <a:off x="0" y="3250353"/>
              <a:ext cx="623300" cy="624627"/>
              <a:chOff x="0" y="0"/>
              <a:chExt cx="623299" cy="624626"/>
            </a:xfrm>
          </p:grpSpPr>
          <p:sp>
            <p:nvSpPr>
              <p:cNvPr id="676" name="Shape 611"/>
              <p:cNvSpPr/>
              <p:nvPr/>
            </p:nvSpPr>
            <p:spPr>
              <a:xfrm>
                <a:off x="-1" y="-1"/>
                <a:ext cx="623301" cy="624628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77" name="Shape 612"/>
              <p:cNvSpPr txBox="1"/>
              <p:nvPr/>
            </p:nvSpPr>
            <p:spPr>
              <a:xfrm>
                <a:off x="63451" y="82298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81</a:t>
                </a:r>
              </a:p>
            </p:txBody>
          </p:sp>
        </p:grpSp>
        <p:sp>
          <p:nvSpPr>
            <p:cNvPr id="679" name="Shape 614"/>
            <p:cNvSpPr/>
            <p:nvPr/>
          </p:nvSpPr>
          <p:spPr>
            <a:xfrm>
              <a:off x="2942450" y="412326"/>
              <a:ext cx="583351" cy="673486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80" name="Shape 615"/>
            <p:cNvSpPr/>
            <p:nvPr/>
          </p:nvSpPr>
          <p:spPr>
            <a:xfrm flipH="1">
              <a:off x="1653259" y="446193"/>
              <a:ext cx="778935" cy="625406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81" name="Shape 616"/>
            <p:cNvSpPr/>
            <p:nvPr/>
          </p:nvSpPr>
          <p:spPr>
            <a:xfrm flipH="1">
              <a:off x="1054947" y="1599917"/>
              <a:ext cx="383824" cy="623149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82" name="Shape 617"/>
            <p:cNvSpPr/>
            <p:nvPr/>
          </p:nvSpPr>
          <p:spPr>
            <a:xfrm>
              <a:off x="1754858" y="1498600"/>
              <a:ext cx="478650" cy="767646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83" name="Shape 618"/>
            <p:cNvSpPr/>
            <p:nvPr/>
          </p:nvSpPr>
          <p:spPr>
            <a:xfrm flipH="1">
              <a:off x="3159196" y="1599917"/>
              <a:ext cx="383824" cy="623149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84" name="Shape 619"/>
            <p:cNvSpPr/>
            <p:nvPr/>
          </p:nvSpPr>
          <p:spPr>
            <a:xfrm>
              <a:off x="3764281" y="1498600"/>
              <a:ext cx="573477" cy="767646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85" name="Shape 620"/>
            <p:cNvSpPr/>
            <p:nvPr/>
          </p:nvSpPr>
          <p:spPr>
            <a:xfrm flipH="1">
              <a:off x="415995" y="2654301"/>
              <a:ext cx="383824" cy="623148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688" name="Group 623"/>
            <p:cNvGrpSpPr/>
            <p:nvPr/>
          </p:nvGrpSpPr>
          <p:grpSpPr>
            <a:xfrm>
              <a:off x="3330787" y="1058050"/>
              <a:ext cx="624339" cy="623439"/>
              <a:chOff x="0" y="0"/>
              <a:chExt cx="624338" cy="623438"/>
            </a:xfrm>
          </p:grpSpPr>
          <p:sp>
            <p:nvSpPr>
              <p:cNvPr id="686" name="Shape 621"/>
              <p:cNvSpPr/>
              <p:nvPr/>
            </p:nvSpPr>
            <p:spPr>
              <a:xfrm>
                <a:off x="-1" y="0"/>
                <a:ext cx="624339" cy="623439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87" name="Shape 622"/>
              <p:cNvSpPr txBox="1"/>
              <p:nvPr/>
            </p:nvSpPr>
            <p:spPr>
              <a:xfrm>
                <a:off x="75278" y="63400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65</a:t>
                </a:r>
              </a:p>
            </p:txBody>
          </p:sp>
        </p:grpSp>
        <p:grpSp>
          <p:nvGrpSpPr>
            <p:cNvPr id="691" name="Group 626"/>
            <p:cNvGrpSpPr/>
            <p:nvPr/>
          </p:nvGrpSpPr>
          <p:grpSpPr>
            <a:xfrm>
              <a:off x="590973" y="2192867"/>
              <a:ext cx="623149" cy="620121"/>
              <a:chOff x="0" y="0"/>
              <a:chExt cx="623148" cy="620119"/>
            </a:xfrm>
          </p:grpSpPr>
          <p:sp>
            <p:nvSpPr>
              <p:cNvPr id="689" name="Shape 624"/>
              <p:cNvSpPr/>
              <p:nvPr/>
            </p:nvSpPr>
            <p:spPr>
              <a:xfrm>
                <a:off x="0" y="-1"/>
                <a:ext cx="623149" cy="620121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90" name="Shape 625"/>
              <p:cNvSpPr txBox="1"/>
              <p:nvPr/>
            </p:nvSpPr>
            <p:spPr>
              <a:xfrm>
                <a:off x="56754" y="75932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49</a:t>
                </a:r>
              </a:p>
            </p:txBody>
          </p:sp>
        </p:grpSp>
        <p:grpSp>
          <p:nvGrpSpPr>
            <p:cNvPr id="694" name="Group 629"/>
            <p:cNvGrpSpPr/>
            <p:nvPr/>
          </p:nvGrpSpPr>
          <p:grpSpPr>
            <a:xfrm>
              <a:off x="1996440" y="2078566"/>
              <a:ext cx="623301" cy="624625"/>
              <a:chOff x="0" y="0"/>
              <a:chExt cx="623299" cy="624623"/>
            </a:xfrm>
          </p:grpSpPr>
          <p:sp>
            <p:nvSpPr>
              <p:cNvPr id="692" name="Shape 627"/>
              <p:cNvSpPr/>
              <p:nvPr/>
            </p:nvSpPr>
            <p:spPr>
              <a:xfrm>
                <a:off x="-1" y="0"/>
                <a:ext cx="623301" cy="62462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93" name="Shape 628"/>
              <p:cNvSpPr txBox="1"/>
              <p:nvPr/>
            </p:nvSpPr>
            <p:spPr>
              <a:xfrm>
                <a:off x="58936" y="82298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50</a:t>
                </a:r>
              </a:p>
            </p:txBody>
          </p:sp>
        </p:grpSp>
        <p:grpSp>
          <p:nvGrpSpPr>
            <p:cNvPr id="697" name="Group 632"/>
            <p:cNvGrpSpPr/>
            <p:nvPr/>
          </p:nvGrpSpPr>
          <p:grpSpPr>
            <a:xfrm>
              <a:off x="2917614" y="2055989"/>
              <a:ext cx="621045" cy="622167"/>
              <a:chOff x="0" y="0"/>
              <a:chExt cx="621044" cy="622165"/>
            </a:xfrm>
          </p:grpSpPr>
          <p:sp>
            <p:nvSpPr>
              <p:cNvPr id="695" name="Shape 630"/>
              <p:cNvSpPr/>
              <p:nvPr/>
            </p:nvSpPr>
            <p:spPr>
              <a:xfrm>
                <a:off x="-1" y="0"/>
                <a:ext cx="621046" cy="622167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96" name="Shape 631"/>
              <p:cNvSpPr txBox="1"/>
              <p:nvPr/>
            </p:nvSpPr>
            <p:spPr>
              <a:xfrm>
                <a:off x="56755" y="76183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27</a:t>
                </a:r>
              </a:p>
            </p:txBody>
          </p:sp>
        </p:grpSp>
        <p:grpSp>
          <p:nvGrpSpPr>
            <p:cNvPr id="700" name="Group 635"/>
            <p:cNvGrpSpPr/>
            <p:nvPr/>
          </p:nvGrpSpPr>
          <p:grpSpPr>
            <a:xfrm>
              <a:off x="3860236" y="2057401"/>
              <a:ext cx="623303" cy="626673"/>
              <a:chOff x="0" y="0"/>
              <a:chExt cx="623302" cy="626672"/>
            </a:xfrm>
          </p:grpSpPr>
          <p:sp>
            <p:nvSpPr>
              <p:cNvPr id="698" name="Shape 633"/>
              <p:cNvSpPr/>
              <p:nvPr/>
            </p:nvSpPr>
            <p:spPr>
              <a:xfrm>
                <a:off x="0" y="-1"/>
                <a:ext cx="623303" cy="626674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99" name="Shape 634"/>
              <p:cNvSpPr txBox="1"/>
              <p:nvPr/>
            </p:nvSpPr>
            <p:spPr>
              <a:xfrm>
                <a:off x="58936" y="75088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38</a:t>
                </a:r>
              </a:p>
            </p:txBody>
          </p:sp>
        </p:grpSp>
        <p:grpSp>
          <p:nvGrpSpPr>
            <p:cNvPr id="703" name="Group 638"/>
            <p:cNvGrpSpPr/>
            <p:nvPr/>
          </p:nvGrpSpPr>
          <p:grpSpPr>
            <a:xfrm>
              <a:off x="1340351" y="1071597"/>
              <a:ext cx="624483" cy="623295"/>
              <a:chOff x="0" y="0"/>
              <a:chExt cx="624481" cy="623294"/>
            </a:xfrm>
          </p:grpSpPr>
          <p:sp>
            <p:nvSpPr>
              <p:cNvPr id="701" name="Shape 636"/>
              <p:cNvSpPr/>
              <p:nvPr/>
            </p:nvSpPr>
            <p:spPr>
              <a:xfrm>
                <a:off x="0" y="-1"/>
                <a:ext cx="624483" cy="623296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02" name="Shape 637"/>
              <p:cNvSpPr txBox="1"/>
              <p:nvPr/>
            </p:nvSpPr>
            <p:spPr>
              <a:xfrm>
                <a:off x="37379" y="61272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76</a:t>
                </a:r>
              </a:p>
            </p:txBody>
          </p:sp>
        </p:grpSp>
        <p:grpSp>
          <p:nvGrpSpPr>
            <p:cNvPr id="706" name="Group 641"/>
            <p:cNvGrpSpPr/>
            <p:nvPr/>
          </p:nvGrpSpPr>
          <p:grpSpPr>
            <a:xfrm>
              <a:off x="2384777" y="0"/>
              <a:ext cx="623303" cy="625406"/>
              <a:chOff x="0" y="0"/>
              <a:chExt cx="623302" cy="625405"/>
            </a:xfrm>
          </p:grpSpPr>
          <p:sp>
            <p:nvSpPr>
              <p:cNvPr id="704" name="Shape 639"/>
              <p:cNvSpPr/>
              <p:nvPr/>
            </p:nvSpPr>
            <p:spPr>
              <a:xfrm>
                <a:off x="0" y="0"/>
                <a:ext cx="623303" cy="625406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05" name="Shape 640"/>
              <p:cNvSpPr txBox="1"/>
              <p:nvPr/>
            </p:nvSpPr>
            <p:spPr>
              <a:xfrm>
                <a:off x="58936" y="41700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97</a:t>
                </a:r>
              </a:p>
            </p:txBody>
          </p:sp>
        </p:grpSp>
        <p:grpSp>
          <p:nvGrpSpPr>
            <p:cNvPr id="709" name="Group 644"/>
            <p:cNvGrpSpPr/>
            <p:nvPr/>
          </p:nvGrpSpPr>
          <p:grpSpPr>
            <a:xfrm>
              <a:off x="0" y="3251201"/>
              <a:ext cx="623149" cy="620119"/>
              <a:chOff x="0" y="0"/>
              <a:chExt cx="623148" cy="620117"/>
            </a:xfrm>
          </p:grpSpPr>
          <p:sp>
            <p:nvSpPr>
              <p:cNvPr id="707" name="Shape 642"/>
              <p:cNvSpPr/>
              <p:nvPr/>
            </p:nvSpPr>
            <p:spPr>
              <a:xfrm>
                <a:off x="0" y="0"/>
                <a:ext cx="623149" cy="620118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08" name="Shape 643"/>
              <p:cNvSpPr txBox="1"/>
              <p:nvPr/>
            </p:nvSpPr>
            <p:spPr>
              <a:xfrm>
                <a:off x="56754" y="75932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49</a:t>
                </a:r>
              </a:p>
            </p:txBody>
          </p:sp>
        </p:grpSp>
        <p:grpSp>
          <p:nvGrpSpPr>
            <p:cNvPr id="712" name="Group 647"/>
            <p:cNvGrpSpPr/>
            <p:nvPr/>
          </p:nvGrpSpPr>
          <p:grpSpPr>
            <a:xfrm>
              <a:off x="1333500" y="1066800"/>
              <a:ext cx="623301" cy="624625"/>
              <a:chOff x="0" y="0"/>
              <a:chExt cx="623299" cy="624623"/>
            </a:xfrm>
          </p:grpSpPr>
          <p:sp>
            <p:nvSpPr>
              <p:cNvPr id="710" name="Shape 645"/>
              <p:cNvSpPr/>
              <p:nvPr/>
            </p:nvSpPr>
            <p:spPr>
              <a:xfrm>
                <a:off x="-1" y="0"/>
                <a:ext cx="623301" cy="62462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11" name="Shape 646"/>
              <p:cNvSpPr txBox="1"/>
              <p:nvPr/>
            </p:nvSpPr>
            <p:spPr>
              <a:xfrm>
                <a:off x="63451" y="82298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81</a:t>
                </a:r>
              </a:p>
            </p:txBody>
          </p:sp>
        </p:grpSp>
        <p:grpSp>
          <p:nvGrpSpPr>
            <p:cNvPr id="715" name="Group 650"/>
            <p:cNvGrpSpPr/>
            <p:nvPr/>
          </p:nvGrpSpPr>
          <p:grpSpPr>
            <a:xfrm>
              <a:off x="584200" y="2197101"/>
              <a:ext cx="624483" cy="623295"/>
              <a:chOff x="0" y="0"/>
              <a:chExt cx="624481" cy="623293"/>
            </a:xfrm>
          </p:grpSpPr>
          <p:sp>
            <p:nvSpPr>
              <p:cNvPr id="713" name="Shape 648"/>
              <p:cNvSpPr/>
              <p:nvPr/>
            </p:nvSpPr>
            <p:spPr>
              <a:xfrm>
                <a:off x="0" y="0"/>
                <a:ext cx="624483" cy="623294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14" name="Shape 649"/>
              <p:cNvSpPr txBox="1"/>
              <p:nvPr/>
            </p:nvSpPr>
            <p:spPr>
              <a:xfrm>
                <a:off x="37379" y="61273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76</a:t>
                </a:r>
              </a:p>
            </p:txBody>
          </p:sp>
        </p:grpSp>
        <p:sp>
          <p:nvSpPr>
            <p:cNvPr id="716" name="0"/>
            <p:cNvSpPr txBox="1"/>
            <p:nvPr/>
          </p:nvSpPr>
          <p:spPr>
            <a:xfrm>
              <a:off x="2502429" y="541261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717" name="1"/>
            <p:cNvSpPr txBox="1"/>
            <p:nvPr/>
          </p:nvSpPr>
          <p:spPr>
            <a:xfrm>
              <a:off x="1420670" y="1753955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718" name="2"/>
            <p:cNvSpPr txBox="1"/>
            <p:nvPr/>
          </p:nvSpPr>
          <p:spPr>
            <a:xfrm>
              <a:off x="3461656" y="1753955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719" name="3"/>
            <p:cNvSpPr txBox="1"/>
            <p:nvPr/>
          </p:nvSpPr>
          <p:spPr>
            <a:xfrm>
              <a:off x="721247" y="2745367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720" name="4"/>
            <p:cNvSpPr txBox="1"/>
            <p:nvPr/>
          </p:nvSpPr>
          <p:spPr>
            <a:xfrm>
              <a:off x="2126791" y="2745367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721" name="5"/>
            <p:cNvSpPr txBox="1"/>
            <p:nvPr/>
          </p:nvSpPr>
          <p:spPr>
            <a:xfrm>
              <a:off x="3046836" y="2745367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722" name="6"/>
            <p:cNvSpPr txBox="1"/>
            <p:nvPr/>
          </p:nvSpPr>
          <p:spPr>
            <a:xfrm>
              <a:off x="3990588" y="2745367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6</a:t>
              </a:r>
            </a:p>
          </p:txBody>
        </p:sp>
        <p:sp>
          <p:nvSpPr>
            <p:cNvPr id="723" name="7"/>
            <p:cNvSpPr txBox="1"/>
            <p:nvPr/>
          </p:nvSpPr>
          <p:spPr>
            <a:xfrm>
              <a:off x="92250" y="3864038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7</a:t>
              </a:r>
            </a:p>
          </p:txBody>
        </p:sp>
        <p:sp>
          <p:nvSpPr>
            <p:cNvPr id="724" name="Shape 617"/>
            <p:cNvSpPr/>
            <p:nvPr/>
          </p:nvSpPr>
          <p:spPr>
            <a:xfrm>
              <a:off x="1166671" y="2715917"/>
              <a:ext cx="478650" cy="767646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727" name="Group 629"/>
            <p:cNvGrpSpPr/>
            <p:nvPr/>
          </p:nvGrpSpPr>
          <p:grpSpPr>
            <a:xfrm>
              <a:off x="1408253" y="3295884"/>
              <a:ext cx="623301" cy="624625"/>
              <a:chOff x="0" y="0"/>
              <a:chExt cx="623299" cy="624623"/>
            </a:xfrm>
          </p:grpSpPr>
          <p:sp>
            <p:nvSpPr>
              <p:cNvPr id="725" name="Shape 627"/>
              <p:cNvSpPr/>
              <p:nvPr/>
            </p:nvSpPr>
            <p:spPr>
              <a:xfrm>
                <a:off x="-1" y="0"/>
                <a:ext cx="623301" cy="62462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26" name="Shape 628"/>
              <p:cNvSpPr txBox="1"/>
              <p:nvPr/>
            </p:nvSpPr>
            <p:spPr>
              <a:xfrm>
                <a:off x="58936" y="82298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98</a:t>
                </a:r>
              </a:p>
            </p:txBody>
          </p:sp>
        </p:grpSp>
        <p:sp>
          <p:nvSpPr>
            <p:cNvPr id="728" name="8"/>
            <p:cNvSpPr txBox="1"/>
            <p:nvPr/>
          </p:nvSpPr>
          <p:spPr>
            <a:xfrm>
              <a:off x="1538603" y="3962684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8</a:t>
              </a:r>
            </a:p>
          </p:txBody>
        </p:sp>
      </p:grpSp>
      <p:sp>
        <p:nvSpPr>
          <p:cNvPr id="730" name="结点98"/>
          <p:cNvSpPr txBox="1"/>
          <p:nvPr/>
        </p:nvSpPr>
        <p:spPr>
          <a:xfrm>
            <a:off x="9332998" y="7959999"/>
            <a:ext cx="1315100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结点98</a:t>
            </a:r>
          </a:p>
        </p:txBody>
      </p:sp>
      <p:sp>
        <p:nvSpPr>
          <p:cNvPr id="731" name="以编号k的结点为根的二叉树满足堆的条件，调整其父结点、…、根结点"/>
          <p:cNvSpPr txBox="1"/>
          <p:nvPr/>
        </p:nvSpPr>
        <p:spPr>
          <a:xfrm>
            <a:off x="335486" y="1398164"/>
            <a:ext cx="12173600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以编号k的结点为根的二叉树满足堆的条件，调整其父结点、…、根结点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Shape 591"/>
          <p:cNvSpPr txBox="1"/>
          <p:nvPr>
            <p:ph type="title"/>
          </p:nvPr>
        </p:nvSpPr>
        <p:spPr>
          <a:xfrm>
            <a:off x="1611488" y="125588"/>
            <a:ext cx="9448801" cy="952501"/>
          </a:xfrm>
          <a:prstGeom prst="rect">
            <a:avLst/>
          </a:prstGeom>
        </p:spPr>
        <p:txBody>
          <a:bodyPr/>
          <a:lstStyle/>
          <a:p>
            <a:pPr/>
            <a:r>
              <a:t>最大优先级队列的实现-SiftDown</a:t>
            </a:r>
          </a:p>
        </p:txBody>
      </p:sp>
      <p:sp>
        <p:nvSpPr>
          <p:cNvPr id="734" name="private void siftDown(int k, T x) {…"/>
          <p:cNvSpPr txBox="1"/>
          <p:nvPr/>
        </p:nvSpPr>
        <p:spPr>
          <a:xfrm>
            <a:off x="66383" y="2069323"/>
            <a:ext cx="12872034" cy="51625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 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siftDown(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k</a:t>
            </a:r>
            <a:r>
              <a:t>, T </a:t>
            </a:r>
            <a:r>
              <a:rPr>
                <a:solidFill>
                  <a:srgbClr val="7E504F"/>
                </a:solidFill>
              </a:rPr>
              <a:t>x</a:t>
            </a:r>
            <a:r>
              <a:t>) {</a:t>
            </a:r>
          </a:p>
          <a:p>
            <a:pPr indent="0"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Comparable&lt;? </a:t>
            </a:r>
            <a:r>
              <a:rPr>
                <a:solidFill>
                  <a:srgbClr val="931A68"/>
                </a:solidFill>
              </a:rPr>
              <a:t>super</a:t>
            </a:r>
            <a:r>
              <a:t> T&gt; </a:t>
            </a:r>
            <a:r>
              <a:rPr>
                <a:solidFill>
                  <a:srgbClr val="7E504F"/>
                </a:solidFill>
              </a:rPr>
              <a:t>key</a:t>
            </a:r>
            <a:r>
              <a:t> = (Comparable&lt;? </a:t>
            </a:r>
            <a:r>
              <a:rPr>
                <a:solidFill>
                  <a:srgbClr val="931A68"/>
                </a:solidFill>
              </a:rPr>
              <a:t>super</a:t>
            </a:r>
            <a:r>
              <a:t> T&gt;) </a:t>
            </a:r>
            <a:r>
              <a:rPr>
                <a:solidFill>
                  <a:srgbClr val="7E504F"/>
                </a:solidFill>
              </a:rPr>
              <a:t>x</a:t>
            </a:r>
            <a:r>
              <a:t>;</a:t>
            </a:r>
          </a:p>
          <a:p>
            <a:pPr indent="0"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leaf</a:t>
            </a:r>
            <a:r>
              <a:t> = </a:t>
            </a:r>
            <a:r>
              <a:rPr>
                <a:solidFill>
                  <a:srgbClr val="0326CC"/>
                </a:solidFill>
              </a:rPr>
              <a:t>size</a:t>
            </a:r>
            <a:r>
              <a:t> &gt;&gt;&gt; 1; </a:t>
            </a:r>
          </a:p>
          <a:p>
            <a:pPr indent="0"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t>while</a:t>
            </a:r>
            <a:r>
              <a:t> (</a:t>
            </a:r>
            <a:r>
              <a:rPr>
                <a:solidFill>
                  <a:srgbClr val="7E504F"/>
                </a:solidFill>
              </a:rPr>
              <a:t>k</a:t>
            </a:r>
            <a:r>
              <a:t> &lt; </a:t>
            </a:r>
            <a:r>
              <a:rPr>
                <a:solidFill>
                  <a:srgbClr val="7E504F"/>
                </a:solidFill>
              </a:rPr>
              <a:t>leaf</a:t>
            </a:r>
            <a:r>
              <a:t>) {</a:t>
            </a:r>
          </a:p>
          <a:p>
            <a:pPr indent="0"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child</a:t>
            </a:r>
            <a:r>
              <a:t> = (</a:t>
            </a:r>
            <a:r>
              <a:rPr>
                <a:solidFill>
                  <a:srgbClr val="7E504F"/>
                </a:solidFill>
              </a:rPr>
              <a:t>k</a:t>
            </a:r>
            <a:r>
              <a:t> &lt;&lt; 1) + 1; </a:t>
            </a:r>
          </a:p>
          <a:p>
            <a:pPr indent="0"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	Object </a:t>
            </a:r>
            <a:r>
              <a:rPr>
                <a:solidFill>
                  <a:srgbClr val="7E504F"/>
                </a:solidFill>
              </a:rPr>
              <a:t>c</a:t>
            </a:r>
            <a:r>
              <a:t> = </a:t>
            </a:r>
            <a:r>
              <a:rPr>
                <a:solidFill>
                  <a:srgbClr val="0326CC"/>
                </a:solidFill>
              </a:rPr>
              <a:t>elements</a:t>
            </a:r>
            <a:r>
              <a:t>[</a:t>
            </a:r>
            <a:r>
              <a:rPr>
                <a:solidFill>
                  <a:srgbClr val="7E504F"/>
                </a:solidFill>
              </a:rPr>
              <a:t>child</a:t>
            </a:r>
            <a:r>
              <a:t>];</a:t>
            </a:r>
          </a:p>
          <a:p>
            <a:pPr indent="0"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right</a:t>
            </a:r>
            <a:r>
              <a:t> = </a:t>
            </a:r>
            <a:r>
              <a:rPr>
                <a:solidFill>
                  <a:srgbClr val="7E504F"/>
                </a:solidFill>
              </a:rPr>
              <a:t>child</a:t>
            </a:r>
            <a:r>
              <a:t> + 1;</a:t>
            </a:r>
          </a:p>
          <a:p>
            <a:pPr indent="0"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right</a:t>
            </a:r>
            <a:r>
              <a:t> &lt; </a:t>
            </a:r>
            <a:r>
              <a:rPr>
                <a:solidFill>
                  <a:srgbClr val="0326CC"/>
                </a:solidFill>
              </a:rPr>
              <a:t>size</a:t>
            </a:r>
            <a:r>
              <a:t> &amp;&amp; ((Comparable&lt;? </a:t>
            </a:r>
            <a:r>
              <a:rPr>
                <a:solidFill>
                  <a:srgbClr val="931A68"/>
                </a:solidFill>
              </a:rPr>
              <a:t>super</a:t>
            </a:r>
            <a:r>
              <a:t> T&gt;) </a:t>
            </a:r>
            <a:r>
              <a:rPr>
                <a:solidFill>
                  <a:srgbClr val="7E504F"/>
                </a:solidFill>
              </a:rPr>
              <a:t>c</a:t>
            </a:r>
            <a:r>
              <a:t>).compareTo((T) </a:t>
            </a:r>
            <a:r>
              <a:rPr>
                <a:solidFill>
                  <a:srgbClr val="0326CC"/>
                </a:solidFill>
              </a:rPr>
              <a:t>elements</a:t>
            </a:r>
            <a:r>
              <a:t>[</a:t>
            </a:r>
            <a:r>
              <a:rPr>
                <a:solidFill>
                  <a:srgbClr val="7E504F"/>
                </a:solidFill>
              </a:rPr>
              <a:t>right</a:t>
            </a:r>
            <a:r>
              <a:t>]) &lt; 0)</a:t>
            </a:r>
          </a:p>
          <a:p>
            <a:pPr indent="0"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7E504F"/>
                </a:solidFill>
              </a:rPr>
              <a:t>c</a:t>
            </a:r>
            <a:r>
              <a:t> = </a:t>
            </a:r>
            <a:r>
              <a:rPr>
                <a:solidFill>
                  <a:srgbClr val="0326CC"/>
                </a:solidFill>
              </a:rPr>
              <a:t>elements</a:t>
            </a:r>
            <a:r>
              <a:t>[</a:t>
            </a:r>
            <a:r>
              <a:rPr>
                <a:solidFill>
                  <a:srgbClr val="7E504F"/>
                </a:solidFill>
              </a:rPr>
              <a:t>child</a:t>
            </a:r>
            <a:r>
              <a:t> = </a:t>
            </a:r>
            <a:r>
              <a:rPr>
                <a:solidFill>
                  <a:srgbClr val="7E504F"/>
                </a:solidFill>
              </a:rPr>
              <a:t>right</a:t>
            </a:r>
            <a:r>
              <a:t>];</a:t>
            </a:r>
          </a:p>
          <a:p>
            <a:pPr indent="0"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key</a:t>
            </a:r>
            <a:r>
              <a:t>.compareTo((T) </a:t>
            </a:r>
            <a:r>
              <a:rPr>
                <a:solidFill>
                  <a:srgbClr val="7E504F"/>
                </a:solidFill>
              </a:rPr>
              <a:t>c</a:t>
            </a:r>
            <a:r>
              <a:t>) &gt; 0)</a:t>
            </a:r>
          </a:p>
          <a:p>
            <a:pPr indent="0"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		</a:t>
            </a:r>
            <a:r>
              <a:rPr>
                <a:solidFill>
                  <a:srgbClr val="931A68"/>
                </a:solidFill>
              </a:rPr>
              <a:t>break</a:t>
            </a:r>
            <a:r>
              <a:t>;</a:t>
            </a:r>
          </a:p>
          <a:p>
            <a:pPr indent="0"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	elements[</a:t>
            </a:r>
            <a:r>
              <a:rPr>
                <a:solidFill>
                  <a:srgbClr val="7E504F"/>
                </a:solidFill>
              </a:rPr>
              <a:t>k</a:t>
            </a:r>
            <a:r>
              <a:t>] = </a:t>
            </a:r>
            <a:r>
              <a:rPr>
                <a:solidFill>
                  <a:srgbClr val="7E504F"/>
                </a:solidFill>
              </a:rPr>
              <a:t>c</a:t>
            </a:r>
            <a:r>
              <a:t>;</a:t>
            </a:r>
          </a:p>
          <a:p>
            <a:pPr indent="0"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	k = child;</a:t>
            </a:r>
          </a:p>
          <a:p>
            <a:pPr indent="0"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indent="0"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	elements[</a:t>
            </a:r>
            <a:r>
              <a:rPr>
                <a:solidFill>
                  <a:srgbClr val="7E504F"/>
                </a:solidFill>
              </a:rPr>
              <a:t>k</a:t>
            </a:r>
            <a:r>
              <a:t>] = </a:t>
            </a:r>
            <a:r>
              <a:rPr>
                <a:solidFill>
                  <a:srgbClr val="7E504F"/>
                </a:solidFill>
              </a:rPr>
              <a:t>key</a:t>
            </a:r>
            <a:r>
              <a:t>;</a:t>
            </a:r>
          </a:p>
          <a:p>
            <a:pPr indent="0"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grpSp>
        <p:nvGrpSpPr>
          <p:cNvPr id="778" name="成组"/>
          <p:cNvGrpSpPr/>
          <p:nvPr/>
        </p:nvGrpSpPr>
        <p:grpSpPr>
          <a:xfrm>
            <a:off x="8888838" y="5428648"/>
            <a:ext cx="3899339" cy="3262583"/>
            <a:chOff x="0" y="0"/>
            <a:chExt cx="3899338" cy="3262582"/>
          </a:xfrm>
        </p:grpSpPr>
        <p:grpSp>
          <p:nvGrpSpPr>
            <p:cNvPr id="737" name="Group 610"/>
            <p:cNvGrpSpPr/>
            <p:nvPr/>
          </p:nvGrpSpPr>
          <p:grpSpPr>
            <a:xfrm>
              <a:off x="0" y="2197101"/>
              <a:ext cx="623300" cy="624625"/>
              <a:chOff x="0" y="0"/>
              <a:chExt cx="623299" cy="624623"/>
            </a:xfrm>
          </p:grpSpPr>
          <p:sp>
            <p:nvSpPr>
              <p:cNvPr id="735" name="Shape 608"/>
              <p:cNvSpPr/>
              <p:nvPr/>
            </p:nvSpPr>
            <p:spPr>
              <a:xfrm>
                <a:off x="-1" y="0"/>
                <a:ext cx="623301" cy="62462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36" name="Shape 609"/>
              <p:cNvSpPr txBox="1"/>
              <p:nvPr/>
            </p:nvSpPr>
            <p:spPr>
              <a:xfrm>
                <a:off x="63451" y="82298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81</a:t>
                </a:r>
              </a:p>
            </p:txBody>
          </p:sp>
        </p:grpSp>
        <p:sp>
          <p:nvSpPr>
            <p:cNvPr id="738" name="Shape 614"/>
            <p:cNvSpPr/>
            <p:nvPr/>
          </p:nvSpPr>
          <p:spPr>
            <a:xfrm>
              <a:off x="2358250" y="412326"/>
              <a:ext cx="583351" cy="673486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39" name="Shape 615"/>
            <p:cNvSpPr/>
            <p:nvPr/>
          </p:nvSpPr>
          <p:spPr>
            <a:xfrm flipH="1">
              <a:off x="1069059" y="446193"/>
              <a:ext cx="778935" cy="625406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40" name="Shape 616"/>
            <p:cNvSpPr/>
            <p:nvPr/>
          </p:nvSpPr>
          <p:spPr>
            <a:xfrm flipH="1">
              <a:off x="470747" y="1599917"/>
              <a:ext cx="383824" cy="623149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41" name="Shape 617"/>
            <p:cNvSpPr/>
            <p:nvPr/>
          </p:nvSpPr>
          <p:spPr>
            <a:xfrm>
              <a:off x="1170658" y="1498600"/>
              <a:ext cx="478650" cy="767646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42" name="Shape 618"/>
            <p:cNvSpPr/>
            <p:nvPr/>
          </p:nvSpPr>
          <p:spPr>
            <a:xfrm flipH="1">
              <a:off x="2574996" y="1599917"/>
              <a:ext cx="383824" cy="623149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43" name="Shape 619"/>
            <p:cNvSpPr/>
            <p:nvPr/>
          </p:nvSpPr>
          <p:spPr>
            <a:xfrm>
              <a:off x="3180081" y="1498600"/>
              <a:ext cx="573477" cy="767646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746" name="Group 623"/>
            <p:cNvGrpSpPr/>
            <p:nvPr/>
          </p:nvGrpSpPr>
          <p:grpSpPr>
            <a:xfrm>
              <a:off x="2746587" y="1058050"/>
              <a:ext cx="624339" cy="623439"/>
              <a:chOff x="0" y="0"/>
              <a:chExt cx="624338" cy="623438"/>
            </a:xfrm>
          </p:grpSpPr>
          <p:sp>
            <p:nvSpPr>
              <p:cNvPr id="744" name="Shape 621"/>
              <p:cNvSpPr/>
              <p:nvPr/>
            </p:nvSpPr>
            <p:spPr>
              <a:xfrm>
                <a:off x="-1" y="0"/>
                <a:ext cx="624339" cy="623439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45" name="Shape 622"/>
              <p:cNvSpPr txBox="1"/>
              <p:nvPr/>
            </p:nvSpPr>
            <p:spPr>
              <a:xfrm>
                <a:off x="75278" y="63400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65</a:t>
                </a:r>
              </a:p>
            </p:txBody>
          </p:sp>
        </p:grpSp>
        <p:grpSp>
          <p:nvGrpSpPr>
            <p:cNvPr id="749" name="Group 626"/>
            <p:cNvGrpSpPr/>
            <p:nvPr/>
          </p:nvGrpSpPr>
          <p:grpSpPr>
            <a:xfrm>
              <a:off x="6773" y="2192867"/>
              <a:ext cx="623149" cy="620121"/>
              <a:chOff x="0" y="0"/>
              <a:chExt cx="623148" cy="620119"/>
            </a:xfrm>
          </p:grpSpPr>
          <p:sp>
            <p:nvSpPr>
              <p:cNvPr id="747" name="Shape 624"/>
              <p:cNvSpPr/>
              <p:nvPr/>
            </p:nvSpPr>
            <p:spPr>
              <a:xfrm>
                <a:off x="0" y="-1"/>
                <a:ext cx="623149" cy="620121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48" name="Shape 625"/>
              <p:cNvSpPr txBox="1"/>
              <p:nvPr/>
            </p:nvSpPr>
            <p:spPr>
              <a:xfrm>
                <a:off x="56754" y="75932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49</a:t>
                </a:r>
              </a:p>
            </p:txBody>
          </p:sp>
        </p:grpSp>
        <p:grpSp>
          <p:nvGrpSpPr>
            <p:cNvPr id="752" name="Group 629"/>
            <p:cNvGrpSpPr/>
            <p:nvPr/>
          </p:nvGrpSpPr>
          <p:grpSpPr>
            <a:xfrm>
              <a:off x="1412240" y="2078566"/>
              <a:ext cx="623301" cy="624625"/>
              <a:chOff x="0" y="0"/>
              <a:chExt cx="623299" cy="624623"/>
            </a:xfrm>
          </p:grpSpPr>
          <p:sp>
            <p:nvSpPr>
              <p:cNvPr id="750" name="Shape 627"/>
              <p:cNvSpPr/>
              <p:nvPr/>
            </p:nvSpPr>
            <p:spPr>
              <a:xfrm>
                <a:off x="-1" y="0"/>
                <a:ext cx="623301" cy="62462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51" name="Shape 628"/>
              <p:cNvSpPr txBox="1"/>
              <p:nvPr/>
            </p:nvSpPr>
            <p:spPr>
              <a:xfrm>
                <a:off x="58936" y="82298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50</a:t>
                </a:r>
              </a:p>
            </p:txBody>
          </p:sp>
        </p:grpSp>
        <p:grpSp>
          <p:nvGrpSpPr>
            <p:cNvPr id="755" name="Group 632"/>
            <p:cNvGrpSpPr/>
            <p:nvPr/>
          </p:nvGrpSpPr>
          <p:grpSpPr>
            <a:xfrm>
              <a:off x="2333414" y="2055989"/>
              <a:ext cx="621045" cy="622167"/>
              <a:chOff x="0" y="0"/>
              <a:chExt cx="621044" cy="622165"/>
            </a:xfrm>
          </p:grpSpPr>
          <p:sp>
            <p:nvSpPr>
              <p:cNvPr id="753" name="Shape 630"/>
              <p:cNvSpPr/>
              <p:nvPr/>
            </p:nvSpPr>
            <p:spPr>
              <a:xfrm>
                <a:off x="-1" y="0"/>
                <a:ext cx="621046" cy="622167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54" name="Shape 631"/>
              <p:cNvSpPr txBox="1"/>
              <p:nvPr/>
            </p:nvSpPr>
            <p:spPr>
              <a:xfrm>
                <a:off x="56755" y="76183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27</a:t>
                </a:r>
              </a:p>
            </p:txBody>
          </p:sp>
        </p:grpSp>
        <p:grpSp>
          <p:nvGrpSpPr>
            <p:cNvPr id="758" name="Group 635"/>
            <p:cNvGrpSpPr/>
            <p:nvPr/>
          </p:nvGrpSpPr>
          <p:grpSpPr>
            <a:xfrm>
              <a:off x="3276036" y="2057401"/>
              <a:ext cx="623303" cy="626673"/>
              <a:chOff x="0" y="0"/>
              <a:chExt cx="623302" cy="626672"/>
            </a:xfrm>
          </p:grpSpPr>
          <p:sp>
            <p:nvSpPr>
              <p:cNvPr id="756" name="Shape 633"/>
              <p:cNvSpPr/>
              <p:nvPr/>
            </p:nvSpPr>
            <p:spPr>
              <a:xfrm>
                <a:off x="0" y="-1"/>
                <a:ext cx="623303" cy="626674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57" name="Shape 634"/>
              <p:cNvSpPr txBox="1"/>
              <p:nvPr/>
            </p:nvSpPr>
            <p:spPr>
              <a:xfrm>
                <a:off x="58936" y="75088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38</a:t>
                </a:r>
              </a:p>
            </p:txBody>
          </p:sp>
        </p:grpSp>
        <p:grpSp>
          <p:nvGrpSpPr>
            <p:cNvPr id="761" name="Group 638"/>
            <p:cNvGrpSpPr/>
            <p:nvPr/>
          </p:nvGrpSpPr>
          <p:grpSpPr>
            <a:xfrm>
              <a:off x="756151" y="1071597"/>
              <a:ext cx="624483" cy="623295"/>
              <a:chOff x="0" y="0"/>
              <a:chExt cx="624481" cy="623294"/>
            </a:xfrm>
          </p:grpSpPr>
          <p:sp>
            <p:nvSpPr>
              <p:cNvPr id="759" name="Shape 636"/>
              <p:cNvSpPr/>
              <p:nvPr/>
            </p:nvSpPr>
            <p:spPr>
              <a:xfrm>
                <a:off x="0" y="-1"/>
                <a:ext cx="624483" cy="623296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60" name="Shape 637"/>
              <p:cNvSpPr txBox="1"/>
              <p:nvPr/>
            </p:nvSpPr>
            <p:spPr>
              <a:xfrm>
                <a:off x="37379" y="61272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76</a:t>
                </a:r>
              </a:p>
            </p:txBody>
          </p:sp>
        </p:grpSp>
        <p:grpSp>
          <p:nvGrpSpPr>
            <p:cNvPr id="764" name="Group 641"/>
            <p:cNvGrpSpPr/>
            <p:nvPr/>
          </p:nvGrpSpPr>
          <p:grpSpPr>
            <a:xfrm>
              <a:off x="1800577" y="0"/>
              <a:ext cx="623303" cy="625406"/>
              <a:chOff x="0" y="0"/>
              <a:chExt cx="623302" cy="625405"/>
            </a:xfrm>
          </p:grpSpPr>
          <p:sp>
            <p:nvSpPr>
              <p:cNvPr id="762" name="Shape 639"/>
              <p:cNvSpPr/>
              <p:nvPr/>
            </p:nvSpPr>
            <p:spPr>
              <a:xfrm>
                <a:off x="0" y="0"/>
                <a:ext cx="623303" cy="625406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63" name="Shape 640"/>
              <p:cNvSpPr txBox="1"/>
              <p:nvPr/>
            </p:nvSpPr>
            <p:spPr>
              <a:xfrm>
                <a:off x="58936" y="41700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49</a:t>
                </a:r>
              </a:p>
            </p:txBody>
          </p:sp>
        </p:grpSp>
        <p:grpSp>
          <p:nvGrpSpPr>
            <p:cNvPr id="767" name="Group 647"/>
            <p:cNvGrpSpPr/>
            <p:nvPr/>
          </p:nvGrpSpPr>
          <p:grpSpPr>
            <a:xfrm>
              <a:off x="749300" y="1066800"/>
              <a:ext cx="623301" cy="624625"/>
              <a:chOff x="0" y="0"/>
              <a:chExt cx="623299" cy="624623"/>
            </a:xfrm>
          </p:grpSpPr>
          <p:sp>
            <p:nvSpPr>
              <p:cNvPr id="765" name="Shape 645"/>
              <p:cNvSpPr/>
              <p:nvPr/>
            </p:nvSpPr>
            <p:spPr>
              <a:xfrm>
                <a:off x="-1" y="0"/>
                <a:ext cx="623301" cy="62462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66" name="Shape 646"/>
              <p:cNvSpPr txBox="1"/>
              <p:nvPr/>
            </p:nvSpPr>
            <p:spPr>
              <a:xfrm>
                <a:off x="63451" y="82298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81</a:t>
                </a:r>
              </a:p>
            </p:txBody>
          </p:sp>
        </p:grpSp>
        <p:grpSp>
          <p:nvGrpSpPr>
            <p:cNvPr id="770" name="Group 650"/>
            <p:cNvGrpSpPr/>
            <p:nvPr/>
          </p:nvGrpSpPr>
          <p:grpSpPr>
            <a:xfrm>
              <a:off x="0" y="2197101"/>
              <a:ext cx="624483" cy="623295"/>
              <a:chOff x="0" y="0"/>
              <a:chExt cx="624481" cy="623293"/>
            </a:xfrm>
          </p:grpSpPr>
          <p:sp>
            <p:nvSpPr>
              <p:cNvPr id="768" name="Shape 648"/>
              <p:cNvSpPr/>
              <p:nvPr/>
            </p:nvSpPr>
            <p:spPr>
              <a:xfrm>
                <a:off x="0" y="0"/>
                <a:ext cx="624483" cy="623294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69" name="Shape 649"/>
              <p:cNvSpPr txBox="1"/>
              <p:nvPr/>
            </p:nvSpPr>
            <p:spPr>
              <a:xfrm>
                <a:off x="37379" y="61273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76</a:t>
                </a:r>
              </a:p>
            </p:txBody>
          </p:sp>
        </p:grpSp>
        <p:sp>
          <p:nvSpPr>
            <p:cNvPr id="771" name="0"/>
            <p:cNvSpPr txBox="1"/>
            <p:nvPr/>
          </p:nvSpPr>
          <p:spPr>
            <a:xfrm>
              <a:off x="1918229" y="541261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772" name="1"/>
            <p:cNvSpPr txBox="1"/>
            <p:nvPr/>
          </p:nvSpPr>
          <p:spPr>
            <a:xfrm>
              <a:off x="836470" y="1753955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773" name="2"/>
            <p:cNvSpPr txBox="1"/>
            <p:nvPr/>
          </p:nvSpPr>
          <p:spPr>
            <a:xfrm>
              <a:off x="2877456" y="1753955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774" name="3"/>
            <p:cNvSpPr txBox="1"/>
            <p:nvPr/>
          </p:nvSpPr>
          <p:spPr>
            <a:xfrm>
              <a:off x="137047" y="2745367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775" name="4"/>
            <p:cNvSpPr txBox="1"/>
            <p:nvPr/>
          </p:nvSpPr>
          <p:spPr>
            <a:xfrm>
              <a:off x="1542591" y="2745367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776" name="5"/>
            <p:cNvSpPr txBox="1"/>
            <p:nvPr/>
          </p:nvSpPr>
          <p:spPr>
            <a:xfrm>
              <a:off x="2462636" y="2745367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777" name="6"/>
            <p:cNvSpPr txBox="1"/>
            <p:nvPr/>
          </p:nvSpPr>
          <p:spPr>
            <a:xfrm>
              <a:off x="3406388" y="2745367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6</a:t>
              </a:r>
            </a:p>
          </p:txBody>
        </p:sp>
      </p:grpSp>
      <p:sp>
        <p:nvSpPr>
          <p:cNvPr id="779" name="结点49"/>
          <p:cNvSpPr txBox="1"/>
          <p:nvPr/>
        </p:nvSpPr>
        <p:spPr>
          <a:xfrm>
            <a:off x="10403544" y="8791838"/>
            <a:ext cx="1315100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结点49</a:t>
            </a:r>
          </a:p>
        </p:txBody>
      </p:sp>
      <p:grpSp>
        <p:nvGrpSpPr>
          <p:cNvPr id="831" name="成组"/>
          <p:cNvGrpSpPr/>
          <p:nvPr/>
        </p:nvGrpSpPr>
        <p:grpSpPr>
          <a:xfrm>
            <a:off x="4131914" y="5357373"/>
            <a:ext cx="5453024" cy="5392647"/>
            <a:chOff x="0" y="0"/>
            <a:chExt cx="5453023" cy="5392646"/>
          </a:xfrm>
        </p:grpSpPr>
        <p:grpSp>
          <p:nvGrpSpPr>
            <p:cNvPr id="782" name="Group 610"/>
            <p:cNvGrpSpPr/>
            <p:nvPr/>
          </p:nvGrpSpPr>
          <p:grpSpPr>
            <a:xfrm>
              <a:off x="584200" y="2197101"/>
              <a:ext cx="1597303" cy="1352299"/>
              <a:chOff x="0" y="0"/>
              <a:chExt cx="1597302" cy="1352298"/>
            </a:xfrm>
          </p:grpSpPr>
          <p:sp>
            <p:nvSpPr>
              <p:cNvPr id="780" name="Shape 608"/>
              <p:cNvSpPr/>
              <p:nvPr/>
            </p:nvSpPr>
            <p:spPr>
              <a:xfrm>
                <a:off x="-1" y="0"/>
                <a:ext cx="623301" cy="62462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81" name="Shape 609"/>
              <p:cNvSpPr/>
              <p:nvPr/>
            </p:nvSpPr>
            <p:spPr>
              <a:xfrm>
                <a:off x="327302" y="82298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81</a:t>
                </a:r>
              </a:p>
            </p:txBody>
          </p:sp>
        </p:grpSp>
        <p:grpSp>
          <p:nvGrpSpPr>
            <p:cNvPr id="785" name="Group 613"/>
            <p:cNvGrpSpPr/>
            <p:nvPr/>
          </p:nvGrpSpPr>
          <p:grpSpPr>
            <a:xfrm>
              <a:off x="0" y="3250353"/>
              <a:ext cx="1597303" cy="1352299"/>
              <a:chOff x="0" y="0"/>
              <a:chExt cx="1597302" cy="1352298"/>
            </a:xfrm>
          </p:grpSpPr>
          <p:sp>
            <p:nvSpPr>
              <p:cNvPr id="783" name="Shape 611"/>
              <p:cNvSpPr/>
              <p:nvPr/>
            </p:nvSpPr>
            <p:spPr>
              <a:xfrm>
                <a:off x="-1" y="-1"/>
                <a:ext cx="623301" cy="624628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84" name="Shape 612"/>
              <p:cNvSpPr/>
              <p:nvPr/>
            </p:nvSpPr>
            <p:spPr>
              <a:xfrm>
                <a:off x="327302" y="82298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81</a:t>
                </a:r>
              </a:p>
            </p:txBody>
          </p:sp>
        </p:grpSp>
        <p:sp>
          <p:nvSpPr>
            <p:cNvPr id="786" name="Shape 614"/>
            <p:cNvSpPr/>
            <p:nvPr/>
          </p:nvSpPr>
          <p:spPr>
            <a:xfrm>
              <a:off x="2942450" y="412326"/>
              <a:ext cx="583351" cy="673486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87" name="Shape 615"/>
            <p:cNvSpPr/>
            <p:nvPr/>
          </p:nvSpPr>
          <p:spPr>
            <a:xfrm flipH="1">
              <a:off x="1653259" y="446193"/>
              <a:ext cx="778935" cy="625406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88" name="Shape 616"/>
            <p:cNvSpPr/>
            <p:nvPr/>
          </p:nvSpPr>
          <p:spPr>
            <a:xfrm flipH="1">
              <a:off x="1054947" y="1599917"/>
              <a:ext cx="383824" cy="623149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89" name="Shape 617"/>
            <p:cNvSpPr/>
            <p:nvPr/>
          </p:nvSpPr>
          <p:spPr>
            <a:xfrm>
              <a:off x="1754858" y="1498600"/>
              <a:ext cx="478650" cy="767646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90" name="Shape 618"/>
            <p:cNvSpPr/>
            <p:nvPr/>
          </p:nvSpPr>
          <p:spPr>
            <a:xfrm flipH="1">
              <a:off x="3159196" y="1599917"/>
              <a:ext cx="383824" cy="623149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91" name="Shape 619"/>
            <p:cNvSpPr/>
            <p:nvPr/>
          </p:nvSpPr>
          <p:spPr>
            <a:xfrm>
              <a:off x="3764281" y="1498600"/>
              <a:ext cx="573477" cy="767646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92" name="Shape 620"/>
            <p:cNvSpPr/>
            <p:nvPr/>
          </p:nvSpPr>
          <p:spPr>
            <a:xfrm flipH="1">
              <a:off x="415995" y="2654301"/>
              <a:ext cx="383824" cy="623148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795" name="Group 623"/>
            <p:cNvGrpSpPr/>
            <p:nvPr/>
          </p:nvGrpSpPr>
          <p:grpSpPr>
            <a:xfrm>
              <a:off x="3330787" y="1058050"/>
              <a:ext cx="1609130" cy="1333401"/>
              <a:chOff x="0" y="0"/>
              <a:chExt cx="1609128" cy="1333400"/>
            </a:xfrm>
          </p:grpSpPr>
          <p:sp>
            <p:nvSpPr>
              <p:cNvPr id="793" name="Shape 621"/>
              <p:cNvSpPr/>
              <p:nvPr/>
            </p:nvSpPr>
            <p:spPr>
              <a:xfrm>
                <a:off x="-1" y="0"/>
                <a:ext cx="624339" cy="623439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94" name="Shape 622"/>
              <p:cNvSpPr/>
              <p:nvPr/>
            </p:nvSpPr>
            <p:spPr>
              <a:xfrm>
                <a:off x="339128" y="63400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65</a:t>
                </a:r>
              </a:p>
            </p:txBody>
          </p:sp>
        </p:grpSp>
        <p:grpSp>
          <p:nvGrpSpPr>
            <p:cNvPr id="798" name="Group 626"/>
            <p:cNvGrpSpPr/>
            <p:nvPr/>
          </p:nvGrpSpPr>
          <p:grpSpPr>
            <a:xfrm>
              <a:off x="590973" y="2192867"/>
              <a:ext cx="1590605" cy="1345933"/>
              <a:chOff x="0" y="0"/>
              <a:chExt cx="1590604" cy="1345932"/>
            </a:xfrm>
          </p:grpSpPr>
          <p:sp>
            <p:nvSpPr>
              <p:cNvPr id="796" name="Shape 624"/>
              <p:cNvSpPr/>
              <p:nvPr/>
            </p:nvSpPr>
            <p:spPr>
              <a:xfrm>
                <a:off x="0" y="-1"/>
                <a:ext cx="623149" cy="620121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97" name="Shape 625"/>
              <p:cNvSpPr/>
              <p:nvPr/>
            </p:nvSpPr>
            <p:spPr>
              <a:xfrm>
                <a:off x="320604" y="75932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49</a:t>
                </a:r>
              </a:p>
            </p:txBody>
          </p:sp>
        </p:grpSp>
        <p:grpSp>
          <p:nvGrpSpPr>
            <p:cNvPr id="801" name="Group 629"/>
            <p:cNvGrpSpPr/>
            <p:nvPr/>
          </p:nvGrpSpPr>
          <p:grpSpPr>
            <a:xfrm>
              <a:off x="1996440" y="2078566"/>
              <a:ext cx="1592788" cy="1352300"/>
              <a:chOff x="0" y="0"/>
              <a:chExt cx="1592786" cy="1352298"/>
            </a:xfrm>
          </p:grpSpPr>
          <p:sp>
            <p:nvSpPr>
              <p:cNvPr id="799" name="Shape 627"/>
              <p:cNvSpPr/>
              <p:nvPr/>
            </p:nvSpPr>
            <p:spPr>
              <a:xfrm>
                <a:off x="-1" y="0"/>
                <a:ext cx="623301" cy="62462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00" name="Shape 628"/>
              <p:cNvSpPr/>
              <p:nvPr/>
            </p:nvSpPr>
            <p:spPr>
              <a:xfrm>
                <a:off x="322786" y="82298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50</a:t>
                </a:r>
              </a:p>
            </p:txBody>
          </p:sp>
        </p:grpSp>
        <p:grpSp>
          <p:nvGrpSpPr>
            <p:cNvPr id="804" name="Group 632"/>
            <p:cNvGrpSpPr/>
            <p:nvPr/>
          </p:nvGrpSpPr>
          <p:grpSpPr>
            <a:xfrm>
              <a:off x="2917614" y="2055989"/>
              <a:ext cx="1590606" cy="1346184"/>
              <a:chOff x="0" y="0"/>
              <a:chExt cx="1590605" cy="1346183"/>
            </a:xfrm>
          </p:grpSpPr>
          <p:sp>
            <p:nvSpPr>
              <p:cNvPr id="802" name="Shape 630"/>
              <p:cNvSpPr/>
              <p:nvPr/>
            </p:nvSpPr>
            <p:spPr>
              <a:xfrm>
                <a:off x="-1" y="0"/>
                <a:ext cx="621046" cy="622167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03" name="Shape 631"/>
              <p:cNvSpPr/>
              <p:nvPr/>
            </p:nvSpPr>
            <p:spPr>
              <a:xfrm>
                <a:off x="320605" y="76183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27</a:t>
                </a:r>
              </a:p>
            </p:txBody>
          </p:sp>
        </p:grpSp>
        <p:grpSp>
          <p:nvGrpSpPr>
            <p:cNvPr id="807" name="Group 635"/>
            <p:cNvGrpSpPr/>
            <p:nvPr/>
          </p:nvGrpSpPr>
          <p:grpSpPr>
            <a:xfrm>
              <a:off x="3860236" y="2057401"/>
              <a:ext cx="1592788" cy="1345089"/>
              <a:chOff x="0" y="0"/>
              <a:chExt cx="1592786" cy="1345088"/>
            </a:xfrm>
          </p:grpSpPr>
          <p:sp>
            <p:nvSpPr>
              <p:cNvPr id="805" name="Shape 633"/>
              <p:cNvSpPr/>
              <p:nvPr/>
            </p:nvSpPr>
            <p:spPr>
              <a:xfrm>
                <a:off x="0" y="-1"/>
                <a:ext cx="623303" cy="626674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06" name="Shape 634"/>
              <p:cNvSpPr/>
              <p:nvPr/>
            </p:nvSpPr>
            <p:spPr>
              <a:xfrm>
                <a:off x="322786" y="75088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38</a:t>
                </a:r>
              </a:p>
            </p:txBody>
          </p:sp>
        </p:grpSp>
        <p:grpSp>
          <p:nvGrpSpPr>
            <p:cNvPr id="810" name="Group 638"/>
            <p:cNvGrpSpPr/>
            <p:nvPr/>
          </p:nvGrpSpPr>
          <p:grpSpPr>
            <a:xfrm>
              <a:off x="1340351" y="1071597"/>
              <a:ext cx="1571231" cy="1331273"/>
              <a:chOff x="0" y="0"/>
              <a:chExt cx="1571229" cy="1331272"/>
            </a:xfrm>
          </p:grpSpPr>
          <p:sp>
            <p:nvSpPr>
              <p:cNvPr id="808" name="Shape 636"/>
              <p:cNvSpPr/>
              <p:nvPr/>
            </p:nvSpPr>
            <p:spPr>
              <a:xfrm>
                <a:off x="0" y="-1"/>
                <a:ext cx="624483" cy="623296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09" name="Shape 637"/>
              <p:cNvSpPr/>
              <p:nvPr/>
            </p:nvSpPr>
            <p:spPr>
              <a:xfrm>
                <a:off x="301229" y="61272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76</a:t>
                </a:r>
              </a:p>
            </p:txBody>
          </p:sp>
        </p:grpSp>
        <p:grpSp>
          <p:nvGrpSpPr>
            <p:cNvPr id="813" name="Group 641"/>
            <p:cNvGrpSpPr/>
            <p:nvPr/>
          </p:nvGrpSpPr>
          <p:grpSpPr>
            <a:xfrm>
              <a:off x="2384777" y="-1"/>
              <a:ext cx="1592788" cy="1311702"/>
              <a:chOff x="0" y="0"/>
              <a:chExt cx="1592786" cy="1311700"/>
            </a:xfrm>
          </p:grpSpPr>
          <p:sp>
            <p:nvSpPr>
              <p:cNvPr id="811" name="Shape 639"/>
              <p:cNvSpPr/>
              <p:nvPr/>
            </p:nvSpPr>
            <p:spPr>
              <a:xfrm>
                <a:off x="0" y="0"/>
                <a:ext cx="623303" cy="625406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12" name="Shape 640"/>
              <p:cNvSpPr/>
              <p:nvPr/>
            </p:nvSpPr>
            <p:spPr>
              <a:xfrm>
                <a:off x="322786" y="41700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97</a:t>
                </a:r>
              </a:p>
            </p:txBody>
          </p:sp>
        </p:grpSp>
        <p:grpSp>
          <p:nvGrpSpPr>
            <p:cNvPr id="816" name="Group 644"/>
            <p:cNvGrpSpPr/>
            <p:nvPr/>
          </p:nvGrpSpPr>
          <p:grpSpPr>
            <a:xfrm>
              <a:off x="-1" y="3251201"/>
              <a:ext cx="1590606" cy="1345933"/>
              <a:chOff x="0" y="0"/>
              <a:chExt cx="1590604" cy="1345932"/>
            </a:xfrm>
          </p:grpSpPr>
          <p:sp>
            <p:nvSpPr>
              <p:cNvPr id="814" name="Shape 642"/>
              <p:cNvSpPr/>
              <p:nvPr/>
            </p:nvSpPr>
            <p:spPr>
              <a:xfrm>
                <a:off x="0" y="0"/>
                <a:ext cx="623149" cy="620118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15" name="Shape 643"/>
              <p:cNvSpPr/>
              <p:nvPr/>
            </p:nvSpPr>
            <p:spPr>
              <a:xfrm>
                <a:off x="320604" y="75932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49</a:t>
                </a:r>
              </a:p>
            </p:txBody>
          </p:sp>
        </p:grpSp>
        <p:grpSp>
          <p:nvGrpSpPr>
            <p:cNvPr id="819" name="Group 647"/>
            <p:cNvGrpSpPr/>
            <p:nvPr/>
          </p:nvGrpSpPr>
          <p:grpSpPr>
            <a:xfrm>
              <a:off x="1333500" y="1066800"/>
              <a:ext cx="1597303" cy="1352299"/>
              <a:chOff x="0" y="0"/>
              <a:chExt cx="1597302" cy="1352298"/>
            </a:xfrm>
          </p:grpSpPr>
          <p:sp>
            <p:nvSpPr>
              <p:cNvPr id="817" name="Shape 645"/>
              <p:cNvSpPr/>
              <p:nvPr/>
            </p:nvSpPr>
            <p:spPr>
              <a:xfrm>
                <a:off x="-1" y="0"/>
                <a:ext cx="623301" cy="62462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18" name="Shape 646"/>
              <p:cNvSpPr/>
              <p:nvPr/>
            </p:nvSpPr>
            <p:spPr>
              <a:xfrm>
                <a:off x="327302" y="82298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81</a:t>
                </a:r>
              </a:p>
            </p:txBody>
          </p:sp>
        </p:grpSp>
        <p:grpSp>
          <p:nvGrpSpPr>
            <p:cNvPr id="822" name="Group 650"/>
            <p:cNvGrpSpPr/>
            <p:nvPr/>
          </p:nvGrpSpPr>
          <p:grpSpPr>
            <a:xfrm>
              <a:off x="584200" y="2197101"/>
              <a:ext cx="1571230" cy="1331274"/>
              <a:chOff x="0" y="0"/>
              <a:chExt cx="1571229" cy="1331273"/>
            </a:xfrm>
          </p:grpSpPr>
          <p:sp>
            <p:nvSpPr>
              <p:cNvPr id="820" name="Shape 648"/>
              <p:cNvSpPr/>
              <p:nvPr/>
            </p:nvSpPr>
            <p:spPr>
              <a:xfrm>
                <a:off x="0" y="0"/>
                <a:ext cx="624483" cy="623294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21" name="Shape 649"/>
              <p:cNvSpPr/>
              <p:nvPr/>
            </p:nvSpPr>
            <p:spPr>
              <a:xfrm>
                <a:off x="301229" y="61273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76</a:t>
                </a:r>
              </a:p>
            </p:txBody>
          </p:sp>
        </p:grpSp>
        <p:sp>
          <p:nvSpPr>
            <p:cNvPr id="823" name="0"/>
            <p:cNvSpPr/>
            <p:nvPr/>
          </p:nvSpPr>
          <p:spPr>
            <a:xfrm>
              <a:off x="2502429" y="799868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824" name="1"/>
            <p:cNvSpPr/>
            <p:nvPr/>
          </p:nvSpPr>
          <p:spPr>
            <a:xfrm>
              <a:off x="1420670" y="2012562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825" name="2"/>
            <p:cNvSpPr/>
            <p:nvPr/>
          </p:nvSpPr>
          <p:spPr>
            <a:xfrm>
              <a:off x="3461656" y="2012562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826" name="3"/>
            <p:cNvSpPr/>
            <p:nvPr/>
          </p:nvSpPr>
          <p:spPr>
            <a:xfrm>
              <a:off x="721247" y="3003974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827" name="4"/>
            <p:cNvSpPr/>
            <p:nvPr/>
          </p:nvSpPr>
          <p:spPr>
            <a:xfrm>
              <a:off x="2126791" y="3003974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828" name="5"/>
            <p:cNvSpPr/>
            <p:nvPr/>
          </p:nvSpPr>
          <p:spPr>
            <a:xfrm>
              <a:off x="3046836" y="3003974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829" name="6"/>
            <p:cNvSpPr/>
            <p:nvPr/>
          </p:nvSpPr>
          <p:spPr>
            <a:xfrm>
              <a:off x="3990588" y="3003974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6</a:t>
              </a:r>
            </a:p>
          </p:txBody>
        </p:sp>
        <p:sp>
          <p:nvSpPr>
            <p:cNvPr id="830" name="7"/>
            <p:cNvSpPr/>
            <p:nvPr/>
          </p:nvSpPr>
          <p:spPr>
            <a:xfrm>
              <a:off x="92250" y="4122646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7</a:t>
              </a:r>
            </a:p>
          </p:txBody>
        </p:sp>
      </p:grpSp>
      <p:sp>
        <p:nvSpPr>
          <p:cNvPr id="832" name="编号k的结点的左右子树都满足堆的条件，调整k及其后代结点…直至叶子结点"/>
          <p:cNvSpPr txBox="1"/>
          <p:nvPr/>
        </p:nvSpPr>
        <p:spPr>
          <a:xfrm>
            <a:off x="249088" y="1423564"/>
            <a:ext cx="1096710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500"/>
            </a:lvl1pPr>
          </a:lstStyle>
          <a:p>
            <a:pPr/>
            <a:r>
              <a:t>编号k的结点的左右子树都满足堆的条件，调整k及其后代结点…直至叶子结点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Shape 591"/>
          <p:cNvSpPr txBox="1"/>
          <p:nvPr>
            <p:ph type="title"/>
          </p:nvPr>
        </p:nvSpPr>
        <p:spPr>
          <a:xfrm>
            <a:off x="1611488" y="125588"/>
            <a:ext cx="9448801" cy="952501"/>
          </a:xfrm>
          <a:prstGeom prst="rect">
            <a:avLst/>
          </a:prstGeom>
        </p:spPr>
        <p:txBody>
          <a:bodyPr/>
          <a:lstStyle/>
          <a:p>
            <a:pPr/>
            <a:r>
              <a:t>最大优先级队列的实现-出队</a:t>
            </a:r>
          </a:p>
        </p:txBody>
      </p:sp>
      <p:sp>
        <p:nvSpPr>
          <p:cNvPr id="835" name="public T poll() {…"/>
          <p:cNvSpPr txBox="1"/>
          <p:nvPr/>
        </p:nvSpPr>
        <p:spPr>
          <a:xfrm>
            <a:off x="369506" y="1776876"/>
            <a:ext cx="8215531" cy="4407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T poll() {</a:t>
            </a:r>
          </a:p>
          <a:p>
            <a:pPr indent="0">
              <a:defRPr sz="2300">
                <a:solidFill>
                  <a:srgbClr val="7E504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T </a:t>
            </a:r>
            <a:r>
              <a:t>result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defRPr sz="23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if</a:t>
            </a:r>
            <a:r>
              <a:rPr>
                <a:solidFill>
                  <a:srgbClr val="000000"/>
                </a:solidFill>
              </a:rPr>
              <a:t> ((</a:t>
            </a:r>
            <a:r>
              <a:rPr>
                <a:solidFill>
                  <a:srgbClr val="7E504F"/>
                </a:solidFill>
              </a:rPr>
              <a:t>result</a:t>
            </a:r>
            <a:r>
              <a:rPr>
                <a:solidFill>
                  <a:srgbClr val="000000"/>
                </a:solidFill>
              </a:rPr>
              <a:t> = (T) </a:t>
            </a:r>
            <a:r>
              <a:t>elements</a:t>
            </a:r>
            <a:r>
              <a:rPr>
                <a:solidFill>
                  <a:srgbClr val="000000"/>
                </a:solidFill>
              </a:rPr>
              <a:t>[0]) !=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rPr>
                <a:solidFill>
                  <a:srgbClr val="000000"/>
                </a:solidFill>
              </a:rPr>
              <a:t>) {</a:t>
            </a:r>
            <a:endParaRPr>
              <a:solidFill>
                <a:srgbClr val="000000"/>
              </a:solidFill>
            </a:endParaRPr>
          </a:p>
          <a:p>
            <a:pPr indent="0"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s</a:t>
            </a:r>
            <a:r>
              <a:t>;</a:t>
            </a:r>
          </a:p>
          <a:p>
            <a:pPr indent="0">
              <a:defRPr sz="2300">
                <a:solidFill>
                  <a:srgbClr val="4E9072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T </a:t>
            </a:r>
            <a:r>
              <a:rPr>
                <a:solidFill>
                  <a:srgbClr val="7E504F"/>
                </a:solidFill>
              </a:rPr>
              <a:t>x</a:t>
            </a:r>
            <a:r>
              <a:rPr>
                <a:solidFill>
                  <a:srgbClr val="000000"/>
                </a:solidFill>
              </a:rPr>
              <a:t> = (T) </a:t>
            </a:r>
            <a:r>
              <a:rPr>
                <a:solidFill>
                  <a:srgbClr val="0326CC"/>
                </a:solidFill>
              </a:rPr>
              <a:t>elements</a:t>
            </a:r>
            <a:r>
              <a:rPr>
                <a:solidFill>
                  <a:srgbClr val="000000"/>
                </a:solidFill>
              </a:rPr>
              <a:t>[</a:t>
            </a:r>
            <a:r>
              <a:rPr>
                <a:solidFill>
                  <a:srgbClr val="7E504F"/>
                </a:solidFill>
              </a:rPr>
              <a:t>s</a:t>
            </a:r>
            <a:r>
              <a:rPr>
                <a:solidFill>
                  <a:srgbClr val="000000"/>
                </a:solidFill>
              </a:rPr>
              <a:t> = --</a:t>
            </a:r>
            <a:r>
              <a:rPr>
                <a:solidFill>
                  <a:srgbClr val="0326CC"/>
                </a:solidFill>
              </a:rPr>
              <a:t>size</a:t>
            </a:r>
            <a:r>
              <a:rPr>
                <a:solidFill>
                  <a:srgbClr val="000000"/>
                </a:solidFill>
              </a:rPr>
              <a:t>];</a:t>
            </a:r>
            <a:endParaRPr>
              <a:solidFill>
                <a:srgbClr val="000000"/>
              </a:solidFill>
            </a:endParaRPr>
          </a:p>
          <a:p>
            <a:pPr indent="0">
              <a:defRPr sz="23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elements</a:t>
            </a:r>
            <a:r>
              <a:rPr>
                <a:solidFill>
                  <a:srgbClr val="000000"/>
                </a:solidFill>
              </a:rPr>
              <a:t>[</a:t>
            </a:r>
            <a:r>
              <a:rPr>
                <a:solidFill>
                  <a:srgbClr val="7E504F"/>
                </a:solidFill>
              </a:rPr>
              <a:t>s</a:t>
            </a:r>
            <a:r>
              <a:rPr>
                <a:solidFill>
                  <a:srgbClr val="000000"/>
                </a:solidFill>
              </a:rPr>
              <a:t>] 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s</a:t>
            </a:r>
            <a:r>
              <a:t> != 0)</a:t>
            </a:r>
          </a:p>
          <a:p>
            <a:pPr indent="0"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		siftDown(0, </a:t>
            </a:r>
            <a:r>
              <a:rPr>
                <a:solidFill>
                  <a:srgbClr val="7E504F"/>
                </a:solidFill>
              </a:rPr>
              <a:t>x</a:t>
            </a:r>
            <a:r>
              <a:t>);</a:t>
            </a:r>
          </a:p>
          <a:p>
            <a:pPr indent="0"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indent="0">
              <a:defRPr sz="23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result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defRPr sz="23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</p:txBody>
      </p:sp>
      <p:grpSp>
        <p:nvGrpSpPr>
          <p:cNvPr id="887" name="成组"/>
          <p:cNvGrpSpPr/>
          <p:nvPr/>
        </p:nvGrpSpPr>
        <p:grpSpPr>
          <a:xfrm>
            <a:off x="7489763" y="4290832"/>
            <a:ext cx="4483540" cy="4381254"/>
            <a:chOff x="0" y="0"/>
            <a:chExt cx="4483538" cy="4381253"/>
          </a:xfrm>
        </p:grpSpPr>
        <p:grpSp>
          <p:nvGrpSpPr>
            <p:cNvPr id="838" name="Group 610"/>
            <p:cNvGrpSpPr/>
            <p:nvPr/>
          </p:nvGrpSpPr>
          <p:grpSpPr>
            <a:xfrm>
              <a:off x="584200" y="2197101"/>
              <a:ext cx="623301" cy="624625"/>
              <a:chOff x="0" y="0"/>
              <a:chExt cx="623299" cy="624623"/>
            </a:xfrm>
          </p:grpSpPr>
          <p:sp>
            <p:nvSpPr>
              <p:cNvPr id="836" name="Shape 608"/>
              <p:cNvSpPr/>
              <p:nvPr/>
            </p:nvSpPr>
            <p:spPr>
              <a:xfrm>
                <a:off x="-1" y="0"/>
                <a:ext cx="623301" cy="62462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37" name="Shape 609"/>
              <p:cNvSpPr txBox="1"/>
              <p:nvPr/>
            </p:nvSpPr>
            <p:spPr>
              <a:xfrm>
                <a:off x="63451" y="82298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81</a:t>
                </a:r>
              </a:p>
            </p:txBody>
          </p:sp>
        </p:grpSp>
        <p:grpSp>
          <p:nvGrpSpPr>
            <p:cNvPr id="841" name="Group 613"/>
            <p:cNvGrpSpPr/>
            <p:nvPr/>
          </p:nvGrpSpPr>
          <p:grpSpPr>
            <a:xfrm>
              <a:off x="0" y="3250353"/>
              <a:ext cx="623300" cy="624627"/>
              <a:chOff x="0" y="0"/>
              <a:chExt cx="623299" cy="624626"/>
            </a:xfrm>
          </p:grpSpPr>
          <p:sp>
            <p:nvSpPr>
              <p:cNvPr id="839" name="Shape 611"/>
              <p:cNvSpPr/>
              <p:nvPr/>
            </p:nvSpPr>
            <p:spPr>
              <a:xfrm>
                <a:off x="-1" y="-1"/>
                <a:ext cx="623301" cy="624628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40" name="Shape 612"/>
              <p:cNvSpPr txBox="1"/>
              <p:nvPr/>
            </p:nvSpPr>
            <p:spPr>
              <a:xfrm>
                <a:off x="63451" y="82298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81</a:t>
                </a:r>
              </a:p>
            </p:txBody>
          </p:sp>
        </p:grpSp>
        <p:sp>
          <p:nvSpPr>
            <p:cNvPr id="842" name="Shape 614"/>
            <p:cNvSpPr/>
            <p:nvPr/>
          </p:nvSpPr>
          <p:spPr>
            <a:xfrm>
              <a:off x="2942450" y="412326"/>
              <a:ext cx="583351" cy="673486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43" name="Shape 615"/>
            <p:cNvSpPr/>
            <p:nvPr/>
          </p:nvSpPr>
          <p:spPr>
            <a:xfrm flipH="1">
              <a:off x="1653259" y="446193"/>
              <a:ext cx="778935" cy="625406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44" name="Shape 616"/>
            <p:cNvSpPr/>
            <p:nvPr/>
          </p:nvSpPr>
          <p:spPr>
            <a:xfrm flipH="1">
              <a:off x="1054947" y="1599918"/>
              <a:ext cx="383824" cy="623149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45" name="Shape 617"/>
            <p:cNvSpPr/>
            <p:nvPr/>
          </p:nvSpPr>
          <p:spPr>
            <a:xfrm>
              <a:off x="1754858" y="1498600"/>
              <a:ext cx="478650" cy="767646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46" name="Shape 618"/>
            <p:cNvSpPr/>
            <p:nvPr/>
          </p:nvSpPr>
          <p:spPr>
            <a:xfrm flipH="1">
              <a:off x="3159196" y="1599918"/>
              <a:ext cx="383824" cy="623149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47" name="Shape 619"/>
            <p:cNvSpPr/>
            <p:nvPr/>
          </p:nvSpPr>
          <p:spPr>
            <a:xfrm>
              <a:off x="3764281" y="1498600"/>
              <a:ext cx="573477" cy="767646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48" name="Shape 620"/>
            <p:cNvSpPr/>
            <p:nvPr/>
          </p:nvSpPr>
          <p:spPr>
            <a:xfrm flipH="1">
              <a:off x="415995" y="2654301"/>
              <a:ext cx="383824" cy="623148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851" name="Group 623"/>
            <p:cNvGrpSpPr/>
            <p:nvPr/>
          </p:nvGrpSpPr>
          <p:grpSpPr>
            <a:xfrm>
              <a:off x="3330787" y="1058050"/>
              <a:ext cx="624339" cy="623439"/>
              <a:chOff x="0" y="0"/>
              <a:chExt cx="624338" cy="623438"/>
            </a:xfrm>
          </p:grpSpPr>
          <p:sp>
            <p:nvSpPr>
              <p:cNvPr id="849" name="Shape 621"/>
              <p:cNvSpPr/>
              <p:nvPr/>
            </p:nvSpPr>
            <p:spPr>
              <a:xfrm>
                <a:off x="-1" y="0"/>
                <a:ext cx="624339" cy="623439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50" name="Shape 622"/>
              <p:cNvSpPr txBox="1"/>
              <p:nvPr/>
            </p:nvSpPr>
            <p:spPr>
              <a:xfrm>
                <a:off x="75278" y="63400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65</a:t>
                </a:r>
              </a:p>
            </p:txBody>
          </p:sp>
        </p:grpSp>
        <p:grpSp>
          <p:nvGrpSpPr>
            <p:cNvPr id="854" name="Group 626"/>
            <p:cNvGrpSpPr/>
            <p:nvPr/>
          </p:nvGrpSpPr>
          <p:grpSpPr>
            <a:xfrm>
              <a:off x="590973" y="2192867"/>
              <a:ext cx="623149" cy="620121"/>
              <a:chOff x="0" y="0"/>
              <a:chExt cx="623148" cy="620119"/>
            </a:xfrm>
          </p:grpSpPr>
          <p:sp>
            <p:nvSpPr>
              <p:cNvPr id="852" name="Shape 624"/>
              <p:cNvSpPr/>
              <p:nvPr/>
            </p:nvSpPr>
            <p:spPr>
              <a:xfrm>
                <a:off x="0" y="-1"/>
                <a:ext cx="623149" cy="620121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53" name="Shape 625"/>
              <p:cNvSpPr txBox="1"/>
              <p:nvPr/>
            </p:nvSpPr>
            <p:spPr>
              <a:xfrm>
                <a:off x="56754" y="75932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49</a:t>
                </a:r>
              </a:p>
            </p:txBody>
          </p:sp>
        </p:grpSp>
        <p:grpSp>
          <p:nvGrpSpPr>
            <p:cNvPr id="857" name="Group 629"/>
            <p:cNvGrpSpPr/>
            <p:nvPr/>
          </p:nvGrpSpPr>
          <p:grpSpPr>
            <a:xfrm>
              <a:off x="1996440" y="2078567"/>
              <a:ext cx="623301" cy="624625"/>
              <a:chOff x="0" y="0"/>
              <a:chExt cx="623299" cy="624623"/>
            </a:xfrm>
          </p:grpSpPr>
          <p:sp>
            <p:nvSpPr>
              <p:cNvPr id="855" name="Shape 627"/>
              <p:cNvSpPr/>
              <p:nvPr/>
            </p:nvSpPr>
            <p:spPr>
              <a:xfrm>
                <a:off x="-1" y="0"/>
                <a:ext cx="623301" cy="62462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56" name="Shape 628"/>
              <p:cNvSpPr txBox="1"/>
              <p:nvPr/>
            </p:nvSpPr>
            <p:spPr>
              <a:xfrm>
                <a:off x="58936" y="82298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50</a:t>
                </a:r>
              </a:p>
            </p:txBody>
          </p:sp>
        </p:grpSp>
        <p:grpSp>
          <p:nvGrpSpPr>
            <p:cNvPr id="860" name="Group 632"/>
            <p:cNvGrpSpPr/>
            <p:nvPr/>
          </p:nvGrpSpPr>
          <p:grpSpPr>
            <a:xfrm>
              <a:off x="2917614" y="2055989"/>
              <a:ext cx="621045" cy="622167"/>
              <a:chOff x="0" y="0"/>
              <a:chExt cx="621044" cy="622165"/>
            </a:xfrm>
          </p:grpSpPr>
          <p:sp>
            <p:nvSpPr>
              <p:cNvPr id="858" name="Shape 630"/>
              <p:cNvSpPr/>
              <p:nvPr/>
            </p:nvSpPr>
            <p:spPr>
              <a:xfrm>
                <a:off x="-1" y="0"/>
                <a:ext cx="621046" cy="622167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59" name="Shape 631"/>
              <p:cNvSpPr txBox="1"/>
              <p:nvPr/>
            </p:nvSpPr>
            <p:spPr>
              <a:xfrm>
                <a:off x="56755" y="76183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27</a:t>
                </a:r>
              </a:p>
            </p:txBody>
          </p:sp>
        </p:grpSp>
        <p:grpSp>
          <p:nvGrpSpPr>
            <p:cNvPr id="863" name="Group 635"/>
            <p:cNvGrpSpPr/>
            <p:nvPr/>
          </p:nvGrpSpPr>
          <p:grpSpPr>
            <a:xfrm>
              <a:off x="3860236" y="2057401"/>
              <a:ext cx="623303" cy="626673"/>
              <a:chOff x="0" y="0"/>
              <a:chExt cx="623302" cy="626672"/>
            </a:xfrm>
          </p:grpSpPr>
          <p:sp>
            <p:nvSpPr>
              <p:cNvPr id="861" name="Shape 633"/>
              <p:cNvSpPr/>
              <p:nvPr/>
            </p:nvSpPr>
            <p:spPr>
              <a:xfrm>
                <a:off x="0" y="-1"/>
                <a:ext cx="623303" cy="626674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62" name="Shape 634"/>
              <p:cNvSpPr txBox="1"/>
              <p:nvPr/>
            </p:nvSpPr>
            <p:spPr>
              <a:xfrm>
                <a:off x="58936" y="75088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38</a:t>
                </a:r>
              </a:p>
            </p:txBody>
          </p:sp>
        </p:grpSp>
        <p:grpSp>
          <p:nvGrpSpPr>
            <p:cNvPr id="866" name="Group 638"/>
            <p:cNvGrpSpPr/>
            <p:nvPr/>
          </p:nvGrpSpPr>
          <p:grpSpPr>
            <a:xfrm>
              <a:off x="1340351" y="1071597"/>
              <a:ext cx="624483" cy="623295"/>
              <a:chOff x="0" y="0"/>
              <a:chExt cx="624481" cy="623294"/>
            </a:xfrm>
          </p:grpSpPr>
          <p:sp>
            <p:nvSpPr>
              <p:cNvPr id="864" name="Shape 636"/>
              <p:cNvSpPr/>
              <p:nvPr/>
            </p:nvSpPr>
            <p:spPr>
              <a:xfrm>
                <a:off x="0" y="-1"/>
                <a:ext cx="624483" cy="623296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65" name="Shape 637"/>
              <p:cNvSpPr txBox="1"/>
              <p:nvPr/>
            </p:nvSpPr>
            <p:spPr>
              <a:xfrm>
                <a:off x="37379" y="61272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76</a:t>
                </a:r>
              </a:p>
            </p:txBody>
          </p:sp>
        </p:grpSp>
        <p:grpSp>
          <p:nvGrpSpPr>
            <p:cNvPr id="869" name="Group 641"/>
            <p:cNvGrpSpPr/>
            <p:nvPr/>
          </p:nvGrpSpPr>
          <p:grpSpPr>
            <a:xfrm>
              <a:off x="2384778" y="0"/>
              <a:ext cx="623303" cy="625406"/>
              <a:chOff x="0" y="0"/>
              <a:chExt cx="623302" cy="625405"/>
            </a:xfrm>
          </p:grpSpPr>
          <p:sp>
            <p:nvSpPr>
              <p:cNvPr id="867" name="Shape 639"/>
              <p:cNvSpPr/>
              <p:nvPr/>
            </p:nvSpPr>
            <p:spPr>
              <a:xfrm>
                <a:off x="0" y="0"/>
                <a:ext cx="623303" cy="625406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68" name="Shape 640"/>
              <p:cNvSpPr txBox="1"/>
              <p:nvPr/>
            </p:nvSpPr>
            <p:spPr>
              <a:xfrm>
                <a:off x="58936" y="41700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97</a:t>
                </a:r>
              </a:p>
            </p:txBody>
          </p:sp>
        </p:grpSp>
        <p:grpSp>
          <p:nvGrpSpPr>
            <p:cNvPr id="872" name="Group 644"/>
            <p:cNvGrpSpPr/>
            <p:nvPr/>
          </p:nvGrpSpPr>
          <p:grpSpPr>
            <a:xfrm>
              <a:off x="0" y="3251201"/>
              <a:ext cx="623149" cy="620119"/>
              <a:chOff x="0" y="0"/>
              <a:chExt cx="623148" cy="620117"/>
            </a:xfrm>
          </p:grpSpPr>
          <p:sp>
            <p:nvSpPr>
              <p:cNvPr id="870" name="Shape 642"/>
              <p:cNvSpPr/>
              <p:nvPr/>
            </p:nvSpPr>
            <p:spPr>
              <a:xfrm>
                <a:off x="0" y="0"/>
                <a:ext cx="623149" cy="620118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71" name="Shape 643"/>
              <p:cNvSpPr txBox="1"/>
              <p:nvPr/>
            </p:nvSpPr>
            <p:spPr>
              <a:xfrm>
                <a:off x="56754" y="75932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49</a:t>
                </a:r>
              </a:p>
            </p:txBody>
          </p:sp>
        </p:grpSp>
        <p:grpSp>
          <p:nvGrpSpPr>
            <p:cNvPr id="875" name="Group 647"/>
            <p:cNvGrpSpPr/>
            <p:nvPr/>
          </p:nvGrpSpPr>
          <p:grpSpPr>
            <a:xfrm>
              <a:off x="1333500" y="1066800"/>
              <a:ext cx="623301" cy="624625"/>
              <a:chOff x="0" y="0"/>
              <a:chExt cx="623299" cy="624623"/>
            </a:xfrm>
          </p:grpSpPr>
          <p:sp>
            <p:nvSpPr>
              <p:cNvPr id="873" name="Shape 645"/>
              <p:cNvSpPr/>
              <p:nvPr/>
            </p:nvSpPr>
            <p:spPr>
              <a:xfrm>
                <a:off x="-1" y="0"/>
                <a:ext cx="623301" cy="62462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74" name="Shape 646"/>
              <p:cNvSpPr txBox="1"/>
              <p:nvPr/>
            </p:nvSpPr>
            <p:spPr>
              <a:xfrm>
                <a:off x="63451" y="82298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81</a:t>
                </a:r>
              </a:p>
            </p:txBody>
          </p:sp>
        </p:grpSp>
        <p:grpSp>
          <p:nvGrpSpPr>
            <p:cNvPr id="878" name="Group 650"/>
            <p:cNvGrpSpPr/>
            <p:nvPr/>
          </p:nvGrpSpPr>
          <p:grpSpPr>
            <a:xfrm>
              <a:off x="584200" y="2197101"/>
              <a:ext cx="624483" cy="623295"/>
              <a:chOff x="0" y="0"/>
              <a:chExt cx="624481" cy="623293"/>
            </a:xfrm>
          </p:grpSpPr>
          <p:sp>
            <p:nvSpPr>
              <p:cNvPr id="876" name="Shape 648"/>
              <p:cNvSpPr/>
              <p:nvPr/>
            </p:nvSpPr>
            <p:spPr>
              <a:xfrm>
                <a:off x="0" y="0"/>
                <a:ext cx="624483" cy="623294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77" name="Shape 649"/>
              <p:cNvSpPr txBox="1"/>
              <p:nvPr/>
            </p:nvSpPr>
            <p:spPr>
              <a:xfrm>
                <a:off x="37379" y="61273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76</a:t>
                </a:r>
              </a:p>
            </p:txBody>
          </p:sp>
        </p:grpSp>
        <p:sp>
          <p:nvSpPr>
            <p:cNvPr id="879" name="0"/>
            <p:cNvSpPr txBox="1"/>
            <p:nvPr/>
          </p:nvSpPr>
          <p:spPr>
            <a:xfrm>
              <a:off x="2502429" y="541261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880" name="1"/>
            <p:cNvSpPr txBox="1"/>
            <p:nvPr/>
          </p:nvSpPr>
          <p:spPr>
            <a:xfrm>
              <a:off x="1420671" y="1753955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881" name="2"/>
            <p:cNvSpPr txBox="1"/>
            <p:nvPr/>
          </p:nvSpPr>
          <p:spPr>
            <a:xfrm>
              <a:off x="3461657" y="1753955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882" name="3"/>
            <p:cNvSpPr txBox="1"/>
            <p:nvPr/>
          </p:nvSpPr>
          <p:spPr>
            <a:xfrm>
              <a:off x="721247" y="2745367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883" name="4"/>
            <p:cNvSpPr txBox="1"/>
            <p:nvPr/>
          </p:nvSpPr>
          <p:spPr>
            <a:xfrm>
              <a:off x="2126791" y="2745367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884" name="5"/>
            <p:cNvSpPr txBox="1"/>
            <p:nvPr/>
          </p:nvSpPr>
          <p:spPr>
            <a:xfrm>
              <a:off x="3046836" y="2745367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885" name="6"/>
            <p:cNvSpPr txBox="1"/>
            <p:nvPr/>
          </p:nvSpPr>
          <p:spPr>
            <a:xfrm>
              <a:off x="3990588" y="2745367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6</a:t>
              </a:r>
            </a:p>
          </p:txBody>
        </p:sp>
        <p:sp>
          <p:nvSpPr>
            <p:cNvPr id="886" name="7"/>
            <p:cNvSpPr txBox="1"/>
            <p:nvPr/>
          </p:nvSpPr>
          <p:spPr>
            <a:xfrm>
              <a:off x="92250" y="3864038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Shape 591"/>
          <p:cNvSpPr txBox="1"/>
          <p:nvPr>
            <p:ph type="title"/>
          </p:nvPr>
        </p:nvSpPr>
        <p:spPr>
          <a:xfrm>
            <a:off x="1611488" y="125588"/>
            <a:ext cx="9448801" cy="952501"/>
          </a:xfrm>
          <a:prstGeom prst="rect">
            <a:avLst/>
          </a:prstGeom>
        </p:spPr>
        <p:txBody>
          <a:bodyPr/>
          <a:lstStyle/>
          <a:p>
            <a:pPr/>
            <a:r>
              <a:t>最大优先级队列的实现-入队</a:t>
            </a:r>
          </a:p>
        </p:txBody>
      </p:sp>
      <p:sp>
        <p:nvSpPr>
          <p:cNvPr id="890" name="public boolean offer(T e) {…"/>
          <p:cNvSpPr txBox="1"/>
          <p:nvPr/>
        </p:nvSpPr>
        <p:spPr>
          <a:xfrm>
            <a:off x="90362" y="1621388"/>
            <a:ext cx="6973418" cy="48809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boolean</a:t>
            </a:r>
            <a:r>
              <a:t> offer(T </a:t>
            </a:r>
            <a:r>
              <a:rPr>
                <a:solidFill>
                  <a:srgbClr val="7E504F"/>
                </a:solidFill>
              </a:rPr>
              <a:t>e</a:t>
            </a:r>
            <a:r>
              <a:t>) {</a:t>
            </a: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e</a:t>
            </a:r>
            <a:r>
              <a:t> == </a:t>
            </a:r>
            <a:r>
              <a:rPr>
                <a:solidFill>
                  <a:srgbClr val="931A68"/>
                </a:solidFill>
              </a:rPr>
              <a:t>null</a:t>
            </a:r>
            <a:r>
              <a:t>)</a:t>
            </a: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    </a:t>
            </a:r>
            <a:r>
              <a:rPr>
                <a:solidFill>
                  <a:srgbClr val="931A68"/>
                </a:solidFill>
              </a:rPr>
              <a:t>throw</a:t>
            </a:r>
            <a:r>
              <a:t>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NullPointerException();</a:t>
            </a: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t> = </a:t>
            </a:r>
            <a:r>
              <a:rPr>
                <a:solidFill>
                  <a:srgbClr val="0326CC"/>
                </a:solidFill>
              </a:rPr>
              <a:t>size</a:t>
            </a:r>
            <a:r>
              <a:t>;</a:t>
            </a: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i</a:t>
            </a:r>
            <a:r>
              <a:t> &gt;= </a:t>
            </a:r>
            <a:r>
              <a:rPr>
                <a:solidFill>
                  <a:srgbClr val="0326CC"/>
                </a:solidFill>
              </a:rPr>
              <a:t>elements</a:t>
            </a:r>
            <a:r>
              <a:t>.</a:t>
            </a:r>
            <a:r>
              <a:rPr>
                <a:solidFill>
                  <a:srgbClr val="0326CC"/>
                </a:solidFill>
              </a:rPr>
              <a:t>length</a:t>
            </a:r>
            <a:r>
              <a:t>)</a:t>
            </a: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	</a:t>
            </a:r>
            <a:r>
              <a:rPr>
                <a:solidFill>
                  <a:srgbClr val="931A68"/>
                </a:solidFill>
              </a:rPr>
              <a:t>throw</a:t>
            </a:r>
            <a:r>
              <a:t> </a:t>
            </a:r>
            <a:r>
              <a:rPr>
                <a:solidFill>
                  <a:srgbClr val="931A68"/>
                </a:solidFill>
              </a:rPr>
              <a:t>new</a:t>
            </a:r>
            <a:r>
              <a:t> IllegalStateException();</a:t>
            </a: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</a:t>
            </a:r>
            <a:r>
              <a:rPr>
                <a:solidFill>
                  <a:srgbClr val="0326CC"/>
                </a:solidFill>
              </a:rPr>
              <a:t>size</a:t>
            </a:r>
            <a:r>
              <a:t> = </a:t>
            </a:r>
            <a:r>
              <a:rPr>
                <a:solidFill>
                  <a:srgbClr val="7E504F"/>
                </a:solidFill>
              </a:rPr>
              <a:t>i</a:t>
            </a:r>
            <a:r>
              <a:t> + 1;</a:t>
            </a: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</a:t>
            </a:r>
            <a:r>
              <a:rPr>
                <a:solidFill>
                  <a:srgbClr val="931A68"/>
                </a:solidFill>
              </a:rPr>
              <a:t>if</a:t>
            </a:r>
            <a:r>
              <a:t> (</a:t>
            </a:r>
            <a:r>
              <a:rPr>
                <a:solidFill>
                  <a:srgbClr val="7E504F"/>
                </a:solidFill>
              </a:rPr>
              <a:t>i</a:t>
            </a:r>
            <a:r>
              <a:t> == 0)</a:t>
            </a: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    </a:t>
            </a:r>
            <a:r>
              <a:rPr>
                <a:solidFill>
                  <a:srgbClr val="0326CC"/>
                </a:solidFill>
              </a:rPr>
              <a:t>elements</a:t>
            </a:r>
            <a:r>
              <a:t>[0] = </a:t>
            </a:r>
            <a:r>
              <a:rPr>
                <a:solidFill>
                  <a:srgbClr val="7E504F"/>
                </a:solidFill>
              </a:rPr>
              <a:t>e</a:t>
            </a:r>
            <a:r>
              <a:t>;</a:t>
            </a: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</a:t>
            </a:r>
            <a:r>
              <a:rPr>
                <a:solidFill>
                  <a:srgbClr val="931A68"/>
                </a:solidFill>
              </a:rPr>
              <a:t>else</a:t>
            </a: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    siftUp(</a:t>
            </a:r>
            <a:r>
              <a:rPr>
                <a:solidFill>
                  <a:srgbClr val="7E504F"/>
                </a:solidFill>
              </a:rPr>
              <a:t>i</a:t>
            </a:r>
            <a:r>
              <a:t>, </a:t>
            </a:r>
            <a:r>
              <a:rPr>
                <a:solidFill>
                  <a:srgbClr val="7E504F"/>
                </a:solidFill>
              </a:rPr>
              <a:t>e</a:t>
            </a:r>
            <a:r>
              <a:t>);</a:t>
            </a: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    </a:t>
            </a:r>
            <a:r>
              <a:rPr>
                <a:solidFill>
                  <a:srgbClr val="931A68"/>
                </a:solidFill>
              </a:rPr>
              <a:t>return</a:t>
            </a:r>
            <a:r>
              <a:t> </a:t>
            </a:r>
            <a:r>
              <a:rPr>
                <a:solidFill>
                  <a:srgbClr val="931A68"/>
                </a:solidFill>
              </a:rPr>
              <a:t>true</a:t>
            </a:r>
            <a:r>
              <a:t>;</a:t>
            </a:r>
          </a:p>
          <a:p>
            <a:pPr indent="0">
              <a:defRPr sz="2000">
                <a:latin typeface="Monaco"/>
                <a:ea typeface="Monaco"/>
                <a:cs typeface="Monaco"/>
                <a:sym typeface="Monaco"/>
              </a:defRPr>
            </a:pPr>
            <a:r>
              <a:t>    }</a:t>
            </a:r>
          </a:p>
        </p:txBody>
      </p:sp>
      <p:grpSp>
        <p:nvGrpSpPr>
          <p:cNvPr id="947" name="成组"/>
          <p:cNvGrpSpPr/>
          <p:nvPr/>
        </p:nvGrpSpPr>
        <p:grpSpPr>
          <a:xfrm>
            <a:off x="8299454" y="1821935"/>
            <a:ext cx="4483540" cy="4479900"/>
            <a:chOff x="0" y="0"/>
            <a:chExt cx="4483538" cy="4479899"/>
          </a:xfrm>
        </p:grpSpPr>
        <p:grpSp>
          <p:nvGrpSpPr>
            <p:cNvPr id="893" name="Group 610"/>
            <p:cNvGrpSpPr/>
            <p:nvPr/>
          </p:nvGrpSpPr>
          <p:grpSpPr>
            <a:xfrm>
              <a:off x="584199" y="2197101"/>
              <a:ext cx="623301" cy="624625"/>
              <a:chOff x="0" y="0"/>
              <a:chExt cx="623299" cy="624623"/>
            </a:xfrm>
          </p:grpSpPr>
          <p:sp>
            <p:nvSpPr>
              <p:cNvPr id="891" name="Shape 608"/>
              <p:cNvSpPr/>
              <p:nvPr/>
            </p:nvSpPr>
            <p:spPr>
              <a:xfrm>
                <a:off x="-1" y="0"/>
                <a:ext cx="623301" cy="62462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92" name="Shape 609"/>
              <p:cNvSpPr txBox="1"/>
              <p:nvPr/>
            </p:nvSpPr>
            <p:spPr>
              <a:xfrm>
                <a:off x="63451" y="82298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81</a:t>
                </a:r>
              </a:p>
            </p:txBody>
          </p:sp>
        </p:grpSp>
        <p:grpSp>
          <p:nvGrpSpPr>
            <p:cNvPr id="896" name="Group 613"/>
            <p:cNvGrpSpPr/>
            <p:nvPr/>
          </p:nvGrpSpPr>
          <p:grpSpPr>
            <a:xfrm>
              <a:off x="0" y="3250353"/>
              <a:ext cx="623300" cy="624627"/>
              <a:chOff x="0" y="0"/>
              <a:chExt cx="623299" cy="624626"/>
            </a:xfrm>
          </p:grpSpPr>
          <p:sp>
            <p:nvSpPr>
              <p:cNvPr id="894" name="Shape 611"/>
              <p:cNvSpPr/>
              <p:nvPr/>
            </p:nvSpPr>
            <p:spPr>
              <a:xfrm>
                <a:off x="-1" y="-1"/>
                <a:ext cx="623301" cy="624628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95" name="Shape 612"/>
              <p:cNvSpPr txBox="1"/>
              <p:nvPr/>
            </p:nvSpPr>
            <p:spPr>
              <a:xfrm>
                <a:off x="63451" y="82298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81</a:t>
                </a:r>
              </a:p>
            </p:txBody>
          </p:sp>
        </p:grpSp>
        <p:sp>
          <p:nvSpPr>
            <p:cNvPr id="897" name="Shape 614"/>
            <p:cNvSpPr/>
            <p:nvPr/>
          </p:nvSpPr>
          <p:spPr>
            <a:xfrm>
              <a:off x="2942450" y="412326"/>
              <a:ext cx="583351" cy="673486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98" name="Shape 615"/>
            <p:cNvSpPr/>
            <p:nvPr/>
          </p:nvSpPr>
          <p:spPr>
            <a:xfrm flipH="1">
              <a:off x="1653259" y="446193"/>
              <a:ext cx="778935" cy="625406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99" name="Shape 616"/>
            <p:cNvSpPr/>
            <p:nvPr/>
          </p:nvSpPr>
          <p:spPr>
            <a:xfrm flipH="1">
              <a:off x="1054947" y="1599917"/>
              <a:ext cx="383824" cy="623149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00" name="Shape 617"/>
            <p:cNvSpPr/>
            <p:nvPr/>
          </p:nvSpPr>
          <p:spPr>
            <a:xfrm>
              <a:off x="1754858" y="1498600"/>
              <a:ext cx="478650" cy="767646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01" name="Shape 618"/>
            <p:cNvSpPr/>
            <p:nvPr/>
          </p:nvSpPr>
          <p:spPr>
            <a:xfrm flipH="1">
              <a:off x="3159196" y="1599917"/>
              <a:ext cx="383824" cy="623149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02" name="Shape 619"/>
            <p:cNvSpPr/>
            <p:nvPr/>
          </p:nvSpPr>
          <p:spPr>
            <a:xfrm>
              <a:off x="3764281" y="1498600"/>
              <a:ext cx="573477" cy="767646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03" name="Shape 620"/>
            <p:cNvSpPr/>
            <p:nvPr/>
          </p:nvSpPr>
          <p:spPr>
            <a:xfrm flipH="1">
              <a:off x="415995" y="2654301"/>
              <a:ext cx="383824" cy="623148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906" name="Group 623"/>
            <p:cNvGrpSpPr/>
            <p:nvPr/>
          </p:nvGrpSpPr>
          <p:grpSpPr>
            <a:xfrm>
              <a:off x="3330787" y="1058050"/>
              <a:ext cx="624339" cy="623439"/>
              <a:chOff x="0" y="0"/>
              <a:chExt cx="624338" cy="623438"/>
            </a:xfrm>
          </p:grpSpPr>
          <p:sp>
            <p:nvSpPr>
              <p:cNvPr id="904" name="Shape 621"/>
              <p:cNvSpPr/>
              <p:nvPr/>
            </p:nvSpPr>
            <p:spPr>
              <a:xfrm>
                <a:off x="-1" y="0"/>
                <a:ext cx="624339" cy="623439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05" name="Shape 622"/>
              <p:cNvSpPr txBox="1"/>
              <p:nvPr/>
            </p:nvSpPr>
            <p:spPr>
              <a:xfrm>
                <a:off x="75278" y="63400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65</a:t>
                </a:r>
              </a:p>
            </p:txBody>
          </p:sp>
        </p:grpSp>
        <p:grpSp>
          <p:nvGrpSpPr>
            <p:cNvPr id="909" name="Group 626"/>
            <p:cNvGrpSpPr/>
            <p:nvPr/>
          </p:nvGrpSpPr>
          <p:grpSpPr>
            <a:xfrm>
              <a:off x="590973" y="2192867"/>
              <a:ext cx="623149" cy="620121"/>
              <a:chOff x="0" y="0"/>
              <a:chExt cx="623148" cy="620119"/>
            </a:xfrm>
          </p:grpSpPr>
          <p:sp>
            <p:nvSpPr>
              <p:cNvPr id="907" name="Shape 624"/>
              <p:cNvSpPr/>
              <p:nvPr/>
            </p:nvSpPr>
            <p:spPr>
              <a:xfrm>
                <a:off x="0" y="-1"/>
                <a:ext cx="623149" cy="620121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08" name="Shape 625"/>
              <p:cNvSpPr txBox="1"/>
              <p:nvPr/>
            </p:nvSpPr>
            <p:spPr>
              <a:xfrm>
                <a:off x="56754" y="75932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49</a:t>
                </a:r>
              </a:p>
            </p:txBody>
          </p:sp>
        </p:grpSp>
        <p:grpSp>
          <p:nvGrpSpPr>
            <p:cNvPr id="912" name="Group 629"/>
            <p:cNvGrpSpPr/>
            <p:nvPr/>
          </p:nvGrpSpPr>
          <p:grpSpPr>
            <a:xfrm>
              <a:off x="1996440" y="2078566"/>
              <a:ext cx="623301" cy="624625"/>
              <a:chOff x="0" y="0"/>
              <a:chExt cx="623299" cy="624623"/>
            </a:xfrm>
          </p:grpSpPr>
          <p:sp>
            <p:nvSpPr>
              <p:cNvPr id="910" name="Shape 627"/>
              <p:cNvSpPr/>
              <p:nvPr/>
            </p:nvSpPr>
            <p:spPr>
              <a:xfrm>
                <a:off x="-1" y="0"/>
                <a:ext cx="623301" cy="62462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11" name="Shape 628"/>
              <p:cNvSpPr txBox="1"/>
              <p:nvPr/>
            </p:nvSpPr>
            <p:spPr>
              <a:xfrm>
                <a:off x="58936" y="82298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50</a:t>
                </a:r>
              </a:p>
            </p:txBody>
          </p:sp>
        </p:grpSp>
        <p:grpSp>
          <p:nvGrpSpPr>
            <p:cNvPr id="915" name="Group 632"/>
            <p:cNvGrpSpPr/>
            <p:nvPr/>
          </p:nvGrpSpPr>
          <p:grpSpPr>
            <a:xfrm>
              <a:off x="2917614" y="2055989"/>
              <a:ext cx="621045" cy="622167"/>
              <a:chOff x="0" y="0"/>
              <a:chExt cx="621044" cy="622165"/>
            </a:xfrm>
          </p:grpSpPr>
          <p:sp>
            <p:nvSpPr>
              <p:cNvPr id="913" name="Shape 630"/>
              <p:cNvSpPr/>
              <p:nvPr/>
            </p:nvSpPr>
            <p:spPr>
              <a:xfrm>
                <a:off x="-1" y="0"/>
                <a:ext cx="621046" cy="622167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14" name="Shape 631"/>
              <p:cNvSpPr txBox="1"/>
              <p:nvPr/>
            </p:nvSpPr>
            <p:spPr>
              <a:xfrm>
                <a:off x="56755" y="76183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27</a:t>
                </a:r>
              </a:p>
            </p:txBody>
          </p:sp>
        </p:grpSp>
        <p:grpSp>
          <p:nvGrpSpPr>
            <p:cNvPr id="918" name="Group 635"/>
            <p:cNvGrpSpPr/>
            <p:nvPr/>
          </p:nvGrpSpPr>
          <p:grpSpPr>
            <a:xfrm>
              <a:off x="3860236" y="2057401"/>
              <a:ext cx="623303" cy="626673"/>
              <a:chOff x="0" y="0"/>
              <a:chExt cx="623302" cy="626672"/>
            </a:xfrm>
          </p:grpSpPr>
          <p:sp>
            <p:nvSpPr>
              <p:cNvPr id="916" name="Shape 633"/>
              <p:cNvSpPr/>
              <p:nvPr/>
            </p:nvSpPr>
            <p:spPr>
              <a:xfrm>
                <a:off x="0" y="-1"/>
                <a:ext cx="623303" cy="626674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17" name="Shape 634"/>
              <p:cNvSpPr txBox="1"/>
              <p:nvPr/>
            </p:nvSpPr>
            <p:spPr>
              <a:xfrm>
                <a:off x="58936" y="75088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38</a:t>
                </a:r>
              </a:p>
            </p:txBody>
          </p:sp>
        </p:grpSp>
        <p:grpSp>
          <p:nvGrpSpPr>
            <p:cNvPr id="921" name="Group 638"/>
            <p:cNvGrpSpPr/>
            <p:nvPr/>
          </p:nvGrpSpPr>
          <p:grpSpPr>
            <a:xfrm>
              <a:off x="1340351" y="1071597"/>
              <a:ext cx="624483" cy="623295"/>
              <a:chOff x="0" y="0"/>
              <a:chExt cx="624481" cy="623294"/>
            </a:xfrm>
          </p:grpSpPr>
          <p:sp>
            <p:nvSpPr>
              <p:cNvPr id="919" name="Shape 636"/>
              <p:cNvSpPr/>
              <p:nvPr/>
            </p:nvSpPr>
            <p:spPr>
              <a:xfrm>
                <a:off x="0" y="-1"/>
                <a:ext cx="624483" cy="623296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20" name="Shape 637"/>
              <p:cNvSpPr txBox="1"/>
              <p:nvPr/>
            </p:nvSpPr>
            <p:spPr>
              <a:xfrm>
                <a:off x="37379" y="61272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76</a:t>
                </a:r>
              </a:p>
            </p:txBody>
          </p:sp>
        </p:grpSp>
        <p:grpSp>
          <p:nvGrpSpPr>
            <p:cNvPr id="924" name="Group 641"/>
            <p:cNvGrpSpPr/>
            <p:nvPr/>
          </p:nvGrpSpPr>
          <p:grpSpPr>
            <a:xfrm>
              <a:off x="2384777" y="0"/>
              <a:ext cx="623303" cy="625406"/>
              <a:chOff x="0" y="0"/>
              <a:chExt cx="623302" cy="625405"/>
            </a:xfrm>
          </p:grpSpPr>
          <p:sp>
            <p:nvSpPr>
              <p:cNvPr id="922" name="Shape 639"/>
              <p:cNvSpPr/>
              <p:nvPr/>
            </p:nvSpPr>
            <p:spPr>
              <a:xfrm>
                <a:off x="0" y="0"/>
                <a:ext cx="623303" cy="625406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23" name="Shape 640"/>
              <p:cNvSpPr txBox="1"/>
              <p:nvPr/>
            </p:nvSpPr>
            <p:spPr>
              <a:xfrm>
                <a:off x="58936" y="41700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97</a:t>
                </a:r>
              </a:p>
            </p:txBody>
          </p:sp>
        </p:grpSp>
        <p:grpSp>
          <p:nvGrpSpPr>
            <p:cNvPr id="927" name="Group 644"/>
            <p:cNvGrpSpPr/>
            <p:nvPr/>
          </p:nvGrpSpPr>
          <p:grpSpPr>
            <a:xfrm>
              <a:off x="0" y="3251201"/>
              <a:ext cx="623149" cy="620119"/>
              <a:chOff x="0" y="0"/>
              <a:chExt cx="623148" cy="620117"/>
            </a:xfrm>
          </p:grpSpPr>
          <p:sp>
            <p:nvSpPr>
              <p:cNvPr id="925" name="Shape 642"/>
              <p:cNvSpPr/>
              <p:nvPr/>
            </p:nvSpPr>
            <p:spPr>
              <a:xfrm>
                <a:off x="0" y="0"/>
                <a:ext cx="623149" cy="620118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26" name="Shape 643"/>
              <p:cNvSpPr txBox="1"/>
              <p:nvPr/>
            </p:nvSpPr>
            <p:spPr>
              <a:xfrm>
                <a:off x="56754" y="75932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49</a:t>
                </a:r>
              </a:p>
            </p:txBody>
          </p:sp>
        </p:grpSp>
        <p:grpSp>
          <p:nvGrpSpPr>
            <p:cNvPr id="930" name="Group 647"/>
            <p:cNvGrpSpPr/>
            <p:nvPr/>
          </p:nvGrpSpPr>
          <p:grpSpPr>
            <a:xfrm>
              <a:off x="1333500" y="1066800"/>
              <a:ext cx="623301" cy="624625"/>
              <a:chOff x="0" y="0"/>
              <a:chExt cx="623299" cy="624623"/>
            </a:xfrm>
          </p:grpSpPr>
          <p:sp>
            <p:nvSpPr>
              <p:cNvPr id="928" name="Shape 645"/>
              <p:cNvSpPr/>
              <p:nvPr/>
            </p:nvSpPr>
            <p:spPr>
              <a:xfrm>
                <a:off x="-1" y="0"/>
                <a:ext cx="623301" cy="62462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29" name="Shape 646"/>
              <p:cNvSpPr txBox="1"/>
              <p:nvPr/>
            </p:nvSpPr>
            <p:spPr>
              <a:xfrm>
                <a:off x="63451" y="82298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81</a:t>
                </a:r>
              </a:p>
            </p:txBody>
          </p:sp>
        </p:grpSp>
        <p:grpSp>
          <p:nvGrpSpPr>
            <p:cNvPr id="933" name="Group 650"/>
            <p:cNvGrpSpPr/>
            <p:nvPr/>
          </p:nvGrpSpPr>
          <p:grpSpPr>
            <a:xfrm>
              <a:off x="584200" y="2197101"/>
              <a:ext cx="624483" cy="623295"/>
              <a:chOff x="0" y="0"/>
              <a:chExt cx="624481" cy="623293"/>
            </a:xfrm>
          </p:grpSpPr>
          <p:sp>
            <p:nvSpPr>
              <p:cNvPr id="931" name="Shape 648"/>
              <p:cNvSpPr/>
              <p:nvPr/>
            </p:nvSpPr>
            <p:spPr>
              <a:xfrm>
                <a:off x="0" y="0"/>
                <a:ext cx="624483" cy="623294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32" name="Shape 649"/>
              <p:cNvSpPr txBox="1"/>
              <p:nvPr/>
            </p:nvSpPr>
            <p:spPr>
              <a:xfrm>
                <a:off x="37379" y="61273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76</a:t>
                </a:r>
              </a:p>
            </p:txBody>
          </p:sp>
        </p:grpSp>
        <p:sp>
          <p:nvSpPr>
            <p:cNvPr id="934" name="0"/>
            <p:cNvSpPr txBox="1"/>
            <p:nvPr/>
          </p:nvSpPr>
          <p:spPr>
            <a:xfrm>
              <a:off x="2502429" y="541261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935" name="1"/>
            <p:cNvSpPr txBox="1"/>
            <p:nvPr/>
          </p:nvSpPr>
          <p:spPr>
            <a:xfrm>
              <a:off x="1420670" y="1753955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936" name="2"/>
            <p:cNvSpPr txBox="1"/>
            <p:nvPr/>
          </p:nvSpPr>
          <p:spPr>
            <a:xfrm>
              <a:off x="3461656" y="1753955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937" name="3"/>
            <p:cNvSpPr txBox="1"/>
            <p:nvPr/>
          </p:nvSpPr>
          <p:spPr>
            <a:xfrm>
              <a:off x="721247" y="2745367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938" name="4"/>
            <p:cNvSpPr txBox="1"/>
            <p:nvPr/>
          </p:nvSpPr>
          <p:spPr>
            <a:xfrm>
              <a:off x="2126791" y="2745367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939" name="5"/>
            <p:cNvSpPr txBox="1"/>
            <p:nvPr/>
          </p:nvSpPr>
          <p:spPr>
            <a:xfrm>
              <a:off x="3046836" y="2745367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940" name="6"/>
            <p:cNvSpPr txBox="1"/>
            <p:nvPr/>
          </p:nvSpPr>
          <p:spPr>
            <a:xfrm>
              <a:off x="3990588" y="2745367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6</a:t>
              </a:r>
            </a:p>
          </p:txBody>
        </p:sp>
        <p:sp>
          <p:nvSpPr>
            <p:cNvPr id="941" name="7"/>
            <p:cNvSpPr txBox="1"/>
            <p:nvPr/>
          </p:nvSpPr>
          <p:spPr>
            <a:xfrm>
              <a:off x="92250" y="3864038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7</a:t>
              </a:r>
            </a:p>
          </p:txBody>
        </p:sp>
        <p:sp>
          <p:nvSpPr>
            <p:cNvPr id="942" name="Shape 617"/>
            <p:cNvSpPr/>
            <p:nvPr/>
          </p:nvSpPr>
          <p:spPr>
            <a:xfrm>
              <a:off x="1166671" y="2715917"/>
              <a:ext cx="478650" cy="767646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945" name="Group 629"/>
            <p:cNvGrpSpPr/>
            <p:nvPr/>
          </p:nvGrpSpPr>
          <p:grpSpPr>
            <a:xfrm>
              <a:off x="1408253" y="3295884"/>
              <a:ext cx="623301" cy="624625"/>
              <a:chOff x="0" y="0"/>
              <a:chExt cx="623299" cy="624623"/>
            </a:xfrm>
          </p:grpSpPr>
          <p:sp>
            <p:nvSpPr>
              <p:cNvPr id="943" name="Shape 627"/>
              <p:cNvSpPr/>
              <p:nvPr/>
            </p:nvSpPr>
            <p:spPr>
              <a:xfrm>
                <a:off x="-1" y="0"/>
                <a:ext cx="623301" cy="62462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44" name="Shape 628"/>
              <p:cNvSpPr txBox="1"/>
              <p:nvPr/>
            </p:nvSpPr>
            <p:spPr>
              <a:xfrm>
                <a:off x="58936" y="82298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98</a:t>
                </a:r>
              </a:p>
            </p:txBody>
          </p:sp>
        </p:grpSp>
        <p:sp>
          <p:nvSpPr>
            <p:cNvPr id="946" name="8"/>
            <p:cNvSpPr txBox="1"/>
            <p:nvPr/>
          </p:nvSpPr>
          <p:spPr>
            <a:xfrm>
              <a:off x="1538603" y="3962684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8</a:t>
              </a:r>
            </a:p>
          </p:txBody>
        </p:sp>
      </p:grpSp>
      <p:sp>
        <p:nvSpPr>
          <p:cNvPr id="948" name="插入98"/>
          <p:cNvSpPr txBox="1"/>
          <p:nvPr/>
        </p:nvSpPr>
        <p:spPr>
          <a:xfrm>
            <a:off x="10245740" y="6414227"/>
            <a:ext cx="1315100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插入98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Shape 831"/>
          <p:cNvSpPr txBox="1"/>
          <p:nvPr>
            <p:ph type="title"/>
          </p:nvPr>
        </p:nvSpPr>
        <p:spPr>
          <a:xfrm>
            <a:off x="1643661" y="85654"/>
            <a:ext cx="9448801" cy="1003301"/>
          </a:xfrm>
          <a:prstGeom prst="rect">
            <a:avLst/>
          </a:prstGeom>
        </p:spPr>
        <p:txBody>
          <a:bodyPr/>
          <a:lstStyle/>
          <a:p>
            <a:pPr/>
            <a:r>
              <a:t>大顶堆的堆排序</a:t>
            </a:r>
          </a:p>
        </p:txBody>
      </p:sp>
      <p:sp>
        <p:nvSpPr>
          <p:cNvPr id="951" name="Shape 832"/>
          <p:cNvSpPr txBox="1"/>
          <p:nvPr/>
        </p:nvSpPr>
        <p:spPr>
          <a:xfrm>
            <a:off x="645158" y="1700952"/>
            <a:ext cx="11379203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R="57798" defTabSz="1295400">
              <a:lnSpc>
                <a:spcPct val="130000"/>
              </a:lnSpc>
              <a:defRPr>
                <a:uFill>
                  <a:solidFill>
                    <a:srgbClr val="000000"/>
                  </a:solidFill>
                </a:uFill>
              </a:defRPr>
            </a:pPr>
            <a:r>
              <a:t>将</a:t>
            </a:r>
            <a:r>
              <a:rPr sz="3400"/>
              <a:t>（</a:t>
            </a:r>
            <a:r>
              <a:rPr b="1" sz="3400"/>
              <a:t>97</a:t>
            </a:r>
            <a:r>
              <a:rPr sz="3400"/>
              <a:t>，</a:t>
            </a:r>
            <a:r>
              <a:rPr b="1" sz="3400"/>
              <a:t>76</a:t>
            </a:r>
            <a:r>
              <a:rPr sz="3400"/>
              <a:t>，</a:t>
            </a:r>
            <a:r>
              <a:rPr b="1" sz="3400"/>
              <a:t>65</a:t>
            </a:r>
            <a:r>
              <a:rPr sz="3400"/>
              <a:t>，</a:t>
            </a:r>
            <a:r>
              <a:rPr b="1" sz="3400"/>
              <a:t>49</a:t>
            </a:r>
            <a:r>
              <a:rPr sz="3400"/>
              <a:t>，</a:t>
            </a:r>
            <a:r>
              <a:rPr b="1" sz="3400"/>
              <a:t>50</a:t>
            </a:r>
            <a:r>
              <a:rPr sz="3400"/>
              <a:t>，</a:t>
            </a:r>
            <a:r>
              <a:rPr b="1" sz="3400"/>
              <a:t>27</a:t>
            </a:r>
            <a:r>
              <a:rPr sz="3400"/>
              <a:t>，</a:t>
            </a:r>
            <a:r>
              <a:rPr b="1" sz="3400"/>
              <a:t>38</a:t>
            </a:r>
            <a:r>
              <a:rPr sz="3400"/>
              <a:t>，</a:t>
            </a:r>
            <a:r>
              <a:rPr b="1" sz="3400"/>
              <a:t>13</a:t>
            </a:r>
            <a:r>
              <a:rPr sz="3400"/>
              <a:t>）</a:t>
            </a:r>
            <a:r>
              <a:t>按从大到小排序。</a:t>
            </a:r>
          </a:p>
        </p:txBody>
      </p:sp>
      <p:sp>
        <p:nvSpPr>
          <p:cNvPr id="952" name="Shape 833"/>
          <p:cNvSpPr txBox="1"/>
          <p:nvPr/>
        </p:nvSpPr>
        <p:spPr>
          <a:xfrm>
            <a:off x="558517" y="2521936"/>
            <a:ext cx="11275001" cy="26037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>
              <a:lnSpc>
                <a:spcPct val="120000"/>
              </a:lnSpc>
            </a:pPr>
            <a:r>
              <a:t>1）将无序序列建成一个堆，得到关键字最大的记录；</a:t>
            </a:r>
          </a:p>
          <a:p>
            <a:pPr>
              <a:lnSpc>
                <a:spcPct val="120000"/>
              </a:lnSpc>
            </a:pPr>
            <a:r>
              <a:t>2）输出堆顶的最大值后，使剩余的n-1个元素重又建成一个堆，</a:t>
            </a:r>
          </a:p>
          <a:p>
            <a:pPr>
              <a:lnSpc>
                <a:spcPct val="120000"/>
              </a:lnSpc>
            </a:pPr>
            <a:r>
              <a:t>      则可得到n个元素的次最大值</a:t>
            </a:r>
          </a:p>
          <a:p>
            <a:pPr>
              <a:lnSpc>
                <a:spcPct val="120000"/>
              </a:lnSpc>
            </a:pPr>
            <a:r>
              <a:t>3）重复执行，得到一个有序序列，这个过程叫堆排序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8" presetID="2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7" dur="500"/>
                                        <p:tgtEl>
                                          <p:spTgt spid="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Subtype="8" presetID="2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95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2" dur="500"/>
                                        <p:tgtEl>
                                          <p:spTgt spid="95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Class="entr" nodeType="withEffect" presetSubtype="8" presetID="2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9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5" dur="500"/>
                                        <p:tgtEl>
                                          <p:spTgt spid="9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Class="entr" nodeType="afterEffect" presetSubtype="8" presetID="2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9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9" dur="500"/>
                                        <p:tgtEl>
                                          <p:spTgt spid="9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Class="entr" nodeType="clickEffect" presetSubtype="8" presetID="2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9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4" dur="500"/>
                                        <p:tgtEl>
                                          <p:spTgt spid="9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Subtype="8" presetID="2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9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9" dur="500"/>
                                        <p:tgtEl>
                                          <p:spTgt spid="9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951" grpId="1"/>
      <p:bldP build="p" bldLvl="5" animBg="1" rev="0" advAuto="0" spid="952" grpId="2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Shape 835"/>
          <p:cNvSpPr txBox="1"/>
          <p:nvPr>
            <p:ph type="title"/>
          </p:nvPr>
        </p:nvSpPr>
        <p:spPr>
          <a:xfrm>
            <a:off x="1610359" y="85654"/>
            <a:ext cx="9448801" cy="1003301"/>
          </a:xfrm>
          <a:prstGeom prst="rect">
            <a:avLst/>
          </a:prstGeom>
        </p:spPr>
        <p:txBody>
          <a:bodyPr/>
          <a:lstStyle/>
          <a:p>
            <a:pPr/>
            <a:r>
              <a:t>堆排序</a:t>
            </a:r>
          </a:p>
        </p:txBody>
      </p:sp>
      <p:grpSp>
        <p:nvGrpSpPr>
          <p:cNvPr id="986" name="Group 867"/>
          <p:cNvGrpSpPr/>
          <p:nvPr/>
        </p:nvGrpSpPr>
        <p:grpSpPr>
          <a:xfrm>
            <a:off x="787400" y="3008359"/>
            <a:ext cx="4498241" cy="3724541"/>
            <a:chOff x="0" y="0"/>
            <a:chExt cx="4498240" cy="3724539"/>
          </a:xfrm>
        </p:grpSpPr>
        <p:sp>
          <p:nvSpPr>
            <p:cNvPr id="955" name="Shape 836"/>
            <p:cNvSpPr/>
            <p:nvPr/>
          </p:nvSpPr>
          <p:spPr>
            <a:xfrm>
              <a:off x="2990786" y="377543"/>
              <a:ext cx="622054" cy="623337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56" name="Shape 837"/>
            <p:cNvSpPr/>
            <p:nvPr/>
          </p:nvSpPr>
          <p:spPr>
            <a:xfrm flipH="1">
              <a:off x="1765855" y="337263"/>
              <a:ext cx="663840" cy="691451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57" name="Shape 838"/>
            <p:cNvSpPr/>
            <p:nvPr/>
          </p:nvSpPr>
          <p:spPr>
            <a:xfrm flipH="1">
              <a:off x="1052745" y="1490962"/>
              <a:ext cx="383776" cy="623337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58" name="Shape 839"/>
            <p:cNvSpPr/>
            <p:nvPr/>
          </p:nvSpPr>
          <p:spPr>
            <a:xfrm>
              <a:off x="1690705" y="1516987"/>
              <a:ext cx="371083" cy="605215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59" name="Shape 840"/>
            <p:cNvSpPr/>
            <p:nvPr/>
          </p:nvSpPr>
          <p:spPr>
            <a:xfrm flipH="1">
              <a:off x="3332867" y="1503662"/>
              <a:ext cx="284287" cy="668815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60" name="Shape 841"/>
            <p:cNvSpPr/>
            <p:nvPr/>
          </p:nvSpPr>
          <p:spPr>
            <a:xfrm>
              <a:off x="3838559" y="1406464"/>
              <a:ext cx="368512" cy="730965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61" name="Shape 842"/>
            <p:cNvSpPr/>
            <p:nvPr/>
          </p:nvSpPr>
          <p:spPr>
            <a:xfrm flipH="1">
              <a:off x="413824" y="2545351"/>
              <a:ext cx="383776" cy="623337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964" name="Group 845"/>
            <p:cNvGrpSpPr/>
            <p:nvPr/>
          </p:nvGrpSpPr>
          <p:grpSpPr>
            <a:xfrm>
              <a:off x="1257365" y="979439"/>
              <a:ext cx="624163" cy="655366"/>
              <a:chOff x="0" y="0"/>
              <a:chExt cx="624161" cy="655365"/>
            </a:xfrm>
          </p:grpSpPr>
          <p:sp>
            <p:nvSpPr>
              <p:cNvPr id="962" name="Shape 843"/>
              <p:cNvSpPr/>
              <p:nvPr/>
            </p:nvSpPr>
            <p:spPr>
              <a:xfrm>
                <a:off x="0" y="29915"/>
                <a:ext cx="624162" cy="625451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63" name="Shape 844"/>
              <p:cNvSpPr txBox="1"/>
              <p:nvPr/>
            </p:nvSpPr>
            <p:spPr>
              <a:xfrm>
                <a:off x="46670" y="0"/>
                <a:ext cx="553100" cy="51721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50</a:t>
                </a:r>
              </a:p>
            </p:txBody>
          </p:sp>
        </p:grpSp>
        <p:grpSp>
          <p:nvGrpSpPr>
            <p:cNvPr id="967" name="Group 848"/>
            <p:cNvGrpSpPr/>
            <p:nvPr/>
          </p:nvGrpSpPr>
          <p:grpSpPr>
            <a:xfrm>
              <a:off x="2912212" y="2109961"/>
              <a:ext cx="624165" cy="631790"/>
              <a:chOff x="0" y="0"/>
              <a:chExt cx="624163" cy="631789"/>
            </a:xfrm>
          </p:grpSpPr>
          <p:sp>
            <p:nvSpPr>
              <p:cNvPr id="965" name="Shape 846"/>
              <p:cNvSpPr/>
              <p:nvPr/>
            </p:nvSpPr>
            <p:spPr>
              <a:xfrm>
                <a:off x="0" y="8451"/>
                <a:ext cx="624164" cy="623339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66" name="Shape 847"/>
              <p:cNvSpPr txBox="1"/>
              <p:nvPr/>
            </p:nvSpPr>
            <p:spPr>
              <a:xfrm>
                <a:off x="24529" y="-1"/>
                <a:ext cx="553100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38</a:t>
                </a:r>
              </a:p>
            </p:txBody>
          </p:sp>
        </p:grpSp>
        <p:grpSp>
          <p:nvGrpSpPr>
            <p:cNvPr id="970" name="Group 851"/>
            <p:cNvGrpSpPr/>
            <p:nvPr/>
          </p:nvGrpSpPr>
          <p:grpSpPr>
            <a:xfrm>
              <a:off x="3874078" y="2109983"/>
              <a:ext cx="624163" cy="629677"/>
              <a:chOff x="0" y="0"/>
              <a:chExt cx="624161" cy="629676"/>
            </a:xfrm>
          </p:grpSpPr>
          <p:sp>
            <p:nvSpPr>
              <p:cNvPr id="968" name="Shape 849"/>
              <p:cNvSpPr/>
              <p:nvPr/>
            </p:nvSpPr>
            <p:spPr>
              <a:xfrm>
                <a:off x="0" y="6338"/>
                <a:ext cx="624162" cy="623339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69" name="Shape 850"/>
              <p:cNvSpPr txBox="1"/>
              <p:nvPr/>
            </p:nvSpPr>
            <p:spPr>
              <a:xfrm>
                <a:off x="58674" y="-1"/>
                <a:ext cx="553100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65</a:t>
                </a:r>
              </a:p>
            </p:txBody>
          </p:sp>
        </p:grpSp>
        <p:grpSp>
          <p:nvGrpSpPr>
            <p:cNvPr id="973" name="Group 854"/>
            <p:cNvGrpSpPr/>
            <p:nvPr/>
          </p:nvGrpSpPr>
          <p:grpSpPr>
            <a:xfrm>
              <a:off x="2379350" y="0"/>
              <a:ext cx="622055" cy="621225"/>
              <a:chOff x="0" y="0"/>
              <a:chExt cx="622053" cy="621223"/>
            </a:xfrm>
          </p:grpSpPr>
          <p:sp>
            <p:nvSpPr>
              <p:cNvPr id="971" name="Shape 852"/>
              <p:cNvSpPr/>
              <p:nvPr/>
            </p:nvSpPr>
            <p:spPr>
              <a:xfrm>
                <a:off x="0" y="-1"/>
                <a:ext cx="622054" cy="62122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72" name="Shape 853"/>
              <p:cNvSpPr txBox="1"/>
              <p:nvPr/>
            </p:nvSpPr>
            <p:spPr>
              <a:xfrm>
                <a:off x="43507" y="6338"/>
                <a:ext cx="553100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97</a:t>
                </a:r>
              </a:p>
            </p:txBody>
          </p:sp>
        </p:grpSp>
        <p:grpSp>
          <p:nvGrpSpPr>
            <p:cNvPr id="976" name="Group 857"/>
            <p:cNvGrpSpPr/>
            <p:nvPr/>
          </p:nvGrpSpPr>
          <p:grpSpPr>
            <a:xfrm>
              <a:off x="1815403" y="2120901"/>
              <a:ext cx="624165" cy="625451"/>
              <a:chOff x="0" y="0"/>
              <a:chExt cx="624163" cy="625450"/>
            </a:xfrm>
          </p:grpSpPr>
          <p:sp>
            <p:nvSpPr>
              <p:cNvPr id="974" name="Shape 855"/>
              <p:cNvSpPr/>
              <p:nvPr/>
            </p:nvSpPr>
            <p:spPr>
              <a:xfrm>
                <a:off x="0" y="-1"/>
                <a:ext cx="624164" cy="625451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75" name="Shape 856"/>
              <p:cNvSpPr txBox="1"/>
              <p:nvPr/>
            </p:nvSpPr>
            <p:spPr>
              <a:xfrm>
                <a:off x="46669" y="10564"/>
                <a:ext cx="553100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76</a:t>
                </a:r>
              </a:p>
            </p:txBody>
          </p:sp>
        </p:grpSp>
        <p:grpSp>
          <p:nvGrpSpPr>
            <p:cNvPr id="979" name="Group 860"/>
            <p:cNvGrpSpPr/>
            <p:nvPr/>
          </p:nvGrpSpPr>
          <p:grpSpPr>
            <a:xfrm>
              <a:off x="3384582" y="994870"/>
              <a:ext cx="622055" cy="621225"/>
              <a:chOff x="0" y="0"/>
              <a:chExt cx="622053" cy="621223"/>
            </a:xfrm>
          </p:grpSpPr>
          <p:sp>
            <p:nvSpPr>
              <p:cNvPr id="977" name="Shape 858"/>
              <p:cNvSpPr/>
              <p:nvPr/>
            </p:nvSpPr>
            <p:spPr>
              <a:xfrm>
                <a:off x="-1" y="-1"/>
                <a:ext cx="622055" cy="62122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78" name="Shape 859"/>
              <p:cNvSpPr txBox="1"/>
              <p:nvPr/>
            </p:nvSpPr>
            <p:spPr>
              <a:xfrm>
                <a:off x="44561" y="6338"/>
                <a:ext cx="553100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27</a:t>
                </a:r>
              </a:p>
            </p:txBody>
          </p:sp>
        </p:grpSp>
        <p:grpSp>
          <p:nvGrpSpPr>
            <p:cNvPr id="982" name="Group 863"/>
            <p:cNvGrpSpPr/>
            <p:nvPr/>
          </p:nvGrpSpPr>
          <p:grpSpPr>
            <a:xfrm>
              <a:off x="618173" y="2120989"/>
              <a:ext cx="624163" cy="625451"/>
              <a:chOff x="0" y="0"/>
              <a:chExt cx="624161" cy="625450"/>
            </a:xfrm>
          </p:grpSpPr>
          <p:sp>
            <p:nvSpPr>
              <p:cNvPr id="980" name="Shape 861"/>
              <p:cNvSpPr/>
              <p:nvPr/>
            </p:nvSpPr>
            <p:spPr>
              <a:xfrm>
                <a:off x="0" y="-1"/>
                <a:ext cx="624162" cy="625451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81" name="Shape 862"/>
              <p:cNvSpPr txBox="1"/>
              <p:nvPr/>
            </p:nvSpPr>
            <p:spPr>
              <a:xfrm>
                <a:off x="46670" y="10564"/>
                <a:ext cx="553100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13</a:t>
                </a:r>
              </a:p>
            </p:txBody>
          </p:sp>
        </p:grpSp>
        <p:grpSp>
          <p:nvGrpSpPr>
            <p:cNvPr id="985" name="Group 866"/>
            <p:cNvGrpSpPr/>
            <p:nvPr/>
          </p:nvGrpSpPr>
          <p:grpSpPr>
            <a:xfrm>
              <a:off x="0" y="3099089"/>
              <a:ext cx="624163" cy="625451"/>
              <a:chOff x="0" y="0"/>
              <a:chExt cx="624161" cy="625450"/>
            </a:xfrm>
          </p:grpSpPr>
          <p:sp>
            <p:nvSpPr>
              <p:cNvPr id="983" name="Shape 864"/>
              <p:cNvSpPr/>
              <p:nvPr/>
            </p:nvSpPr>
            <p:spPr>
              <a:xfrm>
                <a:off x="0" y="-1"/>
                <a:ext cx="624162" cy="625451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84" name="Shape 865"/>
              <p:cNvSpPr txBox="1"/>
              <p:nvPr/>
            </p:nvSpPr>
            <p:spPr>
              <a:xfrm>
                <a:off x="46669" y="10563"/>
                <a:ext cx="553100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49</a:t>
                </a:r>
              </a:p>
            </p:txBody>
          </p:sp>
        </p:grpSp>
      </p:grpSp>
      <p:sp>
        <p:nvSpPr>
          <p:cNvPr id="987" name="Shape 868"/>
          <p:cNvSpPr txBox="1"/>
          <p:nvPr/>
        </p:nvSpPr>
        <p:spPr>
          <a:xfrm>
            <a:off x="645158" y="1700952"/>
            <a:ext cx="11379203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R="57798" defTabSz="1295400">
              <a:lnSpc>
                <a:spcPct val="130000"/>
              </a:lnSpc>
              <a:defRPr>
                <a:uFill>
                  <a:solidFill>
                    <a:srgbClr val="000000"/>
                  </a:solidFill>
                </a:uFill>
              </a:defRPr>
            </a:pPr>
            <a:r>
              <a:t>将</a:t>
            </a:r>
            <a:r>
              <a:rPr sz="3400">
                <a:latin typeface="SimSun"/>
                <a:ea typeface="SimSun"/>
                <a:cs typeface="SimSun"/>
                <a:sym typeface="SimSun"/>
              </a:rPr>
              <a:t>（</a:t>
            </a:r>
            <a:r>
              <a:rPr b="1" sz="3400"/>
              <a:t>97</a:t>
            </a:r>
            <a:r>
              <a:rPr sz="3400">
                <a:latin typeface="SimSun"/>
                <a:ea typeface="SimSun"/>
                <a:cs typeface="SimSun"/>
                <a:sym typeface="SimSun"/>
              </a:rPr>
              <a:t>，</a:t>
            </a:r>
            <a:r>
              <a:rPr b="1" sz="3400"/>
              <a:t>50</a:t>
            </a:r>
            <a:r>
              <a:rPr sz="3400">
                <a:latin typeface="SimSun"/>
                <a:ea typeface="SimSun"/>
                <a:cs typeface="SimSun"/>
                <a:sym typeface="SimSun"/>
              </a:rPr>
              <a:t>，</a:t>
            </a:r>
            <a:r>
              <a:rPr b="1" sz="3400"/>
              <a:t>27</a:t>
            </a:r>
            <a:r>
              <a:rPr sz="3400">
                <a:latin typeface="SimSun"/>
                <a:ea typeface="SimSun"/>
                <a:cs typeface="SimSun"/>
                <a:sym typeface="SimSun"/>
              </a:rPr>
              <a:t>，</a:t>
            </a:r>
            <a:r>
              <a:rPr b="1" sz="3400"/>
              <a:t>13</a:t>
            </a:r>
            <a:r>
              <a:rPr sz="3400">
                <a:latin typeface="SimSun"/>
                <a:ea typeface="SimSun"/>
                <a:cs typeface="SimSun"/>
                <a:sym typeface="SimSun"/>
              </a:rPr>
              <a:t>，</a:t>
            </a:r>
            <a:r>
              <a:rPr b="1" sz="3400"/>
              <a:t>76</a:t>
            </a:r>
            <a:r>
              <a:rPr sz="3400">
                <a:latin typeface="SimSun"/>
                <a:ea typeface="SimSun"/>
                <a:cs typeface="SimSun"/>
                <a:sym typeface="SimSun"/>
              </a:rPr>
              <a:t>，</a:t>
            </a:r>
            <a:r>
              <a:rPr b="1" sz="3400"/>
              <a:t>38</a:t>
            </a:r>
            <a:r>
              <a:rPr sz="3400">
                <a:latin typeface="SimSun"/>
                <a:ea typeface="SimSun"/>
                <a:cs typeface="SimSun"/>
                <a:sym typeface="SimSun"/>
              </a:rPr>
              <a:t>，</a:t>
            </a:r>
            <a:r>
              <a:rPr b="1" sz="3400"/>
              <a:t>65</a:t>
            </a:r>
            <a:r>
              <a:rPr sz="3400">
                <a:latin typeface="SimSun"/>
                <a:ea typeface="SimSun"/>
                <a:cs typeface="SimSun"/>
                <a:sym typeface="SimSun"/>
              </a:rPr>
              <a:t>，</a:t>
            </a:r>
            <a:r>
              <a:rPr b="1" sz="3400"/>
              <a:t>49</a:t>
            </a:r>
            <a:r>
              <a:rPr sz="3400">
                <a:latin typeface="SimSun"/>
                <a:ea typeface="SimSun"/>
                <a:cs typeface="SimSun"/>
                <a:sym typeface="SimSun"/>
              </a:rPr>
              <a:t>）</a:t>
            </a:r>
            <a:r>
              <a:rPr>
                <a:latin typeface="SimSun"/>
                <a:ea typeface="SimSun"/>
                <a:cs typeface="SimSun"/>
                <a:sym typeface="SimSun"/>
              </a:rPr>
              <a:t>按从小到大排序。</a:t>
            </a:r>
          </a:p>
        </p:txBody>
      </p:sp>
      <p:grpSp>
        <p:nvGrpSpPr>
          <p:cNvPr id="1019" name="Group 900"/>
          <p:cNvGrpSpPr/>
          <p:nvPr/>
        </p:nvGrpSpPr>
        <p:grpSpPr>
          <a:xfrm>
            <a:off x="7096759" y="3153267"/>
            <a:ext cx="4493131" cy="3753886"/>
            <a:chOff x="0" y="0"/>
            <a:chExt cx="4493129" cy="3753884"/>
          </a:xfrm>
        </p:grpSpPr>
        <p:sp>
          <p:nvSpPr>
            <p:cNvPr id="988" name="Shape 869"/>
            <p:cNvSpPr/>
            <p:nvPr/>
          </p:nvSpPr>
          <p:spPr>
            <a:xfrm>
              <a:off x="2800034" y="407709"/>
              <a:ext cx="621997" cy="623184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89" name="Shape 870"/>
            <p:cNvSpPr/>
            <p:nvPr/>
          </p:nvSpPr>
          <p:spPr>
            <a:xfrm flipH="1">
              <a:off x="1509656" y="443620"/>
              <a:ext cx="780132" cy="625297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90" name="Shape 871"/>
            <p:cNvSpPr/>
            <p:nvPr/>
          </p:nvSpPr>
          <p:spPr>
            <a:xfrm flipH="1">
              <a:off x="912962" y="1597036"/>
              <a:ext cx="383742" cy="623184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91" name="Shape 872"/>
            <p:cNvSpPr/>
            <p:nvPr/>
          </p:nvSpPr>
          <p:spPr>
            <a:xfrm>
              <a:off x="1612971" y="1499861"/>
              <a:ext cx="478622" cy="766833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92" name="Shape 873"/>
            <p:cNvSpPr/>
            <p:nvPr/>
          </p:nvSpPr>
          <p:spPr>
            <a:xfrm flipH="1">
              <a:off x="3017204" y="1597036"/>
              <a:ext cx="383742" cy="623184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93" name="Shape 874"/>
            <p:cNvSpPr/>
            <p:nvPr/>
          </p:nvSpPr>
          <p:spPr>
            <a:xfrm>
              <a:off x="3622332" y="1499861"/>
              <a:ext cx="573503" cy="766833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94" name="Shape 875"/>
            <p:cNvSpPr/>
            <p:nvPr/>
          </p:nvSpPr>
          <p:spPr>
            <a:xfrm flipH="1">
              <a:off x="274099" y="2651165"/>
              <a:ext cx="383742" cy="623184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997" name="Group 878"/>
            <p:cNvGrpSpPr/>
            <p:nvPr/>
          </p:nvGrpSpPr>
          <p:grpSpPr>
            <a:xfrm>
              <a:off x="2209665" y="0"/>
              <a:ext cx="624107" cy="625296"/>
              <a:chOff x="0" y="0"/>
              <a:chExt cx="624105" cy="625295"/>
            </a:xfrm>
          </p:grpSpPr>
          <p:sp>
            <p:nvSpPr>
              <p:cNvPr id="995" name="Shape 876"/>
              <p:cNvSpPr/>
              <p:nvPr/>
            </p:nvSpPr>
            <p:spPr>
              <a:xfrm>
                <a:off x="0" y="0"/>
                <a:ext cx="624107" cy="625297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96" name="Shape 877"/>
              <p:cNvSpPr txBox="1"/>
              <p:nvPr/>
            </p:nvSpPr>
            <p:spPr>
              <a:xfrm>
                <a:off x="59342" y="38024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b="1"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97</a:t>
                </a:r>
              </a:p>
            </p:txBody>
          </p:sp>
        </p:grpSp>
        <p:grpSp>
          <p:nvGrpSpPr>
            <p:cNvPr id="1000" name="Group 881"/>
            <p:cNvGrpSpPr/>
            <p:nvPr/>
          </p:nvGrpSpPr>
          <p:grpSpPr>
            <a:xfrm>
              <a:off x="1197604" y="1068915"/>
              <a:ext cx="624107" cy="623185"/>
              <a:chOff x="0" y="0"/>
              <a:chExt cx="624105" cy="623184"/>
            </a:xfrm>
          </p:grpSpPr>
          <p:sp>
            <p:nvSpPr>
              <p:cNvPr id="998" name="Shape 879"/>
              <p:cNvSpPr/>
              <p:nvPr/>
            </p:nvSpPr>
            <p:spPr>
              <a:xfrm>
                <a:off x="0" y="-1"/>
                <a:ext cx="624107" cy="62318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99" name="Shape 880"/>
              <p:cNvSpPr txBox="1"/>
              <p:nvPr/>
            </p:nvSpPr>
            <p:spPr>
              <a:xfrm>
                <a:off x="37203" y="61261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b="1"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76</a:t>
                </a:r>
              </a:p>
            </p:txBody>
          </p:sp>
        </p:grpSp>
        <p:grpSp>
          <p:nvGrpSpPr>
            <p:cNvPr id="1003" name="Group 884"/>
            <p:cNvGrpSpPr/>
            <p:nvPr/>
          </p:nvGrpSpPr>
          <p:grpSpPr>
            <a:xfrm>
              <a:off x="3187990" y="1054128"/>
              <a:ext cx="624107" cy="623185"/>
              <a:chOff x="0" y="0"/>
              <a:chExt cx="624105" cy="623184"/>
            </a:xfrm>
          </p:grpSpPr>
          <p:sp>
            <p:nvSpPr>
              <p:cNvPr id="1001" name="Shape 882"/>
              <p:cNvSpPr/>
              <p:nvPr/>
            </p:nvSpPr>
            <p:spPr>
              <a:xfrm>
                <a:off x="0" y="-1"/>
                <a:ext cx="624107" cy="62318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002" name="Shape 883"/>
              <p:cNvSpPr txBox="1"/>
              <p:nvPr/>
            </p:nvSpPr>
            <p:spPr>
              <a:xfrm>
                <a:off x="75155" y="63374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b="1"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65</a:t>
                </a:r>
              </a:p>
            </p:txBody>
          </p:sp>
        </p:grpSp>
        <p:grpSp>
          <p:nvGrpSpPr>
            <p:cNvPr id="1006" name="Group 887"/>
            <p:cNvGrpSpPr/>
            <p:nvPr/>
          </p:nvGrpSpPr>
          <p:grpSpPr>
            <a:xfrm>
              <a:off x="499704" y="2074458"/>
              <a:ext cx="621999" cy="621073"/>
              <a:chOff x="0" y="0"/>
              <a:chExt cx="621998" cy="621072"/>
            </a:xfrm>
          </p:grpSpPr>
          <p:sp>
            <p:nvSpPr>
              <p:cNvPr id="1004" name="Shape 885"/>
              <p:cNvSpPr/>
              <p:nvPr/>
            </p:nvSpPr>
            <p:spPr>
              <a:xfrm>
                <a:off x="-1" y="-1"/>
                <a:ext cx="622000" cy="621074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005" name="Shape 886"/>
              <p:cNvSpPr txBox="1"/>
              <p:nvPr/>
            </p:nvSpPr>
            <p:spPr>
              <a:xfrm>
                <a:off x="56179" y="76049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b="1"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49</a:t>
                </a:r>
              </a:p>
            </p:txBody>
          </p:sp>
        </p:grpSp>
        <p:grpSp>
          <p:nvGrpSpPr>
            <p:cNvPr id="1009" name="Group 890"/>
            <p:cNvGrpSpPr/>
            <p:nvPr/>
          </p:nvGrpSpPr>
          <p:grpSpPr>
            <a:xfrm>
              <a:off x="1853336" y="2074458"/>
              <a:ext cx="624107" cy="625297"/>
              <a:chOff x="0" y="0"/>
              <a:chExt cx="624105" cy="625295"/>
            </a:xfrm>
          </p:grpSpPr>
          <p:sp>
            <p:nvSpPr>
              <p:cNvPr id="1007" name="Shape 888"/>
              <p:cNvSpPr/>
              <p:nvPr/>
            </p:nvSpPr>
            <p:spPr>
              <a:xfrm>
                <a:off x="0" y="0"/>
                <a:ext cx="624107" cy="625297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008" name="Shape 889"/>
              <p:cNvSpPr txBox="1"/>
              <p:nvPr/>
            </p:nvSpPr>
            <p:spPr>
              <a:xfrm>
                <a:off x="59342" y="82386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b="1"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50</a:t>
                </a:r>
              </a:p>
            </p:txBody>
          </p:sp>
        </p:grpSp>
        <p:grpSp>
          <p:nvGrpSpPr>
            <p:cNvPr id="1012" name="Group 893"/>
            <p:cNvGrpSpPr/>
            <p:nvPr/>
          </p:nvGrpSpPr>
          <p:grpSpPr>
            <a:xfrm>
              <a:off x="2774732" y="2053333"/>
              <a:ext cx="621999" cy="621073"/>
              <a:chOff x="0" y="0"/>
              <a:chExt cx="621997" cy="621072"/>
            </a:xfrm>
          </p:grpSpPr>
          <p:sp>
            <p:nvSpPr>
              <p:cNvPr id="1010" name="Shape 891"/>
              <p:cNvSpPr/>
              <p:nvPr/>
            </p:nvSpPr>
            <p:spPr>
              <a:xfrm>
                <a:off x="0" y="-1"/>
                <a:ext cx="621998" cy="621074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011" name="Shape 892"/>
              <p:cNvSpPr txBox="1"/>
              <p:nvPr/>
            </p:nvSpPr>
            <p:spPr>
              <a:xfrm>
                <a:off x="57234" y="76049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b="1"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27</a:t>
                </a:r>
              </a:p>
            </p:txBody>
          </p:sp>
        </p:grpSp>
        <p:grpSp>
          <p:nvGrpSpPr>
            <p:cNvPr id="1015" name="Group 896"/>
            <p:cNvGrpSpPr/>
            <p:nvPr/>
          </p:nvGrpSpPr>
          <p:grpSpPr>
            <a:xfrm>
              <a:off x="3869023" y="2023758"/>
              <a:ext cx="624107" cy="625297"/>
              <a:chOff x="0" y="0"/>
              <a:chExt cx="624105" cy="625295"/>
            </a:xfrm>
          </p:grpSpPr>
          <p:sp>
            <p:nvSpPr>
              <p:cNvPr id="1013" name="Shape 894"/>
              <p:cNvSpPr/>
              <p:nvPr/>
            </p:nvSpPr>
            <p:spPr>
              <a:xfrm>
                <a:off x="0" y="0"/>
                <a:ext cx="624107" cy="625297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014" name="Shape 895"/>
              <p:cNvSpPr txBox="1"/>
              <p:nvPr/>
            </p:nvSpPr>
            <p:spPr>
              <a:xfrm>
                <a:off x="59342" y="80274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b="1"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38</a:t>
                </a:r>
              </a:p>
            </p:txBody>
          </p:sp>
        </p:grpSp>
        <p:grpSp>
          <p:nvGrpSpPr>
            <p:cNvPr id="1018" name="Group 899"/>
            <p:cNvGrpSpPr/>
            <p:nvPr/>
          </p:nvGrpSpPr>
          <p:grpSpPr>
            <a:xfrm>
              <a:off x="0" y="3128586"/>
              <a:ext cx="624107" cy="625299"/>
              <a:chOff x="0" y="0"/>
              <a:chExt cx="624105" cy="625298"/>
            </a:xfrm>
          </p:grpSpPr>
          <p:sp>
            <p:nvSpPr>
              <p:cNvPr id="1016" name="Shape 897"/>
              <p:cNvSpPr/>
              <p:nvPr/>
            </p:nvSpPr>
            <p:spPr>
              <a:xfrm>
                <a:off x="0" y="-1"/>
                <a:ext cx="624107" cy="625300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017" name="Shape 898"/>
              <p:cNvSpPr txBox="1"/>
              <p:nvPr/>
            </p:nvSpPr>
            <p:spPr>
              <a:xfrm>
                <a:off x="59342" y="82386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b="1"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13</a:t>
                </a:r>
              </a:p>
            </p:txBody>
          </p:sp>
        </p:grpSp>
      </p:grpSp>
      <p:sp>
        <p:nvSpPr>
          <p:cNvPr id="1020" name="Shape 901"/>
          <p:cNvSpPr/>
          <p:nvPr/>
        </p:nvSpPr>
        <p:spPr>
          <a:xfrm>
            <a:off x="5217441" y="4412543"/>
            <a:ext cx="2616202" cy="203202"/>
          </a:xfrm>
          <a:prstGeom prst="rightArrow">
            <a:avLst>
              <a:gd name="adj1" fmla="val 50000"/>
              <a:gd name="adj2" fmla="val 97461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021" name="Shape 902"/>
          <p:cNvSpPr txBox="1"/>
          <p:nvPr/>
        </p:nvSpPr>
        <p:spPr>
          <a:xfrm>
            <a:off x="5461000" y="3810000"/>
            <a:ext cx="2077099" cy="635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初始化为堆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5" name="Group 970"/>
          <p:cNvGrpSpPr/>
          <p:nvPr/>
        </p:nvGrpSpPr>
        <p:grpSpPr>
          <a:xfrm>
            <a:off x="9369776" y="2019299"/>
            <a:ext cx="623301" cy="625407"/>
            <a:chOff x="0" y="0"/>
            <a:chExt cx="623299" cy="625406"/>
          </a:xfrm>
        </p:grpSpPr>
        <p:sp>
          <p:nvSpPr>
            <p:cNvPr id="1023" name="Shape 968"/>
            <p:cNvSpPr/>
            <p:nvPr/>
          </p:nvSpPr>
          <p:spPr>
            <a:xfrm>
              <a:off x="0" y="-1"/>
              <a:ext cx="623301" cy="625407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24" name="Shape 969"/>
            <p:cNvSpPr txBox="1"/>
            <p:nvPr/>
          </p:nvSpPr>
          <p:spPr>
            <a:xfrm>
              <a:off x="58936" y="41700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97</a:t>
              </a:r>
            </a:p>
          </p:txBody>
        </p:sp>
      </p:grpSp>
      <p:grpSp>
        <p:nvGrpSpPr>
          <p:cNvPr id="1028" name="Group 906"/>
          <p:cNvGrpSpPr/>
          <p:nvPr/>
        </p:nvGrpSpPr>
        <p:grpSpPr>
          <a:xfrm>
            <a:off x="7073900" y="5269652"/>
            <a:ext cx="623300" cy="624624"/>
            <a:chOff x="0" y="0"/>
            <a:chExt cx="623299" cy="624623"/>
          </a:xfrm>
        </p:grpSpPr>
        <p:sp>
          <p:nvSpPr>
            <p:cNvPr id="1026" name="Shape 904"/>
            <p:cNvSpPr/>
            <p:nvPr/>
          </p:nvSpPr>
          <p:spPr>
            <a:xfrm>
              <a:off x="0" y="0"/>
              <a:ext cx="623300" cy="624625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27" name="Shape 905"/>
            <p:cNvSpPr txBox="1"/>
            <p:nvPr/>
          </p:nvSpPr>
          <p:spPr>
            <a:xfrm>
              <a:off x="63451" y="82298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13</a:t>
              </a:r>
            </a:p>
          </p:txBody>
        </p:sp>
      </p:grpSp>
      <p:grpSp>
        <p:nvGrpSpPr>
          <p:cNvPr id="1060" name="Group 938"/>
          <p:cNvGrpSpPr/>
          <p:nvPr/>
        </p:nvGrpSpPr>
        <p:grpSpPr>
          <a:xfrm>
            <a:off x="1584960" y="2124567"/>
            <a:ext cx="4493131" cy="3753886"/>
            <a:chOff x="0" y="0"/>
            <a:chExt cx="4493129" cy="3753884"/>
          </a:xfrm>
        </p:grpSpPr>
        <p:sp>
          <p:nvSpPr>
            <p:cNvPr id="1029" name="Shape 907"/>
            <p:cNvSpPr/>
            <p:nvPr/>
          </p:nvSpPr>
          <p:spPr>
            <a:xfrm>
              <a:off x="2800034" y="407709"/>
              <a:ext cx="621997" cy="623184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30" name="Shape 908"/>
            <p:cNvSpPr/>
            <p:nvPr/>
          </p:nvSpPr>
          <p:spPr>
            <a:xfrm flipH="1">
              <a:off x="1509656" y="443620"/>
              <a:ext cx="780132" cy="625297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31" name="Shape 909"/>
            <p:cNvSpPr/>
            <p:nvPr/>
          </p:nvSpPr>
          <p:spPr>
            <a:xfrm flipH="1">
              <a:off x="912962" y="1597036"/>
              <a:ext cx="383742" cy="623184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32" name="Shape 910"/>
            <p:cNvSpPr/>
            <p:nvPr/>
          </p:nvSpPr>
          <p:spPr>
            <a:xfrm>
              <a:off x="1612971" y="1499861"/>
              <a:ext cx="478622" cy="766833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33" name="Shape 911"/>
            <p:cNvSpPr/>
            <p:nvPr/>
          </p:nvSpPr>
          <p:spPr>
            <a:xfrm flipH="1">
              <a:off x="3017204" y="1597036"/>
              <a:ext cx="383742" cy="623184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34" name="Shape 912"/>
            <p:cNvSpPr/>
            <p:nvPr/>
          </p:nvSpPr>
          <p:spPr>
            <a:xfrm>
              <a:off x="3622332" y="1499861"/>
              <a:ext cx="573503" cy="766833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35" name="Shape 913"/>
            <p:cNvSpPr/>
            <p:nvPr/>
          </p:nvSpPr>
          <p:spPr>
            <a:xfrm flipH="1">
              <a:off x="274099" y="2651165"/>
              <a:ext cx="383742" cy="623184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1038" name="Group 916"/>
            <p:cNvGrpSpPr/>
            <p:nvPr/>
          </p:nvGrpSpPr>
          <p:grpSpPr>
            <a:xfrm>
              <a:off x="2209665" y="0"/>
              <a:ext cx="624107" cy="625296"/>
              <a:chOff x="0" y="0"/>
              <a:chExt cx="624105" cy="625295"/>
            </a:xfrm>
          </p:grpSpPr>
          <p:sp>
            <p:nvSpPr>
              <p:cNvPr id="1036" name="Shape 914"/>
              <p:cNvSpPr/>
              <p:nvPr/>
            </p:nvSpPr>
            <p:spPr>
              <a:xfrm>
                <a:off x="0" y="0"/>
                <a:ext cx="624107" cy="625297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037" name="Shape 915"/>
              <p:cNvSpPr txBox="1"/>
              <p:nvPr/>
            </p:nvSpPr>
            <p:spPr>
              <a:xfrm>
                <a:off x="59341" y="38024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97</a:t>
                </a:r>
              </a:p>
            </p:txBody>
          </p:sp>
        </p:grpSp>
        <p:grpSp>
          <p:nvGrpSpPr>
            <p:cNvPr id="1041" name="Group 919"/>
            <p:cNvGrpSpPr/>
            <p:nvPr/>
          </p:nvGrpSpPr>
          <p:grpSpPr>
            <a:xfrm>
              <a:off x="1197604" y="1068915"/>
              <a:ext cx="624107" cy="623185"/>
              <a:chOff x="0" y="0"/>
              <a:chExt cx="624105" cy="623184"/>
            </a:xfrm>
          </p:grpSpPr>
          <p:sp>
            <p:nvSpPr>
              <p:cNvPr id="1039" name="Shape 917"/>
              <p:cNvSpPr/>
              <p:nvPr/>
            </p:nvSpPr>
            <p:spPr>
              <a:xfrm>
                <a:off x="0" y="-1"/>
                <a:ext cx="624107" cy="62318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040" name="Shape 918"/>
              <p:cNvSpPr txBox="1"/>
              <p:nvPr/>
            </p:nvSpPr>
            <p:spPr>
              <a:xfrm>
                <a:off x="37203" y="61261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76</a:t>
                </a:r>
              </a:p>
            </p:txBody>
          </p:sp>
        </p:grpSp>
        <p:grpSp>
          <p:nvGrpSpPr>
            <p:cNvPr id="1044" name="Group 922"/>
            <p:cNvGrpSpPr/>
            <p:nvPr/>
          </p:nvGrpSpPr>
          <p:grpSpPr>
            <a:xfrm>
              <a:off x="3187990" y="1054128"/>
              <a:ext cx="624107" cy="623185"/>
              <a:chOff x="0" y="0"/>
              <a:chExt cx="624105" cy="623184"/>
            </a:xfrm>
          </p:grpSpPr>
          <p:sp>
            <p:nvSpPr>
              <p:cNvPr id="1042" name="Shape 920"/>
              <p:cNvSpPr/>
              <p:nvPr/>
            </p:nvSpPr>
            <p:spPr>
              <a:xfrm>
                <a:off x="0" y="-1"/>
                <a:ext cx="624107" cy="62318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043" name="Shape 921"/>
              <p:cNvSpPr txBox="1"/>
              <p:nvPr/>
            </p:nvSpPr>
            <p:spPr>
              <a:xfrm>
                <a:off x="75155" y="63374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65</a:t>
                </a:r>
              </a:p>
            </p:txBody>
          </p:sp>
        </p:grpSp>
        <p:grpSp>
          <p:nvGrpSpPr>
            <p:cNvPr id="1047" name="Group 925"/>
            <p:cNvGrpSpPr/>
            <p:nvPr/>
          </p:nvGrpSpPr>
          <p:grpSpPr>
            <a:xfrm>
              <a:off x="499704" y="2074458"/>
              <a:ext cx="621999" cy="621073"/>
              <a:chOff x="0" y="0"/>
              <a:chExt cx="621998" cy="621072"/>
            </a:xfrm>
          </p:grpSpPr>
          <p:sp>
            <p:nvSpPr>
              <p:cNvPr id="1045" name="Shape 923"/>
              <p:cNvSpPr/>
              <p:nvPr/>
            </p:nvSpPr>
            <p:spPr>
              <a:xfrm>
                <a:off x="-1" y="-1"/>
                <a:ext cx="622000" cy="621074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046" name="Shape 924"/>
              <p:cNvSpPr txBox="1"/>
              <p:nvPr/>
            </p:nvSpPr>
            <p:spPr>
              <a:xfrm>
                <a:off x="56179" y="76049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49</a:t>
                </a:r>
              </a:p>
            </p:txBody>
          </p:sp>
        </p:grpSp>
        <p:grpSp>
          <p:nvGrpSpPr>
            <p:cNvPr id="1050" name="Group 928"/>
            <p:cNvGrpSpPr/>
            <p:nvPr/>
          </p:nvGrpSpPr>
          <p:grpSpPr>
            <a:xfrm>
              <a:off x="1853336" y="2074458"/>
              <a:ext cx="624107" cy="625297"/>
              <a:chOff x="0" y="0"/>
              <a:chExt cx="624105" cy="625295"/>
            </a:xfrm>
          </p:grpSpPr>
          <p:sp>
            <p:nvSpPr>
              <p:cNvPr id="1048" name="Shape 926"/>
              <p:cNvSpPr/>
              <p:nvPr/>
            </p:nvSpPr>
            <p:spPr>
              <a:xfrm>
                <a:off x="0" y="0"/>
                <a:ext cx="624107" cy="625297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049" name="Shape 927"/>
              <p:cNvSpPr txBox="1"/>
              <p:nvPr/>
            </p:nvSpPr>
            <p:spPr>
              <a:xfrm>
                <a:off x="59341" y="82386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50</a:t>
                </a:r>
              </a:p>
            </p:txBody>
          </p:sp>
        </p:grpSp>
        <p:grpSp>
          <p:nvGrpSpPr>
            <p:cNvPr id="1053" name="Group 931"/>
            <p:cNvGrpSpPr/>
            <p:nvPr/>
          </p:nvGrpSpPr>
          <p:grpSpPr>
            <a:xfrm>
              <a:off x="2774732" y="2053333"/>
              <a:ext cx="621999" cy="621073"/>
              <a:chOff x="0" y="0"/>
              <a:chExt cx="621997" cy="621072"/>
            </a:xfrm>
          </p:grpSpPr>
          <p:sp>
            <p:nvSpPr>
              <p:cNvPr id="1051" name="Shape 929"/>
              <p:cNvSpPr/>
              <p:nvPr/>
            </p:nvSpPr>
            <p:spPr>
              <a:xfrm>
                <a:off x="0" y="-1"/>
                <a:ext cx="621998" cy="621074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052" name="Shape 930"/>
              <p:cNvSpPr txBox="1"/>
              <p:nvPr/>
            </p:nvSpPr>
            <p:spPr>
              <a:xfrm>
                <a:off x="57234" y="76049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27</a:t>
                </a:r>
              </a:p>
            </p:txBody>
          </p:sp>
        </p:grpSp>
        <p:grpSp>
          <p:nvGrpSpPr>
            <p:cNvPr id="1056" name="Group 934"/>
            <p:cNvGrpSpPr/>
            <p:nvPr/>
          </p:nvGrpSpPr>
          <p:grpSpPr>
            <a:xfrm>
              <a:off x="3869023" y="2023758"/>
              <a:ext cx="624107" cy="625297"/>
              <a:chOff x="0" y="0"/>
              <a:chExt cx="624105" cy="625295"/>
            </a:xfrm>
          </p:grpSpPr>
          <p:sp>
            <p:nvSpPr>
              <p:cNvPr id="1054" name="Shape 932"/>
              <p:cNvSpPr/>
              <p:nvPr/>
            </p:nvSpPr>
            <p:spPr>
              <a:xfrm>
                <a:off x="0" y="0"/>
                <a:ext cx="624107" cy="625297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055" name="Shape 933"/>
              <p:cNvSpPr txBox="1"/>
              <p:nvPr/>
            </p:nvSpPr>
            <p:spPr>
              <a:xfrm>
                <a:off x="59341" y="80274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38</a:t>
                </a:r>
              </a:p>
            </p:txBody>
          </p:sp>
        </p:grpSp>
        <p:grpSp>
          <p:nvGrpSpPr>
            <p:cNvPr id="1059" name="Group 937"/>
            <p:cNvGrpSpPr/>
            <p:nvPr/>
          </p:nvGrpSpPr>
          <p:grpSpPr>
            <a:xfrm>
              <a:off x="0" y="3128586"/>
              <a:ext cx="624107" cy="625299"/>
              <a:chOff x="0" y="0"/>
              <a:chExt cx="624105" cy="625298"/>
            </a:xfrm>
          </p:grpSpPr>
          <p:sp>
            <p:nvSpPr>
              <p:cNvPr id="1057" name="Shape 935"/>
              <p:cNvSpPr/>
              <p:nvPr/>
            </p:nvSpPr>
            <p:spPr>
              <a:xfrm>
                <a:off x="0" y="-1"/>
                <a:ext cx="624107" cy="625300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058" name="Shape 936"/>
              <p:cNvSpPr txBox="1"/>
              <p:nvPr/>
            </p:nvSpPr>
            <p:spPr>
              <a:xfrm>
                <a:off x="59342" y="82386"/>
                <a:ext cx="527700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13</a:t>
                </a:r>
              </a:p>
            </p:txBody>
          </p:sp>
        </p:grpSp>
      </p:grpSp>
      <p:sp>
        <p:nvSpPr>
          <p:cNvPr id="1061" name="Shape 939"/>
          <p:cNvSpPr/>
          <p:nvPr/>
        </p:nvSpPr>
        <p:spPr>
          <a:xfrm>
            <a:off x="6296941" y="3966914"/>
            <a:ext cx="1126634" cy="205460"/>
          </a:xfrm>
          <a:prstGeom prst="rightArrow">
            <a:avLst>
              <a:gd name="adj1" fmla="val 50000"/>
              <a:gd name="adj2" fmla="val 96390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1064" name="Group 942"/>
          <p:cNvGrpSpPr/>
          <p:nvPr/>
        </p:nvGrpSpPr>
        <p:grpSpPr>
          <a:xfrm>
            <a:off x="7076157" y="5269653"/>
            <a:ext cx="623149" cy="625409"/>
            <a:chOff x="0" y="0"/>
            <a:chExt cx="623148" cy="625407"/>
          </a:xfrm>
        </p:grpSpPr>
        <p:sp>
          <p:nvSpPr>
            <p:cNvPr id="1062" name="Shape 940"/>
            <p:cNvSpPr/>
            <p:nvPr/>
          </p:nvSpPr>
          <p:spPr>
            <a:xfrm>
              <a:off x="-1" y="-1"/>
              <a:ext cx="623149" cy="625409"/>
            </a:xfrm>
            <a:prstGeom prst="ellipse">
              <a:avLst/>
            </a:prstGeom>
            <a:solidFill>
              <a:srgbClr val="FFFFFF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63" name="Shape 941"/>
            <p:cNvSpPr txBox="1"/>
            <p:nvPr/>
          </p:nvSpPr>
          <p:spPr>
            <a:xfrm>
              <a:off x="59011" y="49670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97</a:t>
              </a:r>
            </a:p>
          </p:txBody>
        </p:sp>
      </p:grpSp>
      <p:sp>
        <p:nvSpPr>
          <p:cNvPr id="1065" name="Shape 943"/>
          <p:cNvSpPr/>
          <p:nvPr/>
        </p:nvSpPr>
        <p:spPr>
          <a:xfrm>
            <a:off x="9927449" y="2431625"/>
            <a:ext cx="623148" cy="623150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066" name="Shape 944"/>
          <p:cNvSpPr/>
          <p:nvPr/>
        </p:nvSpPr>
        <p:spPr>
          <a:xfrm flipH="1">
            <a:off x="8638257" y="2465492"/>
            <a:ext cx="778935" cy="625406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067" name="Shape 945"/>
          <p:cNvSpPr/>
          <p:nvPr/>
        </p:nvSpPr>
        <p:spPr>
          <a:xfrm flipH="1">
            <a:off x="8039947" y="3619217"/>
            <a:ext cx="383824" cy="623149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068" name="Shape 946"/>
          <p:cNvSpPr/>
          <p:nvPr/>
        </p:nvSpPr>
        <p:spPr>
          <a:xfrm>
            <a:off x="8739858" y="3517900"/>
            <a:ext cx="478648" cy="767646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069" name="Shape 947"/>
          <p:cNvSpPr/>
          <p:nvPr/>
        </p:nvSpPr>
        <p:spPr>
          <a:xfrm flipH="1">
            <a:off x="10144194" y="3619217"/>
            <a:ext cx="383824" cy="623149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070" name="Shape 948"/>
          <p:cNvSpPr/>
          <p:nvPr/>
        </p:nvSpPr>
        <p:spPr>
          <a:xfrm>
            <a:off x="10749280" y="3517900"/>
            <a:ext cx="573477" cy="767646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071" name="Shape 949"/>
          <p:cNvSpPr/>
          <p:nvPr/>
        </p:nvSpPr>
        <p:spPr>
          <a:xfrm flipH="1">
            <a:off x="7400995" y="4673600"/>
            <a:ext cx="383824" cy="623148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1074" name="Group 952"/>
          <p:cNvGrpSpPr/>
          <p:nvPr/>
        </p:nvGrpSpPr>
        <p:grpSpPr>
          <a:xfrm>
            <a:off x="10315785" y="3077349"/>
            <a:ext cx="624339" cy="623439"/>
            <a:chOff x="0" y="0"/>
            <a:chExt cx="624337" cy="623438"/>
          </a:xfrm>
        </p:grpSpPr>
        <p:sp>
          <p:nvSpPr>
            <p:cNvPr id="1072" name="Shape 950"/>
            <p:cNvSpPr/>
            <p:nvPr/>
          </p:nvSpPr>
          <p:spPr>
            <a:xfrm>
              <a:off x="0" y="0"/>
              <a:ext cx="624338" cy="623439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73" name="Shape 951"/>
            <p:cNvSpPr txBox="1"/>
            <p:nvPr/>
          </p:nvSpPr>
          <p:spPr>
            <a:xfrm>
              <a:off x="75278" y="63400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65</a:t>
              </a:r>
            </a:p>
          </p:txBody>
        </p:sp>
      </p:grpSp>
      <p:grpSp>
        <p:nvGrpSpPr>
          <p:cNvPr id="1077" name="Group 955"/>
          <p:cNvGrpSpPr/>
          <p:nvPr/>
        </p:nvGrpSpPr>
        <p:grpSpPr>
          <a:xfrm>
            <a:off x="7626773" y="4110566"/>
            <a:ext cx="623149" cy="620121"/>
            <a:chOff x="0" y="0"/>
            <a:chExt cx="623148" cy="620119"/>
          </a:xfrm>
        </p:grpSpPr>
        <p:sp>
          <p:nvSpPr>
            <p:cNvPr id="1075" name="Shape 953"/>
            <p:cNvSpPr/>
            <p:nvPr/>
          </p:nvSpPr>
          <p:spPr>
            <a:xfrm>
              <a:off x="-1" y="-1"/>
              <a:ext cx="623149" cy="620121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76" name="Shape 954"/>
            <p:cNvSpPr txBox="1"/>
            <p:nvPr/>
          </p:nvSpPr>
          <p:spPr>
            <a:xfrm>
              <a:off x="56754" y="75932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49</a:t>
              </a:r>
            </a:p>
          </p:txBody>
        </p:sp>
      </p:grpSp>
      <p:grpSp>
        <p:nvGrpSpPr>
          <p:cNvPr id="1080" name="Group 958"/>
          <p:cNvGrpSpPr/>
          <p:nvPr/>
        </p:nvGrpSpPr>
        <p:grpSpPr>
          <a:xfrm>
            <a:off x="8803640" y="4110566"/>
            <a:ext cx="623301" cy="624625"/>
            <a:chOff x="0" y="0"/>
            <a:chExt cx="623299" cy="624623"/>
          </a:xfrm>
        </p:grpSpPr>
        <p:sp>
          <p:nvSpPr>
            <p:cNvPr id="1078" name="Shape 956"/>
            <p:cNvSpPr/>
            <p:nvPr/>
          </p:nvSpPr>
          <p:spPr>
            <a:xfrm>
              <a:off x="0" y="0"/>
              <a:ext cx="623300" cy="624625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79" name="Shape 957"/>
            <p:cNvSpPr txBox="1"/>
            <p:nvPr/>
          </p:nvSpPr>
          <p:spPr>
            <a:xfrm>
              <a:off x="58936" y="82298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50</a:t>
              </a:r>
            </a:p>
          </p:txBody>
        </p:sp>
      </p:grpSp>
      <p:grpSp>
        <p:nvGrpSpPr>
          <p:cNvPr id="1083" name="Group 961"/>
          <p:cNvGrpSpPr/>
          <p:nvPr/>
        </p:nvGrpSpPr>
        <p:grpSpPr>
          <a:xfrm>
            <a:off x="9902613" y="4113388"/>
            <a:ext cx="621045" cy="622167"/>
            <a:chOff x="0" y="0"/>
            <a:chExt cx="621044" cy="622165"/>
          </a:xfrm>
        </p:grpSpPr>
        <p:sp>
          <p:nvSpPr>
            <p:cNvPr id="1081" name="Shape 959"/>
            <p:cNvSpPr/>
            <p:nvPr/>
          </p:nvSpPr>
          <p:spPr>
            <a:xfrm>
              <a:off x="-1" y="0"/>
              <a:ext cx="621046" cy="622166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82" name="Shape 960"/>
            <p:cNvSpPr txBox="1"/>
            <p:nvPr/>
          </p:nvSpPr>
          <p:spPr>
            <a:xfrm>
              <a:off x="56755" y="76183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27</a:t>
              </a:r>
            </a:p>
          </p:txBody>
        </p:sp>
      </p:grpSp>
      <p:grpSp>
        <p:nvGrpSpPr>
          <p:cNvPr id="1086" name="Group 964"/>
          <p:cNvGrpSpPr/>
          <p:nvPr/>
        </p:nvGrpSpPr>
        <p:grpSpPr>
          <a:xfrm>
            <a:off x="10997634" y="4114800"/>
            <a:ext cx="623301" cy="626673"/>
            <a:chOff x="0" y="0"/>
            <a:chExt cx="623299" cy="626671"/>
          </a:xfrm>
        </p:grpSpPr>
        <p:sp>
          <p:nvSpPr>
            <p:cNvPr id="1084" name="Shape 962"/>
            <p:cNvSpPr/>
            <p:nvPr/>
          </p:nvSpPr>
          <p:spPr>
            <a:xfrm>
              <a:off x="0" y="0"/>
              <a:ext cx="623301" cy="626673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85" name="Shape 963"/>
            <p:cNvSpPr txBox="1"/>
            <p:nvPr/>
          </p:nvSpPr>
          <p:spPr>
            <a:xfrm>
              <a:off x="58936" y="75088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38</a:t>
              </a:r>
            </a:p>
          </p:txBody>
        </p:sp>
      </p:grpSp>
      <p:grpSp>
        <p:nvGrpSpPr>
          <p:cNvPr id="1089" name="Group 967"/>
          <p:cNvGrpSpPr/>
          <p:nvPr/>
        </p:nvGrpSpPr>
        <p:grpSpPr>
          <a:xfrm>
            <a:off x="8325350" y="3090896"/>
            <a:ext cx="624483" cy="623295"/>
            <a:chOff x="0" y="0"/>
            <a:chExt cx="624481" cy="623294"/>
          </a:xfrm>
        </p:grpSpPr>
        <p:sp>
          <p:nvSpPr>
            <p:cNvPr id="1087" name="Shape 965"/>
            <p:cNvSpPr/>
            <p:nvPr/>
          </p:nvSpPr>
          <p:spPr>
            <a:xfrm>
              <a:off x="0" y="-1"/>
              <a:ext cx="624482" cy="623296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88" name="Shape 966"/>
            <p:cNvSpPr txBox="1"/>
            <p:nvPr/>
          </p:nvSpPr>
          <p:spPr>
            <a:xfrm>
              <a:off x="37379" y="61272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76</a:t>
              </a:r>
            </a:p>
          </p:txBody>
        </p:sp>
      </p:grpSp>
      <p:grpSp>
        <p:nvGrpSpPr>
          <p:cNvPr id="1092" name="Group 973"/>
          <p:cNvGrpSpPr/>
          <p:nvPr/>
        </p:nvGrpSpPr>
        <p:grpSpPr>
          <a:xfrm>
            <a:off x="9369852" y="2033974"/>
            <a:ext cx="623151" cy="625407"/>
            <a:chOff x="0" y="0"/>
            <a:chExt cx="623149" cy="625406"/>
          </a:xfrm>
        </p:grpSpPr>
        <p:sp>
          <p:nvSpPr>
            <p:cNvPr id="1090" name="Shape 971"/>
            <p:cNvSpPr/>
            <p:nvPr/>
          </p:nvSpPr>
          <p:spPr>
            <a:xfrm>
              <a:off x="-1" y="-1"/>
              <a:ext cx="623151" cy="625407"/>
            </a:xfrm>
            <a:prstGeom prst="ellipse">
              <a:avLst/>
            </a:prstGeom>
            <a:solidFill>
              <a:srgbClr val="333399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91" name="Shape 972"/>
            <p:cNvSpPr txBox="1"/>
            <p:nvPr/>
          </p:nvSpPr>
          <p:spPr>
            <a:xfrm>
              <a:off x="59012" y="63217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13</a:t>
              </a:r>
            </a:p>
          </p:txBody>
        </p:sp>
      </p:grpSp>
      <p:grpSp>
        <p:nvGrpSpPr>
          <p:cNvPr id="1095" name="Group 976"/>
          <p:cNvGrpSpPr/>
          <p:nvPr/>
        </p:nvGrpSpPr>
        <p:grpSpPr>
          <a:xfrm>
            <a:off x="9389531" y="2021274"/>
            <a:ext cx="623151" cy="625407"/>
            <a:chOff x="0" y="0"/>
            <a:chExt cx="623149" cy="625406"/>
          </a:xfrm>
        </p:grpSpPr>
        <p:sp>
          <p:nvSpPr>
            <p:cNvPr id="1093" name="Shape 974"/>
            <p:cNvSpPr/>
            <p:nvPr/>
          </p:nvSpPr>
          <p:spPr>
            <a:xfrm>
              <a:off x="-1" y="-1"/>
              <a:ext cx="623151" cy="625407"/>
            </a:xfrm>
            <a:prstGeom prst="ellipse">
              <a:avLst/>
            </a:prstGeom>
            <a:solidFill>
              <a:srgbClr val="333399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94" name="Shape 975"/>
            <p:cNvSpPr txBox="1"/>
            <p:nvPr/>
          </p:nvSpPr>
          <p:spPr>
            <a:xfrm>
              <a:off x="59012" y="63217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76</a:t>
              </a:r>
            </a:p>
          </p:txBody>
        </p:sp>
      </p:grpSp>
      <p:grpSp>
        <p:nvGrpSpPr>
          <p:cNvPr id="1098" name="Group 979"/>
          <p:cNvGrpSpPr/>
          <p:nvPr/>
        </p:nvGrpSpPr>
        <p:grpSpPr>
          <a:xfrm>
            <a:off x="8322167" y="3093154"/>
            <a:ext cx="623151" cy="625409"/>
            <a:chOff x="0" y="0"/>
            <a:chExt cx="623149" cy="625407"/>
          </a:xfrm>
        </p:grpSpPr>
        <p:sp>
          <p:nvSpPr>
            <p:cNvPr id="1096" name="Shape 977"/>
            <p:cNvSpPr/>
            <p:nvPr/>
          </p:nvSpPr>
          <p:spPr>
            <a:xfrm>
              <a:off x="-1" y="-1"/>
              <a:ext cx="623151" cy="625409"/>
            </a:xfrm>
            <a:prstGeom prst="ellipse">
              <a:avLst/>
            </a:prstGeom>
            <a:solidFill>
              <a:srgbClr val="333399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97" name="Shape 978"/>
            <p:cNvSpPr txBox="1"/>
            <p:nvPr/>
          </p:nvSpPr>
          <p:spPr>
            <a:xfrm>
              <a:off x="59012" y="63217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13</a:t>
              </a:r>
            </a:p>
          </p:txBody>
        </p:sp>
      </p:grpSp>
      <p:grpSp>
        <p:nvGrpSpPr>
          <p:cNvPr id="1101" name="Group 982"/>
          <p:cNvGrpSpPr/>
          <p:nvPr/>
        </p:nvGrpSpPr>
        <p:grpSpPr>
          <a:xfrm>
            <a:off x="8328941" y="3077350"/>
            <a:ext cx="623151" cy="625407"/>
            <a:chOff x="0" y="0"/>
            <a:chExt cx="623149" cy="625406"/>
          </a:xfrm>
        </p:grpSpPr>
        <p:sp>
          <p:nvSpPr>
            <p:cNvPr id="1099" name="Shape 980"/>
            <p:cNvSpPr/>
            <p:nvPr/>
          </p:nvSpPr>
          <p:spPr>
            <a:xfrm>
              <a:off x="-1" y="-1"/>
              <a:ext cx="623151" cy="625407"/>
            </a:xfrm>
            <a:prstGeom prst="ellipse">
              <a:avLst/>
            </a:prstGeom>
            <a:solidFill>
              <a:srgbClr val="333399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00" name="Shape 981"/>
            <p:cNvSpPr txBox="1"/>
            <p:nvPr/>
          </p:nvSpPr>
          <p:spPr>
            <a:xfrm>
              <a:off x="59011" y="63217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50</a:t>
              </a:r>
            </a:p>
          </p:txBody>
        </p:sp>
      </p:grpSp>
      <p:grpSp>
        <p:nvGrpSpPr>
          <p:cNvPr id="1104" name="Group 985"/>
          <p:cNvGrpSpPr/>
          <p:nvPr/>
        </p:nvGrpSpPr>
        <p:grpSpPr>
          <a:xfrm>
            <a:off x="8812671" y="4115082"/>
            <a:ext cx="623151" cy="625407"/>
            <a:chOff x="0" y="0"/>
            <a:chExt cx="623149" cy="625406"/>
          </a:xfrm>
        </p:grpSpPr>
        <p:sp>
          <p:nvSpPr>
            <p:cNvPr id="1102" name="Shape 983"/>
            <p:cNvSpPr/>
            <p:nvPr/>
          </p:nvSpPr>
          <p:spPr>
            <a:xfrm>
              <a:off x="-1" y="-1"/>
              <a:ext cx="623151" cy="625407"/>
            </a:xfrm>
            <a:prstGeom prst="ellipse">
              <a:avLst/>
            </a:prstGeom>
            <a:solidFill>
              <a:srgbClr val="333399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03" name="Shape 984"/>
            <p:cNvSpPr txBox="1"/>
            <p:nvPr/>
          </p:nvSpPr>
          <p:spPr>
            <a:xfrm>
              <a:off x="59012" y="63217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13</a:t>
              </a:r>
            </a:p>
          </p:txBody>
        </p:sp>
      </p:grpSp>
      <p:sp>
        <p:nvSpPr>
          <p:cNvPr id="1105" name="Shape 986"/>
          <p:cNvSpPr txBox="1"/>
          <p:nvPr>
            <p:ph type="title"/>
          </p:nvPr>
        </p:nvSpPr>
        <p:spPr>
          <a:xfrm>
            <a:off x="1643661" y="85654"/>
            <a:ext cx="9448801" cy="1003301"/>
          </a:xfrm>
          <a:prstGeom prst="rect">
            <a:avLst/>
          </a:prstGeom>
        </p:spPr>
        <p:txBody>
          <a:bodyPr/>
          <a:lstStyle/>
          <a:p>
            <a:pPr/>
            <a:r>
              <a:t>堆排序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Class="entr" nodeType="after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Class="exit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after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Class="entr" nodeType="after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098" grpId="5"/>
      <p:bldP build="whole" bldLvl="1" animBg="1" rev="0" advAuto="0" spid="1071" grpId="3"/>
      <p:bldP build="whole" bldLvl="1" animBg="1" rev="0" advAuto="0" spid="1104" grpId="7"/>
      <p:bldP build="whole" bldLvl="1" animBg="1" rev="0" advAuto="0" spid="1064" grpId="2"/>
      <p:bldP build="whole" bldLvl="1" animBg="1" rev="0" advAuto="0" spid="1095" grpId="4"/>
      <p:bldP build="whole" bldLvl="1" animBg="1" rev="0" advAuto="0" spid="1101" grpId="6"/>
      <p:bldP build="whole" bldLvl="1" animBg="1" rev="0" advAuto="0" spid="1092" grpId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Shape 988"/>
          <p:cNvSpPr/>
          <p:nvPr/>
        </p:nvSpPr>
        <p:spPr>
          <a:xfrm>
            <a:off x="6502398" y="3506329"/>
            <a:ext cx="1126633" cy="205459"/>
          </a:xfrm>
          <a:prstGeom prst="rightArrow">
            <a:avLst>
              <a:gd name="adj1" fmla="val 50000"/>
              <a:gd name="adj2" fmla="val 96390"/>
            </a:avLst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108" name="Shape 989"/>
          <p:cNvSpPr/>
          <p:nvPr/>
        </p:nvSpPr>
        <p:spPr>
          <a:xfrm>
            <a:off x="10029049" y="2273299"/>
            <a:ext cx="623148" cy="623148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109" name="Shape 990"/>
          <p:cNvSpPr/>
          <p:nvPr/>
        </p:nvSpPr>
        <p:spPr>
          <a:xfrm flipH="1">
            <a:off x="8812972" y="2309705"/>
            <a:ext cx="705821" cy="607164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110" name="Shape 991"/>
          <p:cNvSpPr/>
          <p:nvPr/>
        </p:nvSpPr>
        <p:spPr>
          <a:xfrm flipH="1">
            <a:off x="8141547" y="3463430"/>
            <a:ext cx="383824" cy="623148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111" name="Shape 992"/>
          <p:cNvSpPr/>
          <p:nvPr/>
        </p:nvSpPr>
        <p:spPr>
          <a:xfrm>
            <a:off x="8875963" y="3442111"/>
            <a:ext cx="457821" cy="658002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112" name="Shape 993"/>
          <p:cNvSpPr/>
          <p:nvPr/>
        </p:nvSpPr>
        <p:spPr>
          <a:xfrm flipH="1">
            <a:off x="10245795" y="3463430"/>
            <a:ext cx="383824" cy="623148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1115" name="Group 996"/>
          <p:cNvGrpSpPr/>
          <p:nvPr/>
        </p:nvGrpSpPr>
        <p:grpSpPr>
          <a:xfrm>
            <a:off x="9471376" y="1819767"/>
            <a:ext cx="623301" cy="625409"/>
            <a:chOff x="0" y="0"/>
            <a:chExt cx="623299" cy="625407"/>
          </a:xfrm>
        </p:grpSpPr>
        <p:sp>
          <p:nvSpPr>
            <p:cNvPr id="1113" name="Shape 994"/>
            <p:cNvSpPr/>
            <p:nvPr/>
          </p:nvSpPr>
          <p:spPr>
            <a:xfrm>
              <a:off x="0" y="-1"/>
              <a:ext cx="623301" cy="625409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14" name="Shape 995"/>
            <p:cNvSpPr txBox="1"/>
            <p:nvPr/>
          </p:nvSpPr>
          <p:spPr>
            <a:xfrm>
              <a:off x="58936" y="38031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65</a:t>
              </a:r>
            </a:p>
          </p:txBody>
        </p:sp>
      </p:grpSp>
      <p:grpSp>
        <p:nvGrpSpPr>
          <p:cNvPr id="1118" name="Group 999"/>
          <p:cNvGrpSpPr/>
          <p:nvPr/>
        </p:nvGrpSpPr>
        <p:grpSpPr>
          <a:xfrm>
            <a:off x="8363732" y="2892212"/>
            <a:ext cx="624483" cy="623296"/>
            <a:chOff x="0" y="0"/>
            <a:chExt cx="624481" cy="623294"/>
          </a:xfrm>
        </p:grpSpPr>
        <p:sp>
          <p:nvSpPr>
            <p:cNvPr id="1116" name="Shape 997"/>
            <p:cNvSpPr/>
            <p:nvPr/>
          </p:nvSpPr>
          <p:spPr>
            <a:xfrm>
              <a:off x="0" y="-1"/>
              <a:ext cx="624482" cy="623296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17" name="Shape 998"/>
            <p:cNvSpPr txBox="1"/>
            <p:nvPr/>
          </p:nvSpPr>
          <p:spPr>
            <a:xfrm>
              <a:off x="37379" y="61272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50</a:t>
              </a:r>
            </a:p>
          </p:txBody>
        </p:sp>
      </p:grpSp>
      <p:grpSp>
        <p:nvGrpSpPr>
          <p:cNvPr id="1121" name="Group 1002"/>
          <p:cNvGrpSpPr/>
          <p:nvPr/>
        </p:nvGrpSpPr>
        <p:grpSpPr>
          <a:xfrm>
            <a:off x="10417388" y="2896163"/>
            <a:ext cx="626399" cy="623439"/>
            <a:chOff x="0" y="0"/>
            <a:chExt cx="626398" cy="623438"/>
          </a:xfrm>
        </p:grpSpPr>
        <p:sp>
          <p:nvSpPr>
            <p:cNvPr id="1119" name="Shape 1000"/>
            <p:cNvSpPr/>
            <p:nvPr/>
          </p:nvSpPr>
          <p:spPr>
            <a:xfrm>
              <a:off x="0" y="0"/>
              <a:ext cx="626399" cy="623439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20" name="Shape 1001"/>
            <p:cNvSpPr txBox="1"/>
            <p:nvPr/>
          </p:nvSpPr>
          <p:spPr>
            <a:xfrm>
              <a:off x="75307" y="63400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38</a:t>
              </a:r>
            </a:p>
          </p:txBody>
        </p:sp>
      </p:grpSp>
      <p:grpSp>
        <p:nvGrpSpPr>
          <p:cNvPr id="1124" name="Group 1008"/>
          <p:cNvGrpSpPr/>
          <p:nvPr/>
        </p:nvGrpSpPr>
        <p:grpSpPr>
          <a:xfrm>
            <a:off x="9095740" y="4043679"/>
            <a:ext cx="623301" cy="624625"/>
            <a:chOff x="0" y="0"/>
            <a:chExt cx="623299" cy="624623"/>
          </a:xfrm>
        </p:grpSpPr>
        <p:sp>
          <p:nvSpPr>
            <p:cNvPr id="1122" name="Shape 1006"/>
            <p:cNvSpPr/>
            <p:nvPr/>
          </p:nvSpPr>
          <p:spPr>
            <a:xfrm>
              <a:off x="0" y="0"/>
              <a:ext cx="623300" cy="624625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23" name="Shape 1007"/>
            <p:cNvSpPr txBox="1"/>
            <p:nvPr/>
          </p:nvSpPr>
          <p:spPr>
            <a:xfrm>
              <a:off x="58936" y="82298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13</a:t>
              </a:r>
            </a:p>
          </p:txBody>
        </p:sp>
      </p:grpSp>
      <p:grpSp>
        <p:nvGrpSpPr>
          <p:cNvPr id="1127" name="Group 1011"/>
          <p:cNvGrpSpPr/>
          <p:nvPr/>
        </p:nvGrpSpPr>
        <p:grpSpPr>
          <a:xfrm>
            <a:off x="10016913" y="4038600"/>
            <a:ext cx="621045" cy="622166"/>
            <a:chOff x="0" y="0"/>
            <a:chExt cx="621044" cy="622165"/>
          </a:xfrm>
        </p:grpSpPr>
        <p:sp>
          <p:nvSpPr>
            <p:cNvPr id="1125" name="Shape 1009"/>
            <p:cNvSpPr/>
            <p:nvPr/>
          </p:nvSpPr>
          <p:spPr>
            <a:xfrm>
              <a:off x="-1" y="0"/>
              <a:ext cx="621046" cy="622166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26" name="Shape 1010"/>
            <p:cNvSpPr txBox="1"/>
            <p:nvPr/>
          </p:nvSpPr>
          <p:spPr>
            <a:xfrm>
              <a:off x="56755" y="71385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27</a:t>
              </a:r>
            </a:p>
          </p:txBody>
        </p:sp>
      </p:grpSp>
      <p:grpSp>
        <p:nvGrpSpPr>
          <p:cNvPr id="1130" name="Group 1014"/>
          <p:cNvGrpSpPr/>
          <p:nvPr/>
        </p:nvGrpSpPr>
        <p:grpSpPr>
          <a:xfrm>
            <a:off x="11111934" y="4042550"/>
            <a:ext cx="623301" cy="626673"/>
            <a:chOff x="0" y="0"/>
            <a:chExt cx="623299" cy="626671"/>
          </a:xfrm>
        </p:grpSpPr>
        <p:sp>
          <p:nvSpPr>
            <p:cNvPr id="1128" name="Shape 1012"/>
            <p:cNvSpPr/>
            <p:nvPr/>
          </p:nvSpPr>
          <p:spPr>
            <a:xfrm>
              <a:off x="0" y="0"/>
              <a:ext cx="623301" cy="626673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29" name="Shape 1013"/>
            <p:cNvSpPr txBox="1"/>
            <p:nvPr/>
          </p:nvSpPr>
          <p:spPr>
            <a:xfrm>
              <a:off x="58936" y="80450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97</a:t>
              </a:r>
            </a:p>
          </p:txBody>
        </p:sp>
      </p:grpSp>
      <p:grpSp>
        <p:nvGrpSpPr>
          <p:cNvPr id="1133" name="Group 1017"/>
          <p:cNvGrpSpPr/>
          <p:nvPr/>
        </p:nvGrpSpPr>
        <p:grpSpPr>
          <a:xfrm>
            <a:off x="7014915" y="4874541"/>
            <a:ext cx="623149" cy="625407"/>
            <a:chOff x="0" y="0"/>
            <a:chExt cx="623148" cy="625406"/>
          </a:xfrm>
        </p:grpSpPr>
        <p:sp>
          <p:nvSpPr>
            <p:cNvPr id="1131" name="Shape 1015"/>
            <p:cNvSpPr/>
            <p:nvPr/>
          </p:nvSpPr>
          <p:spPr>
            <a:xfrm>
              <a:off x="-1" y="-1"/>
              <a:ext cx="623149" cy="625407"/>
            </a:xfrm>
            <a:prstGeom prst="ellipse">
              <a:avLst/>
            </a:prstGeom>
            <a:solidFill>
              <a:srgbClr val="FFFFFF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32" name="Shape 1016"/>
            <p:cNvSpPr txBox="1"/>
            <p:nvPr/>
          </p:nvSpPr>
          <p:spPr>
            <a:xfrm>
              <a:off x="56753" y="40357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97</a:t>
              </a:r>
            </a:p>
          </p:txBody>
        </p:sp>
      </p:grpSp>
      <p:grpSp>
        <p:nvGrpSpPr>
          <p:cNvPr id="1136" name="Group 1020"/>
          <p:cNvGrpSpPr/>
          <p:nvPr/>
        </p:nvGrpSpPr>
        <p:grpSpPr>
          <a:xfrm>
            <a:off x="11123224" y="4042550"/>
            <a:ext cx="623151" cy="625407"/>
            <a:chOff x="0" y="0"/>
            <a:chExt cx="623149" cy="625406"/>
          </a:xfrm>
        </p:grpSpPr>
        <p:sp>
          <p:nvSpPr>
            <p:cNvPr id="1134" name="Shape 1018"/>
            <p:cNvSpPr/>
            <p:nvPr/>
          </p:nvSpPr>
          <p:spPr>
            <a:xfrm>
              <a:off x="-1" y="-1"/>
              <a:ext cx="623151" cy="625407"/>
            </a:xfrm>
            <a:prstGeom prst="ellipse">
              <a:avLst/>
            </a:prstGeom>
            <a:solidFill>
              <a:srgbClr val="FFFFFF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35" name="Shape 1019"/>
            <p:cNvSpPr txBox="1"/>
            <p:nvPr/>
          </p:nvSpPr>
          <p:spPr>
            <a:xfrm>
              <a:off x="56754" y="38382"/>
              <a:ext cx="527700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76</a:t>
              </a:r>
            </a:p>
          </p:txBody>
        </p:sp>
      </p:grpSp>
      <p:grpSp>
        <p:nvGrpSpPr>
          <p:cNvPr id="1139" name="Group 1023"/>
          <p:cNvGrpSpPr/>
          <p:nvPr/>
        </p:nvGrpSpPr>
        <p:grpSpPr>
          <a:xfrm>
            <a:off x="8364400" y="2895178"/>
            <a:ext cx="623149" cy="625409"/>
            <a:chOff x="0" y="0"/>
            <a:chExt cx="623148" cy="625407"/>
          </a:xfrm>
        </p:grpSpPr>
        <p:sp>
          <p:nvSpPr>
            <p:cNvPr id="1137" name="Shape 1021"/>
            <p:cNvSpPr/>
            <p:nvPr/>
          </p:nvSpPr>
          <p:spPr>
            <a:xfrm>
              <a:off x="-1" y="-1"/>
              <a:ext cx="623149" cy="625409"/>
            </a:xfrm>
            <a:prstGeom prst="ellipse">
              <a:avLst/>
            </a:prstGeom>
            <a:solidFill>
              <a:srgbClr val="333399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38" name="Shape 1022"/>
            <p:cNvSpPr txBox="1"/>
            <p:nvPr/>
          </p:nvSpPr>
          <p:spPr>
            <a:xfrm>
              <a:off x="59012" y="60113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27</a:t>
              </a:r>
            </a:p>
          </p:txBody>
        </p:sp>
      </p:grpSp>
      <p:grpSp>
        <p:nvGrpSpPr>
          <p:cNvPr id="1142" name="Group 1026"/>
          <p:cNvGrpSpPr/>
          <p:nvPr/>
        </p:nvGrpSpPr>
        <p:grpSpPr>
          <a:xfrm>
            <a:off x="9471452" y="1819768"/>
            <a:ext cx="623151" cy="625407"/>
            <a:chOff x="0" y="0"/>
            <a:chExt cx="623149" cy="625406"/>
          </a:xfrm>
        </p:grpSpPr>
        <p:sp>
          <p:nvSpPr>
            <p:cNvPr id="1140" name="Shape 1024"/>
            <p:cNvSpPr/>
            <p:nvPr/>
          </p:nvSpPr>
          <p:spPr>
            <a:xfrm>
              <a:off x="-1" y="-1"/>
              <a:ext cx="623151" cy="625407"/>
            </a:xfrm>
            <a:prstGeom prst="ellipse">
              <a:avLst/>
            </a:prstGeom>
            <a:solidFill>
              <a:srgbClr val="333399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41" name="Shape 1025"/>
            <p:cNvSpPr txBox="1"/>
            <p:nvPr/>
          </p:nvSpPr>
          <p:spPr>
            <a:xfrm>
              <a:off x="59012" y="63217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27</a:t>
              </a:r>
            </a:p>
          </p:txBody>
        </p:sp>
      </p:grpSp>
      <p:grpSp>
        <p:nvGrpSpPr>
          <p:cNvPr id="1145" name="Group 1029"/>
          <p:cNvGrpSpPr/>
          <p:nvPr/>
        </p:nvGrpSpPr>
        <p:grpSpPr>
          <a:xfrm>
            <a:off x="9471452" y="1819768"/>
            <a:ext cx="623151" cy="625407"/>
            <a:chOff x="0" y="0"/>
            <a:chExt cx="623149" cy="625406"/>
          </a:xfrm>
        </p:grpSpPr>
        <p:sp>
          <p:nvSpPr>
            <p:cNvPr id="1143" name="Shape 1027"/>
            <p:cNvSpPr/>
            <p:nvPr/>
          </p:nvSpPr>
          <p:spPr>
            <a:xfrm>
              <a:off x="-1" y="-1"/>
              <a:ext cx="623151" cy="625407"/>
            </a:xfrm>
            <a:prstGeom prst="ellipse">
              <a:avLst/>
            </a:prstGeom>
            <a:solidFill>
              <a:srgbClr val="333399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44" name="Shape 1028"/>
            <p:cNvSpPr txBox="1"/>
            <p:nvPr/>
          </p:nvSpPr>
          <p:spPr>
            <a:xfrm>
              <a:off x="59012" y="63217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50</a:t>
              </a:r>
            </a:p>
          </p:txBody>
        </p:sp>
      </p:grpSp>
      <p:grpSp>
        <p:nvGrpSpPr>
          <p:cNvPr id="1148" name="Group 1032"/>
          <p:cNvGrpSpPr/>
          <p:nvPr/>
        </p:nvGrpSpPr>
        <p:grpSpPr>
          <a:xfrm>
            <a:off x="8364400" y="2895179"/>
            <a:ext cx="623149" cy="625407"/>
            <a:chOff x="0" y="0"/>
            <a:chExt cx="623148" cy="625406"/>
          </a:xfrm>
        </p:grpSpPr>
        <p:sp>
          <p:nvSpPr>
            <p:cNvPr id="1146" name="Shape 1030"/>
            <p:cNvSpPr/>
            <p:nvPr/>
          </p:nvSpPr>
          <p:spPr>
            <a:xfrm>
              <a:off x="-1" y="-1"/>
              <a:ext cx="623149" cy="625407"/>
            </a:xfrm>
            <a:prstGeom prst="ellipse">
              <a:avLst/>
            </a:prstGeom>
            <a:solidFill>
              <a:srgbClr val="333399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47" name="Shape 1031"/>
            <p:cNvSpPr txBox="1"/>
            <p:nvPr/>
          </p:nvSpPr>
          <p:spPr>
            <a:xfrm>
              <a:off x="59859" y="63217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49</a:t>
              </a:r>
            </a:p>
          </p:txBody>
        </p:sp>
      </p:grpSp>
      <p:grpSp>
        <p:nvGrpSpPr>
          <p:cNvPr id="1151" name="Group 1035"/>
          <p:cNvGrpSpPr/>
          <p:nvPr/>
        </p:nvGrpSpPr>
        <p:grpSpPr>
          <a:xfrm>
            <a:off x="1676117" y="4962595"/>
            <a:ext cx="623301" cy="624625"/>
            <a:chOff x="0" y="0"/>
            <a:chExt cx="623299" cy="624623"/>
          </a:xfrm>
        </p:grpSpPr>
        <p:sp>
          <p:nvSpPr>
            <p:cNvPr id="1149" name="Shape 1033"/>
            <p:cNvSpPr/>
            <p:nvPr/>
          </p:nvSpPr>
          <p:spPr>
            <a:xfrm>
              <a:off x="0" y="0"/>
              <a:ext cx="623301" cy="624625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50" name="Shape 1034"/>
            <p:cNvSpPr txBox="1"/>
            <p:nvPr/>
          </p:nvSpPr>
          <p:spPr>
            <a:xfrm>
              <a:off x="58936" y="82298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13</a:t>
              </a:r>
            </a:p>
          </p:txBody>
        </p:sp>
      </p:grpSp>
      <p:grpSp>
        <p:nvGrpSpPr>
          <p:cNvPr id="1154" name="Group 1038"/>
          <p:cNvGrpSpPr/>
          <p:nvPr/>
        </p:nvGrpSpPr>
        <p:grpSpPr>
          <a:xfrm>
            <a:off x="1673860" y="4962595"/>
            <a:ext cx="623149" cy="625407"/>
            <a:chOff x="0" y="0"/>
            <a:chExt cx="623148" cy="625406"/>
          </a:xfrm>
        </p:grpSpPr>
        <p:sp>
          <p:nvSpPr>
            <p:cNvPr id="1152" name="Shape 1036"/>
            <p:cNvSpPr/>
            <p:nvPr/>
          </p:nvSpPr>
          <p:spPr>
            <a:xfrm>
              <a:off x="-1" y="-1"/>
              <a:ext cx="623149" cy="625407"/>
            </a:xfrm>
            <a:prstGeom prst="ellipse">
              <a:avLst/>
            </a:prstGeom>
            <a:solidFill>
              <a:srgbClr val="FFFFFF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53" name="Shape 1037"/>
            <p:cNvSpPr txBox="1"/>
            <p:nvPr/>
          </p:nvSpPr>
          <p:spPr>
            <a:xfrm>
              <a:off x="59012" y="49671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97</a:t>
              </a:r>
            </a:p>
          </p:txBody>
        </p:sp>
      </p:grpSp>
      <p:sp>
        <p:nvSpPr>
          <p:cNvPr id="1155" name="Shape 1039"/>
          <p:cNvSpPr/>
          <p:nvPr/>
        </p:nvSpPr>
        <p:spPr>
          <a:xfrm>
            <a:off x="4398151" y="2124568"/>
            <a:ext cx="623149" cy="623148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156" name="Shape 1040"/>
          <p:cNvSpPr/>
          <p:nvPr/>
        </p:nvSpPr>
        <p:spPr>
          <a:xfrm flipH="1">
            <a:off x="3216563" y="2158434"/>
            <a:ext cx="671331" cy="630401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157" name="Shape 1041"/>
          <p:cNvSpPr/>
          <p:nvPr/>
        </p:nvSpPr>
        <p:spPr>
          <a:xfrm flipH="1">
            <a:off x="2514599" y="3312159"/>
            <a:ext cx="383824" cy="623148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158" name="Shape 1042"/>
          <p:cNvSpPr/>
          <p:nvPr/>
        </p:nvSpPr>
        <p:spPr>
          <a:xfrm>
            <a:off x="3210559" y="3213100"/>
            <a:ext cx="478651" cy="767646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159" name="Shape 1043"/>
          <p:cNvSpPr/>
          <p:nvPr/>
        </p:nvSpPr>
        <p:spPr>
          <a:xfrm flipH="1">
            <a:off x="4614897" y="3312159"/>
            <a:ext cx="383825" cy="623148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160" name="Shape 1044"/>
          <p:cNvSpPr/>
          <p:nvPr/>
        </p:nvSpPr>
        <p:spPr>
          <a:xfrm>
            <a:off x="5219699" y="3213100"/>
            <a:ext cx="573477" cy="767646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1163" name="Group 1047"/>
          <p:cNvGrpSpPr/>
          <p:nvPr/>
        </p:nvGrpSpPr>
        <p:grpSpPr>
          <a:xfrm>
            <a:off x="4787900" y="2770292"/>
            <a:ext cx="624337" cy="623439"/>
            <a:chOff x="0" y="0"/>
            <a:chExt cx="624335" cy="623438"/>
          </a:xfrm>
        </p:grpSpPr>
        <p:sp>
          <p:nvSpPr>
            <p:cNvPr id="1161" name="Shape 1045"/>
            <p:cNvSpPr/>
            <p:nvPr/>
          </p:nvSpPr>
          <p:spPr>
            <a:xfrm>
              <a:off x="0" y="-1"/>
              <a:ext cx="624337" cy="623439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62" name="Shape 1046"/>
            <p:cNvSpPr txBox="1"/>
            <p:nvPr/>
          </p:nvSpPr>
          <p:spPr>
            <a:xfrm>
              <a:off x="73866" y="63400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65</a:t>
              </a:r>
            </a:p>
          </p:txBody>
        </p:sp>
      </p:grpSp>
      <p:grpSp>
        <p:nvGrpSpPr>
          <p:cNvPr id="1166" name="Group 1050"/>
          <p:cNvGrpSpPr/>
          <p:nvPr/>
        </p:nvGrpSpPr>
        <p:grpSpPr>
          <a:xfrm>
            <a:off x="2084775" y="3867008"/>
            <a:ext cx="623151" cy="620121"/>
            <a:chOff x="0" y="0"/>
            <a:chExt cx="623149" cy="620119"/>
          </a:xfrm>
        </p:grpSpPr>
        <p:sp>
          <p:nvSpPr>
            <p:cNvPr id="1164" name="Shape 1048"/>
            <p:cNvSpPr/>
            <p:nvPr/>
          </p:nvSpPr>
          <p:spPr>
            <a:xfrm>
              <a:off x="-1" y="-1"/>
              <a:ext cx="623151" cy="620121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65" name="Shape 1049"/>
            <p:cNvSpPr txBox="1"/>
            <p:nvPr/>
          </p:nvSpPr>
          <p:spPr>
            <a:xfrm>
              <a:off x="56754" y="75932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49</a:t>
              </a:r>
            </a:p>
          </p:txBody>
        </p:sp>
      </p:grpSp>
      <p:grpSp>
        <p:nvGrpSpPr>
          <p:cNvPr id="1169" name="Group 1053"/>
          <p:cNvGrpSpPr/>
          <p:nvPr/>
        </p:nvGrpSpPr>
        <p:grpSpPr>
          <a:xfrm>
            <a:off x="3325142" y="3867008"/>
            <a:ext cx="623301" cy="624625"/>
            <a:chOff x="0" y="0"/>
            <a:chExt cx="623299" cy="624623"/>
          </a:xfrm>
        </p:grpSpPr>
        <p:sp>
          <p:nvSpPr>
            <p:cNvPr id="1167" name="Shape 1051"/>
            <p:cNvSpPr/>
            <p:nvPr/>
          </p:nvSpPr>
          <p:spPr>
            <a:xfrm>
              <a:off x="0" y="0"/>
              <a:ext cx="623301" cy="624625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68" name="Shape 1052"/>
            <p:cNvSpPr txBox="1"/>
            <p:nvPr/>
          </p:nvSpPr>
          <p:spPr>
            <a:xfrm>
              <a:off x="58936" y="82298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13</a:t>
              </a:r>
            </a:p>
          </p:txBody>
        </p:sp>
      </p:grpSp>
      <p:grpSp>
        <p:nvGrpSpPr>
          <p:cNvPr id="1172" name="Group 1056"/>
          <p:cNvGrpSpPr/>
          <p:nvPr/>
        </p:nvGrpSpPr>
        <p:grpSpPr>
          <a:xfrm>
            <a:off x="4360614" y="3869830"/>
            <a:ext cx="621045" cy="622167"/>
            <a:chOff x="0" y="0"/>
            <a:chExt cx="621044" cy="622165"/>
          </a:xfrm>
        </p:grpSpPr>
        <p:sp>
          <p:nvSpPr>
            <p:cNvPr id="1170" name="Shape 1054"/>
            <p:cNvSpPr/>
            <p:nvPr/>
          </p:nvSpPr>
          <p:spPr>
            <a:xfrm>
              <a:off x="-1" y="0"/>
              <a:ext cx="621046" cy="622166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71" name="Shape 1055"/>
            <p:cNvSpPr txBox="1"/>
            <p:nvPr/>
          </p:nvSpPr>
          <p:spPr>
            <a:xfrm>
              <a:off x="56755" y="76183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27</a:t>
              </a:r>
            </a:p>
          </p:txBody>
        </p:sp>
      </p:grpSp>
      <p:grpSp>
        <p:nvGrpSpPr>
          <p:cNvPr id="1175" name="Group 1059"/>
          <p:cNvGrpSpPr/>
          <p:nvPr/>
        </p:nvGrpSpPr>
        <p:grpSpPr>
          <a:xfrm>
            <a:off x="5404837" y="3873500"/>
            <a:ext cx="623301" cy="626673"/>
            <a:chOff x="0" y="0"/>
            <a:chExt cx="623299" cy="626671"/>
          </a:xfrm>
        </p:grpSpPr>
        <p:sp>
          <p:nvSpPr>
            <p:cNvPr id="1173" name="Shape 1057"/>
            <p:cNvSpPr/>
            <p:nvPr/>
          </p:nvSpPr>
          <p:spPr>
            <a:xfrm>
              <a:off x="0" y="0"/>
              <a:ext cx="623301" cy="626673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74" name="Shape 1058"/>
            <p:cNvSpPr txBox="1"/>
            <p:nvPr/>
          </p:nvSpPr>
          <p:spPr>
            <a:xfrm>
              <a:off x="58936" y="85531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38</a:t>
              </a:r>
            </a:p>
          </p:txBody>
        </p:sp>
      </p:grpSp>
      <p:grpSp>
        <p:nvGrpSpPr>
          <p:cNvPr id="1178" name="Group 1062"/>
          <p:cNvGrpSpPr/>
          <p:nvPr/>
        </p:nvGrpSpPr>
        <p:grpSpPr>
          <a:xfrm>
            <a:off x="2796053" y="2783839"/>
            <a:ext cx="624483" cy="623295"/>
            <a:chOff x="0" y="0"/>
            <a:chExt cx="624481" cy="623294"/>
          </a:xfrm>
        </p:grpSpPr>
        <p:sp>
          <p:nvSpPr>
            <p:cNvPr id="1176" name="Shape 1060"/>
            <p:cNvSpPr/>
            <p:nvPr/>
          </p:nvSpPr>
          <p:spPr>
            <a:xfrm>
              <a:off x="0" y="-1"/>
              <a:ext cx="624482" cy="623296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77" name="Shape 1061"/>
            <p:cNvSpPr txBox="1"/>
            <p:nvPr/>
          </p:nvSpPr>
          <p:spPr>
            <a:xfrm>
              <a:off x="37378" y="61272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50</a:t>
              </a:r>
            </a:p>
          </p:txBody>
        </p:sp>
      </p:grpSp>
      <p:grpSp>
        <p:nvGrpSpPr>
          <p:cNvPr id="1181" name="Group 1065"/>
          <p:cNvGrpSpPr/>
          <p:nvPr/>
        </p:nvGrpSpPr>
        <p:grpSpPr>
          <a:xfrm>
            <a:off x="3779570" y="1714499"/>
            <a:ext cx="623301" cy="625407"/>
            <a:chOff x="0" y="0"/>
            <a:chExt cx="623299" cy="625406"/>
          </a:xfrm>
        </p:grpSpPr>
        <p:sp>
          <p:nvSpPr>
            <p:cNvPr id="1179" name="Shape 1063"/>
            <p:cNvSpPr/>
            <p:nvPr/>
          </p:nvSpPr>
          <p:spPr>
            <a:xfrm>
              <a:off x="0" y="-1"/>
              <a:ext cx="623301" cy="625407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80" name="Shape 1064"/>
            <p:cNvSpPr txBox="1"/>
            <p:nvPr/>
          </p:nvSpPr>
          <p:spPr>
            <a:xfrm>
              <a:off x="58936" y="39442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76</a:t>
              </a:r>
            </a:p>
          </p:txBody>
        </p:sp>
      </p:grpSp>
      <p:grpSp>
        <p:nvGrpSpPr>
          <p:cNvPr id="1184" name="Group 1068"/>
          <p:cNvGrpSpPr/>
          <p:nvPr/>
        </p:nvGrpSpPr>
        <p:grpSpPr>
          <a:xfrm>
            <a:off x="4787899" y="2769307"/>
            <a:ext cx="623149" cy="625409"/>
            <a:chOff x="0" y="0"/>
            <a:chExt cx="623148" cy="625407"/>
          </a:xfrm>
        </p:grpSpPr>
        <p:sp>
          <p:nvSpPr>
            <p:cNvPr id="1182" name="Shape 1066"/>
            <p:cNvSpPr/>
            <p:nvPr/>
          </p:nvSpPr>
          <p:spPr>
            <a:xfrm>
              <a:off x="-1" y="-1"/>
              <a:ext cx="623149" cy="625409"/>
            </a:xfrm>
            <a:prstGeom prst="ellipse">
              <a:avLst/>
            </a:prstGeom>
            <a:solidFill>
              <a:srgbClr val="333399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83" name="Shape 1067"/>
            <p:cNvSpPr txBox="1"/>
            <p:nvPr/>
          </p:nvSpPr>
          <p:spPr>
            <a:xfrm>
              <a:off x="59012" y="63217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38</a:t>
              </a:r>
            </a:p>
          </p:txBody>
        </p:sp>
      </p:grpSp>
      <p:grpSp>
        <p:nvGrpSpPr>
          <p:cNvPr id="1187" name="Group 1074"/>
          <p:cNvGrpSpPr/>
          <p:nvPr/>
        </p:nvGrpSpPr>
        <p:grpSpPr>
          <a:xfrm>
            <a:off x="3779646" y="1714499"/>
            <a:ext cx="623151" cy="625407"/>
            <a:chOff x="0" y="0"/>
            <a:chExt cx="623149" cy="625406"/>
          </a:xfrm>
        </p:grpSpPr>
        <p:sp>
          <p:nvSpPr>
            <p:cNvPr id="1185" name="Shape 1072"/>
            <p:cNvSpPr/>
            <p:nvPr/>
          </p:nvSpPr>
          <p:spPr>
            <a:xfrm>
              <a:off x="-1" y="-1"/>
              <a:ext cx="623151" cy="625407"/>
            </a:xfrm>
            <a:prstGeom prst="ellipse">
              <a:avLst/>
            </a:prstGeom>
            <a:solidFill>
              <a:srgbClr val="333399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86" name="Shape 1073"/>
            <p:cNvSpPr txBox="1"/>
            <p:nvPr/>
          </p:nvSpPr>
          <p:spPr>
            <a:xfrm>
              <a:off x="59012" y="64629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38</a:t>
              </a:r>
            </a:p>
          </p:txBody>
        </p:sp>
      </p:grpSp>
      <p:grpSp>
        <p:nvGrpSpPr>
          <p:cNvPr id="1190" name="Group 1077"/>
          <p:cNvGrpSpPr/>
          <p:nvPr/>
        </p:nvGrpSpPr>
        <p:grpSpPr>
          <a:xfrm>
            <a:off x="5414907" y="3874132"/>
            <a:ext cx="623151" cy="625409"/>
            <a:chOff x="0" y="0"/>
            <a:chExt cx="623149" cy="625407"/>
          </a:xfrm>
        </p:grpSpPr>
        <p:sp>
          <p:nvSpPr>
            <p:cNvPr id="1188" name="Shape 1075"/>
            <p:cNvSpPr/>
            <p:nvPr/>
          </p:nvSpPr>
          <p:spPr>
            <a:xfrm>
              <a:off x="-1" y="-1"/>
              <a:ext cx="623151" cy="625409"/>
            </a:xfrm>
            <a:prstGeom prst="ellipse">
              <a:avLst/>
            </a:prstGeom>
            <a:solidFill>
              <a:srgbClr val="FFFFFF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89" name="Shape 1076"/>
            <p:cNvSpPr txBox="1"/>
            <p:nvPr/>
          </p:nvSpPr>
          <p:spPr>
            <a:xfrm>
              <a:off x="59012" y="49670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76</a:t>
              </a:r>
            </a:p>
          </p:txBody>
        </p:sp>
      </p:grpSp>
      <p:grpSp>
        <p:nvGrpSpPr>
          <p:cNvPr id="1193" name="Group 1080"/>
          <p:cNvGrpSpPr/>
          <p:nvPr/>
        </p:nvGrpSpPr>
        <p:grpSpPr>
          <a:xfrm>
            <a:off x="3779646" y="1714499"/>
            <a:ext cx="623151" cy="625407"/>
            <a:chOff x="0" y="0"/>
            <a:chExt cx="623149" cy="625406"/>
          </a:xfrm>
        </p:grpSpPr>
        <p:sp>
          <p:nvSpPr>
            <p:cNvPr id="1191" name="Shape 1078"/>
            <p:cNvSpPr/>
            <p:nvPr/>
          </p:nvSpPr>
          <p:spPr>
            <a:xfrm>
              <a:off x="-1" y="-1"/>
              <a:ext cx="623151" cy="625407"/>
            </a:xfrm>
            <a:prstGeom prst="ellipse">
              <a:avLst/>
            </a:prstGeom>
            <a:solidFill>
              <a:srgbClr val="333399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92" name="Shape 1079"/>
            <p:cNvSpPr txBox="1"/>
            <p:nvPr/>
          </p:nvSpPr>
          <p:spPr>
            <a:xfrm>
              <a:off x="59012" y="64629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65</a:t>
              </a:r>
            </a:p>
          </p:txBody>
        </p:sp>
      </p:grpSp>
      <p:grpSp>
        <p:nvGrpSpPr>
          <p:cNvPr id="1196" name="Group 1083"/>
          <p:cNvGrpSpPr/>
          <p:nvPr/>
        </p:nvGrpSpPr>
        <p:grpSpPr>
          <a:xfrm>
            <a:off x="10029048" y="4036979"/>
            <a:ext cx="623149" cy="625409"/>
            <a:chOff x="0" y="0"/>
            <a:chExt cx="623148" cy="625407"/>
          </a:xfrm>
        </p:grpSpPr>
        <p:sp>
          <p:nvSpPr>
            <p:cNvPr id="1194" name="Shape 1081"/>
            <p:cNvSpPr/>
            <p:nvPr/>
          </p:nvSpPr>
          <p:spPr>
            <a:xfrm>
              <a:off x="-1" y="-1"/>
              <a:ext cx="623149" cy="625409"/>
            </a:xfrm>
            <a:prstGeom prst="ellipse">
              <a:avLst/>
            </a:prstGeom>
            <a:solidFill>
              <a:srgbClr val="FFFFFF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95" name="Shape 1082"/>
            <p:cNvSpPr txBox="1"/>
            <p:nvPr/>
          </p:nvSpPr>
          <p:spPr>
            <a:xfrm>
              <a:off x="56754" y="38382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65</a:t>
              </a:r>
            </a:p>
          </p:txBody>
        </p:sp>
      </p:grpSp>
      <p:sp>
        <p:nvSpPr>
          <p:cNvPr id="1197" name="Shape 1084"/>
          <p:cNvSpPr txBox="1"/>
          <p:nvPr>
            <p:ph type="title"/>
          </p:nvPr>
        </p:nvSpPr>
        <p:spPr>
          <a:xfrm>
            <a:off x="1643661" y="76961"/>
            <a:ext cx="9448801" cy="1003301"/>
          </a:xfrm>
          <a:prstGeom prst="rect">
            <a:avLst/>
          </a:prstGeom>
        </p:spPr>
        <p:txBody>
          <a:bodyPr/>
          <a:lstStyle/>
          <a:p>
            <a:pPr/>
            <a:r>
              <a:t>堆排序</a:t>
            </a:r>
          </a:p>
        </p:txBody>
      </p:sp>
      <p:grpSp>
        <p:nvGrpSpPr>
          <p:cNvPr id="1200" name="Group 999"/>
          <p:cNvGrpSpPr/>
          <p:nvPr/>
        </p:nvGrpSpPr>
        <p:grpSpPr>
          <a:xfrm>
            <a:off x="7746332" y="4044344"/>
            <a:ext cx="624483" cy="623295"/>
            <a:chOff x="0" y="0"/>
            <a:chExt cx="624481" cy="623294"/>
          </a:xfrm>
        </p:grpSpPr>
        <p:sp>
          <p:nvSpPr>
            <p:cNvPr id="1198" name="Shape 997"/>
            <p:cNvSpPr/>
            <p:nvPr/>
          </p:nvSpPr>
          <p:spPr>
            <a:xfrm>
              <a:off x="0" y="-1"/>
              <a:ext cx="624482" cy="623296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99" name="Shape 998"/>
            <p:cNvSpPr txBox="1"/>
            <p:nvPr/>
          </p:nvSpPr>
          <p:spPr>
            <a:xfrm>
              <a:off x="37379" y="61272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49</a:t>
              </a:r>
            </a:p>
          </p:txBody>
        </p:sp>
      </p:grpSp>
      <p:grpSp>
        <p:nvGrpSpPr>
          <p:cNvPr id="1203" name="Group 1071"/>
          <p:cNvGrpSpPr/>
          <p:nvPr/>
        </p:nvGrpSpPr>
        <p:grpSpPr>
          <a:xfrm>
            <a:off x="7746999" y="4036979"/>
            <a:ext cx="623149" cy="625407"/>
            <a:chOff x="0" y="0"/>
            <a:chExt cx="623148" cy="625406"/>
          </a:xfrm>
        </p:grpSpPr>
        <p:sp>
          <p:nvSpPr>
            <p:cNvPr id="1201" name="Shape 1069"/>
            <p:cNvSpPr/>
            <p:nvPr/>
          </p:nvSpPr>
          <p:spPr>
            <a:xfrm>
              <a:off x="-1" y="-1"/>
              <a:ext cx="623149" cy="625407"/>
            </a:xfrm>
            <a:prstGeom prst="ellipse">
              <a:avLst/>
            </a:prstGeom>
            <a:solidFill>
              <a:srgbClr val="333399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02" name="Shape 1070"/>
            <p:cNvSpPr txBox="1"/>
            <p:nvPr/>
          </p:nvSpPr>
          <p:spPr>
            <a:xfrm>
              <a:off x="55343" y="63217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Class="entr" nodeType="after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Class="exit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after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Subtype="8" presetID="22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5" dur="500"/>
                                        <p:tgtEl>
                                          <p:spTgt spid="1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Class="entr" nodeType="after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Class="entr" nodeType="afterEffect" presetSubtype="0" presetID="1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Class="entr" nodeType="afterEffect" presetSubtype="0" presetID="1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Class="entr" nodeType="afterEffect" presetSubtype="0" presetID="1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Class="entr" nodeType="afterEffect" presetSubtype="0" presetID="1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Class="entr" nodeType="afterEffect" presetSubtype="0" presetID="1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fill="hold"/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Class="entr" nodeType="afterEffect" presetSubtype="0" presetID="1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Class="entr" nodeType="afterEffect" presetSubtype="0" presetID="1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9" fill="hold"/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Class="entr" nodeType="afterEffect" presetSubtype="0" presetID="1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fill="hold"/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Class="entr" nodeType="afterEffect" presetSubtype="0" presetID="1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5" fill="hold"/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Class="entr" nodeType="afterEffect" presetSubtype="0" presetID="1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Class="entr" nodeType="afterEffect" presetSubtype="0" presetID="1" grpId="1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1" fill="hold"/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Class="entr" nodeType="afterEffect" presetSubtype="8" presetID="22" grpId="1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4" fill="hold"/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65" dur="500"/>
                                        <p:tgtEl>
                                          <p:spTgt spid="1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Class="entr" nodeType="afterEffect" presetSubtype="8" presetID="22" grpId="2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8" fill="hold"/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69" dur="500"/>
                                        <p:tgtEl>
                                          <p:spTgt spid="1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Class="entr" nodeType="clickEffect" presetSubtype="0" presetID="1" grpId="2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3" fill="hold"/>
                                        <p:tgtEl>
                                          <p:spTgt spid="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Class="entr" nodeType="afterEffect" presetSubtype="0" presetID="1" grpId="2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6" fill="hold"/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Class="exit" nodeType="clickEffect" presetSubtype="2" presetID="22" grpId="2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wipe(right)" transition="out">
                                      <p:cBhvr>
                                        <p:cTn id="80" dur="500" fill="hold"/>
                                        <p:tgtEl>
                                          <p:spTgt spid="11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Class="entr" nodeType="clickEffect" presetSubtype="0" presetID="1" grpId="2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5" fill="hold"/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Class="entr" nodeType="afterEffect" presetSubtype="0" presetID="1" grpId="2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8" fill="hold"/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Class="entr" nodeType="clickEffect" presetSubtype="0" presetID="1" grpId="2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2" fill="hold"/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Class="entr" nodeType="afterEffect" presetSubtype="0" presetID="1" grpId="2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5" fill="hold"/>
                                        <p:tgtEl>
                                          <p:spTgt spid="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160" grpId="3"/>
      <p:bldP build="whole" bldLvl="1" animBg="1" rev="0" advAuto="0" spid="1193" grpId="4"/>
      <p:bldP build="whole" bldLvl="1" animBg="1" rev="0" advAuto="0" spid="1142" grpId="22"/>
      <p:bldP build="whole" bldLvl="1" animBg="1" rev="0" advAuto="0" spid="1112" grpId="23"/>
      <p:bldP build="whole" bldLvl="1" animBg="1" rev="0" advAuto="0" spid="1139" grpId="25"/>
      <p:bldP build="whole" bldLvl="1" animBg="1" rev="0" advAuto="0" spid="1115" grpId="12"/>
      <p:bldP build="whole" bldLvl="1" animBg="1" rev="0" advAuto="0" spid="1111" grpId="10"/>
      <p:bldP build="whole" bldLvl="1" animBg="1" rev="0" advAuto="0" spid="1118" grpId="13"/>
      <p:bldP build="whole" bldLvl="1" animBg="1" rev="0" advAuto="0" spid="1145" grpId="24"/>
      <p:bldP build="whole" bldLvl="1" animBg="1" rev="0" advAuto="0" spid="1121" grpId="14"/>
      <p:bldP build="whole" bldLvl="1" animBg="1" rev="0" advAuto="0" spid="1200" grpId="18"/>
      <p:bldP build="whole" bldLvl="1" animBg="1" rev="0" advAuto="0" spid="1110" grpId="9"/>
      <p:bldP build="whole" bldLvl="1" animBg="1" rev="0" advAuto="0" spid="1124" grpId="15"/>
      <p:bldP build="whole" bldLvl="1" animBg="1" rev="0" advAuto="0" spid="1196" grpId="21"/>
      <p:bldP build="whole" bldLvl="1" animBg="1" rev="0" advAuto="0" spid="1148" grpId="26"/>
      <p:bldP build="whole" bldLvl="1" animBg="1" rev="0" advAuto="0" spid="1127" grpId="16"/>
      <p:bldP build="whole" bldLvl="1" animBg="1" rev="0" advAuto="0" spid="1130" grpId="17"/>
      <p:bldP build="whole" bldLvl="1" animBg="1" rev="0" advAuto="0" spid="1109" grpId="8"/>
      <p:bldP build="whole" bldLvl="1" animBg="1" rev="0" advAuto="0" spid="1108" grpId="7"/>
      <p:bldP build="whole" bldLvl="1" animBg="1" rev="0" advAuto="0" spid="1203" grpId="27"/>
      <p:bldP build="whole" bldLvl="1" animBg="1" rev="0" advAuto="0" spid="1133" grpId="19"/>
      <p:bldP build="whole" bldLvl="1" animBg="1" rev="0" advAuto="0" spid="1107" grpId="6"/>
      <p:bldP build="whole" bldLvl="1" animBg="1" rev="0" advAuto="0" spid="1112" grpId="11"/>
      <p:bldP build="whole" bldLvl="1" animBg="1" rev="0" advAuto="0" spid="1190" grpId="1"/>
      <p:bldP build="whole" bldLvl="1" animBg="1" rev="0" advAuto="0" spid="1184" grpId="5"/>
      <p:bldP build="whole" bldLvl="1" animBg="1" rev="0" advAuto="0" spid="1136" grpId="20"/>
      <p:bldP build="whole" bldLvl="1" animBg="1" rev="0" advAuto="0" spid="1187" grpId="2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Shape 1086"/>
          <p:cNvSpPr/>
          <p:nvPr/>
        </p:nvSpPr>
        <p:spPr>
          <a:xfrm>
            <a:off x="5784425" y="3181208"/>
            <a:ext cx="1126634" cy="205459"/>
          </a:xfrm>
          <a:prstGeom prst="rightArrow">
            <a:avLst>
              <a:gd name="adj1" fmla="val 50000"/>
              <a:gd name="adj2" fmla="val 96390"/>
            </a:avLst>
          </a:prstGeom>
          <a:solidFill>
            <a:srgbClr val="993300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206" name="Shape 1087"/>
          <p:cNvSpPr/>
          <p:nvPr/>
        </p:nvSpPr>
        <p:spPr>
          <a:xfrm>
            <a:off x="10121616" y="2133600"/>
            <a:ext cx="623149" cy="623147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207" name="Shape 1088"/>
          <p:cNvSpPr/>
          <p:nvPr/>
        </p:nvSpPr>
        <p:spPr>
          <a:xfrm flipH="1">
            <a:off x="8956454" y="2171699"/>
            <a:ext cx="648980" cy="627721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208" name="Shape 1089"/>
          <p:cNvSpPr/>
          <p:nvPr/>
        </p:nvSpPr>
        <p:spPr>
          <a:xfrm flipH="1">
            <a:off x="8234116" y="3321191"/>
            <a:ext cx="383824" cy="623148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1211" name="Group 1092"/>
          <p:cNvGrpSpPr/>
          <p:nvPr/>
        </p:nvGrpSpPr>
        <p:grpSpPr>
          <a:xfrm>
            <a:off x="9563947" y="1663699"/>
            <a:ext cx="623301" cy="625407"/>
            <a:chOff x="0" y="0"/>
            <a:chExt cx="623299" cy="625406"/>
          </a:xfrm>
        </p:grpSpPr>
        <p:sp>
          <p:nvSpPr>
            <p:cNvPr id="1209" name="Shape 1090"/>
            <p:cNvSpPr/>
            <p:nvPr/>
          </p:nvSpPr>
          <p:spPr>
            <a:xfrm>
              <a:off x="0" y="-1"/>
              <a:ext cx="623300" cy="625407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10" name="Shape 1091"/>
            <p:cNvSpPr txBox="1"/>
            <p:nvPr/>
          </p:nvSpPr>
          <p:spPr>
            <a:xfrm>
              <a:off x="58935" y="36055"/>
              <a:ext cx="527700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49</a:t>
              </a:r>
            </a:p>
          </p:txBody>
        </p:sp>
      </p:grpSp>
      <p:grpSp>
        <p:nvGrpSpPr>
          <p:cNvPr id="1214" name="Group 1095"/>
          <p:cNvGrpSpPr/>
          <p:nvPr/>
        </p:nvGrpSpPr>
        <p:grpSpPr>
          <a:xfrm>
            <a:off x="8456303" y="2749973"/>
            <a:ext cx="624483" cy="623295"/>
            <a:chOff x="0" y="0"/>
            <a:chExt cx="624481" cy="623294"/>
          </a:xfrm>
        </p:grpSpPr>
        <p:sp>
          <p:nvSpPr>
            <p:cNvPr id="1212" name="Shape 1093"/>
            <p:cNvSpPr/>
            <p:nvPr/>
          </p:nvSpPr>
          <p:spPr>
            <a:xfrm>
              <a:off x="0" y="-1"/>
              <a:ext cx="624482" cy="623296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13" name="Shape 1094"/>
            <p:cNvSpPr txBox="1"/>
            <p:nvPr/>
          </p:nvSpPr>
          <p:spPr>
            <a:xfrm>
              <a:off x="37378" y="61272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27</a:t>
              </a:r>
            </a:p>
          </p:txBody>
        </p:sp>
      </p:grpSp>
      <p:grpSp>
        <p:nvGrpSpPr>
          <p:cNvPr id="1217" name="Group 1098"/>
          <p:cNvGrpSpPr/>
          <p:nvPr/>
        </p:nvGrpSpPr>
        <p:grpSpPr>
          <a:xfrm>
            <a:off x="10548056" y="2753923"/>
            <a:ext cx="626399" cy="623439"/>
            <a:chOff x="0" y="0"/>
            <a:chExt cx="626398" cy="623438"/>
          </a:xfrm>
        </p:grpSpPr>
        <p:sp>
          <p:nvSpPr>
            <p:cNvPr id="1215" name="Shape 1096"/>
            <p:cNvSpPr/>
            <p:nvPr/>
          </p:nvSpPr>
          <p:spPr>
            <a:xfrm>
              <a:off x="0" y="0"/>
              <a:ext cx="626399" cy="623439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16" name="Shape 1097"/>
            <p:cNvSpPr txBox="1"/>
            <p:nvPr/>
          </p:nvSpPr>
          <p:spPr>
            <a:xfrm>
              <a:off x="75307" y="63400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38</a:t>
              </a:r>
            </a:p>
          </p:txBody>
        </p:sp>
      </p:grpSp>
      <p:grpSp>
        <p:nvGrpSpPr>
          <p:cNvPr id="1220" name="Group 1101"/>
          <p:cNvGrpSpPr/>
          <p:nvPr/>
        </p:nvGrpSpPr>
        <p:grpSpPr>
          <a:xfrm>
            <a:off x="7924799" y="3901438"/>
            <a:ext cx="623149" cy="620121"/>
            <a:chOff x="0" y="0"/>
            <a:chExt cx="623148" cy="620119"/>
          </a:xfrm>
        </p:grpSpPr>
        <p:sp>
          <p:nvSpPr>
            <p:cNvPr id="1218" name="Shape 1099"/>
            <p:cNvSpPr/>
            <p:nvPr/>
          </p:nvSpPr>
          <p:spPr>
            <a:xfrm>
              <a:off x="-1" y="-1"/>
              <a:ext cx="623149" cy="620121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19" name="Shape 1100"/>
            <p:cNvSpPr txBox="1"/>
            <p:nvPr/>
          </p:nvSpPr>
          <p:spPr>
            <a:xfrm>
              <a:off x="54496" y="75932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13</a:t>
              </a:r>
            </a:p>
          </p:txBody>
        </p:sp>
      </p:grpSp>
      <p:grpSp>
        <p:nvGrpSpPr>
          <p:cNvPr id="1223" name="Group 1104"/>
          <p:cNvGrpSpPr/>
          <p:nvPr/>
        </p:nvGrpSpPr>
        <p:grpSpPr>
          <a:xfrm>
            <a:off x="8991600" y="3901439"/>
            <a:ext cx="623300" cy="624625"/>
            <a:chOff x="0" y="0"/>
            <a:chExt cx="623299" cy="624623"/>
          </a:xfrm>
        </p:grpSpPr>
        <p:sp>
          <p:nvSpPr>
            <p:cNvPr id="1221" name="Shape 1102"/>
            <p:cNvSpPr/>
            <p:nvPr/>
          </p:nvSpPr>
          <p:spPr>
            <a:xfrm>
              <a:off x="0" y="0"/>
              <a:ext cx="623300" cy="624625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22" name="Shape 1103"/>
            <p:cNvSpPr txBox="1"/>
            <p:nvPr/>
          </p:nvSpPr>
          <p:spPr>
            <a:xfrm>
              <a:off x="65145" y="80188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76</a:t>
              </a:r>
            </a:p>
          </p:txBody>
        </p:sp>
      </p:grpSp>
      <p:grpSp>
        <p:nvGrpSpPr>
          <p:cNvPr id="1226" name="Group 1107"/>
          <p:cNvGrpSpPr/>
          <p:nvPr/>
        </p:nvGrpSpPr>
        <p:grpSpPr>
          <a:xfrm>
            <a:off x="7463083" y="4910666"/>
            <a:ext cx="623151" cy="625409"/>
            <a:chOff x="0" y="0"/>
            <a:chExt cx="623149" cy="625407"/>
          </a:xfrm>
        </p:grpSpPr>
        <p:sp>
          <p:nvSpPr>
            <p:cNvPr id="1224" name="Shape 1105"/>
            <p:cNvSpPr/>
            <p:nvPr/>
          </p:nvSpPr>
          <p:spPr>
            <a:xfrm>
              <a:off x="-1" y="-1"/>
              <a:ext cx="623151" cy="625409"/>
            </a:xfrm>
            <a:prstGeom prst="ellipse">
              <a:avLst/>
            </a:prstGeom>
            <a:solidFill>
              <a:srgbClr val="FFFFFF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25" name="Shape 1106"/>
            <p:cNvSpPr txBox="1"/>
            <p:nvPr/>
          </p:nvSpPr>
          <p:spPr>
            <a:xfrm>
              <a:off x="56753" y="38382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97</a:t>
              </a:r>
            </a:p>
          </p:txBody>
        </p:sp>
      </p:grpSp>
      <p:grpSp>
        <p:nvGrpSpPr>
          <p:cNvPr id="1229" name="Group 1110"/>
          <p:cNvGrpSpPr/>
          <p:nvPr/>
        </p:nvGrpSpPr>
        <p:grpSpPr>
          <a:xfrm>
            <a:off x="11239782" y="3907366"/>
            <a:ext cx="623149" cy="625409"/>
            <a:chOff x="0" y="0"/>
            <a:chExt cx="623148" cy="625407"/>
          </a:xfrm>
        </p:grpSpPr>
        <p:sp>
          <p:nvSpPr>
            <p:cNvPr id="1227" name="Shape 1108"/>
            <p:cNvSpPr/>
            <p:nvPr/>
          </p:nvSpPr>
          <p:spPr>
            <a:xfrm>
              <a:off x="-1" y="-1"/>
              <a:ext cx="623149" cy="625409"/>
            </a:xfrm>
            <a:prstGeom prst="ellipse">
              <a:avLst/>
            </a:prstGeom>
            <a:solidFill>
              <a:srgbClr val="FFFFFF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28" name="Shape 1109"/>
            <p:cNvSpPr txBox="1"/>
            <p:nvPr/>
          </p:nvSpPr>
          <p:spPr>
            <a:xfrm>
              <a:off x="56755" y="38382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76</a:t>
              </a:r>
            </a:p>
          </p:txBody>
        </p:sp>
      </p:grpSp>
      <p:grpSp>
        <p:nvGrpSpPr>
          <p:cNvPr id="1232" name="Group 1113"/>
          <p:cNvGrpSpPr/>
          <p:nvPr/>
        </p:nvGrpSpPr>
        <p:grpSpPr>
          <a:xfrm>
            <a:off x="9909950" y="3904825"/>
            <a:ext cx="623151" cy="625409"/>
            <a:chOff x="0" y="0"/>
            <a:chExt cx="623149" cy="625407"/>
          </a:xfrm>
        </p:grpSpPr>
        <p:sp>
          <p:nvSpPr>
            <p:cNvPr id="1230" name="Shape 1111"/>
            <p:cNvSpPr/>
            <p:nvPr/>
          </p:nvSpPr>
          <p:spPr>
            <a:xfrm>
              <a:off x="-1" y="-1"/>
              <a:ext cx="623151" cy="625409"/>
            </a:xfrm>
            <a:prstGeom prst="ellipse">
              <a:avLst/>
            </a:prstGeom>
            <a:solidFill>
              <a:srgbClr val="FFFFFF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31" name="Shape 1112"/>
            <p:cNvSpPr txBox="1"/>
            <p:nvPr/>
          </p:nvSpPr>
          <p:spPr>
            <a:xfrm>
              <a:off x="56754" y="38382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65</a:t>
              </a:r>
            </a:p>
          </p:txBody>
        </p:sp>
      </p:grpSp>
      <p:grpSp>
        <p:nvGrpSpPr>
          <p:cNvPr id="1235" name="Group 1116"/>
          <p:cNvGrpSpPr/>
          <p:nvPr/>
        </p:nvGrpSpPr>
        <p:grpSpPr>
          <a:xfrm>
            <a:off x="10553982" y="2741223"/>
            <a:ext cx="623151" cy="625407"/>
            <a:chOff x="0" y="0"/>
            <a:chExt cx="623149" cy="625406"/>
          </a:xfrm>
        </p:grpSpPr>
        <p:sp>
          <p:nvSpPr>
            <p:cNvPr id="1233" name="Shape 1114"/>
            <p:cNvSpPr/>
            <p:nvPr/>
          </p:nvSpPr>
          <p:spPr>
            <a:xfrm>
              <a:off x="-1" y="-1"/>
              <a:ext cx="623151" cy="625407"/>
            </a:xfrm>
            <a:prstGeom prst="ellipse">
              <a:avLst/>
            </a:prstGeom>
            <a:solidFill>
              <a:srgbClr val="333399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34" name="Shape 1115"/>
            <p:cNvSpPr txBox="1"/>
            <p:nvPr/>
          </p:nvSpPr>
          <p:spPr>
            <a:xfrm>
              <a:off x="59012" y="63217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13</a:t>
              </a:r>
            </a:p>
          </p:txBody>
        </p:sp>
      </p:grpSp>
      <p:grpSp>
        <p:nvGrpSpPr>
          <p:cNvPr id="1238" name="Group 1119"/>
          <p:cNvGrpSpPr/>
          <p:nvPr/>
        </p:nvGrpSpPr>
        <p:grpSpPr>
          <a:xfrm>
            <a:off x="9561601" y="1658619"/>
            <a:ext cx="623151" cy="625409"/>
            <a:chOff x="0" y="0"/>
            <a:chExt cx="623149" cy="625407"/>
          </a:xfrm>
        </p:grpSpPr>
        <p:sp>
          <p:nvSpPr>
            <p:cNvPr id="1236" name="Shape 1117"/>
            <p:cNvSpPr/>
            <p:nvPr/>
          </p:nvSpPr>
          <p:spPr>
            <a:xfrm>
              <a:off x="-1" y="-1"/>
              <a:ext cx="623151" cy="625409"/>
            </a:xfrm>
            <a:prstGeom prst="ellipse">
              <a:avLst/>
            </a:prstGeom>
            <a:solidFill>
              <a:srgbClr val="333399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37" name="Shape 1118"/>
            <p:cNvSpPr txBox="1"/>
            <p:nvPr/>
          </p:nvSpPr>
          <p:spPr>
            <a:xfrm>
              <a:off x="59012" y="63217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13</a:t>
              </a:r>
            </a:p>
          </p:txBody>
        </p:sp>
      </p:grpSp>
      <p:grpSp>
        <p:nvGrpSpPr>
          <p:cNvPr id="1241" name="Group 1122"/>
          <p:cNvGrpSpPr/>
          <p:nvPr/>
        </p:nvGrpSpPr>
        <p:grpSpPr>
          <a:xfrm>
            <a:off x="9002324" y="3909624"/>
            <a:ext cx="623151" cy="625409"/>
            <a:chOff x="0" y="0"/>
            <a:chExt cx="623149" cy="625407"/>
          </a:xfrm>
        </p:grpSpPr>
        <p:sp>
          <p:nvSpPr>
            <p:cNvPr id="1239" name="Shape 1120"/>
            <p:cNvSpPr/>
            <p:nvPr/>
          </p:nvSpPr>
          <p:spPr>
            <a:xfrm>
              <a:off x="-1" y="-1"/>
              <a:ext cx="623151" cy="625409"/>
            </a:xfrm>
            <a:prstGeom prst="ellipse">
              <a:avLst/>
            </a:prstGeom>
            <a:solidFill>
              <a:srgbClr val="FFFFFF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40" name="Shape 1121"/>
            <p:cNvSpPr txBox="1"/>
            <p:nvPr/>
          </p:nvSpPr>
          <p:spPr>
            <a:xfrm>
              <a:off x="56754" y="38382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50</a:t>
              </a:r>
            </a:p>
          </p:txBody>
        </p:sp>
      </p:grpSp>
      <p:grpSp>
        <p:nvGrpSpPr>
          <p:cNvPr id="1244" name="Group 1125"/>
          <p:cNvGrpSpPr/>
          <p:nvPr/>
        </p:nvGrpSpPr>
        <p:grpSpPr>
          <a:xfrm>
            <a:off x="9559080" y="1647897"/>
            <a:ext cx="623151" cy="625407"/>
            <a:chOff x="0" y="0"/>
            <a:chExt cx="623149" cy="625406"/>
          </a:xfrm>
        </p:grpSpPr>
        <p:sp>
          <p:nvSpPr>
            <p:cNvPr id="1242" name="Shape 1123"/>
            <p:cNvSpPr/>
            <p:nvPr/>
          </p:nvSpPr>
          <p:spPr>
            <a:xfrm>
              <a:off x="-1" y="-1"/>
              <a:ext cx="623151" cy="625407"/>
            </a:xfrm>
            <a:prstGeom prst="ellipse">
              <a:avLst/>
            </a:prstGeom>
            <a:solidFill>
              <a:srgbClr val="333399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43" name="Shape 1124"/>
            <p:cNvSpPr txBox="1"/>
            <p:nvPr/>
          </p:nvSpPr>
          <p:spPr>
            <a:xfrm>
              <a:off x="59012" y="63217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38</a:t>
              </a:r>
            </a:p>
          </p:txBody>
        </p:sp>
      </p:grpSp>
      <p:sp>
        <p:nvSpPr>
          <p:cNvPr id="1245" name="Shape 1126"/>
          <p:cNvSpPr/>
          <p:nvPr/>
        </p:nvSpPr>
        <p:spPr>
          <a:xfrm>
            <a:off x="4190999" y="2209799"/>
            <a:ext cx="623148" cy="623148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246" name="Shape 1127"/>
          <p:cNvSpPr/>
          <p:nvPr/>
        </p:nvSpPr>
        <p:spPr>
          <a:xfrm flipH="1">
            <a:off x="3115235" y="2237457"/>
            <a:ext cx="564943" cy="604928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247" name="Shape 1128"/>
          <p:cNvSpPr/>
          <p:nvPr/>
        </p:nvSpPr>
        <p:spPr>
          <a:xfrm flipH="1">
            <a:off x="2539983" y="3403106"/>
            <a:ext cx="258644" cy="446043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248" name="Shape 1129"/>
          <p:cNvSpPr/>
          <p:nvPr/>
        </p:nvSpPr>
        <p:spPr>
          <a:xfrm>
            <a:off x="3201749" y="3405777"/>
            <a:ext cx="260265" cy="413236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1251" name="Group 1133"/>
          <p:cNvGrpSpPr/>
          <p:nvPr/>
        </p:nvGrpSpPr>
        <p:grpSpPr>
          <a:xfrm>
            <a:off x="3632763" y="1747520"/>
            <a:ext cx="623301" cy="625407"/>
            <a:chOff x="0" y="0"/>
            <a:chExt cx="623299" cy="625406"/>
          </a:xfrm>
        </p:grpSpPr>
        <p:sp>
          <p:nvSpPr>
            <p:cNvPr id="1249" name="Shape 1131"/>
            <p:cNvSpPr/>
            <p:nvPr/>
          </p:nvSpPr>
          <p:spPr>
            <a:xfrm>
              <a:off x="0" y="-1"/>
              <a:ext cx="623301" cy="625407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50" name="Shape 1132"/>
            <p:cNvSpPr txBox="1"/>
            <p:nvPr/>
          </p:nvSpPr>
          <p:spPr>
            <a:xfrm>
              <a:off x="58936" y="38031"/>
              <a:ext cx="527700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50</a:t>
              </a:r>
            </a:p>
          </p:txBody>
        </p:sp>
      </p:grpSp>
      <p:grpSp>
        <p:nvGrpSpPr>
          <p:cNvPr id="1254" name="Group 1136"/>
          <p:cNvGrpSpPr/>
          <p:nvPr/>
        </p:nvGrpSpPr>
        <p:grpSpPr>
          <a:xfrm>
            <a:off x="2690220" y="2819963"/>
            <a:ext cx="624483" cy="623295"/>
            <a:chOff x="0" y="0"/>
            <a:chExt cx="624481" cy="623294"/>
          </a:xfrm>
        </p:grpSpPr>
        <p:sp>
          <p:nvSpPr>
            <p:cNvPr id="1252" name="Shape 1134"/>
            <p:cNvSpPr/>
            <p:nvPr/>
          </p:nvSpPr>
          <p:spPr>
            <a:xfrm>
              <a:off x="0" y="-1"/>
              <a:ext cx="624482" cy="623296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53" name="Shape 1135"/>
            <p:cNvSpPr txBox="1"/>
            <p:nvPr/>
          </p:nvSpPr>
          <p:spPr>
            <a:xfrm>
              <a:off x="37378" y="61272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49</a:t>
              </a:r>
            </a:p>
          </p:txBody>
        </p:sp>
      </p:grpSp>
      <p:grpSp>
        <p:nvGrpSpPr>
          <p:cNvPr id="1257" name="Group 1139"/>
          <p:cNvGrpSpPr/>
          <p:nvPr/>
        </p:nvGrpSpPr>
        <p:grpSpPr>
          <a:xfrm>
            <a:off x="4578772" y="2823915"/>
            <a:ext cx="626399" cy="623439"/>
            <a:chOff x="0" y="0"/>
            <a:chExt cx="626398" cy="623438"/>
          </a:xfrm>
        </p:grpSpPr>
        <p:sp>
          <p:nvSpPr>
            <p:cNvPr id="1255" name="Shape 1137"/>
            <p:cNvSpPr/>
            <p:nvPr/>
          </p:nvSpPr>
          <p:spPr>
            <a:xfrm>
              <a:off x="0" y="0"/>
              <a:ext cx="626399" cy="623439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56" name="Shape 1138"/>
            <p:cNvSpPr txBox="1"/>
            <p:nvPr/>
          </p:nvSpPr>
          <p:spPr>
            <a:xfrm>
              <a:off x="75308" y="63400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38</a:t>
              </a:r>
            </a:p>
          </p:txBody>
        </p:sp>
      </p:grpSp>
      <p:grpSp>
        <p:nvGrpSpPr>
          <p:cNvPr id="1260" name="Group 1142"/>
          <p:cNvGrpSpPr/>
          <p:nvPr/>
        </p:nvGrpSpPr>
        <p:grpSpPr>
          <a:xfrm>
            <a:off x="2054860" y="3819030"/>
            <a:ext cx="623149" cy="620121"/>
            <a:chOff x="0" y="0"/>
            <a:chExt cx="623148" cy="620119"/>
          </a:xfrm>
        </p:grpSpPr>
        <p:sp>
          <p:nvSpPr>
            <p:cNvPr id="1258" name="Shape 1140"/>
            <p:cNvSpPr/>
            <p:nvPr/>
          </p:nvSpPr>
          <p:spPr>
            <a:xfrm>
              <a:off x="-1" y="-1"/>
              <a:ext cx="623149" cy="620121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59" name="Shape 1141"/>
            <p:cNvSpPr txBox="1"/>
            <p:nvPr/>
          </p:nvSpPr>
          <p:spPr>
            <a:xfrm>
              <a:off x="56754" y="75932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27</a:t>
              </a:r>
            </a:p>
          </p:txBody>
        </p:sp>
      </p:grpSp>
      <p:grpSp>
        <p:nvGrpSpPr>
          <p:cNvPr id="1263" name="Group 1145"/>
          <p:cNvGrpSpPr/>
          <p:nvPr/>
        </p:nvGrpSpPr>
        <p:grpSpPr>
          <a:xfrm>
            <a:off x="3244426" y="3819030"/>
            <a:ext cx="623301" cy="624625"/>
            <a:chOff x="0" y="0"/>
            <a:chExt cx="623299" cy="624623"/>
          </a:xfrm>
        </p:grpSpPr>
        <p:sp>
          <p:nvSpPr>
            <p:cNvPr id="1261" name="Shape 1143"/>
            <p:cNvSpPr/>
            <p:nvPr/>
          </p:nvSpPr>
          <p:spPr>
            <a:xfrm>
              <a:off x="0" y="0"/>
              <a:ext cx="623301" cy="624625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62" name="Shape 1144"/>
            <p:cNvSpPr txBox="1"/>
            <p:nvPr/>
          </p:nvSpPr>
          <p:spPr>
            <a:xfrm>
              <a:off x="58936" y="82298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13</a:t>
              </a:r>
            </a:p>
          </p:txBody>
        </p:sp>
      </p:grpSp>
      <p:grpSp>
        <p:nvGrpSpPr>
          <p:cNvPr id="1266" name="Group 1148"/>
          <p:cNvGrpSpPr/>
          <p:nvPr/>
        </p:nvGrpSpPr>
        <p:grpSpPr>
          <a:xfrm>
            <a:off x="4165599" y="3822700"/>
            <a:ext cx="621046" cy="622166"/>
            <a:chOff x="0" y="0"/>
            <a:chExt cx="621044" cy="622165"/>
          </a:xfrm>
        </p:grpSpPr>
        <p:sp>
          <p:nvSpPr>
            <p:cNvPr id="1264" name="Shape 1146"/>
            <p:cNvSpPr/>
            <p:nvPr/>
          </p:nvSpPr>
          <p:spPr>
            <a:xfrm>
              <a:off x="-1" y="0"/>
              <a:ext cx="621046" cy="622166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65" name="Shape 1147"/>
            <p:cNvSpPr txBox="1"/>
            <p:nvPr/>
          </p:nvSpPr>
          <p:spPr>
            <a:xfrm>
              <a:off x="56755" y="75336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27</a:t>
              </a:r>
            </a:p>
          </p:txBody>
        </p:sp>
      </p:grpSp>
      <p:grpSp>
        <p:nvGrpSpPr>
          <p:cNvPr id="1269" name="Group 1151"/>
          <p:cNvGrpSpPr/>
          <p:nvPr/>
        </p:nvGrpSpPr>
        <p:grpSpPr>
          <a:xfrm>
            <a:off x="5260621" y="3817901"/>
            <a:ext cx="623301" cy="626673"/>
            <a:chOff x="0" y="0"/>
            <a:chExt cx="623299" cy="626671"/>
          </a:xfrm>
        </p:grpSpPr>
        <p:sp>
          <p:nvSpPr>
            <p:cNvPr id="1267" name="Shape 1149"/>
            <p:cNvSpPr/>
            <p:nvPr/>
          </p:nvSpPr>
          <p:spPr>
            <a:xfrm>
              <a:off x="0" y="0"/>
              <a:ext cx="623301" cy="626673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68" name="Shape 1150"/>
            <p:cNvSpPr txBox="1"/>
            <p:nvPr/>
          </p:nvSpPr>
          <p:spPr>
            <a:xfrm>
              <a:off x="58936" y="80450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97</a:t>
              </a:r>
            </a:p>
          </p:txBody>
        </p:sp>
      </p:grpSp>
      <p:grpSp>
        <p:nvGrpSpPr>
          <p:cNvPr id="1272" name="Group 1154"/>
          <p:cNvGrpSpPr/>
          <p:nvPr/>
        </p:nvGrpSpPr>
        <p:grpSpPr>
          <a:xfrm>
            <a:off x="1557302" y="4802292"/>
            <a:ext cx="623151" cy="625407"/>
            <a:chOff x="0" y="0"/>
            <a:chExt cx="623149" cy="625406"/>
          </a:xfrm>
        </p:grpSpPr>
        <p:sp>
          <p:nvSpPr>
            <p:cNvPr id="1270" name="Shape 1152"/>
            <p:cNvSpPr/>
            <p:nvPr/>
          </p:nvSpPr>
          <p:spPr>
            <a:xfrm>
              <a:off x="-1" y="-1"/>
              <a:ext cx="623151" cy="625407"/>
            </a:xfrm>
            <a:prstGeom prst="ellipse">
              <a:avLst/>
            </a:prstGeom>
            <a:solidFill>
              <a:srgbClr val="FFFFFF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71" name="Shape 1153"/>
            <p:cNvSpPr txBox="1"/>
            <p:nvPr/>
          </p:nvSpPr>
          <p:spPr>
            <a:xfrm>
              <a:off x="56755" y="36406"/>
              <a:ext cx="527700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97</a:t>
              </a:r>
            </a:p>
          </p:txBody>
        </p:sp>
      </p:grpSp>
      <p:grpSp>
        <p:nvGrpSpPr>
          <p:cNvPr id="1275" name="Group 1157"/>
          <p:cNvGrpSpPr/>
          <p:nvPr/>
        </p:nvGrpSpPr>
        <p:grpSpPr>
          <a:xfrm>
            <a:off x="5271911" y="3817901"/>
            <a:ext cx="623149" cy="625407"/>
            <a:chOff x="0" y="0"/>
            <a:chExt cx="623148" cy="625406"/>
          </a:xfrm>
        </p:grpSpPr>
        <p:sp>
          <p:nvSpPr>
            <p:cNvPr id="1273" name="Shape 1155"/>
            <p:cNvSpPr/>
            <p:nvPr/>
          </p:nvSpPr>
          <p:spPr>
            <a:xfrm>
              <a:off x="-1" y="-1"/>
              <a:ext cx="623149" cy="625407"/>
            </a:xfrm>
            <a:prstGeom prst="ellipse">
              <a:avLst/>
            </a:prstGeom>
            <a:solidFill>
              <a:srgbClr val="FFFFFF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74" name="Shape 1156"/>
            <p:cNvSpPr txBox="1"/>
            <p:nvPr/>
          </p:nvSpPr>
          <p:spPr>
            <a:xfrm>
              <a:off x="56755" y="38382"/>
              <a:ext cx="527700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76</a:t>
              </a:r>
            </a:p>
          </p:txBody>
        </p:sp>
      </p:grpSp>
      <p:grpSp>
        <p:nvGrpSpPr>
          <p:cNvPr id="1278" name="Group 1160"/>
          <p:cNvGrpSpPr/>
          <p:nvPr/>
        </p:nvGrpSpPr>
        <p:grpSpPr>
          <a:xfrm>
            <a:off x="2054859" y="3803687"/>
            <a:ext cx="623151" cy="625407"/>
            <a:chOff x="0" y="0"/>
            <a:chExt cx="623149" cy="625406"/>
          </a:xfrm>
        </p:grpSpPr>
        <p:sp>
          <p:nvSpPr>
            <p:cNvPr id="1276" name="Shape 1158"/>
            <p:cNvSpPr/>
            <p:nvPr/>
          </p:nvSpPr>
          <p:spPr>
            <a:xfrm>
              <a:off x="-1" y="-1"/>
              <a:ext cx="623151" cy="625407"/>
            </a:xfrm>
            <a:prstGeom prst="ellipse">
              <a:avLst/>
            </a:prstGeom>
            <a:solidFill>
              <a:srgbClr val="333399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77" name="Shape 1159"/>
            <p:cNvSpPr txBox="1"/>
            <p:nvPr/>
          </p:nvSpPr>
          <p:spPr>
            <a:xfrm>
              <a:off x="59012" y="63217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13</a:t>
              </a:r>
            </a:p>
          </p:txBody>
        </p:sp>
      </p:grpSp>
      <p:grpSp>
        <p:nvGrpSpPr>
          <p:cNvPr id="1281" name="Group 1163"/>
          <p:cNvGrpSpPr/>
          <p:nvPr/>
        </p:nvGrpSpPr>
        <p:grpSpPr>
          <a:xfrm>
            <a:off x="3632839" y="1747520"/>
            <a:ext cx="623151" cy="625407"/>
            <a:chOff x="0" y="0"/>
            <a:chExt cx="623149" cy="625406"/>
          </a:xfrm>
        </p:grpSpPr>
        <p:sp>
          <p:nvSpPr>
            <p:cNvPr id="1279" name="Shape 1161"/>
            <p:cNvSpPr/>
            <p:nvPr/>
          </p:nvSpPr>
          <p:spPr>
            <a:xfrm>
              <a:off x="-1" y="-1"/>
              <a:ext cx="623151" cy="625407"/>
            </a:xfrm>
            <a:prstGeom prst="ellipse">
              <a:avLst/>
            </a:prstGeom>
            <a:solidFill>
              <a:srgbClr val="333399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80" name="Shape 1162"/>
            <p:cNvSpPr txBox="1"/>
            <p:nvPr/>
          </p:nvSpPr>
          <p:spPr>
            <a:xfrm>
              <a:off x="59012" y="63217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13</a:t>
              </a:r>
            </a:p>
          </p:txBody>
        </p:sp>
      </p:grpSp>
      <p:grpSp>
        <p:nvGrpSpPr>
          <p:cNvPr id="1284" name="Group 1166"/>
          <p:cNvGrpSpPr/>
          <p:nvPr/>
        </p:nvGrpSpPr>
        <p:grpSpPr>
          <a:xfrm>
            <a:off x="2690220" y="2810940"/>
            <a:ext cx="623151" cy="625407"/>
            <a:chOff x="0" y="0"/>
            <a:chExt cx="623149" cy="625406"/>
          </a:xfrm>
        </p:grpSpPr>
        <p:sp>
          <p:nvSpPr>
            <p:cNvPr id="1282" name="Shape 1164"/>
            <p:cNvSpPr/>
            <p:nvPr/>
          </p:nvSpPr>
          <p:spPr>
            <a:xfrm>
              <a:off x="-1" y="-1"/>
              <a:ext cx="623151" cy="625407"/>
            </a:xfrm>
            <a:prstGeom prst="ellipse">
              <a:avLst/>
            </a:prstGeom>
            <a:solidFill>
              <a:srgbClr val="333399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83" name="Shape 1165"/>
            <p:cNvSpPr txBox="1"/>
            <p:nvPr/>
          </p:nvSpPr>
          <p:spPr>
            <a:xfrm>
              <a:off x="59012" y="61524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13</a:t>
              </a:r>
            </a:p>
          </p:txBody>
        </p:sp>
      </p:grpSp>
      <p:grpSp>
        <p:nvGrpSpPr>
          <p:cNvPr id="1287" name="Group 1169"/>
          <p:cNvGrpSpPr/>
          <p:nvPr/>
        </p:nvGrpSpPr>
        <p:grpSpPr>
          <a:xfrm>
            <a:off x="3632839" y="1747520"/>
            <a:ext cx="623151" cy="625407"/>
            <a:chOff x="0" y="0"/>
            <a:chExt cx="623149" cy="625406"/>
          </a:xfrm>
        </p:grpSpPr>
        <p:sp>
          <p:nvSpPr>
            <p:cNvPr id="1285" name="Shape 1167"/>
            <p:cNvSpPr/>
            <p:nvPr/>
          </p:nvSpPr>
          <p:spPr>
            <a:xfrm>
              <a:off x="-1" y="-1"/>
              <a:ext cx="623151" cy="625407"/>
            </a:xfrm>
            <a:prstGeom prst="ellipse">
              <a:avLst/>
            </a:prstGeom>
            <a:solidFill>
              <a:srgbClr val="333399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86" name="Shape 1168"/>
            <p:cNvSpPr txBox="1"/>
            <p:nvPr/>
          </p:nvSpPr>
          <p:spPr>
            <a:xfrm>
              <a:off x="59012" y="63217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49</a:t>
              </a:r>
            </a:p>
          </p:txBody>
        </p:sp>
      </p:grpSp>
      <p:grpSp>
        <p:nvGrpSpPr>
          <p:cNvPr id="1290" name="Group 1172"/>
          <p:cNvGrpSpPr/>
          <p:nvPr/>
        </p:nvGrpSpPr>
        <p:grpSpPr>
          <a:xfrm>
            <a:off x="2690887" y="2810940"/>
            <a:ext cx="623149" cy="625407"/>
            <a:chOff x="0" y="0"/>
            <a:chExt cx="623148" cy="625406"/>
          </a:xfrm>
        </p:grpSpPr>
        <p:sp>
          <p:nvSpPr>
            <p:cNvPr id="1288" name="Shape 1170"/>
            <p:cNvSpPr/>
            <p:nvPr/>
          </p:nvSpPr>
          <p:spPr>
            <a:xfrm>
              <a:off x="-1" y="-1"/>
              <a:ext cx="623149" cy="625407"/>
            </a:xfrm>
            <a:prstGeom prst="ellipse">
              <a:avLst/>
            </a:prstGeom>
            <a:solidFill>
              <a:srgbClr val="333399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89" name="Shape 1171"/>
            <p:cNvSpPr txBox="1"/>
            <p:nvPr/>
          </p:nvSpPr>
          <p:spPr>
            <a:xfrm>
              <a:off x="59012" y="61524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27</a:t>
              </a:r>
            </a:p>
          </p:txBody>
        </p:sp>
      </p:grpSp>
      <p:grpSp>
        <p:nvGrpSpPr>
          <p:cNvPr id="1293" name="Group 1175"/>
          <p:cNvGrpSpPr/>
          <p:nvPr/>
        </p:nvGrpSpPr>
        <p:grpSpPr>
          <a:xfrm>
            <a:off x="4161083" y="3817337"/>
            <a:ext cx="623151" cy="625409"/>
            <a:chOff x="0" y="0"/>
            <a:chExt cx="623149" cy="625407"/>
          </a:xfrm>
        </p:grpSpPr>
        <p:sp>
          <p:nvSpPr>
            <p:cNvPr id="1291" name="Shape 1173"/>
            <p:cNvSpPr/>
            <p:nvPr/>
          </p:nvSpPr>
          <p:spPr>
            <a:xfrm>
              <a:off x="-1" y="-1"/>
              <a:ext cx="623151" cy="625409"/>
            </a:xfrm>
            <a:prstGeom prst="ellipse">
              <a:avLst/>
            </a:prstGeom>
            <a:solidFill>
              <a:srgbClr val="FFFFFF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92" name="Shape 1174"/>
            <p:cNvSpPr txBox="1"/>
            <p:nvPr/>
          </p:nvSpPr>
          <p:spPr>
            <a:xfrm>
              <a:off x="56755" y="38382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65</a:t>
              </a:r>
            </a:p>
          </p:txBody>
        </p:sp>
      </p:grpSp>
      <p:grpSp>
        <p:nvGrpSpPr>
          <p:cNvPr id="1296" name="Group 1178"/>
          <p:cNvGrpSpPr/>
          <p:nvPr/>
        </p:nvGrpSpPr>
        <p:grpSpPr>
          <a:xfrm>
            <a:off x="3244575" y="3809012"/>
            <a:ext cx="623151" cy="625407"/>
            <a:chOff x="0" y="0"/>
            <a:chExt cx="623149" cy="625406"/>
          </a:xfrm>
        </p:grpSpPr>
        <p:sp>
          <p:nvSpPr>
            <p:cNvPr id="1294" name="Shape 1176"/>
            <p:cNvSpPr/>
            <p:nvPr/>
          </p:nvSpPr>
          <p:spPr>
            <a:xfrm>
              <a:off x="-1" y="-1"/>
              <a:ext cx="623151" cy="625407"/>
            </a:xfrm>
            <a:prstGeom prst="ellipse">
              <a:avLst/>
            </a:prstGeom>
            <a:solidFill>
              <a:srgbClr val="FFFFFF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95" name="Shape 1177"/>
            <p:cNvSpPr txBox="1"/>
            <p:nvPr/>
          </p:nvSpPr>
          <p:spPr>
            <a:xfrm>
              <a:off x="56754" y="38382"/>
              <a:ext cx="527700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50</a:t>
              </a:r>
            </a:p>
          </p:txBody>
        </p:sp>
      </p:grpSp>
      <p:grpSp>
        <p:nvGrpSpPr>
          <p:cNvPr id="1299" name="Group 1181"/>
          <p:cNvGrpSpPr/>
          <p:nvPr/>
        </p:nvGrpSpPr>
        <p:grpSpPr>
          <a:xfrm>
            <a:off x="7940680" y="3898794"/>
            <a:ext cx="623149" cy="625409"/>
            <a:chOff x="0" y="0"/>
            <a:chExt cx="623148" cy="625407"/>
          </a:xfrm>
        </p:grpSpPr>
        <p:sp>
          <p:nvSpPr>
            <p:cNvPr id="1297" name="Shape 1179"/>
            <p:cNvSpPr/>
            <p:nvPr/>
          </p:nvSpPr>
          <p:spPr>
            <a:xfrm>
              <a:off x="-1" y="-1"/>
              <a:ext cx="623149" cy="625409"/>
            </a:xfrm>
            <a:prstGeom prst="ellipse">
              <a:avLst/>
            </a:prstGeom>
            <a:solidFill>
              <a:srgbClr val="FFFFFF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98" name="Shape 1180"/>
            <p:cNvSpPr txBox="1"/>
            <p:nvPr/>
          </p:nvSpPr>
          <p:spPr>
            <a:xfrm>
              <a:off x="56754" y="38382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49</a:t>
              </a:r>
            </a:p>
          </p:txBody>
        </p:sp>
      </p:grpSp>
      <p:sp>
        <p:nvSpPr>
          <p:cNvPr id="1300" name="Shape 1182"/>
          <p:cNvSpPr txBox="1"/>
          <p:nvPr>
            <p:ph type="title"/>
          </p:nvPr>
        </p:nvSpPr>
        <p:spPr>
          <a:xfrm>
            <a:off x="1631320" y="156492"/>
            <a:ext cx="9448801" cy="1003301"/>
          </a:xfrm>
          <a:prstGeom prst="rect">
            <a:avLst/>
          </a:prstGeom>
        </p:spPr>
        <p:txBody>
          <a:bodyPr/>
          <a:lstStyle/>
          <a:p>
            <a:pPr/>
            <a:r>
              <a:t>堆排序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Class="entr" nodeType="after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Class="exit" nodeType="clickEffect" presetSubtype="2" presetID="2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wipe(right)" transition="out">
                                      <p:cBhvr>
                                        <p:cTn id="13" dur="500" fill="hold"/>
                                        <p:tgtEl>
                                          <p:spTgt spid="12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Class="entr" nodeType="after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Class="entr" nodeType="click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after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Class="entr" nodeType="clickEffect" presetSubtype="8" presetID="22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33" dur="500"/>
                                        <p:tgtEl>
                                          <p:spTgt spid="1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Class="entr" nodeType="clickEffect" presetSubtype="0" presetID="1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Class="entr" nodeType="afterEffect" presetSubtype="0" presetID="1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Class="entr" nodeType="afterEffect" presetSubtype="0" presetID="1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fill="hold"/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Class="entr" nodeType="afterEffect" presetSubtype="0" presetID="1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Class="entr" nodeType="afterEffect" presetSubtype="0" presetID="1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9" fill="hold"/>
                                        <p:tgtEl>
                                          <p:spTgt spid="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Class="entr" nodeType="afterEffect" presetSubtype="0" presetID="1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fill="hold"/>
                                        <p:tgtEl>
                                          <p:spTgt spid="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Class="entr" nodeType="afterEffect" presetSubtype="0" presetID="1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5" fill="hold"/>
                                        <p:tgtEl>
                                          <p:spTgt spid="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Class="entr" nodeType="afterEffect" presetSubtype="0" presetID="1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Class="entr" nodeType="afterEffect" presetSubtype="0" presetID="1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1" fill="hold"/>
                                        <p:tgtEl>
                                          <p:spTgt spid="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Class="entr" nodeType="afterEffect" presetSubtype="0" presetID="1" grpId="1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4" fill="hold"/>
                                        <p:tgtEl>
                                          <p:spTgt spid="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Class="entr" nodeType="afterEffect" presetSubtype="0" presetID="1" grpId="1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7" fill="hold"/>
                                        <p:tgtEl>
                                          <p:spTgt spid="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Class="entr" nodeType="afterEffect" presetSubtype="0" presetID="1" grpId="2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0" fill="hold"/>
                                        <p:tgtEl>
                                          <p:spTgt spid="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Class="entr" nodeType="clickEffect" presetSubtype="0" presetID="1" grpId="2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4" fill="hold"/>
                                        <p:tgtEl>
                                          <p:spTgt spid="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Class="entr" nodeType="afterEffect" presetSubtype="0" presetID="1" grpId="2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7" fill="hold"/>
                                        <p:tgtEl>
                                          <p:spTgt spid="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Class="exit" nodeType="clickEffect" presetSubtype="2" presetID="22" grpId="2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wipe(right)" transition="out">
                                      <p:cBhvr>
                                        <p:cTn id="81" dur="500" fill="hold"/>
                                        <p:tgtEl>
                                          <p:spTgt spid="12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Class="entr" nodeType="clickEffect" presetSubtype="0" presetID="1" grpId="2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6" fill="hold"/>
                                        <p:tgtEl>
                                          <p:spTgt spid="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Class="entr" nodeType="afterEffect" presetSubtype="0" presetID="1" grpId="2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9" fill="hold"/>
                                        <p:tgtEl>
                                          <p:spTgt spid="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287" grpId="4"/>
      <p:bldP build="whole" bldLvl="1" animBg="1" rev="0" advAuto="0" spid="1248" grpId="3"/>
      <p:bldP build="whole" bldLvl="1" animBg="1" rev="0" advAuto="0" spid="1208" grpId="11"/>
      <p:bldP build="whole" bldLvl="1" animBg="1" rev="0" advAuto="0" spid="1241" grpId="20"/>
      <p:bldP build="whole" bldLvl="1" animBg="1" rev="0" advAuto="0" spid="1290" grpId="6"/>
      <p:bldP build="whole" bldLvl="1" animBg="1" rev="0" advAuto="0" spid="1205" grpId="8"/>
      <p:bldP build="whole" bldLvl="1" animBg="1" rev="0" advAuto="0" spid="1296" grpId="1"/>
      <p:bldP build="whole" bldLvl="1" animBg="1" rev="0" advAuto="0" spid="1238" grpId="22"/>
      <p:bldP build="whole" bldLvl="1" animBg="1" rev="0" advAuto="0" spid="1235" grpId="25"/>
      <p:bldP build="whole" bldLvl="1" animBg="1" rev="0" advAuto="0" spid="1244" grpId="24"/>
      <p:bldP build="whole" bldLvl="1" animBg="1" rev="0" advAuto="0" spid="1208" grpId="23"/>
      <p:bldP build="whole" bldLvl="1" animBg="1" rev="0" advAuto="0" spid="1211" grpId="12"/>
      <p:bldP build="whole" bldLvl="1" animBg="1" rev="0" advAuto="0" spid="1220" grpId="15"/>
      <p:bldP build="whole" bldLvl="1" animBg="1" rev="0" advAuto="0" spid="1214" grpId="13"/>
      <p:bldP build="whole" bldLvl="1" animBg="1" rev="0" advAuto="0" spid="1223" grpId="16"/>
      <p:bldP build="whole" bldLvl="1" animBg="1" rev="0" advAuto="0" spid="1217" grpId="14"/>
      <p:bldP build="whole" bldLvl="1" animBg="1" rev="0" advAuto="0" spid="1226" grpId="17"/>
      <p:bldP build="whole" bldLvl="1" animBg="1" rev="0" advAuto="0" spid="1299" grpId="21"/>
      <p:bldP build="whole" bldLvl="1" animBg="1" rev="0" advAuto="0" spid="1229" grpId="18"/>
      <p:bldP build="whole" bldLvl="1" animBg="1" rev="0" advAuto="0" spid="1281" grpId="2"/>
      <p:bldP build="whole" bldLvl="1" animBg="1" rev="0" advAuto="0" spid="1206" grpId="9"/>
      <p:bldP build="whole" bldLvl="1" animBg="1" rev="0" advAuto="0" spid="1232" grpId="19"/>
      <p:bldP build="whole" bldLvl="1" animBg="1" rev="0" advAuto="0" spid="1278" grpId="7"/>
      <p:bldP build="whole" bldLvl="1" animBg="1" rev="0" advAuto="0" spid="1207" grpId="10"/>
      <p:bldP build="whole" bldLvl="1" animBg="1" rev="0" advAuto="0" spid="1284" grpId="5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4" name="Group 1192"/>
          <p:cNvGrpSpPr/>
          <p:nvPr/>
        </p:nvGrpSpPr>
        <p:grpSpPr>
          <a:xfrm>
            <a:off x="3269184" y="1817296"/>
            <a:ext cx="624483" cy="623295"/>
            <a:chOff x="0" y="0"/>
            <a:chExt cx="624481" cy="623294"/>
          </a:xfrm>
        </p:grpSpPr>
        <p:sp>
          <p:nvSpPr>
            <p:cNvPr id="1302" name="Shape 1190"/>
            <p:cNvSpPr/>
            <p:nvPr/>
          </p:nvSpPr>
          <p:spPr>
            <a:xfrm>
              <a:off x="0" y="-1"/>
              <a:ext cx="624482" cy="623296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03" name="Shape 1191"/>
            <p:cNvSpPr txBox="1"/>
            <p:nvPr/>
          </p:nvSpPr>
          <p:spPr>
            <a:xfrm>
              <a:off x="37378" y="61272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38</a:t>
              </a:r>
            </a:p>
          </p:txBody>
        </p:sp>
      </p:grpSp>
      <p:sp>
        <p:nvSpPr>
          <p:cNvPr id="1305" name="Shape 1184"/>
          <p:cNvSpPr/>
          <p:nvPr/>
        </p:nvSpPr>
        <p:spPr>
          <a:xfrm>
            <a:off x="5892800" y="3032194"/>
            <a:ext cx="1126633" cy="205460"/>
          </a:xfrm>
          <a:prstGeom prst="rightArrow">
            <a:avLst>
              <a:gd name="adj1" fmla="val 50000"/>
              <a:gd name="adj2" fmla="val 96390"/>
            </a:avLst>
          </a:prstGeom>
          <a:solidFill>
            <a:srgbClr val="993300"/>
          </a:solidFill>
          <a:ln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3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306" name="Shape 1185"/>
          <p:cNvSpPr/>
          <p:nvPr/>
        </p:nvSpPr>
        <p:spPr>
          <a:xfrm>
            <a:off x="3860799" y="2171981"/>
            <a:ext cx="771283" cy="623482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307" name="Shape 1186"/>
          <p:cNvSpPr/>
          <p:nvPr/>
        </p:nvSpPr>
        <p:spPr>
          <a:xfrm flipH="1">
            <a:off x="2576123" y="2205847"/>
            <a:ext cx="778935" cy="625407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1310" name="Group 1192"/>
          <p:cNvGrpSpPr/>
          <p:nvPr/>
        </p:nvGrpSpPr>
        <p:grpSpPr>
          <a:xfrm>
            <a:off x="2200000" y="2788354"/>
            <a:ext cx="624483" cy="623296"/>
            <a:chOff x="0" y="0"/>
            <a:chExt cx="624481" cy="623294"/>
          </a:xfrm>
        </p:grpSpPr>
        <p:sp>
          <p:nvSpPr>
            <p:cNvPr id="1308" name="Shape 1190"/>
            <p:cNvSpPr/>
            <p:nvPr/>
          </p:nvSpPr>
          <p:spPr>
            <a:xfrm>
              <a:off x="0" y="-1"/>
              <a:ext cx="624482" cy="623296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09" name="Shape 1191"/>
            <p:cNvSpPr txBox="1"/>
            <p:nvPr/>
          </p:nvSpPr>
          <p:spPr>
            <a:xfrm>
              <a:off x="37378" y="61272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27</a:t>
              </a:r>
            </a:p>
          </p:txBody>
        </p:sp>
      </p:grpSp>
      <p:grpSp>
        <p:nvGrpSpPr>
          <p:cNvPr id="1313" name="Group 1195"/>
          <p:cNvGrpSpPr/>
          <p:nvPr/>
        </p:nvGrpSpPr>
        <p:grpSpPr>
          <a:xfrm>
            <a:off x="4367953" y="2793999"/>
            <a:ext cx="626399" cy="623439"/>
            <a:chOff x="0" y="0"/>
            <a:chExt cx="626398" cy="623438"/>
          </a:xfrm>
        </p:grpSpPr>
        <p:sp>
          <p:nvSpPr>
            <p:cNvPr id="1311" name="Shape 1193"/>
            <p:cNvSpPr/>
            <p:nvPr/>
          </p:nvSpPr>
          <p:spPr>
            <a:xfrm>
              <a:off x="0" y="-1"/>
              <a:ext cx="626399" cy="623439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12" name="Shape 1194"/>
            <p:cNvSpPr txBox="1"/>
            <p:nvPr/>
          </p:nvSpPr>
          <p:spPr>
            <a:xfrm>
              <a:off x="75308" y="61706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13</a:t>
              </a:r>
            </a:p>
          </p:txBody>
        </p:sp>
      </p:grpSp>
      <p:grpSp>
        <p:nvGrpSpPr>
          <p:cNvPr id="1316" name="Group 1198"/>
          <p:cNvGrpSpPr/>
          <p:nvPr/>
        </p:nvGrpSpPr>
        <p:grpSpPr>
          <a:xfrm>
            <a:off x="1564639" y="3787421"/>
            <a:ext cx="623149" cy="620121"/>
            <a:chOff x="0" y="0"/>
            <a:chExt cx="623148" cy="620119"/>
          </a:xfrm>
        </p:grpSpPr>
        <p:sp>
          <p:nvSpPr>
            <p:cNvPr id="1314" name="Shape 1196"/>
            <p:cNvSpPr/>
            <p:nvPr/>
          </p:nvSpPr>
          <p:spPr>
            <a:xfrm>
              <a:off x="-1" y="-1"/>
              <a:ext cx="623149" cy="620121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15" name="Shape 1197"/>
            <p:cNvSpPr txBox="1"/>
            <p:nvPr/>
          </p:nvSpPr>
          <p:spPr>
            <a:xfrm>
              <a:off x="56754" y="75932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13</a:t>
              </a:r>
            </a:p>
          </p:txBody>
        </p:sp>
      </p:grpSp>
      <p:grpSp>
        <p:nvGrpSpPr>
          <p:cNvPr id="1319" name="Group 1201"/>
          <p:cNvGrpSpPr/>
          <p:nvPr/>
        </p:nvGrpSpPr>
        <p:grpSpPr>
          <a:xfrm>
            <a:off x="2805005" y="3787421"/>
            <a:ext cx="623301" cy="624625"/>
            <a:chOff x="0" y="0"/>
            <a:chExt cx="623299" cy="624623"/>
          </a:xfrm>
        </p:grpSpPr>
        <p:sp>
          <p:nvSpPr>
            <p:cNvPr id="1317" name="Shape 1199"/>
            <p:cNvSpPr/>
            <p:nvPr/>
          </p:nvSpPr>
          <p:spPr>
            <a:xfrm>
              <a:off x="0" y="0"/>
              <a:ext cx="623301" cy="624625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18" name="Shape 1200"/>
            <p:cNvSpPr txBox="1"/>
            <p:nvPr/>
          </p:nvSpPr>
          <p:spPr>
            <a:xfrm>
              <a:off x="58936" y="80188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76</a:t>
              </a:r>
            </a:p>
          </p:txBody>
        </p:sp>
      </p:grpSp>
      <p:grpSp>
        <p:nvGrpSpPr>
          <p:cNvPr id="1322" name="Group 1204"/>
          <p:cNvGrpSpPr/>
          <p:nvPr/>
        </p:nvGrpSpPr>
        <p:grpSpPr>
          <a:xfrm>
            <a:off x="952781" y="4847449"/>
            <a:ext cx="623149" cy="625407"/>
            <a:chOff x="0" y="0"/>
            <a:chExt cx="623148" cy="625406"/>
          </a:xfrm>
        </p:grpSpPr>
        <p:sp>
          <p:nvSpPr>
            <p:cNvPr id="1320" name="Shape 1202"/>
            <p:cNvSpPr/>
            <p:nvPr/>
          </p:nvSpPr>
          <p:spPr>
            <a:xfrm>
              <a:off x="-1" y="-1"/>
              <a:ext cx="623149" cy="625407"/>
            </a:xfrm>
            <a:prstGeom prst="ellipse">
              <a:avLst/>
            </a:prstGeom>
            <a:solidFill>
              <a:srgbClr val="FFFFFF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21" name="Shape 1203"/>
            <p:cNvSpPr txBox="1"/>
            <p:nvPr/>
          </p:nvSpPr>
          <p:spPr>
            <a:xfrm>
              <a:off x="56754" y="38382"/>
              <a:ext cx="527700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97</a:t>
              </a:r>
            </a:p>
          </p:txBody>
        </p:sp>
      </p:grpSp>
      <p:grpSp>
        <p:nvGrpSpPr>
          <p:cNvPr id="1325" name="Group 1207"/>
          <p:cNvGrpSpPr/>
          <p:nvPr/>
        </p:nvGrpSpPr>
        <p:grpSpPr>
          <a:xfrm>
            <a:off x="4932679" y="3795324"/>
            <a:ext cx="623151" cy="625409"/>
            <a:chOff x="0" y="0"/>
            <a:chExt cx="623149" cy="625407"/>
          </a:xfrm>
        </p:grpSpPr>
        <p:sp>
          <p:nvSpPr>
            <p:cNvPr id="1323" name="Shape 1205"/>
            <p:cNvSpPr/>
            <p:nvPr/>
          </p:nvSpPr>
          <p:spPr>
            <a:xfrm>
              <a:off x="-1" y="-1"/>
              <a:ext cx="623151" cy="625409"/>
            </a:xfrm>
            <a:prstGeom prst="ellipse">
              <a:avLst/>
            </a:prstGeom>
            <a:solidFill>
              <a:srgbClr val="FFFFFF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24" name="Shape 1206"/>
            <p:cNvSpPr txBox="1"/>
            <p:nvPr/>
          </p:nvSpPr>
          <p:spPr>
            <a:xfrm>
              <a:off x="56754" y="38382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76</a:t>
              </a:r>
            </a:p>
          </p:txBody>
        </p:sp>
      </p:grpSp>
      <p:grpSp>
        <p:nvGrpSpPr>
          <p:cNvPr id="1328" name="Group 1210"/>
          <p:cNvGrpSpPr/>
          <p:nvPr/>
        </p:nvGrpSpPr>
        <p:grpSpPr>
          <a:xfrm>
            <a:off x="3920349" y="3790808"/>
            <a:ext cx="623149" cy="625409"/>
            <a:chOff x="0" y="0"/>
            <a:chExt cx="623148" cy="625407"/>
          </a:xfrm>
        </p:grpSpPr>
        <p:sp>
          <p:nvSpPr>
            <p:cNvPr id="1326" name="Shape 1208"/>
            <p:cNvSpPr/>
            <p:nvPr/>
          </p:nvSpPr>
          <p:spPr>
            <a:xfrm>
              <a:off x="-1" y="-1"/>
              <a:ext cx="623149" cy="625409"/>
            </a:xfrm>
            <a:prstGeom prst="ellipse">
              <a:avLst/>
            </a:prstGeom>
            <a:solidFill>
              <a:srgbClr val="FFFFFF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27" name="Shape 1209"/>
            <p:cNvSpPr txBox="1"/>
            <p:nvPr/>
          </p:nvSpPr>
          <p:spPr>
            <a:xfrm>
              <a:off x="56754" y="44591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65</a:t>
              </a:r>
            </a:p>
          </p:txBody>
        </p:sp>
      </p:grpSp>
      <p:grpSp>
        <p:nvGrpSpPr>
          <p:cNvPr id="1331" name="Group 1213"/>
          <p:cNvGrpSpPr/>
          <p:nvPr/>
        </p:nvGrpSpPr>
        <p:grpSpPr>
          <a:xfrm>
            <a:off x="3269851" y="1815252"/>
            <a:ext cx="623151" cy="625407"/>
            <a:chOff x="0" y="0"/>
            <a:chExt cx="623149" cy="625406"/>
          </a:xfrm>
        </p:grpSpPr>
        <p:sp>
          <p:nvSpPr>
            <p:cNvPr id="1329" name="Shape 1211"/>
            <p:cNvSpPr/>
            <p:nvPr/>
          </p:nvSpPr>
          <p:spPr>
            <a:xfrm>
              <a:off x="-1" y="-1"/>
              <a:ext cx="623151" cy="625407"/>
            </a:xfrm>
            <a:prstGeom prst="ellipse">
              <a:avLst/>
            </a:prstGeom>
            <a:solidFill>
              <a:srgbClr val="333399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30" name="Shape 1212"/>
            <p:cNvSpPr txBox="1"/>
            <p:nvPr/>
          </p:nvSpPr>
          <p:spPr>
            <a:xfrm>
              <a:off x="59012" y="63217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13</a:t>
              </a:r>
            </a:p>
          </p:txBody>
        </p:sp>
      </p:grpSp>
      <p:grpSp>
        <p:nvGrpSpPr>
          <p:cNvPr id="1334" name="Group 1216"/>
          <p:cNvGrpSpPr/>
          <p:nvPr/>
        </p:nvGrpSpPr>
        <p:grpSpPr>
          <a:xfrm>
            <a:off x="2200666" y="2787298"/>
            <a:ext cx="623151" cy="625409"/>
            <a:chOff x="0" y="0"/>
            <a:chExt cx="623149" cy="625407"/>
          </a:xfrm>
        </p:grpSpPr>
        <p:sp>
          <p:nvSpPr>
            <p:cNvPr id="1332" name="Shape 1214"/>
            <p:cNvSpPr/>
            <p:nvPr/>
          </p:nvSpPr>
          <p:spPr>
            <a:xfrm>
              <a:off x="-1" y="-1"/>
              <a:ext cx="623151" cy="625409"/>
            </a:xfrm>
            <a:prstGeom prst="ellipse">
              <a:avLst/>
            </a:prstGeom>
            <a:solidFill>
              <a:srgbClr val="333399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33" name="Shape 1215"/>
            <p:cNvSpPr txBox="1"/>
            <p:nvPr/>
          </p:nvSpPr>
          <p:spPr>
            <a:xfrm>
              <a:off x="59012" y="63217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13</a:t>
              </a:r>
            </a:p>
          </p:txBody>
        </p:sp>
      </p:grpSp>
      <p:grpSp>
        <p:nvGrpSpPr>
          <p:cNvPr id="1337" name="Group 1219"/>
          <p:cNvGrpSpPr/>
          <p:nvPr/>
        </p:nvGrpSpPr>
        <p:grpSpPr>
          <a:xfrm>
            <a:off x="2809521" y="3795605"/>
            <a:ext cx="623151" cy="625409"/>
            <a:chOff x="0" y="0"/>
            <a:chExt cx="623149" cy="625407"/>
          </a:xfrm>
        </p:grpSpPr>
        <p:sp>
          <p:nvSpPr>
            <p:cNvPr id="1335" name="Shape 1217"/>
            <p:cNvSpPr/>
            <p:nvPr/>
          </p:nvSpPr>
          <p:spPr>
            <a:xfrm>
              <a:off x="-1" y="-1"/>
              <a:ext cx="623151" cy="625409"/>
            </a:xfrm>
            <a:prstGeom prst="ellipse">
              <a:avLst/>
            </a:prstGeom>
            <a:solidFill>
              <a:srgbClr val="FFFFFF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36" name="Shape 1218"/>
            <p:cNvSpPr txBox="1"/>
            <p:nvPr/>
          </p:nvSpPr>
          <p:spPr>
            <a:xfrm>
              <a:off x="56754" y="38382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50</a:t>
              </a:r>
            </a:p>
          </p:txBody>
        </p:sp>
      </p:grpSp>
      <p:grpSp>
        <p:nvGrpSpPr>
          <p:cNvPr id="1340" name="Group 1222"/>
          <p:cNvGrpSpPr/>
          <p:nvPr/>
        </p:nvGrpSpPr>
        <p:grpSpPr>
          <a:xfrm>
            <a:off x="1569154" y="3795605"/>
            <a:ext cx="623151" cy="625409"/>
            <a:chOff x="0" y="0"/>
            <a:chExt cx="623149" cy="625407"/>
          </a:xfrm>
        </p:grpSpPr>
        <p:sp>
          <p:nvSpPr>
            <p:cNvPr id="1338" name="Shape 1220"/>
            <p:cNvSpPr/>
            <p:nvPr/>
          </p:nvSpPr>
          <p:spPr>
            <a:xfrm>
              <a:off x="-1" y="-1"/>
              <a:ext cx="623151" cy="625409"/>
            </a:xfrm>
            <a:prstGeom prst="ellipse">
              <a:avLst/>
            </a:prstGeom>
            <a:solidFill>
              <a:srgbClr val="FFFFFF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39" name="Shape 1221"/>
            <p:cNvSpPr txBox="1"/>
            <p:nvPr/>
          </p:nvSpPr>
          <p:spPr>
            <a:xfrm>
              <a:off x="56754" y="38382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49</a:t>
              </a:r>
            </a:p>
          </p:txBody>
        </p:sp>
      </p:grpSp>
      <p:grpSp>
        <p:nvGrpSpPr>
          <p:cNvPr id="1343" name="Group 1225"/>
          <p:cNvGrpSpPr/>
          <p:nvPr/>
        </p:nvGrpSpPr>
        <p:grpSpPr>
          <a:xfrm>
            <a:off x="3269851" y="1815252"/>
            <a:ext cx="623151" cy="625407"/>
            <a:chOff x="0" y="0"/>
            <a:chExt cx="623149" cy="625406"/>
          </a:xfrm>
        </p:grpSpPr>
        <p:sp>
          <p:nvSpPr>
            <p:cNvPr id="1341" name="Shape 1223"/>
            <p:cNvSpPr/>
            <p:nvPr/>
          </p:nvSpPr>
          <p:spPr>
            <a:xfrm>
              <a:off x="-1" y="-1"/>
              <a:ext cx="623151" cy="625407"/>
            </a:xfrm>
            <a:prstGeom prst="ellipse">
              <a:avLst/>
            </a:prstGeom>
            <a:solidFill>
              <a:srgbClr val="333399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42" name="Shape 1224"/>
            <p:cNvSpPr txBox="1"/>
            <p:nvPr/>
          </p:nvSpPr>
          <p:spPr>
            <a:xfrm>
              <a:off x="59012" y="63217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27</a:t>
              </a:r>
            </a:p>
          </p:txBody>
        </p:sp>
      </p:grpSp>
      <p:grpSp>
        <p:nvGrpSpPr>
          <p:cNvPr id="1346" name="Group 1228"/>
          <p:cNvGrpSpPr/>
          <p:nvPr/>
        </p:nvGrpSpPr>
        <p:grpSpPr>
          <a:xfrm>
            <a:off x="4368437" y="2787299"/>
            <a:ext cx="623151" cy="625407"/>
            <a:chOff x="0" y="0"/>
            <a:chExt cx="623149" cy="625406"/>
          </a:xfrm>
        </p:grpSpPr>
        <p:sp>
          <p:nvSpPr>
            <p:cNvPr id="1344" name="Shape 1226"/>
            <p:cNvSpPr/>
            <p:nvPr/>
          </p:nvSpPr>
          <p:spPr>
            <a:xfrm>
              <a:off x="-1" y="-1"/>
              <a:ext cx="623151" cy="625407"/>
            </a:xfrm>
            <a:prstGeom prst="ellipse">
              <a:avLst/>
            </a:prstGeom>
            <a:solidFill>
              <a:srgbClr val="FFFFFF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45" name="Shape 1227"/>
            <p:cNvSpPr txBox="1"/>
            <p:nvPr/>
          </p:nvSpPr>
          <p:spPr>
            <a:xfrm>
              <a:off x="56754" y="38382"/>
              <a:ext cx="527700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38</a:t>
              </a:r>
            </a:p>
          </p:txBody>
        </p:sp>
      </p:grpSp>
      <p:sp>
        <p:nvSpPr>
          <p:cNvPr id="1347" name="Shape 1229"/>
          <p:cNvSpPr/>
          <p:nvPr/>
        </p:nvSpPr>
        <p:spPr>
          <a:xfrm flipH="1">
            <a:off x="8620194" y="2219394"/>
            <a:ext cx="778935" cy="625406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1350" name="Group 1232"/>
          <p:cNvGrpSpPr/>
          <p:nvPr/>
        </p:nvGrpSpPr>
        <p:grpSpPr>
          <a:xfrm>
            <a:off x="9351716" y="1713652"/>
            <a:ext cx="623300" cy="625407"/>
            <a:chOff x="0" y="0"/>
            <a:chExt cx="623299" cy="625406"/>
          </a:xfrm>
        </p:grpSpPr>
        <p:sp>
          <p:nvSpPr>
            <p:cNvPr id="1348" name="Shape 1230"/>
            <p:cNvSpPr/>
            <p:nvPr/>
          </p:nvSpPr>
          <p:spPr>
            <a:xfrm>
              <a:off x="0" y="-1"/>
              <a:ext cx="623300" cy="625407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49" name="Shape 1231"/>
            <p:cNvSpPr txBox="1"/>
            <p:nvPr/>
          </p:nvSpPr>
          <p:spPr>
            <a:xfrm>
              <a:off x="58936" y="38031"/>
              <a:ext cx="527700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27</a:t>
              </a:r>
            </a:p>
          </p:txBody>
        </p:sp>
      </p:grpSp>
      <p:grpSp>
        <p:nvGrpSpPr>
          <p:cNvPr id="1353" name="Group 1235"/>
          <p:cNvGrpSpPr/>
          <p:nvPr/>
        </p:nvGrpSpPr>
        <p:grpSpPr>
          <a:xfrm>
            <a:off x="8244071" y="2801902"/>
            <a:ext cx="624483" cy="623295"/>
            <a:chOff x="0" y="0"/>
            <a:chExt cx="624481" cy="623294"/>
          </a:xfrm>
        </p:grpSpPr>
        <p:sp>
          <p:nvSpPr>
            <p:cNvPr id="1351" name="Shape 1233"/>
            <p:cNvSpPr/>
            <p:nvPr/>
          </p:nvSpPr>
          <p:spPr>
            <a:xfrm>
              <a:off x="0" y="-1"/>
              <a:ext cx="624482" cy="623296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52" name="Shape 1234"/>
            <p:cNvSpPr txBox="1"/>
            <p:nvPr/>
          </p:nvSpPr>
          <p:spPr>
            <a:xfrm>
              <a:off x="37879" y="61272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13</a:t>
              </a:r>
            </a:p>
          </p:txBody>
        </p:sp>
      </p:grpSp>
      <p:grpSp>
        <p:nvGrpSpPr>
          <p:cNvPr id="1356" name="Group 1238"/>
          <p:cNvGrpSpPr/>
          <p:nvPr/>
        </p:nvGrpSpPr>
        <p:grpSpPr>
          <a:xfrm>
            <a:off x="10297724" y="2805852"/>
            <a:ext cx="626399" cy="623439"/>
            <a:chOff x="0" y="0"/>
            <a:chExt cx="626398" cy="623438"/>
          </a:xfrm>
        </p:grpSpPr>
        <p:sp>
          <p:nvSpPr>
            <p:cNvPr id="1354" name="Shape 1236"/>
            <p:cNvSpPr/>
            <p:nvPr/>
          </p:nvSpPr>
          <p:spPr>
            <a:xfrm>
              <a:off x="0" y="-1"/>
              <a:ext cx="626399" cy="623439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55" name="Shape 1237"/>
            <p:cNvSpPr txBox="1"/>
            <p:nvPr/>
          </p:nvSpPr>
          <p:spPr>
            <a:xfrm>
              <a:off x="75307" y="63400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13</a:t>
              </a:r>
            </a:p>
          </p:txBody>
        </p:sp>
      </p:grpSp>
      <p:grpSp>
        <p:nvGrpSpPr>
          <p:cNvPr id="1359" name="Group 1241"/>
          <p:cNvGrpSpPr/>
          <p:nvPr/>
        </p:nvGrpSpPr>
        <p:grpSpPr>
          <a:xfrm>
            <a:off x="7608710" y="3800967"/>
            <a:ext cx="623151" cy="620121"/>
            <a:chOff x="0" y="0"/>
            <a:chExt cx="623149" cy="620119"/>
          </a:xfrm>
        </p:grpSpPr>
        <p:sp>
          <p:nvSpPr>
            <p:cNvPr id="1357" name="Shape 1239"/>
            <p:cNvSpPr/>
            <p:nvPr/>
          </p:nvSpPr>
          <p:spPr>
            <a:xfrm>
              <a:off x="-1" y="-1"/>
              <a:ext cx="623151" cy="620121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58" name="Shape 1240"/>
            <p:cNvSpPr txBox="1"/>
            <p:nvPr/>
          </p:nvSpPr>
          <p:spPr>
            <a:xfrm>
              <a:off x="56753" y="75932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13</a:t>
              </a:r>
            </a:p>
          </p:txBody>
        </p:sp>
      </p:grpSp>
      <p:grpSp>
        <p:nvGrpSpPr>
          <p:cNvPr id="1362" name="Group 1244"/>
          <p:cNvGrpSpPr/>
          <p:nvPr/>
        </p:nvGrpSpPr>
        <p:grpSpPr>
          <a:xfrm>
            <a:off x="8734776" y="3800968"/>
            <a:ext cx="623301" cy="624625"/>
            <a:chOff x="0" y="0"/>
            <a:chExt cx="623299" cy="624623"/>
          </a:xfrm>
        </p:grpSpPr>
        <p:sp>
          <p:nvSpPr>
            <p:cNvPr id="1360" name="Shape 1242"/>
            <p:cNvSpPr/>
            <p:nvPr/>
          </p:nvSpPr>
          <p:spPr>
            <a:xfrm>
              <a:off x="0" y="0"/>
              <a:ext cx="623301" cy="624625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61" name="Shape 1243"/>
            <p:cNvSpPr txBox="1"/>
            <p:nvPr/>
          </p:nvSpPr>
          <p:spPr>
            <a:xfrm>
              <a:off x="58936" y="80188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76</a:t>
              </a:r>
            </a:p>
          </p:txBody>
        </p:sp>
      </p:grpSp>
      <p:grpSp>
        <p:nvGrpSpPr>
          <p:cNvPr id="1365" name="Group 1247"/>
          <p:cNvGrpSpPr/>
          <p:nvPr/>
        </p:nvGrpSpPr>
        <p:grpSpPr>
          <a:xfrm>
            <a:off x="6996852" y="4860995"/>
            <a:ext cx="623151" cy="625407"/>
            <a:chOff x="0" y="0"/>
            <a:chExt cx="623149" cy="625406"/>
          </a:xfrm>
        </p:grpSpPr>
        <p:sp>
          <p:nvSpPr>
            <p:cNvPr id="1363" name="Shape 1245"/>
            <p:cNvSpPr/>
            <p:nvPr/>
          </p:nvSpPr>
          <p:spPr>
            <a:xfrm>
              <a:off x="-1" y="-1"/>
              <a:ext cx="623151" cy="625407"/>
            </a:xfrm>
            <a:prstGeom prst="ellipse">
              <a:avLst/>
            </a:prstGeom>
            <a:solidFill>
              <a:srgbClr val="FFFFFF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64" name="Shape 1246"/>
            <p:cNvSpPr txBox="1"/>
            <p:nvPr/>
          </p:nvSpPr>
          <p:spPr>
            <a:xfrm>
              <a:off x="56754" y="38382"/>
              <a:ext cx="527700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97</a:t>
              </a:r>
            </a:p>
          </p:txBody>
        </p:sp>
      </p:grpSp>
      <p:grpSp>
        <p:nvGrpSpPr>
          <p:cNvPr id="1368" name="Group 1250"/>
          <p:cNvGrpSpPr/>
          <p:nvPr/>
        </p:nvGrpSpPr>
        <p:grpSpPr>
          <a:xfrm>
            <a:off x="10938650" y="3808870"/>
            <a:ext cx="623151" cy="625407"/>
            <a:chOff x="0" y="0"/>
            <a:chExt cx="623149" cy="625406"/>
          </a:xfrm>
        </p:grpSpPr>
        <p:sp>
          <p:nvSpPr>
            <p:cNvPr id="1366" name="Shape 1248"/>
            <p:cNvSpPr/>
            <p:nvPr/>
          </p:nvSpPr>
          <p:spPr>
            <a:xfrm>
              <a:off x="-1" y="-1"/>
              <a:ext cx="623151" cy="625407"/>
            </a:xfrm>
            <a:prstGeom prst="ellipse">
              <a:avLst/>
            </a:prstGeom>
            <a:solidFill>
              <a:srgbClr val="FFFFFF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67" name="Shape 1249"/>
            <p:cNvSpPr txBox="1"/>
            <p:nvPr/>
          </p:nvSpPr>
          <p:spPr>
            <a:xfrm>
              <a:off x="56754" y="39228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76</a:t>
              </a:r>
            </a:p>
          </p:txBody>
        </p:sp>
      </p:grpSp>
      <p:grpSp>
        <p:nvGrpSpPr>
          <p:cNvPr id="1371" name="Group 1253"/>
          <p:cNvGrpSpPr/>
          <p:nvPr/>
        </p:nvGrpSpPr>
        <p:grpSpPr>
          <a:xfrm>
            <a:off x="9761219" y="3804354"/>
            <a:ext cx="623151" cy="625409"/>
            <a:chOff x="0" y="0"/>
            <a:chExt cx="623149" cy="625407"/>
          </a:xfrm>
        </p:grpSpPr>
        <p:sp>
          <p:nvSpPr>
            <p:cNvPr id="1369" name="Shape 1251"/>
            <p:cNvSpPr/>
            <p:nvPr/>
          </p:nvSpPr>
          <p:spPr>
            <a:xfrm>
              <a:off x="-1" y="-1"/>
              <a:ext cx="623151" cy="625409"/>
            </a:xfrm>
            <a:prstGeom prst="ellipse">
              <a:avLst/>
            </a:prstGeom>
            <a:solidFill>
              <a:srgbClr val="FFFFFF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70" name="Shape 1252"/>
            <p:cNvSpPr txBox="1"/>
            <p:nvPr/>
          </p:nvSpPr>
          <p:spPr>
            <a:xfrm>
              <a:off x="56754" y="38382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65</a:t>
              </a:r>
            </a:p>
          </p:txBody>
        </p:sp>
      </p:grpSp>
      <p:grpSp>
        <p:nvGrpSpPr>
          <p:cNvPr id="1374" name="Group 1256"/>
          <p:cNvGrpSpPr/>
          <p:nvPr/>
        </p:nvGrpSpPr>
        <p:grpSpPr>
          <a:xfrm>
            <a:off x="8739292" y="3809999"/>
            <a:ext cx="623151" cy="625407"/>
            <a:chOff x="0" y="0"/>
            <a:chExt cx="623149" cy="625406"/>
          </a:xfrm>
        </p:grpSpPr>
        <p:sp>
          <p:nvSpPr>
            <p:cNvPr id="1372" name="Shape 1254"/>
            <p:cNvSpPr/>
            <p:nvPr/>
          </p:nvSpPr>
          <p:spPr>
            <a:xfrm>
              <a:off x="-1" y="-1"/>
              <a:ext cx="623151" cy="625407"/>
            </a:xfrm>
            <a:prstGeom prst="ellipse">
              <a:avLst/>
            </a:prstGeom>
            <a:solidFill>
              <a:srgbClr val="FFFFFF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73" name="Shape 1255"/>
            <p:cNvSpPr txBox="1"/>
            <p:nvPr/>
          </p:nvSpPr>
          <p:spPr>
            <a:xfrm>
              <a:off x="56754" y="37535"/>
              <a:ext cx="527700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50</a:t>
              </a:r>
            </a:p>
          </p:txBody>
        </p:sp>
      </p:grpSp>
      <p:grpSp>
        <p:nvGrpSpPr>
          <p:cNvPr id="1377" name="Group 1259"/>
          <p:cNvGrpSpPr/>
          <p:nvPr/>
        </p:nvGrpSpPr>
        <p:grpSpPr>
          <a:xfrm>
            <a:off x="7613225" y="3809999"/>
            <a:ext cx="623151" cy="625407"/>
            <a:chOff x="0" y="0"/>
            <a:chExt cx="623149" cy="625406"/>
          </a:xfrm>
        </p:grpSpPr>
        <p:sp>
          <p:nvSpPr>
            <p:cNvPr id="1375" name="Shape 1257"/>
            <p:cNvSpPr/>
            <p:nvPr/>
          </p:nvSpPr>
          <p:spPr>
            <a:xfrm>
              <a:off x="-1" y="-1"/>
              <a:ext cx="623151" cy="625407"/>
            </a:xfrm>
            <a:prstGeom prst="ellipse">
              <a:avLst/>
            </a:prstGeom>
            <a:solidFill>
              <a:srgbClr val="FFFFFF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76" name="Shape 1258"/>
            <p:cNvSpPr txBox="1"/>
            <p:nvPr/>
          </p:nvSpPr>
          <p:spPr>
            <a:xfrm>
              <a:off x="56754" y="37535"/>
              <a:ext cx="527700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49</a:t>
              </a:r>
            </a:p>
          </p:txBody>
        </p:sp>
      </p:grpSp>
      <p:grpSp>
        <p:nvGrpSpPr>
          <p:cNvPr id="1380" name="Group 1262"/>
          <p:cNvGrpSpPr/>
          <p:nvPr/>
        </p:nvGrpSpPr>
        <p:grpSpPr>
          <a:xfrm>
            <a:off x="10293208" y="2799079"/>
            <a:ext cx="623151" cy="625407"/>
            <a:chOff x="0" y="0"/>
            <a:chExt cx="623149" cy="625406"/>
          </a:xfrm>
        </p:grpSpPr>
        <p:sp>
          <p:nvSpPr>
            <p:cNvPr id="1378" name="Shape 1260"/>
            <p:cNvSpPr/>
            <p:nvPr/>
          </p:nvSpPr>
          <p:spPr>
            <a:xfrm>
              <a:off x="-1" y="-1"/>
              <a:ext cx="623151" cy="625407"/>
            </a:xfrm>
            <a:prstGeom prst="ellipse">
              <a:avLst/>
            </a:prstGeom>
            <a:solidFill>
              <a:srgbClr val="FFFFFF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79" name="Shape 1261"/>
            <p:cNvSpPr txBox="1"/>
            <p:nvPr/>
          </p:nvSpPr>
          <p:spPr>
            <a:xfrm>
              <a:off x="56755" y="38382"/>
              <a:ext cx="527700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38</a:t>
              </a:r>
            </a:p>
          </p:txBody>
        </p:sp>
      </p:grpSp>
      <p:grpSp>
        <p:nvGrpSpPr>
          <p:cNvPr id="1383" name="Group 1265"/>
          <p:cNvGrpSpPr/>
          <p:nvPr/>
        </p:nvGrpSpPr>
        <p:grpSpPr>
          <a:xfrm>
            <a:off x="8244737" y="2797456"/>
            <a:ext cx="623149" cy="625409"/>
            <a:chOff x="0" y="0"/>
            <a:chExt cx="623148" cy="625407"/>
          </a:xfrm>
        </p:grpSpPr>
        <p:sp>
          <p:nvSpPr>
            <p:cNvPr id="1381" name="Shape 1263"/>
            <p:cNvSpPr/>
            <p:nvPr/>
          </p:nvSpPr>
          <p:spPr>
            <a:xfrm>
              <a:off x="-1" y="-1"/>
              <a:ext cx="623149" cy="625409"/>
            </a:xfrm>
            <a:prstGeom prst="ellipse">
              <a:avLst/>
            </a:prstGeom>
            <a:solidFill>
              <a:srgbClr val="FFFFFF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82" name="Shape 1264"/>
            <p:cNvSpPr txBox="1"/>
            <p:nvPr/>
          </p:nvSpPr>
          <p:spPr>
            <a:xfrm>
              <a:off x="56753" y="42051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27</a:t>
              </a:r>
            </a:p>
          </p:txBody>
        </p:sp>
      </p:grpSp>
      <p:grpSp>
        <p:nvGrpSpPr>
          <p:cNvPr id="1386" name="Group 1268"/>
          <p:cNvGrpSpPr/>
          <p:nvPr/>
        </p:nvGrpSpPr>
        <p:grpSpPr>
          <a:xfrm>
            <a:off x="9351791" y="1713652"/>
            <a:ext cx="623149" cy="625407"/>
            <a:chOff x="0" y="0"/>
            <a:chExt cx="623148" cy="625406"/>
          </a:xfrm>
        </p:grpSpPr>
        <p:sp>
          <p:nvSpPr>
            <p:cNvPr id="1384" name="Shape 1266"/>
            <p:cNvSpPr/>
            <p:nvPr/>
          </p:nvSpPr>
          <p:spPr>
            <a:xfrm>
              <a:off x="-1" y="-1"/>
              <a:ext cx="623149" cy="625407"/>
            </a:xfrm>
            <a:prstGeom prst="ellipse">
              <a:avLst/>
            </a:prstGeom>
            <a:solidFill>
              <a:srgbClr val="333399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85" name="Shape 1267"/>
            <p:cNvSpPr txBox="1"/>
            <p:nvPr/>
          </p:nvSpPr>
          <p:spPr>
            <a:xfrm>
              <a:off x="59012" y="64629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13</a:t>
              </a:r>
            </a:p>
          </p:txBody>
        </p:sp>
      </p:grpSp>
      <p:sp>
        <p:nvSpPr>
          <p:cNvPr id="1387" name="Shape 1269"/>
          <p:cNvSpPr txBox="1"/>
          <p:nvPr>
            <p:ph type="title"/>
          </p:nvPr>
        </p:nvSpPr>
        <p:spPr>
          <a:xfrm>
            <a:off x="1643661" y="85654"/>
            <a:ext cx="9448801" cy="1003301"/>
          </a:xfrm>
          <a:prstGeom prst="rect">
            <a:avLst/>
          </a:prstGeom>
        </p:spPr>
        <p:txBody>
          <a:bodyPr/>
          <a:lstStyle/>
          <a:p>
            <a:pPr/>
            <a:r>
              <a:t>堆排序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Class="entr" nodeType="after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Class="exit" nodeType="clickEffect" presetSubtype="2" presetID="2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wipe(right)" transition="out">
                                      <p:cBhvr>
                                        <p:cTn id="13" dur="500" fill="hold"/>
                                        <p:tgtEl>
                                          <p:spTgt spid="13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Class="entr" nodeType="after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1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Class="entr" nodeType="clickEffect" presetSubtype="8" presetID="22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1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6" dur="500"/>
                                        <p:tgtEl>
                                          <p:spTgt spid="1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Class="entr" nodeType="afterEffect" presetSubtype="0" presetID="1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Class="entr" nodeType="afterEffect" presetSubtype="0" presetID="1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1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Class="entr" nodeType="afterEffect" presetSubtype="0" presetID="1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1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Class="entr" nodeType="afterEffect" presetSubtype="0" presetID="1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1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Class="entr" nodeType="afterEffect" presetSubtype="0" presetID="1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" fill="hold"/>
                                        <p:tgtEl>
                                          <p:spTgt spid="1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Class="entr" nodeType="afterEffect" presetSubtype="0" presetID="1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Class="entr" nodeType="afterEffect" presetSubtype="0" presetID="1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1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Class="entr" nodeType="afterEffect" presetSubtype="0" presetID="1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1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Class="entr" nodeType="afterEffect" presetSubtype="0" presetID="1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7" fill="hold"/>
                                        <p:tgtEl>
                                          <p:spTgt spid="1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Class="entr" nodeType="afterEffect" presetSubtype="0" presetID="1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0" fill="hold"/>
                                        <p:tgtEl>
                                          <p:spTgt spid="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Class="entr" nodeType="afterEffect" presetSubtype="0" presetID="1" grpId="1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3" fill="hold"/>
                                        <p:tgtEl>
                                          <p:spTgt spid="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Class="entr" nodeType="clickEffect" presetSubtype="0" presetID="1" grpId="1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7" fill="hold"/>
                                        <p:tgtEl>
                                          <p:spTgt spid="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Class="entr" nodeType="afterEffect" presetSubtype="0" presetID="1" grpId="2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0" fill="hold"/>
                                        <p:tgtEl>
                                          <p:spTgt spid="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Class="exit" nodeType="clickEffect" presetSubtype="2" presetID="22" grpId="2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wipe(right)" transition="out">
                                      <p:cBhvr>
                                        <p:cTn id="74" dur="500" fill="hold"/>
                                        <p:tgtEl>
                                          <p:spTgt spid="13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383" grpId="19"/>
      <p:bldP build="whole" bldLvl="1" animBg="1" rev="0" advAuto="0" spid="1386" grpId="20"/>
      <p:bldP build="whole" bldLvl="1" animBg="1" rev="0" advAuto="0" spid="1347" grpId="21"/>
      <p:bldP build="whole" bldLvl="1" animBg="1" rev="0" advAuto="0" spid="1350" grpId="8"/>
      <p:bldP build="whole" bldLvl="1" animBg="1" rev="0" advAuto="0" spid="1359" grpId="11"/>
      <p:bldP build="whole" bldLvl="1" animBg="1" rev="0" advAuto="0" spid="1353" grpId="9"/>
      <p:bldP build="whole" bldLvl="1" animBg="1" rev="0" advAuto="0" spid="1362" grpId="12"/>
      <p:bldP build="whole" bldLvl="1" animBg="1" rev="0" advAuto="0" spid="1356" grpId="10"/>
      <p:bldP build="whole" bldLvl="1" animBg="1" rev="0" advAuto="0" spid="1365" grpId="13"/>
      <p:bldP build="whole" bldLvl="1" animBg="1" rev="0" advAuto="0" spid="1368" grpId="14"/>
      <p:bldP build="whole" bldLvl="1" animBg="1" rev="0" advAuto="0" spid="1331" grpId="2"/>
      <p:bldP build="whole" bldLvl="1" animBg="1" rev="0" advAuto="0" spid="1371" grpId="15"/>
      <p:bldP build="whole" bldLvl="1" animBg="1" rev="0" advAuto="0" spid="1306" grpId="3"/>
      <p:bldP build="whole" bldLvl="1" animBg="1" rev="0" advAuto="0" spid="1334" grpId="4"/>
      <p:bldP build="whole" bldLvl="1" animBg="1" rev="0" advAuto="0" spid="1374" grpId="16"/>
      <p:bldP build="whole" bldLvl="1" animBg="1" rev="0" advAuto="0" spid="1347" grpId="7"/>
      <p:bldP build="whole" bldLvl="1" animBg="1" rev="0" advAuto="0" spid="1305" grpId="6"/>
      <p:bldP build="whole" bldLvl="1" animBg="1" rev="0" advAuto="0" spid="1377" grpId="17"/>
      <p:bldP build="whole" bldLvl="1" animBg="1" rev="0" advAuto="0" spid="1346" grpId="1"/>
      <p:bldP build="whole" bldLvl="1" animBg="1" rev="0" advAuto="0" spid="1343" grpId="5"/>
      <p:bldP build="whole" bldLvl="1" animBg="1" rev="0" advAuto="0" spid="1380" grpId="18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1" name="Group 1276"/>
          <p:cNvGrpSpPr/>
          <p:nvPr/>
        </p:nvGrpSpPr>
        <p:grpSpPr>
          <a:xfrm>
            <a:off x="4778382" y="2394654"/>
            <a:ext cx="624482" cy="623296"/>
            <a:chOff x="0" y="0"/>
            <a:chExt cx="624481" cy="623294"/>
          </a:xfrm>
        </p:grpSpPr>
        <p:sp>
          <p:nvSpPr>
            <p:cNvPr id="1389" name="Shape 1274"/>
            <p:cNvSpPr/>
            <p:nvPr/>
          </p:nvSpPr>
          <p:spPr>
            <a:xfrm>
              <a:off x="0" y="-1"/>
              <a:ext cx="624482" cy="623296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90" name="Shape 1275"/>
            <p:cNvSpPr txBox="1"/>
            <p:nvPr/>
          </p:nvSpPr>
          <p:spPr>
            <a:xfrm>
              <a:off x="37379" y="61272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13</a:t>
              </a:r>
            </a:p>
          </p:txBody>
        </p:sp>
      </p:grpSp>
      <p:grpSp>
        <p:nvGrpSpPr>
          <p:cNvPr id="1394" name="Group 1279"/>
          <p:cNvGrpSpPr/>
          <p:nvPr/>
        </p:nvGrpSpPr>
        <p:grpSpPr>
          <a:xfrm>
            <a:off x="6832034" y="2400299"/>
            <a:ext cx="626399" cy="623439"/>
            <a:chOff x="0" y="0"/>
            <a:chExt cx="626398" cy="623438"/>
          </a:xfrm>
        </p:grpSpPr>
        <p:sp>
          <p:nvSpPr>
            <p:cNvPr id="1392" name="Shape 1277"/>
            <p:cNvSpPr/>
            <p:nvPr/>
          </p:nvSpPr>
          <p:spPr>
            <a:xfrm>
              <a:off x="0" y="-1"/>
              <a:ext cx="626399" cy="623439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93" name="Shape 1278"/>
            <p:cNvSpPr txBox="1"/>
            <p:nvPr/>
          </p:nvSpPr>
          <p:spPr>
            <a:xfrm>
              <a:off x="75308" y="61706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13</a:t>
              </a:r>
            </a:p>
          </p:txBody>
        </p:sp>
      </p:grpSp>
      <p:grpSp>
        <p:nvGrpSpPr>
          <p:cNvPr id="1397" name="Group 1282"/>
          <p:cNvGrpSpPr/>
          <p:nvPr/>
        </p:nvGrpSpPr>
        <p:grpSpPr>
          <a:xfrm>
            <a:off x="4143021" y="3393721"/>
            <a:ext cx="623151" cy="620121"/>
            <a:chOff x="0" y="0"/>
            <a:chExt cx="623149" cy="620119"/>
          </a:xfrm>
        </p:grpSpPr>
        <p:sp>
          <p:nvSpPr>
            <p:cNvPr id="1395" name="Shape 1280"/>
            <p:cNvSpPr/>
            <p:nvPr/>
          </p:nvSpPr>
          <p:spPr>
            <a:xfrm>
              <a:off x="-1" y="-1"/>
              <a:ext cx="623151" cy="620121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96" name="Shape 1281"/>
            <p:cNvSpPr txBox="1"/>
            <p:nvPr/>
          </p:nvSpPr>
          <p:spPr>
            <a:xfrm>
              <a:off x="56754" y="75932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13</a:t>
              </a:r>
            </a:p>
          </p:txBody>
        </p:sp>
      </p:grpSp>
      <p:grpSp>
        <p:nvGrpSpPr>
          <p:cNvPr id="1400" name="Group 1285"/>
          <p:cNvGrpSpPr/>
          <p:nvPr/>
        </p:nvGrpSpPr>
        <p:grpSpPr>
          <a:xfrm>
            <a:off x="5357988" y="3393721"/>
            <a:ext cx="623301" cy="624625"/>
            <a:chOff x="0" y="0"/>
            <a:chExt cx="623299" cy="624623"/>
          </a:xfrm>
        </p:grpSpPr>
        <p:sp>
          <p:nvSpPr>
            <p:cNvPr id="1398" name="Shape 1283"/>
            <p:cNvSpPr/>
            <p:nvPr/>
          </p:nvSpPr>
          <p:spPr>
            <a:xfrm>
              <a:off x="0" y="0"/>
              <a:ext cx="623301" cy="624625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99" name="Shape 1284"/>
            <p:cNvSpPr txBox="1"/>
            <p:nvPr/>
          </p:nvSpPr>
          <p:spPr>
            <a:xfrm>
              <a:off x="58936" y="80188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76</a:t>
              </a:r>
            </a:p>
          </p:txBody>
        </p:sp>
      </p:grpSp>
      <p:grpSp>
        <p:nvGrpSpPr>
          <p:cNvPr id="1403" name="Group 1288"/>
          <p:cNvGrpSpPr/>
          <p:nvPr/>
        </p:nvGrpSpPr>
        <p:grpSpPr>
          <a:xfrm>
            <a:off x="3531163" y="4453749"/>
            <a:ext cx="623151" cy="625407"/>
            <a:chOff x="0" y="0"/>
            <a:chExt cx="623149" cy="625406"/>
          </a:xfrm>
        </p:grpSpPr>
        <p:sp>
          <p:nvSpPr>
            <p:cNvPr id="1401" name="Shape 1286"/>
            <p:cNvSpPr/>
            <p:nvPr/>
          </p:nvSpPr>
          <p:spPr>
            <a:xfrm>
              <a:off x="-1" y="-1"/>
              <a:ext cx="623151" cy="625407"/>
            </a:xfrm>
            <a:prstGeom prst="ellipse">
              <a:avLst/>
            </a:prstGeom>
            <a:solidFill>
              <a:srgbClr val="FFFFFF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02" name="Shape 1287"/>
            <p:cNvSpPr txBox="1"/>
            <p:nvPr/>
          </p:nvSpPr>
          <p:spPr>
            <a:xfrm>
              <a:off x="56754" y="38382"/>
              <a:ext cx="527700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97</a:t>
              </a:r>
            </a:p>
          </p:txBody>
        </p:sp>
      </p:grpSp>
      <p:grpSp>
        <p:nvGrpSpPr>
          <p:cNvPr id="1406" name="Group 1291"/>
          <p:cNvGrpSpPr/>
          <p:nvPr/>
        </p:nvGrpSpPr>
        <p:grpSpPr>
          <a:xfrm>
            <a:off x="7396761" y="3401624"/>
            <a:ext cx="623151" cy="625409"/>
            <a:chOff x="0" y="0"/>
            <a:chExt cx="623149" cy="625407"/>
          </a:xfrm>
        </p:grpSpPr>
        <p:sp>
          <p:nvSpPr>
            <p:cNvPr id="1404" name="Shape 1289"/>
            <p:cNvSpPr/>
            <p:nvPr/>
          </p:nvSpPr>
          <p:spPr>
            <a:xfrm>
              <a:off x="-1" y="-1"/>
              <a:ext cx="623151" cy="625409"/>
            </a:xfrm>
            <a:prstGeom prst="ellipse">
              <a:avLst/>
            </a:prstGeom>
            <a:solidFill>
              <a:srgbClr val="FFFFFF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05" name="Shape 1290"/>
            <p:cNvSpPr txBox="1"/>
            <p:nvPr/>
          </p:nvSpPr>
          <p:spPr>
            <a:xfrm>
              <a:off x="56754" y="38382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76</a:t>
              </a:r>
            </a:p>
          </p:txBody>
        </p:sp>
      </p:grpSp>
      <p:grpSp>
        <p:nvGrpSpPr>
          <p:cNvPr id="1409" name="Group 1294"/>
          <p:cNvGrpSpPr/>
          <p:nvPr/>
        </p:nvGrpSpPr>
        <p:grpSpPr>
          <a:xfrm>
            <a:off x="6308230" y="3397108"/>
            <a:ext cx="623149" cy="625409"/>
            <a:chOff x="0" y="0"/>
            <a:chExt cx="623148" cy="625407"/>
          </a:xfrm>
        </p:grpSpPr>
        <p:sp>
          <p:nvSpPr>
            <p:cNvPr id="1407" name="Shape 1292"/>
            <p:cNvSpPr/>
            <p:nvPr/>
          </p:nvSpPr>
          <p:spPr>
            <a:xfrm>
              <a:off x="-1" y="-1"/>
              <a:ext cx="623149" cy="625409"/>
            </a:xfrm>
            <a:prstGeom prst="ellipse">
              <a:avLst/>
            </a:prstGeom>
            <a:solidFill>
              <a:srgbClr val="FFFFFF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08" name="Shape 1293"/>
            <p:cNvSpPr txBox="1"/>
            <p:nvPr/>
          </p:nvSpPr>
          <p:spPr>
            <a:xfrm>
              <a:off x="56755" y="44591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65</a:t>
              </a:r>
            </a:p>
          </p:txBody>
        </p:sp>
      </p:grpSp>
      <p:grpSp>
        <p:nvGrpSpPr>
          <p:cNvPr id="1412" name="Group 1297"/>
          <p:cNvGrpSpPr/>
          <p:nvPr/>
        </p:nvGrpSpPr>
        <p:grpSpPr>
          <a:xfrm>
            <a:off x="5362504" y="3401905"/>
            <a:ext cx="623151" cy="625409"/>
            <a:chOff x="0" y="0"/>
            <a:chExt cx="623149" cy="625407"/>
          </a:xfrm>
        </p:grpSpPr>
        <p:sp>
          <p:nvSpPr>
            <p:cNvPr id="1410" name="Shape 1295"/>
            <p:cNvSpPr/>
            <p:nvPr/>
          </p:nvSpPr>
          <p:spPr>
            <a:xfrm>
              <a:off x="-1" y="-1"/>
              <a:ext cx="623151" cy="625409"/>
            </a:xfrm>
            <a:prstGeom prst="ellipse">
              <a:avLst/>
            </a:prstGeom>
            <a:solidFill>
              <a:srgbClr val="FFFFFF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11" name="Shape 1296"/>
            <p:cNvSpPr txBox="1"/>
            <p:nvPr/>
          </p:nvSpPr>
          <p:spPr>
            <a:xfrm>
              <a:off x="56755" y="38382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50</a:t>
              </a:r>
            </a:p>
          </p:txBody>
        </p:sp>
      </p:grpSp>
      <p:grpSp>
        <p:nvGrpSpPr>
          <p:cNvPr id="1415" name="Group 1300"/>
          <p:cNvGrpSpPr/>
          <p:nvPr/>
        </p:nvGrpSpPr>
        <p:grpSpPr>
          <a:xfrm>
            <a:off x="4147537" y="3401905"/>
            <a:ext cx="623151" cy="625409"/>
            <a:chOff x="0" y="0"/>
            <a:chExt cx="623149" cy="625407"/>
          </a:xfrm>
        </p:grpSpPr>
        <p:sp>
          <p:nvSpPr>
            <p:cNvPr id="1413" name="Shape 1298"/>
            <p:cNvSpPr/>
            <p:nvPr/>
          </p:nvSpPr>
          <p:spPr>
            <a:xfrm>
              <a:off x="-1" y="-1"/>
              <a:ext cx="623151" cy="625409"/>
            </a:xfrm>
            <a:prstGeom prst="ellipse">
              <a:avLst/>
            </a:prstGeom>
            <a:solidFill>
              <a:srgbClr val="FFFFFF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14" name="Shape 1299"/>
            <p:cNvSpPr txBox="1"/>
            <p:nvPr/>
          </p:nvSpPr>
          <p:spPr>
            <a:xfrm>
              <a:off x="56754" y="38382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49</a:t>
              </a:r>
            </a:p>
          </p:txBody>
        </p:sp>
      </p:grpSp>
      <p:grpSp>
        <p:nvGrpSpPr>
          <p:cNvPr id="1418" name="Group 1303"/>
          <p:cNvGrpSpPr/>
          <p:nvPr/>
        </p:nvGrpSpPr>
        <p:grpSpPr>
          <a:xfrm>
            <a:off x="6832599" y="2391833"/>
            <a:ext cx="623149" cy="625407"/>
            <a:chOff x="0" y="0"/>
            <a:chExt cx="623148" cy="625406"/>
          </a:xfrm>
        </p:grpSpPr>
        <p:sp>
          <p:nvSpPr>
            <p:cNvPr id="1416" name="Shape 1301"/>
            <p:cNvSpPr/>
            <p:nvPr/>
          </p:nvSpPr>
          <p:spPr>
            <a:xfrm>
              <a:off x="-1" y="-1"/>
              <a:ext cx="623149" cy="625407"/>
            </a:xfrm>
            <a:prstGeom prst="ellipse">
              <a:avLst/>
            </a:prstGeom>
            <a:solidFill>
              <a:srgbClr val="FFFFFF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17" name="Shape 1302"/>
            <p:cNvSpPr txBox="1"/>
            <p:nvPr/>
          </p:nvSpPr>
          <p:spPr>
            <a:xfrm>
              <a:off x="51674" y="38382"/>
              <a:ext cx="527700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38</a:t>
              </a:r>
            </a:p>
          </p:txBody>
        </p:sp>
      </p:grpSp>
      <p:grpSp>
        <p:nvGrpSpPr>
          <p:cNvPr id="1421" name="Group 1306"/>
          <p:cNvGrpSpPr/>
          <p:nvPr/>
        </p:nvGrpSpPr>
        <p:grpSpPr>
          <a:xfrm>
            <a:off x="4777457" y="2395502"/>
            <a:ext cx="623149" cy="625407"/>
            <a:chOff x="0" y="0"/>
            <a:chExt cx="623148" cy="625406"/>
          </a:xfrm>
        </p:grpSpPr>
        <p:sp>
          <p:nvSpPr>
            <p:cNvPr id="1419" name="Shape 1304"/>
            <p:cNvSpPr/>
            <p:nvPr/>
          </p:nvSpPr>
          <p:spPr>
            <a:xfrm>
              <a:off x="-1" y="-1"/>
              <a:ext cx="623149" cy="625407"/>
            </a:xfrm>
            <a:prstGeom prst="ellipse">
              <a:avLst/>
            </a:prstGeom>
            <a:solidFill>
              <a:srgbClr val="FFFFFF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20" name="Shape 1305"/>
            <p:cNvSpPr txBox="1"/>
            <p:nvPr/>
          </p:nvSpPr>
          <p:spPr>
            <a:xfrm>
              <a:off x="56754" y="38382"/>
              <a:ext cx="527700" cy="4928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27</a:t>
              </a:r>
            </a:p>
          </p:txBody>
        </p:sp>
      </p:grpSp>
      <p:grpSp>
        <p:nvGrpSpPr>
          <p:cNvPr id="1424" name="Group 1309"/>
          <p:cNvGrpSpPr/>
          <p:nvPr/>
        </p:nvGrpSpPr>
        <p:grpSpPr>
          <a:xfrm>
            <a:off x="5803053" y="1408005"/>
            <a:ext cx="623151" cy="625409"/>
            <a:chOff x="0" y="0"/>
            <a:chExt cx="623149" cy="625407"/>
          </a:xfrm>
        </p:grpSpPr>
        <p:sp>
          <p:nvSpPr>
            <p:cNvPr id="1422" name="Shape 1307"/>
            <p:cNvSpPr/>
            <p:nvPr/>
          </p:nvSpPr>
          <p:spPr>
            <a:xfrm>
              <a:off x="-1" y="-1"/>
              <a:ext cx="623151" cy="625409"/>
            </a:xfrm>
            <a:prstGeom prst="ellipse">
              <a:avLst/>
            </a:prstGeom>
            <a:solidFill>
              <a:srgbClr val="FFFFFF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23" name="Shape 1308"/>
            <p:cNvSpPr txBox="1"/>
            <p:nvPr/>
          </p:nvSpPr>
          <p:spPr>
            <a:xfrm>
              <a:off x="56754" y="38382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13</a:t>
              </a:r>
            </a:p>
          </p:txBody>
        </p:sp>
      </p:grpSp>
      <p:sp>
        <p:nvSpPr>
          <p:cNvPr id="1425" name="Shape 1310"/>
          <p:cNvSpPr txBox="1"/>
          <p:nvPr>
            <p:ph type="title"/>
          </p:nvPr>
        </p:nvSpPr>
        <p:spPr>
          <a:xfrm>
            <a:off x="1643661" y="156492"/>
            <a:ext cx="9448801" cy="1003301"/>
          </a:xfrm>
          <a:prstGeom prst="rect">
            <a:avLst/>
          </a:prstGeom>
        </p:spPr>
        <p:txBody>
          <a:bodyPr/>
          <a:lstStyle/>
          <a:p>
            <a:pPr/>
            <a:r>
              <a:t>堆排序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Shape 490"/>
          <p:cNvSpPr txBox="1"/>
          <p:nvPr/>
        </p:nvSpPr>
        <p:spPr>
          <a:xfrm>
            <a:off x="1197750" y="1372728"/>
            <a:ext cx="11125203" cy="303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>
              <a:lnSpc>
                <a:spcPct val="150000"/>
              </a:lnSpc>
            </a:pPr>
            <a:r>
              <a:t>方法：</a:t>
            </a:r>
          </a:p>
          <a:p>
            <a:pPr lvl="1" marL="681789" indent="-300789">
              <a:lnSpc>
                <a:spcPct val="150000"/>
              </a:lnSpc>
              <a:buSzPct val="60000"/>
              <a:buBlip>
                <a:blip r:embed="rId2"/>
              </a:buBlip>
            </a:pPr>
            <a:r>
              <a:t>将队列想像成一棵完全二叉树</a:t>
            </a:r>
          </a:p>
          <a:p>
            <a:pPr lvl="1" marL="681789" indent="-300789">
              <a:lnSpc>
                <a:spcPct val="150000"/>
              </a:lnSpc>
              <a:buSzPct val="60000"/>
              <a:buBlip>
                <a:blip r:embed="rId2"/>
              </a:buBlip>
            </a:pPr>
            <a:r>
              <a:t>自底向上，按层调整，将每个子树调整成堆</a:t>
            </a:r>
          </a:p>
          <a:p>
            <a:pPr indent="0">
              <a:lnSpc>
                <a:spcPct val="150000"/>
              </a:lnSpc>
            </a:pPr>
            <a:r>
              <a:t> 注意：首先调整的是第</a:t>
            </a:r>
            <a:r>
              <a:rPr>
                <a:solidFill>
                  <a:srgbClr val="993300"/>
                </a:solidFill>
                <a:uFill>
                  <a:solidFill>
                    <a:srgbClr val="993300"/>
                  </a:solidFill>
                </a:uFill>
              </a:rPr>
              <a:t>⎣</a:t>
            </a:r>
            <a:r>
              <a:rPr b="1">
                <a:solidFill>
                  <a:srgbClr val="993300"/>
                </a:solidFill>
                <a:uFill>
                  <a:solidFill>
                    <a:srgbClr val="993300"/>
                  </a:solidFill>
                </a:uFill>
              </a:rPr>
              <a:t>n/2</a:t>
            </a:r>
            <a:r>
              <a:rPr>
                <a:solidFill>
                  <a:srgbClr val="993300"/>
                </a:solidFill>
                <a:uFill>
                  <a:solidFill>
                    <a:srgbClr val="993300"/>
                  </a:solidFill>
                </a:uFill>
              </a:rPr>
              <a:t>⎦ - 1</a:t>
            </a:r>
            <a:r>
              <a:t>号结点</a:t>
            </a:r>
          </a:p>
        </p:txBody>
      </p:sp>
      <p:sp>
        <p:nvSpPr>
          <p:cNvPr id="1428" name="Shape 491"/>
          <p:cNvSpPr txBox="1"/>
          <p:nvPr>
            <p:ph type="title"/>
          </p:nvPr>
        </p:nvSpPr>
        <p:spPr>
          <a:xfrm>
            <a:off x="1755422" y="55879"/>
            <a:ext cx="9448801" cy="1003301"/>
          </a:xfrm>
          <a:prstGeom prst="rect">
            <a:avLst/>
          </a:prstGeom>
        </p:spPr>
        <p:txBody>
          <a:bodyPr/>
          <a:lstStyle/>
          <a:p>
            <a:pPr/>
            <a:r>
              <a:t>建堆过程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1" name="Group 524"/>
          <p:cNvGrpSpPr/>
          <p:nvPr/>
        </p:nvGrpSpPr>
        <p:grpSpPr>
          <a:xfrm>
            <a:off x="3880451" y="2808343"/>
            <a:ext cx="4493538" cy="3786501"/>
            <a:chOff x="0" y="0"/>
            <a:chExt cx="4493536" cy="3786499"/>
          </a:xfrm>
        </p:grpSpPr>
        <p:sp>
          <p:nvSpPr>
            <p:cNvPr id="1430" name="Shape 493"/>
            <p:cNvSpPr/>
            <p:nvPr/>
          </p:nvSpPr>
          <p:spPr>
            <a:xfrm>
              <a:off x="2800286" y="439504"/>
              <a:ext cx="622054" cy="623337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31" name="Shape 494"/>
            <p:cNvSpPr/>
            <p:nvPr/>
          </p:nvSpPr>
          <p:spPr>
            <a:xfrm flipH="1">
              <a:off x="1509793" y="475424"/>
              <a:ext cx="780202" cy="625450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32" name="Shape 495"/>
            <p:cNvSpPr/>
            <p:nvPr/>
          </p:nvSpPr>
          <p:spPr>
            <a:xfrm flipH="1">
              <a:off x="913044" y="1629123"/>
              <a:ext cx="383776" cy="623337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33" name="Shape 496"/>
            <p:cNvSpPr/>
            <p:nvPr/>
          </p:nvSpPr>
          <p:spPr>
            <a:xfrm>
              <a:off x="1613115" y="1531925"/>
              <a:ext cx="478666" cy="767021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34" name="Shape 497"/>
            <p:cNvSpPr/>
            <p:nvPr/>
          </p:nvSpPr>
          <p:spPr>
            <a:xfrm flipH="1">
              <a:off x="3017477" y="1629123"/>
              <a:ext cx="383776" cy="623337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35" name="Shape 498"/>
            <p:cNvSpPr/>
            <p:nvPr/>
          </p:nvSpPr>
          <p:spPr>
            <a:xfrm>
              <a:off x="3622659" y="1531925"/>
              <a:ext cx="573555" cy="767021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36" name="Shape 499"/>
            <p:cNvSpPr/>
            <p:nvPr/>
          </p:nvSpPr>
          <p:spPr>
            <a:xfrm flipH="1">
              <a:off x="274124" y="2683511"/>
              <a:ext cx="383776" cy="623337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1439" name="Group 502"/>
            <p:cNvGrpSpPr/>
            <p:nvPr/>
          </p:nvGrpSpPr>
          <p:grpSpPr>
            <a:xfrm>
              <a:off x="2209864" y="-1"/>
              <a:ext cx="624165" cy="655366"/>
              <a:chOff x="0" y="0"/>
              <a:chExt cx="624163" cy="655365"/>
            </a:xfrm>
          </p:grpSpPr>
          <p:sp>
            <p:nvSpPr>
              <p:cNvPr id="1437" name="Shape 500"/>
              <p:cNvSpPr/>
              <p:nvPr/>
            </p:nvSpPr>
            <p:spPr>
              <a:xfrm>
                <a:off x="0" y="29915"/>
                <a:ext cx="624164" cy="625451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438" name="Shape 501"/>
              <p:cNvSpPr txBox="1"/>
              <p:nvPr/>
            </p:nvSpPr>
            <p:spPr>
              <a:xfrm>
                <a:off x="46670" y="0"/>
                <a:ext cx="553100" cy="51721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49</a:t>
                </a:r>
              </a:p>
            </p:txBody>
          </p:sp>
        </p:grpSp>
        <p:grpSp>
          <p:nvGrpSpPr>
            <p:cNvPr id="1442" name="Group 505"/>
            <p:cNvGrpSpPr/>
            <p:nvPr/>
          </p:nvGrpSpPr>
          <p:grpSpPr>
            <a:xfrm>
              <a:off x="1197712" y="1092421"/>
              <a:ext cx="624163" cy="631790"/>
              <a:chOff x="0" y="0"/>
              <a:chExt cx="624161" cy="631789"/>
            </a:xfrm>
          </p:grpSpPr>
          <p:sp>
            <p:nvSpPr>
              <p:cNvPr id="1440" name="Shape 503"/>
              <p:cNvSpPr/>
              <p:nvPr/>
            </p:nvSpPr>
            <p:spPr>
              <a:xfrm>
                <a:off x="0" y="8451"/>
                <a:ext cx="624162" cy="623339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441" name="Shape 504"/>
              <p:cNvSpPr txBox="1"/>
              <p:nvPr/>
            </p:nvSpPr>
            <p:spPr>
              <a:xfrm>
                <a:off x="24529" y="-1"/>
                <a:ext cx="553100" cy="517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38</a:t>
                </a:r>
              </a:p>
            </p:txBody>
          </p:sp>
        </p:grpSp>
        <p:grpSp>
          <p:nvGrpSpPr>
            <p:cNvPr id="1445" name="Group 508"/>
            <p:cNvGrpSpPr/>
            <p:nvPr/>
          </p:nvGrpSpPr>
          <p:grpSpPr>
            <a:xfrm>
              <a:off x="3188278" y="1079743"/>
              <a:ext cx="624163" cy="629677"/>
              <a:chOff x="0" y="0"/>
              <a:chExt cx="624161" cy="629676"/>
            </a:xfrm>
          </p:grpSpPr>
          <p:sp>
            <p:nvSpPr>
              <p:cNvPr id="1443" name="Shape 506"/>
              <p:cNvSpPr/>
              <p:nvPr/>
            </p:nvSpPr>
            <p:spPr>
              <a:xfrm>
                <a:off x="0" y="6338"/>
                <a:ext cx="624162" cy="623339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444" name="Shape 507"/>
              <p:cNvSpPr txBox="1"/>
              <p:nvPr/>
            </p:nvSpPr>
            <p:spPr>
              <a:xfrm>
                <a:off x="58674" y="0"/>
                <a:ext cx="553100" cy="51721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65</a:t>
                </a:r>
              </a:p>
            </p:txBody>
          </p:sp>
        </p:grpSp>
        <p:grpSp>
          <p:nvGrpSpPr>
            <p:cNvPr id="1448" name="Group 511"/>
            <p:cNvGrpSpPr/>
            <p:nvPr/>
          </p:nvGrpSpPr>
          <p:grpSpPr>
            <a:xfrm>
              <a:off x="499750" y="2106660"/>
              <a:ext cx="622055" cy="621227"/>
              <a:chOff x="0" y="0"/>
              <a:chExt cx="622053" cy="621225"/>
            </a:xfrm>
          </p:grpSpPr>
          <p:sp>
            <p:nvSpPr>
              <p:cNvPr id="1446" name="Shape 509"/>
              <p:cNvSpPr/>
              <p:nvPr/>
            </p:nvSpPr>
            <p:spPr>
              <a:xfrm>
                <a:off x="0" y="-1"/>
                <a:ext cx="622054" cy="621227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447" name="Shape 510"/>
              <p:cNvSpPr txBox="1"/>
              <p:nvPr/>
            </p:nvSpPr>
            <p:spPr>
              <a:xfrm>
                <a:off x="43507" y="6339"/>
                <a:ext cx="553100" cy="51721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97</a:t>
                </a:r>
              </a:p>
            </p:txBody>
          </p:sp>
        </p:grpSp>
        <p:grpSp>
          <p:nvGrpSpPr>
            <p:cNvPr id="1451" name="Group 514"/>
            <p:cNvGrpSpPr/>
            <p:nvPr/>
          </p:nvGrpSpPr>
          <p:grpSpPr>
            <a:xfrm>
              <a:off x="1853503" y="2106661"/>
              <a:ext cx="624163" cy="625451"/>
              <a:chOff x="0" y="0"/>
              <a:chExt cx="624161" cy="625450"/>
            </a:xfrm>
          </p:grpSpPr>
          <p:sp>
            <p:nvSpPr>
              <p:cNvPr id="1449" name="Shape 512"/>
              <p:cNvSpPr/>
              <p:nvPr/>
            </p:nvSpPr>
            <p:spPr>
              <a:xfrm>
                <a:off x="0" y="0"/>
                <a:ext cx="624162" cy="625451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450" name="Shape 513"/>
              <p:cNvSpPr txBox="1"/>
              <p:nvPr/>
            </p:nvSpPr>
            <p:spPr>
              <a:xfrm>
                <a:off x="46669" y="10565"/>
                <a:ext cx="553100" cy="51721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76</a:t>
                </a:r>
              </a:p>
            </p:txBody>
          </p:sp>
        </p:grpSp>
        <p:grpSp>
          <p:nvGrpSpPr>
            <p:cNvPr id="1454" name="Group 517"/>
            <p:cNvGrpSpPr/>
            <p:nvPr/>
          </p:nvGrpSpPr>
          <p:grpSpPr>
            <a:xfrm>
              <a:off x="2774982" y="2085531"/>
              <a:ext cx="622055" cy="621225"/>
              <a:chOff x="0" y="0"/>
              <a:chExt cx="622053" cy="621223"/>
            </a:xfrm>
          </p:grpSpPr>
          <p:sp>
            <p:nvSpPr>
              <p:cNvPr id="1452" name="Shape 515"/>
              <p:cNvSpPr/>
              <p:nvPr/>
            </p:nvSpPr>
            <p:spPr>
              <a:xfrm>
                <a:off x="0" y="0"/>
                <a:ext cx="622054" cy="621225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453" name="Shape 516"/>
              <p:cNvSpPr txBox="1"/>
              <p:nvPr/>
            </p:nvSpPr>
            <p:spPr>
              <a:xfrm>
                <a:off x="44561" y="6339"/>
                <a:ext cx="553100" cy="51721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13</a:t>
                </a:r>
              </a:p>
            </p:txBody>
          </p:sp>
        </p:grpSp>
        <p:grpSp>
          <p:nvGrpSpPr>
            <p:cNvPr id="1457" name="Group 520"/>
            <p:cNvGrpSpPr/>
            <p:nvPr/>
          </p:nvGrpSpPr>
          <p:grpSpPr>
            <a:xfrm>
              <a:off x="3869372" y="2055949"/>
              <a:ext cx="624165" cy="625451"/>
              <a:chOff x="0" y="0"/>
              <a:chExt cx="624163" cy="625450"/>
            </a:xfrm>
          </p:grpSpPr>
          <p:sp>
            <p:nvSpPr>
              <p:cNvPr id="1455" name="Shape 518"/>
              <p:cNvSpPr/>
              <p:nvPr/>
            </p:nvSpPr>
            <p:spPr>
              <a:xfrm>
                <a:off x="0" y="0"/>
                <a:ext cx="624164" cy="625451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456" name="Shape 519"/>
              <p:cNvSpPr txBox="1"/>
              <p:nvPr/>
            </p:nvSpPr>
            <p:spPr>
              <a:xfrm>
                <a:off x="46670" y="10565"/>
                <a:ext cx="553100" cy="51721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27</a:t>
                </a:r>
              </a:p>
            </p:txBody>
          </p:sp>
        </p:grpSp>
        <p:grpSp>
          <p:nvGrpSpPr>
            <p:cNvPr id="1460" name="Group 523"/>
            <p:cNvGrpSpPr/>
            <p:nvPr/>
          </p:nvGrpSpPr>
          <p:grpSpPr>
            <a:xfrm>
              <a:off x="0" y="3161049"/>
              <a:ext cx="624162" cy="625451"/>
              <a:chOff x="0" y="0"/>
              <a:chExt cx="624161" cy="625450"/>
            </a:xfrm>
          </p:grpSpPr>
          <p:sp>
            <p:nvSpPr>
              <p:cNvPr id="1458" name="Shape 521"/>
              <p:cNvSpPr/>
              <p:nvPr/>
            </p:nvSpPr>
            <p:spPr>
              <a:xfrm>
                <a:off x="0" y="0"/>
                <a:ext cx="624162" cy="625451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3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459" name="Shape 522"/>
              <p:cNvSpPr txBox="1"/>
              <p:nvPr/>
            </p:nvSpPr>
            <p:spPr>
              <a:xfrm>
                <a:off x="46670" y="10564"/>
                <a:ext cx="553100" cy="51721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t">
                <a:spAutoFit/>
              </a:bodyPr>
              <a:lstStyle>
                <a:lvl1pPr marR="57798" algn="ctr" defTabSz="1295400">
                  <a:defRPr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50</a:t>
                </a:r>
              </a:p>
            </p:txBody>
          </p:sp>
        </p:grpSp>
      </p:grpSp>
      <p:sp>
        <p:nvSpPr>
          <p:cNvPr id="1462" name="Shape 525"/>
          <p:cNvSpPr txBox="1"/>
          <p:nvPr/>
        </p:nvSpPr>
        <p:spPr>
          <a:xfrm>
            <a:off x="1111301" y="2086865"/>
            <a:ext cx="8697253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defRPr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1.先将无序序列想像为一颗完全二叉树</a:t>
            </a:r>
          </a:p>
        </p:txBody>
      </p:sp>
      <p:sp>
        <p:nvSpPr>
          <p:cNvPr id="1463" name="Shape 527"/>
          <p:cNvSpPr txBox="1"/>
          <p:nvPr/>
        </p:nvSpPr>
        <p:spPr>
          <a:xfrm>
            <a:off x="1117992" y="1386850"/>
            <a:ext cx="11379202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lnSpc>
                <a:spcPct val="130000"/>
              </a:lnSpc>
              <a:defRPr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例：将（49，38，65，97，76，13，27，50）调整成大顶堆。</a:t>
            </a:r>
          </a:p>
        </p:txBody>
      </p:sp>
      <p:sp>
        <p:nvSpPr>
          <p:cNvPr id="1464" name="Shape 526"/>
          <p:cNvSpPr txBox="1"/>
          <p:nvPr>
            <p:ph type="title"/>
          </p:nvPr>
        </p:nvSpPr>
        <p:spPr>
          <a:xfrm>
            <a:off x="1755422" y="55879"/>
            <a:ext cx="9448801" cy="1003301"/>
          </a:xfrm>
          <a:prstGeom prst="rect">
            <a:avLst/>
          </a:prstGeom>
        </p:spPr>
        <p:txBody>
          <a:bodyPr/>
          <a:lstStyle/>
          <a:p>
            <a:pPr/>
            <a:r>
              <a:t>建堆过程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8" presetID="2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7" dur="500"/>
                                        <p:tgtEl>
                                          <p:spTgt spid="1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Subtype="8" presetID="2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2" dur="500"/>
                                        <p:tgtEl>
                                          <p:spTgt spid="1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461" grpId="2"/>
      <p:bldP build="whole" bldLvl="1" animBg="1" rev="0" advAuto="0" spid="1462" grpId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Shape 529"/>
          <p:cNvSpPr/>
          <p:nvPr/>
        </p:nvSpPr>
        <p:spPr>
          <a:xfrm>
            <a:off x="6716889" y="3131536"/>
            <a:ext cx="623148" cy="623149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467" name="Shape 530"/>
          <p:cNvSpPr/>
          <p:nvPr/>
        </p:nvSpPr>
        <p:spPr>
          <a:xfrm flipH="1">
            <a:off x="5427697" y="3167662"/>
            <a:ext cx="778936" cy="625406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468" name="Shape 531"/>
          <p:cNvSpPr/>
          <p:nvPr/>
        </p:nvSpPr>
        <p:spPr>
          <a:xfrm flipH="1">
            <a:off x="4829385" y="4321385"/>
            <a:ext cx="383824" cy="623149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469" name="Shape 532"/>
          <p:cNvSpPr/>
          <p:nvPr/>
        </p:nvSpPr>
        <p:spPr>
          <a:xfrm>
            <a:off x="5529296" y="4224302"/>
            <a:ext cx="478651" cy="765388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470" name="Shape 533"/>
          <p:cNvSpPr/>
          <p:nvPr/>
        </p:nvSpPr>
        <p:spPr>
          <a:xfrm flipH="1">
            <a:off x="6933634" y="4321385"/>
            <a:ext cx="383824" cy="623149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471" name="Shape 534"/>
          <p:cNvSpPr/>
          <p:nvPr/>
        </p:nvSpPr>
        <p:spPr>
          <a:xfrm>
            <a:off x="7538719" y="4224302"/>
            <a:ext cx="575735" cy="765388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472" name="Shape 535"/>
          <p:cNvSpPr/>
          <p:nvPr/>
        </p:nvSpPr>
        <p:spPr>
          <a:xfrm flipH="1">
            <a:off x="4190999" y="5375769"/>
            <a:ext cx="383824" cy="623148"/>
          </a:xfrm>
          <a:prstGeom prst="line">
            <a:avLst/>
          </a:prstGeom>
          <a:ln w="2857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1475" name="Group 538"/>
          <p:cNvGrpSpPr/>
          <p:nvPr/>
        </p:nvGrpSpPr>
        <p:grpSpPr>
          <a:xfrm>
            <a:off x="6127458" y="2692399"/>
            <a:ext cx="623753" cy="655889"/>
            <a:chOff x="0" y="0"/>
            <a:chExt cx="623751" cy="655887"/>
          </a:xfrm>
        </p:grpSpPr>
        <p:sp>
          <p:nvSpPr>
            <p:cNvPr id="1473" name="Shape 536"/>
            <p:cNvSpPr/>
            <p:nvPr/>
          </p:nvSpPr>
          <p:spPr>
            <a:xfrm>
              <a:off x="-1" y="30559"/>
              <a:ext cx="623753" cy="625329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74" name="Shape 537"/>
            <p:cNvSpPr txBox="1"/>
            <p:nvPr/>
          </p:nvSpPr>
          <p:spPr>
            <a:xfrm>
              <a:off x="46463" y="-1"/>
              <a:ext cx="5531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49</a:t>
              </a:r>
            </a:p>
          </p:txBody>
        </p:sp>
      </p:grpSp>
      <p:grpSp>
        <p:nvGrpSpPr>
          <p:cNvPr id="1478" name="Group 541"/>
          <p:cNvGrpSpPr/>
          <p:nvPr/>
        </p:nvGrpSpPr>
        <p:grpSpPr>
          <a:xfrm>
            <a:off x="5021888" y="3784034"/>
            <a:ext cx="623617" cy="631099"/>
            <a:chOff x="0" y="0"/>
            <a:chExt cx="623615" cy="631098"/>
          </a:xfrm>
        </p:grpSpPr>
        <p:sp>
          <p:nvSpPr>
            <p:cNvPr id="1476" name="Shape 539"/>
            <p:cNvSpPr/>
            <p:nvPr/>
          </p:nvSpPr>
          <p:spPr>
            <a:xfrm>
              <a:off x="0" y="8442"/>
              <a:ext cx="623616" cy="622657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77" name="Shape 540"/>
            <p:cNvSpPr txBox="1"/>
            <p:nvPr/>
          </p:nvSpPr>
          <p:spPr>
            <a:xfrm>
              <a:off x="24273" y="0"/>
              <a:ext cx="553100" cy="5172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38</a:t>
              </a:r>
            </a:p>
          </p:txBody>
        </p:sp>
      </p:grpSp>
      <p:grpSp>
        <p:nvGrpSpPr>
          <p:cNvPr id="1481" name="Group 544"/>
          <p:cNvGrpSpPr/>
          <p:nvPr/>
        </p:nvGrpSpPr>
        <p:grpSpPr>
          <a:xfrm>
            <a:off x="7106129" y="3770488"/>
            <a:ext cx="623753" cy="631181"/>
            <a:chOff x="0" y="0"/>
            <a:chExt cx="623751" cy="631180"/>
          </a:xfrm>
        </p:grpSpPr>
        <p:sp>
          <p:nvSpPr>
            <p:cNvPr id="1479" name="Shape 542"/>
            <p:cNvSpPr/>
            <p:nvPr/>
          </p:nvSpPr>
          <p:spPr>
            <a:xfrm>
              <a:off x="-1" y="6354"/>
              <a:ext cx="623753" cy="624827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80" name="Shape 543"/>
            <p:cNvSpPr txBox="1"/>
            <p:nvPr/>
          </p:nvSpPr>
          <p:spPr>
            <a:xfrm>
              <a:off x="61214" y="0"/>
              <a:ext cx="553100" cy="5172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65</a:t>
              </a:r>
            </a:p>
          </p:txBody>
        </p:sp>
      </p:grpSp>
      <p:grpSp>
        <p:nvGrpSpPr>
          <p:cNvPr id="1484" name="Group 547"/>
          <p:cNvGrpSpPr/>
          <p:nvPr/>
        </p:nvGrpSpPr>
        <p:grpSpPr>
          <a:xfrm>
            <a:off x="4416021" y="4797778"/>
            <a:ext cx="623533" cy="621103"/>
            <a:chOff x="0" y="0"/>
            <a:chExt cx="623531" cy="621102"/>
          </a:xfrm>
        </p:grpSpPr>
        <p:sp>
          <p:nvSpPr>
            <p:cNvPr id="1482" name="Shape 545"/>
            <p:cNvSpPr/>
            <p:nvPr/>
          </p:nvSpPr>
          <p:spPr>
            <a:xfrm>
              <a:off x="0" y="-1"/>
              <a:ext cx="623533" cy="621103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83" name="Shape 546"/>
            <p:cNvSpPr txBox="1"/>
            <p:nvPr/>
          </p:nvSpPr>
          <p:spPr>
            <a:xfrm>
              <a:off x="44247" y="6336"/>
              <a:ext cx="5531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97</a:t>
              </a:r>
            </a:p>
          </p:txBody>
        </p:sp>
      </p:grpSp>
      <p:grpSp>
        <p:nvGrpSpPr>
          <p:cNvPr id="1487" name="Group 550"/>
          <p:cNvGrpSpPr/>
          <p:nvPr/>
        </p:nvGrpSpPr>
        <p:grpSpPr>
          <a:xfrm>
            <a:off x="5678159" y="4797778"/>
            <a:ext cx="623753" cy="625603"/>
            <a:chOff x="0" y="0"/>
            <a:chExt cx="623751" cy="625602"/>
          </a:xfrm>
        </p:grpSpPr>
        <p:sp>
          <p:nvSpPr>
            <p:cNvPr id="1485" name="Shape 548"/>
            <p:cNvSpPr/>
            <p:nvPr/>
          </p:nvSpPr>
          <p:spPr>
            <a:xfrm>
              <a:off x="-1" y="-1"/>
              <a:ext cx="623753" cy="625604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86" name="Shape 549"/>
            <p:cNvSpPr txBox="1"/>
            <p:nvPr/>
          </p:nvSpPr>
          <p:spPr>
            <a:xfrm>
              <a:off x="46463" y="10567"/>
              <a:ext cx="553100" cy="5172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76</a:t>
              </a:r>
            </a:p>
          </p:txBody>
        </p:sp>
      </p:grpSp>
      <p:grpSp>
        <p:nvGrpSpPr>
          <p:cNvPr id="1490" name="Group 553"/>
          <p:cNvGrpSpPr/>
          <p:nvPr/>
        </p:nvGrpSpPr>
        <p:grpSpPr>
          <a:xfrm>
            <a:off x="6691752" y="4777458"/>
            <a:ext cx="621643" cy="620964"/>
            <a:chOff x="0" y="0"/>
            <a:chExt cx="621641" cy="620963"/>
          </a:xfrm>
        </p:grpSpPr>
        <p:sp>
          <p:nvSpPr>
            <p:cNvPr id="1488" name="Shape 551"/>
            <p:cNvSpPr/>
            <p:nvPr/>
          </p:nvSpPr>
          <p:spPr>
            <a:xfrm>
              <a:off x="0" y="0"/>
              <a:ext cx="621643" cy="620964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89" name="Shape 552"/>
            <p:cNvSpPr txBox="1"/>
            <p:nvPr/>
          </p:nvSpPr>
          <p:spPr>
            <a:xfrm>
              <a:off x="44356" y="6336"/>
              <a:ext cx="553100" cy="5172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13</a:t>
              </a:r>
            </a:p>
          </p:txBody>
        </p:sp>
      </p:grpSp>
      <p:grpSp>
        <p:nvGrpSpPr>
          <p:cNvPr id="1493" name="Group 556"/>
          <p:cNvGrpSpPr/>
          <p:nvPr/>
        </p:nvGrpSpPr>
        <p:grpSpPr>
          <a:xfrm>
            <a:off x="7786926" y="4748105"/>
            <a:ext cx="623751" cy="625467"/>
            <a:chOff x="0" y="0"/>
            <a:chExt cx="623750" cy="625465"/>
          </a:xfrm>
        </p:grpSpPr>
        <p:sp>
          <p:nvSpPr>
            <p:cNvPr id="1491" name="Shape 554"/>
            <p:cNvSpPr/>
            <p:nvPr/>
          </p:nvSpPr>
          <p:spPr>
            <a:xfrm>
              <a:off x="-1" y="0"/>
              <a:ext cx="623751" cy="625466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92" name="Shape 555"/>
            <p:cNvSpPr txBox="1"/>
            <p:nvPr/>
          </p:nvSpPr>
          <p:spPr>
            <a:xfrm>
              <a:off x="46463" y="10565"/>
              <a:ext cx="553100" cy="5172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27</a:t>
              </a:r>
            </a:p>
          </p:txBody>
        </p:sp>
      </p:grpSp>
      <p:grpSp>
        <p:nvGrpSpPr>
          <p:cNvPr id="1496" name="Group 559"/>
          <p:cNvGrpSpPr/>
          <p:nvPr/>
        </p:nvGrpSpPr>
        <p:grpSpPr>
          <a:xfrm>
            <a:off x="3917093" y="5854699"/>
            <a:ext cx="623751" cy="625604"/>
            <a:chOff x="0" y="0"/>
            <a:chExt cx="623750" cy="625602"/>
          </a:xfrm>
        </p:grpSpPr>
        <p:sp>
          <p:nvSpPr>
            <p:cNvPr id="1494" name="Shape 557"/>
            <p:cNvSpPr/>
            <p:nvPr/>
          </p:nvSpPr>
          <p:spPr>
            <a:xfrm>
              <a:off x="-1" y="-1"/>
              <a:ext cx="623751" cy="625604"/>
            </a:xfrm>
            <a:prstGeom prst="ellipse">
              <a:avLst/>
            </a:prstGeom>
            <a:solidFill>
              <a:srgbClr val="990000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95" name="Shape 558"/>
            <p:cNvSpPr txBox="1"/>
            <p:nvPr/>
          </p:nvSpPr>
          <p:spPr>
            <a:xfrm>
              <a:off x="46463" y="8028"/>
              <a:ext cx="553100" cy="5172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50</a:t>
              </a:r>
            </a:p>
          </p:txBody>
        </p:sp>
      </p:grpSp>
      <p:grpSp>
        <p:nvGrpSpPr>
          <p:cNvPr id="1499" name="Group 563"/>
          <p:cNvGrpSpPr/>
          <p:nvPr/>
        </p:nvGrpSpPr>
        <p:grpSpPr>
          <a:xfrm>
            <a:off x="6114624" y="2707640"/>
            <a:ext cx="623151" cy="625407"/>
            <a:chOff x="0" y="0"/>
            <a:chExt cx="623149" cy="625406"/>
          </a:xfrm>
        </p:grpSpPr>
        <p:sp>
          <p:nvSpPr>
            <p:cNvPr id="1497" name="Shape 561"/>
            <p:cNvSpPr/>
            <p:nvPr/>
          </p:nvSpPr>
          <p:spPr>
            <a:xfrm>
              <a:off x="-1" y="-1"/>
              <a:ext cx="623151" cy="625407"/>
            </a:xfrm>
            <a:prstGeom prst="ellipse">
              <a:avLst/>
            </a:prstGeom>
            <a:solidFill>
              <a:srgbClr val="333399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98" name="Shape 562"/>
            <p:cNvSpPr txBox="1"/>
            <p:nvPr/>
          </p:nvSpPr>
          <p:spPr>
            <a:xfrm>
              <a:off x="59012" y="67451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97</a:t>
              </a:r>
            </a:p>
          </p:txBody>
        </p:sp>
      </p:grpSp>
      <p:grpSp>
        <p:nvGrpSpPr>
          <p:cNvPr id="1502" name="Group 575"/>
          <p:cNvGrpSpPr/>
          <p:nvPr/>
        </p:nvGrpSpPr>
        <p:grpSpPr>
          <a:xfrm>
            <a:off x="5018175" y="3789724"/>
            <a:ext cx="623149" cy="625409"/>
            <a:chOff x="0" y="0"/>
            <a:chExt cx="623148" cy="625407"/>
          </a:xfrm>
        </p:grpSpPr>
        <p:sp>
          <p:nvSpPr>
            <p:cNvPr id="1500" name="Shape 573"/>
            <p:cNvSpPr/>
            <p:nvPr/>
          </p:nvSpPr>
          <p:spPr>
            <a:xfrm>
              <a:off x="-1" y="-1"/>
              <a:ext cx="623149" cy="625409"/>
            </a:xfrm>
            <a:prstGeom prst="ellipse">
              <a:avLst/>
            </a:prstGeom>
            <a:solidFill>
              <a:srgbClr val="333399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01" name="Shape 574"/>
            <p:cNvSpPr txBox="1"/>
            <p:nvPr/>
          </p:nvSpPr>
          <p:spPr>
            <a:xfrm>
              <a:off x="63810" y="63217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97</a:t>
              </a:r>
            </a:p>
          </p:txBody>
        </p:sp>
      </p:grpSp>
      <p:grpSp>
        <p:nvGrpSpPr>
          <p:cNvPr id="1505" name="Group 578"/>
          <p:cNvGrpSpPr/>
          <p:nvPr/>
        </p:nvGrpSpPr>
        <p:grpSpPr>
          <a:xfrm>
            <a:off x="4416212" y="4807937"/>
            <a:ext cx="623151" cy="625407"/>
            <a:chOff x="0" y="0"/>
            <a:chExt cx="623149" cy="625406"/>
          </a:xfrm>
        </p:grpSpPr>
        <p:sp>
          <p:nvSpPr>
            <p:cNvPr id="1503" name="Shape 576"/>
            <p:cNvSpPr/>
            <p:nvPr/>
          </p:nvSpPr>
          <p:spPr>
            <a:xfrm>
              <a:off x="-1" y="-1"/>
              <a:ext cx="623151" cy="625407"/>
            </a:xfrm>
            <a:prstGeom prst="ellipse">
              <a:avLst/>
            </a:prstGeom>
            <a:solidFill>
              <a:srgbClr val="333399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04" name="Shape 577"/>
            <p:cNvSpPr txBox="1"/>
            <p:nvPr/>
          </p:nvSpPr>
          <p:spPr>
            <a:xfrm>
              <a:off x="59012" y="60678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38</a:t>
              </a:r>
            </a:p>
          </p:txBody>
        </p:sp>
      </p:grpSp>
      <p:grpSp>
        <p:nvGrpSpPr>
          <p:cNvPr id="1508" name="Group 581"/>
          <p:cNvGrpSpPr/>
          <p:nvPr/>
        </p:nvGrpSpPr>
        <p:grpSpPr>
          <a:xfrm>
            <a:off x="5676135" y="4805681"/>
            <a:ext cx="623149" cy="625409"/>
            <a:chOff x="0" y="0"/>
            <a:chExt cx="623148" cy="625407"/>
          </a:xfrm>
        </p:grpSpPr>
        <p:sp>
          <p:nvSpPr>
            <p:cNvPr id="1506" name="Shape 579"/>
            <p:cNvSpPr/>
            <p:nvPr/>
          </p:nvSpPr>
          <p:spPr>
            <a:xfrm>
              <a:off x="-1" y="-1"/>
              <a:ext cx="623149" cy="625409"/>
            </a:xfrm>
            <a:prstGeom prst="ellipse">
              <a:avLst/>
            </a:prstGeom>
            <a:solidFill>
              <a:srgbClr val="333399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07" name="Shape 580"/>
            <p:cNvSpPr txBox="1"/>
            <p:nvPr/>
          </p:nvSpPr>
          <p:spPr>
            <a:xfrm>
              <a:off x="59012" y="63217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49</a:t>
              </a:r>
            </a:p>
          </p:txBody>
        </p:sp>
      </p:grpSp>
      <p:sp>
        <p:nvSpPr>
          <p:cNvPr id="1509" name="Shape 585"/>
          <p:cNvSpPr txBox="1"/>
          <p:nvPr>
            <p:ph type="title"/>
          </p:nvPr>
        </p:nvSpPr>
        <p:spPr>
          <a:xfrm>
            <a:off x="1643661" y="85654"/>
            <a:ext cx="9448801" cy="1003301"/>
          </a:xfrm>
          <a:prstGeom prst="rect">
            <a:avLst/>
          </a:prstGeom>
        </p:spPr>
        <p:txBody>
          <a:bodyPr/>
          <a:lstStyle/>
          <a:p>
            <a:pPr/>
            <a:r>
              <a:t>建堆过程</a:t>
            </a:r>
          </a:p>
        </p:txBody>
      </p:sp>
      <p:sp>
        <p:nvSpPr>
          <p:cNvPr id="1510" name="Shape 560"/>
          <p:cNvSpPr txBox="1"/>
          <p:nvPr/>
        </p:nvSpPr>
        <p:spPr>
          <a:xfrm>
            <a:off x="1280158" y="1204806"/>
            <a:ext cx="11379203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defRPr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2. 自底向上，调整各子树。</a:t>
            </a:r>
          </a:p>
        </p:txBody>
      </p:sp>
      <p:sp>
        <p:nvSpPr>
          <p:cNvPr id="1511" name="Shape 586"/>
          <p:cNvSpPr txBox="1"/>
          <p:nvPr/>
        </p:nvSpPr>
        <p:spPr>
          <a:xfrm>
            <a:off x="2055267" y="6728276"/>
            <a:ext cx="9235459" cy="1425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R="57798" defTabSz="1295400">
              <a:spcBef>
                <a:spcPts val="1900"/>
              </a:spcBef>
              <a:defRPr b="1">
                <a:uFill>
                  <a:solidFill>
                    <a:srgbClr val="000000"/>
                  </a:solidFill>
                </a:uFill>
              </a:defRPr>
            </a:pPr>
            <a:r>
              <a:t>核心思想是将每棵子树的根结点SiftDown</a:t>
            </a:r>
          </a:p>
          <a:p>
            <a:pPr marR="57798" defTabSz="1295400">
              <a:spcBef>
                <a:spcPts val="1900"/>
              </a:spcBef>
              <a:defRPr b="1">
                <a:uFill>
                  <a:solidFill>
                    <a:srgbClr val="000000"/>
                  </a:solidFill>
                </a:uFill>
              </a:defRPr>
            </a:pPr>
            <a:r>
              <a:t>时间复杂度： O(nlogn) (粗略）O(n)(精确)  </a:t>
            </a:r>
          </a:p>
        </p:txBody>
      </p:sp>
      <p:grpSp>
        <p:nvGrpSpPr>
          <p:cNvPr id="1514" name="Group 572"/>
          <p:cNvGrpSpPr/>
          <p:nvPr/>
        </p:nvGrpSpPr>
        <p:grpSpPr>
          <a:xfrm>
            <a:off x="5019966" y="3789726"/>
            <a:ext cx="623151" cy="625407"/>
            <a:chOff x="0" y="0"/>
            <a:chExt cx="623149" cy="625406"/>
          </a:xfrm>
        </p:grpSpPr>
        <p:sp>
          <p:nvSpPr>
            <p:cNvPr id="1512" name="Shape 570"/>
            <p:cNvSpPr/>
            <p:nvPr/>
          </p:nvSpPr>
          <p:spPr>
            <a:xfrm>
              <a:off x="-1" y="-1"/>
              <a:ext cx="623151" cy="625407"/>
            </a:xfrm>
            <a:prstGeom prst="ellipse">
              <a:avLst/>
            </a:prstGeom>
            <a:solidFill>
              <a:srgbClr val="333399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13" name="Shape 571"/>
            <p:cNvSpPr txBox="1"/>
            <p:nvPr/>
          </p:nvSpPr>
          <p:spPr>
            <a:xfrm>
              <a:off x="59012" y="66604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49</a:t>
              </a:r>
            </a:p>
          </p:txBody>
        </p:sp>
      </p:grpSp>
      <p:grpSp>
        <p:nvGrpSpPr>
          <p:cNvPr id="1517" name="Group 578"/>
          <p:cNvGrpSpPr/>
          <p:nvPr/>
        </p:nvGrpSpPr>
        <p:grpSpPr>
          <a:xfrm>
            <a:off x="3904930" y="5842098"/>
            <a:ext cx="623151" cy="625407"/>
            <a:chOff x="0" y="0"/>
            <a:chExt cx="623149" cy="625406"/>
          </a:xfrm>
        </p:grpSpPr>
        <p:sp>
          <p:nvSpPr>
            <p:cNvPr id="1515" name="Shape 576"/>
            <p:cNvSpPr/>
            <p:nvPr/>
          </p:nvSpPr>
          <p:spPr>
            <a:xfrm>
              <a:off x="-1" y="-1"/>
              <a:ext cx="623151" cy="625407"/>
            </a:xfrm>
            <a:prstGeom prst="ellipse">
              <a:avLst/>
            </a:prstGeom>
            <a:solidFill>
              <a:srgbClr val="333399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16" name="Shape 577"/>
            <p:cNvSpPr txBox="1"/>
            <p:nvPr/>
          </p:nvSpPr>
          <p:spPr>
            <a:xfrm>
              <a:off x="59012" y="60678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38</a:t>
              </a:r>
            </a:p>
          </p:txBody>
        </p:sp>
      </p:grpSp>
      <p:grpSp>
        <p:nvGrpSpPr>
          <p:cNvPr id="1520" name="Group 566"/>
          <p:cNvGrpSpPr/>
          <p:nvPr/>
        </p:nvGrpSpPr>
        <p:grpSpPr>
          <a:xfrm>
            <a:off x="4416405" y="4797778"/>
            <a:ext cx="623149" cy="625409"/>
            <a:chOff x="0" y="0"/>
            <a:chExt cx="623148" cy="625407"/>
          </a:xfrm>
        </p:grpSpPr>
        <p:sp>
          <p:nvSpPr>
            <p:cNvPr id="1518" name="Shape 564"/>
            <p:cNvSpPr/>
            <p:nvPr/>
          </p:nvSpPr>
          <p:spPr>
            <a:xfrm>
              <a:off x="-1" y="-1"/>
              <a:ext cx="623149" cy="625409"/>
            </a:xfrm>
            <a:prstGeom prst="ellipse">
              <a:avLst/>
            </a:prstGeom>
            <a:solidFill>
              <a:srgbClr val="333399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19" name="Shape 565"/>
            <p:cNvSpPr txBox="1"/>
            <p:nvPr/>
          </p:nvSpPr>
          <p:spPr>
            <a:xfrm>
              <a:off x="59012" y="63217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50</a:t>
              </a:r>
            </a:p>
          </p:txBody>
        </p:sp>
      </p:grpSp>
      <p:grpSp>
        <p:nvGrpSpPr>
          <p:cNvPr id="1523" name="Group 584"/>
          <p:cNvGrpSpPr/>
          <p:nvPr/>
        </p:nvGrpSpPr>
        <p:grpSpPr>
          <a:xfrm>
            <a:off x="5022122" y="3789726"/>
            <a:ext cx="623149" cy="625407"/>
            <a:chOff x="0" y="0"/>
            <a:chExt cx="623148" cy="625406"/>
          </a:xfrm>
        </p:grpSpPr>
        <p:sp>
          <p:nvSpPr>
            <p:cNvPr id="1521" name="Shape 582"/>
            <p:cNvSpPr/>
            <p:nvPr/>
          </p:nvSpPr>
          <p:spPr>
            <a:xfrm>
              <a:off x="-1" y="-1"/>
              <a:ext cx="623149" cy="625407"/>
            </a:xfrm>
            <a:prstGeom prst="ellipse">
              <a:avLst/>
            </a:prstGeom>
            <a:solidFill>
              <a:srgbClr val="333399"/>
            </a:solidFill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3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22" name="Shape 583"/>
            <p:cNvSpPr txBox="1"/>
            <p:nvPr/>
          </p:nvSpPr>
          <p:spPr>
            <a:xfrm>
              <a:off x="63810" y="63217"/>
              <a:ext cx="527700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algn="ctr" defTabSz="1295400">
                <a:defRPr sz="2800">
                  <a:solidFill>
                    <a:srgbClr val="FEE8F7"/>
                  </a:solidFill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76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mph" nodeType="clickEffect" presetSubtype="0" presetID="8" grpId="1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500" fill="hold"/>
                                        <p:tgtEl>
                                          <p:spTgt spid="148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mph" nodeType="clickEffect" presetSubtype="0" presetID="8" grpId="2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500" fill="hold"/>
                                        <p:tgtEl>
                                          <p:spTgt spid="14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mph" nodeType="clickEffect" presetSubtype="0" presetID="8" grpId="3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500" fill="hold"/>
                                        <p:tgtEl>
                                          <p:spTgt spid="147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Class="entr" nodeType="after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1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Class="entr" nodeType="click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after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Class="emph" nodeType="clickEffect" presetSubtype="0" presetID="8" grpId="8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2" dur="500" fill="hold"/>
                                        <p:tgtEl>
                                          <p:spTgt spid="147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Class="entr" nodeType="clickEffect" presetSubtype="0" presetID="1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1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Class="entr" nodeType="afterEffect" presetSubtype="0" presetID="1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Class="entr" nodeType="clickEffect" presetSubtype="0" presetID="1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fill="hold"/>
                                        <p:tgtEl>
                                          <p:spTgt spid="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Class="entr" nodeType="afterEffect" presetSubtype="0" presetID="1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517" grpId="7"/>
      <p:bldP build="whole" bldLvl="1" animBg="1" rev="0" advAuto="0" spid="1484" grpId="1"/>
      <p:bldP build="whole" bldLvl="1" animBg="1" rev="0" advAuto="0" spid="1523" grpId="11"/>
      <p:bldP build="whole" bldLvl="1" animBg="1" rev="0" advAuto="0" spid="1478" grpId="3"/>
      <p:bldP build="whole" bldLvl="1" animBg="1" rev="0" advAuto="0" spid="1508" grpId="12"/>
      <p:bldP build="whole" bldLvl="1" animBg="1" rev="0" advAuto="0" spid="1520" grpId="6"/>
      <p:bldP build="whole" bldLvl="1" animBg="1" rev="0" advAuto="0" spid="1505" grpId="5"/>
      <p:bldP build="whole" bldLvl="1" animBg="1" rev="0" advAuto="0" spid="1475" grpId="8"/>
      <p:bldP build="whole" bldLvl="1" animBg="1" rev="0" advAuto="0" spid="1502" grpId="4"/>
      <p:bldP build="whole" bldLvl="1" animBg="1" rev="0" advAuto="0" spid="1499" grpId="9"/>
      <p:bldP build="whole" bldLvl="1" animBg="1" rev="0" advAuto="0" spid="1481" grpId="2"/>
      <p:bldP build="whole" bldLvl="1" animBg="1" rev="0" advAuto="0" spid="1514" grpId="1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" name="Shape 588"/>
          <p:cNvSpPr txBox="1"/>
          <p:nvPr/>
        </p:nvSpPr>
        <p:spPr>
          <a:xfrm>
            <a:off x="485748" y="1473335"/>
            <a:ext cx="12407902" cy="3243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>
              <a:lnSpc>
                <a:spcPct val="120000"/>
              </a:lnSpc>
            </a:pPr>
            <a:r>
              <a:t>判断下列序列是否是堆，如果不是，请调整为堆</a:t>
            </a:r>
          </a:p>
          <a:p>
            <a:pPr lvl="8">
              <a:lnSpc>
                <a:spcPct val="120000"/>
              </a:lnSpc>
            </a:pPr>
            <a:r>
              <a:t>    a.100，85，98，77，80，60，82，40，20，10，66</a:t>
            </a:r>
          </a:p>
          <a:p>
            <a:pPr lvl="8">
              <a:lnSpc>
                <a:spcPct val="120000"/>
              </a:lnSpc>
            </a:pPr>
            <a:r>
              <a:t>    b.100，98，85，82，80，77，66，60，40，20，10</a:t>
            </a:r>
          </a:p>
          <a:p>
            <a:pPr lvl="8">
              <a:lnSpc>
                <a:spcPct val="120000"/>
              </a:lnSpc>
            </a:pPr>
            <a:r>
              <a:t>    c.100，85，40，77，80，60，66，98，82，10，20</a:t>
            </a:r>
          </a:p>
          <a:p>
            <a:pPr lvl="8">
              <a:lnSpc>
                <a:spcPct val="120000"/>
              </a:lnSpc>
            </a:pPr>
            <a:r>
              <a:t>    d.10，20，40，60，66，77，80，82，85，98，100</a:t>
            </a:r>
          </a:p>
        </p:txBody>
      </p:sp>
      <p:sp>
        <p:nvSpPr>
          <p:cNvPr id="1526" name="Shape 589"/>
          <p:cNvSpPr txBox="1"/>
          <p:nvPr>
            <p:ph type="title"/>
          </p:nvPr>
        </p:nvSpPr>
        <p:spPr>
          <a:xfrm>
            <a:off x="1648741" y="85654"/>
            <a:ext cx="9448801" cy="1003301"/>
          </a:xfrm>
          <a:prstGeom prst="rect">
            <a:avLst/>
          </a:prstGeom>
        </p:spPr>
        <p:txBody>
          <a:bodyPr/>
          <a:lstStyle/>
          <a:p>
            <a:pPr/>
            <a:r>
              <a:t>课堂练习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public class HeapSort&lt;T&gt; {…"/>
          <p:cNvSpPr txBox="1"/>
          <p:nvPr/>
        </p:nvSpPr>
        <p:spPr>
          <a:xfrm>
            <a:off x="1643661" y="1253347"/>
            <a:ext cx="7255254" cy="73458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931A68"/>
                </a:solidFill>
              </a:rPr>
              <a:t>public</a:t>
            </a:r>
            <a:r>
              <a:t> </a:t>
            </a:r>
            <a:r>
              <a:rPr>
                <a:solidFill>
                  <a:srgbClr val="931A68"/>
                </a:solidFill>
              </a:rPr>
              <a:t>class</a:t>
            </a:r>
            <a:r>
              <a:t> HeapSort&lt;T&gt; {</a:t>
            </a:r>
          </a:p>
          <a:p>
            <a:pPr indent="0">
              <a:defRPr sz="19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t>private</a:t>
            </a:r>
            <a:r>
              <a:rPr>
                <a:solidFill>
                  <a:srgbClr val="000000"/>
                </a:solidFill>
              </a:rPr>
              <a:t> T[] </a:t>
            </a:r>
            <a:r>
              <a:rPr>
                <a:solidFill>
                  <a:srgbClr val="0326CC"/>
                </a:solidFill>
              </a:rPr>
              <a:t>data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defRPr sz="19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t>size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private</a:t>
            </a:r>
            <a:r>
              <a:t> </a:t>
            </a:r>
            <a:r>
              <a:rPr>
                <a:solidFill>
                  <a:srgbClr val="931A68"/>
                </a:solidFill>
              </a:rPr>
              <a:t>void</a:t>
            </a:r>
            <a:r>
              <a:t> heapify() {</a:t>
            </a:r>
          </a:p>
          <a:p>
            <a:pPr indent="0"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t> = (</a:t>
            </a:r>
            <a:r>
              <a:rPr>
                <a:solidFill>
                  <a:srgbClr val="0326CC"/>
                </a:solidFill>
              </a:rPr>
              <a:t>size</a:t>
            </a:r>
            <a:r>
              <a:t> &gt;&gt;&gt; 1) - 1; </a:t>
            </a:r>
            <a:r>
              <a:rPr>
                <a:solidFill>
                  <a:srgbClr val="7E504F"/>
                </a:solidFill>
              </a:rPr>
              <a:t>i</a:t>
            </a:r>
            <a:r>
              <a:t> &gt;= 0; </a:t>
            </a:r>
            <a:r>
              <a:rPr>
                <a:solidFill>
                  <a:srgbClr val="7E504F"/>
                </a:solidFill>
              </a:rPr>
              <a:t>i</a:t>
            </a:r>
            <a:r>
              <a:t>--)</a:t>
            </a:r>
          </a:p>
          <a:p>
            <a:pPr indent="0"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		siftDown(</a:t>
            </a:r>
            <a:r>
              <a:rPr>
                <a:solidFill>
                  <a:srgbClr val="7E504F"/>
                </a:solidFill>
              </a:rPr>
              <a:t>i</a:t>
            </a:r>
            <a:r>
              <a:t>, </a:t>
            </a:r>
            <a:r>
              <a:rPr>
                <a:solidFill>
                  <a:srgbClr val="0326CC"/>
                </a:solidFill>
              </a:rPr>
              <a:t>data</a:t>
            </a:r>
            <a:r>
              <a:t>[</a:t>
            </a:r>
            <a:r>
              <a:rPr>
                <a:solidFill>
                  <a:srgbClr val="7E504F"/>
                </a:solidFill>
              </a:rPr>
              <a:t>i</a:t>
            </a:r>
            <a:r>
              <a:t>]);</a:t>
            </a:r>
          </a:p>
          <a:p>
            <a:pPr indent="0"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  <a:p>
            <a:pPr indent="0">
              <a:defRPr sz="1900">
                <a:latin typeface="Monaco"/>
                <a:ea typeface="Monaco"/>
                <a:cs typeface="Monaco"/>
                <a:sym typeface="Monaco"/>
              </a:defRPr>
            </a:pPr>
          </a:p>
          <a:p>
            <a:pPr indent="0"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</a:t>
            </a:r>
            <a:r>
              <a:rPr>
                <a:solidFill>
                  <a:srgbClr val="931A68"/>
                </a:solidFill>
              </a:rPr>
              <a:t>public</a:t>
            </a:r>
            <a:r>
              <a:t> T[] heapSort(T[] </a:t>
            </a:r>
            <a:r>
              <a:rPr>
                <a:solidFill>
                  <a:srgbClr val="7E504F"/>
                </a:solidFill>
              </a:rPr>
              <a:t>a</a:t>
            </a:r>
            <a:r>
              <a:t>) {</a:t>
            </a:r>
          </a:p>
          <a:p>
            <a:pPr indent="0">
              <a:defRPr sz="19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data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>
                <a:solidFill>
                  <a:srgbClr val="7E504F"/>
                </a:solidFill>
              </a:rPr>
              <a:t>a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defRPr sz="19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size</a:t>
            </a:r>
            <a:r>
              <a:rPr>
                <a:solidFill>
                  <a:srgbClr val="000000"/>
                </a:solidFill>
              </a:rPr>
              <a:t> = </a:t>
            </a:r>
            <a:r>
              <a:t>data</a:t>
            </a:r>
            <a:r>
              <a:rPr>
                <a:solidFill>
                  <a:srgbClr val="000000"/>
                </a:solidFill>
              </a:rPr>
              <a:t>.</a:t>
            </a:r>
            <a:r>
              <a:t>length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	heapify();</a:t>
            </a:r>
          </a:p>
          <a:p>
            <a:pPr indent="0">
              <a:defRPr sz="19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rPr>
                <a:solidFill>
                  <a:srgbClr val="931A68"/>
                </a:solidFill>
              </a:rPr>
              <a:t>for</a:t>
            </a:r>
            <a:r>
              <a:rPr>
                <a:solidFill>
                  <a:srgbClr val="000000"/>
                </a:solidFill>
              </a:rPr>
              <a:t> (</a:t>
            </a:r>
            <a:r>
              <a:rPr>
                <a:solidFill>
                  <a:srgbClr val="931A68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 = </a:t>
            </a:r>
            <a:r>
              <a:t>data</a:t>
            </a:r>
            <a:r>
              <a:rPr>
                <a:solidFill>
                  <a:srgbClr val="000000"/>
                </a:solidFill>
              </a:rPr>
              <a:t>.</a:t>
            </a:r>
            <a:r>
              <a:t>length</a:t>
            </a:r>
            <a:r>
              <a:rPr>
                <a:solidFill>
                  <a:srgbClr val="000000"/>
                </a:solidFill>
              </a:rPr>
              <a:t> - 1; 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 &gt; 0; </a:t>
            </a:r>
            <a:r>
              <a:rPr>
                <a:solidFill>
                  <a:srgbClr val="7E504F"/>
                </a:solidFill>
              </a:rPr>
              <a:t>i</a:t>
            </a:r>
            <a:r>
              <a:rPr>
                <a:solidFill>
                  <a:srgbClr val="000000"/>
                </a:solidFill>
              </a:rPr>
              <a:t>--) {</a:t>
            </a:r>
            <a:endParaRPr>
              <a:solidFill>
                <a:srgbClr val="000000"/>
              </a:solidFill>
            </a:endParaRPr>
          </a:p>
          <a:p>
            <a:pPr indent="0"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		T </a:t>
            </a:r>
            <a:r>
              <a:rPr>
                <a:solidFill>
                  <a:srgbClr val="7E504F"/>
                </a:solidFill>
              </a:rPr>
              <a:t>t</a:t>
            </a:r>
            <a:r>
              <a:t> = </a:t>
            </a:r>
            <a:r>
              <a:rPr>
                <a:solidFill>
                  <a:srgbClr val="0326CC"/>
                </a:solidFill>
              </a:rPr>
              <a:t>data</a:t>
            </a:r>
            <a:r>
              <a:t>[</a:t>
            </a:r>
            <a:r>
              <a:rPr>
                <a:solidFill>
                  <a:srgbClr val="7E504F"/>
                </a:solidFill>
              </a:rPr>
              <a:t>i</a:t>
            </a:r>
            <a:r>
              <a:t>];</a:t>
            </a:r>
          </a:p>
          <a:p>
            <a:pPr indent="0"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		</a:t>
            </a:r>
            <a:r>
              <a:rPr>
                <a:solidFill>
                  <a:srgbClr val="0326CC"/>
                </a:solidFill>
              </a:rPr>
              <a:t>data</a:t>
            </a:r>
            <a:r>
              <a:t>[</a:t>
            </a:r>
            <a:r>
              <a:rPr>
                <a:solidFill>
                  <a:srgbClr val="7E504F"/>
                </a:solidFill>
              </a:rPr>
              <a:t>i</a:t>
            </a:r>
            <a:r>
              <a:t>] = </a:t>
            </a:r>
            <a:r>
              <a:rPr>
                <a:solidFill>
                  <a:srgbClr val="0326CC"/>
                </a:solidFill>
              </a:rPr>
              <a:t>data</a:t>
            </a:r>
            <a:r>
              <a:t>[0];</a:t>
            </a:r>
          </a:p>
          <a:p>
            <a:pPr indent="0">
              <a:defRPr sz="1900">
                <a:solidFill>
                  <a:srgbClr val="0326CC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	</a:t>
            </a:r>
            <a:r>
              <a:t>size</a:t>
            </a:r>
            <a:r>
              <a:rPr>
                <a:solidFill>
                  <a:srgbClr val="000000"/>
                </a:solidFill>
              </a:rPr>
              <a:t>--;</a:t>
            </a:r>
            <a:endParaRPr>
              <a:solidFill>
                <a:srgbClr val="000000"/>
              </a:solidFill>
            </a:endParaRPr>
          </a:p>
          <a:p>
            <a:pPr indent="0"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		siftDown(0, </a:t>
            </a:r>
            <a:r>
              <a:rPr>
                <a:solidFill>
                  <a:srgbClr val="7E504F"/>
                </a:solidFill>
              </a:rPr>
              <a:t>t</a:t>
            </a:r>
            <a:r>
              <a:t>);</a:t>
            </a:r>
          </a:p>
          <a:p>
            <a:pPr indent="0"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	}</a:t>
            </a:r>
          </a:p>
          <a:p>
            <a:pPr indent="0">
              <a:defRPr sz="190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000000"/>
                </a:solidFill>
              </a:rPr>
              <a:t>		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0326CC"/>
                </a:solidFill>
              </a:rPr>
              <a:t>data</a:t>
            </a:r>
            <a:r>
              <a:rPr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0"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	}</a:t>
            </a:r>
          </a:p>
          <a:p>
            <a:pPr indent="0"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…</a:t>
            </a:r>
          </a:p>
          <a:p>
            <a:pPr indent="0">
              <a:defRPr sz="1900">
                <a:latin typeface="Monaco"/>
                <a:ea typeface="Monaco"/>
                <a:cs typeface="Monaco"/>
                <a:sym typeface="Monaco"/>
              </a:defRPr>
            </a:pPr>
            <a:r>
              <a:t>}</a:t>
            </a:r>
          </a:p>
        </p:txBody>
      </p:sp>
      <p:sp>
        <p:nvSpPr>
          <p:cNvPr id="1529" name="Shape 1312"/>
          <p:cNvSpPr txBox="1"/>
          <p:nvPr>
            <p:ph type="title"/>
          </p:nvPr>
        </p:nvSpPr>
        <p:spPr>
          <a:xfrm>
            <a:off x="1643661" y="47554"/>
            <a:ext cx="9448801" cy="1003301"/>
          </a:xfrm>
          <a:prstGeom prst="rect">
            <a:avLst/>
          </a:prstGeom>
        </p:spPr>
        <p:txBody>
          <a:bodyPr/>
          <a:lstStyle/>
          <a:p>
            <a:pPr/>
            <a:r>
              <a:t>大顶堆的堆排序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Shape 1322"/>
          <p:cNvSpPr txBox="1"/>
          <p:nvPr>
            <p:ph type="title"/>
          </p:nvPr>
        </p:nvSpPr>
        <p:spPr>
          <a:xfrm>
            <a:off x="1681761" y="67592"/>
            <a:ext cx="9448801" cy="1003301"/>
          </a:xfrm>
          <a:prstGeom prst="rect">
            <a:avLst/>
          </a:prstGeom>
        </p:spPr>
        <p:txBody>
          <a:bodyPr/>
          <a:lstStyle/>
          <a:p>
            <a:pPr/>
            <a:r>
              <a:t>堆排序－性能分析</a:t>
            </a:r>
          </a:p>
        </p:txBody>
      </p:sp>
      <p:sp>
        <p:nvSpPr>
          <p:cNvPr id="1532" name="Shape 1323"/>
          <p:cNvSpPr txBox="1"/>
          <p:nvPr/>
        </p:nvSpPr>
        <p:spPr>
          <a:xfrm>
            <a:off x="407607" y="1572486"/>
            <a:ext cx="12189586" cy="43578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lnSpc>
                <a:spcPct val="120000"/>
              </a:lnSpc>
              <a:defRPr sz="2800"/>
            </a:pPr>
            <a:r>
              <a:t>1、建堆： 对 n 个关键字，建成深度为h＝ ⎡ log(n+1)</a:t>
            </a:r>
            <a:r>
              <a:rPr baseline="35571"/>
              <a:t> </a:t>
            </a:r>
            <a:r>
              <a:t>⎤ 的堆，</a:t>
            </a:r>
            <a:br/>
            <a:r>
              <a:t>      所需进行的关键字比较的次数至多 O(nlogn)，</a:t>
            </a:r>
            <a:r>
              <a:rPr>
                <a:uFill>
                  <a:solidFill>
                    <a:srgbClr val="333399"/>
                  </a:solidFill>
                </a:uFill>
              </a:rPr>
              <a:t>详细分析的结果为O(</a:t>
            </a:r>
            <a:r>
              <a:rPr b="1" i="1">
                <a:uFill>
                  <a:solidFill>
                    <a:srgbClr val="333399"/>
                  </a:solidFill>
                </a:uFill>
              </a:rPr>
              <a:t>n</a:t>
            </a:r>
            <a:r>
              <a:rPr>
                <a:uFill>
                  <a:solidFill>
                    <a:srgbClr val="333399"/>
                  </a:solidFill>
                </a:uFill>
              </a:rPr>
              <a:t>)</a:t>
            </a:r>
            <a:r>
              <a:t>；</a:t>
            </a:r>
          </a:p>
          <a:p>
            <a:pPr>
              <a:lnSpc>
                <a:spcPct val="120000"/>
              </a:lnSpc>
              <a:defRPr sz="2800"/>
            </a:pPr>
            <a:r>
              <a:t>2、取最大和堆调整：O(logn)，共n次，O(nlogn)</a:t>
            </a:r>
          </a:p>
          <a:p>
            <a:pPr>
              <a:lnSpc>
                <a:spcPct val="120000"/>
              </a:lnSpc>
              <a:defRPr sz="2800"/>
            </a:pPr>
            <a:r>
              <a:t>3、总的时间复杂度O(nlogn)</a:t>
            </a:r>
          </a:p>
          <a:p>
            <a:pPr>
              <a:lnSpc>
                <a:spcPct val="120000"/>
              </a:lnSpc>
              <a:defRPr sz="2800"/>
            </a:pPr>
            <a:r>
              <a:t>4、平均性能较接近于最坏性能</a:t>
            </a:r>
          </a:p>
          <a:p>
            <a:pPr>
              <a:lnSpc>
                <a:spcPct val="120000"/>
              </a:lnSpc>
              <a:defRPr sz="2800"/>
            </a:pPr>
            <a:r>
              <a:t>5、辅助空间为</a:t>
            </a:r>
            <a:r>
              <a:rPr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rPr>
              <a:t>O(1)</a:t>
            </a:r>
            <a:endParaRPr>
              <a:solidFill>
                <a:srgbClr val="333399"/>
              </a:solidFill>
              <a:uFill>
                <a:solidFill>
                  <a:srgbClr val="333399"/>
                </a:solidFill>
              </a:uFill>
            </a:endParaRPr>
          </a:p>
          <a:p>
            <a:pPr>
              <a:lnSpc>
                <a:spcPct val="120000"/>
              </a:lnSpc>
              <a:defRPr sz="2800"/>
            </a:pPr>
            <a:r>
              <a:rPr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</a:rPr>
              <a:t>6、不稳定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4" name="Shape 1325"/>
          <p:cNvSpPr txBox="1"/>
          <p:nvPr>
            <p:ph type="title"/>
          </p:nvPr>
        </p:nvSpPr>
        <p:spPr>
          <a:xfrm>
            <a:off x="1611488" y="125588"/>
            <a:ext cx="9448801" cy="952501"/>
          </a:xfrm>
          <a:prstGeom prst="rect">
            <a:avLst/>
          </a:prstGeom>
        </p:spPr>
        <p:txBody>
          <a:bodyPr/>
          <a:lstStyle>
            <a:lvl1pPr marR="56065" indent="56065" defTabSz="1256538"/>
          </a:lstStyle>
          <a:p>
            <a:pPr/>
            <a:r>
              <a:t>总结</a:t>
            </a:r>
          </a:p>
        </p:txBody>
      </p:sp>
      <p:sp>
        <p:nvSpPr>
          <p:cNvPr id="1535" name="1、基础：完全二叉树的顺序存储，以及父-子位置的计算"/>
          <p:cNvSpPr txBox="1"/>
          <p:nvPr/>
        </p:nvSpPr>
        <p:spPr>
          <a:xfrm>
            <a:off x="278784" y="1460500"/>
            <a:ext cx="9633476" cy="635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1、基础：完全二叉树的顺序存储，以及父-子位置的计算</a:t>
            </a:r>
          </a:p>
        </p:txBody>
      </p:sp>
      <p:sp>
        <p:nvSpPr>
          <p:cNvPr id="1536" name="3、堆是递归定义的，但实现时没有使用递归(why ?)。…"/>
          <p:cNvSpPr txBox="1"/>
          <p:nvPr/>
        </p:nvSpPr>
        <p:spPr>
          <a:xfrm>
            <a:off x="278784" y="2866714"/>
            <a:ext cx="9887600" cy="22167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  <a:r>
              <a:t>3、堆是递归定义的，但实现时没有使用递归(why ?)。</a:t>
            </a:r>
          </a:p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  <a:r>
              <a:t>      递归编程是将一个大的结构拆分成小的相同结构。</a:t>
            </a:r>
          </a:p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  <a:r>
              <a:t>      堆的实现是其逆过程，以小的结构形成大的相同结构。</a:t>
            </a:r>
          </a:p>
        </p:txBody>
      </p:sp>
      <p:sp>
        <p:nvSpPr>
          <p:cNvPr id="1537" name="2、核心：SiftUp和SiftDown。"/>
          <p:cNvSpPr txBox="1"/>
          <p:nvPr/>
        </p:nvSpPr>
        <p:spPr>
          <a:xfrm>
            <a:off x="278784" y="2209800"/>
            <a:ext cx="5146494" cy="635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2、核心：SiftUp和SiftDown。</a:t>
            </a:r>
          </a:p>
        </p:txBody>
      </p:sp>
      <p:sp>
        <p:nvSpPr>
          <p:cNvPr id="1538" name="4、java.util.PriorityElements实现时使用了小顶堆，是最小优先级队列。"/>
          <p:cNvSpPr txBox="1"/>
          <p:nvPr/>
        </p:nvSpPr>
        <p:spPr>
          <a:xfrm>
            <a:off x="278784" y="5143500"/>
            <a:ext cx="11897710" cy="635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4、java.util.PriorityElements实现时使用了小顶堆，是最小优先级队列。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Shape 1325"/>
          <p:cNvSpPr txBox="1"/>
          <p:nvPr>
            <p:ph type="title"/>
          </p:nvPr>
        </p:nvSpPr>
        <p:spPr>
          <a:xfrm>
            <a:off x="1611488" y="125588"/>
            <a:ext cx="9448801" cy="952501"/>
          </a:xfrm>
          <a:prstGeom prst="rect">
            <a:avLst/>
          </a:prstGeom>
        </p:spPr>
        <p:txBody>
          <a:bodyPr/>
          <a:lstStyle>
            <a:lvl1pPr marR="56065" indent="56065" defTabSz="1256538"/>
          </a:lstStyle>
          <a:p>
            <a:pPr/>
            <a:r>
              <a:t>致谢</a:t>
            </a:r>
          </a:p>
        </p:txBody>
      </p:sp>
      <p:sp>
        <p:nvSpPr>
          <p:cNvPr id="1541" name="本节的代码是在java类库的PriorityElements的基础上修改而来，特向作者…"/>
          <p:cNvSpPr txBox="1"/>
          <p:nvPr/>
        </p:nvSpPr>
        <p:spPr>
          <a:xfrm>
            <a:off x="814273" y="1690835"/>
            <a:ext cx="11503253" cy="1475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700"/>
            </a:pPr>
            <a:r>
              <a:t> 本节的代码是在java类库的PriorityElements的基础上修改而来，特向作者 </a:t>
            </a:r>
          </a:p>
          <a:p>
            <a:pPr>
              <a:defRPr sz="2700"/>
            </a:pPr>
            <a:r>
              <a:t>                                       Josh Bloch, Doug Lea </a:t>
            </a:r>
          </a:p>
          <a:p>
            <a:pPr>
              <a:defRPr sz="2700"/>
            </a:pPr>
            <a:r>
              <a:t> 致谢。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3" name="Shape 1325"/>
          <p:cNvSpPr txBox="1"/>
          <p:nvPr>
            <p:ph type="title"/>
          </p:nvPr>
        </p:nvSpPr>
        <p:spPr>
          <a:xfrm>
            <a:off x="1611488" y="125588"/>
            <a:ext cx="9448801" cy="952501"/>
          </a:xfrm>
          <a:prstGeom prst="rect">
            <a:avLst/>
          </a:prstGeom>
        </p:spPr>
        <p:txBody>
          <a:bodyPr/>
          <a:lstStyle>
            <a:lvl1pPr marR="56065" indent="56065" defTabSz="1256538"/>
          </a:lstStyle>
          <a:p>
            <a:pPr/>
            <a:r>
              <a:t>作业</a:t>
            </a:r>
          </a:p>
        </p:txBody>
      </p:sp>
      <p:sp>
        <p:nvSpPr>
          <p:cNvPr id="1544" name="Shape 1326"/>
          <p:cNvSpPr txBox="1"/>
          <p:nvPr/>
        </p:nvSpPr>
        <p:spPr>
          <a:xfrm>
            <a:off x="241300" y="1536700"/>
            <a:ext cx="10649599" cy="3798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  <a:r>
              <a:t>给出数组 A= [17, 30, 15, 12, 9,  2, 8, 20, 7, 6, 5 , 3]</a:t>
            </a:r>
          </a:p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  <a:r>
              <a:t>1、画出相应的完全二叉树</a:t>
            </a:r>
          </a:p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  <a:r>
              <a:t>2、建立小顶堆，给出用数组和树的表示形式的结果</a:t>
            </a:r>
          </a:p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  <a:r>
              <a:t>3、对2得到的小顶堆，删除最小的数据，给出调整后的小顶堆</a:t>
            </a:r>
          </a:p>
          <a:p>
            <a:pPr marR="57798" defTabSz="1295400">
              <a:spcBef>
                <a:spcPts val="1900"/>
              </a:spcBef>
              <a:defRPr>
                <a:uFill>
                  <a:solidFill>
                    <a:srgbClr val="000000"/>
                  </a:solidFill>
                </a:uFill>
              </a:defRPr>
            </a:pPr>
            <a:r>
              <a:t>4、对3得到的小顶堆，执行插入4的操作，给出调整后的小顶堆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95CC4"/>
      </a:accent1>
      <a:accent2>
        <a:srgbClr val="1B8518"/>
      </a:accent2>
      <a:accent3>
        <a:srgbClr val="D3B21C"/>
      </a:accent3>
      <a:accent4>
        <a:srgbClr val="D45510"/>
      </a:accent4>
      <a:accent5>
        <a:srgbClr val="BA120A"/>
      </a:accent5>
      <a:accent6>
        <a:srgbClr val="62298A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Avenir Roman"/>
        <a:ea typeface="Avenir Roman"/>
        <a:cs typeface="Avenir Roman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57798" indent="57798" algn="l" defTabSz="1295400" rtl="0" fontAlgn="auto" latinLnBrk="0" hangingPunct="0">
          <a:lnSpc>
            <a:spcPct val="100000"/>
          </a:lnSpc>
          <a:spcBef>
            <a:spcPts val="19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>
              <a:solidFill>
                <a:srgbClr val="000000"/>
              </a:solidFill>
            </a:uFill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57798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95CC4"/>
      </a:accent1>
      <a:accent2>
        <a:srgbClr val="1B8518"/>
      </a:accent2>
      <a:accent3>
        <a:srgbClr val="D3B21C"/>
      </a:accent3>
      <a:accent4>
        <a:srgbClr val="D45510"/>
      </a:accent4>
      <a:accent5>
        <a:srgbClr val="BA120A"/>
      </a:accent5>
      <a:accent6>
        <a:srgbClr val="62298A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Avenir Roman"/>
        <a:ea typeface="Avenir Roman"/>
        <a:cs typeface="Avenir Roman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57798" indent="57798" algn="l" defTabSz="1295400" rtl="0" fontAlgn="auto" latinLnBrk="0" hangingPunct="0">
          <a:lnSpc>
            <a:spcPct val="100000"/>
          </a:lnSpc>
          <a:spcBef>
            <a:spcPts val="19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>
              <a:solidFill>
                <a:srgbClr val="000000"/>
              </a:solidFill>
            </a:uFill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57798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