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s/comment1.xml" ContentType="application/vnd.openxmlformats-officedocument.presentationml.comment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s/comment2.xml" ContentType="application/vnd.openxmlformats-officedocument.presentationml.comments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7"/>
    <p:sldId id="275" r:id="rId28"/>
    <p:sldId id="276" r:id="rId3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CDFE2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2E78C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394F8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4EB3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omments" Target="comments/comment1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comments" Target="comments/comment2.xml"/><Relationship Id="rId30" Type="http://schemas.openxmlformats.org/officeDocument/2006/relationships/slide" Target="slides/slide21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14T08:30:53.145" idx="1">
    <p:pos x="3923" y="4414"/>
    <p:text>ArrayDeque数据不能为null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14T08:35:47.867" idx="2">
    <p:pos x="5057" y="3664"/>
    <p:text>数数：下一层结点的个数是上一层的2倍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593795" y="28503"/>
            <a:ext cx="623149" cy="675080"/>
          </a:xfrm>
          <a:prstGeom prst="rect">
            <a:avLst/>
          </a:prstGeom>
          <a:solidFill>
            <a:srgbClr val="F81F0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" name="矩形"/>
          <p:cNvSpPr/>
          <p:nvPr/>
        </p:nvSpPr>
        <p:spPr>
          <a:xfrm>
            <a:off x="1143000" y="28503"/>
            <a:ext cx="467360" cy="675080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" name="矩形"/>
          <p:cNvSpPr/>
          <p:nvPr/>
        </p:nvSpPr>
        <p:spPr>
          <a:xfrm>
            <a:off x="769902" y="381000"/>
            <a:ext cx="600570" cy="675076"/>
          </a:xfrm>
          <a:prstGeom prst="rect">
            <a:avLst/>
          </a:prstGeom>
          <a:solidFill>
            <a:srgbClr val="3333C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" name="矩形"/>
          <p:cNvSpPr/>
          <p:nvPr/>
        </p:nvSpPr>
        <p:spPr>
          <a:xfrm>
            <a:off x="1295964" y="381000"/>
            <a:ext cx="520703" cy="675076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" name="矩形"/>
          <p:cNvSpPr/>
          <p:nvPr/>
        </p:nvSpPr>
        <p:spPr>
          <a:xfrm>
            <a:off x="190498" y="449015"/>
            <a:ext cx="796999" cy="600570"/>
          </a:xfrm>
          <a:prstGeom prst="rect">
            <a:avLst/>
          </a:prstGeom>
          <a:gradFill>
            <a:gsLst>
              <a:gs pos="0">
                <a:srgbClr val="FEE8F7"/>
              </a:gs>
              <a:gs pos="100000">
                <a:srgbClr val="FF0000"/>
              </a:gs>
            </a:gsLst>
            <a:lin ang="189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" name="矩形"/>
          <p:cNvSpPr/>
          <p:nvPr/>
        </p:nvSpPr>
        <p:spPr>
          <a:xfrm>
            <a:off x="1131404" y="26527"/>
            <a:ext cx="46051" cy="1069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8" name="矩形"/>
          <p:cNvSpPr/>
          <p:nvPr/>
        </p:nvSpPr>
        <p:spPr>
          <a:xfrm>
            <a:off x="629919" y="1024748"/>
            <a:ext cx="11699807" cy="45159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7" indent="57797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9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10524" y="28504"/>
            <a:ext cx="1074706" cy="100245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1960573" y="40779"/>
            <a:ext cx="9398004" cy="1003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2248" tIns="72248" rIns="72248" bIns="72248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 defTabSz="825500"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57797" indent="57797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7" indent="115596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0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512126" marR="57798" indent="-471487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946875" marR="57798" indent="-449035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374138" marR="57798" indent="-419100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915158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372358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372359" marR="57798" indent="-502918" algn="l" defTabSz="130048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 typeface="Tahoma"/>
        <a:buChar char="n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二叉搜索树</a:t>
            </a:r>
          </a:p>
        </p:txBody>
      </p:sp>
      <p:sp>
        <p:nvSpPr>
          <p:cNvPr id="30" name="测试！！！"/>
          <p:cNvSpPr txBox="1"/>
          <p:nvPr/>
        </p:nvSpPr>
        <p:spPr>
          <a:xfrm>
            <a:off x="178364" y="1411169"/>
            <a:ext cx="29718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>
                <a:solidFill>
                  <a:schemeClr val="accent5"/>
                </a:solidFill>
              </a:defRPr>
            </a:lvl1pPr>
          </a:lstStyle>
          <a:p>
            <a:pPr/>
            <a:r>
              <a:t>测试！！！</a:t>
            </a:r>
          </a:p>
        </p:txBody>
      </p:sp>
      <p:sp>
        <p:nvSpPr>
          <p:cNvPr id="31" name="1、空树…"/>
          <p:cNvSpPr txBox="1"/>
          <p:nvPr/>
        </p:nvSpPr>
        <p:spPr>
          <a:xfrm>
            <a:off x="1268837" y="2349296"/>
            <a:ext cx="2590801" cy="6541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1、空树</a:t>
            </a:r>
          </a:p>
          <a:p>
            <a:pPr>
              <a:lnSpc>
                <a:spcPct val="120000"/>
              </a:lnSpc>
            </a:pPr>
            <a:r>
              <a:t>2、叶子结点</a:t>
            </a:r>
          </a:p>
          <a:p>
            <a:pPr>
              <a:lnSpc>
                <a:spcPct val="120000"/>
              </a:lnSpc>
            </a:pPr>
            <a:r>
              <a:t>      a、左孩子</a:t>
            </a:r>
          </a:p>
          <a:p>
            <a:pPr>
              <a:lnSpc>
                <a:spcPct val="120000"/>
              </a:lnSpc>
            </a:pPr>
            <a:r>
              <a:t>      b、右孩子</a:t>
            </a:r>
          </a:p>
          <a:p>
            <a:pPr>
              <a:lnSpc>
                <a:spcPct val="120000"/>
              </a:lnSpc>
            </a:pPr>
            <a:r>
              <a:t>3、只有左子树</a:t>
            </a:r>
          </a:p>
          <a:p>
            <a:pPr>
              <a:lnSpc>
                <a:spcPct val="120000"/>
              </a:lnSpc>
            </a:pPr>
            <a:r>
              <a:t>      a、左孩子</a:t>
            </a:r>
          </a:p>
          <a:p>
            <a:pPr>
              <a:lnSpc>
                <a:spcPct val="120000"/>
              </a:lnSpc>
            </a:pPr>
            <a:r>
              <a:t>      b、右孩子</a:t>
            </a:r>
          </a:p>
          <a:p>
            <a:pPr>
              <a:lnSpc>
                <a:spcPct val="120000"/>
              </a:lnSpc>
            </a:pPr>
            <a:r>
              <a:t>4、只有右子树</a:t>
            </a:r>
          </a:p>
          <a:p>
            <a:pPr>
              <a:lnSpc>
                <a:spcPct val="120000"/>
              </a:lnSpc>
            </a:pPr>
            <a:r>
              <a:t>      a、左孩子</a:t>
            </a:r>
          </a:p>
          <a:p>
            <a:pPr>
              <a:lnSpc>
                <a:spcPct val="120000"/>
              </a:lnSpc>
            </a:pPr>
            <a:r>
              <a:t>      b、右孩子</a:t>
            </a:r>
          </a:p>
        </p:txBody>
      </p:sp>
      <p:sp>
        <p:nvSpPr>
          <p:cNvPr id="32" name="几种情况？"/>
          <p:cNvSpPr txBox="1"/>
          <p:nvPr/>
        </p:nvSpPr>
        <p:spPr>
          <a:xfrm>
            <a:off x="8303969" y="2349296"/>
            <a:ext cx="2019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几种情况？</a:t>
            </a:r>
          </a:p>
        </p:txBody>
      </p:sp>
      <p:sp>
        <p:nvSpPr>
          <p:cNvPr id="33" name="构造测试用例，逐一测试"/>
          <p:cNvSpPr txBox="1"/>
          <p:nvPr/>
        </p:nvSpPr>
        <p:spPr>
          <a:xfrm>
            <a:off x="8303969" y="3022396"/>
            <a:ext cx="4305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构造测试用例，逐一测试</a:t>
            </a:r>
          </a:p>
        </p:txBody>
      </p:sp>
      <p:sp>
        <p:nvSpPr>
          <p:cNvPr id="34" name="5、左右子树都有…"/>
          <p:cNvSpPr txBox="1"/>
          <p:nvPr/>
        </p:nvSpPr>
        <p:spPr>
          <a:xfrm>
            <a:off x="4208553" y="2349296"/>
            <a:ext cx="3543301" cy="5228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5、左右子树都有</a:t>
            </a:r>
          </a:p>
          <a:p>
            <a:pPr>
              <a:lnSpc>
                <a:spcPct val="120000"/>
              </a:lnSpc>
            </a:pPr>
            <a:r>
              <a:t>      a、左孩子</a:t>
            </a:r>
          </a:p>
          <a:p>
            <a:pPr>
              <a:lnSpc>
                <a:spcPct val="120000"/>
              </a:lnSpc>
            </a:pPr>
            <a:r>
              <a:t>      b、右孩子</a:t>
            </a:r>
          </a:p>
          <a:p>
            <a:pPr>
              <a:lnSpc>
                <a:spcPct val="120000"/>
              </a:lnSpc>
            </a:pPr>
            <a:r>
              <a:t>6、根结点</a:t>
            </a:r>
          </a:p>
          <a:p>
            <a:pPr>
              <a:lnSpc>
                <a:spcPct val="120000"/>
              </a:lnSpc>
            </a:pPr>
            <a:r>
              <a:t>      a、叶子结点</a:t>
            </a:r>
          </a:p>
          <a:p>
            <a:pPr>
              <a:lnSpc>
                <a:spcPct val="120000"/>
              </a:lnSpc>
            </a:pPr>
            <a:r>
              <a:t>      b、只有左子树</a:t>
            </a:r>
          </a:p>
          <a:p>
            <a:pPr>
              <a:lnSpc>
                <a:spcPct val="120000"/>
              </a:lnSpc>
            </a:pPr>
            <a:r>
              <a:t>      c、只有右子树</a:t>
            </a:r>
          </a:p>
          <a:p>
            <a:pPr>
              <a:lnSpc>
                <a:spcPct val="120000"/>
              </a:lnSpc>
            </a:pPr>
            <a:r>
              <a:t>      d、左右子树都有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二叉搜索树</a:t>
            </a:r>
          </a:p>
        </p:txBody>
      </p:sp>
      <p:sp>
        <p:nvSpPr>
          <p:cNvPr id="37" name="public static void main(String[] args) {…"/>
          <p:cNvSpPr txBox="1"/>
          <p:nvPr/>
        </p:nvSpPr>
        <p:spPr>
          <a:xfrm>
            <a:off x="381359" y="1124372"/>
            <a:ext cx="12327832" cy="5507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main(String[] </a:t>
            </a:r>
            <a:r>
              <a:rPr>
                <a:solidFill>
                  <a:srgbClr val="7E504F"/>
                </a:solidFill>
              </a:rPr>
              <a:t>args</a:t>
            </a:r>
            <a:r>
              <a:t>) {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BinarySearchTree&lt;Integer, Character&gt; </a:t>
            </a:r>
            <a:r>
              <a:rPr>
                <a:solidFill>
                  <a:srgbClr val="7E504F"/>
                </a:solidFill>
              </a:rPr>
              <a:t>bs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BinarySearchTree&lt;&gt;();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bs</a:t>
            </a:r>
            <a:r>
              <a:t>.get(6));</a:t>
            </a:r>
            <a:r>
              <a:rPr>
                <a:solidFill>
                  <a:srgbClr val="4E9072"/>
                </a:solidFill>
              </a:rPr>
              <a:t>// 测试空表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.put(6, </a:t>
            </a:r>
            <a:r>
              <a:rPr>
                <a:solidFill>
                  <a:srgbClr val="3933FF"/>
                </a:solidFill>
              </a:rPr>
              <a:t>'a'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.put(3, </a:t>
            </a:r>
            <a:r>
              <a:rPr>
                <a:solidFill>
                  <a:srgbClr val="3933FF"/>
                </a:solidFill>
              </a:rPr>
              <a:t>'b'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.put(2, </a:t>
            </a:r>
            <a:r>
              <a:rPr>
                <a:solidFill>
                  <a:srgbClr val="3933FF"/>
                </a:solidFill>
              </a:rPr>
              <a:t>'c'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.put(3, </a:t>
            </a:r>
            <a:r>
              <a:rPr>
                <a:solidFill>
                  <a:srgbClr val="3933FF"/>
                </a:solidFill>
              </a:rPr>
              <a:t>'d'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替换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.put(5, </a:t>
            </a:r>
            <a:r>
              <a:rPr>
                <a:solidFill>
                  <a:srgbClr val="3933FF"/>
                </a:solidFill>
              </a:rPr>
              <a:t>'e'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.put(4, </a:t>
            </a:r>
            <a:r>
              <a:rPr>
                <a:solidFill>
                  <a:srgbClr val="3933FF"/>
                </a:solidFill>
              </a:rPr>
              <a:t>'f'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.put(9, </a:t>
            </a:r>
            <a:r>
              <a:rPr>
                <a:solidFill>
                  <a:srgbClr val="3933FF"/>
                </a:solidFill>
              </a:rPr>
              <a:t>'g'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.put(8, </a:t>
            </a:r>
            <a:r>
              <a:rPr>
                <a:solidFill>
                  <a:srgbClr val="3933FF"/>
                </a:solidFill>
              </a:rPr>
              <a:t>'i'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.put(7, </a:t>
            </a:r>
            <a:r>
              <a:rPr>
                <a:solidFill>
                  <a:srgbClr val="3933FF"/>
                </a:solidFill>
              </a:rPr>
              <a:t>'h'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.put(10, </a:t>
            </a:r>
            <a:r>
              <a:rPr>
                <a:solidFill>
                  <a:srgbClr val="3933FF"/>
                </a:solidFill>
              </a:rPr>
              <a:t>'i'</a:t>
            </a:r>
            <a:r>
              <a:t>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.inOrder();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bs</a:t>
            </a:r>
            <a:r>
              <a:t>.get(6));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t>.println(</a:t>
            </a:r>
            <a:r>
              <a:rPr>
                <a:solidFill>
                  <a:srgbClr val="7E504F"/>
                </a:solidFill>
              </a:rPr>
              <a:t>bs</a:t>
            </a:r>
            <a:r>
              <a:t>.get(2));</a:t>
            </a:r>
          </a:p>
          <a:p>
            <a:pPr>
              <a:defRPr sz="16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rPr>
                <a:solidFill>
                  <a:srgbClr val="7E504F"/>
                </a:solidFill>
              </a:rPr>
              <a:t>bs</a:t>
            </a:r>
            <a:r>
              <a:rPr>
                <a:solidFill>
                  <a:srgbClr val="000000"/>
                </a:solidFill>
              </a:rPr>
              <a:t>.remove(9));</a:t>
            </a:r>
            <a:r>
              <a:t>// 测试各种情况2，4，8，10，5，7，3，9，6; 不put5和4，然后remove 3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System.</a:t>
            </a:r>
            <a:r>
              <a:rPr>
                <a:solidFill>
                  <a:srgbClr val="0326CC"/>
                </a:solidFill>
              </a:rPr>
              <a:t>out</a:t>
            </a:r>
            <a:r>
              <a:rPr>
                <a:solidFill>
                  <a:srgbClr val="000000"/>
                </a:solidFill>
              </a:rPr>
              <a:t>.println(</a:t>
            </a:r>
            <a:r>
              <a:t>"------after remove------"</a:t>
            </a:r>
            <a:r>
              <a:rPr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bs</a:t>
            </a:r>
            <a:r>
              <a:t>.inOrder();</a:t>
            </a:r>
          </a:p>
          <a:p>
            <a:pPr>
              <a:defRPr sz="16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sp>
        <p:nvSpPr>
          <p:cNvPr id="38" name="从空树开始建树…"/>
          <p:cNvSpPr txBox="1"/>
          <p:nvPr/>
        </p:nvSpPr>
        <p:spPr>
          <a:xfrm>
            <a:off x="825454" y="6808789"/>
            <a:ext cx="3801675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从空树开始建树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没有scanner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唯一出现print的地方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成组"/>
          <p:cNvGrpSpPr/>
          <p:nvPr/>
        </p:nvGrpSpPr>
        <p:grpSpPr>
          <a:xfrm>
            <a:off x="4952910" y="4732813"/>
            <a:ext cx="5471444" cy="4199471"/>
            <a:chOff x="0" y="0"/>
            <a:chExt cx="5471443" cy="4199470"/>
          </a:xfrm>
        </p:grpSpPr>
        <p:grpSp>
          <p:nvGrpSpPr>
            <p:cNvPr id="48" name="Group 769"/>
            <p:cNvGrpSpPr/>
            <p:nvPr/>
          </p:nvGrpSpPr>
          <p:grpSpPr>
            <a:xfrm>
              <a:off x="707532" y="42896"/>
              <a:ext cx="3221850" cy="571221"/>
              <a:chOff x="0" y="0"/>
              <a:chExt cx="3221849" cy="571219"/>
            </a:xfrm>
          </p:grpSpPr>
          <p:sp>
            <p:nvSpPr>
              <p:cNvPr id="40" name="Shape 761"/>
              <p:cNvSpPr/>
              <p:nvPr/>
            </p:nvSpPr>
            <p:spPr>
              <a:xfrm>
                <a:off x="2378085" y="0"/>
                <a:ext cx="843765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" name="Shape 762"/>
              <p:cNvSpPr/>
              <p:nvPr/>
            </p:nvSpPr>
            <p:spPr>
              <a:xfrm>
                <a:off x="2988615" y="4861"/>
                <a:ext cx="2288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" name="Shape 763"/>
              <p:cNvSpPr/>
              <p:nvPr/>
            </p:nvSpPr>
            <p:spPr>
              <a:xfrm>
                <a:off x="1577768" y="281964"/>
                <a:ext cx="841479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" name="Shape 764"/>
              <p:cNvSpPr/>
              <p:nvPr/>
            </p:nvSpPr>
            <p:spPr>
              <a:xfrm>
                <a:off x="843762" y="0"/>
                <a:ext cx="841479" cy="566359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" name="Shape 765"/>
              <p:cNvSpPr/>
              <p:nvPr/>
            </p:nvSpPr>
            <p:spPr>
              <a:xfrm>
                <a:off x="1452004" y="4861"/>
                <a:ext cx="2289" cy="56636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" name="Shape 766"/>
              <p:cNvSpPr/>
              <p:nvPr/>
            </p:nvSpPr>
            <p:spPr>
              <a:xfrm>
                <a:off x="0" y="281964"/>
                <a:ext cx="843765" cy="2432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6" name="Shape 767"/>
              <p:cNvSpPr/>
              <p:nvPr/>
            </p:nvSpPr>
            <p:spPr>
              <a:xfrm flipH="1">
                <a:off x="2988615" y="194457"/>
                <a:ext cx="105186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" name="Shape 768"/>
              <p:cNvSpPr/>
              <p:nvPr/>
            </p:nvSpPr>
            <p:spPr>
              <a:xfrm>
                <a:off x="3093798" y="194457"/>
                <a:ext cx="105187" cy="281966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49" name="Shape 770"/>
            <p:cNvSpPr/>
            <p:nvPr/>
          </p:nvSpPr>
          <p:spPr>
            <a:xfrm>
              <a:off x="3091744" y="803769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" name="Shape 771"/>
            <p:cNvSpPr/>
            <p:nvPr/>
          </p:nvSpPr>
          <p:spPr>
            <a:xfrm>
              <a:off x="3703602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" name="Shape 772"/>
            <p:cNvSpPr/>
            <p:nvPr/>
          </p:nvSpPr>
          <p:spPr>
            <a:xfrm>
              <a:off x="2295594" y="1065671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" name="Shape 773"/>
            <p:cNvSpPr/>
            <p:nvPr/>
          </p:nvSpPr>
          <p:spPr>
            <a:xfrm>
              <a:off x="1558712" y="803769"/>
              <a:ext cx="83989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" name="Shape 774"/>
            <p:cNvSpPr/>
            <p:nvPr/>
          </p:nvSpPr>
          <p:spPr>
            <a:xfrm>
              <a:off x="21685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4" name="Shape 775"/>
            <p:cNvSpPr/>
            <p:nvPr/>
          </p:nvSpPr>
          <p:spPr>
            <a:xfrm>
              <a:off x="714303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3" name="Group 784"/>
            <p:cNvGrpSpPr/>
            <p:nvPr/>
          </p:nvGrpSpPr>
          <p:grpSpPr>
            <a:xfrm>
              <a:off x="734624" y="1519485"/>
              <a:ext cx="3221851" cy="568963"/>
              <a:chOff x="0" y="0"/>
              <a:chExt cx="3221849" cy="568962"/>
            </a:xfrm>
          </p:grpSpPr>
          <p:sp>
            <p:nvSpPr>
              <p:cNvPr id="55" name="Shape 776"/>
              <p:cNvSpPr/>
              <p:nvPr/>
            </p:nvSpPr>
            <p:spPr>
              <a:xfrm>
                <a:off x="2378085" y="-1"/>
                <a:ext cx="843765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" name="Shape 777"/>
              <p:cNvSpPr/>
              <p:nvPr/>
            </p:nvSpPr>
            <p:spPr>
              <a:xfrm>
                <a:off x="2988613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" name="Shape 778"/>
              <p:cNvSpPr/>
              <p:nvPr/>
            </p:nvSpPr>
            <p:spPr>
              <a:xfrm>
                <a:off x="1577767" y="280849"/>
                <a:ext cx="841479" cy="2423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" name="Shape 779"/>
              <p:cNvSpPr/>
              <p:nvPr/>
            </p:nvSpPr>
            <p:spPr>
              <a:xfrm>
                <a:off x="843762" y="-1"/>
                <a:ext cx="841479" cy="564121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" name="Shape 780"/>
              <p:cNvSpPr/>
              <p:nvPr/>
            </p:nvSpPr>
            <p:spPr>
              <a:xfrm>
                <a:off x="1452003" y="4841"/>
                <a:ext cx="2289" cy="56412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" name="Shape 781"/>
              <p:cNvSpPr/>
              <p:nvPr/>
            </p:nvSpPr>
            <p:spPr>
              <a:xfrm>
                <a:off x="0" y="280849"/>
                <a:ext cx="843765" cy="2423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" name="Shape 782"/>
              <p:cNvSpPr/>
              <p:nvPr/>
            </p:nvSpPr>
            <p:spPr>
              <a:xfrm flipH="1">
                <a:off x="2988614" y="193687"/>
                <a:ext cx="105187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" name="Shape 783"/>
              <p:cNvSpPr/>
              <p:nvPr/>
            </p:nvSpPr>
            <p:spPr>
              <a:xfrm>
                <a:off x="3093798" y="193687"/>
                <a:ext cx="105186" cy="280852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72" name="Group 793"/>
            <p:cNvGrpSpPr/>
            <p:nvPr/>
          </p:nvGrpSpPr>
          <p:grpSpPr>
            <a:xfrm>
              <a:off x="754944" y="2260209"/>
              <a:ext cx="3221851" cy="547168"/>
              <a:chOff x="0" y="0"/>
              <a:chExt cx="3221849" cy="547166"/>
            </a:xfrm>
          </p:grpSpPr>
          <p:sp>
            <p:nvSpPr>
              <p:cNvPr id="64" name="Shape 785"/>
              <p:cNvSpPr/>
              <p:nvPr/>
            </p:nvSpPr>
            <p:spPr>
              <a:xfrm>
                <a:off x="2378085" y="955"/>
                <a:ext cx="843765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" name="Shape 786"/>
              <p:cNvSpPr/>
              <p:nvPr/>
            </p:nvSpPr>
            <p:spPr>
              <a:xfrm>
                <a:off x="2988615" y="0"/>
                <a:ext cx="2288" cy="54621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" name="Shape 787"/>
              <p:cNvSpPr/>
              <p:nvPr/>
            </p:nvSpPr>
            <p:spPr>
              <a:xfrm>
                <a:off x="1577768" y="267244"/>
                <a:ext cx="841479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" name="Shape 788"/>
              <p:cNvSpPr/>
              <p:nvPr/>
            </p:nvSpPr>
            <p:spPr>
              <a:xfrm>
                <a:off x="843762" y="955"/>
                <a:ext cx="841479" cy="54621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" name="Shape 789"/>
              <p:cNvSpPr/>
              <p:nvPr/>
            </p:nvSpPr>
            <p:spPr>
              <a:xfrm>
                <a:off x="1452004" y="0"/>
                <a:ext cx="2288" cy="546211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" name="Shape 790"/>
              <p:cNvSpPr/>
              <p:nvPr/>
            </p:nvSpPr>
            <p:spPr>
              <a:xfrm>
                <a:off x="0" y="267244"/>
                <a:ext cx="843765" cy="2346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" name="Shape 791"/>
              <p:cNvSpPr/>
              <p:nvPr/>
            </p:nvSpPr>
            <p:spPr>
              <a:xfrm flipH="1">
                <a:off x="2988615" y="182851"/>
                <a:ext cx="105186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" name="Shape 792"/>
              <p:cNvSpPr/>
              <p:nvPr/>
            </p:nvSpPr>
            <p:spPr>
              <a:xfrm>
                <a:off x="3093798" y="182851"/>
                <a:ext cx="105187" cy="271934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81" name="Group 802"/>
            <p:cNvGrpSpPr/>
            <p:nvPr/>
          </p:nvGrpSpPr>
          <p:grpSpPr>
            <a:xfrm>
              <a:off x="754944" y="2953175"/>
              <a:ext cx="3221851" cy="525198"/>
              <a:chOff x="0" y="0"/>
              <a:chExt cx="3221849" cy="525197"/>
            </a:xfrm>
          </p:grpSpPr>
          <p:sp>
            <p:nvSpPr>
              <p:cNvPr id="73" name="Shape 794"/>
              <p:cNvSpPr/>
              <p:nvPr/>
            </p:nvSpPr>
            <p:spPr>
              <a:xfrm>
                <a:off x="2378085" y="-1"/>
                <a:ext cx="843765" cy="52070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" name="Shape 795"/>
              <p:cNvSpPr/>
              <p:nvPr/>
            </p:nvSpPr>
            <p:spPr>
              <a:xfrm>
                <a:off x="2988615" y="4495"/>
                <a:ext cx="2288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" name="Shape 796"/>
              <p:cNvSpPr/>
              <p:nvPr/>
            </p:nvSpPr>
            <p:spPr>
              <a:xfrm>
                <a:off x="1577768" y="260787"/>
                <a:ext cx="841479" cy="2250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" name="Shape 797"/>
              <p:cNvSpPr/>
              <p:nvPr/>
            </p:nvSpPr>
            <p:spPr>
              <a:xfrm>
                <a:off x="843762" y="-1"/>
                <a:ext cx="841479" cy="520703"/>
              </a:xfrm>
              <a:prstGeom prst="rect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7" name="Shape 798"/>
              <p:cNvSpPr/>
              <p:nvPr/>
            </p:nvSpPr>
            <p:spPr>
              <a:xfrm>
                <a:off x="1452004" y="4495"/>
                <a:ext cx="2289" cy="520703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" name="Shape 799"/>
              <p:cNvSpPr/>
              <p:nvPr/>
            </p:nvSpPr>
            <p:spPr>
              <a:xfrm>
                <a:off x="0" y="260787"/>
                <a:ext cx="843765" cy="2250"/>
              </a:xfrm>
              <a:prstGeom prst="line">
                <a:avLst/>
              </a:prstGeom>
              <a:noFill/>
              <a:ln w="28575" cap="sq">
                <a:solidFill>
                  <a:srgbClr val="000099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" name="Shape 800"/>
              <p:cNvSpPr/>
              <p:nvPr/>
            </p:nvSpPr>
            <p:spPr>
              <a:xfrm flipH="1">
                <a:off x="2988615" y="179852"/>
                <a:ext cx="105186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" name="Shape 801"/>
              <p:cNvSpPr/>
              <p:nvPr/>
            </p:nvSpPr>
            <p:spPr>
              <a:xfrm>
                <a:off x="3093798" y="179852"/>
                <a:ext cx="105187" cy="260790"/>
              </a:xfrm>
              <a:prstGeom prst="line">
                <a:avLst/>
              </a:prstGeom>
              <a:noFill/>
              <a:ln w="127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82" name="Shape 803"/>
            <p:cNvSpPr/>
            <p:nvPr/>
          </p:nvSpPr>
          <p:spPr>
            <a:xfrm>
              <a:off x="3132383" y="3668890"/>
              <a:ext cx="844411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" name="Shape 804"/>
            <p:cNvSpPr/>
            <p:nvPr/>
          </p:nvSpPr>
          <p:spPr>
            <a:xfrm>
              <a:off x="3744241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" name="Shape 805"/>
            <p:cNvSpPr/>
            <p:nvPr/>
          </p:nvSpPr>
          <p:spPr>
            <a:xfrm>
              <a:off x="2333131" y="3930792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" name="Shape 806"/>
            <p:cNvSpPr/>
            <p:nvPr/>
          </p:nvSpPr>
          <p:spPr>
            <a:xfrm>
              <a:off x="1599352" y="3668890"/>
              <a:ext cx="839895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" name="Shape 807"/>
            <p:cNvSpPr/>
            <p:nvPr/>
          </p:nvSpPr>
          <p:spPr>
            <a:xfrm>
              <a:off x="2206694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" name="Shape 808"/>
            <p:cNvSpPr/>
            <p:nvPr/>
          </p:nvSpPr>
          <p:spPr>
            <a:xfrm>
              <a:off x="754943" y="3930792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" name="Shape 753"/>
            <p:cNvSpPr/>
            <p:nvPr/>
          </p:nvSpPr>
          <p:spPr>
            <a:xfrm>
              <a:off x="3626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" name="Shape 754"/>
            <p:cNvSpPr/>
            <p:nvPr/>
          </p:nvSpPr>
          <p:spPr>
            <a:xfrm>
              <a:off x="3626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" name="Shape 755"/>
            <p:cNvSpPr/>
            <p:nvPr/>
          </p:nvSpPr>
          <p:spPr>
            <a:xfrm>
              <a:off x="362655" y="1433689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" name="Shape 756"/>
            <p:cNvSpPr/>
            <p:nvPr/>
          </p:nvSpPr>
          <p:spPr>
            <a:xfrm>
              <a:off x="3626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" name="Shape 757"/>
            <p:cNvSpPr/>
            <p:nvPr/>
          </p:nvSpPr>
          <p:spPr>
            <a:xfrm>
              <a:off x="3626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" name="Shape 758"/>
            <p:cNvSpPr/>
            <p:nvPr/>
          </p:nvSpPr>
          <p:spPr>
            <a:xfrm>
              <a:off x="3626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5" name="Shape 810"/>
            <p:cNvSpPr txBox="1"/>
            <p:nvPr/>
          </p:nvSpPr>
          <p:spPr>
            <a:xfrm>
              <a:off x="0" y="877429"/>
              <a:ext cx="736602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6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7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8" name="Shape 813"/>
            <p:cNvSpPr txBox="1"/>
            <p:nvPr/>
          </p:nvSpPr>
          <p:spPr>
            <a:xfrm>
              <a:off x="0" y="3047153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9" name="Shape 814"/>
            <p:cNvSpPr txBox="1"/>
            <p:nvPr/>
          </p:nvSpPr>
          <p:spPr>
            <a:xfrm>
              <a:off x="0" y="36612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0" name="Shape 821"/>
            <p:cNvSpPr txBox="1"/>
            <p:nvPr/>
          </p:nvSpPr>
          <p:spPr>
            <a:xfrm>
              <a:off x="1650717" y="1523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01" name="Shape 822"/>
            <p:cNvSpPr txBox="1"/>
            <p:nvPr/>
          </p:nvSpPr>
          <p:spPr>
            <a:xfrm>
              <a:off x="3175846" y="12699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2" name="Shape 823"/>
            <p:cNvSpPr txBox="1"/>
            <p:nvPr/>
          </p:nvSpPr>
          <p:spPr>
            <a:xfrm>
              <a:off x="1650717" y="91496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3" name="Shape 824"/>
            <p:cNvSpPr txBox="1"/>
            <p:nvPr/>
          </p:nvSpPr>
          <p:spPr>
            <a:xfrm>
              <a:off x="3170766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04" name="Shape 825"/>
            <p:cNvSpPr txBox="1"/>
            <p:nvPr/>
          </p:nvSpPr>
          <p:spPr>
            <a:xfrm>
              <a:off x="1645636" y="16064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5" name="Shape 826"/>
            <p:cNvSpPr txBox="1"/>
            <p:nvPr/>
          </p:nvSpPr>
          <p:spPr>
            <a:xfrm>
              <a:off x="3170766" y="158100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6" name="Shape 827"/>
            <p:cNvSpPr txBox="1"/>
            <p:nvPr/>
          </p:nvSpPr>
          <p:spPr>
            <a:xfrm>
              <a:off x="1653258" y="234244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07" name="Shape 828"/>
            <p:cNvSpPr txBox="1"/>
            <p:nvPr/>
          </p:nvSpPr>
          <p:spPr>
            <a:xfrm>
              <a:off x="3175846" y="233736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8" name="Shape 829"/>
            <p:cNvSpPr txBox="1"/>
            <p:nvPr/>
          </p:nvSpPr>
          <p:spPr>
            <a:xfrm>
              <a:off x="1648176" y="3019779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09" name="Shape 830"/>
            <p:cNvSpPr txBox="1"/>
            <p:nvPr/>
          </p:nvSpPr>
          <p:spPr>
            <a:xfrm>
              <a:off x="3170766" y="301046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0" name="Shape 831"/>
            <p:cNvSpPr txBox="1"/>
            <p:nvPr/>
          </p:nvSpPr>
          <p:spPr>
            <a:xfrm>
              <a:off x="1648176" y="3755814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11" name="Shape 832"/>
            <p:cNvSpPr txBox="1"/>
            <p:nvPr/>
          </p:nvSpPr>
          <p:spPr>
            <a:xfrm>
              <a:off x="3170766" y="3750733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12" name="Shape 833"/>
            <p:cNvSpPr/>
            <p:nvPr/>
          </p:nvSpPr>
          <p:spPr>
            <a:xfrm>
              <a:off x="4606713" y="803769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" name="Shape 834"/>
            <p:cNvSpPr/>
            <p:nvPr/>
          </p:nvSpPr>
          <p:spPr>
            <a:xfrm>
              <a:off x="52165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" name="Shape 835"/>
            <p:cNvSpPr/>
            <p:nvPr/>
          </p:nvSpPr>
          <p:spPr>
            <a:xfrm>
              <a:off x="3807459" y="1065671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" name="Shape 836"/>
            <p:cNvSpPr/>
            <p:nvPr/>
          </p:nvSpPr>
          <p:spPr>
            <a:xfrm flipH="1">
              <a:off x="5216595" y="984391"/>
              <a:ext cx="103860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" name="Shape 837"/>
            <p:cNvSpPr/>
            <p:nvPr/>
          </p:nvSpPr>
          <p:spPr>
            <a:xfrm>
              <a:off x="5322429" y="984391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" name="Shape 838"/>
            <p:cNvSpPr txBox="1"/>
            <p:nvPr/>
          </p:nvSpPr>
          <p:spPr>
            <a:xfrm>
              <a:off x="4711135" y="842716"/>
              <a:ext cx="7366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8" name="Shape 839"/>
            <p:cNvSpPr/>
            <p:nvPr/>
          </p:nvSpPr>
          <p:spPr>
            <a:xfrm>
              <a:off x="4627033" y="3671147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" name="Shape 840"/>
            <p:cNvSpPr/>
            <p:nvPr/>
          </p:nvSpPr>
          <p:spPr>
            <a:xfrm>
              <a:off x="5238891" y="3675663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" name="Shape 841"/>
            <p:cNvSpPr/>
            <p:nvPr/>
          </p:nvSpPr>
          <p:spPr>
            <a:xfrm>
              <a:off x="3866162" y="3933050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" name="Shape 842"/>
            <p:cNvSpPr/>
            <p:nvPr/>
          </p:nvSpPr>
          <p:spPr>
            <a:xfrm flipH="1">
              <a:off x="5238891" y="3851770"/>
              <a:ext cx="103859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" name="Shape 843"/>
            <p:cNvSpPr/>
            <p:nvPr/>
          </p:nvSpPr>
          <p:spPr>
            <a:xfrm>
              <a:off x="5342749" y="3851770"/>
              <a:ext cx="106118" cy="259646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" name="Shape 844"/>
            <p:cNvSpPr txBox="1"/>
            <p:nvPr/>
          </p:nvSpPr>
          <p:spPr>
            <a:xfrm>
              <a:off x="4706055" y="3710095"/>
              <a:ext cx="7366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50" name="Group 871"/>
          <p:cNvGrpSpPr/>
          <p:nvPr/>
        </p:nvGrpSpPr>
        <p:grpSpPr>
          <a:xfrm>
            <a:off x="1981775" y="1118095"/>
            <a:ext cx="4489314" cy="3347033"/>
            <a:chOff x="0" y="0"/>
            <a:chExt cx="4489312" cy="3347032"/>
          </a:xfrm>
        </p:grpSpPr>
        <p:grpSp>
          <p:nvGrpSpPr>
            <p:cNvPr id="127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125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6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30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128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31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0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138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43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141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2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46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144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49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147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154" name="成组"/>
          <p:cNvGrpSpPr/>
          <p:nvPr/>
        </p:nvGrpSpPr>
        <p:grpSpPr>
          <a:xfrm>
            <a:off x="164394" y="4628747"/>
            <a:ext cx="3490732" cy="4212193"/>
            <a:chOff x="25400" y="25400"/>
            <a:chExt cx="3490731" cy="4212191"/>
          </a:xfrm>
        </p:grpSpPr>
        <p:graphicFrame>
          <p:nvGraphicFramePr>
            <p:cNvPr id="151" name="Table 1053"/>
            <p:cNvGraphicFramePr/>
            <p:nvPr/>
          </p:nvGraphicFramePr>
          <p:xfrm>
            <a:off x="25400" y="503606"/>
            <a:ext cx="480060" cy="3733986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467360"/>
                </a:tblGrid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  <a:tr h="620214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8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52" name="Table 1052"/>
            <p:cNvGraphicFramePr/>
            <p:nvPr/>
          </p:nvGraphicFramePr>
          <p:xfrm>
            <a:off x="479413" y="25400"/>
            <a:ext cx="3036719" cy="563074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0" rtl="0">
                  <a:tableStyleId>{4C3C2611-4C71-4FC5-86AE-919BDF0F9419}</a:tableStyleId>
                </a:tblPr>
                <a:tblGrid>
                  <a:gridCol w="558680"/>
                  <a:gridCol w="558680"/>
                  <a:gridCol w="558680"/>
                  <a:gridCol w="558680"/>
                  <a:gridCol w="558680"/>
                  <a:gridCol w="558680"/>
                </a:tblGrid>
                <a:tr h="550373"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A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B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C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D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E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spcBef>
                            <a:spcPts val="600"/>
                          </a:spcBef>
                          <a:defRPr sz="1800"/>
                        </a:pPr>
                        <a:r>
                          <a:rPr sz="2000">
                            <a:latin typeface="Tahoma"/>
                            <a:ea typeface="Tahoma"/>
                            <a:cs typeface="Tahoma"/>
                            <a:sym typeface="Tahoma"/>
                          </a:rPr>
                          <a:t>F</a:t>
                        </a:r>
                      </a:p>
                    </a:txBody>
                    <a:tcPr marL="50800" marR="50800" marT="50800" marB="50800" anchor="ctr" anchorCtr="0" horzOverflow="overflow">
                      <a:noFill/>
                    </a:tcPr>
                  </a:tc>
                </a:tr>
              </a:tbl>
            </a:graphicData>
          </a:graphic>
        </p:graphicFrame>
        <p:graphicFrame>
          <p:nvGraphicFramePr>
            <p:cNvPr id="153" name="表格"/>
            <p:cNvGraphicFramePr/>
            <p:nvPr/>
          </p:nvGraphicFramePr>
          <p:xfrm>
            <a:off x="506710" y="490914"/>
            <a:ext cx="2728125" cy="3103189"/>
          </p:xfrm>
          <a:graphic xmlns:a="http://schemas.openxmlformats.org/drawingml/2006/main">
            <a:graphicData uri="http://schemas.openxmlformats.org/drawingml/2006/table">
              <a:tbl>
                <a:tblPr firstCol="0" firstRow="0" lastCol="0" lastRow="0" bandCol="0" bandRow="1" rtl="0">
                  <a:tableStyleId>{C7B018BB-80A7-4F77-B60F-C8B233D01FF8}</a:tableStyleId>
                </a:tblPr>
                <a:tblGrid>
                  <a:gridCol w="543085"/>
                  <a:gridCol w="543085"/>
                  <a:gridCol w="543085"/>
                  <a:gridCol w="543085"/>
                  <a:gridCol w="543085"/>
                  <a:gridCol w="543085"/>
                </a:tblGrid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noFill/>
                    </a:tcPr>
                  </a:tc>
                </a:tr>
                <a:tr h="618097"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1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342900" algn="ctr" defTabSz="825500">
                          <a:defRPr sz="1800"/>
                        </a:pPr>
                        <a:r>
                          <a:rPr sz="2100">
                            <a:uFill>
                              <a:solidFill>
                                <a:srgbClr val="000000"/>
                              </a:solidFill>
                            </a:uFill>
                          </a:rPr>
                          <a:t>0</a:t>
                        </a:r>
                      </a:p>
                    </a:txBody>
                    <a:tcPr marL="0" marR="0" marT="0" marB="0" anchor="ctr" anchorCtr="0" horzOverflow="overflow">
                      <a:lnL w="12700">
                        <a:solidFill>
                          <a:srgbClr val="000000"/>
                        </a:solidFill>
                        <a:miter lim="400000"/>
                      </a:lnL>
                      <a:lnR w="12700">
                        <a:solidFill>
                          <a:srgbClr val="000000"/>
                        </a:solidFill>
                        <a:miter lim="400000"/>
                      </a:lnR>
                      <a:lnT w="12700">
                        <a:solidFill>
                          <a:srgbClr val="000000"/>
                        </a:solidFill>
                        <a:miter lim="400000"/>
                      </a:lnT>
                      <a:lnB w="12700">
                        <a:solidFill>
                          <a:srgbClr val="000000"/>
                        </a:solidFill>
                        <a:miter lim="400000"/>
                      </a:lnB>
                      <a:solidFill>
                        <a:srgbClr val="B8BBBD">
                          <a:alpha val="30000"/>
                        </a:srgbClr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155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无向图</a:t>
            </a:r>
          </a:p>
        </p:txBody>
      </p:sp>
      <p:sp>
        <p:nvSpPr>
          <p:cNvPr id="156" name="一条边存了2次…"/>
          <p:cNvSpPr txBox="1"/>
          <p:nvPr/>
        </p:nvSpPr>
        <p:spPr>
          <a:xfrm>
            <a:off x="7252882" y="1442179"/>
            <a:ext cx="5448301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一条边存了2次</a:t>
            </a:r>
          </a:p>
          <a:p>
            <a:pPr>
              <a:lnSpc>
                <a:spcPct val="120000"/>
              </a:lnSpc>
            </a:pPr>
            <a:r>
              <a:t>或者说：</a:t>
            </a:r>
          </a:p>
          <a:p>
            <a:pPr>
              <a:lnSpc>
                <a:spcPct val="120000"/>
              </a:lnSpc>
            </a:pPr>
            <a:r>
              <a:t>每个顶点存储自己的所有邻接点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871"/>
          <p:cNvGrpSpPr/>
          <p:nvPr/>
        </p:nvGrpSpPr>
        <p:grpSpPr>
          <a:xfrm>
            <a:off x="502698" y="1138140"/>
            <a:ext cx="4489314" cy="3347033"/>
            <a:chOff x="0" y="0"/>
            <a:chExt cx="4489312" cy="3347032"/>
          </a:xfrm>
        </p:grpSpPr>
        <p:grpSp>
          <p:nvGrpSpPr>
            <p:cNvPr id="160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158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9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3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161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2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64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6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7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73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171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2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76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174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5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79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177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8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82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180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242" name="成组"/>
          <p:cNvGrpSpPr/>
          <p:nvPr/>
        </p:nvGrpSpPr>
        <p:grpSpPr>
          <a:xfrm>
            <a:off x="5719388" y="1138140"/>
            <a:ext cx="5611145" cy="4209530"/>
            <a:chOff x="0" y="0"/>
            <a:chExt cx="5611143" cy="4209529"/>
          </a:xfrm>
        </p:grpSpPr>
        <p:sp>
          <p:nvSpPr>
            <p:cNvPr id="184" name="Shape 773"/>
            <p:cNvSpPr/>
            <p:nvPr/>
          </p:nvSpPr>
          <p:spPr>
            <a:xfrm>
              <a:off x="1698412" y="803769"/>
              <a:ext cx="83989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" name="Shape 774"/>
            <p:cNvSpPr/>
            <p:nvPr/>
          </p:nvSpPr>
          <p:spPr>
            <a:xfrm>
              <a:off x="23082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" name="Shape 775"/>
            <p:cNvSpPr/>
            <p:nvPr/>
          </p:nvSpPr>
          <p:spPr>
            <a:xfrm>
              <a:off x="854003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" name="Shape 788"/>
            <p:cNvSpPr/>
            <p:nvPr/>
          </p:nvSpPr>
          <p:spPr>
            <a:xfrm>
              <a:off x="1738407" y="2261164"/>
              <a:ext cx="841479" cy="546213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" name="Shape 789"/>
            <p:cNvSpPr/>
            <p:nvPr/>
          </p:nvSpPr>
          <p:spPr>
            <a:xfrm>
              <a:off x="2346648" y="2260209"/>
              <a:ext cx="2289" cy="54621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9" name="Shape 790"/>
            <p:cNvSpPr/>
            <p:nvPr/>
          </p:nvSpPr>
          <p:spPr>
            <a:xfrm>
              <a:off x="894644" y="2527454"/>
              <a:ext cx="843765" cy="234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0" name="Shape 794"/>
            <p:cNvSpPr/>
            <p:nvPr/>
          </p:nvSpPr>
          <p:spPr>
            <a:xfrm>
              <a:off x="3272730" y="2953175"/>
              <a:ext cx="84376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1" name="Shape 795"/>
            <p:cNvSpPr/>
            <p:nvPr/>
          </p:nvSpPr>
          <p:spPr>
            <a:xfrm>
              <a:off x="3883259" y="2957670"/>
              <a:ext cx="2288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2" name="Shape 796"/>
            <p:cNvSpPr/>
            <p:nvPr/>
          </p:nvSpPr>
          <p:spPr>
            <a:xfrm>
              <a:off x="2472412" y="3213962"/>
              <a:ext cx="841479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3" name="Shape 797"/>
            <p:cNvSpPr/>
            <p:nvPr/>
          </p:nvSpPr>
          <p:spPr>
            <a:xfrm>
              <a:off x="1738407" y="2953175"/>
              <a:ext cx="841479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4" name="Shape 798"/>
            <p:cNvSpPr/>
            <p:nvPr/>
          </p:nvSpPr>
          <p:spPr>
            <a:xfrm>
              <a:off x="2346648" y="2957670"/>
              <a:ext cx="2289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5" name="Shape 799"/>
            <p:cNvSpPr/>
            <p:nvPr/>
          </p:nvSpPr>
          <p:spPr>
            <a:xfrm>
              <a:off x="894644" y="3213962"/>
              <a:ext cx="843765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6" name="Shape 803"/>
            <p:cNvSpPr/>
            <p:nvPr/>
          </p:nvSpPr>
          <p:spPr>
            <a:xfrm>
              <a:off x="3272083" y="3668890"/>
              <a:ext cx="844411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7" name="Shape 804"/>
            <p:cNvSpPr/>
            <p:nvPr/>
          </p:nvSpPr>
          <p:spPr>
            <a:xfrm>
              <a:off x="3883941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8" name="Shape 805"/>
            <p:cNvSpPr/>
            <p:nvPr/>
          </p:nvSpPr>
          <p:spPr>
            <a:xfrm>
              <a:off x="2472831" y="3930792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9" name="Shape 806"/>
            <p:cNvSpPr/>
            <p:nvPr/>
          </p:nvSpPr>
          <p:spPr>
            <a:xfrm>
              <a:off x="1739052" y="3668890"/>
              <a:ext cx="839895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0" name="Shape 807"/>
            <p:cNvSpPr/>
            <p:nvPr/>
          </p:nvSpPr>
          <p:spPr>
            <a:xfrm>
              <a:off x="2346394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1" name="Shape 808"/>
            <p:cNvSpPr/>
            <p:nvPr/>
          </p:nvSpPr>
          <p:spPr>
            <a:xfrm>
              <a:off x="894643" y="3930792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2" name="Shape 753"/>
            <p:cNvSpPr/>
            <p:nvPr/>
          </p:nvSpPr>
          <p:spPr>
            <a:xfrm>
              <a:off x="5023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3" name="Shape 754"/>
            <p:cNvSpPr/>
            <p:nvPr/>
          </p:nvSpPr>
          <p:spPr>
            <a:xfrm>
              <a:off x="5023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4" name="Shape 755"/>
            <p:cNvSpPr/>
            <p:nvPr/>
          </p:nvSpPr>
          <p:spPr>
            <a:xfrm>
              <a:off x="502355" y="143368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5" name="Shape 756"/>
            <p:cNvSpPr/>
            <p:nvPr/>
          </p:nvSpPr>
          <p:spPr>
            <a:xfrm>
              <a:off x="5023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6" name="Shape 757"/>
            <p:cNvSpPr/>
            <p:nvPr/>
          </p:nvSpPr>
          <p:spPr>
            <a:xfrm>
              <a:off x="5023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7" name="Shape 758"/>
            <p:cNvSpPr/>
            <p:nvPr/>
          </p:nvSpPr>
          <p:spPr>
            <a:xfrm>
              <a:off x="5023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08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09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10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11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212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213" name="Shape 814"/>
            <p:cNvSpPr txBox="1"/>
            <p:nvPr/>
          </p:nvSpPr>
          <p:spPr>
            <a:xfrm>
              <a:off x="0" y="36612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214" name="Shape 823"/>
            <p:cNvSpPr txBox="1"/>
            <p:nvPr/>
          </p:nvSpPr>
          <p:spPr>
            <a:xfrm>
              <a:off x="1714217" y="80066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15" name="Shape 827"/>
            <p:cNvSpPr txBox="1"/>
            <p:nvPr/>
          </p:nvSpPr>
          <p:spPr>
            <a:xfrm>
              <a:off x="1754858" y="227894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16" name="Shape 829"/>
            <p:cNvSpPr txBox="1"/>
            <p:nvPr/>
          </p:nvSpPr>
          <p:spPr>
            <a:xfrm>
              <a:off x="1787876" y="29689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17" name="Shape 830"/>
            <p:cNvSpPr txBox="1"/>
            <p:nvPr/>
          </p:nvSpPr>
          <p:spPr>
            <a:xfrm>
              <a:off x="3297766" y="2956721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18" name="Shape 831"/>
            <p:cNvSpPr txBox="1"/>
            <p:nvPr/>
          </p:nvSpPr>
          <p:spPr>
            <a:xfrm>
              <a:off x="1787876" y="369231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19" name="Shape 832"/>
            <p:cNvSpPr txBox="1"/>
            <p:nvPr/>
          </p:nvSpPr>
          <p:spPr>
            <a:xfrm>
              <a:off x="3310466" y="368723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20" name="Shape 839"/>
            <p:cNvSpPr/>
            <p:nvPr/>
          </p:nvSpPr>
          <p:spPr>
            <a:xfrm>
              <a:off x="4766733" y="3671147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" name="Shape 840"/>
            <p:cNvSpPr/>
            <p:nvPr/>
          </p:nvSpPr>
          <p:spPr>
            <a:xfrm>
              <a:off x="5378591" y="3675663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2" name="Shape 841"/>
            <p:cNvSpPr/>
            <p:nvPr/>
          </p:nvSpPr>
          <p:spPr>
            <a:xfrm>
              <a:off x="4005862" y="3933050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3" name="Shape 844"/>
            <p:cNvSpPr txBox="1"/>
            <p:nvPr/>
          </p:nvSpPr>
          <p:spPr>
            <a:xfrm>
              <a:off x="4801174" y="36778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226" name="成组"/>
            <p:cNvGrpSpPr/>
            <p:nvPr/>
          </p:nvGrpSpPr>
          <p:grpSpPr>
            <a:xfrm>
              <a:off x="766702" y="243805"/>
              <a:ext cx="211952" cy="259646"/>
              <a:chOff x="0" y="0"/>
              <a:chExt cx="211951" cy="259644"/>
            </a:xfrm>
          </p:grpSpPr>
          <p:sp>
            <p:nvSpPr>
              <p:cNvPr id="224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5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29" name="成组"/>
            <p:cNvGrpSpPr/>
            <p:nvPr/>
          </p:nvGrpSpPr>
          <p:grpSpPr>
            <a:xfrm>
              <a:off x="2314617" y="968113"/>
              <a:ext cx="211953" cy="259646"/>
              <a:chOff x="0" y="0"/>
              <a:chExt cx="211951" cy="259644"/>
            </a:xfrm>
          </p:grpSpPr>
          <p:sp>
            <p:nvSpPr>
              <p:cNvPr id="227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28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2" name="成组"/>
            <p:cNvGrpSpPr/>
            <p:nvPr/>
          </p:nvGrpSpPr>
          <p:grpSpPr>
            <a:xfrm>
              <a:off x="754002" y="1672449"/>
              <a:ext cx="211952" cy="259646"/>
              <a:chOff x="0" y="0"/>
              <a:chExt cx="211951" cy="259644"/>
            </a:xfrm>
          </p:grpSpPr>
          <p:sp>
            <p:nvSpPr>
              <p:cNvPr id="230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1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5" name="成组"/>
            <p:cNvGrpSpPr/>
            <p:nvPr/>
          </p:nvGrpSpPr>
          <p:grpSpPr>
            <a:xfrm>
              <a:off x="2374193" y="2408230"/>
              <a:ext cx="211953" cy="259646"/>
              <a:chOff x="0" y="0"/>
              <a:chExt cx="211951" cy="259644"/>
            </a:xfrm>
          </p:grpSpPr>
          <p:sp>
            <p:nvSpPr>
              <p:cNvPr id="233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4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38" name="成组"/>
            <p:cNvGrpSpPr/>
            <p:nvPr/>
          </p:nvGrpSpPr>
          <p:grpSpPr>
            <a:xfrm>
              <a:off x="3889171" y="3097764"/>
              <a:ext cx="211952" cy="259646"/>
              <a:chOff x="0" y="0"/>
              <a:chExt cx="211951" cy="259644"/>
            </a:xfrm>
          </p:grpSpPr>
          <p:sp>
            <p:nvSpPr>
              <p:cNvPr id="236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37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241" name="成组"/>
            <p:cNvGrpSpPr/>
            <p:nvPr/>
          </p:nvGrpSpPr>
          <p:grpSpPr>
            <a:xfrm>
              <a:off x="5393828" y="3806614"/>
              <a:ext cx="211952" cy="259646"/>
              <a:chOff x="0" y="0"/>
              <a:chExt cx="211951" cy="259644"/>
            </a:xfrm>
          </p:grpSpPr>
          <p:sp>
            <p:nvSpPr>
              <p:cNvPr id="239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40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  <p:sp>
        <p:nvSpPr>
          <p:cNvPr id="243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244" name="顶点v的邻接点(关联的边的另一端的顶点):…"/>
          <p:cNvSpPr txBox="1"/>
          <p:nvPr/>
        </p:nvSpPr>
        <p:spPr>
          <a:xfrm>
            <a:off x="323793" y="6993093"/>
            <a:ext cx="8401051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顶点v的邻接点(关联的边的另一端的顶点):</a:t>
            </a:r>
          </a:p>
          <a:p>
            <a:pPr>
              <a:lnSpc>
                <a:spcPct val="120000"/>
              </a:lnSpc>
            </a:pPr>
            <a:r>
              <a:t>1、v的链表中的所有顶点</a:t>
            </a:r>
          </a:p>
          <a:p>
            <a:pPr>
              <a:lnSpc>
                <a:spcPct val="120000"/>
              </a:lnSpc>
            </a:pPr>
            <a:r>
              <a:t>2、比v的编号大的顶点u，如果u的链表中出现了v </a:t>
            </a:r>
          </a:p>
        </p:txBody>
      </p:sp>
      <p:sp>
        <p:nvSpPr>
          <p:cNvPr id="245" name="一条边只存1次…"/>
          <p:cNvSpPr txBox="1"/>
          <p:nvPr/>
        </p:nvSpPr>
        <p:spPr>
          <a:xfrm>
            <a:off x="270300" y="4919731"/>
            <a:ext cx="5067301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一条边只存1次</a:t>
            </a:r>
          </a:p>
          <a:p>
            <a:pPr>
              <a:lnSpc>
                <a:spcPct val="120000"/>
              </a:lnSpc>
            </a:pPr>
            <a:r>
              <a:t>或者说：</a:t>
            </a:r>
          </a:p>
          <a:p>
            <a:pPr>
              <a:lnSpc>
                <a:spcPct val="120000"/>
              </a:lnSpc>
            </a:pPr>
            <a:r>
              <a:t>顶点的邻接点分散在多个地方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873"/>
          <p:cNvSpPr txBox="1"/>
          <p:nvPr/>
        </p:nvSpPr>
        <p:spPr>
          <a:xfrm>
            <a:off x="293514" y="6925376"/>
            <a:ext cx="1143679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00789" marR="57798" indent="-300789" defTabSz="1295400">
              <a:spcBef>
                <a:spcPts val="1900"/>
              </a:spcBef>
              <a:buSzPct val="60000"/>
              <a:buBlip>
                <a:blip r:embed="rId2"/>
              </a:buBlip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removeEdge(1, 0)、removeEdge(0, 1)：不知道是用哪一种方式调用</a:t>
            </a:r>
          </a:p>
        </p:txBody>
      </p:sp>
      <p:sp>
        <p:nvSpPr>
          <p:cNvPr id="248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249" name="A和B之间的边：(A, B) 或 (B, A)"/>
          <p:cNvSpPr txBox="1"/>
          <p:nvPr/>
        </p:nvSpPr>
        <p:spPr>
          <a:xfrm>
            <a:off x="431280" y="6166156"/>
            <a:ext cx="542709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A和B之间的边：(A, B) 或 (B, A)</a:t>
            </a:r>
          </a:p>
        </p:txBody>
      </p:sp>
      <p:grpSp>
        <p:nvGrpSpPr>
          <p:cNvPr id="275" name="Group 871"/>
          <p:cNvGrpSpPr/>
          <p:nvPr/>
        </p:nvGrpSpPr>
        <p:grpSpPr>
          <a:xfrm>
            <a:off x="502698" y="1138140"/>
            <a:ext cx="4489314" cy="3347033"/>
            <a:chOff x="0" y="0"/>
            <a:chExt cx="4489312" cy="3347032"/>
          </a:xfrm>
        </p:grpSpPr>
        <p:grpSp>
          <p:nvGrpSpPr>
            <p:cNvPr id="252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250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1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55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253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54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256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7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8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0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1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65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263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4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68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266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67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71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269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0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274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272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73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334" name="成组"/>
          <p:cNvGrpSpPr/>
          <p:nvPr/>
        </p:nvGrpSpPr>
        <p:grpSpPr>
          <a:xfrm>
            <a:off x="5719388" y="1138140"/>
            <a:ext cx="5611145" cy="4209530"/>
            <a:chOff x="0" y="0"/>
            <a:chExt cx="5611143" cy="4209529"/>
          </a:xfrm>
        </p:grpSpPr>
        <p:sp>
          <p:nvSpPr>
            <p:cNvPr id="276" name="Shape 773"/>
            <p:cNvSpPr/>
            <p:nvPr/>
          </p:nvSpPr>
          <p:spPr>
            <a:xfrm>
              <a:off x="1698412" y="803769"/>
              <a:ext cx="83989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" name="Shape 774"/>
            <p:cNvSpPr/>
            <p:nvPr/>
          </p:nvSpPr>
          <p:spPr>
            <a:xfrm>
              <a:off x="23082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8" name="Shape 775"/>
            <p:cNvSpPr/>
            <p:nvPr/>
          </p:nvSpPr>
          <p:spPr>
            <a:xfrm>
              <a:off x="854003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9" name="Shape 788"/>
            <p:cNvSpPr/>
            <p:nvPr/>
          </p:nvSpPr>
          <p:spPr>
            <a:xfrm>
              <a:off x="1738407" y="2261164"/>
              <a:ext cx="841479" cy="546213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0" name="Shape 789"/>
            <p:cNvSpPr/>
            <p:nvPr/>
          </p:nvSpPr>
          <p:spPr>
            <a:xfrm>
              <a:off x="2346648" y="2260209"/>
              <a:ext cx="2289" cy="54621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" name="Shape 790"/>
            <p:cNvSpPr/>
            <p:nvPr/>
          </p:nvSpPr>
          <p:spPr>
            <a:xfrm>
              <a:off x="894644" y="2527454"/>
              <a:ext cx="843765" cy="234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2" name="Shape 794"/>
            <p:cNvSpPr/>
            <p:nvPr/>
          </p:nvSpPr>
          <p:spPr>
            <a:xfrm>
              <a:off x="3272730" y="2953175"/>
              <a:ext cx="84376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3" name="Shape 795"/>
            <p:cNvSpPr/>
            <p:nvPr/>
          </p:nvSpPr>
          <p:spPr>
            <a:xfrm>
              <a:off x="3883259" y="2957670"/>
              <a:ext cx="2288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4" name="Shape 796"/>
            <p:cNvSpPr/>
            <p:nvPr/>
          </p:nvSpPr>
          <p:spPr>
            <a:xfrm>
              <a:off x="2472412" y="3213962"/>
              <a:ext cx="841479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5" name="Shape 797"/>
            <p:cNvSpPr/>
            <p:nvPr/>
          </p:nvSpPr>
          <p:spPr>
            <a:xfrm>
              <a:off x="1738407" y="2953175"/>
              <a:ext cx="841479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6" name="Shape 798"/>
            <p:cNvSpPr/>
            <p:nvPr/>
          </p:nvSpPr>
          <p:spPr>
            <a:xfrm>
              <a:off x="2346648" y="2957670"/>
              <a:ext cx="2289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7" name="Shape 799"/>
            <p:cNvSpPr/>
            <p:nvPr/>
          </p:nvSpPr>
          <p:spPr>
            <a:xfrm>
              <a:off x="894644" y="3213962"/>
              <a:ext cx="843765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8" name="Shape 803"/>
            <p:cNvSpPr/>
            <p:nvPr/>
          </p:nvSpPr>
          <p:spPr>
            <a:xfrm>
              <a:off x="3272083" y="3668890"/>
              <a:ext cx="844411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9" name="Shape 804"/>
            <p:cNvSpPr/>
            <p:nvPr/>
          </p:nvSpPr>
          <p:spPr>
            <a:xfrm>
              <a:off x="3883941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0" name="Shape 805"/>
            <p:cNvSpPr/>
            <p:nvPr/>
          </p:nvSpPr>
          <p:spPr>
            <a:xfrm>
              <a:off x="2472831" y="3930792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" name="Shape 806"/>
            <p:cNvSpPr/>
            <p:nvPr/>
          </p:nvSpPr>
          <p:spPr>
            <a:xfrm>
              <a:off x="1739052" y="3668890"/>
              <a:ext cx="839895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2" name="Shape 807"/>
            <p:cNvSpPr/>
            <p:nvPr/>
          </p:nvSpPr>
          <p:spPr>
            <a:xfrm>
              <a:off x="2346394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3" name="Shape 808"/>
            <p:cNvSpPr/>
            <p:nvPr/>
          </p:nvSpPr>
          <p:spPr>
            <a:xfrm>
              <a:off x="894643" y="3930792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" name="Shape 753"/>
            <p:cNvSpPr/>
            <p:nvPr/>
          </p:nvSpPr>
          <p:spPr>
            <a:xfrm>
              <a:off x="5023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5" name="Shape 754"/>
            <p:cNvSpPr/>
            <p:nvPr/>
          </p:nvSpPr>
          <p:spPr>
            <a:xfrm>
              <a:off x="5023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6" name="Shape 755"/>
            <p:cNvSpPr/>
            <p:nvPr/>
          </p:nvSpPr>
          <p:spPr>
            <a:xfrm>
              <a:off x="502355" y="143368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7" name="Shape 756"/>
            <p:cNvSpPr/>
            <p:nvPr/>
          </p:nvSpPr>
          <p:spPr>
            <a:xfrm>
              <a:off x="5023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" name="Shape 757"/>
            <p:cNvSpPr/>
            <p:nvPr/>
          </p:nvSpPr>
          <p:spPr>
            <a:xfrm>
              <a:off x="5023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9" name="Shape 758"/>
            <p:cNvSpPr/>
            <p:nvPr/>
          </p:nvSpPr>
          <p:spPr>
            <a:xfrm>
              <a:off x="5023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0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1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02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03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04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05" name="Shape 814"/>
            <p:cNvSpPr txBox="1"/>
            <p:nvPr/>
          </p:nvSpPr>
          <p:spPr>
            <a:xfrm>
              <a:off x="0" y="36612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306" name="Shape 823"/>
            <p:cNvSpPr txBox="1"/>
            <p:nvPr/>
          </p:nvSpPr>
          <p:spPr>
            <a:xfrm>
              <a:off x="1714217" y="80066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7" name="Shape 827"/>
            <p:cNvSpPr txBox="1"/>
            <p:nvPr/>
          </p:nvSpPr>
          <p:spPr>
            <a:xfrm>
              <a:off x="1754858" y="227894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08" name="Shape 829"/>
            <p:cNvSpPr txBox="1"/>
            <p:nvPr/>
          </p:nvSpPr>
          <p:spPr>
            <a:xfrm>
              <a:off x="1787876" y="29689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09" name="Shape 830"/>
            <p:cNvSpPr txBox="1"/>
            <p:nvPr/>
          </p:nvSpPr>
          <p:spPr>
            <a:xfrm>
              <a:off x="3297766" y="2956721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10" name="Shape 831"/>
            <p:cNvSpPr txBox="1"/>
            <p:nvPr/>
          </p:nvSpPr>
          <p:spPr>
            <a:xfrm>
              <a:off x="1787876" y="369231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11" name="Shape 832"/>
            <p:cNvSpPr txBox="1"/>
            <p:nvPr/>
          </p:nvSpPr>
          <p:spPr>
            <a:xfrm>
              <a:off x="3310466" y="368723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12" name="Shape 839"/>
            <p:cNvSpPr/>
            <p:nvPr/>
          </p:nvSpPr>
          <p:spPr>
            <a:xfrm>
              <a:off x="4766733" y="3671147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3" name="Shape 840"/>
            <p:cNvSpPr/>
            <p:nvPr/>
          </p:nvSpPr>
          <p:spPr>
            <a:xfrm>
              <a:off x="5378591" y="3675663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4" name="Shape 841"/>
            <p:cNvSpPr/>
            <p:nvPr/>
          </p:nvSpPr>
          <p:spPr>
            <a:xfrm>
              <a:off x="4005862" y="3933050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5" name="Shape 844"/>
            <p:cNvSpPr txBox="1"/>
            <p:nvPr/>
          </p:nvSpPr>
          <p:spPr>
            <a:xfrm>
              <a:off x="4801174" y="36778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318" name="成组"/>
            <p:cNvGrpSpPr/>
            <p:nvPr/>
          </p:nvGrpSpPr>
          <p:grpSpPr>
            <a:xfrm>
              <a:off x="766702" y="243805"/>
              <a:ext cx="211952" cy="259646"/>
              <a:chOff x="0" y="0"/>
              <a:chExt cx="211951" cy="259644"/>
            </a:xfrm>
          </p:grpSpPr>
          <p:sp>
            <p:nvSpPr>
              <p:cNvPr id="316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21" name="成组"/>
            <p:cNvGrpSpPr/>
            <p:nvPr/>
          </p:nvGrpSpPr>
          <p:grpSpPr>
            <a:xfrm>
              <a:off x="2314617" y="968113"/>
              <a:ext cx="211953" cy="259646"/>
              <a:chOff x="0" y="0"/>
              <a:chExt cx="211951" cy="259644"/>
            </a:xfrm>
          </p:grpSpPr>
          <p:sp>
            <p:nvSpPr>
              <p:cNvPr id="319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0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24" name="成组"/>
            <p:cNvGrpSpPr/>
            <p:nvPr/>
          </p:nvGrpSpPr>
          <p:grpSpPr>
            <a:xfrm>
              <a:off x="754002" y="1672449"/>
              <a:ext cx="211952" cy="259646"/>
              <a:chOff x="0" y="0"/>
              <a:chExt cx="211951" cy="259644"/>
            </a:xfrm>
          </p:grpSpPr>
          <p:sp>
            <p:nvSpPr>
              <p:cNvPr id="322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3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27" name="成组"/>
            <p:cNvGrpSpPr/>
            <p:nvPr/>
          </p:nvGrpSpPr>
          <p:grpSpPr>
            <a:xfrm>
              <a:off x="2374193" y="2408230"/>
              <a:ext cx="211953" cy="259646"/>
              <a:chOff x="0" y="0"/>
              <a:chExt cx="211951" cy="259644"/>
            </a:xfrm>
          </p:grpSpPr>
          <p:sp>
            <p:nvSpPr>
              <p:cNvPr id="325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6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0" name="成组"/>
            <p:cNvGrpSpPr/>
            <p:nvPr/>
          </p:nvGrpSpPr>
          <p:grpSpPr>
            <a:xfrm>
              <a:off x="3889171" y="3097764"/>
              <a:ext cx="211952" cy="259646"/>
              <a:chOff x="0" y="0"/>
              <a:chExt cx="211951" cy="259644"/>
            </a:xfrm>
          </p:grpSpPr>
          <p:sp>
            <p:nvSpPr>
              <p:cNvPr id="328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9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333" name="成组"/>
            <p:cNvGrpSpPr/>
            <p:nvPr/>
          </p:nvGrpSpPr>
          <p:grpSpPr>
            <a:xfrm>
              <a:off x="5393828" y="3806614"/>
              <a:ext cx="211952" cy="259646"/>
              <a:chOff x="0" y="0"/>
              <a:chExt cx="211951" cy="259644"/>
            </a:xfrm>
          </p:grpSpPr>
          <p:sp>
            <p:nvSpPr>
              <p:cNvPr id="331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2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337" name="public boolean removeEdge1(int u, int v) {…"/>
          <p:cNvSpPr txBox="1"/>
          <p:nvPr/>
        </p:nvSpPr>
        <p:spPr>
          <a:xfrm>
            <a:off x="1726503" y="1112318"/>
            <a:ext cx="9678734" cy="6780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removeEdge1(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u</a:t>
            </a:r>
            <a:r>
              <a:t> &gt;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).remove(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.setNode(</a:t>
            </a:r>
            <a:r>
              <a:rPr>
                <a:solidFill>
                  <a:srgbClr val="7E504F"/>
                </a:solidFill>
              </a:rPr>
              <a:t>v</a:t>
            </a:r>
            <a:r>
              <a:t>)))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 </a:t>
            </a:r>
            <a:r>
              <a:rPr>
                <a:solidFill>
                  <a:srgbClr val="931A68"/>
                </a:solidFill>
              </a:rPr>
              <a:t>else</a:t>
            </a:r>
            <a:r>
              <a:t>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v</a:t>
            </a:r>
            <a:r>
              <a:t>).remove(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.setNode(</a:t>
            </a:r>
            <a:r>
              <a:rPr>
                <a:solidFill>
                  <a:srgbClr val="7E504F"/>
                </a:solidFill>
              </a:rPr>
              <a:t>u</a:t>
            </a:r>
            <a:r>
              <a:t>)))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340" name="public boolean removeEdge(int u, int v) {…"/>
          <p:cNvSpPr txBox="1"/>
          <p:nvPr/>
        </p:nvSpPr>
        <p:spPr>
          <a:xfrm>
            <a:off x="2087199" y="1226063"/>
            <a:ext cx="9221534" cy="642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removeEdge(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rangeCheck(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 &gt; </a:t>
            </a:r>
            <a:r>
              <a:rPr>
                <a:solidFill>
                  <a:srgbClr val="7E504F"/>
                </a:solidFill>
              </a:rPr>
              <a:t>u</a:t>
            </a:r>
            <a:r>
              <a:rPr>
                <a:solidFill>
                  <a:srgbClr val="000000"/>
                </a:solidFill>
              </a:rPr>
              <a:t>) { </a:t>
            </a:r>
            <a:r>
              <a:t>// 使u比v大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u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tmp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u</a:t>
            </a:r>
            <a:r>
              <a:t>).remove(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.setNode(</a:t>
            </a:r>
            <a:r>
              <a:rPr>
                <a:solidFill>
                  <a:srgbClr val="7E504F"/>
                </a:solidFill>
              </a:rPr>
              <a:t>v</a:t>
            </a:r>
            <a:r>
              <a:t>)))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--</a:t>
            </a:r>
            <a:r>
              <a:rPr>
                <a:solidFill>
                  <a:srgbClr val="0326CC"/>
                </a:solidFill>
              </a:rPr>
              <a:t>e</a:t>
            </a:r>
            <a:r>
              <a:t>;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343" name="public int degree(int v) {…"/>
          <p:cNvSpPr txBox="1"/>
          <p:nvPr/>
        </p:nvSpPr>
        <p:spPr>
          <a:xfrm>
            <a:off x="1782585" y="5610019"/>
            <a:ext cx="9533931" cy="3126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degree(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) {</a:t>
            </a:r>
          </a:p>
          <a:p>
            <a:pPr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rPr>
                <a:solidFill>
                  <a:srgbClr val="000000"/>
                </a:solidFill>
              </a:rPr>
              <a:t>.get(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).size();</a:t>
            </a:r>
            <a:endParaRPr>
              <a:solidFill>
                <a:srgbClr val="000000"/>
              </a:solidFill>
            </a:endParaRPr>
          </a:p>
          <a:p>
            <a:pPr>
              <a:defRPr sz="22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 + 1;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++) {</a:t>
            </a:r>
            <a:endParaRPr>
              <a:solidFill>
                <a:srgbClr val="000000"/>
              </a:solidFill>
            </a:endParaR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i</a:t>
            </a:r>
            <a:r>
              <a:t>).indexOf(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.setNode(</a:t>
            </a:r>
            <a:r>
              <a:rPr>
                <a:solidFill>
                  <a:srgbClr val="7E504F"/>
                </a:solidFill>
              </a:rPr>
              <a:t>v</a:t>
            </a:r>
            <a:r>
              <a:t>)) != -1)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		++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;</a:t>
            </a: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2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2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369" name="Group 871"/>
          <p:cNvGrpSpPr/>
          <p:nvPr/>
        </p:nvGrpSpPr>
        <p:grpSpPr>
          <a:xfrm>
            <a:off x="1112298" y="1138140"/>
            <a:ext cx="4489314" cy="3347033"/>
            <a:chOff x="0" y="0"/>
            <a:chExt cx="4489312" cy="3347032"/>
          </a:xfrm>
        </p:grpSpPr>
        <p:grpSp>
          <p:nvGrpSpPr>
            <p:cNvPr id="346" name="Group 848"/>
            <p:cNvGrpSpPr/>
            <p:nvPr/>
          </p:nvGrpSpPr>
          <p:grpSpPr>
            <a:xfrm>
              <a:off x="1169307" y="69865"/>
              <a:ext cx="537421" cy="614500"/>
              <a:chOff x="0" y="0"/>
              <a:chExt cx="537420" cy="614498"/>
            </a:xfrm>
          </p:grpSpPr>
          <p:sp>
            <p:nvSpPr>
              <p:cNvPr id="344" name="Shape 846"/>
              <p:cNvSpPr/>
              <p:nvPr/>
            </p:nvSpPr>
            <p:spPr>
              <a:xfrm>
                <a:off x="0" y="2098"/>
                <a:ext cx="537421" cy="605509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5" name="Shape 847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49" name="Group 851"/>
            <p:cNvGrpSpPr/>
            <p:nvPr/>
          </p:nvGrpSpPr>
          <p:grpSpPr>
            <a:xfrm>
              <a:off x="0" y="1407668"/>
              <a:ext cx="537421" cy="614500"/>
              <a:chOff x="0" y="0"/>
              <a:chExt cx="537420" cy="614498"/>
            </a:xfrm>
          </p:grpSpPr>
          <p:sp>
            <p:nvSpPr>
              <p:cNvPr id="347" name="Shape 849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8" name="Shape 850"/>
              <p:cNvSpPr txBox="1"/>
              <p:nvPr/>
            </p:nvSpPr>
            <p:spPr>
              <a:xfrm>
                <a:off x="22438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350" name="Shape 852"/>
            <p:cNvSpPr/>
            <p:nvPr/>
          </p:nvSpPr>
          <p:spPr>
            <a:xfrm flipH="1">
              <a:off x="268619" y="429057"/>
              <a:ext cx="898818" cy="993650"/>
            </a:xfrm>
            <a:prstGeom prst="line">
              <a:avLst/>
            </a:prstGeom>
            <a:noFill/>
            <a:ln w="28575" cap="sq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1" name="Shape 853"/>
            <p:cNvSpPr/>
            <p:nvPr/>
          </p:nvSpPr>
          <p:spPr>
            <a:xfrm>
              <a:off x="1708598" y="346252"/>
              <a:ext cx="1615997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2" name="Shape 854"/>
            <p:cNvSpPr/>
            <p:nvPr/>
          </p:nvSpPr>
          <p:spPr>
            <a:xfrm>
              <a:off x="540135" y="1753921"/>
              <a:ext cx="2784460" cy="993650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3" name="Shape 855"/>
            <p:cNvSpPr/>
            <p:nvPr/>
          </p:nvSpPr>
          <p:spPr>
            <a:xfrm flipH="1">
              <a:off x="1603735" y="429057"/>
              <a:ext cx="1451215" cy="2401319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4" name="Shape 856"/>
            <p:cNvSpPr/>
            <p:nvPr/>
          </p:nvSpPr>
          <p:spPr>
            <a:xfrm>
              <a:off x="3594237" y="346252"/>
              <a:ext cx="719054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5" name="Shape 857"/>
            <p:cNvSpPr/>
            <p:nvPr/>
          </p:nvSpPr>
          <p:spPr>
            <a:xfrm flipH="1">
              <a:off x="1693616" y="1753920"/>
              <a:ext cx="2350032" cy="1076454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6" name="Shape 858"/>
            <p:cNvSpPr/>
            <p:nvPr/>
          </p:nvSpPr>
          <p:spPr>
            <a:xfrm flipH="1">
              <a:off x="1437080" y="651592"/>
              <a:ext cx="1875" cy="2095978"/>
            </a:xfrm>
            <a:prstGeom prst="line">
              <a:avLst/>
            </a:prstGeom>
            <a:noFill/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59" name="Group 861"/>
            <p:cNvGrpSpPr/>
            <p:nvPr/>
          </p:nvGrpSpPr>
          <p:grpSpPr>
            <a:xfrm>
              <a:off x="3053075" y="-1"/>
              <a:ext cx="537421" cy="614500"/>
              <a:chOff x="0" y="0"/>
              <a:chExt cx="537420" cy="614498"/>
            </a:xfrm>
          </p:grpSpPr>
          <p:sp>
            <p:nvSpPr>
              <p:cNvPr id="357" name="Shape 859"/>
              <p:cNvSpPr/>
              <p:nvPr/>
            </p:nvSpPr>
            <p:spPr>
              <a:xfrm>
                <a:off x="0" y="15037"/>
                <a:ext cx="537421" cy="579631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8" name="Shape 860"/>
              <p:cNvSpPr txBox="1"/>
              <p:nvPr/>
            </p:nvSpPr>
            <p:spPr>
              <a:xfrm>
                <a:off x="34904" y="0"/>
                <a:ext cx="467607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62" name="Group 864"/>
            <p:cNvGrpSpPr/>
            <p:nvPr/>
          </p:nvGrpSpPr>
          <p:grpSpPr>
            <a:xfrm>
              <a:off x="3951892" y="1324864"/>
              <a:ext cx="537421" cy="614500"/>
              <a:chOff x="0" y="0"/>
              <a:chExt cx="537420" cy="614498"/>
            </a:xfrm>
          </p:grpSpPr>
          <p:sp>
            <p:nvSpPr>
              <p:cNvPr id="360" name="Shape 862"/>
              <p:cNvSpPr/>
              <p:nvPr/>
            </p:nvSpPr>
            <p:spPr>
              <a:xfrm>
                <a:off x="0" y="15036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1" name="Shape 863"/>
              <p:cNvSpPr txBox="1"/>
              <p:nvPr/>
            </p:nvSpPr>
            <p:spPr>
              <a:xfrm>
                <a:off x="21590" y="0"/>
                <a:ext cx="494235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365" name="Group 867"/>
            <p:cNvGrpSpPr/>
            <p:nvPr/>
          </p:nvGrpSpPr>
          <p:grpSpPr>
            <a:xfrm>
              <a:off x="1165562" y="2732533"/>
              <a:ext cx="537421" cy="614499"/>
              <a:chOff x="0" y="0"/>
              <a:chExt cx="537420" cy="614498"/>
            </a:xfrm>
          </p:grpSpPr>
          <p:sp>
            <p:nvSpPr>
              <p:cNvPr id="363" name="Shape 865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4" name="Shape 866"/>
              <p:cNvSpPr txBox="1"/>
              <p:nvPr/>
            </p:nvSpPr>
            <p:spPr>
              <a:xfrm>
                <a:off x="61651" y="0"/>
                <a:ext cx="414116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368" name="Group 870"/>
            <p:cNvGrpSpPr/>
            <p:nvPr/>
          </p:nvGrpSpPr>
          <p:grpSpPr>
            <a:xfrm>
              <a:off x="3142956" y="2649729"/>
              <a:ext cx="537421" cy="614499"/>
              <a:chOff x="0" y="0"/>
              <a:chExt cx="537420" cy="614498"/>
            </a:xfrm>
          </p:grpSpPr>
          <p:sp>
            <p:nvSpPr>
              <p:cNvPr id="366" name="Shape 868"/>
              <p:cNvSpPr/>
              <p:nvPr/>
            </p:nvSpPr>
            <p:spPr>
              <a:xfrm>
                <a:off x="0" y="15037"/>
                <a:ext cx="537421" cy="579633"/>
              </a:xfrm>
              <a:prstGeom prst="ellipse">
                <a:avLst/>
              </a:prstGeom>
              <a:solidFill>
                <a:srgbClr val="A7E2FF">
                  <a:alpha val="50195"/>
                </a:srgbClr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67" name="Shape 869"/>
              <p:cNvSpPr txBox="1"/>
              <p:nvPr/>
            </p:nvSpPr>
            <p:spPr>
              <a:xfrm>
                <a:off x="48454" y="0"/>
                <a:ext cx="440508" cy="614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sz="3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</p:grpSp>
      <p:grpSp>
        <p:nvGrpSpPr>
          <p:cNvPr id="428" name="成组"/>
          <p:cNvGrpSpPr/>
          <p:nvPr/>
        </p:nvGrpSpPr>
        <p:grpSpPr>
          <a:xfrm>
            <a:off x="6328988" y="1138140"/>
            <a:ext cx="5611145" cy="4209530"/>
            <a:chOff x="0" y="0"/>
            <a:chExt cx="5611143" cy="4209529"/>
          </a:xfrm>
        </p:grpSpPr>
        <p:sp>
          <p:nvSpPr>
            <p:cNvPr id="370" name="Shape 773"/>
            <p:cNvSpPr/>
            <p:nvPr/>
          </p:nvSpPr>
          <p:spPr>
            <a:xfrm>
              <a:off x="1698412" y="803769"/>
              <a:ext cx="83989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1" name="Shape 774"/>
            <p:cNvSpPr/>
            <p:nvPr/>
          </p:nvSpPr>
          <p:spPr>
            <a:xfrm>
              <a:off x="2308295" y="808284"/>
              <a:ext cx="2260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2" name="Shape 775"/>
            <p:cNvSpPr/>
            <p:nvPr/>
          </p:nvSpPr>
          <p:spPr>
            <a:xfrm>
              <a:off x="854003" y="1065671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3" name="Shape 788"/>
            <p:cNvSpPr/>
            <p:nvPr/>
          </p:nvSpPr>
          <p:spPr>
            <a:xfrm>
              <a:off x="1738407" y="2261164"/>
              <a:ext cx="841479" cy="546213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4" name="Shape 789"/>
            <p:cNvSpPr/>
            <p:nvPr/>
          </p:nvSpPr>
          <p:spPr>
            <a:xfrm>
              <a:off x="2346648" y="2260209"/>
              <a:ext cx="2289" cy="54621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5" name="Shape 790"/>
            <p:cNvSpPr/>
            <p:nvPr/>
          </p:nvSpPr>
          <p:spPr>
            <a:xfrm>
              <a:off x="894644" y="2527454"/>
              <a:ext cx="843765" cy="2346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6" name="Shape 794"/>
            <p:cNvSpPr/>
            <p:nvPr/>
          </p:nvSpPr>
          <p:spPr>
            <a:xfrm>
              <a:off x="3272730" y="2953175"/>
              <a:ext cx="843765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Shape 795"/>
            <p:cNvSpPr/>
            <p:nvPr/>
          </p:nvSpPr>
          <p:spPr>
            <a:xfrm>
              <a:off x="3883259" y="2957670"/>
              <a:ext cx="2288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8" name="Shape 796"/>
            <p:cNvSpPr/>
            <p:nvPr/>
          </p:nvSpPr>
          <p:spPr>
            <a:xfrm>
              <a:off x="2472412" y="3213962"/>
              <a:ext cx="841479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9" name="Shape 797"/>
            <p:cNvSpPr/>
            <p:nvPr/>
          </p:nvSpPr>
          <p:spPr>
            <a:xfrm>
              <a:off x="1738407" y="2953175"/>
              <a:ext cx="841479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0" name="Shape 798"/>
            <p:cNvSpPr/>
            <p:nvPr/>
          </p:nvSpPr>
          <p:spPr>
            <a:xfrm>
              <a:off x="2346648" y="2957670"/>
              <a:ext cx="2289" cy="520703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1" name="Shape 799"/>
            <p:cNvSpPr/>
            <p:nvPr/>
          </p:nvSpPr>
          <p:spPr>
            <a:xfrm>
              <a:off x="894644" y="3213962"/>
              <a:ext cx="843765" cy="225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2" name="Shape 803"/>
            <p:cNvSpPr/>
            <p:nvPr/>
          </p:nvSpPr>
          <p:spPr>
            <a:xfrm>
              <a:off x="3272083" y="3668890"/>
              <a:ext cx="844411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3" name="Shape 804"/>
            <p:cNvSpPr/>
            <p:nvPr/>
          </p:nvSpPr>
          <p:spPr>
            <a:xfrm>
              <a:off x="3883941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4" name="Shape 805"/>
            <p:cNvSpPr/>
            <p:nvPr/>
          </p:nvSpPr>
          <p:spPr>
            <a:xfrm>
              <a:off x="2472831" y="3930792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5" name="Shape 806"/>
            <p:cNvSpPr/>
            <p:nvPr/>
          </p:nvSpPr>
          <p:spPr>
            <a:xfrm>
              <a:off x="1739052" y="3668890"/>
              <a:ext cx="839895" cy="526064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" name="Shape 807"/>
            <p:cNvSpPr/>
            <p:nvPr/>
          </p:nvSpPr>
          <p:spPr>
            <a:xfrm>
              <a:off x="2346394" y="3673405"/>
              <a:ext cx="2260" cy="526065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7" name="Shape 808"/>
            <p:cNvSpPr/>
            <p:nvPr/>
          </p:nvSpPr>
          <p:spPr>
            <a:xfrm>
              <a:off x="894643" y="3930792"/>
              <a:ext cx="844411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8" name="Shape 753"/>
            <p:cNvSpPr/>
            <p:nvPr/>
          </p:nvSpPr>
          <p:spPr>
            <a:xfrm>
              <a:off x="502355" y="0"/>
              <a:ext cx="715246" cy="419947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9" name="Shape 754"/>
            <p:cNvSpPr/>
            <p:nvPr/>
          </p:nvSpPr>
          <p:spPr>
            <a:xfrm>
              <a:off x="502355" y="715715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0" name="Shape 755"/>
            <p:cNvSpPr/>
            <p:nvPr/>
          </p:nvSpPr>
          <p:spPr>
            <a:xfrm>
              <a:off x="502355" y="143368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1" name="Shape 756"/>
            <p:cNvSpPr/>
            <p:nvPr/>
          </p:nvSpPr>
          <p:spPr>
            <a:xfrm>
              <a:off x="502355" y="214940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" name="Shape 757"/>
            <p:cNvSpPr/>
            <p:nvPr/>
          </p:nvSpPr>
          <p:spPr>
            <a:xfrm>
              <a:off x="502355" y="2867379"/>
              <a:ext cx="712050" cy="226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3" name="Shape 758"/>
            <p:cNvSpPr/>
            <p:nvPr/>
          </p:nvSpPr>
          <p:spPr>
            <a:xfrm>
              <a:off x="502355" y="3583096"/>
              <a:ext cx="712050" cy="22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4" name="Shape 809"/>
            <p:cNvSpPr txBox="1"/>
            <p:nvPr/>
          </p:nvSpPr>
          <p:spPr>
            <a:xfrm>
              <a:off x="0" y="98495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395" name="Shape 810"/>
            <p:cNvSpPr txBox="1"/>
            <p:nvPr/>
          </p:nvSpPr>
          <p:spPr>
            <a:xfrm>
              <a:off x="0" y="8774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396" name="Shape 811"/>
            <p:cNvSpPr txBox="1"/>
            <p:nvPr/>
          </p:nvSpPr>
          <p:spPr>
            <a:xfrm>
              <a:off x="0" y="1608949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397" name="Shape 812"/>
            <p:cNvSpPr txBox="1"/>
            <p:nvPr/>
          </p:nvSpPr>
          <p:spPr>
            <a:xfrm>
              <a:off x="0" y="232918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398" name="Shape 813"/>
            <p:cNvSpPr txBox="1"/>
            <p:nvPr/>
          </p:nvSpPr>
          <p:spPr>
            <a:xfrm>
              <a:off x="0" y="3047154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399" name="Shape 814"/>
            <p:cNvSpPr txBox="1"/>
            <p:nvPr/>
          </p:nvSpPr>
          <p:spPr>
            <a:xfrm>
              <a:off x="0" y="3661270"/>
              <a:ext cx="736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23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00" name="Shape 823"/>
            <p:cNvSpPr txBox="1"/>
            <p:nvPr/>
          </p:nvSpPr>
          <p:spPr>
            <a:xfrm>
              <a:off x="1714217" y="80066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01" name="Shape 827"/>
            <p:cNvSpPr txBox="1"/>
            <p:nvPr/>
          </p:nvSpPr>
          <p:spPr>
            <a:xfrm>
              <a:off x="1754858" y="2278945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02" name="Shape 829"/>
            <p:cNvSpPr txBox="1"/>
            <p:nvPr/>
          </p:nvSpPr>
          <p:spPr>
            <a:xfrm>
              <a:off x="1787876" y="296897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03" name="Shape 830"/>
            <p:cNvSpPr txBox="1"/>
            <p:nvPr/>
          </p:nvSpPr>
          <p:spPr>
            <a:xfrm>
              <a:off x="3297766" y="2956721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04" name="Shape 831"/>
            <p:cNvSpPr txBox="1"/>
            <p:nvPr/>
          </p:nvSpPr>
          <p:spPr>
            <a:xfrm>
              <a:off x="1787876" y="3692314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05" name="Shape 832"/>
            <p:cNvSpPr txBox="1"/>
            <p:nvPr/>
          </p:nvSpPr>
          <p:spPr>
            <a:xfrm>
              <a:off x="3310466" y="3687233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06" name="Shape 839"/>
            <p:cNvSpPr/>
            <p:nvPr/>
          </p:nvSpPr>
          <p:spPr>
            <a:xfrm>
              <a:off x="4766733" y="3671147"/>
              <a:ext cx="844411" cy="520702"/>
            </a:xfrm>
            <a:prstGeom prst="rect">
              <a:avLst/>
            </a:prstGeom>
            <a:noFill/>
            <a:ln w="12700" cap="sq">
              <a:solidFill>
                <a:srgbClr val="00009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7" name="Shape 840"/>
            <p:cNvSpPr/>
            <p:nvPr/>
          </p:nvSpPr>
          <p:spPr>
            <a:xfrm>
              <a:off x="5378591" y="3675663"/>
              <a:ext cx="2259" cy="520702"/>
            </a:xfrm>
            <a:prstGeom prst="line">
              <a:avLst/>
            </a:prstGeom>
            <a:noFill/>
            <a:ln w="12700" cap="sq">
              <a:solidFill>
                <a:srgbClr val="0000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8" name="Shape 841"/>
            <p:cNvSpPr/>
            <p:nvPr/>
          </p:nvSpPr>
          <p:spPr>
            <a:xfrm>
              <a:off x="4005862" y="3933050"/>
              <a:ext cx="842153" cy="2260"/>
            </a:xfrm>
            <a:prstGeom prst="line">
              <a:avLst/>
            </a:prstGeom>
            <a:noFill/>
            <a:ln w="28575" cap="sq">
              <a:solidFill>
                <a:srgbClr val="000099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indent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9" name="Shape 844"/>
            <p:cNvSpPr txBox="1"/>
            <p:nvPr/>
          </p:nvSpPr>
          <p:spPr>
            <a:xfrm>
              <a:off x="4801174" y="3677829"/>
              <a:ext cx="736602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indent="57798" defTabSz="1295400">
                <a:spcBef>
                  <a:spcPts val="1900"/>
                </a:spcBef>
                <a:defRPr b="1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grpSp>
          <p:nvGrpSpPr>
            <p:cNvPr id="412" name="成组"/>
            <p:cNvGrpSpPr/>
            <p:nvPr/>
          </p:nvGrpSpPr>
          <p:grpSpPr>
            <a:xfrm>
              <a:off x="766702" y="243805"/>
              <a:ext cx="211952" cy="259646"/>
              <a:chOff x="0" y="0"/>
              <a:chExt cx="211951" cy="259644"/>
            </a:xfrm>
          </p:grpSpPr>
          <p:sp>
            <p:nvSpPr>
              <p:cNvPr id="410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1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15" name="成组"/>
            <p:cNvGrpSpPr/>
            <p:nvPr/>
          </p:nvGrpSpPr>
          <p:grpSpPr>
            <a:xfrm>
              <a:off x="2314617" y="968113"/>
              <a:ext cx="211953" cy="259646"/>
              <a:chOff x="0" y="0"/>
              <a:chExt cx="211951" cy="259644"/>
            </a:xfrm>
          </p:grpSpPr>
          <p:sp>
            <p:nvSpPr>
              <p:cNvPr id="413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4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18" name="成组"/>
            <p:cNvGrpSpPr/>
            <p:nvPr/>
          </p:nvGrpSpPr>
          <p:grpSpPr>
            <a:xfrm>
              <a:off x="754002" y="1672449"/>
              <a:ext cx="211952" cy="259646"/>
              <a:chOff x="0" y="0"/>
              <a:chExt cx="211951" cy="259644"/>
            </a:xfrm>
          </p:grpSpPr>
          <p:sp>
            <p:nvSpPr>
              <p:cNvPr id="416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17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21" name="成组"/>
            <p:cNvGrpSpPr/>
            <p:nvPr/>
          </p:nvGrpSpPr>
          <p:grpSpPr>
            <a:xfrm>
              <a:off x="2374193" y="2408230"/>
              <a:ext cx="211953" cy="259646"/>
              <a:chOff x="0" y="0"/>
              <a:chExt cx="211951" cy="259644"/>
            </a:xfrm>
          </p:grpSpPr>
          <p:sp>
            <p:nvSpPr>
              <p:cNvPr id="419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0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24" name="成组"/>
            <p:cNvGrpSpPr/>
            <p:nvPr/>
          </p:nvGrpSpPr>
          <p:grpSpPr>
            <a:xfrm>
              <a:off x="3889171" y="3097764"/>
              <a:ext cx="211952" cy="259646"/>
              <a:chOff x="0" y="0"/>
              <a:chExt cx="211951" cy="259644"/>
            </a:xfrm>
          </p:grpSpPr>
          <p:sp>
            <p:nvSpPr>
              <p:cNvPr id="422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3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grpSp>
          <p:nvGrpSpPr>
            <p:cNvPr id="427" name="成组"/>
            <p:cNvGrpSpPr/>
            <p:nvPr/>
          </p:nvGrpSpPr>
          <p:grpSpPr>
            <a:xfrm>
              <a:off x="5393828" y="3806614"/>
              <a:ext cx="211952" cy="259646"/>
              <a:chOff x="0" y="0"/>
              <a:chExt cx="211951" cy="259644"/>
            </a:xfrm>
          </p:grpSpPr>
          <p:sp>
            <p:nvSpPr>
              <p:cNvPr id="425" name="Shape 836"/>
              <p:cNvSpPr/>
              <p:nvPr/>
            </p:nvSpPr>
            <p:spPr>
              <a:xfrm flipH="1">
                <a:off x="-1" y="-1"/>
                <a:ext cx="103861" cy="259646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6" name="Shape 837"/>
              <p:cNvSpPr/>
              <p:nvPr/>
            </p:nvSpPr>
            <p:spPr>
              <a:xfrm>
                <a:off x="105834" y="0"/>
                <a:ext cx="106118" cy="259645"/>
              </a:xfrm>
              <a:prstGeom prst="line">
                <a:avLst/>
              </a:prstGeom>
              <a:noFill/>
              <a:ln w="25400" cap="sq">
                <a:solidFill>
                  <a:srgbClr val="00009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indent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431" name="private class Itr implements Iterator&lt;Integer&gt; {…"/>
          <p:cNvSpPr txBox="1"/>
          <p:nvPr/>
        </p:nvSpPr>
        <p:spPr>
          <a:xfrm>
            <a:off x="1643906" y="1253376"/>
            <a:ext cx="9716989" cy="433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Itr </a:t>
            </a:r>
            <a:r>
              <a:rPr>
                <a:solidFill>
                  <a:srgbClr val="931A68"/>
                </a:solidFill>
              </a:rPr>
              <a:t>implements</a:t>
            </a:r>
            <a:r>
              <a:t> Iterator&lt;Integer&gt; {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r>
              <a:t>// 下一个邻接点的编号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Iterator&lt;Pair&gt; </a:t>
            </a:r>
            <a:r>
              <a:rPr>
                <a:solidFill>
                  <a:srgbClr val="0326CC"/>
                </a:solidFill>
              </a:rPr>
              <a:t>it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Pair 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public</a:t>
            </a:r>
            <a:r>
              <a:rPr>
                <a:solidFill>
                  <a:srgbClr val="000000"/>
                </a:solidFill>
              </a:rPr>
              <a:t> Itr(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7E504F"/>
                </a:solidFill>
              </a:rPr>
              <a:t>v</a:t>
            </a:r>
            <a:r>
              <a:t>).iterator();</a:t>
            </a:r>
          </a:p>
          <a:p>
            <a:pPr>
              <a:defRPr sz="25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next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Pair(</a:t>
            </a:r>
            <a:r>
              <a:rPr>
                <a:solidFill>
                  <a:srgbClr val="7E504F"/>
                </a:solidFill>
              </a:rPr>
              <a:t>v</a:t>
            </a:r>
            <a:r>
              <a:t>, 0);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1314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/>
          <a:p>
            <a:pPr/>
            <a:r>
              <a:t>基于邻接表的无向图</a:t>
            </a:r>
          </a:p>
        </p:txBody>
      </p:sp>
      <p:sp>
        <p:nvSpPr>
          <p:cNvPr id="434" name="public boolean hasNext() {…"/>
          <p:cNvSpPr txBox="1"/>
          <p:nvPr/>
        </p:nvSpPr>
        <p:spPr>
          <a:xfrm>
            <a:off x="1686904" y="1213548"/>
            <a:ext cx="9564341" cy="6909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hasNext()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it</a:t>
            </a:r>
            <a:r>
              <a:t>.hasNext())</a:t>
            </a:r>
            <a:r>
              <a:rPr>
                <a:solidFill>
                  <a:srgbClr val="4E9072"/>
                </a:solidFill>
              </a:rPr>
              <a:t>// 编号小于v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(++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) {</a:t>
            </a:r>
            <a:r>
              <a:t>// 编号大于v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edges</a:t>
            </a:r>
            <a:r>
              <a:t>.get(</a:t>
            </a:r>
            <a:r>
              <a:rPr>
                <a:solidFill>
                  <a:srgbClr val="0326CC"/>
                </a:solidFill>
              </a:rPr>
              <a:t>next</a:t>
            </a:r>
            <a:r>
              <a:t>).indexOf(</a:t>
            </a:r>
            <a:r>
              <a:rPr>
                <a:solidFill>
                  <a:srgbClr val="0326CC"/>
                </a:solidFill>
              </a:rPr>
              <a:t>pair</a:t>
            </a:r>
            <a:r>
              <a:t>) != -1)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?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 :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Integer next() {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it</a:t>
            </a:r>
            <a:r>
              <a:t>.hasNext())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it</a:t>
            </a:r>
            <a:r>
              <a:t>.next().</a:t>
            </a:r>
            <a:r>
              <a:rPr>
                <a:solidFill>
                  <a:srgbClr val="0326CC"/>
                </a:solidFill>
              </a:rPr>
              <a:t>vertex</a:t>
            </a:r>
            <a:r>
              <a:t>;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next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成组"/>
          <p:cNvGrpSpPr/>
          <p:nvPr/>
        </p:nvGrpSpPr>
        <p:grpSpPr>
          <a:xfrm>
            <a:off x="4284857" y="1336609"/>
            <a:ext cx="4206541" cy="3312503"/>
            <a:chOff x="0" y="0"/>
            <a:chExt cx="4206540" cy="3312502"/>
          </a:xfrm>
        </p:grpSpPr>
        <p:sp>
          <p:nvSpPr>
            <p:cNvPr id="436" name="Shape 436"/>
            <p:cNvSpPr/>
            <p:nvPr/>
          </p:nvSpPr>
          <p:spPr>
            <a:xfrm>
              <a:off x="3356524" y="356281"/>
              <a:ext cx="496953" cy="953792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7" name="Shape 437"/>
            <p:cNvSpPr/>
            <p:nvPr/>
          </p:nvSpPr>
          <p:spPr>
            <a:xfrm flipH="1">
              <a:off x="1564603" y="1746476"/>
              <a:ext cx="2173061" cy="1054318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8" name="Shape 426"/>
            <p:cNvSpPr/>
            <p:nvPr/>
          </p:nvSpPr>
          <p:spPr>
            <a:xfrm>
              <a:off x="1114204" y="87632"/>
              <a:ext cx="496953" cy="59306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" name="Shape 427"/>
            <p:cNvSpPr txBox="1"/>
            <p:nvPr/>
          </p:nvSpPr>
          <p:spPr>
            <a:xfrm>
              <a:off x="1105869" y="68428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40" name="Shape 429"/>
            <p:cNvSpPr/>
            <p:nvPr/>
          </p:nvSpPr>
          <p:spPr>
            <a:xfrm>
              <a:off x="33735" y="1410597"/>
              <a:ext cx="496952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1" name="Shape 430"/>
            <p:cNvSpPr txBox="1"/>
            <p:nvPr/>
          </p:nvSpPr>
          <p:spPr>
            <a:xfrm>
              <a:off x="0" y="1349167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42" name="Shape 432"/>
            <p:cNvSpPr/>
            <p:nvPr/>
          </p:nvSpPr>
          <p:spPr>
            <a:xfrm flipH="1">
              <a:off x="281343" y="437382"/>
              <a:ext cx="831133" cy="973218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3" name="Shape 433"/>
            <p:cNvSpPr/>
            <p:nvPr/>
          </p:nvSpPr>
          <p:spPr>
            <a:xfrm>
              <a:off x="1612881" y="356281"/>
              <a:ext cx="1494305" cy="235193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4" name="Shape 434"/>
            <p:cNvSpPr/>
            <p:nvPr/>
          </p:nvSpPr>
          <p:spPr>
            <a:xfrm>
              <a:off x="532413" y="1735002"/>
              <a:ext cx="2574773" cy="97321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5" name="Shape 435"/>
            <p:cNvSpPr/>
            <p:nvPr/>
          </p:nvSpPr>
          <p:spPr>
            <a:xfrm flipH="1">
              <a:off x="1515917" y="437381"/>
              <a:ext cx="1341931" cy="2351940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6" name="Shape 438"/>
            <p:cNvSpPr/>
            <p:nvPr/>
          </p:nvSpPr>
          <p:spPr>
            <a:xfrm flipH="1">
              <a:off x="1361810" y="655341"/>
              <a:ext cx="1735" cy="2052875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7" name="Shape 439"/>
            <p:cNvSpPr/>
            <p:nvPr/>
          </p:nvSpPr>
          <p:spPr>
            <a:xfrm>
              <a:off x="2856114" y="31876"/>
              <a:ext cx="496952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8" name="Shape 440"/>
            <p:cNvSpPr txBox="1"/>
            <p:nvPr/>
          </p:nvSpPr>
          <p:spPr>
            <a:xfrm>
              <a:off x="2808364" y="-1"/>
              <a:ext cx="541647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49" name="Shape 442"/>
            <p:cNvSpPr/>
            <p:nvPr/>
          </p:nvSpPr>
          <p:spPr>
            <a:xfrm>
              <a:off x="3687243" y="1329497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0" name="Shape 443"/>
            <p:cNvSpPr txBox="1"/>
            <p:nvPr/>
          </p:nvSpPr>
          <p:spPr>
            <a:xfrm>
              <a:off x="3664893" y="1297620"/>
              <a:ext cx="54164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51" name="Shape 445"/>
            <p:cNvSpPr/>
            <p:nvPr/>
          </p:nvSpPr>
          <p:spPr>
            <a:xfrm>
              <a:off x="1110741" y="27082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2" name="Shape 446"/>
            <p:cNvSpPr txBox="1"/>
            <p:nvPr/>
          </p:nvSpPr>
          <p:spPr>
            <a:xfrm>
              <a:off x="1091268" y="2676341"/>
              <a:ext cx="485093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53" name="Shape 448"/>
            <p:cNvSpPr/>
            <p:nvPr/>
          </p:nvSpPr>
          <p:spPr>
            <a:xfrm>
              <a:off x="2939226" y="2690615"/>
              <a:ext cx="496953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4" name="Shape 449"/>
            <p:cNvSpPr txBox="1"/>
            <p:nvPr/>
          </p:nvSpPr>
          <p:spPr>
            <a:xfrm>
              <a:off x="2918191" y="2658738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456" name="文本框 2"/>
          <p:cNvSpPr txBox="1"/>
          <p:nvPr/>
        </p:nvSpPr>
        <p:spPr>
          <a:xfrm>
            <a:off x="9405348" y="3650489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457" name="文本框 39"/>
          <p:cNvSpPr txBox="1"/>
          <p:nvPr/>
        </p:nvSpPr>
        <p:spPr>
          <a:xfrm>
            <a:off x="9405348" y="2789898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458" name="文本框 40"/>
          <p:cNvSpPr txBox="1"/>
          <p:nvPr/>
        </p:nvSpPr>
        <p:spPr>
          <a:xfrm>
            <a:off x="9405348" y="2316985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459" name="文本框 41"/>
          <p:cNvSpPr txBox="1"/>
          <p:nvPr/>
        </p:nvSpPr>
        <p:spPr>
          <a:xfrm>
            <a:off x="9405348" y="2804673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460" name="文本框 42"/>
          <p:cNvSpPr txBox="1"/>
          <p:nvPr/>
        </p:nvSpPr>
        <p:spPr>
          <a:xfrm>
            <a:off x="9405348" y="3277574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461" name="文本框 43"/>
          <p:cNvSpPr txBox="1"/>
          <p:nvPr/>
        </p:nvSpPr>
        <p:spPr>
          <a:xfrm>
            <a:off x="9405348" y="2789901"/>
            <a:ext cx="373998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462" name="文本框 44"/>
          <p:cNvSpPr txBox="1"/>
          <p:nvPr/>
        </p:nvSpPr>
        <p:spPr>
          <a:xfrm>
            <a:off x="9405348" y="2361330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463" name="Shape 430"/>
          <p:cNvSpPr txBox="1"/>
          <p:nvPr/>
        </p:nvSpPr>
        <p:spPr>
          <a:xfrm>
            <a:off x="4263117" y="2674780"/>
            <a:ext cx="51361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464" name="Shape 427"/>
          <p:cNvSpPr txBox="1"/>
          <p:nvPr/>
        </p:nvSpPr>
        <p:spPr>
          <a:xfrm>
            <a:off x="5379601" y="1366338"/>
            <a:ext cx="513618" cy="636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465" name="Shape 440"/>
          <p:cNvSpPr txBox="1"/>
          <p:nvPr/>
        </p:nvSpPr>
        <p:spPr>
          <a:xfrm>
            <a:off x="7085901" y="1340938"/>
            <a:ext cx="541647" cy="636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466" name="Shape 443"/>
          <p:cNvSpPr txBox="1"/>
          <p:nvPr/>
        </p:nvSpPr>
        <p:spPr>
          <a:xfrm>
            <a:off x="7938625" y="2649380"/>
            <a:ext cx="541647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467" name="Shape 449"/>
          <p:cNvSpPr txBox="1"/>
          <p:nvPr/>
        </p:nvSpPr>
        <p:spPr>
          <a:xfrm>
            <a:off x="7201240" y="4004568"/>
            <a:ext cx="51361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468" name="Shape 446"/>
          <p:cNvSpPr txBox="1"/>
          <p:nvPr/>
        </p:nvSpPr>
        <p:spPr>
          <a:xfrm>
            <a:off x="5381164" y="4004568"/>
            <a:ext cx="485093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469" name="文本框 3"/>
          <p:cNvSpPr txBox="1"/>
          <p:nvPr/>
        </p:nvSpPr>
        <p:spPr>
          <a:xfrm>
            <a:off x="9405348" y="2305595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470" name="文本框 4"/>
          <p:cNvSpPr txBox="1"/>
          <p:nvPr/>
        </p:nvSpPr>
        <p:spPr>
          <a:xfrm>
            <a:off x="125256" y="4852316"/>
            <a:ext cx="11218755" cy="431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初始化</a:t>
            </a:r>
            <a:r>
              <a:t>reached[]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将</a:t>
            </a:r>
            <a:r>
              <a:t>u</a:t>
            </a:r>
            <a:r>
              <a:t>入栈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如果栈为空，算法结束；否则：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出栈</a:t>
            </a:r>
            <a:r>
              <a:t>=&gt;u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如果</a:t>
            </a:r>
            <a:r>
              <a:t>reached[u] = true</a:t>
            </a:r>
            <a:r>
              <a:t>，继续</a:t>
            </a:r>
            <a:r>
              <a:t>3</a:t>
            </a:r>
            <a:r>
              <a:t>，否则</a:t>
            </a:r>
            <a:r>
              <a:t>: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     </a:t>
            </a:r>
            <a:r>
              <a:t>reached[] = true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    </a:t>
            </a:r>
            <a:r>
              <a:t> 将</a:t>
            </a:r>
            <a:r>
              <a:t>u</a:t>
            </a:r>
            <a:r>
              <a:t>的邻接点</a:t>
            </a:r>
            <a:r>
              <a:t>v</a:t>
            </a:r>
            <a:r>
              <a:t>，并且</a:t>
            </a:r>
            <a:r>
              <a:t>reached[v] = false </a:t>
            </a:r>
            <a:r>
              <a:t>入栈，继续</a:t>
            </a:r>
            <a:r>
              <a:t>3</a:t>
            </a:r>
          </a:p>
        </p:txBody>
      </p:sp>
      <p:sp>
        <p:nvSpPr>
          <p:cNvPr id="471" name="文本框 5"/>
          <p:cNvSpPr txBox="1"/>
          <p:nvPr/>
        </p:nvSpPr>
        <p:spPr>
          <a:xfrm>
            <a:off x="77253" y="4156698"/>
            <a:ext cx="27010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/>
            </a:lvl1pPr>
          </a:lstStyle>
          <a:p>
            <a:pPr/>
            <a:r>
              <a:t>非递归描述：</a:t>
            </a:r>
          </a:p>
        </p:txBody>
      </p:sp>
      <p:sp>
        <p:nvSpPr>
          <p:cNvPr id="472" name="非递归深度优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非递归深度优先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xit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xit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xit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xit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xit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xit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xit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1" grpId="12"/>
      <p:bldP build="whole" bldLvl="1" animBg="1" rev="0" advAuto="0" spid="456" grpId="2"/>
      <p:bldP build="whole" bldLvl="1" animBg="1" rev="0" advAuto="0" spid="457" grpId="6"/>
      <p:bldP build="whole" bldLvl="1" animBg="1" rev="0" advAuto="0" spid="457" grpId="5"/>
      <p:bldP build="whole" bldLvl="1" animBg="1" rev="0" advAuto="0" spid="459" grpId="14"/>
      <p:bldP build="whole" bldLvl="1" animBg="1" rev="0" advAuto="0" spid="466" grpId="20"/>
      <p:bldP build="whole" bldLvl="1" animBg="1" rev="0" advAuto="0" spid="458" grpId="15"/>
      <p:bldP build="whole" bldLvl="1" animBg="1" rev="0" advAuto="0" spid="458" grpId="16"/>
      <p:bldP build="whole" bldLvl="1" animBg="1" rev="0" advAuto="0" spid="460" grpId="22"/>
      <p:bldP build="whole" bldLvl="1" animBg="1" rev="0" advAuto="0" spid="459" grpId="21"/>
      <p:bldP build="whole" bldLvl="1" animBg="1" rev="0" advAuto="0" spid="463" grpId="3"/>
      <p:bldP build="whole" bldLvl="1" animBg="1" rev="0" advAuto="0" spid="467" grpId="11"/>
      <p:bldP build="whole" bldLvl="1" animBg="1" rev="0" advAuto="0" spid="468" grpId="13"/>
      <p:bldP build="whole" bldLvl="1" animBg="1" rev="0" advAuto="0" spid="464" grpId="7"/>
      <p:bldP build="whole" bldLvl="1" animBg="1" rev="0" advAuto="0" spid="469" grpId="18"/>
      <p:bldP build="whole" bldLvl="1" animBg="1" rev="0" advAuto="0" spid="469" grpId="19"/>
      <p:bldP build="whole" bldLvl="1" animBg="1" rev="0" advAuto="0" spid="462" grpId="9"/>
      <p:bldP build="whole" bldLvl="1" animBg="1" rev="0" advAuto="0" spid="462" grpId="10"/>
      <p:bldP build="whole" bldLvl="1" animBg="1" rev="0" advAuto="0" spid="460" grpId="4"/>
      <p:bldP build="whole" bldLvl="1" animBg="1" rev="0" advAuto="0" spid="461" grpId="8"/>
      <p:bldP build="whole" bldLvl="1" animBg="1" rev="0" advAuto="0" spid="465" grpId="17"/>
      <p:bldP build="whole" bldLvl="1" animBg="1" rev="0" advAuto="0" spid="456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346"/>
          <p:cNvSpPr txBox="1"/>
          <p:nvPr/>
        </p:nvSpPr>
        <p:spPr>
          <a:xfrm>
            <a:off x="2200486" y="204188"/>
            <a:ext cx="863600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R="57798" indent="57798" algn="ctr" defTabSz="1295400">
              <a:spcBef>
                <a:spcPts val="1900"/>
              </a:spcBef>
              <a:defRPr sz="42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广度优先搜索</a:t>
            </a:r>
          </a:p>
        </p:txBody>
      </p:sp>
      <p:sp>
        <p:nvSpPr>
          <p:cNvPr id="475" name="文本框 4"/>
          <p:cNvSpPr txBox="1"/>
          <p:nvPr/>
        </p:nvSpPr>
        <p:spPr>
          <a:xfrm>
            <a:off x="709013" y="2180606"/>
            <a:ext cx="11218756" cy="431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初始化</a:t>
            </a:r>
            <a:r>
              <a:t>reached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将</a:t>
            </a:r>
            <a:r>
              <a:t>u</a:t>
            </a:r>
            <a:r>
              <a:t>入队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如果队为空，算法结束；否则：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出队</a:t>
            </a:r>
            <a:r>
              <a:t>=&gt;u</a:t>
            </a:r>
            <a:r>
              <a:t>，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如果</a:t>
            </a:r>
            <a:r>
              <a:t>reached[u] = true </a:t>
            </a:r>
            <a:r>
              <a:t>则继续</a:t>
            </a:r>
            <a:r>
              <a:t>3</a:t>
            </a:r>
            <a:r>
              <a:t>，否则</a:t>
            </a:r>
            <a:r>
              <a:t>: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     </a:t>
            </a:r>
            <a:r>
              <a:t>reached[u] = true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    </a:t>
            </a:r>
            <a:r>
              <a:t> 将</a:t>
            </a:r>
            <a:r>
              <a:t>u</a:t>
            </a:r>
            <a:r>
              <a:t>的邻接点</a:t>
            </a:r>
            <a:r>
              <a:t>v</a:t>
            </a:r>
            <a:r>
              <a:t>，并且</a:t>
            </a:r>
            <a:r>
              <a:t>reached[v] = false </a:t>
            </a:r>
            <a:r>
              <a:t>入队，继续</a:t>
            </a:r>
            <a:r>
              <a:t>2</a:t>
            </a:r>
          </a:p>
        </p:txBody>
      </p:sp>
      <p:sp>
        <p:nvSpPr>
          <p:cNvPr id="476" name="文本框 5"/>
          <p:cNvSpPr txBox="1"/>
          <p:nvPr/>
        </p:nvSpPr>
        <p:spPr>
          <a:xfrm>
            <a:off x="213828" y="1610396"/>
            <a:ext cx="22692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/>
            </a:lvl1pPr>
          </a:lstStyle>
          <a:p>
            <a:pPr/>
            <a:r>
              <a:t>算法描述：</a:t>
            </a:r>
          </a:p>
        </p:txBody>
      </p:sp>
      <p:sp>
        <p:nvSpPr>
          <p:cNvPr id="477" name="文本框 2"/>
          <p:cNvSpPr txBox="1"/>
          <p:nvPr/>
        </p:nvSpPr>
        <p:spPr>
          <a:xfrm>
            <a:off x="213828" y="6531490"/>
            <a:ext cx="11938564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defTabSz="1300480">
              <a:defRPr sz="3400">
                <a:solidFill>
                  <a:schemeClr val="accent5"/>
                </a:solidFill>
              </a:defRPr>
            </a:pPr>
            <a:r>
              <a:t>注：也可以先</a:t>
            </a:r>
            <a:r>
              <a:t>reached[v]=true</a:t>
            </a:r>
            <a:r>
              <a:t>再入队，减少同一个顶点多次入队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75" grpId="1"/>
      <p:bldP build="whole" bldLvl="1" animBg="1" rev="0" advAuto="0" spid="477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成组"/>
          <p:cNvGrpSpPr/>
          <p:nvPr/>
        </p:nvGrpSpPr>
        <p:grpSpPr>
          <a:xfrm>
            <a:off x="4455571" y="1418688"/>
            <a:ext cx="4206542" cy="3312503"/>
            <a:chOff x="0" y="0"/>
            <a:chExt cx="4206540" cy="3312502"/>
          </a:xfrm>
        </p:grpSpPr>
        <p:sp>
          <p:nvSpPr>
            <p:cNvPr id="479" name="Shape 436"/>
            <p:cNvSpPr/>
            <p:nvPr/>
          </p:nvSpPr>
          <p:spPr>
            <a:xfrm>
              <a:off x="3356524" y="356281"/>
              <a:ext cx="496953" cy="953792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0" name="Shape 437"/>
            <p:cNvSpPr/>
            <p:nvPr/>
          </p:nvSpPr>
          <p:spPr>
            <a:xfrm flipH="1">
              <a:off x="1564603" y="1746476"/>
              <a:ext cx="2173061" cy="1054318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1" name="Shape 426"/>
            <p:cNvSpPr/>
            <p:nvPr/>
          </p:nvSpPr>
          <p:spPr>
            <a:xfrm>
              <a:off x="1114204" y="87632"/>
              <a:ext cx="496953" cy="59306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2" name="Shape 427"/>
            <p:cNvSpPr txBox="1"/>
            <p:nvPr/>
          </p:nvSpPr>
          <p:spPr>
            <a:xfrm>
              <a:off x="1105869" y="68428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483" name="Shape 429"/>
            <p:cNvSpPr/>
            <p:nvPr/>
          </p:nvSpPr>
          <p:spPr>
            <a:xfrm>
              <a:off x="33735" y="1410597"/>
              <a:ext cx="496952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4" name="Shape 430"/>
            <p:cNvSpPr txBox="1"/>
            <p:nvPr/>
          </p:nvSpPr>
          <p:spPr>
            <a:xfrm>
              <a:off x="0" y="1349167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485" name="Shape 432"/>
            <p:cNvSpPr/>
            <p:nvPr/>
          </p:nvSpPr>
          <p:spPr>
            <a:xfrm flipH="1">
              <a:off x="281343" y="437382"/>
              <a:ext cx="831133" cy="973218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6" name="Shape 433"/>
            <p:cNvSpPr/>
            <p:nvPr/>
          </p:nvSpPr>
          <p:spPr>
            <a:xfrm>
              <a:off x="1612881" y="356281"/>
              <a:ext cx="1494305" cy="235193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7" name="Shape 434"/>
            <p:cNvSpPr/>
            <p:nvPr/>
          </p:nvSpPr>
          <p:spPr>
            <a:xfrm>
              <a:off x="532413" y="1735002"/>
              <a:ext cx="2574773" cy="97321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8" name="Shape 435"/>
            <p:cNvSpPr/>
            <p:nvPr/>
          </p:nvSpPr>
          <p:spPr>
            <a:xfrm flipH="1">
              <a:off x="1515917" y="437381"/>
              <a:ext cx="1341931" cy="2351940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9" name="Shape 438"/>
            <p:cNvSpPr/>
            <p:nvPr/>
          </p:nvSpPr>
          <p:spPr>
            <a:xfrm flipH="1">
              <a:off x="1361810" y="655341"/>
              <a:ext cx="1735" cy="2052875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defTabSz="1300480">
                <a:defRPr sz="2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0" name="Shape 439"/>
            <p:cNvSpPr/>
            <p:nvPr/>
          </p:nvSpPr>
          <p:spPr>
            <a:xfrm>
              <a:off x="2856114" y="31876"/>
              <a:ext cx="496952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1" name="Shape 440"/>
            <p:cNvSpPr txBox="1"/>
            <p:nvPr/>
          </p:nvSpPr>
          <p:spPr>
            <a:xfrm>
              <a:off x="2808364" y="-1"/>
              <a:ext cx="541647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492" name="Shape 442"/>
            <p:cNvSpPr/>
            <p:nvPr/>
          </p:nvSpPr>
          <p:spPr>
            <a:xfrm>
              <a:off x="3687243" y="1329497"/>
              <a:ext cx="496953" cy="567717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3" name="Shape 443"/>
            <p:cNvSpPr txBox="1"/>
            <p:nvPr/>
          </p:nvSpPr>
          <p:spPr>
            <a:xfrm>
              <a:off x="3664893" y="1297620"/>
              <a:ext cx="54164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494" name="Shape 445"/>
            <p:cNvSpPr/>
            <p:nvPr/>
          </p:nvSpPr>
          <p:spPr>
            <a:xfrm>
              <a:off x="1110741" y="2708217"/>
              <a:ext cx="496952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5" name="Shape 446"/>
            <p:cNvSpPr txBox="1"/>
            <p:nvPr/>
          </p:nvSpPr>
          <p:spPr>
            <a:xfrm>
              <a:off x="1091268" y="2676341"/>
              <a:ext cx="485093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496" name="Shape 448"/>
            <p:cNvSpPr/>
            <p:nvPr/>
          </p:nvSpPr>
          <p:spPr>
            <a:xfrm>
              <a:off x="2939226" y="2690615"/>
              <a:ext cx="496953" cy="567715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pPr marR="82201" defTabSz="1842346">
                <a:spcBef>
                  <a:spcPts val="2700"/>
                </a:spcBef>
                <a:defRPr b="1" sz="3800">
                  <a:uFill>
                    <a:solidFill>
                      <a:srgbClr val="000000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7" name="Shape 449"/>
            <p:cNvSpPr txBox="1"/>
            <p:nvPr/>
          </p:nvSpPr>
          <p:spPr>
            <a:xfrm>
              <a:off x="2918191" y="2658738"/>
              <a:ext cx="513618" cy="636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0640" tIns="40640" rIns="40640" bIns="40640" numCol="1" anchor="ctr">
              <a:spAutoFit/>
            </a:bodyPr>
            <a:lstStyle>
              <a:lvl1pPr marR="80804" indent="80804" algn="ctr" defTabSz="1842346">
                <a:spcBef>
                  <a:spcPts val="2700"/>
                </a:spcBef>
                <a:defRPr sz="40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499" name="文本框 2"/>
          <p:cNvSpPr txBox="1"/>
          <p:nvPr/>
        </p:nvSpPr>
        <p:spPr>
          <a:xfrm>
            <a:off x="9634348" y="3407174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00" name="文本框 39"/>
          <p:cNvSpPr txBox="1"/>
          <p:nvPr/>
        </p:nvSpPr>
        <p:spPr>
          <a:xfrm>
            <a:off x="9634348" y="2546583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01" name="文本框 40"/>
          <p:cNvSpPr txBox="1"/>
          <p:nvPr/>
        </p:nvSpPr>
        <p:spPr>
          <a:xfrm>
            <a:off x="9634348" y="2073669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02" name="文本框 41"/>
          <p:cNvSpPr txBox="1"/>
          <p:nvPr/>
        </p:nvSpPr>
        <p:spPr>
          <a:xfrm>
            <a:off x="9634348" y="2561357"/>
            <a:ext cx="422069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503" name="文本框 42"/>
          <p:cNvSpPr txBox="1"/>
          <p:nvPr/>
        </p:nvSpPr>
        <p:spPr>
          <a:xfrm>
            <a:off x="9634348" y="3034258"/>
            <a:ext cx="398244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504" name="文本框 43"/>
          <p:cNvSpPr txBox="1"/>
          <p:nvPr/>
        </p:nvSpPr>
        <p:spPr>
          <a:xfrm>
            <a:off x="9634348" y="2561357"/>
            <a:ext cx="373998" cy="61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505" name="Shape 430"/>
          <p:cNvSpPr txBox="1"/>
          <p:nvPr/>
        </p:nvSpPr>
        <p:spPr>
          <a:xfrm>
            <a:off x="4433832" y="2756859"/>
            <a:ext cx="51361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06" name="Shape 427"/>
          <p:cNvSpPr txBox="1"/>
          <p:nvPr/>
        </p:nvSpPr>
        <p:spPr>
          <a:xfrm>
            <a:off x="5550316" y="1448417"/>
            <a:ext cx="51361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507" name="Shape 440"/>
          <p:cNvSpPr txBox="1"/>
          <p:nvPr/>
        </p:nvSpPr>
        <p:spPr>
          <a:xfrm>
            <a:off x="7256615" y="1423017"/>
            <a:ext cx="54164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508" name="Shape 443"/>
          <p:cNvSpPr txBox="1"/>
          <p:nvPr/>
        </p:nvSpPr>
        <p:spPr>
          <a:xfrm>
            <a:off x="8109339" y="2731459"/>
            <a:ext cx="54164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509" name="Shape 449"/>
          <p:cNvSpPr txBox="1"/>
          <p:nvPr/>
        </p:nvSpPr>
        <p:spPr>
          <a:xfrm>
            <a:off x="7371955" y="4086647"/>
            <a:ext cx="513618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510" name="Shape 446"/>
          <p:cNvSpPr txBox="1"/>
          <p:nvPr/>
        </p:nvSpPr>
        <p:spPr>
          <a:xfrm>
            <a:off x="5551879" y="4086647"/>
            <a:ext cx="485092" cy="636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0640" tIns="40640" rIns="40640" bIns="40640" anchor="ctr">
            <a:spAutoFit/>
          </a:bodyPr>
          <a:lstStyle>
            <a:lvl1pPr marR="80804" indent="80804" algn="ctr" defTabSz="1842346">
              <a:spcBef>
                <a:spcPts val="2700"/>
              </a:spcBef>
              <a:defRPr sz="4000">
                <a:solidFill>
                  <a:srgbClr val="FF0000"/>
                </a:solidFill>
                <a:uFill>
                  <a:solidFill>
                    <a:srgbClr val="333399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511" name="文本框 4"/>
          <p:cNvSpPr txBox="1"/>
          <p:nvPr/>
        </p:nvSpPr>
        <p:spPr>
          <a:xfrm>
            <a:off x="184460" y="4732515"/>
            <a:ext cx="12683882" cy="4456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/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初始化</a:t>
            </a:r>
            <a:r>
              <a:t>reached[]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将</a:t>
            </a:r>
            <a:r>
              <a:t>u</a:t>
            </a:r>
            <a:r>
              <a:t>入栈，reached[u] = true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如果栈为空，算法结束；否则：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出栈</a:t>
            </a:r>
            <a:r>
              <a:t>=&gt;u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</a:t>
            </a:r>
            <a:r>
              <a:t>遍历u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</a:t>
            </a:r>
            <a:r>
              <a:t>将</a:t>
            </a:r>
            <a:r>
              <a:t>u</a:t>
            </a:r>
            <a:r>
              <a:t>的邻接点</a:t>
            </a:r>
            <a:r>
              <a:t>v</a:t>
            </a:r>
            <a:r>
              <a:t>，并且</a:t>
            </a:r>
            <a:r>
              <a:t>reached[v] = false </a:t>
            </a:r>
            <a:r>
              <a:t>入栈， </a:t>
            </a:r>
            <a:r>
              <a:t>reached[v] = true</a:t>
            </a:r>
          </a:p>
          <a:p>
            <a:pPr marL="647700" indent="-647700" defTabSz="1300480">
              <a:buSzPct val="100000"/>
              <a:buAutoNum type="arabicPeriod" startAt="1"/>
              <a:defRPr sz="3400"/>
            </a:pPr>
            <a:r>
              <a:t>    继续3</a:t>
            </a:r>
          </a:p>
        </p:txBody>
      </p:sp>
      <p:sp>
        <p:nvSpPr>
          <p:cNvPr id="512" name="文本框 5"/>
          <p:cNvSpPr txBox="1"/>
          <p:nvPr/>
        </p:nvSpPr>
        <p:spPr>
          <a:xfrm>
            <a:off x="136458" y="4036897"/>
            <a:ext cx="5291837" cy="707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8767" tIns="48767" rIns="48767" bIns="48767">
            <a:spAutoFit/>
          </a:bodyPr>
          <a:lstStyle>
            <a:lvl1pPr defTabSz="1300480">
              <a:defRPr sz="3400"/>
            </a:lvl1pPr>
          </a:lstStyle>
          <a:p>
            <a:pPr/>
            <a:r>
              <a:t>防止同一个顶点多次入栈：</a:t>
            </a:r>
          </a:p>
        </p:txBody>
      </p:sp>
      <p:sp>
        <p:nvSpPr>
          <p:cNvPr id="513" name="非递归深度优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非递归深度优先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xit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xit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xit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xit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xit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3" grpId="18"/>
      <p:bldP build="whole" bldLvl="1" animBg="1" rev="0" advAuto="0" spid="503" grpId="4"/>
      <p:bldP build="whole" bldLvl="1" animBg="1" rev="0" advAuto="0" spid="506" grpId="7"/>
      <p:bldP build="whole" bldLvl="1" animBg="1" rev="0" advAuto="0" spid="508" grpId="13"/>
      <p:bldP build="whole" bldLvl="1" animBg="1" rev="0" advAuto="0" spid="502" grpId="12"/>
      <p:bldP build="whole" bldLvl="1" animBg="1" rev="0" advAuto="0" spid="499" grpId="1"/>
      <p:bldP build="whole" bldLvl="1" animBg="1" rev="0" advAuto="0" spid="499" grpId="3"/>
      <p:bldP build="whole" bldLvl="1" animBg="1" rev="0" advAuto="0" spid="504" grpId="9"/>
      <p:bldP build="whole" bldLvl="1" animBg="1" rev="0" advAuto="0" spid="501" grpId="14"/>
      <p:bldP build="whole" bldLvl="1" animBg="1" rev="0" advAuto="0" spid="504" grpId="11"/>
      <p:bldP build="whole" bldLvl="1" animBg="1" rev="0" advAuto="0" spid="505" grpId="2"/>
      <p:bldP build="whole" bldLvl="1" animBg="1" rev="0" advAuto="0" spid="510" grpId="10"/>
      <p:bldP build="whole" bldLvl="1" animBg="1" rev="0" advAuto="0" spid="500" grpId="6"/>
      <p:bldP build="whole" bldLvl="1" animBg="1" rev="0" advAuto="0" spid="501" grpId="16"/>
      <p:bldP build="whole" bldLvl="1" animBg="1" rev="0" advAuto="0" spid="500" grpId="8"/>
      <p:bldP build="whole" bldLvl="1" animBg="1" rev="0" advAuto="0" spid="502" grpId="17"/>
      <p:bldP build="whole" bldLvl="1" animBg="1" rev="0" advAuto="0" spid="509" grpId="5"/>
      <p:bldP build="whole" bldLvl="1" animBg="1" rev="0" advAuto="0" spid="507" grpId="1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非递归深度优先</a:t>
            </a:r>
          </a:p>
        </p:txBody>
      </p:sp>
      <p:sp>
        <p:nvSpPr>
          <p:cNvPr id="516" name="public void ndfs(int u, Consumer&lt;T&gt; fun) {…"/>
          <p:cNvSpPr txBox="1"/>
          <p:nvPr/>
        </p:nvSpPr>
        <p:spPr>
          <a:xfrm>
            <a:off x="505804" y="1391072"/>
            <a:ext cx="11951942" cy="7040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ndfs(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, Consumer&lt;T&gt;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 {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rPr>
                <a:solidFill>
                  <a:srgbClr val="000000"/>
                </a:solidFill>
              </a:rPr>
              <a:t>[</a:t>
            </a:r>
            <a: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ndfs0(</a:t>
            </a:r>
            <a:r>
              <a:rPr>
                <a:solidFill>
                  <a:srgbClr val="7E504F"/>
                </a:solidFill>
              </a:rPr>
              <a:t>u</a:t>
            </a:r>
            <a:r>
              <a:t>,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ndfs0(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t</a:t>
            </a:r>
            <a:r>
              <a:t>, Consumer&lt;T&gt; </a:t>
            </a:r>
            <a:r>
              <a:rPr>
                <a:solidFill>
                  <a:srgbClr val="7E504F"/>
                </a:solidFill>
              </a:rPr>
              <a:t>fun</a:t>
            </a:r>
            <a:r>
              <a:t>) {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Deque&lt;Integer&gt;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LinkedList&lt;&gt;();</a:t>
            </a:r>
            <a:r>
              <a:t>// 非多线程，不要使用类库的Stack！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.push(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等待搜索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.isEmpty())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u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.pop();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fun</a:t>
            </a:r>
            <a:r>
              <a:t>.accept(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.value(</a:t>
            </a:r>
            <a:r>
              <a:rPr>
                <a:solidFill>
                  <a:srgbClr val="7E504F"/>
                </a:solidFill>
              </a:rPr>
              <a:t>u</a:t>
            </a:r>
            <a:r>
              <a:t>));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u</a:t>
            </a:r>
            <a:r>
              <a:t>);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.hasNext();)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(!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]) {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.push(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	</a:t>
            </a:r>
            <a:r>
              <a:t>reached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r>
              <a:rPr>
                <a:solidFill>
                  <a:srgbClr val="4E9072"/>
                </a:solidFill>
              </a:rPr>
              <a:t>// 等待搜素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拓扑排序</a:t>
            </a:r>
          </a:p>
        </p:txBody>
      </p:sp>
      <p:sp>
        <p:nvSpPr>
          <p:cNvPr id="519" name="public int[] topologicalSort() {…"/>
          <p:cNvSpPr txBox="1"/>
          <p:nvPr/>
        </p:nvSpPr>
        <p:spPr>
          <a:xfrm>
            <a:off x="630530" y="1062946"/>
            <a:ext cx="11698586" cy="834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[] topologicalSort()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.getGraphKind() != GraphKind.</a:t>
            </a:r>
            <a:r>
              <a:rPr>
                <a:solidFill>
                  <a:srgbClr val="0326CC"/>
                </a:solidFill>
              </a:rPr>
              <a:t>DirectedGraph</a:t>
            </a:r>
            <a:r>
              <a:t> ||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   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.getGraphKind() != GraphKind.</a:t>
            </a:r>
            <a:r>
              <a:rPr>
                <a:solidFill>
                  <a:srgbClr val="0326CC"/>
                </a:solidFill>
              </a:rPr>
              <a:t>WeightedDirectedGraph</a:t>
            </a:r>
            <a:r>
              <a:t>)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Deque&lt;Integer&gt;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ArrayDeque&lt;&gt;(</a:t>
            </a:r>
            <a:r>
              <a:rPr>
                <a:solidFill>
                  <a:srgbClr val="0326CC"/>
                </a:solidFill>
              </a:rPr>
              <a:t>n</a:t>
            </a:r>
            <a:r>
              <a:t>);</a:t>
            </a:r>
            <a:r>
              <a:rPr>
                <a:solidFill>
                  <a:srgbClr val="4E9072"/>
                </a:solidFill>
              </a:rPr>
              <a:t>// 最多n个数据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indegree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n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((</a:t>
            </a:r>
            <a:r>
              <a:rPr>
                <a:solidFill>
                  <a:srgbClr val="7E504F"/>
                </a:solidFill>
              </a:rPr>
              <a:t>indegree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.inDegree(</a:t>
            </a:r>
            <a:r>
              <a:rPr>
                <a:solidFill>
                  <a:srgbClr val="7E504F"/>
                </a:solidFill>
              </a:rPr>
              <a:t>i</a:t>
            </a:r>
            <a:r>
              <a:t>)) == 0)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.push(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[] 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t> = 0;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.isEmpty())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v</a:t>
            </a:r>
            <a:r>
              <a:t> = 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.pop();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[</a:t>
            </a:r>
            <a:r>
              <a:t>index</a:t>
            </a:r>
            <a:r>
              <a:rPr>
                <a:solidFill>
                  <a:srgbClr val="000000"/>
                </a:solidFill>
              </a:rPr>
              <a:t>++] = </a:t>
            </a:r>
            <a:r>
              <a:t>v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Iterator&lt;Integer&gt; </a:t>
            </a:r>
            <a:r>
              <a:rPr>
                <a:solidFill>
                  <a:srgbClr val="7E504F"/>
                </a:solidFill>
              </a:rPr>
              <a:t>it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graph</a:t>
            </a:r>
            <a:r>
              <a:t>.iterator(</a:t>
            </a:r>
            <a:r>
              <a:rPr>
                <a:solidFill>
                  <a:srgbClr val="7E504F"/>
                </a:solidFill>
              </a:rPr>
              <a:t>v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it</a:t>
            </a:r>
            <a:r>
              <a:t>.hasNext())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it</a:t>
            </a:r>
            <a:r>
              <a:t>.next();</a:t>
            </a:r>
          </a:p>
          <a:p>
            <a:pPr>
              <a:defRPr sz="20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(--</a:t>
            </a:r>
            <a:r>
              <a:t>indegree</a:t>
            </a:r>
            <a:r>
              <a:rPr>
                <a:solidFill>
                  <a:srgbClr val="000000"/>
                </a:solidFill>
              </a:rPr>
              <a:t>[</a:t>
            </a:r>
            <a:r>
              <a:t>i</a:t>
            </a:r>
            <a:r>
              <a:rPr>
                <a:solidFill>
                  <a:srgbClr val="000000"/>
                </a:solidFill>
              </a:rPr>
              <a:t>] == 0)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stack</a:t>
            </a:r>
            <a:r>
              <a:t>.push(</a:t>
            </a:r>
            <a:r>
              <a:rPr>
                <a:solidFill>
                  <a:srgbClr val="7E504F"/>
                </a:solidFill>
              </a:rPr>
              <a:t>i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index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0326CC"/>
                </a:solidFill>
              </a:rPr>
              <a:t>n</a:t>
            </a:r>
            <a:r>
              <a:rPr>
                <a:solidFill>
                  <a:srgbClr val="000000"/>
                </a:solidFill>
              </a:rPr>
              <a:t> ?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 : </a:t>
            </a:r>
            <a: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完全二叉树(complete binary tree)</a:t>
            </a:r>
          </a:p>
        </p:txBody>
      </p:sp>
      <p:grpSp>
        <p:nvGrpSpPr>
          <p:cNvPr id="576" name="成组"/>
          <p:cNvGrpSpPr/>
          <p:nvPr/>
        </p:nvGrpSpPr>
        <p:grpSpPr>
          <a:xfrm>
            <a:off x="6473258" y="1340271"/>
            <a:ext cx="6066242" cy="4271970"/>
            <a:chOff x="0" y="0"/>
            <a:chExt cx="6066241" cy="4271968"/>
          </a:xfrm>
        </p:grpSpPr>
        <p:sp>
          <p:nvSpPr>
            <p:cNvPr id="522" name="Shape 638"/>
            <p:cNvSpPr/>
            <p:nvPr/>
          </p:nvSpPr>
          <p:spPr>
            <a:xfrm>
              <a:off x="3764227" y="398127"/>
              <a:ext cx="1136845" cy="55202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3" name="Shape 639"/>
            <p:cNvSpPr/>
            <p:nvPr/>
          </p:nvSpPr>
          <p:spPr>
            <a:xfrm flipH="1">
              <a:off x="2129925" y="376066"/>
              <a:ext cx="1063597" cy="52109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24" name="Shape 644"/>
            <p:cNvSpPr/>
            <p:nvPr/>
          </p:nvSpPr>
          <p:spPr>
            <a:xfrm>
              <a:off x="4707970" y="811251"/>
              <a:ext cx="568327" cy="48288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27" name="成组"/>
            <p:cNvGrpSpPr/>
            <p:nvPr/>
          </p:nvGrpSpPr>
          <p:grpSpPr>
            <a:xfrm>
              <a:off x="3198984" y="-1"/>
              <a:ext cx="568327" cy="554914"/>
              <a:chOff x="0" y="0"/>
              <a:chExt cx="568325" cy="554912"/>
            </a:xfrm>
          </p:grpSpPr>
          <p:sp>
            <p:nvSpPr>
              <p:cNvPr id="525" name="Shape 642"/>
              <p:cNvSpPr/>
              <p:nvPr/>
            </p:nvSpPr>
            <p:spPr>
              <a:xfrm>
                <a:off x="0" y="72033"/>
                <a:ext cx="568326" cy="48288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6" name="Shape 653"/>
              <p:cNvSpPr txBox="1"/>
              <p:nvPr/>
            </p:nvSpPr>
            <p:spPr>
              <a:xfrm>
                <a:off x="68441" y="0"/>
                <a:ext cx="425924" cy="4980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528" name="Shape 654"/>
            <p:cNvSpPr txBox="1"/>
            <p:nvPr/>
          </p:nvSpPr>
          <p:spPr>
            <a:xfrm>
              <a:off x="4746852" y="803798"/>
              <a:ext cx="425924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grpSp>
          <p:nvGrpSpPr>
            <p:cNvPr id="531" name="成组"/>
            <p:cNvGrpSpPr/>
            <p:nvPr/>
          </p:nvGrpSpPr>
          <p:grpSpPr>
            <a:xfrm>
              <a:off x="5373166" y="1766817"/>
              <a:ext cx="568327" cy="512688"/>
              <a:chOff x="0" y="0"/>
              <a:chExt cx="568325" cy="512687"/>
            </a:xfrm>
          </p:grpSpPr>
          <p:sp>
            <p:nvSpPr>
              <p:cNvPr id="529" name="Shape 648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0" name="Shape 655"/>
              <p:cNvSpPr txBox="1"/>
              <p:nvPr/>
            </p:nvSpPr>
            <p:spPr>
              <a:xfrm>
                <a:off x="48352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534" name="成组"/>
            <p:cNvGrpSpPr/>
            <p:nvPr/>
          </p:nvGrpSpPr>
          <p:grpSpPr>
            <a:xfrm>
              <a:off x="1596401" y="794251"/>
              <a:ext cx="568327" cy="512688"/>
              <a:chOff x="0" y="0"/>
              <a:chExt cx="568325" cy="512687"/>
            </a:xfrm>
          </p:grpSpPr>
          <p:sp>
            <p:nvSpPr>
              <p:cNvPr id="532" name="Shape 643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3" name="Shape 656"/>
              <p:cNvSpPr txBox="1"/>
              <p:nvPr/>
            </p:nvSpPr>
            <p:spPr>
              <a:xfrm>
                <a:off x="68191" y="-1"/>
                <a:ext cx="404955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537" name="成组"/>
            <p:cNvGrpSpPr/>
            <p:nvPr/>
          </p:nvGrpSpPr>
          <p:grpSpPr>
            <a:xfrm>
              <a:off x="640043" y="1766817"/>
              <a:ext cx="568326" cy="501511"/>
              <a:chOff x="0" y="0"/>
              <a:chExt cx="568325" cy="501509"/>
            </a:xfrm>
          </p:grpSpPr>
          <p:sp>
            <p:nvSpPr>
              <p:cNvPr id="535" name="Shape 645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6" name="Shape 657"/>
              <p:cNvSpPr txBox="1"/>
              <p:nvPr/>
            </p:nvSpPr>
            <p:spPr>
              <a:xfrm>
                <a:off x="68192" y="-1"/>
                <a:ext cx="42592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540" name="成组"/>
            <p:cNvGrpSpPr/>
            <p:nvPr/>
          </p:nvGrpSpPr>
          <p:grpSpPr>
            <a:xfrm>
              <a:off x="2559125" y="1766817"/>
              <a:ext cx="568326" cy="501511"/>
              <a:chOff x="0" y="0"/>
              <a:chExt cx="568325" cy="501509"/>
            </a:xfrm>
          </p:grpSpPr>
          <p:sp>
            <p:nvSpPr>
              <p:cNvPr id="538" name="Shape 646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9" name="Shape 658"/>
              <p:cNvSpPr txBox="1"/>
              <p:nvPr/>
            </p:nvSpPr>
            <p:spPr>
              <a:xfrm>
                <a:off x="77492" y="-1"/>
                <a:ext cx="40495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543" name="成组"/>
            <p:cNvGrpSpPr/>
            <p:nvPr/>
          </p:nvGrpSpPr>
          <p:grpSpPr>
            <a:xfrm>
              <a:off x="4096925" y="1766817"/>
              <a:ext cx="568326" cy="501511"/>
              <a:chOff x="0" y="0"/>
              <a:chExt cx="568325" cy="501509"/>
            </a:xfrm>
          </p:grpSpPr>
          <p:sp>
            <p:nvSpPr>
              <p:cNvPr id="541" name="Shape 647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2" name="Shape 659"/>
              <p:cNvSpPr txBox="1"/>
              <p:nvPr/>
            </p:nvSpPr>
            <p:spPr>
              <a:xfrm>
                <a:off x="82040" y="-1"/>
                <a:ext cx="38361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546" name="成组"/>
            <p:cNvGrpSpPr/>
            <p:nvPr/>
          </p:nvGrpSpPr>
          <p:grpSpPr>
            <a:xfrm>
              <a:off x="154186" y="2762873"/>
              <a:ext cx="566340" cy="498029"/>
              <a:chOff x="0" y="0"/>
              <a:chExt cx="566338" cy="498028"/>
            </a:xfrm>
          </p:grpSpPr>
          <p:sp>
            <p:nvSpPr>
              <p:cNvPr id="544" name="Shape 649"/>
              <p:cNvSpPr/>
              <p:nvPr/>
            </p:nvSpPr>
            <p:spPr>
              <a:xfrm>
                <a:off x="0" y="14156"/>
                <a:ext cx="566339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5" name="Shape 662"/>
              <p:cNvSpPr txBox="1"/>
              <p:nvPr/>
            </p:nvSpPr>
            <p:spPr>
              <a:xfrm>
                <a:off x="35900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549" name="成组"/>
            <p:cNvGrpSpPr/>
            <p:nvPr/>
          </p:nvGrpSpPr>
          <p:grpSpPr>
            <a:xfrm>
              <a:off x="1120433" y="2762873"/>
              <a:ext cx="568327" cy="508216"/>
              <a:chOff x="0" y="0"/>
              <a:chExt cx="568325" cy="508215"/>
            </a:xfrm>
          </p:grpSpPr>
          <p:sp>
            <p:nvSpPr>
              <p:cNvPr id="547" name="Shape 664"/>
              <p:cNvSpPr/>
              <p:nvPr/>
            </p:nvSpPr>
            <p:spPr>
              <a:xfrm>
                <a:off x="0" y="25334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8" name="Shape 665"/>
              <p:cNvSpPr txBox="1"/>
              <p:nvPr/>
            </p:nvSpPr>
            <p:spPr>
              <a:xfrm>
                <a:off x="119641" y="-1"/>
                <a:ext cx="299367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550" name="Shape 668"/>
            <p:cNvSpPr/>
            <p:nvPr/>
          </p:nvSpPr>
          <p:spPr>
            <a:xfrm flipH="1" flipV="1">
              <a:off x="5204430" y="1248197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1" name="Shape 668"/>
            <p:cNvSpPr/>
            <p:nvPr/>
          </p:nvSpPr>
          <p:spPr>
            <a:xfrm flipV="1">
              <a:off x="4368253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2" name="Shape 668"/>
            <p:cNvSpPr/>
            <p:nvPr/>
          </p:nvSpPr>
          <p:spPr>
            <a:xfrm flipH="1" flipV="1">
              <a:off x="2149425" y="1157514"/>
              <a:ext cx="696608" cy="6288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3" name="Shape 668"/>
            <p:cNvSpPr/>
            <p:nvPr/>
          </p:nvSpPr>
          <p:spPr>
            <a:xfrm flipH="1" flipV="1">
              <a:off x="979511" y="2254652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4" name="Shape 668"/>
            <p:cNvSpPr/>
            <p:nvPr/>
          </p:nvSpPr>
          <p:spPr>
            <a:xfrm flipV="1">
              <a:off x="422776" y="2254652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5" name="Shape 668"/>
            <p:cNvSpPr/>
            <p:nvPr/>
          </p:nvSpPr>
          <p:spPr>
            <a:xfrm flipV="1">
              <a:off x="934480" y="1156903"/>
              <a:ext cx="696297" cy="6291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6" name="线条"/>
            <p:cNvSpPr/>
            <p:nvPr/>
          </p:nvSpPr>
          <p:spPr>
            <a:xfrm flipV="1">
              <a:off x="1181748" y="3253773"/>
              <a:ext cx="194963" cy="7276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7" name="矩形"/>
            <p:cNvSpPr/>
            <p:nvPr/>
          </p:nvSpPr>
          <p:spPr>
            <a:xfrm>
              <a:off x="984096" y="3921487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58" name="线条"/>
            <p:cNvSpPr/>
            <p:nvPr/>
          </p:nvSpPr>
          <p:spPr>
            <a:xfrm flipH="1" flipV="1">
              <a:off x="1456945" y="3253773"/>
              <a:ext cx="194963" cy="7276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59" name="矩形"/>
            <p:cNvSpPr/>
            <p:nvPr/>
          </p:nvSpPr>
          <p:spPr>
            <a:xfrm>
              <a:off x="1431203" y="3921487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60" name="线条"/>
            <p:cNvSpPr/>
            <p:nvPr/>
          </p:nvSpPr>
          <p:spPr>
            <a:xfrm flipV="1">
              <a:off x="197651" y="3244117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1" name="矩形"/>
            <p:cNvSpPr/>
            <p:nvPr/>
          </p:nvSpPr>
          <p:spPr>
            <a:xfrm>
              <a:off x="0" y="3911832"/>
              <a:ext cx="388983" cy="35048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62" name="线条"/>
            <p:cNvSpPr/>
            <p:nvPr/>
          </p:nvSpPr>
          <p:spPr>
            <a:xfrm flipH="1" flipV="1">
              <a:off x="472848" y="3244117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3" name="矩形"/>
            <p:cNvSpPr/>
            <p:nvPr/>
          </p:nvSpPr>
          <p:spPr>
            <a:xfrm>
              <a:off x="447106" y="3911832"/>
              <a:ext cx="388984" cy="35048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64" name="线条"/>
            <p:cNvSpPr/>
            <p:nvPr/>
          </p:nvSpPr>
          <p:spPr>
            <a:xfrm flipV="1">
              <a:off x="5427802" y="2281315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5" name="矩形"/>
            <p:cNvSpPr/>
            <p:nvPr/>
          </p:nvSpPr>
          <p:spPr>
            <a:xfrm>
              <a:off x="5230150" y="2949029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66" name="线条"/>
            <p:cNvSpPr/>
            <p:nvPr/>
          </p:nvSpPr>
          <p:spPr>
            <a:xfrm flipH="1" flipV="1">
              <a:off x="5702999" y="2281315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7" name="矩形"/>
            <p:cNvSpPr/>
            <p:nvPr/>
          </p:nvSpPr>
          <p:spPr>
            <a:xfrm>
              <a:off x="5677257" y="2949029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68" name="线条"/>
            <p:cNvSpPr/>
            <p:nvPr/>
          </p:nvSpPr>
          <p:spPr>
            <a:xfrm flipV="1">
              <a:off x="4138862" y="2258960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69" name="矩形"/>
            <p:cNvSpPr/>
            <p:nvPr/>
          </p:nvSpPr>
          <p:spPr>
            <a:xfrm>
              <a:off x="3941212" y="2926674"/>
              <a:ext cx="388984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70" name="线条"/>
            <p:cNvSpPr/>
            <p:nvPr/>
          </p:nvSpPr>
          <p:spPr>
            <a:xfrm flipH="1" flipV="1">
              <a:off x="4414061" y="2258960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1" name="矩形"/>
            <p:cNvSpPr/>
            <p:nvPr/>
          </p:nvSpPr>
          <p:spPr>
            <a:xfrm>
              <a:off x="4388318" y="2926674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72" name="线条"/>
            <p:cNvSpPr/>
            <p:nvPr/>
          </p:nvSpPr>
          <p:spPr>
            <a:xfrm flipV="1">
              <a:off x="2648294" y="2269299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3" name="矩形"/>
            <p:cNvSpPr/>
            <p:nvPr/>
          </p:nvSpPr>
          <p:spPr>
            <a:xfrm>
              <a:off x="2450642" y="2937013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574" name="线条"/>
            <p:cNvSpPr/>
            <p:nvPr/>
          </p:nvSpPr>
          <p:spPr>
            <a:xfrm flipH="1" flipV="1">
              <a:off x="2923491" y="2269299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5" name="矩形"/>
            <p:cNvSpPr/>
            <p:nvPr/>
          </p:nvSpPr>
          <p:spPr>
            <a:xfrm>
              <a:off x="2897749" y="2937013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</p:grpSp>
      <p:grpSp>
        <p:nvGrpSpPr>
          <p:cNvPr id="603" name="成组"/>
          <p:cNvGrpSpPr/>
          <p:nvPr/>
        </p:nvGrpSpPr>
        <p:grpSpPr>
          <a:xfrm>
            <a:off x="490678" y="1340272"/>
            <a:ext cx="5787307" cy="3271089"/>
            <a:chOff x="0" y="0"/>
            <a:chExt cx="5787305" cy="3271088"/>
          </a:xfrm>
        </p:grpSpPr>
        <p:sp>
          <p:nvSpPr>
            <p:cNvPr id="577" name="Shape 638"/>
            <p:cNvSpPr/>
            <p:nvPr/>
          </p:nvSpPr>
          <p:spPr>
            <a:xfrm>
              <a:off x="3610041" y="398127"/>
              <a:ext cx="1136845" cy="55202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8" name="Shape 639"/>
            <p:cNvSpPr/>
            <p:nvPr/>
          </p:nvSpPr>
          <p:spPr>
            <a:xfrm flipH="1">
              <a:off x="1975739" y="376066"/>
              <a:ext cx="1063597" cy="52109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79" name="Shape 644"/>
            <p:cNvSpPr/>
            <p:nvPr/>
          </p:nvSpPr>
          <p:spPr>
            <a:xfrm>
              <a:off x="4553784" y="811251"/>
              <a:ext cx="568326" cy="48288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0" name="Shape 642"/>
            <p:cNvSpPr/>
            <p:nvPr/>
          </p:nvSpPr>
          <p:spPr>
            <a:xfrm>
              <a:off x="3044797" y="72033"/>
              <a:ext cx="568327" cy="48288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1" name="Shape 653"/>
            <p:cNvSpPr txBox="1"/>
            <p:nvPr/>
          </p:nvSpPr>
          <p:spPr>
            <a:xfrm>
              <a:off x="3113239" y="0"/>
              <a:ext cx="425924" cy="4980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582" name="Shape 654"/>
            <p:cNvSpPr txBox="1"/>
            <p:nvPr/>
          </p:nvSpPr>
          <p:spPr>
            <a:xfrm>
              <a:off x="4592666" y="803799"/>
              <a:ext cx="425923" cy="4980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583" name="Shape 648"/>
            <p:cNvSpPr/>
            <p:nvPr/>
          </p:nvSpPr>
          <p:spPr>
            <a:xfrm>
              <a:off x="5218979" y="1796624"/>
              <a:ext cx="568327" cy="48288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4" name="Shape 655"/>
            <p:cNvSpPr txBox="1"/>
            <p:nvPr/>
          </p:nvSpPr>
          <p:spPr>
            <a:xfrm>
              <a:off x="5267332" y="1766817"/>
              <a:ext cx="447078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585" name="Shape 643"/>
            <p:cNvSpPr/>
            <p:nvPr/>
          </p:nvSpPr>
          <p:spPr>
            <a:xfrm>
              <a:off x="1442215" y="824058"/>
              <a:ext cx="568326" cy="48288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6" name="Shape 656"/>
            <p:cNvSpPr txBox="1"/>
            <p:nvPr/>
          </p:nvSpPr>
          <p:spPr>
            <a:xfrm>
              <a:off x="1510406" y="794251"/>
              <a:ext cx="404955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587" name="Shape 645"/>
            <p:cNvSpPr/>
            <p:nvPr/>
          </p:nvSpPr>
          <p:spPr>
            <a:xfrm>
              <a:off x="485856" y="1785446"/>
              <a:ext cx="568327" cy="48288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88" name="Shape 657"/>
            <p:cNvSpPr txBox="1"/>
            <p:nvPr/>
          </p:nvSpPr>
          <p:spPr>
            <a:xfrm>
              <a:off x="554049" y="1766817"/>
              <a:ext cx="425923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589" name="Shape 646"/>
            <p:cNvSpPr/>
            <p:nvPr/>
          </p:nvSpPr>
          <p:spPr>
            <a:xfrm>
              <a:off x="2404938" y="1785446"/>
              <a:ext cx="568327" cy="48288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0" name="Shape 658"/>
            <p:cNvSpPr txBox="1"/>
            <p:nvPr/>
          </p:nvSpPr>
          <p:spPr>
            <a:xfrm>
              <a:off x="2482430" y="1766817"/>
              <a:ext cx="404954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591" name="Shape 647"/>
            <p:cNvSpPr/>
            <p:nvPr/>
          </p:nvSpPr>
          <p:spPr>
            <a:xfrm>
              <a:off x="3942738" y="1785446"/>
              <a:ext cx="568327" cy="48288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2" name="Shape 659"/>
            <p:cNvSpPr txBox="1"/>
            <p:nvPr/>
          </p:nvSpPr>
          <p:spPr>
            <a:xfrm>
              <a:off x="4024779" y="1766817"/>
              <a:ext cx="383614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593" name="Shape 649"/>
            <p:cNvSpPr/>
            <p:nvPr/>
          </p:nvSpPr>
          <p:spPr>
            <a:xfrm>
              <a:off x="0" y="2777030"/>
              <a:ext cx="566339" cy="482882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4" name="Shape 662"/>
            <p:cNvSpPr txBox="1"/>
            <p:nvPr/>
          </p:nvSpPr>
          <p:spPr>
            <a:xfrm>
              <a:off x="35900" y="2762873"/>
              <a:ext cx="447078" cy="4980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595" name="Shape 664"/>
            <p:cNvSpPr/>
            <p:nvPr/>
          </p:nvSpPr>
          <p:spPr>
            <a:xfrm>
              <a:off x="966247" y="2788208"/>
              <a:ext cx="568326" cy="482881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6" name="Shape 665"/>
            <p:cNvSpPr txBox="1"/>
            <p:nvPr/>
          </p:nvSpPr>
          <p:spPr>
            <a:xfrm>
              <a:off x="1085889" y="2762873"/>
              <a:ext cx="299366" cy="4980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I</a:t>
              </a:r>
            </a:p>
          </p:txBody>
        </p:sp>
        <p:sp>
          <p:nvSpPr>
            <p:cNvPr id="597" name="Shape 668"/>
            <p:cNvSpPr/>
            <p:nvPr/>
          </p:nvSpPr>
          <p:spPr>
            <a:xfrm flipH="1" flipV="1">
              <a:off x="5050244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98" name="Shape 668"/>
            <p:cNvSpPr/>
            <p:nvPr/>
          </p:nvSpPr>
          <p:spPr>
            <a:xfrm flipV="1">
              <a:off x="4214066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599" name="Shape 668"/>
            <p:cNvSpPr/>
            <p:nvPr/>
          </p:nvSpPr>
          <p:spPr>
            <a:xfrm flipH="1" flipV="1">
              <a:off x="1995238" y="1157514"/>
              <a:ext cx="696608" cy="6288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0" name="Shape 668"/>
            <p:cNvSpPr/>
            <p:nvPr/>
          </p:nvSpPr>
          <p:spPr>
            <a:xfrm flipH="1" flipV="1">
              <a:off x="825325" y="2254651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1" name="Shape 668"/>
            <p:cNvSpPr/>
            <p:nvPr/>
          </p:nvSpPr>
          <p:spPr>
            <a:xfrm flipV="1">
              <a:off x="268589" y="2254651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2" name="Shape 668"/>
            <p:cNvSpPr/>
            <p:nvPr/>
          </p:nvSpPr>
          <p:spPr>
            <a:xfrm flipV="1">
              <a:off x="780293" y="1156903"/>
              <a:ext cx="696297" cy="6291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成组"/>
          <p:cNvGrpSpPr/>
          <p:nvPr/>
        </p:nvGrpSpPr>
        <p:grpSpPr>
          <a:xfrm>
            <a:off x="329195" y="1391071"/>
            <a:ext cx="5787306" cy="3271090"/>
            <a:chOff x="0" y="0"/>
            <a:chExt cx="5787305" cy="3271088"/>
          </a:xfrm>
        </p:grpSpPr>
        <p:sp>
          <p:nvSpPr>
            <p:cNvPr id="605" name="Shape 668"/>
            <p:cNvSpPr/>
            <p:nvPr/>
          </p:nvSpPr>
          <p:spPr>
            <a:xfrm flipV="1">
              <a:off x="2218642" y="2243473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6" name="Shape 638"/>
            <p:cNvSpPr/>
            <p:nvPr/>
          </p:nvSpPr>
          <p:spPr>
            <a:xfrm>
              <a:off x="3610041" y="398127"/>
              <a:ext cx="1136845" cy="55202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7" name="Shape 639"/>
            <p:cNvSpPr/>
            <p:nvPr/>
          </p:nvSpPr>
          <p:spPr>
            <a:xfrm flipH="1">
              <a:off x="1975738" y="376066"/>
              <a:ext cx="1063597" cy="52109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08" name="Shape 644"/>
            <p:cNvSpPr/>
            <p:nvPr/>
          </p:nvSpPr>
          <p:spPr>
            <a:xfrm>
              <a:off x="4553783" y="811251"/>
              <a:ext cx="568327" cy="48288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11" name="成组"/>
            <p:cNvGrpSpPr/>
            <p:nvPr/>
          </p:nvGrpSpPr>
          <p:grpSpPr>
            <a:xfrm>
              <a:off x="3044797" y="-1"/>
              <a:ext cx="568327" cy="554914"/>
              <a:chOff x="0" y="0"/>
              <a:chExt cx="568325" cy="554912"/>
            </a:xfrm>
          </p:grpSpPr>
          <p:sp>
            <p:nvSpPr>
              <p:cNvPr id="609" name="Shape 642"/>
              <p:cNvSpPr/>
              <p:nvPr/>
            </p:nvSpPr>
            <p:spPr>
              <a:xfrm>
                <a:off x="0" y="72033"/>
                <a:ext cx="568326" cy="48288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0" name="Shape 653"/>
              <p:cNvSpPr txBox="1"/>
              <p:nvPr/>
            </p:nvSpPr>
            <p:spPr>
              <a:xfrm>
                <a:off x="68441" y="0"/>
                <a:ext cx="425924" cy="4980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612" name="Shape 654"/>
            <p:cNvSpPr txBox="1"/>
            <p:nvPr/>
          </p:nvSpPr>
          <p:spPr>
            <a:xfrm>
              <a:off x="4592666" y="803798"/>
              <a:ext cx="425923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grpSp>
          <p:nvGrpSpPr>
            <p:cNvPr id="615" name="成组"/>
            <p:cNvGrpSpPr/>
            <p:nvPr/>
          </p:nvGrpSpPr>
          <p:grpSpPr>
            <a:xfrm>
              <a:off x="5218979" y="1766817"/>
              <a:ext cx="568327" cy="512688"/>
              <a:chOff x="0" y="0"/>
              <a:chExt cx="568325" cy="512687"/>
            </a:xfrm>
          </p:grpSpPr>
          <p:sp>
            <p:nvSpPr>
              <p:cNvPr id="613" name="Shape 648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4" name="Shape 655"/>
              <p:cNvSpPr txBox="1"/>
              <p:nvPr/>
            </p:nvSpPr>
            <p:spPr>
              <a:xfrm>
                <a:off x="48352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18" name="成组"/>
            <p:cNvGrpSpPr/>
            <p:nvPr/>
          </p:nvGrpSpPr>
          <p:grpSpPr>
            <a:xfrm>
              <a:off x="1442214" y="794251"/>
              <a:ext cx="568327" cy="512688"/>
              <a:chOff x="0" y="0"/>
              <a:chExt cx="568325" cy="512687"/>
            </a:xfrm>
          </p:grpSpPr>
          <p:sp>
            <p:nvSpPr>
              <p:cNvPr id="616" name="Shape 643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7" name="Shape 656"/>
              <p:cNvSpPr txBox="1"/>
              <p:nvPr/>
            </p:nvSpPr>
            <p:spPr>
              <a:xfrm>
                <a:off x="68191" y="-1"/>
                <a:ext cx="404955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21" name="成组"/>
            <p:cNvGrpSpPr/>
            <p:nvPr/>
          </p:nvGrpSpPr>
          <p:grpSpPr>
            <a:xfrm>
              <a:off x="485856" y="1766817"/>
              <a:ext cx="568327" cy="501510"/>
              <a:chOff x="0" y="0"/>
              <a:chExt cx="568325" cy="501509"/>
            </a:xfrm>
          </p:grpSpPr>
          <p:sp>
            <p:nvSpPr>
              <p:cNvPr id="619" name="Shape 645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0" name="Shape 657"/>
              <p:cNvSpPr txBox="1"/>
              <p:nvPr/>
            </p:nvSpPr>
            <p:spPr>
              <a:xfrm>
                <a:off x="68192" y="-1"/>
                <a:ext cx="42592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624" name="成组"/>
            <p:cNvGrpSpPr/>
            <p:nvPr/>
          </p:nvGrpSpPr>
          <p:grpSpPr>
            <a:xfrm>
              <a:off x="2404938" y="1766817"/>
              <a:ext cx="568327" cy="501510"/>
              <a:chOff x="0" y="0"/>
              <a:chExt cx="568325" cy="501509"/>
            </a:xfrm>
          </p:grpSpPr>
          <p:sp>
            <p:nvSpPr>
              <p:cNvPr id="622" name="Shape 646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3" name="Shape 658"/>
              <p:cNvSpPr txBox="1"/>
              <p:nvPr/>
            </p:nvSpPr>
            <p:spPr>
              <a:xfrm>
                <a:off x="77492" y="-1"/>
                <a:ext cx="40495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27" name="成组"/>
            <p:cNvGrpSpPr/>
            <p:nvPr/>
          </p:nvGrpSpPr>
          <p:grpSpPr>
            <a:xfrm>
              <a:off x="3942738" y="1766817"/>
              <a:ext cx="568326" cy="501510"/>
              <a:chOff x="0" y="0"/>
              <a:chExt cx="568325" cy="501509"/>
            </a:xfrm>
          </p:grpSpPr>
          <p:sp>
            <p:nvSpPr>
              <p:cNvPr id="625" name="Shape 647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6" name="Shape 659"/>
              <p:cNvSpPr txBox="1"/>
              <p:nvPr/>
            </p:nvSpPr>
            <p:spPr>
              <a:xfrm>
                <a:off x="82040" y="-1"/>
                <a:ext cx="38361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630" name="成组"/>
            <p:cNvGrpSpPr/>
            <p:nvPr/>
          </p:nvGrpSpPr>
          <p:grpSpPr>
            <a:xfrm>
              <a:off x="0" y="2762873"/>
              <a:ext cx="566339" cy="498029"/>
              <a:chOff x="0" y="0"/>
              <a:chExt cx="566338" cy="498028"/>
            </a:xfrm>
          </p:grpSpPr>
          <p:sp>
            <p:nvSpPr>
              <p:cNvPr id="628" name="Shape 649"/>
              <p:cNvSpPr/>
              <p:nvPr/>
            </p:nvSpPr>
            <p:spPr>
              <a:xfrm>
                <a:off x="0" y="14156"/>
                <a:ext cx="566339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9" name="Shape 662"/>
              <p:cNvSpPr txBox="1"/>
              <p:nvPr/>
            </p:nvSpPr>
            <p:spPr>
              <a:xfrm>
                <a:off x="35900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33" name="成组"/>
            <p:cNvGrpSpPr/>
            <p:nvPr/>
          </p:nvGrpSpPr>
          <p:grpSpPr>
            <a:xfrm>
              <a:off x="1964494" y="2740517"/>
              <a:ext cx="568327" cy="521133"/>
              <a:chOff x="0" y="0"/>
              <a:chExt cx="568325" cy="521131"/>
            </a:xfrm>
          </p:grpSpPr>
          <p:sp>
            <p:nvSpPr>
              <p:cNvPr id="631" name="Shape 650"/>
              <p:cNvSpPr/>
              <p:nvPr/>
            </p:nvSpPr>
            <p:spPr>
              <a:xfrm>
                <a:off x="0" y="38252"/>
                <a:ext cx="568326" cy="48288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2" name="Shape 663"/>
              <p:cNvSpPr txBox="1"/>
              <p:nvPr/>
            </p:nvSpPr>
            <p:spPr>
              <a:xfrm>
                <a:off x="60679" y="0"/>
                <a:ext cx="341490" cy="4980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636" name="成组"/>
            <p:cNvGrpSpPr/>
            <p:nvPr/>
          </p:nvGrpSpPr>
          <p:grpSpPr>
            <a:xfrm>
              <a:off x="966247" y="2762873"/>
              <a:ext cx="568327" cy="508216"/>
              <a:chOff x="0" y="0"/>
              <a:chExt cx="568325" cy="508215"/>
            </a:xfrm>
          </p:grpSpPr>
          <p:sp>
            <p:nvSpPr>
              <p:cNvPr id="634" name="Shape 664"/>
              <p:cNvSpPr/>
              <p:nvPr/>
            </p:nvSpPr>
            <p:spPr>
              <a:xfrm>
                <a:off x="0" y="25334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5" name="Shape 665"/>
              <p:cNvSpPr txBox="1"/>
              <p:nvPr/>
            </p:nvSpPr>
            <p:spPr>
              <a:xfrm>
                <a:off x="119641" y="-1"/>
                <a:ext cx="299367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637" name="Shape 668"/>
            <p:cNvSpPr/>
            <p:nvPr/>
          </p:nvSpPr>
          <p:spPr>
            <a:xfrm flipH="1" flipV="1">
              <a:off x="5050244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38" name="Shape 668"/>
            <p:cNvSpPr/>
            <p:nvPr/>
          </p:nvSpPr>
          <p:spPr>
            <a:xfrm flipV="1">
              <a:off x="4214066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39" name="Shape 668"/>
            <p:cNvSpPr/>
            <p:nvPr/>
          </p:nvSpPr>
          <p:spPr>
            <a:xfrm flipH="1" flipV="1">
              <a:off x="1995239" y="1157514"/>
              <a:ext cx="696607" cy="6288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0" name="Shape 668"/>
            <p:cNvSpPr/>
            <p:nvPr/>
          </p:nvSpPr>
          <p:spPr>
            <a:xfrm flipH="1" flipV="1">
              <a:off x="825325" y="2254651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1" name="Shape 668"/>
            <p:cNvSpPr/>
            <p:nvPr/>
          </p:nvSpPr>
          <p:spPr>
            <a:xfrm flipV="1">
              <a:off x="268589" y="2254651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2" name="Shape 668"/>
            <p:cNvSpPr/>
            <p:nvPr/>
          </p:nvSpPr>
          <p:spPr>
            <a:xfrm flipV="1">
              <a:off x="780293" y="1156903"/>
              <a:ext cx="696297" cy="6291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</p:grpSp>
      <p:sp>
        <p:nvSpPr>
          <p:cNvPr id="644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完全二叉树(complete binary tree)</a:t>
            </a:r>
          </a:p>
        </p:txBody>
      </p:sp>
      <p:grpSp>
        <p:nvGrpSpPr>
          <p:cNvPr id="705" name="成组"/>
          <p:cNvGrpSpPr/>
          <p:nvPr/>
        </p:nvGrpSpPr>
        <p:grpSpPr>
          <a:xfrm>
            <a:off x="6493562" y="1391071"/>
            <a:ext cx="6078942" cy="4288125"/>
            <a:chOff x="0" y="0"/>
            <a:chExt cx="6078941" cy="4288122"/>
          </a:xfrm>
        </p:grpSpPr>
        <p:sp>
          <p:nvSpPr>
            <p:cNvPr id="645" name="Shape 668"/>
            <p:cNvSpPr/>
            <p:nvPr/>
          </p:nvSpPr>
          <p:spPr>
            <a:xfrm flipV="1">
              <a:off x="2385528" y="2243474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6" name="Shape 638"/>
            <p:cNvSpPr/>
            <p:nvPr/>
          </p:nvSpPr>
          <p:spPr>
            <a:xfrm>
              <a:off x="3776927" y="398127"/>
              <a:ext cx="1136845" cy="55202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7" name="Shape 639"/>
            <p:cNvSpPr/>
            <p:nvPr/>
          </p:nvSpPr>
          <p:spPr>
            <a:xfrm flipH="1">
              <a:off x="2142625" y="376066"/>
              <a:ext cx="1063597" cy="52109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48" name="Shape 644"/>
            <p:cNvSpPr/>
            <p:nvPr/>
          </p:nvSpPr>
          <p:spPr>
            <a:xfrm>
              <a:off x="4720670" y="811251"/>
              <a:ext cx="568327" cy="482880"/>
            </a:xfrm>
            <a:prstGeom prst="ellipse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51" name="成组"/>
            <p:cNvGrpSpPr/>
            <p:nvPr/>
          </p:nvGrpSpPr>
          <p:grpSpPr>
            <a:xfrm>
              <a:off x="3211684" y="-1"/>
              <a:ext cx="568326" cy="554914"/>
              <a:chOff x="0" y="0"/>
              <a:chExt cx="568325" cy="554912"/>
            </a:xfrm>
          </p:grpSpPr>
          <p:sp>
            <p:nvSpPr>
              <p:cNvPr id="649" name="Shape 642"/>
              <p:cNvSpPr/>
              <p:nvPr/>
            </p:nvSpPr>
            <p:spPr>
              <a:xfrm>
                <a:off x="0" y="72033"/>
                <a:ext cx="568326" cy="48288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0" name="Shape 653"/>
              <p:cNvSpPr txBox="1"/>
              <p:nvPr/>
            </p:nvSpPr>
            <p:spPr>
              <a:xfrm>
                <a:off x="68441" y="0"/>
                <a:ext cx="425924" cy="4980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652" name="Shape 654"/>
            <p:cNvSpPr txBox="1"/>
            <p:nvPr/>
          </p:nvSpPr>
          <p:spPr>
            <a:xfrm>
              <a:off x="4759552" y="803798"/>
              <a:ext cx="425924" cy="498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marR="57797" indent="57797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grpSp>
          <p:nvGrpSpPr>
            <p:cNvPr id="655" name="成组"/>
            <p:cNvGrpSpPr/>
            <p:nvPr/>
          </p:nvGrpSpPr>
          <p:grpSpPr>
            <a:xfrm>
              <a:off x="5385866" y="1766817"/>
              <a:ext cx="568326" cy="512688"/>
              <a:chOff x="0" y="0"/>
              <a:chExt cx="568325" cy="512687"/>
            </a:xfrm>
          </p:grpSpPr>
          <p:sp>
            <p:nvSpPr>
              <p:cNvPr id="653" name="Shape 648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4" name="Shape 655"/>
              <p:cNvSpPr txBox="1"/>
              <p:nvPr/>
            </p:nvSpPr>
            <p:spPr>
              <a:xfrm>
                <a:off x="48352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58" name="成组"/>
            <p:cNvGrpSpPr/>
            <p:nvPr/>
          </p:nvGrpSpPr>
          <p:grpSpPr>
            <a:xfrm>
              <a:off x="1609101" y="794251"/>
              <a:ext cx="568326" cy="512688"/>
              <a:chOff x="0" y="0"/>
              <a:chExt cx="568325" cy="512687"/>
            </a:xfrm>
          </p:grpSpPr>
          <p:sp>
            <p:nvSpPr>
              <p:cNvPr id="656" name="Shape 643"/>
              <p:cNvSpPr/>
              <p:nvPr/>
            </p:nvSpPr>
            <p:spPr>
              <a:xfrm>
                <a:off x="0" y="29806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7" name="Shape 656"/>
              <p:cNvSpPr txBox="1"/>
              <p:nvPr/>
            </p:nvSpPr>
            <p:spPr>
              <a:xfrm>
                <a:off x="68191" y="-1"/>
                <a:ext cx="404955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61" name="成组"/>
            <p:cNvGrpSpPr/>
            <p:nvPr/>
          </p:nvGrpSpPr>
          <p:grpSpPr>
            <a:xfrm>
              <a:off x="652743" y="1766817"/>
              <a:ext cx="568326" cy="501510"/>
              <a:chOff x="0" y="0"/>
              <a:chExt cx="568325" cy="501509"/>
            </a:xfrm>
          </p:grpSpPr>
          <p:sp>
            <p:nvSpPr>
              <p:cNvPr id="659" name="Shape 645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0" name="Shape 657"/>
              <p:cNvSpPr txBox="1"/>
              <p:nvPr/>
            </p:nvSpPr>
            <p:spPr>
              <a:xfrm>
                <a:off x="68192" y="-1"/>
                <a:ext cx="42592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664" name="成组"/>
            <p:cNvGrpSpPr/>
            <p:nvPr/>
          </p:nvGrpSpPr>
          <p:grpSpPr>
            <a:xfrm>
              <a:off x="2571825" y="1766817"/>
              <a:ext cx="568326" cy="501510"/>
              <a:chOff x="0" y="0"/>
              <a:chExt cx="568325" cy="501509"/>
            </a:xfrm>
          </p:grpSpPr>
          <p:sp>
            <p:nvSpPr>
              <p:cNvPr id="662" name="Shape 646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3" name="Shape 658"/>
              <p:cNvSpPr txBox="1"/>
              <p:nvPr/>
            </p:nvSpPr>
            <p:spPr>
              <a:xfrm>
                <a:off x="77492" y="-1"/>
                <a:ext cx="40495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667" name="成组"/>
            <p:cNvGrpSpPr/>
            <p:nvPr/>
          </p:nvGrpSpPr>
          <p:grpSpPr>
            <a:xfrm>
              <a:off x="4109624" y="1766817"/>
              <a:ext cx="568327" cy="501510"/>
              <a:chOff x="0" y="0"/>
              <a:chExt cx="568325" cy="501509"/>
            </a:xfrm>
          </p:grpSpPr>
          <p:sp>
            <p:nvSpPr>
              <p:cNvPr id="665" name="Shape 647"/>
              <p:cNvSpPr/>
              <p:nvPr/>
            </p:nvSpPr>
            <p:spPr>
              <a:xfrm>
                <a:off x="0" y="18628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6" name="Shape 659"/>
              <p:cNvSpPr txBox="1"/>
              <p:nvPr/>
            </p:nvSpPr>
            <p:spPr>
              <a:xfrm>
                <a:off x="82040" y="-1"/>
                <a:ext cx="383614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670" name="成组"/>
            <p:cNvGrpSpPr/>
            <p:nvPr/>
          </p:nvGrpSpPr>
          <p:grpSpPr>
            <a:xfrm>
              <a:off x="166886" y="2762873"/>
              <a:ext cx="566339" cy="498029"/>
              <a:chOff x="0" y="0"/>
              <a:chExt cx="566338" cy="498028"/>
            </a:xfrm>
          </p:grpSpPr>
          <p:sp>
            <p:nvSpPr>
              <p:cNvPr id="668" name="Shape 649"/>
              <p:cNvSpPr/>
              <p:nvPr/>
            </p:nvSpPr>
            <p:spPr>
              <a:xfrm>
                <a:off x="0" y="14156"/>
                <a:ext cx="566339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69" name="Shape 662"/>
              <p:cNvSpPr txBox="1"/>
              <p:nvPr/>
            </p:nvSpPr>
            <p:spPr>
              <a:xfrm>
                <a:off x="35900" y="-1"/>
                <a:ext cx="447078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73" name="成组"/>
            <p:cNvGrpSpPr/>
            <p:nvPr/>
          </p:nvGrpSpPr>
          <p:grpSpPr>
            <a:xfrm>
              <a:off x="2131380" y="2740518"/>
              <a:ext cx="568327" cy="521132"/>
              <a:chOff x="0" y="0"/>
              <a:chExt cx="568325" cy="521131"/>
            </a:xfrm>
          </p:grpSpPr>
          <p:sp>
            <p:nvSpPr>
              <p:cNvPr id="671" name="Shape 650"/>
              <p:cNvSpPr/>
              <p:nvPr/>
            </p:nvSpPr>
            <p:spPr>
              <a:xfrm>
                <a:off x="0" y="38252"/>
                <a:ext cx="568326" cy="482880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2" name="Shape 663"/>
              <p:cNvSpPr txBox="1"/>
              <p:nvPr/>
            </p:nvSpPr>
            <p:spPr>
              <a:xfrm>
                <a:off x="60679" y="0"/>
                <a:ext cx="341490" cy="4980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676" name="成组"/>
            <p:cNvGrpSpPr/>
            <p:nvPr/>
          </p:nvGrpSpPr>
          <p:grpSpPr>
            <a:xfrm>
              <a:off x="1133133" y="2762873"/>
              <a:ext cx="568327" cy="508216"/>
              <a:chOff x="0" y="0"/>
              <a:chExt cx="568325" cy="508215"/>
            </a:xfrm>
          </p:grpSpPr>
          <p:sp>
            <p:nvSpPr>
              <p:cNvPr id="674" name="Shape 664"/>
              <p:cNvSpPr/>
              <p:nvPr/>
            </p:nvSpPr>
            <p:spPr>
              <a:xfrm>
                <a:off x="0" y="25334"/>
                <a:ext cx="568326" cy="482882"/>
              </a:xfrm>
              <a:prstGeom prst="ellipse">
                <a:avLst/>
              </a:pr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5" name="Shape 665"/>
              <p:cNvSpPr txBox="1"/>
              <p:nvPr/>
            </p:nvSpPr>
            <p:spPr>
              <a:xfrm>
                <a:off x="119641" y="-1"/>
                <a:ext cx="299367" cy="498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noAutofit/>
              </a:bodyPr>
              <a:lstStyle>
                <a:lvl1pPr marR="57797" indent="57797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sp>
          <p:nvSpPr>
            <p:cNvPr id="677" name="Shape 668"/>
            <p:cNvSpPr/>
            <p:nvPr/>
          </p:nvSpPr>
          <p:spPr>
            <a:xfrm flipH="1" flipV="1">
              <a:off x="5217130" y="1248197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8" name="Shape 668"/>
            <p:cNvSpPr/>
            <p:nvPr/>
          </p:nvSpPr>
          <p:spPr>
            <a:xfrm flipV="1">
              <a:off x="4380953" y="1248197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79" name="Shape 668"/>
            <p:cNvSpPr/>
            <p:nvPr/>
          </p:nvSpPr>
          <p:spPr>
            <a:xfrm flipH="1" flipV="1">
              <a:off x="2162125" y="1157514"/>
              <a:ext cx="696608" cy="6288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0" name="Shape 668"/>
            <p:cNvSpPr/>
            <p:nvPr/>
          </p:nvSpPr>
          <p:spPr>
            <a:xfrm flipH="1" flipV="1">
              <a:off x="992211" y="2254652"/>
              <a:ext cx="449747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1" name="Shape 668"/>
            <p:cNvSpPr/>
            <p:nvPr/>
          </p:nvSpPr>
          <p:spPr>
            <a:xfrm flipV="1">
              <a:off x="435476" y="2254652"/>
              <a:ext cx="449746" cy="53598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2" name="Shape 668"/>
            <p:cNvSpPr/>
            <p:nvPr/>
          </p:nvSpPr>
          <p:spPr>
            <a:xfrm flipV="1">
              <a:off x="947180" y="1156903"/>
              <a:ext cx="696297" cy="62915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3" name="线条"/>
            <p:cNvSpPr/>
            <p:nvPr/>
          </p:nvSpPr>
          <p:spPr>
            <a:xfrm flipV="1">
              <a:off x="1194448" y="3253773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4" name="矩形"/>
            <p:cNvSpPr/>
            <p:nvPr/>
          </p:nvSpPr>
          <p:spPr>
            <a:xfrm>
              <a:off x="996796" y="3921487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85" name="线条"/>
            <p:cNvSpPr/>
            <p:nvPr/>
          </p:nvSpPr>
          <p:spPr>
            <a:xfrm flipH="1" flipV="1">
              <a:off x="1469644" y="3253773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6" name="矩形"/>
            <p:cNvSpPr/>
            <p:nvPr/>
          </p:nvSpPr>
          <p:spPr>
            <a:xfrm>
              <a:off x="1443903" y="3921487"/>
              <a:ext cx="388984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87" name="线条"/>
            <p:cNvSpPr/>
            <p:nvPr/>
          </p:nvSpPr>
          <p:spPr>
            <a:xfrm flipV="1">
              <a:off x="197651" y="3244118"/>
              <a:ext cx="194963" cy="7276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88" name="矩形"/>
            <p:cNvSpPr/>
            <p:nvPr/>
          </p:nvSpPr>
          <p:spPr>
            <a:xfrm>
              <a:off x="0" y="3911832"/>
              <a:ext cx="388983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89" name="线条"/>
            <p:cNvSpPr/>
            <p:nvPr/>
          </p:nvSpPr>
          <p:spPr>
            <a:xfrm flipH="1" flipV="1">
              <a:off x="472848" y="3244118"/>
              <a:ext cx="194963" cy="7276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0" name="矩形"/>
            <p:cNvSpPr/>
            <p:nvPr/>
          </p:nvSpPr>
          <p:spPr>
            <a:xfrm>
              <a:off x="447106" y="3911832"/>
              <a:ext cx="388984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91" name="线条"/>
            <p:cNvSpPr/>
            <p:nvPr/>
          </p:nvSpPr>
          <p:spPr>
            <a:xfrm flipV="1">
              <a:off x="5440501" y="2281315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2" name="矩形"/>
            <p:cNvSpPr/>
            <p:nvPr/>
          </p:nvSpPr>
          <p:spPr>
            <a:xfrm>
              <a:off x="5242850" y="2949029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93" name="线条"/>
            <p:cNvSpPr/>
            <p:nvPr/>
          </p:nvSpPr>
          <p:spPr>
            <a:xfrm flipH="1" flipV="1">
              <a:off x="5715698" y="2281315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4" name="矩形"/>
            <p:cNvSpPr/>
            <p:nvPr/>
          </p:nvSpPr>
          <p:spPr>
            <a:xfrm>
              <a:off x="5689957" y="2949029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95" name="线条"/>
            <p:cNvSpPr/>
            <p:nvPr/>
          </p:nvSpPr>
          <p:spPr>
            <a:xfrm flipV="1">
              <a:off x="4151562" y="2258960"/>
              <a:ext cx="194964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6" name="矩形"/>
            <p:cNvSpPr/>
            <p:nvPr/>
          </p:nvSpPr>
          <p:spPr>
            <a:xfrm>
              <a:off x="3953911" y="2926674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97" name="线条"/>
            <p:cNvSpPr/>
            <p:nvPr/>
          </p:nvSpPr>
          <p:spPr>
            <a:xfrm flipH="1" flipV="1">
              <a:off x="4426761" y="2258960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698" name="矩形"/>
            <p:cNvSpPr/>
            <p:nvPr/>
          </p:nvSpPr>
          <p:spPr>
            <a:xfrm>
              <a:off x="4401018" y="2926674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699" name="线条"/>
            <p:cNvSpPr/>
            <p:nvPr/>
          </p:nvSpPr>
          <p:spPr>
            <a:xfrm flipH="1" flipV="1">
              <a:off x="2899773" y="2251337"/>
              <a:ext cx="567053" cy="67578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00" name="矩形"/>
            <p:cNvSpPr/>
            <p:nvPr/>
          </p:nvSpPr>
          <p:spPr>
            <a:xfrm>
              <a:off x="3248099" y="2900192"/>
              <a:ext cx="388985" cy="350482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701" name="线条"/>
            <p:cNvSpPr/>
            <p:nvPr/>
          </p:nvSpPr>
          <p:spPr>
            <a:xfrm flipV="1">
              <a:off x="2169882" y="3269927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02" name="矩形"/>
            <p:cNvSpPr/>
            <p:nvPr/>
          </p:nvSpPr>
          <p:spPr>
            <a:xfrm>
              <a:off x="1972230" y="3937642"/>
              <a:ext cx="388985" cy="35048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  <p:sp>
          <p:nvSpPr>
            <p:cNvPr id="703" name="线条"/>
            <p:cNvSpPr/>
            <p:nvPr/>
          </p:nvSpPr>
          <p:spPr>
            <a:xfrm flipH="1" flipV="1">
              <a:off x="2445079" y="3269927"/>
              <a:ext cx="194963" cy="72760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indent="57797">
                <a:defRPr sz="2900"/>
              </a:pPr>
            </a:p>
          </p:txBody>
        </p:sp>
        <p:sp>
          <p:nvSpPr>
            <p:cNvPr id="704" name="矩形"/>
            <p:cNvSpPr/>
            <p:nvPr/>
          </p:nvSpPr>
          <p:spPr>
            <a:xfrm>
              <a:off x="2419337" y="3937642"/>
              <a:ext cx="388985" cy="35048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7" indent="57797" defTabSz="1295400">
                <a:spcBef>
                  <a:spcPts val="1900"/>
                </a:spcBef>
                <a:defRPr sz="3400">
                  <a:uFill>
                    <a:solidFill>
                      <a:srgbClr val="000000"/>
                    </a:solidFill>
                  </a:uFill>
                  <a:latin typeface="Tahoma Bold"/>
                  <a:ea typeface="Tahoma Bold"/>
                  <a:cs typeface="Tahoma Bold"/>
                  <a:sym typeface="Tahoma Bold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完全二叉树(complete binary tree)</a:t>
            </a:r>
          </a:p>
        </p:txBody>
      </p:sp>
      <p:sp>
        <p:nvSpPr>
          <p:cNvPr id="708" name="public boolean isCompleteBinaryTree2() {…"/>
          <p:cNvSpPr txBox="1"/>
          <p:nvPr/>
        </p:nvSpPr>
        <p:spPr>
          <a:xfrm>
            <a:off x="162687" y="1240756"/>
            <a:ext cx="12587375" cy="6974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isCompleteBinaryTree2() {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Deque&lt;Node&lt;T&gt;&gt;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rPr>
                <a:solidFill>
                  <a:srgbClr val="000000"/>
                </a:solidFill>
              </a:rPr>
              <a:t> LinkedList&lt;&gt;();// 不能使用ArrayDeque???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(!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.isEmpty()) {// 入队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.poll();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(!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.isEmpty()) {// 检测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t>.poll()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完全二叉树(complete binary tree)</a:t>
            </a:r>
          </a:p>
        </p:txBody>
      </p:sp>
      <p:sp>
        <p:nvSpPr>
          <p:cNvPr id="711" name="public boolean isCompleteBinaryTree1() {…"/>
          <p:cNvSpPr txBox="1"/>
          <p:nvPr/>
        </p:nvSpPr>
        <p:spPr>
          <a:xfrm>
            <a:off x="1350859" y="1206438"/>
            <a:ext cx="10681321" cy="7416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isCompleteBinaryTree1() {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q</a:t>
            </a:r>
            <a:r>
              <a:t>.isEmpty()) {</a:t>
            </a:r>
            <a:r>
              <a:rPr>
                <a:solidFill>
                  <a:srgbClr val="4E9072"/>
                </a:solidFill>
              </a:rPr>
              <a:t>// null 不入队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.peek().</a:t>
            </a:r>
            <a:r>
              <a:rPr>
                <a:solidFill>
                  <a:srgbClr val="0326CC"/>
                </a:solidFill>
              </a:rPr>
              <a:t>left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遇到左孩子为空，去测试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.poll();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r>
              <a:t>// 遇到右孩子为空，去测试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break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rPr>
                <a:solidFill>
                  <a:srgbClr val="000000"/>
                </a:solidFill>
              </a:rPr>
              <a:t> (!</a:t>
            </a:r>
            <a:r>
              <a:rPr>
                <a:solidFill>
                  <a:srgbClr val="7E504F"/>
                </a:solidFill>
              </a:rPr>
              <a:t>q</a:t>
            </a:r>
            <a:r>
              <a:rPr>
                <a:solidFill>
                  <a:srgbClr val="000000"/>
                </a:solidFill>
              </a:rPr>
              <a:t>.isEmpty()) {</a:t>
            </a:r>
            <a:r>
              <a:t>// 测试：队中剩余的结点都是叶子结点才是完全二叉树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.poll();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t>left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 || 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满二叉树</a:t>
            </a:r>
          </a:p>
        </p:txBody>
      </p:sp>
      <p:sp>
        <p:nvSpPr>
          <p:cNvPr id="714" name="public boolean isFullBinaryTree() {…"/>
          <p:cNvSpPr txBox="1"/>
          <p:nvPr/>
        </p:nvSpPr>
        <p:spPr>
          <a:xfrm>
            <a:off x="1574033" y="1029974"/>
            <a:ext cx="8345017" cy="738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isFullBinaryTree() {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root</a:t>
            </a:r>
            <a:r>
              <a:rPr>
                <a:solidFill>
                  <a:srgbClr val="000000"/>
                </a:solidFill>
              </a:rP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Deque&lt;Node&lt;T&gt;&gt; </a:t>
            </a:r>
            <a:r>
              <a:rPr>
                <a:solidFill>
                  <a:srgbClr val="7E504F"/>
                </a:solidFill>
              </a:rPr>
              <a:t>q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LinkedList&lt;&gt;();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0326CC"/>
                </a:solidFill>
              </a:rPr>
              <a:t>root</a:t>
            </a:r>
            <a:r>
              <a:t>);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= 1;</a:t>
            </a:r>
            <a:r>
              <a:t>// 第0层1个结点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(!</a:t>
            </a:r>
            <a:r>
              <a:rPr>
                <a:solidFill>
                  <a:srgbClr val="7E504F"/>
                </a:solidFill>
              </a:rPr>
              <a:t>q</a:t>
            </a:r>
            <a:r>
              <a:t>.isEmpty())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q</a:t>
            </a:r>
            <a:r>
              <a:t>.size() !=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)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false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// 上一层的结点出队，下一层的结点入队, null不入队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nodes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count</a:t>
            </a:r>
            <a:r>
              <a:t>; </a:t>
            </a:r>
            <a:r>
              <a:rPr>
                <a:solidFill>
                  <a:srgbClr val="7E504F"/>
                </a:solidFill>
              </a:rPr>
              <a:t>nodes</a:t>
            </a:r>
            <a:r>
              <a:t> &gt; 0; </a:t>
            </a:r>
            <a:r>
              <a:rPr>
                <a:solidFill>
                  <a:srgbClr val="7E504F"/>
                </a:solidFill>
              </a:rPr>
              <a:t>nodes</a:t>
            </a:r>
            <a:r>
              <a:t>--) {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Node&lt;T&gt;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q</a:t>
            </a:r>
            <a:r>
              <a:t>.poll();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left</a:t>
            </a:r>
            <a:r>
              <a:t>);</a:t>
            </a:r>
          </a:p>
          <a:p>
            <a:pPr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7E504F"/>
                </a:solidFill>
              </a:rPr>
              <a:t>t</a:t>
            </a:r>
            <a:r>
              <a:rPr>
                <a:solidFill>
                  <a:srgbClr val="000000"/>
                </a:solidFill>
              </a:rPr>
              <a:t>.</a:t>
            </a:r>
            <a:r>
              <a:t>right</a:t>
            </a:r>
            <a:r>
              <a:rPr>
                <a:solidFill>
                  <a:srgbClr val="000000"/>
                </a:solidFill>
              </a:rPr>
              <a:t>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		</a:t>
            </a:r>
            <a:r>
              <a:rPr>
                <a:solidFill>
                  <a:srgbClr val="7E504F"/>
                </a:solidFill>
              </a:rPr>
              <a:t>q</a:t>
            </a:r>
            <a:r>
              <a:t>.offer(</a:t>
            </a:r>
            <a:r>
              <a:rPr>
                <a:solidFill>
                  <a:srgbClr val="7E504F"/>
                </a:solidFill>
              </a:rPr>
              <a:t>t</a:t>
            </a:r>
            <a:r>
              <a:t>.</a:t>
            </a:r>
            <a:r>
              <a:rPr>
                <a:solidFill>
                  <a:srgbClr val="0326CC"/>
                </a:solidFill>
              </a:rPr>
              <a:t>right</a:t>
            </a:r>
            <a:r>
              <a:t>);</a:t>
            </a: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	}</a:t>
            </a:r>
          </a:p>
          <a:p>
            <a:pPr>
              <a:defRPr sz="20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rPr>
                <a:solidFill>
                  <a:srgbClr val="7E504F"/>
                </a:solidFill>
              </a:rPr>
              <a:t>count</a:t>
            </a:r>
            <a:r>
              <a:rPr>
                <a:solidFill>
                  <a:srgbClr val="000000"/>
                </a:solidFill>
              </a:rPr>
              <a:t> &lt;&lt;= 1;</a:t>
            </a:r>
            <a:r>
              <a:t>// 下一层结点数加倍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>
              <a:defRPr sz="20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t>true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952"/>
          <p:cNvSpPr txBox="1"/>
          <p:nvPr>
            <p:ph type="title"/>
          </p:nvPr>
        </p:nvSpPr>
        <p:spPr>
          <a:xfrm>
            <a:off x="1757373" y="40779"/>
            <a:ext cx="9398004" cy="1003304"/>
          </a:xfrm>
          <a:prstGeom prst="rect">
            <a:avLst/>
          </a:prstGeom>
        </p:spPr>
        <p:txBody>
          <a:bodyPr/>
          <a:lstStyle>
            <a:lvl1pPr marR="51440" indent="51440" defTabSz="1152905">
              <a:defRPr sz="3500"/>
            </a:lvl1pPr>
          </a:lstStyle>
          <a:p>
            <a:pPr/>
            <a:r>
              <a:t>？？？</a:t>
            </a:r>
          </a:p>
        </p:txBody>
      </p:sp>
      <p:sp>
        <p:nvSpPr>
          <p:cNvPr id="717" name="/**…"/>
          <p:cNvSpPr txBox="1"/>
          <p:nvPr/>
        </p:nvSpPr>
        <p:spPr>
          <a:xfrm>
            <a:off x="288252" y="1302171"/>
            <a:ext cx="12437846" cy="5413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4F76CB"/>
                </a:solidFill>
              </a:rPr>
              <a:t>/**</a:t>
            </a: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 Reverse the specified range of the specified array.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 </a:t>
            </a:r>
            <a:r>
              <a:rPr>
                <a:solidFill>
                  <a:srgbClr val="91AFCB"/>
                </a:solidFill>
              </a:rPr>
              <a:t>@param</a:t>
            </a:r>
            <a:r>
              <a:t> a the array in which a range is to be reversed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 </a:t>
            </a:r>
            <a:r>
              <a:rPr>
                <a:solidFill>
                  <a:srgbClr val="91AFCB"/>
                </a:solidFill>
              </a:rPr>
              <a:t>@param</a:t>
            </a:r>
            <a:r>
              <a:t> lo the index of the first element in the range to be reversed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 </a:t>
            </a:r>
            <a:r>
              <a:rPr>
                <a:solidFill>
                  <a:srgbClr val="91AFCB"/>
                </a:solidFill>
              </a:rPr>
              <a:t>@param</a:t>
            </a:r>
            <a:r>
              <a:t> hi the index after the last element in the range to be reversed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solidFill>
                  <a:srgbClr val="4F76CB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*/</a:t>
            </a:r>
            <a:endParaRPr>
              <a:solidFill>
                <a:srgbClr val="000000"/>
              </a:solidFill>
            </a:endParaRP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static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reverseRange(Object[]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lo</a:t>
            </a:r>
            <a:r>
              <a:t>,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7E504F"/>
                </a:solidFill>
              </a:rPr>
              <a:t>hi</a:t>
            </a:r>
            <a:r>
              <a:t>--;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lo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hi</a:t>
            </a:r>
            <a:r>
              <a:t>) {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    Object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];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lo</a:t>
            </a:r>
            <a:r>
              <a:t>++] =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hi</a:t>
            </a:r>
            <a:r>
              <a:t>];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7E504F"/>
                </a:solidFill>
              </a:rPr>
              <a:t>a</a:t>
            </a:r>
            <a:r>
              <a:t>[</a:t>
            </a:r>
            <a:r>
              <a:rPr>
                <a:solidFill>
                  <a:srgbClr val="7E504F"/>
                </a:solidFill>
              </a:rPr>
              <a:t>hi</a:t>
            </a:r>
            <a:r>
              <a:t>--] = </a:t>
            </a:r>
            <a:r>
              <a:rPr>
                <a:solidFill>
                  <a:srgbClr val="7E504F"/>
                </a:solidFill>
              </a:rPr>
              <a:t>t</a:t>
            </a:r>
            <a:r>
              <a:t>;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>
              <a:defRPr sz="21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7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9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7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9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