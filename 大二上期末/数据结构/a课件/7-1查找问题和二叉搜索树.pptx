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comments/comment1.xml" ContentType="application/vnd.openxmlformats-officedocument.presentationml.comment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s/comment2.xml" ContentType="application/vnd.openxmlformats-officedocument.presentationml.comment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s/comment3.xml" ContentType="application/vnd.openxmlformats-officedocument.presentationml.comment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s/comment4.xml" ContentType="application/vnd.openxmlformats-officedocument.presentationml.comments+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comments/comment5.xml" ContentType="application/vnd.openxmlformats-officedocument.presentationml.comments+xml"/>
  <Override PartName="/ppt/slides/slide45.xml" ContentType="application/vnd.openxmlformats-officedocument.presentationml.slide+xml"/>
  <Override PartName="/ppt/slides/slide46.xml" ContentType="application/vnd.openxmlformats-officedocument.presentationml.slide+xml"/>
  <Override PartName="/ppt/comments/comment6.xml" ContentType="application/vnd.openxmlformats-officedocument.presentationml.comments+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comments/comment7.xml" ContentType="application/vnd.openxmlformats-officedocument.presentationml.comments+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1"/>
    <p:sldId id="259" r:id="rId12"/>
    <p:sldId id="260" r:id="rId13"/>
    <p:sldId id="261" r:id="rId14"/>
    <p:sldId id="262" r:id="rId15"/>
    <p:sldId id="263" r:id="rId17"/>
    <p:sldId id="264" r:id="rId18"/>
    <p:sldId id="265" r:id="rId19"/>
    <p:sldId id="266" r:id="rId20"/>
    <p:sldId id="267" r:id="rId21"/>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7"/>
    <p:sldId id="301" r:id="rId58"/>
    <p:sldId id="302" r:id="rId60"/>
    <p:sldId id="303" r:id="rId61"/>
    <p:sldId id="304" r:id="rId62"/>
    <p:sldId id="305" r:id="rId64"/>
    <p:sldId id="306" r:id="rId65"/>
    <p:sldId id="307" r:id="rId66"/>
    <p:sldId id="308" r:id="rId67"/>
    <p:sldId id="309" r:id="rId68"/>
    <p:sldId id="310" r:id="rId69"/>
    <p:sldId id="311" r:id="rId7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1pPr>
    <a:lvl2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2pPr>
    <a:lvl3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3pPr>
    <a:lvl4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4pPr>
    <a:lvl5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5pPr>
    <a:lvl6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6pPr>
    <a:lvl7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7pPr>
    <a:lvl8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8pPr>
    <a:lvl9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Author id="0" name="李盛恩" initials="李" lastIdx="7" clrIdx="0"/>
</p:cmAuthorLst>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Times New Roman"/>
          <a:ea typeface="Times New Roman"/>
          <a:cs typeface="Times New Roman"/>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DCDFE2"/>
          </a:solidFill>
        </a:fill>
      </a:tcStyle>
    </a:wholeTbl>
    <a:band2H>
      <a:tcTxStyle b="def" i="def"/>
      <a:tcStyle>
        <a:tcBdr/>
        <a:fill>
          <a:solidFill>
            <a:srgbClr val="FFFFFF"/>
          </a:solidFill>
        </a:fill>
      </a:tcStyle>
    </a:band2H>
    <a:firstCol>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2E78C3"/>
          </a:solidFill>
        </a:fill>
      </a:tcStyle>
    </a:firstCol>
    <a:lastRow>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394F8"/>
          </a:solidFill>
        </a:fill>
      </a:tcStyle>
    </a:lastRow>
    <a:firstRow>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B4EB3"/>
          </a:solidFill>
        </a:fill>
      </a:tcStyle>
    </a:firstRow>
  </a:tblStyle>
  <a:tblStyle styleId="{C7B018BB-80A7-4F77-B60F-C8B233D01FF8}" styleName="">
    <a:tblBg/>
    <a:wholeTbl>
      <a:tcTxStyle b="on" i="off">
        <a:font>
          <a:latin typeface="Times New Roman"/>
          <a:ea typeface="Times New Roman"/>
          <a:cs typeface="Times New Rom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EA"/>
          </a:solidFill>
        </a:fill>
      </a:tcStyle>
    </a:wholeTbl>
    <a:band2H>
      <a:tcTxStyle b="def" i="def"/>
      <a:tcStyle>
        <a:tcBdr/>
        <a:fill>
          <a:solidFill>
            <a:srgbClr val="E6E9F5"/>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n" i="off">
        <a:font>
          <a:latin typeface="Times New Roman"/>
          <a:ea typeface="Times New Roman"/>
          <a:cs typeface="Times New Rom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FE4CB"/>
          </a:solidFill>
        </a:fill>
      </a:tcStyle>
    </a:wholeTbl>
    <a:band2H>
      <a:tcTxStyle b="def" i="def"/>
      <a:tcStyle>
        <a:tcBdr/>
        <a:fill>
          <a:solidFill>
            <a:srgbClr val="F7F2E7"/>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n" i="off">
        <a:font>
          <a:latin typeface="Times New Roman"/>
          <a:ea typeface="Times New Roman"/>
          <a:cs typeface="Times New Rom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CBD9"/>
          </a:solidFill>
        </a:fill>
      </a:tcStyle>
    </a:wholeTbl>
    <a:band2H>
      <a:tcTxStyle b="def" i="def"/>
      <a:tcStyle>
        <a:tcBdr/>
        <a:fill>
          <a:solidFill>
            <a:srgbClr val="EAE7ED"/>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n" i="off">
        <a:font>
          <a:latin typeface="Times New Roman"/>
          <a:ea typeface="Times New Roman"/>
          <a:cs typeface="Times New Roman"/>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Times New Roman"/>
          <a:ea typeface="Times New Roman"/>
          <a:cs typeface="Times New Roman"/>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Times New Roman"/>
          <a:ea typeface="Times New Roman"/>
          <a:cs typeface="Times New Roman"/>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n" i="off">
        <a:font>
          <a:latin typeface="Times New Roman"/>
          <a:ea typeface="Times New Roman"/>
          <a:cs typeface="Times New Rom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Times New Roman"/>
          <a:ea typeface="Times New Roman"/>
          <a:cs typeface="Times New Rom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comments" Target="comments/comment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comments" Target="comments/comment2.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comments" Target="comments/comment3.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comments" Target="comments/comment4.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comments" Target="comments/comment5.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comments" Target="comments/comment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comments" Target="comments/comment7.xml"/><Relationship Id="rId64" Type="http://schemas.openxmlformats.org/officeDocument/2006/relationships/slide" Target="slides/slide50.xml"/><Relationship Id="rId65" Type="http://schemas.openxmlformats.org/officeDocument/2006/relationships/slide" Target="slides/slide51.xml"/><Relationship Id="rId66" Type="http://schemas.openxmlformats.org/officeDocument/2006/relationships/slide" Target="slides/slide52.xml"/><Relationship Id="rId67" Type="http://schemas.openxmlformats.org/officeDocument/2006/relationships/slide" Target="slides/slide53.xml"/><Relationship Id="rId68" Type="http://schemas.openxmlformats.org/officeDocument/2006/relationships/slide" Target="slides/slide54.xml"/><Relationship Id="rId69" Type="http://schemas.openxmlformats.org/officeDocument/2006/relationships/slide" Target="slides/slide55.xml"/><Relationship Id="rId70" Type="http://schemas.openxmlformats.org/officeDocument/2006/relationships/slide" Target="slides/slide56.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1-04-21T07:26:35.791" idx="1">
    <p:pos x="3136" y="2512"/>
    <p:text>key：钥匙，一把钥匙开一把锁，即唯一性</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1-10-27T08:58:01.768" idx="2">
    <p:pos x="2212" y="3612"/>
    <p:text>折半查找需要数据有序，如何让数据有序？
1、原来无序，先排序O(nlogn)
2、在插入数据时，维持有序</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1-10-27T09:02:03.397" idx="3">
    <p:pos x="1857" y="4452"/>
    <p:text>类库中的Map接口还有keySet、valueSet、entrySet等操作</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1-10-27T09:44:21.891" idx="4">
    <p:pos x="110" y="3370"/>
    <p:text>找出左子树中的最大值所在结点A，A一定没有右孩子</p:text>
    <p:extLst>
      <p:ext uri="{C676402C-5697-4E1C-873F-D02D1690AC5C}">
        <p15:threadingInfo xmlns:p15="http://schemas.microsoft.com/office/powerpoint/2012/main" timeZoneBias="-480"/>
      </p:ext>
    </p:extLst>
  </p:cm>
</p:cmLst>
</file>

<file path=ppt/comments/comment5.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2-10-07T16:29:55.557" idx="5">
    <p:pos x="3543" y="4910"/>
    <p:text>留做实验，练习，调整结点关系</p:text>
    <p:extLst>
      <p:ext uri="{C676402C-5697-4E1C-873F-D02D1690AC5C}">
        <p15:threadingInfo xmlns:p15="http://schemas.microsoft.com/office/powerpoint/2012/main" timeZoneBias="-480"/>
      </p:ext>
    </p:extLst>
  </p:cm>
</p:cmLst>
</file>

<file path=ppt/comments/comment6.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2-10-07T16:29:55.557" idx="6">
    <p:pos x="1121" y="4432"/>
    <p:text>留做实验，练习，调整结点关系
注意：把38的左子树直接作为37的右子树，会影响37等结点的平衡因子</p:text>
    <p:extLst>
      <p:ext uri="{C676402C-5697-4E1C-873F-D02D1690AC5C}">
        <p15:threadingInfo xmlns:p15="http://schemas.microsoft.com/office/powerpoint/2012/main" timeZoneBias="-480"/>
      </p:ext>
    </p:extLst>
  </p:cm>
</p:cmLst>
</file>

<file path=ppt/comments/comment7.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1-10-31T11:52:03.891" idx="7">
    <p:pos x="3344" y="1744"/>
    <p:text>remove的4种情况都要测试到</p:text>
    <p:extLst>
      <p:ext uri="{C676402C-5697-4E1C-873F-D02D1690AC5C}">
        <p15:threadingInfo xmlns:p15="http://schemas.microsoft.com/office/powerpoint/2012/main" timeZoneBias="-480"/>
      </p:ext>
    </p:extLst>
  </p:cm>
</p:cmLst>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2" name="Shape 92"/>
          <p:cNvSpPr/>
          <p:nvPr>
            <p:ph type="sldImg"/>
          </p:nvPr>
        </p:nvSpPr>
        <p:spPr>
          <a:xfrm>
            <a:off x="1143000" y="685800"/>
            <a:ext cx="4572000" cy="3429000"/>
          </a:xfrm>
          <a:prstGeom prst="rect">
            <a:avLst/>
          </a:prstGeom>
        </p:spPr>
        <p:txBody>
          <a:bodyPr/>
          <a:lstStyle/>
          <a:p>
            <a:pPr/>
          </a:p>
        </p:txBody>
      </p:sp>
      <p:sp>
        <p:nvSpPr>
          <p:cNvPr id="93" name="Shape 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mj-lt"/>
        <a:ea typeface="+mj-ea"/>
        <a:cs typeface="+mj-cs"/>
        <a:sym typeface="Avenir Roman"/>
      </a:defRPr>
    </a:lvl1pPr>
    <a:lvl2pPr indent="228600" defTabSz="457200" latinLnBrk="0">
      <a:lnSpc>
        <a:spcPct val="125000"/>
      </a:lnSpc>
      <a:defRPr sz="2400">
        <a:latin typeface="+mj-lt"/>
        <a:ea typeface="+mj-ea"/>
        <a:cs typeface="+mj-cs"/>
        <a:sym typeface="Avenir Roman"/>
      </a:defRPr>
    </a:lvl2pPr>
    <a:lvl3pPr indent="457200" defTabSz="457200" latinLnBrk="0">
      <a:lnSpc>
        <a:spcPct val="125000"/>
      </a:lnSpc>
      <a:defRPr sz="2400">
        <a:latin typeface="+mj-lt"/>
        <a:ea typeface="+mj-ea"/>
        <a:cs typeface="+mj-cs"/>
        <a:sym typeface="Avenir Roman"/>
      </a:defRPr>
    </a:lvl3pPr>
    <a:lvl4pPr indent="685800" defTabSz="457200" latinLnBrk="0">
      <a:lnSpc>
        <a:spcPct val="125000"/>
      </a:lnSpc>
      <a:defRPr sz="2400">
        <a:latin typeface="+mj-lt"/>
        <a:ea typeface="+mj-ea"/>
        <a:cs typeface="+mj-cs"/>
        <a:sym typeface="Avenir Roman"/>
      </a:defRPr>
    </a:lvl4pPr>
    <a:lvl5pPr indent="914400" defTabSz="457200" latinLnBrk="0">
      <a:lnSpc>
        <a:spcPct val="125000"/>
      </a:lnSpc>
      <a:defRPr sz="2400">
        <a:latin typeface="+mj-lt"/>
        <a:ea typeface="+mj-ea"/>
        <a:cs typeface="+mj-cs"/>
        <a:sym typeface="Avenir Roman"/>
      </a:defRPr>
    </a:lvl5pPr>
    <a:lvl6pPr indent="1143000" defTabSz="457200" latinLnBrk="0">
      <a:lnSpc>
        <a:spcPct val="125000"/>
      </a:lnSpc>
      <a:defRPr sz="2400">
        <a:latin typeface="+mj-lt"/>
        <a:ea typeface="+mj-ea"/>
        <a:cs typeface="+mj-cs"/>
        <a:sym typeface="Avenir Roman"/>
      </a:defRPr>
    </a:lvl6pPr>
    <a:lvl7pPr indent="1371600" defTabSz="457200" latinLnBrk="0">
      <a:lnSpc>
        <a:spcPct val="125000"/>
      </a:lnSpc>
      <a:defRPr sz="2400">
        <a:latin typeface="+mj-lt"/>
        <a:ea typeface="+mj-ea"/>
        <a:cs typeface="+mj-cs"/>
        <a:sym typeface="Avenir Roman"/>
      </a:defRPr>
    </a:lvl7pPr>
    <a:lvl8pPr indent="1600200" defTabSz="457200" latinLnBrk="0">
      <a:lnSpc>
        <a:spcPct val="125000"/>
      </a:lnSpc>
      <a:defRPr sz="2400">
        <a:latin typeface="+mj-lt"/>
        <a:ea typeface="+mj-ea"/>
        <a:cs typeface="+mj-cs"/>
        <a:sym typeface="Avenir Roman"/>
      </a:defRPr>
    </a:lvl8pPr>
    <a:lvl9pPr indent="1828800" defTabSz="457200" latinLnBrk="0">
      <a:lnSpc>
        <a:spcPct val="125000"/>
      </a:lnSpc>
      <a:defRPr sz="2400">
        <a:latin typeface="+mj-lt"/>
        <a:ea typeface="+mj-ea"/>
        <a:cs typeface="+mj-cs"/>
        <a:sym typeface="Avenir Rom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平均成功查找次数：树中每个结点的查找概率乘结点所在层号之和。</a:t>
            </a:r>
          </a:p>
          <a:p>
            <a:pPr/>
            <a:r>
              <a:t>平均失败查找次数：树中每个扩展结点（图中的方框）的查找概率乘扩展结点所在层号之和。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0" name="Shape 730"/>
          <p:cNvSpPr/>
          <p:nvPr>
            <p:ph type="sldImg"/>
          </p:nvPr>
        </p:nvSpPr>
        <p:spPr>
          <a:prstGeom prst="rect">
            <a:avLst/>
          </a:prstGeom>
        </p:spPr>
        <p:txBody>
          <a:bodyPr/>
          <a:lstStyle/>
          <a:p>
            <a:pPr/>
          </a:p>
        </p:txBody>
      </p:sp>
      <p:sp>
        <p:nvSpPr>
          <p:cNvPr id="731" name="Shape 731"/>
          <p:cNvSpPr/>
          <p:nvPr>
            <p:ph type="body" sz="quarter" idx="1"/>
          </p:nvPr>
        </p:nvSpPr>
        <p:spPr>
          <a:prstGeom prst="rect">
            <a:avLst/>
          </a:prstGeom>
        </p:spPr>
        <p:txBody>
          <a:bodyPr/>
          <a:lstStyle/>
          <a:p>
            <a:pPr/>
            <a:r>
              <a:t>再删除30呢</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ends">
    <p:spTree>
      <p:nvGrpSpPr>
        <p:cNvPr id="1" name=""/>
        <p:cNvGrpSpPr/>
        <p:nvPr/>
      </p:nvGrpSpPr>
      <p:grpSpPr>
        <a:xfrm>
          <a:off x="0" y="0"/>
          <a:ext cx="0" cy="0"/>
          <a:chOff x="0" y="0"/>
          <a:chExt cx="0" cy="0"/>
        </a:xfrm>
      </p:grpSpPr>
      <p:sp>
        <p:nvSpPr>
          <p:cNvPr id="19" name="Shape 2"/>
          <p:cNvSpPr/>
          <p:nvPr/>
        </p:nvSpPr>
        <p:spPr>
          <a:xfrm>
            <a:off x="1143000" y="320604"/>
            <a:ext cx="467360" cy="675078"/>
          </a:xfrm>
          <a:prstGeom prst="rect">
            <a:avLst/>
          </a:prstGeom>
          <a:gradFill>
            <a:gsLst>
              <a:gs pos="0">
                <a:srgbClr val="F81F08"/>
              </a:gs>
              <a:gs pos="100000">
                <a:srgbClr val="FEE8F7"/>
              </a:gs>
            </a:gsLst>
          </a:gradFill>
          <a:ln w="12700">
            <a:miter lim="400000"/>
          </a:ln>
        </p:spPr>
        <p:txBody>
          <a:bodyPr lIns="50800" tIns="50800" rIns="50800" bIns="50800" anchor="ctr"/>
          <a:lstStyle/>
          <a:p>
            <a:pPr marR="57798" defTabSz="1295400">
              <a:spcBef>
                <a:spcPts val="1900"/>
              </a:spcBef>
              <a:defRPr b="1" sz="2800">
                <a:uFill>
                  <a:solidFill>
                    <a:srgbClr val="000000"/>
                  </a:solidFill>
                </a:uFill>
              </a:defRPr>
            </a:pPr>
          </a:p>
        </p:txBody>
      </p:sp>
      <p:grpSp>
        <p:nvGrpSpPr>
          <p:cNvPr id="24" name="Group 7"/>
          <p:cNvGrpSpPr/>
          <p:nvPr/>
        </p:nvGrpSpPr>
        <p:grpSpPr>
          <a:xfrm>
            <a:off x="165099" y="320603"/>
            <a:ext cx="1435101" cy="1041403"/>
            <a:chOff x="0" y="0"/>
            <a:chExt cx="1435099" cy="1041401"/>
          </a:xfrm>
        </p:grpSpPr>
        <p:sp>
          <p:nvSpPr>
            <p:cNvPr id="20" name="Shape 3"/>
            <p:cNvSpPr/>
            <p:nvPr/>
          </p:nvSpPr>
          <p:spPr>
            <a:xfrm>
              <a:off x="364273" y="-1"/>
              <a:ext cx="545671" cy="548565"/>
            </a:xfrm>
            <a:prstGeom prst="rect">
              <a:avLst/>
            </a:prstGeom>
            <a:solidFill>
              <a:srgbClr val="F81F08"/>
            </a:solidFill>
            <a:ln w="12700" cap="flat">
              <a:noFill/>
              <a:miter lim="400000"/>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 name="Shape 4"/>
            <p:cNvSpPr/>
            <p:nvPr/>
          </p:nvSpPr>
          <p:spPr>
            <a:xfrm>
              <a:off x="518483" y="492836"/>
              <a:ext cx="525900" cy="548566"/>
            </a:xfrm>
            <a:prstGeom prst="rect">
              <a:avLst/>
            </a:prstGeom>
            <a:solidFill>
              <a:srgbClr val="3333CC"/>
            </a:solidFill>
            <a:ln w="12700" cap="flat">
              <a:noFill/>
              <a:miter lim="400000"/>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2" name="Shape 5"/>
            <p:cNvSpPr/>
            <p:nvPr/>
          </p:nvSpPr>
          <p:spPr>
            <a:xfrm>
              <a:off x="979138" y="492836"/>
              <a:ext cx="455962" cy="548566"/>
            </a:xfrm>
            <a:prstGeom prst="rect">
              <a:avLst/>
            </a:prstGeom>
            <a:gradFill flip="none" rotWithShape="1">
              <a:gsLst>
                <a:gs pos="0">
                  <a:srgbClr val="3333CC"/>
                </a:gs>
                <a:gs pos="100000">
                  <a:srgbClr val="FEE8F7"/>
                </a:gs>
              </a:gsLst>
              <a:lin ang="0" scaled="0"/>
            </a:gradFill>
            <a:ln w="12700" cap="flat">
              <a:noFill/>
              <a:miter lim="400000"/>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3" name="Shape 6"/>
            <p:cNvSpPr/>
            <p:nvPr/>
          </p:nvSpPr>
          <p:spPr>
            <a:xfrm>
              <a:off x="-1" y="403625"/>
              <a:ext cx="697904" cy="488022"/>
            </a:xfrm>
            <a:prstGeom prst="rect">
              <a:avLst/>
            </a:prstGeom>
            <a:gradFill flip="none" rotWithShape="1">
              <a:gsLst>
                <a:gs pos="0">
                  <a:srgbClr val="FEE8F7"/>
                </a:gs>
                <a:gs pos="100000">
                  <a:srgbClr val="FF0000"/>
                </a:gs>
              </a:gsLst>
              <a:lin ang="18900000" scaled="0"/>
            </a:gradFill>
            <a:ln w="12700" cap="flat">
              <a:noFill/>
              <a:miter lim="400000"/>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grpSp>
      <p:sp>
        <p:nvSpPr>
          <p:cNvPr id="25" name="Shape 8"/>
          <p:cNvSpPr/>
          <p:nvPr/>
        </p:nvSpPr>
        <p:spPr>
          <a:xfrm>
            <a:off x="1087402" y="26528"/>
            <a:ext cx="45157" cy="1496908"/>
          </a:xfrm>
          <a:prstGeom prst="rect">
            <a:avLst/>
          </a:prstGeom>
          <a:solidFill>
            <a:srgbClr val="1C1C1C"/>
          </a:solidFill>
          <a:ln w="12700">
            <a:miter lim="400000"/>
          </a:ln>
        </p:spPr>
        <p:txBody>
          <a:bodyPr lIns="50800" tIns="50800" rIns="50800" bIns="50800" anchor="ctr"/>
          <a:lstStyle/>
          <a:p>
            <a:pPr marR="57798" defTabSz="1295400">
              <a:spcBef>
                <a:spcPts val="1900"/>
              </a:spcBef>
              <a:defRPr b="1" sz="2800">
                <a:uFill>
                  <a:solidFill>
                    <a:srgbClr val="000000"/>
                  </a:solidFill>
                </a:uFill>
              </a:defRPr>
            </a:pPr>
          </a:p>
        </p:txBody>
      </p:sp>
      <p:sp>
        <p:nvSpPr>
          <p:cNvPr id="26" name="Shape 9"/>
          <p:cNvSpPr/>
          <p:nvPr/>
        </p:nvSpPr>
        <p:spPr>
          <a:xfrm>
            <a:off x="629919" y="1088248"/>
            <a:ext cx="11699807" cy="45158"/>
          </a:xfrm>
          <a:prstGeom prst="rect">
            <a:avLst/>
          </a:prstGeom>
          <a:gradFill>
            <a:gsLst>
              <a:gs pos="0">
                <a:srgbClr val="1C1C1C"/>
              </a:gs>
              <a:gs pos="100000">
                <a:srgbClr val="FEE8F7"/>
              </a:gs>
            </a:gsLst>
          </a:gradFill>
          <a:ln w="12700">
            <a:miter lim="400000"/>
          </a:ln>
        </p:spPr>
        <p:txBody>
          <a:bodyPr lIns="50800" tIns="50800" rIns="50800" bIns="50800" anchor="ctr"/>
          <a:lstStyle/>
          <a:p>
            <a:pPr marR="57798" defTabSz="1295400">
              <a:spcBef>
                <a:spcPts val="1900"/>
              </a:spcBef>
              <a:defRPr b="1" sz="2800">
                <a:uFill>
                  <a:solidFill>
                    <a:srgbClr val="000000"/>
                  </a:solidFill>
                </a:uFill>
              </a:defRPr>
            </a:pPr>
          </a:p>
        </p:txBody>
      </p:sp>
      <p:pic>
        <p:nvPicPr>
          <p:cNvPr id="27" name="tb.png" descr="tb.png"/>
          <p:cNvPicPr>
            <a:picLocks noChangeAspect="1"/>
          </p:cNvPicPr>
          <p:nvPr/>
        </p:nvPicPr>
        <p:blipFill>
          <a:blip r:embed="rId2">
            <a:extLst/>
          </a:blip>
          <a:stretch>
            <a:fillRect/>
          </a:stretch>
        </p:blipFill>
        <p:spPr>
          <a:xfrm>
            <a:off x="11135924" y="206304"/>
            <a:ext cx="800102" cy="762002"/>
          </a:xfrm>
          <a:prstGeom prst="rect">
            <a:avLst/>
          </a:prstGeom>
          <a:ln w="12700">
            <a:miter lim="400000"/>
          </a:ln>
        </p:spPr>
      </p:pic>
      <p:sp>
        <p:nvSpPr>
          <p:cNvPr id="28" name="标题文本"/>
          <p:cNvSpPr txBox="1"/>
          <p:nvPr>
            <p:ph type="title"/>
          </p:nvPr>
        </p:nvSpPr>
        <p:spPr>
          <a:xfrm>
            <a:off x="1611487" y="125587"/>
            <a:ext cx="9448802" cy="952502"/>
          </a:xfrm>
          <a:prstGeom prst="rect">
            <a:avLst/>
          </a:prstGeom>
        </p:spPr>
        <p:txBody>
          <a:bodyPr lIns="50800" tIns="50800" rIns="50800" bIns="50800" anchor="ctr"/>
          <a:lstStyle>
            <a:lvl1pPr marL="0" marR="57798" indent="57798" algn="ctr" defTabSz="1295400">
              <a:defRPr sz="4200">
                <a:solidFill>
                  <a:srgbClr val="000000"/>
                </a:solidFill>
                <a:uFill>
                  <a:solidFill>
                    <a:srgbClr val="000000"/>
                  </a:solidFill>
                </a:uFill>
                <a:latin typeface="Arial Black"/>
                <a:ea typeface="Arial Black"/>
                <a:cs typeface="Arial Black"/>
                <a:sym typeface="Arial Black"/>
              </a:defRPr>
            </a:lvl1pPr>
          </a:lstStyle>
          <a:p>
            <a:pPr/>
            <a:r>
              <a:t>标题文本</a:t>
            </a:r>
          </a:p>
        </p:txBody>
      </p:sp>
      <p:sp>
        <p:nvSpPr>
          <p:cNvPr id="29" name="幻灯片编号"/>
          <p:cNvSpPr txBox="1"/>
          <p:nvPr>
            <p:ph type="sldNum" sz="quarter" idx="2"/>
          </p:nvPr>
        </p:nvSpPr>
        <p:spPr>
          <a:xfrm>
            <a:off x="6259830" y="9080500"/>
            <a:ext cx="469901" cy="492894"/>
          </a:xfrm>
          <a:prstGeom prst="rect">
            <a:avLst/>
          </a:prstGeom>
        </p:spPr>
        <p:txBody>
          <a:bodyPr lIns="50800" tIns="50800" rIns="50800" bIns="50800"/>
          <a:lstStyle>
            <a:lvl1pPr defTabSz="825500">
              <a:defRPr sz="2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ends">
    <p:spTree>
      <p:nvGrpSpPr>
        <p:cNvPr id="1" name=""/>
        <p:cNvGrpSpPr/>
        <p:nvPr/>
      </p:nvGrpSpPr>
      <p:grpSpPr>
        <a:xfrm>
          <a:off x="0" y="0"/>
          <a:ext cx="0" cy="0"/>
          <a:chOff x="0" y="0"/>
          <a:chExt cx="0" cy="0"/>
        </a:xfrm>
      </p:grpSpPr>
      <p:sp>
        <p:nvSpPr>
          <p:cNvPr id="36" name="矩形"/>
          <p:cNvSpPr/>
          <p:nvPr/>
        </p:nvSpPr>
        <p:spPr>
          <a:xfrm>
            <a:off x="593795" y="320604"/>
            <a:ext cx="623149" cy="675078"/>
          </a:xfrm>
          <a:prstGeom prst="rect">
            <a:avLst/>
          </a:prstGeom>
          <a:solidFill>
            <a:srgbClr val="F81F08"/>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37" name="矩形"/>
          <p:cNvSpPr/>
          <p:nvPr/>
        </p:nvSpPr>
        <p:spPr>
          <a:xfrm>
            <a:off x="1143000" y="320604"/>
            <a:ext cx="467360" cy="675078"/>
          </a:xfrm>
          <a:prstGeom prst="rect">
            <a:avLst/>
          </a:prstGeom>
          <a:gradFill>
            <a:gsLst>
              <a:gs pos="0">
                <a:srgbClr val="F81F08"/>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38" name="矩形"/>
          <p:cNvSpPr/>
          <p:nvPr/>
        </p:nvSpPr>
        <p:spPr>
          <a:xfrm>
            <a:off x="769902" y="927100"/>
            <a:ext cx="600570" cy="675076"/>
          </a:xfrm>
          <a:prstGeom prst="rect">
            <a:avLst/>
          </a:prstGeom>
          <a:solidFill>
            <a:srgbClr val="3333CC"/>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39" name="矩形"/>
          <p:cNvSpPr/>
          <p:nvPr/>
        </p:nvSpPr>
        <p:spPr>
          <a:xfrm>
            <a:off x="1295964" y="927100"/>
            <a:ext cx="520702" cy="675076"/>
          </a:xfrm>
          <a:prstGeom prst="rect">
            <a:avLst/>
          </a:prstGeom>
          <a:gradFill>
            <a:gsLst>
              <a:gs pos="0">
                <a:srgbClr val="3333CC"/>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40" name="矩形"/>
          <p:cNvSpPr/>
          <p:nvPr/>
        </p:nvSpPr>
        <p:spPr>
          <a:xfrm>
            <a:off x="177798" y="817315"/>
            <a:ext cx="796998" cy="600570"/>
          </a:xfrm>
          <a:prstGeom prst="rect">
            <a:avLst/>
          </a:prstGeom>
          <a:gradFill>
            <a:gsLst>
              <a:gs pos="0">
                <a:srgbClr val="FEE8F7"/>
              </a:gs>
              <a:gs pos="100000">
                <a:srgbClr val="FF0000"/>
              </a:gs>
            </a:gsLst>
            <a:lin ang="18900000"/>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41" name="矩形"/>
          <p:cNvSpPr/>
          <p:nvPr/>
        </p:nvSpPr>
        <p:spPr>
          <a:xfrm>
            <a:off x="1074702" y="153528"/>
            <a:ext cx="45157" cy="1496908"/>
          </a:xfrm>
          <a:prstGeom prst="rect">
            <a:avLst/>
          </a:prstGeom>
          <a:solidFill>
            <a:srgbClr val="1C1C1C"/>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42" name="矩形"/>
          <p:cNvSpPr/>
          <p:nvPr/>
        </p:nvSpPr>
        <p:spPr>
          <a:xfrm>
            <a:off x="629919" y="1291448"/>
            <a:ext cx="11699807" cy="45158"/>
          </a:xfrm>
          <a:prstGeom prst="rect">
            <a:avLst/>
          </a:prstGeom>
          <a:gradFill>
            <a:gsLst>
              <a:gs pos="0">
                <a:srgbClr val="1C1C1C"/>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pic>
        <p:nvPicPr>
          <p:cNvPr id="43" name="image1.png" descr="image1.png"/>
          <p:cNvPicPr>
            <a:picLocks noChangeAspect="1"/>
          </p:cNvPicPr>
          <p:nvPr/>
        </p:nvPicPr>
        <p:blipFill>
          <a:blip r:embed="rId2">
            <a:extLst/>
          </a:blip>
          <a:stretch>
            <a:fillRect/>
          </a:stretch>
        </p:blipFill>
        <p:spPr>
          <a:xfrm>
            <a:off x="11110524" y="320604"/>
            <a:ext cx="1074705" cy="1002455"/>
          </a:xfrm>
          <a:prstGeom prst="rect">
            <a:avLst/>
          </a:prstGeom>
          <a:ln w="12700">
            <a:miter lim="400000"/>
          </a:ln>
        </p:spPr>
      </p:pic>
      <p:sp>
        <p:nvSpPr>
          <p:cNvPr id="44" name="标题文本"/>
          <p:cNvSpPr txBox="1"/>
          <p:nvPr>
            <p:ph type="title"/>
          </p:nvPr>
        </p:nvSpPr>
        <p:spPr>
          <a:xfrm>
            <a:off x="1598787" y="316087"/>
            <a:ext cx="9398002" cy="1003302"/>
          </a:xfrm>
          <a:prstGeom prst="rect">
            <a:avLst/>
          </a:prstGeom>
        </p:spPr>
        <p:txBody>
          <a:bodyPr lIns="50800" tIns="50800" rIns="50800" bIns="50800"/>
          <a:lstStyle>
            <a:lvl1pPr marL="0" marR="57798" indent="57798" algn="ctr" defTabSz="1295400">
              <a:defRPr sz="4800">
                <a:solidFill>
                  <a:srgbClr val="000000"/>
                </a:solidFill>
                <a:uFill>
                  <a:solidFill>
                    <a:srgbClr val="000000"/>
                  </a:solidFill>
                </a:uFill>
                <a:latin typeface="Arial Black"/>
                <a:ea typeface="Arial Black"/>
                <a:cs typeface="Arial Black"/>
                <a:sym typeface="Arial Black"/>
              </a:defRPr>
            </a:lvl1pPr>
          </a:lstStyle>
          <a:p>
            <a:pPr/>
            <a:r>
              <a:t>标题文本</a:t>
            </a:r>
          </a:p>
        </p:txBody>
      </p:sp>
      <p:sp>
        <p:nvSpPr>
          <p:cNvPr id="45" name="幻灯片编号"/>
          <p:cNvSpPr txBox="1"/>
          <p:nvPr>
            <p:ph type="sldNum" sz="quarter" idx="2"/>
          </p:nvPr>
        </p:nvSpPr>
        <p:spPr>
          <a:xfrm>
            <a:off x="6229773" y="9080500"/>
            <a:ext cx="546101" cy="565857"/>
          </a:xfrm>
          <a:prstGeom prst="rect">
            <a:avLst/>
          </a:prstGeom>
        </p:spPr>
        <p:txBody>
          <a:bodyPr lIns="50800" tIns="50800" rIns="50800" bIns="50800"/>
          <a:lstStyle>
            <a:lvl1pPr defTabSz="825500"/>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ends">
    <p:spTree>
      <p:nvGrpSpPr>
        <p:cNvPr id="1" name=""/>
        <p:cNvGrpSpPr/>
        <p:nvPr/>
      </p:nvGrpSpPr>
      <p:grpSpPr>
        <a:xfrm>
          <a:off x="0" y="0"/>
          <a:ext cx="0" cy="0"/>
          <a:chOff x="0" y="0"/>
          <a:chExt cx="0" cy="0"/>
        </a:xfrm>
      </p:grpSpPr>
      <p:sp>
        <p:nvSpPr>
          <p:cNvPr id="52" name="标题文本"/>
          <p:cNvSpPr txBox="1"/>
          <p:nvPr>
            <p:ph type="title"/>
          </p:nvPr>
        </p:nvSpPr>
        <p:spPr>
          <a:prstGeom prst="rect">
            <a:avLst/>
          </a:prstGeom>
        </p:spPr>
        <p:txBody>
          <a:bodyPr/>
          <a:lstStyle/>
          <a:p>
            <a:pPr/>
            <a:r>
              <a:t>标题文本</a:t>
            </a:r>
          </a:p>
        </p:txBody>
      </p:sp>
      <p:sp>
        <p:nvSpPr>
          <p:cNvPr id="53" name="正文级别 1…"/>
          <p:cNvSpPr txBox="1"/>
          <p:nvPr>
            <p:ph type="body" idx="1"/>
          </p:nvPr>
        </p:nvSpPr>
        <p:spPr>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5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sn">
    <p:spTree>
      <p:nvGrpSpPr>
        <p:cNvPr id="1" name=""/>
        <p:cNvGrpSpPr/>
        <p:nvPr/>
      </p:nvGrpSpPr>
      <p:grpSpPr>
        <a:xfrm>
          <a:off x="0" y="0"/>
          <a:ext cx="0" cy="0"/>
          <a:chOff x="0" y="0"/>
          <a:chExt cx="0" cy="0"/>
        </a:xfrm>
      </p:grpSpPr>
      <p:sp>
        <p:nvSpPr>
          <p:cNvPr id="61" name="矩形"/>
          <p:cNvSpPr/>
          <p:nvPr/>
        </p:nvSpPr>
        <p:spPr>
          <a:xfrm>
            <a:off x="593795" y="28504"/>
            <a:ext cx="623149" cy="675078"/>
          </a:xfrm>
          <a:prstGeom prst="rect">
            <a:avLst/>
          </a:prstGeom>
          <a:solidFill>
            <a:srgbClr val="F81F08"/>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2" name="矩形"/>
          <p:cNvSpPr/>
          <p:nvPr/>
        </p:nvSpPr>
        <p:spPr>
          <a:xfrm>
            <a:off x="1143000" y="28504"/>
            <a:ext cx="467360" cy="675078"/>
          </a:xfrm>
          <a:prstGeom prst="rect">
            <a:avLst/>
          </a:prstGeom>
          <a:gradFill>
            <a:gsLst>
              <a:gs pos="0">
                <a:srgbClr val="F81F08"/>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3" name="矩形"/>
          <p:cNvSpPr/>
          <p:nvPr/>
        </p:nvSpPr>
        <p:spPr>
          <a:xfrm>
            <a:off x="769902" y="381000"/>
            <a:ext cx="600570" cy="675076"/>
          </a:xfrm>
          <a:prstGeom prst="rect">
            <a:avLst/>
          </a:prstGeom>
          <a:solidFill>
            <a:srgbClr val="3333CC"/>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4" name="矩形"/>
          <p:cNvSpPr/>
          <p:nvPr/>
        </p:nvSpPr>
        <p:spPr>
          <a:xfrm>
            <a:off x="1295964" y="381000"/>
            <a:ext cx="520702" cy="675076"/>
          </a:xfrm>
          <a:prstGeom prst="rect">
            <a:avLst/>
          </a:prstGeom>
          <a:gradFill>
            <a:gsLst>
              <a:gs pos="0">
                <a:srgbClr val="3333CC"/>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5" name="矩形"/>
          <p:cNvSpPr/>
          <p:nvPr/>
        </p:nvSpPr>
        <p:spPr>
          <a:xfrm>
            <a:off x="190498" y="449015"/>
            <a:ext cx="796998" cy="600570"/>
          </a:xfrm>
          <a:prstGeom prst="rect">
            <a:avLst/>
          </a:prstGeom>
          <a:gradFill>
            <a:gsLst>
              <a:gs pos="0">
                <a:srgbClr val="FEE8F7"/>
              </a:gs>
              <a:gs pos="100000">
                <a:srgbClr val="FF0000"/>
              </a:gs>
            </a:gsLst>
            <a:lin ang="18900000"/>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6" name="矩形"/>
          <p:cNvSpPr/>
          <p:nvPr/>
        </p:nvSpPr>
        <p:spPr>
          <a:xfrm>
            <a:off x="1131405" y="26528"/>
            <a:ext cx="46050" cy="1069906"/>
          </a:xfrm>
          <a:prstGeom prst="rect">
            <a:avLst/>
          </a:prstGeom>
          <a:solidFill>
            <a:srgbClr val="1C1C1C"/>
          </a:soli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sp>
        <p:nvSpPr>
          <p:cNvPr id="67" name="矩形"/>
          <p:cNvSpPr/>
          <p:nvPr/>
        </p:nvSpPr>
        <p:spPr>
          <a:xfrm>
            <a:off x="629919" y="1024748"/>
            <a:ext cx="11699807" cy="45158"/>
          </a:xfrm>
          <a:prstGeom prst="rect">
            <a:avLst/>
          </a:prstGeom>
          <a:gradFill>
            <a:gsLst>
              <a:gs pos="0">
                <a:srgbClr val="1C1C1C"/>
              </a:gs>
              <a:gs pos="100000">
                <a:srgbClr val="FEE8F7"/>
              </a:gs>
            </a:gsLst>
          </a:gradFill>
          <a:ln w="12700">
            <a:miter lim="400000"/>
          </a:ln>
        </p:spPr>
        <p:txBody>
          <a:bodyPr lIns="50800" tIns="50800" rIns="50800" bIns="50800" anchor="ctr"/>
          <a:lstStyle/>
          <a:p>
            <a:pPr marR="57798" defTabSz="1295400">
              <a:spcBef>
                <a:spcPts val="1900"/>
              </a:spcBef>
              <a:defRPr b="1" sz="3400">
                <a:uFill>
                  <a:solidFill>
                    <a:srgbClr val="000000"/>
                  </a:solidFill>
                </a:uFill>
              </a:defRPr>
            </a:pPr>
          </a:p>
        </p:txBody>
      </p:sp>
      <p:pic>
        <p:nvPicPr>
          <p:cNvPr id="68" name="image1.png" descr="image1.png"/>
          <p:cNvPicPr>
            <a:picLocks noChangeAspect="1"/>
          </p:cNvPicPr>
          <p:nvPr/>
        </p:nvPicPr>
        <p:blipFill>
          <a:blip r:embed="rId2">
            <a:extLst/>
          </a:blip>
          <a:stretch>
            <a:fillRect/>
          </a:stretch>
        </p:blipFill>
        <p:spPr>
          <a:xfrm>
            <a:off x="11110524" y="28504"/>
            <a:ext cx="1074705" cy="1002455"/>
          </a:xfrm>
          <a:prstGeom prst="rect">
            <a:avLst/>
          </a:prstGeom>
          <a:ln w="12700">
            <a:miter lim="400000"/>
          </a:ln>
        </p:spPr>
      </p:pic>
      <p:sp>
        <p:nvSpPr>
          <p:cNvPr id="69" name="标题文本"/>
          <p:cNvSpPr txBox="1"/>
          <p:nvPr>
            <p:ph type="title"/>
          </p:nvPr>
        </p:nvSpPr>
        <p:spPr>
          <a:xfrm>
            <a:off x="1960574" y="40780"/>
            <a:ext cx="9398002" cy="1003302"/>
          </a:xfrm>
          <a:prstGeom prst="rect">
            <a:avLst/>
          </a:prstGeom>
        </p:spPr>
        <p:txBody>
          <a:bodyPr lIns="50800" tIns="50800" rIns="50800" bIns="50800"/>
          <a:lstStyle>
            <a:lvl1pPr marL="0" marR="57798" indent="57798" algn="ctr" defTabSz="1295400">
              <a:defRPr sz="4000">
                <a:solidFill>
                  <a:srgbClr val="000000"/>
                </a:solidFill>
                <a:uFill>
                  <a:solidFill>
                    <a:srgbClr val="000000"/>
                  </a:solidFill>
                </a:uFill>
                <a:latin typeface="Arial Black"/>
                <a:ea typeface="Arial Black"/>
                <a:cs typeface="Arial Black"/>
                <a:sym typeface="Arial Black"/>
              </a:defRPr>
            </a:lvl1pPr>
          </a:lstStyle>
          <a:p>
            <a:pPr/>
            <a:r>
              <a:t>标题文本</a:t>
            </a:r>
          </a:p>
        </p:txBody>
      </p:sp>
      <p:sp>
        <p:nvSpPr>
          <p:cNvPr id="70" name="幻灯片编号"/>
          <p:cNvSpPr txBox="1"/>
          <p:nvPr>
            <p:ph type="sldNum" sz="quarter" idx="2"/>
          </p:nvPr>
        </p:nvSpPr>
        <p:spPr>
          <a:xfrm>
            <a:off x="6229773" y="9080500"/>
            <a:ext cx="546101" cy="565857"/>
          </a:xfrm>
          <a:prstGeom prst="rect">
            <a:avLst/>
          </a:prstGeom>
        </p:spPr>
        <p:txBody>
          <a:bodyPr lIns="50800" tIns="50800" rIns="50800" bIns="50800"/>
          <a:lstStyle>
            <a:lvl1pPr defTabSz="825500"/>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lsn">
    <p:spTree>
      <p:nvGrpSpPr>
        <p:cNvPr id="1" name=""/>
        <p:cNvGrpSpPr/>
        <p:nvPr/>
      </p:nvGrpSpPr>
      <p:grpSpPr>
        <a:xfrm>
          <a:off x="0" y="0"/>
          <a:ext cx="0" cy="0"/>
          <a:chOff x="0" y="0"/>
          <a:chExt cx="0" cy="0"/>
        </a:xfrm>
      </p:grpSpPr>
      <p:sp>
        <p:nvSpPr>
          <p:cNvPr id="77" name="矩形"/>
          <p:cNvSpPr/>
          <p:nvPr/>
        </p:nvSpPr>
        <p:spPr>
          <a:xfrm>
            <a:off x="593795" y="139982"/>
            <a:ext cx="623148" cy="675076"/>
          </a:xfrm>
          <a:prstGeom prst="rect">
            <a:avLst/>
          </a:prstGeom>
          <a:solidFill>
            <a:srgbClr val="F81F08"/>
          </a:soli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78" name="矩形"/>
          <p:cNvSpPr/>
          <p:nvPr/>
        </p:nvSpPr>
        <p:spPr>
          <a:xfrm>
            <a:off x="1137919" y="139982"/>
            <a:ext cx="467361" cy="675076"/>
          </a:xfrm>
          <a:prstGeom prst="rect">
            <a:avLst/>
          </a:prstGeom>
          <a:gradFill>
            <a:gsLst>
              <a:gs pos="0">
                <a:srgbClr val="F81F08"/>
              </a:gs>
              <a:gs pos="100000">
                <a:srgbClr val="FEE8F7"/>
              </a:gs>
            </a:gsLst>
          </a:gra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79" name="矩形"/>
          <p:cNvSpPr/>
          <p:nvPr/>
        </p:nvSpPr>
        <p:spPr>
          <a:xfrm>
            <a:off x="769902" y="740551"/>
            <a:ext cx="600569" cy="675076"/>
          </a:xfrm>
          <a:prstGeom prst="rect">
            <a:avLst/>
          </a:prstGeom>
          <a:solidFill>
            <a:srgbClr val="3333CC"/>
          </a:soli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80" name="矩形"/>
          <p:cNvSpPr/>
          <p:nvPr/>
        </p:nvSpPr>
        <p:spPr>
          <a:xfrm>
            <a:off x="1295964" y="740551"/>
            <a:ext cx="523805" cy="675076"/>
          </a:xfrm>
          <a:prstGeom prst="rect">
            <a:avLst/>
          </a:prstGeom>
          <a:gradFill>
            <a:gsLst>
              <a:gs pos="0">
                <a:srgbClr val="3333CC"/>
              </a:gs>
              <a:gs pos="100000">
                <a:srgbClr val="FEE8F7"/>
              </a:gs>
            </a:gsLst>
          </a:gra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81" name="矩形"/>
          <p:cNvSpPr/>
          <p:nvPr/>
        </p:nvSpPr>
        <p:spPr>
          <a:xfrm>
            <a:off x="180622" y="636693"/>
            <a:ext cx="796996" cy="600570"/>
          </a:xfrm>
          <a:prstGeom prst="rect">
            <a:avLst/>
          </a:prstGeom>
          <a:gradFill>
            <a:gsLst>
              <a:gs pos="0">
                <a:srgbClr val="FEE8F7"/>
              </a:gs>
              <a:gs pos="100000">
                <a:srgbClr val="FF0000"/>
              </a:gs>
            </a:gsLst>
            <a:lin ang="18900000"/>
          </a:gra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82" name="矩形"/>
          <p:cNvSpPr/>
          <p:nvPr/>
        </p:nvSpPr>
        <p:spPr>
          <a:xfrm>
            <a:off x="1074702" y="-27094"/>
            <a:ext cx="63218" cy="1496908"/>
          </a:xfrm>
          <a:prstGeom prst="rect">
            <a:avLst/>
          </a:prstGeom>
          <a:solidFill>
            <a:srgbClr val="1C1C1C"/>
          </a:soli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sp>
        <p:nvSpPr>
          <p:cNvPr id="83" name="矩形"/>
          <p:cNvSpPr/>
          <p:nvPr/>
        </p:nvSpPr>
        <p:spPr>
          <a:xfrm>
            <a:off x="629919" y="1345635"/>
            <a:ext cx="11699806" cy="63219"/>
          </a:xfrm>
          <a:prstGeom prst="rect">
            <a:avLst/>
          </a:prstGeom>
          <a:gradFill>
            <a:gsLst>
              <a:gs pos="0">
                <a:srgbClr val="1C1C1C"/>
              </a:gs>
              <a:gs pos="100000">
                <a:srgbClr val="FEE8F7"/>
              </a:gs>
            </a:gsLst>
          </a:gradFill>
          <a:ln>
            <a:miter lim="400000"/>
          </a:ln>
        </p:spPr>
        <p:txBody>
          <a:bodyPr lIns="72248" tIns="72248" rIns="72248" bIns="72248" anchor="ctr"/>
          <a:lstStyle/>
          <a:p>
            <a:pPr marL="57799" marR="57799" indent="0" defTabSz="1300480">
              <a:spcBef>
                <a:spcPts val="2200"/>
              </a:spcBef>
              <a:defRPr sz="3800">
                <a:uFill>
                  <a:solidFill>
                    <a:srgbClr val="000000"/>
                  </a:solidFill>
                </a:uFill>
              </a:defRPr>
            </a:pPr>
          </a:p>
        </p:txBody>
      </p:sp>
      <p:pic>
        <p:nvPicPr>
          <p:cNvPr id="84" name="image1.png" descr="image1.png"/>
          <p:cNvPicPr>
            <a:picLocks noChangeAspect="1"/>
          </p:cNvPicPr>
          <p:nvPr/>
        </p:nvPicPr>
        <p:blipFill>
          <a:blip r:embed="rId2">
            <a:extLst/>
          </a:blip>
          <a:stretch>
            <a:fillRect/>
          </a:stretch>
        </p:blipFill>
        <p:spPr>
          <a:xfrm>
            <a:off x="10895099" y="119662"/>
            <a:ext cx="1290127" cy="1203396"/>
          </a:xfrm>
          <a:prstGeom prst="rect">
            <a:avLst/>
          </a:prstGeom>
          <a:ln w="12700">
            <a:miter lim="400000"/>
          </a:ln>
        </p:spPr>
      </p:pic>
      <p:sp>
        <p:nvSpPr>
          <p:cNvPr id="85" name="标题文本"/>
          <p:cNvSpPr txBox="1"/>
          <p:nvPr>
            <p:ph type="title"/>
          </p:nvPr>
        </p:nvSpPr>
        <p:spPr>
          <a:xfrm>
            <a:off x="1275644" y="31608"/>
            <a:ext cx="11083432" cy="1343379"/>
          </a:xfrm>
          <a:prstGeom prst="rect">
            <a:avLst/>
          </a:prstGeom>
        </p:spPr>
        <p:txBody>
          <a:bodyPr/>
          <a:lstStyle>
            <a:lvl1pPr algn="ctr">
              <a:defRPr b="1" sz="5600">
                <a:latin typeface="Times New Roman"/>
                <a:ea typeface="Times New Roman"/>
                <a:cs typeface="Times New Roman"/>
                <a:sym typeface="Times New Roman"/>
              </a:defRPr>
            </a:lvl1pPr>
          </a:lstStyle>
          <a:p>
            <a:pPr/>
            <a:r>
              <a:t>标题文本</a:t>
            </a:r>
          </a:p>
        </p:txBody>
      </p:sp>
      <p:sp>
        <p:nvSpPr>
          <p:cNvPr id="86" name="幻灯片编号"/>
          <p:cNvSpPr txBox="1"/>
          <p:nvPr>
            <p:ph type="sldNum" sz="quarter" idx="2"/>
          </p:nvPr>
        </p:nvSpPr>
        <p:spPr>
          <a:xfrm>
            <a:off x="6182501" y="9085298"/>
            <a:ext cx="639798" cy="682797"/>
          </a:xfrm>
          <a:prstGeom prst="rect">
            <a:avLst/>
          </a:prstGeom>
        </p:spPr>
        <p:txBody>
          <a:bodyPr/>
          <a:lstStyle>
            <a:lvl1pPr>
              <a:defRPr b="0" sz="3800"/>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矩形"/>
          <p:cNvSpPr/>
          <p:nvPr/>
        </p:nvSpPr>
        <p:spPr>
          <a:xfrm>
            <a:off x="593795" y="320604"/>
            <a:ext cx="623148" cy="675076"/>
          </a:xfrm>
          <a:prstGeom prst="rect">
            <a:avLst/>
          </a:prstGeom>
          <a:solidFill>
            <a:srgbClr val="F81F08"/>
          </a:soli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3" name="矩形"/>
          <p:cNvSpPr/>
          <p:nvPr/>
        </p:nvSpPr>
        <p:spPr>
          <a:xfrm>
            <a:off x="1137919" y="320604"/>
            <a:ext cx="467361" cy="675076"/>
          </a:xfrm>
          <a:prstGeom prst="rect">
            <a:avLst/>
          </a:prstGeom>
          <a:gradFill>
            <a:gsLst>
              <a:gs pos="0">
                <a:srgbClr val="F81F08"/>
              </a:gs>
              <a:gs pos="100000">
                <a:srgbClr val="FEE8F7"/>
              </a:gs>
            </a:gsLst>
          </a:gra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4" name="矩形"/>
          <p:cNvSpPr/>
          <p:nvPr/>
        </p:nvSpPr>
        <p:spPr>
          <a:xfrm>
            <a:off x="769902" y="921173"/>
            <a:ext cx="600569" cy="675076"/>
          </a:xfrm>
          <a:prstGeom prst="rect">
            <a:avLst/>
          </a:prstGeom>
          <a:solidFill>
            <a:srgbClr val="3333CC"/>
          </a:soli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5" name="矩形"/>
          <p:cNvSpPr/>
          <p:nvPr/>
        </p:nvSpPr>
        <p:spPr>
          <a:xfrm>
            <a:off x="1295964" y="921173"/>
            <a:ext cx="523805" cy="675076"/>
          </a:xfrm>
          <a:prstGeom prst="rect">
            <a:avLst/>
          </a:prstGeom>
          <a:gradFill>
            <a:gsLst>
              <a:gs pos="0">
                <a:srgbClr val="3333CC"/>
              </a:gs>
              <a:gs pos="100000">
                <a:srgbClr val="FEE8F7"/>
              </a:gs>
            </a:gsLst>
          </a:gra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6" name="矩形"/>
          <p:cNvSpPr/>
          <p:nvPr/>
        </p:nvSpPr>
        <p:spPr>
          <a:xfrm>
            <a:off x="180622" y="817315"/>
            <a:ext cx="796996" cy="600570"/>
          </a:xfrm>
          <a:prstGeom prst="rect">
            <a:avLst/>
          </a:prstGeom>
          <a:gradFill>
            <a:gsLst>
              <a:gs pos="0">
                <a:srgbClr val="FEE8F7"/>
              </a:gs>
              <a:gs pos="100000">
                <a:srgbClr val="FF0000"/>
              </a:gs>
            </a:gsLst>
            <a:lin ang="18900000"/>
          </a:gra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7" name="矩形"/>
          <p:cNvSpPr/>
          <p:nvPr/>
        </p:nvSpPr>
        <p:spPr>
          <a:xfrm>
            <a:off x="1074702" y="153528"/>
            <a:ext cx="45156" cy="1496908"/>
          </a:xfrm>
          <a:prstGeom prst="rect">
            <a:avLst/>
          </a:prstGeom>
          <a:solidFill>
            <a:srgbClr val="1C1C1C"/>
          </a:soli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sp>
        <p:nvSpPr>
          <p:cNvPr id="8" name="矩形"/>
          <p:cNvSpPr/>
          <p:nvPr/>
        </p:nvSpPr>
        <p:spPr>
          <a:xfrm>
            <a:off x="629919" y="1291448"/>
            <a:ext cx="11699806" cy="45157"/>
          </a:xfrm>
          <a:prstGeom prst="rect">
            <a:avLst/>
          </a:prstGeom>
          <a:gradFill>
            <a:gsLst>
              <a:gs pos="0">
                <a:srgbClr val="1C1C1C"/>
              </a:gs>
              <a:gs pos="100000">
                <a:srgbClr val="FEE8F7"/>
              </a:gs>
            </a:gsLst>
          </a:gradFill>
          <a:ln>
            <a:miter lim="400000"/>
          </a:ln>
        </p:spPr>
        <p:txBody>
          <a:bodyPr lIns="72248" tIns="72248" rIns="72248" bIns="72248" anchor="ctr"/>
          <a:lstStyle/>
          <a:p>
            <a:pPr marL="57799" marR="57799" indent="0" defTabSz="1300480">
              <a:spcBef>
                <a:spcPts val="1900"/>
              </a:spcBef>
              <a:defRPr b="1" sz="3400">
                <a:uFill>
                  <a:solidFill>
                    <a:srgbClr val="000000"/>
                  </a:solidFill>
                </a:uFill>
              </a:defRPr>
            </a:pPr>
          </a:p>
        </p:txBody>
      </p:sp>
      <p:pic>
        <p:nvPicPr>
          <p:cNvPr id="9" name="image1.png" descr="image1.png"/>
          <p:cNvPicPr>
            <a:picLocks noChangeAspect="1"/>
          </p:cNvPicPr>
          <p:nvPr/>
        </p:nvPicPr>
        <p:blipFill>
          <a:blip r:embed="rId2">
            <a:extLst/>
          </a:blip>
          <a:stretch>
            <a:fillRect/>
          </a:stretch>
        </p:blipFill>
        <p:spPr>
          <a:xfrm>
            <a:off x="11110524" y="320604"/>
            <a:ext cx="1074704" cy="1002454"/>
          </a:xfrm>
          <a:prstGeom prst="rect">
            <a:avLst/>
          </a:prstGeom>
          <a:ln w="12700">
            <a:miter lim="400000"/>
          </a:ln>
        </p:spPr>
      </p:pic>
      <p:sp>
        <p:nvSpPr>
          <p:cNvPr id="10" name="标题文本"/>
          <p:cNvSpPr txBox="1"/>
          <p:nvPr>
            <p:ph type="title"/>
          </p:nvPr>
        </p:nvSpPr>
        <p:spPr>
          <a:xfrm>
            <a:off x="1636888" y="-1"/>
            <a:ext cx="11083433" cy="1343379"/>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nchor="b">
            <a:normAutofit fontScale="100000" lnSpcReduction="0"/>
          </a:bodyPr>
          <a:lstStyle/>
          <a:p>
            <a:pPr/>
            <a:r>
              <a:t>标题文本</a:t>
            </a:r>
          </a:p>
        </p:txBody>
      </p:sp>
      <p:sp>
        <p:nvSpPr>
          <p:cNvPr id="11" name="正文级别 1…"/>
          <p:cNvSpPr txBox="1"/>
          <p:nvPr>
            <p:ph type="body" idx="1"/>
          </p:nvPr>
        </p:nvSpPr>
        <p:spPr>
          <a:xfrm>
            <a:off x="1682044" y="2869635"/>
            <a:ext cx="11054081" cy="6883965"/>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normAutofit fontScale="100000" lnSpcReduction="0"/>
          </a:bodyPr>
          <a:lstStyle>
            <a:lvl2pPr marL="885643" indent="-387803">
              <a:spcBef>
                <a:spcPts val="900"/>
              </a:spcBef>
              <a:buClr>
                <a:srgbClr val="FF0000"/>
              </a:buClr>
              <a:defRPr sz="3800"/>
            </a:lvl2pPr>
            <a:lvl3pPr marL="1278889" indent="-323850">
              <a:spcBef>
                <a:spcPts val="800"/>
              </a:spcBef>
              <a:defRPr sz="3400"/>
            </a:lvl3pPr>
            <a:lvl4pPr marL="1732279" indent="-320039">
              <a:spcBef>
                <a:spcPts val="600"/>
              </a:spcBef>
              <a:buClr>
                <a:srgbClr val="F81F08"/>
              </a:buClr>
              <a:defRPr sz="2800"/>
            </a:lvl4pPr>
            <a:lvl5pPr marL="2189479" indent="-320039">
              <a:spcBef>
                <a:spcPts val="600"/>
              </a:spcBef>
              <a:buClr>
                <a:srgbClr val="FFFFFF"/>
              </a:buClr>
              <a:defRPr sz="2800"/>
            </a:lvl5pPr>
          </a:lstStyle>
          <a:p>
            <a:pPr/>
            <a:r>
              <a:t>正文级别 1</a:t>
            </a:r>
          </a:p>
          <a:p>
            <a:pPr lvl="1"/>
            <a:r>
              <a:t>正文级别 2</a:t>
            </a:r>
          </a:p>
          <a:p>
            <a:pPr lvl="2"/>
            <a:r>
              <a:t>正文级别 3</a:t>
            </a:r>
          </a:p>
          <a:p>
            <a:pPr lvl="3"/>
            <a:r>
              <a:t>正文级别 4</a:t>
            </a:r>
          </a:p>
          <a:p>
            <a:pPr lvl="4"/>
            <a:r>
              <a:t>正文级别 5</a:t>
            </a:r>
          </a:p>
        </p:txBody>
      </p:sp>
      <p:sp>
        <p:nvSpPr>
          <p:cNvPr id="12" name="幻灯片编号"/>
          <p:cNvSpPr txBox="1"/>
          <p:nvPr>
            <p:ph type="sldNum" sz="quarter" idx="2"/>
          </p:nvPr>
        </p:nvSpPr>
        <p:spPr>
          <a:xfrm>
            <a:off x="6204373" y="9085298"/>
            <a:ext cx="596054" cy="608755"/>
          </a:xfrm>
          <a:prstGeom prst="rect">
            <a:avLst/>
          </a:prstGeom>
          <a:ln w="12700">
            <a:miter lim="400000"/>
          </a:ln>
          <a:extLst>
            <a:ext uri="{C572A759-6A51-4108-AA02-DFA0A04FC94B}">
              <ma14:wrappingTextBoxFlag xmlns:ma14="http://schemas.microsoft.com/office/mac/drawingml/2011/main" val="1"/>
            </a:ext>
          </a:extLst>
        </p:spPr>
        <p:txBody>
          <a:bodyPr wrap="none" lIns="72248" tIns="72248" rIns="72248" bIns="72248">
            <a:spAutoFit/>
          </a:bodyPr>
          <a:lstStyle>
            <a:lvl1pPr indent="0" algn="ctr" defTabSz="830862">
              <a:defRPr b="1" sz="3400">
                <a:uFill>
                  <a:solidFill>
                    <a:srgbClr val="000000"/>
                  </a:solidFill>
                </a:u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Lst>
  <p:transition xmlns:p14="http://schemas.microsoft.com/office/powerpoint/2010/main" spd="med" advClick="1"/>
  <p:txStyles>
    <p:titleStyle>
      <a:lvl1pPr marL="57799" marR="57799" indent="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1pPr>
      <a:lvl2pPr marL="57799" marR="57799" indent="3429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2pPr>
      <a:lvl3pPr marL="57799" marR="57799" indent="6858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3pPr>
      <a:lvl4pPr marL="57799" marR="57799" indent="10287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4pPr>
      <a:lvl5pPr marL="57799" marR="57799" indent="13716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5pPr>
      <a:lvl6pPr marL="57799" marR="57799" indent="17145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6pPr>
      <a:lvl7pPr marL="57799" marR="57799" indent="20574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7pPr>
      <a:lvl8pPr marL="57799" marR="57799" indent="24003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8pPr>
      <a:lvl9pPr marL="57799" marR="57799" indent="2743200" algn="l" defTabSz="1300480" rtl="0" latinLnBrk="0">
        <a:lnSpc>
          <a:spcPct val="100000"/>
        </a:lnSpc>
        <a:spcBef>
          <a:spcPts val="0"/>
        </a:spcBef>
        <a:spcAft>
          <a:spcPts val="0"/>
        </a:spcAft>
        <a:buClrTx/>
        <a:buSzTx/>
        <a:buFontTx/>
        <a:buNone/>
        <a:tabLst/>
        <a:defRPr b="0" baseline="0" cap="none" i="0" spc="0" strike="noStrike" sz="5000" u="none">
          <a:solidFill>
            <a:srgbClr val="333399"/>
          </a:solidFill>
          <a:uFill>
            <a:solidFill>
              <a:srgbClr val="333399"/>
            </a:solidFill>
          </a:uFill>
          <a:latin typeface="Tahoma Bold"/>
          <a:ea typeface="Tahoma Bold"/>
          <a:cs typeface="Tahoma Bold"/>
          <a:sym typeface="Tahoma Bold"/>
        </a:defRPr>
      </a:lvl9pPr>
    </p:titleStyle>
    <p:bodyStyle>
      <a:lvl1pPr marL="512127" marR="57799" indent="-471487" algn="l" defTabSz="1300480" rtl="0" latinLnBrk="0">
        <a:lnSpc>
          <a:spcPct val="100000"/>
        </a:lnSpc>
        <a:spcBef>
          <a:spcPts val="1100"/>
        </a:spcBef>
        <a:spcAft>
          <a:spcPts val="0"/>
        </a:spcAft>
        <a:buClr>
          <a:srgbClr val="3333CC"/>
        </a:buClr>
        <a:buSzPct val="6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1pPr>
      <a:lvl2pPr marL="946875" marR="57799" indent="-449035" algn="l" defTabSz="1300480" rtl="0" latinLnBrk="0">
        <a:lnSpc>
          <a:spcPct val="100000"/>
        </a:lnSpc>
        <a:spcBef>
          <a:spcPts val="1100"/>
        </a:spcBef>
        <a:spcAft>
          <a:spcPts val="0"/>
        </a:spcAft>
        <a:buClr>
          <a:srgbClr val="3333CC"/>
        </a:buClr>
        <a:buSzPct val="55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2pPr>
      <a:lvl3pPr marL="1374139" marR="57799" indent="-419100"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3pPr>
      <a:lvl4pPr marL="1915159" marR="57799" indent="-502919" algn="l" defTabSz="1300480" rtl="0" latinLnBrk="0">
        <a:lnSpc>
          <a:spcPct val="100000"/>
        </a:lnSpc>
        <a:spcBef>
          <a:spcPts val="1100"/>
        </a:spcBef>
        <a:spcAft>
          <a:spcPts val="0"/>
        </a:spcAft>
        <a:buClr>
          <a:srgbClr val="3333CC"/>
        </a:buClr>
        <a:buSzPct val="55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4pPr>
      <a:lvl5pPr marL="2372359" marR="57799" indent="-502919"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5pPr>
      <a:lvl6pPr marL="2372359" marR="57799" indent="-502919"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6pPr>
      <a:lvl7pPr marL="2372359" marR="57799" indent="-502919"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7pPr>
      <a:lvl8pPr marL="2372359" marR="57799" indent="-502919"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8pPr>
      <a:lvl9pPr marL="2372359" marR="57799" indent="-502919" algn="l" defTabSz="1300480" rtl="0" latinLnBrk="0">
        <a:lnSpc>
          <a:spcPct val="100000"/>
        </a:lnSpc>
        <a:spcBef>
          <a:spcPts val="1100"/>
        </a:spcBef>
        <a:spcAft>
          <a:spcPts val="0"/>
        </a:spcAft>
        <a:buClr>
          <a:srgbClr val="3333CC"/>
        </a:buClr>
        <a:buSzPct val="50000"/>
        <a:buFontTx/>
        <a:buChar char=""/>
        <a:tabLst/>
        <a:defRPr b="0" baseline="0" cap="none" i="0" spc="0" strike="noStrike" sz="4400" u="none">
          <a:solidFill>
            <a:srgbClr val="000000"/>
          </a:solidFill>
          <a:uFill>
            <a:solidFill>
              <a:srgbClr val="000000"/>
            </a:solidFill>
          </a:uFill>
          <a:latin typeface="SimSun"/>
          <a:ea typeface="SimSun"/>
          <a:cs typeface="SimSun"/>
          <a:sym typeface="SimSun"/>
        </a:defRPr>
      </a:lvl9pPr>
    </p:bodyStyle>
    <p:otherStyle>
      <a:lvl1pPr marL="0" marR="0" indent="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1pPr>
      <a:lvl2pPr marL="0" marR="0" indent="3429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2pPr>
      <a:lvl3pPr marL="0" marR="0" indent="6858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3pPr>
      <a:lvl4pPr marL="0" marR="0" indent="10287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4pPr>
      <a:lvl5pPr marL="0" marR="0" indent="13716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5pPr>
      <a:lvl6pPr marL="0" marR="0" indent="17145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6pPr>
      <a:lvl7pPr marL="0" marR="0" indent="20574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7pPr>
      <a:lvl8pPr marL="0" marR="0" indent="24003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8pPr>
      <a:lvl9pPr marL="0" marR="0" indent="2743200" algn="ctr" defTabSz="830862" rtl="0" latinLnBrk="0">
        <a:lnSpc>
          <a:spcPct val="100000"/>
        </a:lnSpc>
        <a:spcBef>
          <a:spcPts val="0"/>
        </a:spcBef>
        <a:spcAft>
          <a:spcPts val="0"/>
        </a:spcAft>
        <a:buClrTx/>
        <a:buSzTx/>
        <a:buFontTx/>
        <a:buNone/>
        <a:tabLst/>
        <a:defRPr b="1" baseline="0" cap="none" i="0" spc="0" strike="noStrike" sz="3400" u="none">
          <a:solidFill>
            <a:schemeClr val="tx1"/>
          </a:solidFill>
          <a:uFill>
            <a:solidFill>
              <a:srgbClr val="000000"/>
            </a:solidFill>
          </a:uFill>
          <a:latin typeface="+mn-lt"/>
          <a:ea typeface="+mn-ea"/>
          <a:cs typeface="+mn-cs"/>
          <a:sym typeface="Times New Rom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omments" Target="../comments/commen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omments" Target="../comments/commen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omments" Target="../comments/comment3.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4.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5.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6.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7.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查找(search)问题"/>
          <p:cNvSpPr txBox="1"/>
          <p:nvPr>
            <p:ph type="title"/>
          </p:nvPr>
        </p:nvSpPr>
        <p:spPr>
          <a:prstGeom prst="rect">
            <a:avLst/>
          </a:prstGeom>
        </p:spPr>
        <p:txBody>
          <a:bodyPr/>
          <a:lstStyle/>
          <a:p>
            <a:pPr/>
            <a:r>
              <a:t>查找(search)问题</a:t>
            </a:r>
          </a:p>
        </p:txBody>
      </p:sp>
      <p:sp>
        <p:nvSpPr>
          <p:cNvPr id="96" name="给定一组数据：…"/>
          <p:cNvSpPr txBox="1"/>
          <p:nvPr/>
        </p:nvSpPr>
        <p:spPr>
          <a:xfrm>
            <a:off x="776287" y="1196975"/>
            <a:ext cx="7924801" cy="12538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0" defTabSz="914400">
              <a:lnSpc>
                <a:spcPct val="140000"/>
              </a:lnSpc>
            </a:pPr>
            <a:r>
              <a:t>给定一组数据：</a:t>
            </a:r>
          </a:p>
          <a:p>
            <a:pPr indent="0" defTabSz="914400">
              <a:lnSpc>
                <a:spcPct val="140000"/>
              </a:lnSpc>
            </a:pPr>
            <a:r>
              <a:t>                                     D = {d</a:t>
            </a:r>
            <a:r>
              <a:rPr baseline="-5999"/>
              <a:t>1</a:t>
            </a:r>
            <a:r>
              <a:t>, d</a:t>
            </a:r>
            <a:r>
              <a:rPr baseline="-5999"/>
              <a:t>2</a:t>
            </a:r>
            <a:r>
              <a:t>, ..., d</a:t>
            </a:r>
            <a:r>
              <a:rPr baseline="-5999"/>
              <a:t>n</a:t>
            </a:r>
            <a:r>
              <a:t>}</a:t>
            </a:r>
          </a:p>
        </p:txBody>
      </p:sp>
      <p:sp>
        <p:nvSpPr>
          <p:cNvPr id="97" name="找到所需要的某个数据元素"/>
          <p:cNvSpPr txBox="1"/>
          <p:nvPr/>
        </p:nvSpPr>
        <p:spPr>
          <a:xfrm>
            <a:off x="742950" y="2806700"/>
            <a:ext cx="8077200" cy="624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0" defTabSz="914400">
              <a:lnSpc>
                <a:spcPct val="140000"/>
              </a:lnSpc>
            </a:lvl1pPr>
          </a:lstStyle>
          <a:p>
            <a:pPr/>
            <a:r>
              <a:t>找到所需要的某个数据元素</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查找依据"/>
          <p:cNvSpPr txBox="1"/>
          <p:nvPr>
            <p:ph type="title"/>
          </p:nvPr>
        </p:nvSpPr>
        <p:spPr>
          <a:prstGeom prst="rect">
            <a:avLst/>
          </a:prstGeom>
        </p:spPr>
        <p:txBody>
          <a:bodyPr/>
          <a:lstStyle/>
          <a:p>
            <a:pPr/>
            <a:r>
              <a:t>查找依据</a:t>
            </a:r>
          </a:p>
        </p:txBody>
      </p:sp>
      <p:sp>
        <p:nvSpPr>
          <p:cNvPr id="100" name="key：数据元素的某个数据项，其值具有唯一性，用以标识数据元素。"/>
          <p:cNvSpPr txBox="1"/>
          <p:nvPr/>
        </p:nvSpPr>
        <p:spPr>
          <a:xfrm>
            <a:off x="915987" y="1555750"/>
            <a:ext cx="11172826" cy="624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0" defTabSz="914400">
              <a:lnSpc>
                <a:spcPct val="120000"/>
              </a:lnSpc>
              <a:defRPr b="1"/>
            </a:pPr>
            <a:r>
              <a:t>key</a:t>
            </a:r>
            <a:r>
              <a:rPr b="0"/>
              <a:t>：</a:t>
            </a:r>
            <a:r>
              <a:rPr b="0" sz="2800"/>
              <a:t>数据元素的某个数据项，其值具有</a:t>
            </a:r>
            <a:r>
              <a:rPr b="0" sz="2800">
                <a:solidFill>
                  <a:srgbClr val="660033"/>
                </a:solidFill>
              </a:rPr>
              <a:t>唯一性</a:t>
            </a:r>
            <a:r>
              <a:rPr b="0" sz="2800"/>
              <a:t>，用以</a:t>
            </a:r>
            <a:r>
              <a:rPr b="0" sz="2800">
                <a:solidFill>
                  <a:srgbClr val="660033"/>
                </a:solidFill>
              </a:rPr>
              <a:t>标识</a:t>
            </a:r>
            <a:r>
              <a:rPr b="0" sz="2800"/>
              <a:t>数据元素。</a:t>
            </a:r>
          </a:p>
        </p:txBody>
      </p:sp>
      <p:sp>
        <p:nvSpPr>
          <p:cNvPr id="101" name="key: 码、键、关键字"/>
          <p:cNvSpPr txBox="1"/>
          <p:nvPr/>
        </p:nvSpPr>
        <p:spPr>
          <a:xfrm>
            <a:off x="895350" y="2709862"/>
            <a:ext cx="4505051"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0" defTabSz="914400">
              <a:lnSpc>
                <a:spcPct val="120000"/>
              </a:lnSpc>
              <a:defRPr b="1"/>
            </a:pPr>
            <a:r>
              <a:t>key: </a:t>
            </a:r>
            <a:r>
              <a:rPr b="0"/>
              <a:t>码、键、关键字</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查找问题"/>
          <p:cNvSpPr txBox="1"/>
          <p:nvPr>
            <p:ph type="title"/>
          </p:nvPr>
        </p:nvSpPr>
        <p:spPr>
          <a:prstGeom prst="rect">
            <a:avLst/>
          </a:prstGeom>
        </p:spPr>
        <p:txBody>
          <a:bodyPr/>
          <a:lstStyle/>
          <a:p>
            <a:pPr/>
            <a:r>
              <a:t>查找问题</a:t>
            </a:r>
          </a:p>
        </p:txBody>
      </p:sp>
      <p:sp>
        <p:nvSpPr>
          <p:cNvPr id="104" name="给定一组数据(&lt;key, value&gt;)："/>
          <p:cNvSpPr txBox="1"/>
          <p:nvPr/>
        </p:nvSpPr>
        <p:spPr>
          <a:xfrm>
            <a:off x="518194" y="1149771"/>
            <a:ext cx="11968412"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0" defTabSz="914400">
              <a:lnSpc>
                <a:spcPct val="140000"/>
              </a:lnSpc>
            </a:lvl1pPr>
          </a:lstStyle>
          <a:p>
            <a:pPr/>
            <a:r>
              <a:t>给定一组数据(&lt;key, value&gt;)：                           </a:t>
            </a:r>
          </a:p>
        </p:txBody>
      </p:sp>
      <p:sp>
        <p:nvSpPr>
          <p:cNvPr id="105" name="查找ki = k 的数据元素，返回其值vi"/>
          <p:cNvSpPr txBox="1"/>
          <p:nvPr/>
        </p:nvSpPr>
        <p:spPr>
          <a:xfrm>
            <a:off x="505883" y="2925231"/>
            <a:ext cx="8077201"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0" defTabSz="914400">
              <a:lnSpc>
                <a:spcPct val="140000"/>
              </a:lnSpc>
            </a:pPr>
            <a:r>
              <a:t>查找k</a:t>
            </a:r>
            <a:r>
              <a:rPr baseline="-5999"/>
              <a:t>i</a:t>
            </a:r>
            <a:r>
              <a:t> = k 的数据元素，返回其值v</a:t>
            </a:r>
            <a:r>
              <a:rPr baseline="-5999"/>
              <a:t>i</a:t>
            </a:r>
          </a:p>
        </p:txBody>
      </p:sp>
      <p:sp>
        <p:nvSpPr>
          <p:cNvPr id="106" name="Shape 87"/>
          <p:cNvSpPr txBox="1"/>
          <p:nvPr/>
        </p:nvSpPr>
        <p:spPr>
          <a:xfrm>
            <a:off x="2146823" y="2001497"/>
            <a:ext cx="8711154" cy="61557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lstStyle/>
          <a:p>
            <a:pPr marR="57798" defTabSz="1295400">
              <a:lnSpc>
                <a:spcPct val="130000"/>
              </a:lnSpc>
              <a:defRPr sz="3600">
                <a:uFill>
                  <a:solidFill>
                    <a:srgbClr val="000000"/>
                  </a:solidFill>
                </a:uFill>
              </a:defRPr>
            </a:pPr>
            <a:r>
              <a:t>D = {&lt;k</a:t>
            </a:r>
            <a:r>
              <a:rPr baseline="-5998"/>
              <a:t>1</a:t>
            </a:r>
            <a:r>
              <a:t>,v</a:t>
            </a:r>
            <a:r>
              <a:rPr baseline="-5998"/>
              <a:t>1</a:t>
            </a:r>
            <a:r>
              <a:t>&gt;, &lt;k</a:t>
            </a:r>
            <a:r>
              <a:rPr baseline="-5998"/>
              <a:t>2</a:t>
            </a:r>
            <a:r>
              <a:t>,v</a:t>
            </a:r>
            <a:r>
              <a:rPr baseline="-5998"/>
              <a:t>2</a:t>
            </a:r>
            <a:r>
              <a:t>&gt;, …, &lt;k</a:t>
            </a:r>
            <a:r>
              <a:rPr baseline="-5998"/>
              <a:t>n</a:t>
            </a:r>
            <a:r>
              <a:t>, v</a:t>
            </a:r>
            <a:r>
              <a:rPr baseline="-5998"/>
              <a:t>n</a:t>
            </a:r>
            <a:r>
              <a:t>&gt;}</a:t>
            </a:r>
          </a:p>
        </p:txBody>
      </p:sp>
      <p:sp>
        <p:nvSpPr>
          <p:cNvPr id="107" name="D：字典，查找表…"/>
          <p:cNvSpPr txBox="1"/>
          <p:nvPr/>
        </p:nvSpPr>
        <p:spPr>
          <a:xfrm>
            <a:off x="495616" y="4377682"/>
            <a:ext cx="7378435" cy="21507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indent="0" defTabSz="914400">
              <a:lnSpc>
                <a:spcPct val="140000"/>
              </a:lnSpc>
            </a:pPr>
            <a:r>
              <a:t>D：字典，查找表       </a:t>
            </a:r>
          </a:p>
          <a:p>
            <a:pPr lvl="1" marL="681789" indent="-300789" defTabSz="914400">
              <a:lnSpc>
                <a:spcPct val="140000"/>
              </a:lnSpc>
              <a:buSzPct val="60000"/>
              <a:buBlip>
                <a:blip r:embed="rId2"/>
              </a:buBlip>
            </a:pPr>
            <a:r>
              <a:t>静态：D不发生变化(增加、删除)</a:t>
            </a:r>
          </a:p>
          <a:p>
            <a:pPr lvl="1" marL="681789" indent="-300789" defTabSz="914400">
              <a:lnSpc>
                <a:spcPct val="140000"/>
              </a:lnSpc>
              <a:buSzPct val="60000"/>
              <a:buBlip>
                <a:blip r:embed="rId2"/>
              </a:buBlip>
            </a:pPr>
            <a:r>
              <a:t>动态：D发生变化(增加、删除)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静态查找的实现"/>
          <p:cNvSpPr txBox="1"/>
          <p:nvPr>
            <p:ph type="title"/>
          </p:nvPr>
        </p:nvSpPr>
        <p:spPr>
          <a:prstGeom prst="rect">
            <a:avLst/>
          </a:prstGeom>
        </p:spPr>
        <p:txBody>
          <a:bodyPr/>
          <a:lstStyle/>
          <a:p>
            <a:pPr/>
            <a:r>
              <a:t>静态查找的实现</a:t>
            </a:r>
          </a:p>
        </p:txBody>
      </p:sp>
      <p:sp>
        <p:nvSpPr>
          <p:cNvPr id="110" name="使用数组存储数据元素，数组是一个线性结构，具有先后关系"/>
          <p:cNvSpPr txBox="1"/>
          <p:nvPr/>
        </p:nvSpPr>
        <p:spPr>
          <a:xfrm>
            <a:off x="407981" y="1600622"/>
            <a:ext cx="1045910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R="57798" defTabSz="1295400">
              <a:spcBef>
                <a:spcPts val="1900"/>
              </a:spcBef>
              <a:defRPr>
                <a:uFill>
                  <a:solidFill>
                    <a:srgbClr val="000000"/>
                  </a:solidFill>
                </a:uFill>
              </a:defRPr>
            </a:lvl1pPr>
          </a:lstStyle>
          <a:p>
            <a:pPr/>
            <a:r>
              <a:t>使用数组存储数据元素，数组是一个线性结构，具有先后关系</a:t>
            </a:r>
          </a:p>
        </p:txBody>
      </p:sp>
      <p:sp>
        <p:nvSpPr>
          <p:cNvPr id="111" name="D的数据元素没有先后关系，如何将D的数据元素存入数组？…"/>
          <p:cNvSpPr txBox="1"/>
          <p:nvPr/>
        </p:nvSpPr>
        <p:spPr>
          <a:xfrm>
            <a:off x="386781" y="2663610"/>
            <a:ext cx="10284843" cy="221677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R="57798" indent="0" defTabSz="1295400">
              <a:spcBef>
                <a:spcPts val="1900"/>
              </a:spcBef>
              <a:defRPr>
                <a:uFill>
                  <a:solidFill>
                    <a:srgbClr val="000000"/>
                  </a:solidFill>
                </a:uFill>
              </a:defRPr>
            </a:pPr>
            <a:r>
              <a:t> D的数据元素没有先后关系，如何将D的数据元素存入数组？</a:t>
            </a:r>
          </a:p>
          <a:p>
            <a:pPr lvl="1" marL="631657" marR="57798" indent="-250657" defTabSz="1295400">
              <a:spcBef>
                <a:spcPts val="1900"/>
              </a:spcBef>
              <a:buSzPct val="60000"/>
              <a:buBlip>
                <a:blip r:embed="rId2"/>
              </a:buBlip>
              <a:defRPr>
                <a:uFill>
                  <a:solidFill>
                    <a:srgbClr val="000000"/>
                  </a:solidFill>
                </a:uFill>
              </a:defRPr>
            </a:pPr>
            <a:r>
              <a:t>随意： 顺序查找</a:t>
            </a:r>
          </a:p>
          <a:p>
            <a:pPr lvl="1" marL="631657" marR="57798" indent="-250657" defTabSz="1295400">
              <a:spcBef>
                <a:spcPts val="1900"/>
              </a:spcBef>
              <a:buSzPct val="60000"/>
              <a:buBlip>
                <a:blip r:embed="rId2"/>
              </a:buBlip>
              <a:defRPr>
                <a:uFill>
                  <a:solidFill>
                    <a:srgbClr val="000000"/>
                  </a:solidFill>
                </a:uFill>
              </a:defRPr>
            </a:pPr>
            <a:r>
              <a:t>按大小：折半(二分)查找</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顺序查找"/>
          <p:cNvSpPr txBox="1"/>
          <p:nvPr/>
        </p:nvSpPr>
        <p:spPr>
          <a:xfrm>
            <a:off x="1144128" y="444217"/>
            <a:ext cx="10798052" cy="893799"/>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spAutoFit/>
          </a:bodyPr>
          <a:lstStyle>
            <a:lvl1pPr marR="57798" indent="0" algn="ctr" defTabSz="1295400">
              <a:buFont typeface="Helvetica"/>
              <a:defRPr sz="4200">
                <a:uFill>
                  <a:solidFill>
                    <a:srgbClr val="000000"/>
                  </a:solidFill>
                </a:uFill>
                <a:latin typeface="Arial Black"/>
                <a:ea typeface="Arial Black"/>
                <a:cs typeface="Arial Black"/>
                <a:sym typeface="Arial Black"/>
              </a:defRPr>
            </a:lvl1pPr>
          </a:lstStyle>
          <a:p>
            <a:pPr/>
            <a:r>
              <a:t>顺序查找</a:t>
            </a:r>
          </a:p>
        </p:txBody>
      </p:sp>
      <p:graphicFrame>
        <p:nvGraphicFramePr>
          <p:cNvPr id="114" name="表格"/>
          <p:cNvGraphicFramePr/>
          <p:nvPr/>
        </p:nvGraphicFramePr>
        <p:xfrm>
          <a:off x="1277902" y="3811467"/>
          <a:ext cx="10476090" cy="111985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09511"/>
                <a:gridCol w="1309511"/>
                <a:gridCol w="1309511"/>
                <a:gridCol w="1309511"/>
                <a:gridCol w="1309511"/>
                <a:gridCol w="1309511"/>
                <a:gridCol w="1309511"/>
                <a:gridCol w="1309511"/>
              </a:tblGrid>
              <a:tr h="1119857">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a[0]</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a[1]</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a[2]</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a[3]</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a[4]</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a[5]</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a[6]</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a[7]</a:t>
                      </a:r>
                    </a:p>
                  </a:txBody>
                  <a:tcPr marL="50800" marR="50800" marT="50800" marB="50800" anchor="t" anchorCtr="0" horzOverflow="overflow">
                    <a:lnL w="3175">
                      <a:miter lim="400000"/>
                    </a:lnL>
                    <a:lnR w="3175">
                      <a:miter lim="400000"/>
                    </a:lnR>
                    <a:lnT w="3175">
                      <a:miter lim="400000"/>
                    </a:lnT>
                    <a:lnB w="3175">
                      <a:miter lim="400000"/>
                    </a:lnB>
                    <a:noFill/>
                  </a:tcPr>
                </a:tc>
              </a:tr>
            </a:tbl>
          </a:graphicData>
        </a:graphic>
      </p:graphicFrame>
      <p:graphicFrame>
        <p:nvGraphicFramePr>
          <p:cNvPr id="115" name="表格"/>
          <p:cNvGraphicFramePr/>
          <p:nvPr/>
        </p:nvGraphicFramePr>
        <p:xfrm>
          <a:off x="1205653" y="2420676"/>
          <a:ext cx="10476090" cy="1119858"/>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05939"/>
                <a:gridCol w="1305939"/>
                <a:gridCol w="1305939"/>
                <a:gridCol w="1305939"/>
                <a:gridCol w="1305939"/>
                <a:gridCol w="1305939"/>
                <a:gridCol w="1305939"/>
                <a:gridCol w="1305939"/>
              </a:tblGrid>
              <a:tr h="1091282">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78</a:t>
                      </a:r>
                    </a:p>
                  </a:txBody>
                  <a:tcPr marL="50800" marR="50800" marT="50800" marB="50800" anchor="ctr" anchorCtr="0" horzOverflow="overflow">
                    <a:lnL w="381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167</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56</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179</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90</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112</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68</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81</a:t>
                      </a:r>
                    </a:p>
                  </a:txBody>
                  <a:tcPr marL="50800" marR="50800" marT="50800" marB="50800" anchor="ctr" anchorCtr="0" horzOverflow="overflow">
                    <a:lnL w="127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public int sequentialSearch(int a[],int x){…"/>
          <p:cNvSpPr txBox="1"/>
          <p:nvPr/>
        </p:nvSpPr>
        <p:spPr>
          <a:xfrm>
            <a:off x="401489" y="1540198"/>
            <a:ext cx="11949692" cy="4855621"/>
          </a:xfrm>
          <a:prstGeom prst="rect">
            <a:avLst/>
          </a:prstGeom>
          <a:ln w="12700">
            <a:miter lim="400000"/>
          </a:ln>
          <a:extLst>
            <a:ext uri="{C572A759-6A51-4108-AA02-DFA0A04FC94B}">
              <ma14:wrappingTextBoxFlag xmlns:ma14="http://schemas.microsoft.com/office/mac/drawingml/2011/main" val="1"/>
            </a:ext>
          </a:extLst>
        </p:spPr>
        <p:txBody>
          <a:bodyPr wrap="none" lIns="72248" tIns="72248" rIns="72248" bIns="72248" anchor="ctr">
            <a:spAutoFit/>
          </a:bodyPr>
          <a:lstStyle/>
          <a:p>
            <a:pPr indent="0" defTabSz="650240">
              <a:lnSpc>
                <a:spcPct val="120000"/>
              </a:lnSpc>
              <a:defRPr sz="3400">
                <a:latin typeface="Monaco"/>
                <a:ea typeface="Monaco"/>
                <a:cs typeface="Monaco"/>
                <a:sym typeface="Monaco"/>
              </a:defRPr>
            </a:pPr>
            <a:r>
              <a:t>	</a:t>
            </a:r>
            <a:r>
              <a:rPr>
                <a:solidFill>
                  <a:srgbClr val="931A68"/>
                </a:solidFill>
              </a:rPr>
              <a:t>public</a:t>
            </a:r>
            <a:r>
              <a:t> </a:t>
            </a:r>
            <a:r>
              <a:rPr>
                <a:solidFill>
                  <a:srgbClr val="931A68"/>
                </a:solidFill>
              </a:rPr>
              <a:t>int</a:t>
            </a:r>
            <a:r>
              <a:t> sequentialSearch(</a:t>
            </a:r>
            <a:r>
              <a:rPr>
                <a:solidFill>
                  <a:srgbClr val="931A68"/>
                </a:solidFill>
              </a:rPr>
              <a:t>int</a:t>
            </a:r>
            <a:r>
              <a:t> </a:t>
            </a:r>
            <a:r>
              <a:rPr>
                <a:solidFill>
                  <a:srgbClr val="7E504F"/>
                </a:solidFill>
              </a:rPr>
              <a:t>a</a:t>
            </a:r>
            <a:r>
              <a:t>[],</a:t>
            </a:r>
            <a:r>
              <a:rPr>
                <a:solidFill>
                  <a:srgbClr val="931A68"/>
                </a:solidFill>
              </a:rPr>
              <a:t>int</a:t>
            </a:r>
            <a:r>
              <a:t> </a:t>
            </a:r>
            <a:r>
              <a:rPr>
                <a:solidFill>
                  <a:srgbClr val="7E504F"/>
                </a:solidFill>
              </a:rPr>
              <a:t>x</a:t>
            </a:r>
            <a:r>
              <a:t>){</a:t>
            </a:r>
          </a:p>
          <a:p>
            <a:pPr indent="0" defTabSz="650240">
              <a:lnSpc>
                <a:spcPct val="120000"/>
              </a:lnSpc>
              <a:defRPr sz="3400">
                <a:latin typeface="Monaco"/>
                <a:ea typeface="Monaco"/>
                <a:cs typeface="Monaco"/>
                <a:sym typeface="Monaco"/>
              </a:defRPr>
            </a:pPr>
            <a:r>
              <a:t>		</a:t>
            </a:r>
            <a:r>
              <a:rPr>
                <a:solidFill>
                  <a:srgbClr val="931A68"/>
                </a:solidFill>
              </a:rPr>
              <a:t>for</a:t>
            </a:r>
            <a:r>
              <a:t>(</a:t>
            </a:r>
            <a:r>
              <a:rPr>
                <a:solidFill>
                  <a:srgbClr val="931A68"/>
                </a:solidFill>
              </a:rPr>
              <a:t>int</a:t>
            </a:r>
            <a:r>
              <a:t> </a:t>
            </a:r>
            <a:r>
              <a:rPr>
                <a:solidFill>
                  <a:srgbClr val="7E504F"/>
                </a:solidFill>
              </a:rPr>
              <a:t>i</a:t>
            </a:r>
            <a:r>
              <a:t> = 0; </a:t>
            </a:r>
            <a:r>
              <a:rPr>
                <a:solidFill>
                  <a:srgbClr val="7E504F"/>
                </a:solidFill>
              </a:rPr>
              <a:t>i</a:t>
            </a:r>
            <a:r>
              <a:t> &lt; </a:t>
            </a:r>
            <a:r>
              <a:rPr>
                <a:solidFill>
                  <a:srgbClr val="7E504F"/>
                </a:solidFill>
              </a:rPr>
              <a:t>a</a:t>
            </a:r>
            <a:r>
              <a:t>.</a:t>
            </a:r>
            <a:r>
              <a:rPr>
                <a:solidFill>
                  <a:srgbClr val="0326CC"/>
                </a:solidFill>
              </a:rPr>
              <a:t>length</a:t>
            </a:r>
            <a:r>
              <a:t>; ++i){</a:t>
            </a:r>
          </a:p>
          <a:p>
            <a:pPr indent="0" defTabSz="650240">
              <a:lnSpc>
                <a:spcPct val="120000"/>
              </a:lnSpc>
              <a:defRPr sz="3400">
                <a:solidFill>
                  <a:srgbClr val="931A68"/>
                </a:solidFill>
                <a:latin typeface="Monaco"/>
                <a:ea typeface="Monaco"/>
                <a:cs typeface="Monaco"/>
                <a:sym typeface="Monaco"/>
              </a:defRPr>
            </a:pPr>
            <a:r>
              <a:rPr>
                <a:solidFill>
                  <a:srgbClr val="000000"/>
                </a:solidFill>
              </a:rPr>
              <a:t>			</a:t>
            </a:r>
            <a:r>
              <a:t>if</a:t>
            </a:r>
            <a:r>
              <a:rPr>
                <a:solidFill>
                  <a:srgbClr val="000000"/>
                </a:solidFill>
              </a:rPr>
              <a:t>(</a:t>
            </a:r>
            <a:r>
              <a:rPr>
                <a:solidFill>
                  <a:srgbClr val="7E504F"/>
                </a:solidFill>
              </a:rPr>
              <a:t>x</a:t>
            </a:r>
            <a:r>
              <a:rPr>
                <a:solidFill>
                  <a:srgbClr val="000000"/>
                </a:solidFill>
              </a:rPr>
              <a:t> == </a:t>
            </a:r>
            <a:r>
              <a:rPr>
                <a:solidFill>
                  <a:srgbClr val="7E504F"/>
                </a:solidFill>
              </a:rPr>
              <a:t>a</a:t>
            </a:r>
            <a:r>
              <a:rPr>
                <a:solidFill>
                  <a:srgbClr val="000000"/>
                </a:solidFill>
              </a:rPr>
              <a:t>[</a:t>
            </a:r>
            <a:r>
              <a:rPr>
                <a:solidFill>
                  <a:srgbClr val="7E504F"/>
                </a:solidFill>
              </a:rPr>
              <a:t>i</a:t>
            </a:r>
            <a:r>
              <a:rPr>
                <a:solidFill>
                  <a:srgbClr val="000000"/>
                </a:solidFill>
              </a:rPr>
              <a:t>]) </a:t>
            </a:r>
            <a:endParaRPr>
              <a:solidFill>
                <a:srgbClr val="000000"/>
              </a:solidFill>
            </a:endParaRPr>
          </a:p>
          <a:p>
            <a:pPr indent="0" defTabSz="650240">
              <a:lnSpc>
                <a:spcPct val="120000"/>
              </a:lnSpc>
              <a:defRPr sz="34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i</a:t>
            </a:r>
            <a:r>
              <a:rPr>
                <a:solidFill>
                  <a:srgbClr val="000000"/>
                </a:solidFill>
              </a:rPr>
              <a:t>;</a:t>
            </a:r>
            <a:endParaRPr>
              <a:solidFill>
                <a:srgbClr val="000000"/>
              </a:solidFill>
            </a:endParaRPr>
          </a:p>
          <a:p>
            <a:pPr indent="0" defTabSz="650240">
              <a:lnSpc>
                <a:spcPct val="120000"/>
              </a:lnSpc>
              <a:defRPr sz="3400">
                <a:latin typeface="Monaco"/>
                <a:ea typeface="Monaco"/>
                <a:cs typeface="Monaco"/>
                <a:sym typeface="Monaco"/>
              </a:defRPr>
            </a:pPr>
            <a:r>
              <a:t>		}</a:t>
            </a:r>
          </a:p>
          <a:p>
            <a:pPr indent="0" defTabSz="650240">
              <a:lnSpc>
                <a:spcPct val="120000"/>
              </a:lnSpc>
              <a:defRPr sz="3400">
                <a:solidFill>
                  <a:srgbClr val="931A68"/>
                </a:solidFill>
                <a:latin typeface="Monaco"/>
                <a:ea typeface="Monaco"/>
                <a:cs typeface="Monaco"/>
                <a:sym typeface="Monaco"/>
              </a:defRPr>
            </a:pPr>
            <a:r>
              <a:rPr>
                <a:solidFill>
                  <a:srgbClr val="000000"/>
                </a:solidFill>
              </a:rPr>
              <a:t>		</a:t>
            </a:r>
            <a:r>
              <a:t>return</a:t>
            </a:r>
            <a:r>
              <a:rPr>
                <a:solidFill>
                  <a:srgbClr val="000000"/>
                </a:solidFill>
              </a:rPr>
              <a:t> -1;</a:t>
            </a:r>
            <a:endParaRPr>
              <a:solidFill>
                <a:srgbClr val="000000"/>
              </a:solidFill>
            </a:endParaRPr>
          </a:p>
          <a:p>
            <a:pPr indent="0" defTabSz="650240">
              <a:lnSpc>
                <a:spcPct val="120000"/>
              </a:lnSpc>
              <a:defRPr sz="3400">
                <a:latin typeface="Monaco"/>
                <a:ea typeface="Monaco"/>
                <a:cs typeface="Monaco"/>
                <a:sym typeface="Monaco"/>
              </a:defRPr>
            </a:pPr>
            <a:r>
              <a:t>	}</a:t>
            </a:r>
          </a:p>
        </p:txBody>
      </p:sp>
      <p:sp>
        <p:nvSpPr>
          <p:cNvPr id="118" name="顺序查找"/>
          <p:cNvSpPr txBox="1"/>
          <p:nvPr/>
        </p:nvSpPr>
        <p:spPr>
          <a:xfrm>
            <a:off x="1144128" y="444217"/>
            <a:ext cx="10798052" cy="893799"/>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spAutoFit/>
          </a:bodyPr>
          <a:lstStyle>
            <a:lvl1pPr marR="57798" indent="0" algn="ctr" defTabSz="1295400">
              <a:buFont typeface="Helvetica"/>
              <a:defRPr sz="4200">
                <a:uFill>
                  <a:solidFill>
                    <a:srgbClr val="000000"/>
                  </a:solidFill>
                </a:uFill>
                <a:latin typeface="Arial Black"/>
                <a:ea typeface="Arial Black"/>
                <a:cs typeface="Arial Black"/>
                <a:sym typeface="Arial Black"/>
              </a:defRPr>
            </a:lvl1pPr>
          </a:lstStyle>
          <a:p>
            <a:pPr/>
            <a:r>
              <a:t>顺序查找</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折半查找"/>
          <p:cNvSpPr txBox="1"/>
          <p:nvPr>
            <p:ph type="title"/>
          </p:nvPr>
        </p:nvSpPr>
        <p:spPr>
          <a:prstGeom prst="rect">
            <a:avLst/>
          </a:prstGeom>
        </p:spPr>
        <p:txBody>
          <a:bodyPr/>
          <a:lstStyle/>
          <a:p>
            <a:pPr/>
            <a:r>
              <a:t>折半查找</a:t>
            </a:r>
          </a:p>
        </p:txBody>
      </p:sp>
      <p:graphicFrame>
        <p:nvGraphicFramePr>
          <p:cNvPr id="121" name="表格"/>
          <p:cNvGraphicFramePr/>
          <p:nvPr/>
        </p:nvGraphicFramePr>
        <p:xfrm>
          <a:off x="1293706" y="3495830"/>
          <a:ext cx="10476090" cy="111985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09511"/>
                <a:gridCol w="1309511"/>
                <a:gridCol w="1309511"/>
                <a:gridCol w="1309511"/>
                <a:gridCol w="1309511"/>
                <a:gridCol w="1309511"/>
                <a:gridCol w="1309511"/>
                <a:gridCol w="1309511"/>
              </a:tblGrid>
              <a:tr h="1119857">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a[0]</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a[1]</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a[2]</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a[3]</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a[4]</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a[5]</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a[6]</a:t>
                      </a:r>
                    </a:p>
                  </a:txBody>
                  <a:tcPr marL="50800" marR="50800" marT="50800" marB="50800" anchor="t" anchorCtr="0" horzOverflow="overflow">
                    <a:lnL w="3175">
                      <a:miter lim="400000"/>
                    </a:lnL>
                    <a:lnR w="3175">
                      <a:miter lim="400000"/>
                    </a:lnR>
                    <a:lnT w="3175">
                      <a:miter lim="400000"/>
                    </a:lnT>
                    <a:lnB w="3175">
                      <a:miter lim="400000"/>
                    </a:lnB>
                    <a:noFill/>
                  </a:tcPr>
                </a:tc>
                <a:tc>
                  <a:txBody>
                    <a:bodyPr/>
                    <a:lstStyle/>
                    <a:p>
                      <a:pPr marR="57799" algn="l"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a[7]</a:t>
                      </a:r>
                    </a:p>
                  </a:txBody>
                  <a:tcPr marL="50800" marR="50800" marT="50800" marB="50800" anchor="t" anchorCtr="0" horzOverflow="overflow">
                    <a:lnL w="3175">
                      <a:miter lim="400000"/>
                    </a:lnL>
                    <a:lnR w="3175">
                      <a:miter lim="400000"/>
                    </a:lnR>
                    <a:lnT w="3175">
                      <a:miter lim="400000"/>
                    </a:lnT>
                    <a:lnB w="3175">
                      <a:miter lim="400000"/>
                    </a:lnB>
                    <a:noFill/>
                  </a:tcPr>
                </a:tc>
              </a:tr>
            </a:tbl>
          </a:graphicData>
        </a:graphic>
      </p:graphicFrame>
      <p:graphicFrame>
        <p:nvGraphicFramePr>
          <p:cNvPr id="122" name="表格"/>
          <p:cNvGraphicFramePr/>
          <p:nvPr/>
        </p:nvGraphicFramePr>
        <p:xfrm>
          <a:off x="1221457" y="2105038"/>
          <a:ext cx="10476090" cy="111985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05939"/>
                <a:gridCol w="1305939"/>
                <a:gridCol w="1305939"/>
                <a:gridCol w="1305939"/>
                <a:gridCol w="1305939"/>
                <a:gridCol w="1305939"/>
                <a:gridCol w="1305939"/>
                <a:gridCol w="1305939"/>
              </a:tblGrid>
              <a:tr h="1091282">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56</a:t>
                      </a:r>
                    </a:p>
                  </a:txBody>
                  <a:tcPr marL="50800" marR="50800" marT="50800" marB="50800" anchor="ctr" anchorCtr="0" horzOverflow="overflow">
                    <a:lnL w="381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68</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78</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81</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90</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112</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167</a:t>
                      </a:r>
                    </a:p>
                  </a:txBody>
                  <a:tcPr marL="50800" marR="50800" marT="50800" marB="50800" anchor="ctr" anchorCtr="0" horzOverflow="overflow">
                    <a:lnL w="12700">
                      <a:solidFill>
                        <a:srgbClr val="000000"/>
                      </a:solidFill>
                      <a:miter lim="400000"/>
                    </a:lnL>
                    <a:lnR w="12700">
                      <a:solidFill>
                        <a:srgbClr val="000000"/>
                      </a:solidFill>
                      <a:miter lim="400000"/>
                    </a:lnR>
                    <a:lnT w="38100">
                      <a:solidFill>
                        <a:srgbClr val="000000"/>
                      </a:solidFill>
                      <a:miter lim="400000"/>
                    </a:lnT>
                    <a:lnB w="38100">
                      <a:solidFill>
                        <a:srgbClr val="000000"/>
                      </a:solidFill>
                      <a:miter lim="400000"/>
                    </a:lnB>
                    <a:noFill/>
                  </a:tcPr>
                </a:tc>
                <a:tc>
                  <a:txBody>
                    <a:bodyPr/>
                    <a:lstStyle/>
                    <a:p>
                      <a:pPr marR="57799" defTabSz="1300480">
                        <a:spcBef>
                          <a:spcPts val="900"/>
                        </a:spcBef>
                        <a:tabLst>
                          <a:tab pos="1295400" algn="l"/>
                        </a:tabLst>
                        <a:defRPr sz="1800">
                          <a:uFillTx/>
                        </a:defRPr>
                      </a:pPr>
                      <a:r>
                        <a:rPr sz="3800">
                          <a:uFill>
                            <a:solidFill>
                              <a:srgbClr val="000000"/>
                            </a:solidFill>
                          </a:uFill>
                          <a:latin typeface="Tahoma"/>
                          <a:ea typeface="Tahoma"/>
                          <a:cs typeface="Tahoma"/>
                          <a:sym typeface="Tahoma"/>
                        </a:rPr>
                        <a:t>179</a:t>
                      </a:r>
                    </a:p>
                  </a:txBody>
                  <a:tcPr marL="50800" marR="50800" marT="50800" marB="50800" anchor="ctr" anchorCtr="0" horzOverflow="overflow">
                    <a:lnL w="12700">
                      <a:solidFill>
                        <a:srgbClr val="000000"/>
                      </a:solidFill>
                      <a:miter lim="400000"/>
                    </a:lnL>
                    <a:lnR w="38100">
                      <a:solidFill>
                        <a:srgbClr val="000000"/>
                      </a:solidFill>
                      <a:miter lim="400000"/>
                    </a:lnR>
                    <a:lnT w="38100">
                      <a:solidFill>
                        <a:srgbClr val="000000"/>
                      </a:solidFill>
                      <a:miter lim="400000"/>
                    </a:lnT>
                    <a:lnB w="38100">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折半查找"/>
          <p:cNvSpPr txBox="1"/>
          <p:nvPr/>
        </p:nvSpPr>
        <p:spPr>
          <a:xfrm>
            <a:off x="1144128" y="419946"/>
            <a:ext cx="10678256" cy="893799"/>
          </a:xfrm>
          <a:prstGeom prst="rect">
            <a:avLst/>
          </a:prstGeom>
          <a:ln w="12700">
            <a:miter lim="400000"/>
          </a:ln>
          <a:extLst>
            <a:ext uri="{C572A759-6A51-4108-AA02-DFA0A04FC94B}">
              <ma14:wrappingTextBoxFlag xmlns:ma14="http://schemas.microsoft.com/office/mac/drawingml/2011/main" val="1"/>
            </a:ext>
          </a:extLst>
        </p:spPr>
        <p:txBody>
          <a:bodyPr lIns="72248" tIns="72248" rIns="72248" bIns="72248">
            <a:spAutoFit/>
          </a:bodyPr>
          <a:lstStyle>
            <a:lvl1pPr marR="57798" indent="0" algn="ctr" defTabSz="1295400">
              <a:buFont typeface="Helvetica"/>
              <a:defRPr sz="4200">
                <a:uFill>
                  <a:solidFill>
                    <a:srgbClr val="000000"/>
                  </a:solidFill>
                </a:uFill>
                <a:latin typeface="Arial Black"/>
                <a:ea typeface="Arial Black"/>
                <a:cs typeface="Arial Black"/>
                <a:sym typeface="Arial Black"/>
              </a:defRPr>
            </a:lvl1pPr>
          </a:lstStyle>
          <a:p>
            <a:pPr/>
            <a:r>
              <a:t>折半查找</a:t>
            </a:r>
          </a:p>
        </p:txBody>
      </p:sp>
      <p:sp>
        <p:nvSpPr>
          <p:cNvPr id="125" name="public int binarySearch(int a[], int x){…"/>
          <p:cNvSpPr txBox="1"/>
          <p:nvPr/>
        </p:nvSpPr>
        <p:spPr>
          <a:xfrm>
            <a:off x="1529644" y="1798526"/>
            <a:ext cx="9363339" cy="6693408"/>
          </a:xfrm>
          <a:prstGeom prst="rect">
            <a:avLst/>
          </a:prstGeom>
          <a:ln w="12700">
            <a:miter lim="400000"/>
          </a:ln>
          <a:extLst>
            <a:ext uri="{C572A759-6A51-4108-AA02-DFA0A04FC94B}">
              <ma14:wrappingTextBoxFlag xmlns:ma14="http://schemas.microsoft.com/office/mac/drawingml/2011/main" val="1"/>
            </a:ext>
          </a:extLst>
        </p:spPr>
        <p:txBody>
          <a:bodyPr wrap="none" lIns="72248" tIns="72248" rIns="72248" bIns="72248" anchor="ctr">
            <a:spAutoFit/>
          </a:bodyPr>
          <a:lstStyle/>
          <a:p>
            <a:pPr indent="0" defTabSz="650240">
              <a:defRPr sz="2800">
                <a:latin typeface="Monaco"/>
                <a:ea typeface="Monaco"/>
                <a:cs typeface="Monaco"/>
                <a:sym typeface="Monaco"/>
              </a:defRPr>
            </a:pPr>
            <a:r>
              <a:t>	</a:t>
            </a:r>
            <a:r>
              <a:rPr>
                <a:solidFill>
                  <a:srgbClr val="931A68"/>
                </a:solidFill>
              </a:rPr>
              <a:t>public</a:t>
            </a:r>
            <a:r>
              <a:t> </a:t>
            </a:r>
            <a:r>
              <a:rPr>
                <a:solidFill>
                  <a:srgbClr val="931A68"/>
                </a:solidFill>
              </a:rPr>
              <a:t>int</a:t>
            </a:r>
            <a:r>
              <a:t> binarySearch(</a:t>
            </a:r>
            <a:r>
              <a:rPr>
                <a:solidFill>
                  <a:srgbClr val="931A68"/>
                </a:solidFill>
              </a:rPr>
              <a:t>int</a:t>
            </a:r>
            <a:r>
              <a:t> </a:t>
            </a:r>
            <a:r>
              <a:rPr>
                <a:solidFill>
                  <a:srgbClr val="7E504F"/>
                </a:solidFill>
              </a:rPr>
              <a:t>a</a:t>
            </a:r>
            <a:r>
              <a:t>[], </a:t>
            </a:r>
            <a:r>
              <a:rPr>
                <a:solidFill>
                  <a:srgbClr val="931A68"/>
                </a:solidFill>
              </a:rPr>
              <a:t>int</a:t>
            </a:r>
            <a:r>
              <a:t> </a:t>
            </a:r>
            <a:r>
              <a:rPr>
                <a:solidFill>
                  <a:srgbClr val="7E504F"/>
                </a:solidFill>
              </a:rPr>
              <a:t>x</a:t>
            </a:r>
            <a:r>
              <a:t>){</a:t>
            </a:r>
          </a:p>
          <a:p>
            <a:pPr indent="0" defTabSz="650240">
              <a:defRPr sz="2800">
                <a:latin typeface="Monaco"/>
                <a:ea typeface="Monaco"/>
                <a:cs typeface="Monaco"/>
                <a:sym typeface="Monaco"/>
              </a:defRPr>
            </a:pPr>
            <a:r>
              <a:t>		</a:t>
            </a:r>
            <a:r>
              <a:rPr>
                <a:solidFill>
                  <a:srgbClr val="931A68"/>
                </a:solidFill>
              </a:rPr>
              <a:t>int</a:t>
            </a:r>
            <a:r>
              <a:t> </a:t>
            </a:r>
            <a:r>
              <a:rPr>
                <a:solidFill>
                  <a:srgbClr val="7E504F"/>
                </a:solidFill>
              </a:rPr>
              <a:t>p</a:t>
            </a:r>
            <a:r>
              <a:t>, </a:t>
            </a:r>
            <a:r>
              <a:rPr>
                <a:solidFill>
                  <a:srgbClr val="7E504F"/>
                </a:solidFill>
              </a:rPr>
              <a:t>i</a:t>
            </a:r>
            <a:r>
              <a:t> = 0, </a:t>
            </a:r>
            <a:r>
              <a:rPr>
                <a:solidFill>
                  <a:srgbClr val="7E504F"/>
                </a:solidFill>
              </a:rPr>
              <a:t>j</a:t>
            </a:r>
            <a:r>
              <a:t> = </a:t>
            </a:r>
            <a:r>
              <a:rPr>
                <a:solidFill>
                  <a:srgbClr val="7E504F"/>
                </a:solidFill>
              </a:rPr>
              <a:t>a</a:t>
            </a:r>
            <a:r>
              <a:t>.</a:t>
            </a:r>
            <a:r>
              <a:rPr>
                <a:solidFill>
                  <a:srgbClr val="0326CC"/>
                </a:solidFill>
              </a:rPr>
              <a:t>length - 1</a:t>
            </a:r>
            <a:r>
              <a:t>;</a:t>
            </a:r>
          </a:p>
          <a:p>
            <a:pPr indent="0" defTabSz="650240">
              <a:defRPr sz="2800">
                <a:solidFill>
                  <a:srgbClr val="931A68"/>
                </a:solidFill>
                <a:latin typeface="Monaco"/>
                <a:ea typeface="Monaco"/>
                <a:cs typeface="Monaco"/>
                <a:sym typeface="Monaco"/>
              </a:defRPr>
            </a:pPr>
            <a:r>
              <a:rPr>
                <a:solidFill>
                  <a:srgbClr val="000000"/>
                </a:solidFill>
              </a:rPr>
              <a:t>		</a:t>
            </a:r>
            <a:r>
              <a:t>while</a:t>
            </a:r>
            <a:r>
              <a:rPr>
                <a:solidFill>
                  <a:srgbClr val="000000"/>
                </a:solidFill>
              </a:rPr>
              <a:t>(</a:t>
            </a:r>
            <a:r>
              <a:rPr>
                <a:solidFill>
                  <a:srgbClr val="7E504F"/>
                </a:solidFill>
              </a:rPr>
              <a:t>i</a:t>
            </a:r>
            <a:r>
              <a:rPr>
                <a:solidFill>
                  <a:srgbClr val="000000"/>
                </a:solidFill>
              </a:rPr>
              <a:t> &lt;= </a:t>
            </a:r>
            <a:r>
              <a:rPr>
                <a:solidFill>
                  <a:srgbClr val="7E504F"/>
                </a:solidFill>
              </a:rPr>
              <a:t>j</a:t>
            </a:r>
            <a:r>
              <a:rPr>
                <a:solidFill>
                  <a:srgbClr val="000000"/>
                </a:solidFill>
              </a:rPr>
              <a:t>){</a:t>
            </a:r>
            <a:endParaRPr>
              <a:solidFill>
                <a:srgbClr val="000000"/>
              </a:solidFill>
            </a:endParaRPr>
          </a:p>
          <a:p>
            <a:pPr indent="0" defTabSz="650240">
              <a:defRPr sz="2800">
                <a:solidFill>
                  <a:srgbClr val="4E9072"/>
                </a:solidFill>
                <a:latin typeface="Monaco"/>
                <a:ea typeface="Monaco"/>
                <a:cs typeface="Monaco"/>
                <a:sym typeface="Monaco"/>
              </a:defRPr>
            </a:pPr>
            <a:r>
              <a:rPr>
                <a:solidFill>
                  <a:srgbClr val="000000"/>
                </a:solidFill>
              </a:rPr>
              <a:t>			</a:t>
            </a:r>
            <a:r>
              <a:rPr>
                <a:solidFill>
                  <a:srgbClr val="7E504F"/>
                </a:solidFill>
              </a:rPr>
              <a:t>p</a:t>
            </a:r>
            <a:r>
              <a:rPr>
                <a:solidFill>
                  <a:srgbClr val="000000"/>
                </a:solidFill>
              </a:rPr>
              <a:t> = (</a:t>
            </a:r>
            <a:r>
              <a:rPr>
                <a:solidFill>
                  <a:srgbClr val="7E504F"/>
                </a:solidFill>
              </a:rPr>
              <a:t>i</a:t>
            </a:r>
            <a:r>
              <a:rPr>
                <a:solidFill>
                  <a:srgbClr val="000000"/>
                </a:solidFill>
              </a:rPr>
              <a:t> + </a:t>
            </a:r>
            <a:r>
              <a:rPr>
                <a:solidFill>
                  <a:srgbClr val="7E504F"/>
                </a:solidFill>
              </a:rPr>
              <a:t>j</a:t>
            </a:r>
            <a:r>
              <a:rPr>
                <a:solidFill>
                  <a:srgbClr val="000000"/>
                </a:solidFill>
              </a:rPr>
              <a:t>) &gt;&gt; 1;</a:t>
            </a:r>
            <a:r>
              <a:t>// p =(i + j) / 2</a:t>
            </a:r>
            <a:endParaRPr>
              <a:solidFill>
                <a:srgbClr val="000000"/>
              </a:solidFill>
            </a:endParaRPr>
          </a:p>
          <a:p>
            <a:pPr indent="0" defTabSz="650240">
              <a:defRPr sz="2800">
                <a:latin typeface="Monaco"/>
                <a:ea typeface="Monaco"/>
                <a:cs typeface="Monaco"/>
                <a:sym typeface="Monaco"/>
              </a:defRPr>
            </a:pPr>
            <a:r>
              <a:t>			</a:t>
            </a:r>
            <a:r>
              <a:rPr>
                <a:solidFill>
                  <a:srgbClr val="931A68"/>
                </a:solidFill>
              </a:rPr>
              <a:t>int</a:t>
            </a:r>
            <a:r>
              <a:t> </a:t>
            </a:r>
            <a:r>
              <a:rPr>
                <a:solidFill>
                  <a:srgbClr val="7E504F"/>
                </a:solidFill>
              </a:rPr>
              <a:t>tmp</a:t>
            </a:r>
            <a:r>
              <a:t> = </a:t>
            </a:r>
            <a:r>
              <a:rPr>
                <a:solidFill>
                  <a:srgbClr val="7E504F"/>
                </a:solidFill>
              </a:rPr>
              <a:t>a</a:t>
            </a:r>
            <a:r>
              <a:t>[</a:t>
            </a:r>
            <a:r>
              <a:rPr>
                <a:solidFill>
                  <a:srgbClr val="7E504F"/>
                </a:solidFill>
              </a:rPr>
              <a:t>p</a:t>
            </a:r>
            <a:r>
              <a:t>];</a:t>
            </a:r>
          </a:p>
          <a:p>
            <a:pPr indent="0" defTabSz="650240">
              <a:defRPr sz="2800">
                <a:latin typeface="Monaco"/>
                <a:ea typeface="Monaco"/>
                <a:cs typeface="Monaco"/>
                <a:sym typeface="Monaco"/>
              </a:defRPr>
            </a:pPr>
            <a:r>
              <a:t>			</a:t>
            </a:r>
            <a:r>
              <a:rPr>
                <a:solidFill>
                  <a:srgbClr val="931A68"/>
                </a:solidFill>
              </a:rPr>
              <a:t>if</a:t>
            </a:r>
            <a:r>
              <a:t>(</a:t>
            </a:r>
            <a:r>
              <a:rPr>
                <a:solidFill>
                  <a:srgbClr val="7E504F"/>
                </a:solidFill>
              </a:rPr>
              <a:t>x</a:t>
            </a:r>
            <a:r>
              <a:t> &lt; </a:t>
            </a:r>
            <a:r>
              <a:rPr>
                <a:solidFill>
                  <a:srgbClr val="7E504F"/>
                </a:solidFill>
              </a:rPr>
              <a:t>tmp</a:t>
            </a:r>
            <a:r>
              <a:t>)</a:t>
            </a:r>
          </a:p>
          <a:p>
            <a:pPr indent="0" defTabSz="650240">
              <a:defRPr sz="2800">
                <a:latin typeface="Monaco"/>
                <a:ea typeface="Monaco"/>
                <a:cs typeface="Monaco"/>
                <a:sym typeface="Monaco"/>
              </a:defRPr>
            </a:pPr>
            <a:r>
              <a:t>				</a:t>
            </a:r>
            <a:r>
              <a:rPr>
                <a:solidFill>
                  <a:srgbClr val="7E504F"/>
                </a:solidFill>
              </a:rPr>
              <a:t>j</a:t>
            </a:r>
            <a:r>
              <a:t> = </a:t>
            </a:r>
            <a:r>
              <a:rPr>
                <a:solidFill>
                  <a:srgbClr val="7E504F"/>
                </a:solidFill>
              </a:rPr>
              <a:t>p</a:t>
            </a:r>
            <a:r>
              <a:t>;</a:t>
            </a:r>
          </a:p>
          <a:p>
            <a:pPr indent="0" defTabSz="650240">
              <a:defRPr sz="2800">
                <a:solidFill>
                  <a:srgbClr val="931A68"/>
                </a:solidFill>
                <a:latin typeface="Monaco"/>
                <a:ea typeface="Monaco"/>
                <a:cs typeface="Monaco"/>
                <a:sym typeface="Monaco"/>
              </a:defRPr>
            </a:pPr>
            <a:r>
              <a:rPr>
                <a:solidFill>
                  <a:srgbClr val="000000"/>
                </a:solidFill>
              </a:rPr>
              <a:t>			</a:t>
            </a:r>
            <a:r>
              <a:t>else</a:t>
            </a:r>
            <a:r>
              <a:rPr>
                <a:solidFill>
                  <a:srgbClr val="000000"/>
                </a:solidFill>
              </a:rPr>
              <a:t> </a:t>
            </a:r>
            <a:r>
              <a:t>if</a:t>
            </a:r>
            <a:r>
              <a:rPr>
                <a:solidFill>
                  <a:srgbClr val="000000"/>
                </a:solidFill>
              </a:rPr>
              <a:t>( </a:t>
            </a:r>
            <a:r>
              <a:rPr>
                <a:solidFill>
                  <a:srgbClr val="7E504F"/>
                </a:solidFill>
              </a:rPr>
              <a:t>x</a:t>
            </a:r>
            <a:r>
              <a:rPr>
                <a:solidFill>
                  <a:srgbClr val="000000"/>
                </a:solidFill>
              </a:rPr>
              <a:t> &gt; </a:t>
            </a:r>
            <a:r>
              <a:rPr>
                <a:solidFill>
                  <a:srgbClr val="7E504F"/>
                </a:solidFill>
              </a:rPr>
              <a:t>tmp</a:t>
            </a:r>
            <a:r>
              <a:rPr>
                <a:solidFill>
                  <a:srgbClr val="000000"/>
                </a:solidFill>
              </a:rPr>
              <a:t>)</a:t>
            </a:r>
            <a:endParaRPr>
              <a:solidFill>
                <a:srgbClr val="000000"/>
              </a:solidFill>
            </a:endParaRPr>
          </a:p>
          <a:p>
            <a:pPr indent="0" defTabSz="650240">
              <a:defRPr sz="2800">
                <a:latin typeface="Monaco"/>
                <a:ea typeface="Monaco"/>
                <a:cs typeface="Monaco"/>
                <a:sym typeface="Monaco"/>
              </a:defRPr>
            </a:pPr>
            <a:r>
              <a:t>				</a:t>
            </a:r>
            <a:r>
              <a:rPr>
                <a:solidFill>
                  <a:srgbClr val="7E504F"/>
                </a:solidFill>
              </a:rPr>
              <a:t>i</a:t>
            </a:r>
            <a:r>
              <a:t> = </a:t>
            </a:r>
            <a:r>
              <a:rPr>
                <a:solidFill>
                  <a:srgbClr val="7E504F"/>
                </a:solidFill>
              </a:rPr>
              <a:t>p + 1</a:t>
            </a:r>
            <a:r>
              <a:t>;</a:t>
            </a:r>
          </a:p>
          <a:p>
            <a:pPr indent="0" defTabSz="650240">
              <a:defRPr sz="28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defTabSz="650240">
              <a:defRPr sz="28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p</a:t>
            </a:r>
            <a:r>
              <a:rPr>
                <a:solidFill>
                  <a:srgbClr val="000000"/>
                </a:solidFill>
              </a:rPr>
              <a:t>;</a:t>
            </a:r>
            <a:endParaRPr>
              <a:solidFill>
                <a:srgbClr val="000000"/>
              </a:solidFill>
            </a:endParaRPr>
          </a:p>
          <a:p>
            <a:pPr indent="0" defTabSz="650240">
              <a:defRPr sz="2800">
                <a:latin typeface="Monaco"/>
                <a:ea typeface="Monaco"/>
                <a:cs typeface="Monaco"/>
                <a:sym typeface="Monaco"/>
              </a:defRPr>
            </a:pPr>
            <a:r>
              <a:t>		}</a:t>
            </a:r>
          </a:p>
          <a:p>
            <a:pPr indent="0" defTabSz="650240">
              <a:defRPr sz="2800">
                <a:solidFill>
                  <a:srgbClr val="931A68"/>
                </a:solidFill>
                <a:latin typeface="Monaco"/>
                <a:ea typeface="Monaco"/>
                <a:cs typeface="Monaco"/>
                <a:sym typeface="Monaco"/>
              </a:defRPr>
            </a:pPr>
            <a:r>
              <a:rPr>
                <a:solidFill>
                  <a:srgbClr val="000000"/>
                </a:solidFill>
              </a:rPr>
              <a:t>		</a:t>
            </a:r>
            <a:r>
              <a:t>return</a:t>
            </a:r>
            <a:r>
              <a:rPr>
                <a:solidFill>
                  <a:srgbClr val="000000"/>
                </a:solidFill>
              </a:rPr>
              <a:t> -1;</a:t>
            </a:r>
            <a:endParaRPr>
              <a:solidFill>
                <a:srgbClr val="000000"/>
              </a:solidFill>
            </a:endParaRPr>
          </a:p>
          <a:p>
            <a:pPr indent="0" defTabSz="650240">
              <a:defRPr sz="2800">
                <a:latin typeface="Monaco"/>
                <a:ea typeface="Monaco"/>
                <a:cs typeface="Monaco"/>
                <a:sym typeface="Monaco"/>
              </a:defRPr>
            </a:pPr>
            <a:r>
              <a:t>	}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折半查找的扩展"/>
          <p:cNvSpPr txBox="1"/>
          <p:nvPr>
            <p:ph type="title"/>
          </p:nvPr>
        </p:nvSpPr>
        <p:spPr>
          <a:prstGeom prst="rect">
            <a:avLst/>
          </a:prstGeom>
        </p:spPr>
        <p:txBody>
          <a:bodyPr/>
          <a:lstStyle/>
          <a:p>
            <a:pPr/>
            <a:r>
              <a:t>折半查找的扩展</a:t>
            </a:r>
          </a:p>
        </p:txBody>
      </p:sp>
      <p:sp>
        <p:nvSpPr>
          <p:cNvPr id="128" name="如果数据不允许重复：…"/>
          <p:cNvSpPr txBox="1"/>
          <p:nvPr/>
        </p:nvSpPr>
        <p:spPr>
          <a:xfrm>
            <a:off x="506524" y="1093892"/>
            <a:ext cx="6236102" cy="193134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20000"/>
              </a:lnSpc>
            </a:pPr>
            <a:r>
              <a:t>如果数据不允许重复：</a:t>
            </a:r>
          </a:p>
          <a:p>
            <a:pPr lvl="2">
              <a:lnSpc>
                <a:spcPct val="120000"/>
              </a:lnSpc>
            </a:pPr>
            <a:r>
              <a:t>       1、小于某个值的最大(小)的数据</a:t>
            </a:r>
          </a:p>
          <a:p>
            <a:pPr lvl="2">
              <a:lnSpc>
                <a:spcPct val="120000"/>
              </a:lnSpc>
            </a:pPr>
            <a:r>
              <a:t>       2、大于某个值的最小(大)的数据</a:t>
            </a:r>
          </a:p>
        </p:txBody>
      </p:sp>
      <p:sp>
        <p:nvSpPr>
          <p:cNvPr id="129" name="如果数据允许重复：…"/>
          <p:cNvSpPr txBox="1"/>
          <p:nvPr/>
        </p:nvSpPr>
        <p:spPr>
          <a:xfrm>
            <a:off x="509660" y="3365980"/>
            <a:ext cx="5791850" cy="193134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20000"/>
              </a:lnSpc>
            </a:pPr>
            <a:r>
              <a:t>如果数据允许重复：</a:t>
            </a:r>
          </a:p>
          <a:p>
            <a:pPr lvl="2">
              <a:lnSpc>
                <a:spcPct val="120000"/>
              </a:lnSpc>
            </a:pPr>
            <a:r>
              <a:t>       1、等于某个值的第1个数据</a:t>
            </a:r>
          </a:p>
          <a:p>
            <a:pPr lvl="2">
              <a:lnSpc>
                <a:spcPct val="120000"/>
              </a:lnSpc>
            </a:pPr>
            <a:r>
              <a:t>       2、等于某个值的最后1个数据</a:t>
            </a:r>
          </a:p>
        </p:txBody>
      </p:sp>
      <p:sp>
        <p:nvSpPr>
          <p:cNvPr id="130" name="如何让数据保持有序， 从而减少排序的代价？"/>
          <p:cNvSpPr txBox="1"/>
          <p:nvPr/>
        </p:nvSpPr>
        <p:spPr>
          <a:xfrm>
            <a:off x="581001" y="5638068"/>
            <a:ext cx="788735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nSpc>
                <a:spcPct val="120000"/>
              </a:lnSpc>
            </a:lvl1pPr>
          </a:lstStyle>
          <a:p>
            <a:pPr/>
            <a:r>
              <a:t>如何让数据保持有序， 从而减少排序的代价？</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动态查找的实现"/>
          <p:cNvSpPr txBox="1"/>
          <p:nvPr>
            <p:ph type="title"/>
          </p:nvPr>
        </p:nvSpPr>
        <p:spPr>
          <a:prstGeom prst="rect">
            <a:avLst/>
          </a:prstGeom>
        </p:spPr>
        <p:txBody>
          <a:bodyPr/>
          <a:lstStyle/>
          <a:p>
            <a:pPr/>
            <a:r>
              <a:t>动态查找的实现</a:t>
            </a:r>
          </a:p>
        </p:txBody>
      </p:sp>
      <p:sp>
        <p:nvSpPr>
          <p:cNvPr id="133" name="Shape 143"/>
          <p:cNvSpPr txBox="1"/>
          <p:nvPr/>
        </p:nvSpPr>
        <p:spPr>
          <a:xfrm>
            <a:off x="461433" y="1479971"/>
            <a:ext cx="12004055" cy="308385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50000"/>
              </a:lnSpc>
              <a:defRPr>
                <a:uFill>
                  <a:solidFill>
                    <a:srgbClr val="000000"/>
                  </a:solidFill>
                </a:uFill>
              </a:defRPr>
            </a:pPr>
            <a:r>
              <a:t>1</a:t>
            </a:r>
            <a:r>
              <a:t>、哈希表：采用顺序存储结构，利用哈希函数计算数据的存储位置。</a:t>
            </a:r>
          </a:p>
          <a:p>
            <a:pPr marR="57798" defTabSz="1295400">
              <a:lnSpc>
                <a:spcPct val="150000"/>
              </a:lnSpc>
              <a:defRPr>
                <a:uFill>
                  <a:solidFill>
                    <a:srgbClr val="000000"/>
                  </a:solidFill>
                </a:uFill>
              </a:defRPr>
            </a:pPr>
            <a:r>
              <a:t>2、跳表：采用链式存储结构，实现折半查找。</a:t>
            </a:r>
          </a:p>
          <a:p>
            <a:pPr marR="57798" defTabSz="1295400">
              <a:lnSpc>
                <a:spcPct val="150000"/>
              </a:lnSpc>
              <a:defRPr>
                <a:uFill>
                  <a:solidFill>
                    <a:srgbClr val="000000"/>
                  </a:solidFill>
                </a:uFill>
              </a:defRPr>
            </a:pPr>
            <a:r>
              <a:t>3、二叉查找树（AVL、B</a:t>
            </a:r>
            <a:r>
              <a:rPr baseline="31999"/>
              <a:t>+</a:t>
            </a:r>
            <a:r>
              <a:t> tree、红黑树、伸展树）：</a:t>
            </a:r>
          </a:p>
          <a:p>
            <a:pPr marR="57798" defTabSz="1295400">
              <a:lnSpc>
                <a:spcPct val="150000"/>
              </a:lnSpc>
              <a:defRPr>
                <a:uFill>
                  <a:solidFill>
                    <a:srgbClr val="000000"/>
                  </a:solidFill>
                </a:uFill>
              </a:defRPr>
            </a:pPr>
            <a:r>
              <a:t>     采用二叉链表存储。</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Map"/>
          <p:cNvSpPr txBox="1"/>
          <p:nvPr>
            <p:ph type="title"/>
          </p:nvPr>
        </p:nvSpPr>
        <p:spPr>
          <a:prstGeom prst="rect">
            <a:avLst/>
          </a:prstGeom>
        </p:spPr>
        <p:txBody>
          <a:bodyPr/>
          <a:lstStyle/>
          <a:p>
            <a:pPr/>
            <a:r>
              <a:t>Map</a:t>
            </a:r>
          </a:p>
        </p:txBody>
      </p:sp>
      <p:sp>
        <p:nvSpPr>
          <p:cNvPr id="136" name="Shape 86"/>
          <p:cNvSpPr txBox="1"/>
          <p:nvPr/>
        </p:nvSpPr>
        <p:spPr>
          <a:xfrm>
            <a:off x="202266" y="1311672"/>
            <a:ext cx="12555113" cy="129126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20000"/>
              </a:lnSpc>
              <a:defRPr>
                <a:uFill>
                  <a:solidFill>
                    <a:srgbClr val="000000"/>
                  </a:solidFill>
                </a:uFill>
              </a:defRPr>
            </a:pPr>
            <a:r>
              <a:t>定义：java中，Map是管理&lt;key, value&gt;集合的一组接口和类，包括 </a:t>
            </a:r>
          </a:p>
          <a:p>
            <a:pPr marR="57798" defTabSz="1295400">
              <a:lnSpc>
                <a:spcPct val="120000"/>
              </a:lnSpc>
              <a:defRPr>
                <a:uFill>
                  <a:solidFill>
                    <a:srgbClr val="000000"/>
                  </a:solidFill>
                </a:uFill>
              </a:defRPr>
            </a:pPr>
            <a:r>
              <a:t>            Map接口、HashTable、HashMap等类，用于实现前面介绍的字典。</a:t>
            </a:r>
          </a:p>
        </p:txBody>
      </p:sp>
      <p:sp>
        <p:nvSpPr>
          <p:cNvPr id="137" name="Shape 87"/>
          <p:cNvSpPr txBox="1"/>
          <p:nvPr/>
        </p:nvSpPr>
        <p:spPr>
          <a:xfrm>
            <a:off x="2031365" y="3297100"/>
            <a:ext cx="8942070" cy="61557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30000"/>
              </a:lnSpc>
              <a:defRPr sz="3600">
                <a:uFill>
                  <a:solidFill>
                    <a:srgbClr val="000000"/>
                  </a:solidFill>
                </a:uFill>
              </a:defRPr>
            </a:pPr>
            <a:r>
              <a:t>D = {&lt;k</a:t>
            </a:r>
            <a:r>
              <a:rPr baseline="-5998"/>
              <a:t>1</a:t>
            </a:r>
            <a:r>
              <a:t>,v</a:t>
            </a:r>
            <a:r>
              <a:rPr baseline="-5998"/>
              <a:t>1</a:t>
            </a:r>
            <a:r>
              <a:t>&gt;, &lt;k</a:t>
            </a:r>
            <a:r>
              <a:rPr baseline="-5998"/>
              <a:t>2</a:t>
            </a:r>
            <a:r>
              <a:t>,v</a:t>
            </a:r>
            <a:r>
              <a:rPr baseline="-5998"/>
              <a:t>2</a:t>
            </a:r>
            <a:r>
              <a:t>&gt;, …, &lt;k</a:t>
            </a:r>
            <a:r>
              <a:rPr baseline="-5998"/>
              <a:t>n</a:t>
            </a:r>
            <a:r>
              <a:t>, v</a:t>
            </a:r>
            <a:r>
              <a:rPr baseline="-5998"/>
              <a:t>n</a:t>
            </a:r>
            <a:r>
              <a:t>&gt;}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Map的基本操作"/>
          <p:cNvSpPr txBox="1"/>
          <p:nvPr>
            <p:ph type="title"/>
          </p:nvPr>
        </p:nvSpPr>
        <p:spPr>
          <a:prstGeom prst="rect">
            <a:avLst/>
          </a:prstGeom>
        </p:spPr>
        <p:txBody>
          <a:bodyPr/>
          <a:lstStyle/>
          <a:p>
            <a:pPr/>
            <a:r>
              <a:t>Map的基本操作</a:t>
            </a:r>
          </a:p>
        </p:txBody>
      </p:sp>
      <p:sp>
        <p:nvSpPr>
          <p:cNvPr id="140" name="public interface IMap&lt;K, V&gt; {…"/>
          <p:cNvSpPr txBox="1"/>
          <p:nvPr/>
        </p:nvSpPr>
        <p:spPr>
          <a:xfrm>
            <a:off x="157066" y="1188553"/>
            <a:ext cx="12782080" cy="570028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300">
                <a:latin typeface="Monaco"/>
                <a:ea typeface="Monaco"/>
                <a:cs typeface="Monaco"/>
                <a:sym typeface="Monaco"/>
              </a:defRPr>
            </a:pPr>
            <a:r>
              <a:rPr>
                <a:solidFill>
                  <a:srgbClr val="931A68"/>
                </a:solidFill>
              </a:rPr>
              <a:t>public</a:t>
            </a:r>
            <a:r>
              <a:t> </a:t>
            </a:r>
            <a:r>
              <a:rPr>
                <a:solidFill>
                  <a:srgbClr val="931A68"/>
                </a:solidFill>
              </a:rPr>
              <a:t>interface</a:t>
            </a:r>
            <a:r>
              <a:t> IMap&lt;K, V&gt; {</a:t>
            </a:r>
          </a:p>
          <a:p>
            <a:pPr indent="0">
              <a:defRPr sz="2300">
                <a:solidFill>
                  <a:srgbClr val="4E9072"/>
                </a:solidFill>
                <a:latin typeface="Monaco"/>
                <a:ea typeface="Monaco"/>
                <a:cs typeface="Monaco"/>
                <a:sym typeface="Monaco"/>
              </a:defRPr>
            </a:pPr>
            <a:r>
              <a:rPr>
                <a:solidFill>
                  <a:srgbClr val="000000"/>
                </a:solidFill>
              </a:rPr>
              <a:t>	</a:t>
            </a:r>
            <a:r>
              <a:t>//存入1个&lt;key, value&gt;,如果已经有相同的key，修改，返回原有的value，否则返回null</a:t>
            </a:r>
            <a:endParaRPr>
              <a:solidFill>
                <a:srgbClr val="000000"/>
              </a:solidFill>
            </a:endParaRPr>
          </a:p>
          <a:p>
            <a:pPr indent="0">
              <a:defRPr sz="2300">
                <a:latin typeface="Monaco"/>
                <a:ea typeface="Monaco"/>
                <a:cs typeface="Monaco"/>
                <a:sym typeface="Monaco"/>
              </a:defRPr>
            </a:pPr>
            <a:r>
              <a:t>	</a:t>
            </a:r>
            <a:r>
              <a:rPr>
                <a:solidFill>
                  <a:srgbClr val="931A68"/>
                </a:solidFill>
              </a:rPr>
              <a:t>public</a:t>
            </a:r>
            <a:r>
              <a:t> V put(K </a:t>
            </a:r>
            <a:r>
              <a:rPr>
                <a:solidFill>
                  <a:srgbClr val="7E504F"/>
                </a:solidFill>
              </a:rPr>
              <a:t>key</a:t>
            </a:r>
            <a:r>
              <a:t>, V </a:t>
            </a:r>
            <a:r>
              <a:rPr>
                <a:solidFill>
                  <a:srgbClr val="7E504F"/>
                </a:solidFill>
              </a:rPr>
              <a:t>value</a:t>
            </a:r>
            <a:r>
              <a:t>);</a:t>
            </a:r>
          </a:p>
          <a:p>
            <a:pPr indent="0">
              <a:defRPr sz="2300">
                <a:latin typeface="Monaco"/>
                <a:ea typeface="Monaco"/>
                <a:cs typeface="Monaco"/>
                <a:sym typeface="Monaco"/>
              </a:defRPr>
            </a:pPr>
            <a:r>
              <a:t>	</a:t>
            </a:r>
          </a:p>
          <a:p>
            <a:pPr indent="0">
              <a:defRPr sz="2300">
                <a:solidFill>
                  <a:srgbClr val="4E9072"/>
                </a:solidFill>
                <a:latin typeface="Monaco"/>
                <a:ea typeface="Monaco"/>
                <a:cs typeface="Monaco"/>
                <a:sym typeface="Monaco"/>
              </a:defRPr>
            </a:pPr>
            <a:r>
              <a:rPr>
                <a:solidFill>
                  <a:srgbClr val="000000"/>
                </a:solidFill>
              </a:rPr>
              <a:t>	</a:t>
            </a:r>
            <a:r>
              <a:t>//获取指定key的value，如果key不存在，返回null</a:t>
            </a:r>
            <a:endParaRPr>
              <a:solidFill>
                <a:srgbClr val="000000"/>
              </a:solidFill>
            </a:endParaRPr>
          </a:p>
          <a:p>
            <a:pPr indent="0">
              <a:defRPr sz="2300">
                <a:latin typeface="Monaco"/>
                <a:ea typeface="Monaco"/>
                <a:cs typeface="Monaco"/>
                <a:sym typeface="Monaco"/>
              </a:defRPr>
            </a:pPr>
            <a:r>
              <a:t>	</a:t>
            </a:r>
            <a:r>
              <a:rPr>
                <a:solidFill>
                  <a:srgbClr val="931A68"/>
                </a:solidFill>
              </a:rPr>
              <a:t>public</a:t>
            </a:r>
            <a:r>
              <a:t> V get(K </a:t>
            </a:r>
            <a:r>
              <a:rPr>
                <a:solidFill>
                  <a:srgbClr val="7E504F"/>
                </a:solidFill>
              </a:rPr>
              <a:t>key</a:t>
            </a:r>
            <a:r>
              <a:t>);</a:t>
            </a:r>
          </a:p>
          <a:p>
            <a:pPr indent="0">
              <a:defRPr sz="2300">
                <a:latin typeface="Monaco"/>
                <a:ea typeface="Monaco"/>
                <a:cs typeface="Monaco"/>
                <a:sym typeface="Monaco"/>
              </a:defRPr>
            </a:pPr>
            <a:r>
              <a:t>	</a:t>
            </a:r>
          </a:p>
          <a:p>
            <a:pPr indent="0">
              <a:defRPr sz="2300">
                <a:solidFill>
                  <a:srgbClr val="4E9072"/>
                </a:solidFill>
                <a:latin typeface="Monaco"/>
                <a:ea typeface="Monaco"/>
                <a:cs typeface="Monaco"/>
                <a:sym typeface="Monaco"/>
              </a:defRPr>
            </a:pPr>
            <a:r>
              <a:rPr>
                <a:solidFill>
                  <a:srgbClr val="000000"/>
                </a:solidFill>
              </a:rPr>
              <a:t>	</a:t>
            </a:r>
            <a:r>
              <a:t>//删除指定key的&lt;key, value&gt;,返回value，如果key不存在，返回null</a:t>
            </a:r>
            <a:endParaRPr>
              <a:solidFill>
                <a:srgbClr val="000000"/>
              </a:solidFill>
            </a:endParaRPr>
          </a:p>
          <a:p>
            <a:pPr indent="0">
              <a:defRPr sz="2300">
                <a:latin typeface="Monaco"/>
                <a:ea typeface="Monaco"/>
                <a:cs typeface="Monaco"/>
                <a:sym typeface="Monaco"/>
              </a:defRPr>
            </a:pPr>
            <a:r>
              <a:t>	</a:t>
            </a:r>
            <a:r>
              <a:rPr>
                <a:solidFill>
                  <a:srgbClr val="931A68"/>
                </a:solidFill>
              </a:rPr>
              <a:t>public</a:t>
            </a:r>
            <a:r>
              <a:t> V remove(K </a:t>
            </a:r>
            <a:r>
              <a:rPr>
                <a:solidFill>
                  <a:srgbClr val="7E504F"/>
                </a:solidFill>
              </a:rPr>
              <a:t>key</a:t>
            </a:r>
            <a:r>
              <a:t>);</a:t>
            </a: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r>
              <a:rPr>
                <a:solidFill>
                  <a:srgbClr val="931A68"/>
                </a:solidFill>
              </a:rPr>
              <a:t>public</a:t>
            </a:r>
            <a:r>
              <a:t> </a:t>
            </a:r>
            <a:r>
              <a:rPr>
                <a:solidFill>
                  <a:srgbClr val="931A68"/>
                </a:solidFill>
              </a:rPr>
              <a:t>void</a:t>
            </a:r>
            <a:r>
              <a:t> clear();</a:t>
            </a:r>
          </a:p>
          <a:p>
            <a:pPr indent="0">
              <a:defRPr sz="2300">
                <a:latin typeface="Monaco"/>
                <a:ea typeface="Monaco"/>
                <a:cs typeface="Monaco"/>
                <a:sym typeface="Monaco"/>
              </a:defRPr>
            </a:pPr>
            <a:r>
              <a:t>	</a:t>
            </a:r>
            <a:r>
              <a:rPr>
                <a:solidFill>
                  <a:srgbClr val="931A68"/>
                </a:solidFill>
              </a:rPr>
              <a:t>public</a:t>
            </a:r>
            <a:r>
              <a:t> </a:t>
            </a:r>
            <a:r>
              <a:rPr>
                <a:solidFill>
                  <a:srgbClr val="931A68"/>
                </a:solidFill>
              </a:rPr>
              <a:t>int</a:t>
            </a:r>
            <a:r>
              <a:t> size();</a:t>
            </a:r>
          </a:p>
          <a:p>
            <a:pPr indent="0">
              <a:defRPr sz="2300">
                <a:latin typeface="Monaco"/>
                <a:ea typeface="Monaco"/>
                <a:cs typeface="Monaco"/>
                <a:sym typeface="Monaco"/>
              </a:defRPr>
            </a:pPr>
            <a:r>
              <a:t>	</a:t>
            </a:r>
            <a:r>
              <a:rPr>
                <a:solidFill>
                  <a:srgbClr val="931A68"/>
                </a:solidFill>
              </a:rPr>
              <a:t>public</a:t>
            </a:r>
            <a:r>
              <a:t> </a:t>
            </a:r>
            <a:r>
              <a:rPr>
                <a:solidFill>
                  <a:srgbClr val="931A68"/>
                </a:solidFill>
              </a:rPr>
              <a:t>boolean</a:t>
            </a:r>
            <a:r>
              <a:t> empty();</a:t>
            </a:r>
          </a:p>
          <a:p>
            <a:pPr indent="0">
              <a:defRPr sz="2300">
                <a:latin typeface="Monaco"/>
                <a:ea typeface="Monaco"/>
                <a:cs typeface="Monaco"/>
                <a:sym typeface="Monaco"/>
              </a:defRPr>
            </a:pPr>
            <a:r>
              <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45" name="成组"/>
          <p:cNvGrpSpPr/>
          <p:nvPr/>
        </p:nvGrpSpPr>
        <p:grpSpPr>
          <a:xfrm>
            <a:off x="6361824" y="3992790"/>
            <a:ext cx="926003" cy="1387781"/>
            <a:chOff x="0" y="0"/>
            <a:chExt cx="926002" cy="1387780"/>
          </a:xfrm>
        </p:grpSpPr>
        <p:sp>
          <p:nvSpPr>
            <p:cNvPr id="142" name="Shape 30"/>
            <p:cNvSpPr/>
            <p:nvPr/>
          </p:nvSpPr>
          <p:spPr>
            <a:xfrm>
              <a:off x="0" y="-1"/>
              <a:ext cx="553382" cy="639452"/>
            </a:xfrm>
            <a:prstGeom prst="line">
              <a:avLst/>
            </a:prstGeom>
            <a:noFill/>
            <a:ln w="9525" cap="flat">
              <a:solidFill>
                <a:schemeClr val="accent5"/>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43" name="Shape 31"/>
            <p:cNvSpPr/>
            <p:nvPr/>
          </p:nvSpPr>
          <p:spPr>
            <a:xfrm>
              <a:off x="178674" y="642709"/>
              <a:ext cx="747329" cy="745072"/>
            </a:xfrm>
            <a:prstGeom prst="ellipse">
              <a:avLst/>
            </a:prstGeom>
            <a:solidFill>
              <a:srgbClr val="FFFFFF"/>
            </a:solidFill>
            <a:ln w="9525" cap="flat">
              <a:solidFill>
                <a:schemeClr val="accent5"/>
              </a:solidFill>
              <a:prstDash val="solid"/>
              <a:round/>
            </a:ln>
            <a:effectLst/>
          </p:spPr>
          <p:txBody>
            <a:bodyPr wrap="square" lIns="50800" tIns="50800" rIns="50800" bIns="50800" numCol="1" anchor="ctr">
              <a:noAutofit/>
            </a:bodyPr>
            <a:lstStyle/>
            <a:p>
              <a:pPr marR="57798" defTabSz="1295400">
                <a:spcBef>
                  <a:spcPts val="1900"/>
                </a:spcBef>
                <a:defRPr b="1" sz="2800">
                  <a:solidFill>
                    <a:schemeClr val="accent4"/>
                  </a:solidFill>
                  <a:uFill>
                    <a:solidFill>
                      <a:srgbClr val="000000"/>
                    </a:solidFill>
                  </a:uFill>
                </a:defRPr>
              </a:pPr>
            </a:p>
          </p:txBody>
        </p:sp>
        <p:sp>
          <p:nvSpPr>
            <p:cNvPr id="144" name="Shape 32"/>
            <p:cNvSpPr txBox="1"/>
            <p:nvPr/>
          </p:nvSpPr>
          <p:spPr>
            <a:xfrm>
              <a:off x="301677" y="78960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chemeClr val="accent4"/>
                  </a:solidFill>
                  <a:uFill>
                    <a:solidFill>
                      <a:srgbClr val="000000"/>
                    </a:solidFill>
                  </a:uFill>
                </a:defRPr>
              </a:lvl1pPr>
            </a:lstStyle>
            <a:p>
              <a:pPr/>
              <a:r>
                <a:t>75</a:t>
              </a:r>
            </a:p>
          </p:txBody>
        </p:sp>
      </p:grpSp>
      <p:grpSp>
        <p:nvGrpSpPr>
          <p:cNvPr id="193" name="Group 82"/>
          <p:cNvGrpSpPr/>
          <p:nvPr/>
        </p:nvGrpSpPr>
        <p:grpSpPr>
          <a:xfrm>
            <a:off x="1822591" y="1165860"/>
            <a:ext cx="7615206" cy="5344165"/>
            <a:chOff x="0" y="0"/>
            <a:chExt cx="7615205" cy="5344164"/>
          </a:xfrm>
        </p:grpSpPr>
        <p:grpSp>
          <p:nvGrpSpPr>
            <p:cNvPr id="148" name="Group 37"/>
            <p:cNvGrpSpPr/>
            <p:nvPr/>
          </p:nvGrpSpPr>
          <p:grpSpPr>
            <a:xfrm>
              <a:off x="4074159" y="-1"/>
              <a:ext cx="747329" cy="745069"/>
              <a:chOff x="0" y="0"/>
              <a:chExt cx="747328" cy="745067"/>
            </a:xfrm>
          </p:grpSpPr>
          <p:sp>
            <p:nvSpPr>
              <p:cNvPr id="146" name="Shape 35"/>
              <p:cNvSpPr/>
              <p:nvPr/>
            </p:nvSpPr>
            <p:spPr>
              <a:xfrm>
                <a:off x="-1" y="-1"/>
                <a:ext cx="747330"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47" name="Shape 36"/>
              <p:cNvSpPr txBox="1"/>
              <p:nvPr/>
            </p:nvSpPr>
            <p:spPr>
              <a:xfrm>
                <a:off x="123004"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sp>
          <p:nvSpPr>
            <p:cNvPr id="149" name="Shape 38"/>
            <p:cNvSpPr/>
            <p:nvPr/>
          </p:nvSpPr>
          <p:spPr>
            <a:xfrm>
              <a:off x="4736187" y="625221"/>
              <a:ext cx="854796" cy="615705"/>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0" name="Shape 39"/>
            <p:cNvSpPr/>
            <p:nvPr/>
          </p:nvSpPr>
          <p:spPr>
            <a:xfrm flipH="1">
              <a:off x="3143673" y="483359"/>
              <a:ext cx="968610" cy="780998"/>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1" name="Shape 40"/>
            <p:cNvSpPr/>
            <p:nvPr/>
          </p:nvSpPr>
          <p:spPr>
            <a:xfrm flipH="1">
              <a:off x="1722186" y="1678939"/>
              <a:ext cx="810760" cy="70060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2" name="Shape 41"/>
            <p:cNvSpPr/>
            <p:nvPr/>
          </p:nvSpPr>
          <p:spPr>
            <a:xfrm>
              <a:off x="3158348" y="1643662"/>
              <a:ext cx="973105" cy="742811"/>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3" name="Shape 42"/>
            <p:cNvSpPr/>
            <p:nvPr/>
          </p:nvSpPr>
          <p:spPr>
            <a:xfrm flipH="1">
              <a:off x="545378" y="2833511"/>
              <a:ext cx="720954" cy="634381"/>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4" name="Shape 43"/>
            <p:cNvSpPr/>
            <p:nvPr/>
          </p:nvSpPr>
          <p:spPr>
            <a:xfrm>
              <a:off x="1641122" y="2745739"/>
              <a:ext cx="892897" cy="817046"/>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5" name="Shape 44"/>
            <p:cNvSpPr/>
            <p:nvPr/>
          </p:nvSpPr>
          <p:spPr>
            <a:xfrm flipH="1">
              <a:off x="1784208" y="4062899"/>
              <a:ext cx="711043" cy="669405"/>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6" name="Shape 45"/>
            <p:cNvSpPr/>
            <p:nvPr/>
          </p:nvSpPr>
          <p:spPr>
            <a:xfrm flipH="1">
              <a:off x="3665715" y="2863583"/>
              <a:ext cx="595821" cy="599684"/>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7" name="Shape 46"/>
            <p:cNvSpPr/>
            <p:nvPr/>
          </p:nvSpPr>
          <p:spPr>
            <a:xfrm>
              <a:off x="6149797" y="1697981"/>
              <a:ext cx="855807" cy="59338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8" name="Shape 47"/>
            <p:cNvSpPr/>
            <p:nvPr/>
          </p:nvSpPr>
          <p:spPr>
            <a:xfrm flipH="1">
              <a:off x="6208020" y="2837452"/>
              <a:ext cx="849933" cy="72972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59" name="Shape 48"/>
            <p:cNvSpPr/>
            <p:nvPr/>
          </p:nvSpPr>
          <p:spPr>
            <a:xfrm>
              <a:off x="6165104" y="4096994"/>
              <a:ext cx="773542" cy="61670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162" name="Group 51"/>
            <p:cNvGrpSpPr/>
            <p:nvPr/>
          </p:nvGrpSpPr>
          <p:grpSpPr>
            <a:xfrm>
              <a:off x="2462953" y="1120139"/>
              <a:ext cx="749585" cy="745071"/>
              <a:chOff x="0" y="0"/>
              <a:chExt cx="749583" cy="745070"/>
            </a:xfrm>
          </p:grpSpPr>
          <p:sp>
            <p:nvSpPr>
              <p:cNvPr id="160" name="Shape 49"/>
              <p:cNvSpPr/>
              <p:nvPr/>
            </p:nvSpPr>
            <p:spPr>
              <a:xfrm>
                <a:off x="0" y="-1"/>
                <a:ext cx="749585"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61" name="Shape 50"/>
              <p:cNvSpPr txBox="1"/>
              <p:nvPr/>
            </p:nvSpPr>
            <p:spPr>
              <a:xfrm>
                <a:off x="124133" y="141534"/>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165" name="Group 54"/>
            <p:cNvGrpSpPr/>
            <p:nvPr/>
          </p:nvGrpSpPr>
          <p:grpSpPr>
            <a:xfrm>
              <a:off x="5483859" y="1120139"/>
              <a:ext cx="747329" cy="745071"/>
              <a:chOff x="0" y="0"/>
              <a:chExt cx="747328" cy="745070"/>
            </a:xfrm>
          </p:grpSpPr>
          <p:sp>
            <p:nvSpPr>
              <p:cNvPr id="163" name="Shape 52"/>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64" name="Shape 53"/>
              <p:cNvSpPr txBox="1"/>
              <p:nvPr/>
            </p:nvSpPr>
            <p:spPr>
              <a:xfrm>
                <a:off x="135704" y="154234"/>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168" name="Group 57"/>
            <p:cNvGrpSpPr/>
            <p:nvPr/>
          </p:nvGrpSpPr>
          <p:grpSpPr>
            <a:xfrm>
              <a:off x="1117600" y="2160128"/>
              <a:ext cx="747327" cy="742813"/>
              <a:chOff x="0" y="0"/>
              <a:chExt cx="747325" cy="742812"/>
            </a:xfrm>
          </p:grpSpPr>
          <p:sp>
            <p:nvSpPr>
              <p:cNvPr id="166" name="Shape 55"/>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67" name="Shape 56"/>
              <p:cNvSpPr txBox="1"/>
              <p:nvPr/>
            </p:nvSpPr>
            <p:spPr>
              <a:xfrm>
                <a:off x="13570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171" name="Group 60"/>
            <p:cNvGrpSpPr/>
            <p:nvPr/>
          </p:nvGrpSpPr>
          <p:grpSpPr>
            <a:xfrm>
              <a:off x="6867877" y="2150533"/>
              <a:ext cx="747329" cy="742813"/>
              <a:chOff x="0" y="0"/>
              <a:chExt cx="747328" cy="742812"/>
            </a:xfrm>
          </p:grpSpPr>
          <p:sp>
            <p:nvSpPr>
              <p:cNvPr id="169" name="Shape 58"/>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70" name="Shape 59"/>
              <p:cNvSpPr txBox="1"/>
              <p:nvPr/>
            </p:nvSpPr>
            <p:spPr>
              <a:xfrm>
                <a:off x="135704"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174" name="Group 63"/>
            <p:cNvGrpSpPr/>
            <p:nvPr/>
          </p:nvGrpSpPr>
          <p:grpSpPr>
            <a:xfrm>
              <a:off x="-1" y="3460608"/>
              <a:ext cx="747327" cy="742813"/>
              <a:chOff x="0" y="0"/>
              <a:chExt cx="747325" cy="742812"/>
            </a:xfrm>
          </p:grpSpPr>
          <p:sp>
            <p:nvSpPr>
              <p:cNvPr id="172" name="Shape 61"/>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73" name="Shape 62"/>
              <p:cNvSpPr txBox="1"/>
              <p:nvPr/>
            </p:nvSpPr>
            <p:spPr>
              <a:xfrm>
                <a:off x="110303"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10</a:t>
                </a:r>
              </a:p>
            </p:txBody>
          </p:sp>
        </p:grpSp>
        <p:grpSp>
          <p:nvGrpSpPr>
            <p:cNvPr id="177" name="Group 66"/>
            <p:cNvGrpSpPr/>
            <p:nvPr/>
          </p:nvGrpSpPr>
          <p:grpSpPr>
            <a:xfrm>
              <a:off x="5526475" y="3451013"/>
              <a:ext cx="747329" cy="742813"/>
              <a:chOff x="0" y="0"/>
              <a:chExt cx="747328" cy="742812"/>
            </a:xfrm>
          </p:grpSpPr>
          <p:sp>
            <p:nvSpPr>
              <p:cNvPr id="175" name="Shape 64"/>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76" name="Shape 65"/>
              <p:cNvSpPr txBox="1"/>
              <p:nvPr/>
            </p:nvSpPr>
            <p:spPr>
              <a:xfrm>
                <a:off x="123004"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85</a:t>
                </a:r>
              </a:p>
            </p:txBody>
          </p:sp>
        </p:grpSp>
        <p:grpSp>
          <p:nvGrpSpPr>
            <p:cNvPr id="180" name="Group 69"/>
            <p:cNvGrpSpPr/>
            <p:nvPr/>
          </p:nvGrpSpPr>
          <p:grpSpPr>
            <a:xfrm>
              <a:off x="4009249" y="2153919"/>
              <a:ext cx="747327" cy="742813"/>
              <a:chOff x="0" y="0"/>
              <a:chExt cx="747325" cy="742812"/>
            </a:xfrm>
          </p:grpSpPr>
          <p:sp>
            <p:nvSpPr>
              <p:cNvPr id="178" name="Shape 67"/>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79" name="Shape 68"/>
              <p:cNvSpPr txBox="1"/>
              <p:nvPr/>
            </p:nvSpPr>
            <p:spPr>
              <a:xfrm>
                <a:off x="1357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183" name="Group 72"/>
            <p:cNvGrpSpPr/>
            <p:nvPr/>
          </p:nvGrpSpPr>
          <p:grpSpPr>
            <a:xfrm>
              <a:off x="3237371" y="3454400"/>
              <a:ext cx="749585" cy="742811"/>
              <a:chOff x="0" y="0"/>
              <a:chExt cx="749583" cy="742809"/>
            </a:xfrm>
          </p:grpSpPr>
          <p:sp>
            <p:nvSpPr>
              <p:cNvPr id="181" name="Shape 7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82" name="Shape 71"/>
              <p:cNvSpPr txBox="1"/>
              <p:nvPr/>
            </p:nvSpPr>
            <p:spPr>
              <a:xfrm>
                <a:off x="11143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186" name="Group 75"/>
            <p:cNvGrpSpPr/>
            <p:nvPr/>
          </p:nvGrpSpPr>
          <p:grpSpPr>
            <a:xfrm>
              <a:off x="2423442" y="3460608"/>
              <a:ext cx="747327" cy="742813"/>
              <a:chOff x="0" y="0"/>
              <a:chExt cx="747325" cy="742812"/>
            </a:xfrm>
          </p:grpSpPr>
          <p:sp>
            <p:nvSpPr>
              <p:cNvPr id="184" name="Shape 73"/>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85" name="Shape 74"/>
              <p:cNvSpPr txBox="1"/>
              <p:nvPr/>
            </p:nvSpPr>
            <p:spPr>
              <a:xfrm>
                <a:off x="12300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25</a:t>
                </a:r>
              </a:p>
            </p:txBody>
          </p:sp>
        </p:grpSp>
        <p:grpSp>
          <p:nvGrpSpPr>
            <p:cNvPr id="189" name="Group 78"/>
            <p:cNvGrpSpPr/>
            <p:nvPr/>
          </p:nvGrpSpPr>
          <p:grpSpPr>
            <a:xfrm>
              <a:off x="1234722" y="4599094"/>
              <a:ext cx="747327" cy="745071"/>
              <a:chOff x="0" y="0"/>
              <a:chExt cx="747325" cy="745070"/>
            </a:xfrm>
          </p:grpSpPr>
          <p:sp>
            <p:nvSpPr>
              <p:cNvPr id="187" name="Shape 76"/>
              <p:cNvSpPr/>
              <p:nvPr/>
            </p:nvSpPr>
            <p:spPr>
              <a:xfrm>
                <a:off x="0"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88" name="Shape 77"/>
              <p:cNvSpPr txBox="1"/>
              <p:nvPr/>
            </p:nvSpPr>
            <p:spPr>
              <a:xfrm>
                <a:off x="123004" y="14689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23</a:t>
                </a:r>
              </a:p>
            </p:txBody>
          </p:sp>
        </p:grpSp>
        <p:grpSp>
          <p:nvGrpSpPr>
            <p:cNvPr id="192" name="Group 81"/>
            <p:cNvGrpSpPr/>
            <p:nvPr/>
          </p:nvGrpSpPr>
          <p:grpSpPr>
            <a:xfrm>
              <a:off x="6867877" y="4599094"/>
              <a:ext cx="747329" cy="745071"/>
              <a:chOff x="0" y="0"/>
              <a:chExt cx="747328" cy="745070"/>
            </a:xfrm>
          </p:grpSpPr>
          <p:sp>
            <p:nvSpPr>
              <p:cNvPr id="190" name="Shape 79"/>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91" name="Shape 80"/>
              <p:cNvSpPr txBox="1"/>
              <p:nvPr/>
            </p:nvSpPr>
            <p:spPr>
              <a:xfrm>
                <a:off x="123004" y="14689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grpSp>
      <p:sp>
        <p:nvSpPr>
          <p:cNvPr id="194" name="Shape 84"/>
          <p:cNvSpPr txBox="1"/>
          <p:nvPr>
            <p:ph type="title"/>
          </p:nvPr>
        </p:nvSpPr>
        <p:spPr>
          <a:xfrm>
            <a:off x="1611488" y="125588"/>
            <a:ext cx="9448801" cy="952501"/>
          </a:xfrm>
          <a:prstGeom prst="rect">
            <a:avLst/>
          </a:prstGeom>
        </p:spPr>
        <p:txBody>
          <a:bodyPr/>
          <a:lstStyle/>
          <a:p>
            <a:pPr/>
            <a:r>
              <a:t>二叉搜索树－引例</a:t>
            </a:r>
          </a:p>
        </p:txBody>
      </p:sp>
      <p:sp>
        <p:nvSpPr>
          <p:cNvPr id="195" name="Shape 492"/>
          <p:cNvSpPr txBox="1"/>
          <p:nvPr/>
        </p:nvSpPr>
        <p:spPr>
          <a:xfrm>
            <a:off x="5005238" y="6371873"/>
            <a:ext cx="2661300" cy="609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lvl1pPr marR="57798" defTabSz="1295400">
              <a:spcBef>
                <a:spcPts val="1900"/>
              </a:spcBef>
              <a:defRPr sz="2800">
                <a:uFill>
                  <a:solidFill>
                    <a:srgbClr val="000000"/>
                  </a:solidFill>
                </a:uFill>
              </a:defRPr>
            </a:lvl1pPr>
          </a:lstStyle>
          <a:p>
            <a:pPr/>
            <a:r>
              <a:t>中序遍历？？？</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 grpId="2" fill="hold">
                                  <p:stCondLst>
                                    <p:cond delay="0"/>
                                  </p:stCondLst>
                                  <p:iterate type="el" backwards="0">
                                    <p:tmAbs val="0"/>
                                  </p:iterate>
                                  <p:childTnLst>
                                    <p:set>
                                      <p:cBhvr>
                                        <p:cTn id="10" fill="hold"/>
                                        <p:tgtEl>
                                          <p:spTgt spid="145"/>
                                        </p:tgtEl>
                                        <p:attrNameLst>
                                          <p:attrName>style.visibility</p:attrName>
                                        </p:attrNameLst>
                                      </p:cBhvr>
                                      <p:to>
                                        <p:strVal val="visible"/>
                                      </p:to>
                                    </p:set>
                                    <p:anim calcmode="lin" valueType="num">
                                      <p:cBhvr>
                                        <p:cTn id="11" dur="1000" fill="hold"/>
                                        <p:tgtEl>
                                          <p:spTgt spid="145"/>
                                        </p:tgtEl>
                                        <p:attrNameLst>
                                          <p:attrName>ppt_x</p:attrName>
                                        </p:attrNameLst>
                                      </p:cBhvr>
                                      <p:tavLst>
                                        <p:tav tm="0">
                                          <p:val>
                                            <p:strVal val="0-#ppt_w/2"/>
                                          </p:val>
                                        </p:tav>
                                        <p:tav tm="100000">
                                          <p:val>
                                            <p:strVal val="#ppt_x"/>
                                          </p:val>
                                        </p:tav>
                                      </p:tavLst>
                                    </p:anim>
                                    <p:anim calcmode="lin" valueType="num">
                                      <p:cBhvr>
                                        <p:cTn id="12" dur="1000" fill="hold"/>
                                        <p:tgtEl>
                                          <p:spTgt spid="1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5" grpId="1"/>
      <p:bldP build="whole" bldLvl="1" animBg="1" rev="0" advAuto="0" spid="145" grpId="2"/>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86"/>
          <p:cNvSpPr txBox="1"/>
          <p:nvPr/>
        </p:nvSpPr>
        <p:spPr>
          <a:xfrm>
            <a:off x="844125" y="2480168"/>
            <a:ext cx="115062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（1）根结点的值大于左子树上所有结点的值(如果左子树不空)；</a:t>
            </a:r>
          </a:p>
        </p:txBody>
      </p:sp>
      <p:sp>
        <p:nvSpPr>
          <p:cNvPr id="198" name="Shape 87"/>
          <p:cNvSpPr txBox="1"/>
          <p:nvPr/>
        </p:nvSpPr>
        <p:spPr>
          <a:xfrm>
            <a:off x="447885" y="1681479"/>
            <a:ext cx="112014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二叉搜索树或者是一棵空树；或者是具有如下特性的二叉树：</a:t>
            </a:r>
          </a:p>
        </p:txBody>
      </p:sp>
      <p:sp>
        <p:nvSpPr>
          <p:cNvPr id="199" name="Shape 88"/>
          <p:cNvSpPr txBox="1"/>
          <p:nvPr/>
        </p:nvSpPr>
        <p:spPr>
          <a:xfrm>
            <a:off x="839610" y="4081498"/>
            <a:ext cx="112903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（3）根结点的左、右子树也都分别是二叉搜索树。</a:t>
            </a:r>
          </a:p>
        </p:txBody>
      </p:sp>
      <p:sp>
        <p:nvSpPr>
          <p:cNvPr id="200" name="Shape 89"/>
          <p:cNvSpPr txBox="1"/>
          <p:nvPr/>
        </p:nvSpPr>
        <p:spPr>
          <a:xfrm>
            <a:off x="840457" y="3279704"/>
            <a:ext cx="115062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（2）根结点的值小于右子树上所有结点的值(如果右子树不空)；</a:t>
            </a:r>
          </a:p>
        </p:txBody>
      </p:sp>
      <p:sp>
        <p:nvSpPr>
          <p:cNvPr id="201" name="Shape 90"/>
          <p:cNvSpPr txBox="1"/>
          <p:nvPr/>
        </p:nvSpPr>
        <p:spPr>
          <a:xfrm>
            <a:off x="503910" y="5191759"/>
            <a:ext cx="5848555"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又称为二叉排序树</a:t>
            </a:r>
          </a:p>
        </p:txBody>
      </p:sp>
      <p:sp>
        <p:nvSpPr>
          <p:cNvPr id="202" name="Shape 91"/>
          <p:cNvSpPr txBox="1"/>
          <p:nvPr>
            <p:ph type="title"/>
          </p:nvPr>
        </p:nvSpPr>
        <p:spPr>
          <a:xfrm>
            <a:off x="1611488" y="125588"/>
            <a:ext cx="9448801" cy="952501"/>
          </a:xfrm>
          <a:prstGeom prst="rect">
            <a:avLst/>
          </a:prstGeom>
        </p:spPr>
        <p:txBody>
          <a:bodyPr/>
          <a:lstStyle/>
          <a:p>
            <a:pPr/>
            <a:r>
              <a:t>二叉搜索树－定义</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98"/>
                                        </p:tgtEl>
                                        <p:attrNameLst>
                                          <p:attrName>style.visibility</p:attrName>
                                        </p:attrNameLst>
                                      </p:cBhvr>
                                      <p:to>
                                        <p:strVal val="visible"/>
                                      </p:to>
                                    </p:set>
                                    <p:animEffect filter="wipe(left)" transition="in">
                                      <p:cBhvr>
                                        <p:cTn id="7" dur="5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197"/>
                                        </p:tgtEl>
                                        <p:attrNameLst>
                                          <p:attrName>style.visibility</p:attrName>
                                        </p:attrNameLst>
                                      </p:cBhvr>
                                      <p:to>
                                        <p:strVal val="visible"/>
                                      </p:to>
                                    </p:set>
                                    <p:animEffect filter="wipe(left)" transition="in">
                                      <p:cBhvr>
                                        <p:cTn id="12" dur="500"/>
                                        <p:tgtEl>
                                          <p:spTgt spid="19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200"/>
                                        </p:tgtEl>
                                        <p:attrNameLst>
                                          <p:attrName>style.visibility</p:attrName>
                                        </p:attrNameLst>
                                      </p:cBhvr>
                                      <p:to>
                                        <p:strVal val="visible"/>
                                      </p:to>
                                    </p:set>
                                    <p:animEffect filter="wipe(left)" transition="in">
                                      <p:cBhvr>
                                        <p:cTn id="17" dur="500"/>
                                        <p:tgtEl>
                                          <p:spTgt spid="200"/>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199"/>
                                        </p:tgtEl>
                                        <p:attrNameLst>
                                          <p:attrName>style.visibility</p:attrName>
                                        </p:attrNameLst>
                                      </p:cBhvr>
                                      <p:to>
                                        <p:strVal val="visible"/>
                                      </p:to>
                                    </p:set>
                                    <p:animEffect filter="wipe(left)" transition="in">
                                      <p:cBhvr>
                                        <p:cTn id="22" dur="500"/>
                                        <p:tgtEl>
                                          <p:spTgt spid="19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5" fill="hold">
                                  <p:stCondLst>
                                    <p:cond delay="0"/>
                                  </p:stCondLst>
                                  <p:iterate type="el" backwards="0">
                                    <p:tmAbs val="0"/>
                                  </p:iterate>
                                  <p:childTnLst>
                                    <p:set>
                                      <p:cBhvr>
                                        <p:cTn id="26" fill="hold"/>
                                        <p:tgtEl>
                                          <p:spTgt spid="201">
                                            <p:bg/>
                                          </p:spTgt>
                                        </p:tgtEl>
                                        <p:attrNameLst>
                                          <p:attrName>style.visibility</p:attrName>
                                        </p:attrNameLst>
                                      </p:cBhvr>
                                      <p:to>
                                        <p:strVal val="visible"/>
                                      </p:to>
                                    </p:set>
                                  </p:childTnLst>
                                </p:cTn>
                              </p:par>
                              <p:par>
                                <p:cTn id="27" presetClass="entr" nodeType="withEffect" presetSubtype="0" presetID="1" grpId="5" fill="hold">
                                  <p:stCondLst>
                                    <p:cond delay="0"/>
                                  </p:stCondLst>
                                  <p:iterate type="el" backwards="0">
                                    <p:tmAbs val="0"/>
                                  </p:iterate>
                                  <p:childTnLst>
                                    <p:set>
                                      <p:cBhvr>
                                        <p:cTn id="28" fill="hold"/>
                                        <p:tgtEl>
                                          <p:spTgt spid="201">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0" grpId="3"/>
      <p:bldP build="whole" bldLvl="1" animBg="1" rev="0" advAuto="0" spid="197" grpId="2"/>
      <p:bldP build="whole" bldLvl="1" animBg="1" rev="0" advAuto="0" spid="198" grpId="1"/>
      <p:bldP build="p" bldLvl="5" animBg="1" rev="0" advAuto="0" spid="201" grpId="5"/>
      <p:bldP build="whole" bldLvl="1" animBg="1" rev="0" advAuto="0" spid="199" grpId="4"/>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95" name="Group 184"/>
          <p:cNvGrpSpPr/>
          <p:nvPr/>
        </p:nvGrpSpPr>
        <p:grpSpPr>
          <a:xfrm>
            <a:off x="358986" y="3116438"/>
            <a:ext cx="12212887" cy="4338465"/>
            <a:chOff x="0" y="0"/>
            <a:chExt cx="12212886" cy="4338462"/>
          </a:xfrm>
        </p:grpSpPr>
        <p:sp>
          <p:nvSpPr>
            <p:cNvPr id="204" name="Shape 93"/>
            <p:cNvSpPr/>
            <p:nvPr/>
          </p:nvSpPr>
          <p:spPr>
            <a:xfrm>
              <a:off x="-1" y="2862720"/>
              <a:ext cx="431801"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05" name="Shape 94"/>
            <p:cNvSpPr/>
            <p:nvPr/>
          </p:nvSpPr>
          <p:spPr>
            <a:xfrm>
              <a:off x="1271128" y="3563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06" name="Shape 95"/>
            <p:cNvSpPr/>
            <p:nvPr/>
          </p:nvSpPr>
          <p:spPr>
            <a:xfrm>
              <a:off x="2354861" y="3563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07" name="Shape 96"/>
            <p:cNvSpPr/>
            <p:nvPr/>
          </p:nvSpPr>
          <p:spPr>
            <a:xfrm>
              <a:off x="3113475" y="2727254"/>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08" name="Shape 97"/>
            <p:cNvSpPr/>
            <p:nvPr/>
          </p:nvSpPr>
          <p:spPr>
            <a:xfrm>
              <a:off x="4244622" y="3690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09" name="Shape 98"/>
            <p:cNvSpPr/>
            <p:nvPr/>
          </p:nvSpPr>
          <p:spPr>
            <a:xfrm>
              <a:off x="5328355" y="3690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0" name="Shape 99"/>
            <p:cNvSpPr/>
            <p:nvPr/>
          </p:nvSpPr>
          <p:spPr>
            <a:xfrm>
              <a:off x="6082453" y="2727254"/>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1" name="Shape 100"/>
            <p:cNvSpPr/>
            <p:nvPr/>
          </p:nvSpPr>
          <p:spPr>
            <a:xfrm>
              <a:off x="7274560" y="3623592"/>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2" name="Shape 101"/>
            <p:cNvSpPr/>
            <p:nvPr/>
          </p:nvSpPr>
          <p:spPr>
            <a:xfrm>
              <a:off x="8358293" y="3623592"/>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3" name="Shape 102"/>
            <p:cNvSpPr/>
            <p:nvPr/>
          </p:nvSpPr>
          <p:spPr>
            <a:xfrm>
              <a:off x="9442026" y="2727254"/>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4" name="Shape 103"/>
            <p:cNvSpPr/>
            <p:nvPr/>
          </p:nvSpPr>
          <p:spPr>
            <a:xfrm>
              <a:off x="10805724" y="3563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5" name="Shape 104"/>
            <p:cNvSpPr/>
            <p:nvPr/>
          </p:nvSpPr>
          <p:spPr>
            <a:xfrm>
              <a:off x="11781084" y="3563761"/>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16" name="Shape 105"/>
            <p:cNvSpPr/>
            <p:nvPr/>
          </p:nvSpPr>
          <p:spPr>
            <a:xfrm flipH="1">
              <a:off x="2463235" y="451413"/>
              <a:ext cx="3251202" cy="54610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17" name="Shape 106"/>
            <p:cNvSpPr/>
            <p:nvPr/>
          </p:nvSpPr>
          <p:spPr>
            <a:xfrm>
              <a:off x="6624320" y="451414"/>
              <a:ext cx="21717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18" name="Shape 107"/>
            <p:cNvSpPr/>
            <p:nvPr/>
          </p:nvSpPr>
          <p:spPr>
            <a:xfrm flipH="1">
              <a:off x="1054381" y="1074561"/>
              <a:ext cx="713460" cy="489939"/>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19" name="Shape 108"/>
            <p:cNvSpPr/>
            <p:nvPr/>
          </p:nvSpPr>
          <p:spPr>
            <a:xfrm flipH="1">
              <a:off x="216745" y="2104108"/>
              <a:ext cx="215902" cy="7620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0" name="Shape 109"/>
            <p:cNvSpPr/>
            <p:nvPr/>
          </p:nvSpPr>
          <p:spPr>
            <a:xfrm>
              <a:off x="1052123" y="1995734"/>
              <a:ext cx="652500" cy="54412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1" name="Shape 110"/>
            <p:cNvSpPr/>
            <p:nvPr/>
          </p:nvSpPr>
          <p:spPr>
            <a:xfrm flipH="1">
              <a:off x="1487874" y="3017661"/>
              <a:ext cx="2159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2" name="Shape 111"/>
            <p:cNvSpPr/>
            <p:nvPr/>
          </p:nvSpPr>
          <p:spPr>
            <a:xfrm>
              <a:off x="2354861" y="3017661"/>
              <a:ext cx="2159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3" name="Shape 112"/>
            <p:cNvSpPr/>
            <p:nvPr/>
          </p:nvSpPr>
          <p:spPr>
            <a:xfrm>
              <a:off x="2381954" y="1303161"/>
              <a:ext cx="717976" cy="38608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4" name="Shape 113"/>
            <p:cNvSpPr/>
            <p:nvPr/>
          </p:nvSpPr>
          <p:spPr>
            <a:xfrm>
              <a:off x="3330222" y="2185387"/>
              <a:ext cx="2260"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5" name="Shape 114"/>
            <p:cNvSpPr/>
            <p:nvPr/>
          </p:nvSpPr>
          <p:spPr>
            <a:xfrm>
              <a:off x="5219982" y="3030361"/>
              <a:ext cx="3302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6" name="Shape 115"/>
            <p:cNvSpPr/>
            <p:nvPr/>
          </p:nvSpPr>
          <p:spPr>
            <a:xfrm>
              <a:off x="3872089" y="1968641"/>
              <a:ext cx="7620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7" name="Shape 116"/>
            <p:cNvSpPr/>
            <p:nvPr/>
          </p:nvSpPr>
          <p:spPr>
            <a:xfrm flipH="1">
              <a:off x="4461369" y="3030361"/>
              <a:ext cx="2159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8" name="Shape 117"/>
            <p:cNvSpPr/>
            <p:nvPr/>
          </p:nvSpPr>
          <p:spPr>
            <a:xfrm flipH="1">
              <a:off x="7382933" y="993281"/>
              <a:ext cx="12954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29" name="Shape 118"/>
            <p:cNvSpPr/>
            <p:nvPr/>
          </p:nvSpPr>
          <p:spPr>
            <a:xfrm flipH="1">
              <a:off x="6299200" y="1995734"/>
              <a:ext cx="482601" cy="73152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0" name="Shape 119"/>
            <p:cNvSpPr/>
            <p:nvPr/>
          </p:nvSpPr>
          <p:spPr>
            <a:xfrm>
              <a:off x="7382933" y="2077014"/>
              <a:ext cx="426722" cy="431238"/>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1" name="Shape 120"/>
            <p:cNvSpPr/>
            <p:nvPr/>
          </p:nvSpPr>
          <p:spPr>
            <a:xfrm flipH="1">
              <a:off x="7599680" y="3081725"/>
              <a:ext cx="2159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2" name="Shape 121"/>
            <p:cNvSpPr/>
            <p:nvPr/>
          </p:nvSpPr>
          <p:spPr>
            <a:xfrm>
              <a:off x="8249920" y="3081725"/>
              <a:ext cx="3302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3" name="Shape 122"/>
            <p:cNvSpPr/>
            <p:nvPr/>
          </p:nvSpPr>
          <p:spPr>
            <a:xfrm>
              <a:off x="9550401" y="1101654"/>
              <a:ext cx="762000" cy="4318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4" name="Shape 123"/>
            <p:cNvSpPr/>
            <p:nvPr/>
          </p:nvSpPr>
          <p:spPr>
            <a:xfrm flipH="1">
              <a:off x="9658775" y="2185387"/>
              <a:ext cx="4318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5" name="Shape 124"/>
            <p:cNvSpPr/>
            <p:nvPr/>
          </p:nvSpPr>
          <p:spPr>
            <a:xfrm>
              <a:off x="10710898" y="1995734"/>
              <a:ext cx="605086" cy="514776"/>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6" name="Shape 125"/>
            <p:cNvSpPr/>
            <p:nvPr/>
          </p:nvSpPr>
          <p:spPr>
            <a:xfrm flipH="1">
              <a:off x="11022472" y="3131961"/>
              <a:ext cx="215902" cy="4318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37" name="Shape 126"/>
            <p:cNvSpPr/>
            <p:nvPr/>
          </p:nvSpPr>
          <p:spPr>
            <a:xfrm>
              <a:off x="11672712" y="3131961"/>
              <a:ext cx="215902" cy="4318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240" name="Group 129"/>
            <p:cNvGrpSpPr/>
            <p:nvPr/>
          </p:nvGrpSpPr>
          <p:grpSpPr>
            <a:xfrm>
              <a:off x="5712178" y="0"/>
              <a:ext cx="863603" cy="811533"/>
              <a:chOff x="0" y="0"/>
              <a:chExt cx="863602" cy="811532"/>
            </a:xfrm>
          </p:grpSpPr>
          <p:sp>
            <p:nvSpPr>
              <p:cNvPr id="238" name="Shape 127"/>
              <p:cNvSpPr/>
              <p:nvPr/>
            </p:nvSpPr>
            <p:spPr>
              <a:xfrm>
                <a:off x="-1" y="4953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39" name="Shape 128"/>
              <p:cNvSpPr txBox="1"/>
              <p:nvPr/>
            </p:nvSpPr>
            <p:spPr>
              <a:xfrm>
                <a:off x="182835" y="-1"/>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a:t>
                </a:r>
              </a:p>
            </p:txBody>
          </p:sp>
        </p:grpSp>
        <p:grpSp>
          <p:nvGrpSpPr>
            <p:cNvPr id="243" name="Group 132"/>
            <p:cNvGrpSpPr/>
            <p:nvPr/>
          </p:nvGrpSpPr>
          <p:grpSpPr>
            <a:xfrm>
              <a:off x="1596248" y="618631"/>
              <a:ext cx="863603" cy="811534"/>
              <a:chOff x="0" y="0"/>
              <a:chExt cx="863602" cy="811533"/>
            </a:xfrm>
          </p:grpSpPr>
          <p:sp>
            <p:nvSpPr>
              <p:cNvPr id="241" name="Shape 130"/>
              <p:cNvSpPr/>
              <p:nvPr/>
            </p:nvSpPr>
            <p:spPr>
              <a:xfrm>
                <a:off x="-1" y="49529"/>
                <a:ext cx="863604" cy="762005"/>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42" name="Shape 131"/>
              <p:cNvSpPr txBox="1"/>
              <p:nvPr/>
            </p:nvSpPr>
            <p:spPr>
              <a:xfrm>
                <a:off x="182834" y="-1"/>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a:t>
                </a:r>
              </a:p>
            </p:txBody>
          </p:sp>
        </p:grpSp>
        <p:grpSp>
          <p:nvGrpSpPr>
            <p:cNvPr id="246" name="Group 135"/>
            <p:cNvGrpSpPr/>
            <p:nvPr/>
          </p:nvGrpSpPr>
          <p:grpSpPr>
            <a:xfrm>
              <a:off x="8683413" y="618631"/>
              <a:ext cx="863603" cy="811534"/>
              <a:chOff x="0" y="0"/>
              <a:chExt cx="863602" cy="811533"/>
            </a:xfrm>
          </p:grpSpPr>
          <p:sp>
            <p:nvSpPr>
              <p:cNvPr id="244" name="Shape 133"/>
              <p:cNvSpPr/>
              <p:nvPr/>
            </p:nvSpPr>
            <p:spPr>
              <a:xfrm>
                <a:off x="-1" y="49529"/>
                <a:ext cx="863604" cy="762005"/>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45" name="Shape 134"/>
              <p:cNvSpPr txBox="1"/>
              <p:nvPr/>
            </p:nvSpPr>
            <p:spPr>
              <a:xfrm>
                <a:off x="182835" y="-1"/>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a:t>
                </a:r>
              </a:p>
            </p:txBody>
          </p:sp>
        </p:grpSp>
        <p:grpSp>
          <p:nvGrpSpPr>
            <p:cNvPr id="249" name="Group 138"/>
            <p:cNvGrpSpPr/>
            <p:nvPr/>
          </p:nvGrpSpPr>
          <p:grpSpPr>
            <a:xfrm>
              <a:off x="295767" y="1456125"/>
              <a:ext cx="863603" cy="762003"/>
              <a:chOff x="0" y="0"/>
              <a:chExt cx="863602" cy="762002"/>
            </a:xfrm>
          </p:grpSpPr>
          <p:sp>
            <p:nvSpPr>
              <p:cNvPr id="247" name="Shape 136"/>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48" name="Shape 137"/>
              <p:cNvSpPr txBox="1"/>
              <p:nvPr/>
            </p:nvSpPr>
            <p:spPr>
              <a:xfrm>
                <a:off x="246335" y="120085"/>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a:t>
                </a:r>
              </a:p>
            </p:txBody>
          </p:sp>
        </p:grpSp>
        <p:grpSp>
          <p:nvGrpSpPr>
            <p:cNvPr id="252" name="Group 141"/>
            <p:cNvGrpSpPr/>
            <p:nvPr/>
          </p:nvGrpSpPr>
          <p:grpSpPr>
            <a:xfrm>
              <a:off x="1596248" y="2431485"/>
              <a:ext cx="863603" cy="762003"/>
              <a:chOff x="0" y="0"/>
              <a:chExt cx="863602" cy="762002"/>
            </a:xfrm>
          </p:grpSpPr>
          <p:sp>
            <p:nvSpPr>
              <p:cNvPr id="250" name="Shape 139"/>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51" name="Shape 140"/>
              <p:cNvSpPr txBox="1"/>
              <p:nvPr/>
            </p:nvSpPr>
            <p:spPr>
              <a:xfrm>
                <a:off x="246334" y="109925"/>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a:t>
                </a:r>
              </a:p>
            </p:txBody>
          </p:sp>
        </p:grpSp>
        <p:grpSp>
          <p:nvGrpSpPr>
            <p:cNvPr id="255" name="Group 144"/>
            <p:cNvGrpSpPr/>
            <p:nvPr/>
          </p:nvGrpSpPr>
          <p:grpSpPr>
            <a:xfrm>
              <a:off x="4522329" y="2402134"/>
              <a:ext cx="863603" cy="762003"/>
              <a:chOff x="0" y="0"/>
              <a:chExt cx="863602" cy="762002"/>
            </a:xfrm>
          </p:grpSpPr>
          <p:sp>
            <p:nvSpPr>
              <p:cNvPr id="253" name="Shape 142"/>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54" name="Shape 143"/>
              <p:cNvSpPr txBox="1"/>
              <p:nvPr/>
            </p:nvSpPr>
            <p:spPr>
              <a:xfrm>
                <a:off x="259035" y="140969"/>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a:t>
                </a:r>
              </a:p>
            </p:txBody>
          </p:sp>
        </p:grpSp>
        <p:grpSp>
          <p:nvGrpSpPr>
            <p:cNvPr id="258" name="Group 147"/>
            <p:cNvGrpSpPr/>
            <p:nvPr/>
          </p:nvGrpSpPr>
          <p:grpSpPr>
            <a:xfrm>
              <a:off x="6624320" y="1377244"/>
              <a:ext cx="863603" cy="811534"/>
              <a:chOff x="0" y="0"/>
              <a:chExt cx="863602" cy="811533"/>
            </a:xfrm>
          </p:grpSpPr>
          <p:sp>
            <p:nvSpPr>
              <p:cNvPr id="256" name="Shape 145"/>
              <p:cNvSpPr/>
              <p:nvPr/>
            </p:nvSpPr>
            <p:spPr>
              <a:xfrm>
                <a:off x="-1" y="49529"/>
                <a:ext cx="863604" cy="762005"/>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57" name="Shape 146"/>
              <p:cNvSpPr txBox="1"/>
              <p:nvPr/>
            </p:nvSpPr>
            <p:spPr>
              <a:xfrm>
                <a:off x="182835" y="-1"/>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7</a:t>
                </a:r>
              </a:p>
            </p:txBody>
          </p:sp>
        </p:grpSp>
        <p:grpSp>
          <p:nvGrpSpPr>
            <p:cNvPr id="261" name="Group 150"/>
            <p:cNvGrpSpPr/>
            <p:nvPr/>
          </p:nvGrpSpPr>
          <p:grpSpPr>
            <a:xfrm>
              <a:off x="7599680" y="2402134"/>
              <a:ext cx="863603" cy="762003"/>
              <a:chOff x="0" y="0"/>
              <a:chExt cx="863602" cy="762002"/>
            </a:xfrm>
          </p:grpSpPr>
          <p:sp>
            <p:nvSpPr>
              <p:cNvPr id="259" name="Shape 148"/>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60" name="Shape 149"/>
              <p:cNvSpPr txBox="1"/>
              <p:nvPr/>
            </p:nvSpPr>
            <p:spPr>
              <a:xfrm>
                <a:off x="233635" y="153669"/>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a:t>
                </a:r>
              </a:p>
            </p:txBody>
          </p:sp>
        </p:grpSp>
        <p:grpSp>
          <p:nvGrpSpPr>
            <p:cNvPr id="264" name="Group 153"/>
            <p:cNvGrpSpPr/>
            <p:nvPr/>
          </p:nvGrpSpPr>
          <p:grpSpPr>
            <a:xfrm>
              <a:off x="9983893" y="1535147"/>
              <a:ext cx="863603" cy="762003"/>
              <a:chOff x="0" y="0"/>
              <a:chExt cx="863602" cy="762002"/>
            </a:xfrm>
          </p:grpSpPr>
          <p:sp>
            <p:nvSpPr>
              <p:cNvPr id="262" name="Shape 151"/>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63" name="Shape 152"/>
              <p:cNvSpPr txBox="1"/>
              <p:nvPr/>
            </p:nvSpPr>
            <p:spPr>
              <a:xfrm>
                <a:off x="157434" y="9017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10</a:t>
                </a:r>
              </a:p>
            </p:txBody>
          </p:sp>
        </p:grpSp>
        <p:grpSp>
          <p:nvGrpSpPr>
            <p:cNvPr id="267" name="Group 156"/>
            <p:cNvGrpSpPr/>
            <p:nvPr/>
          </p:nvGrpSpPr>
          <p:grpSpPr>
            <a:xfrm>
              <a:off x="10959253" y="2478899"/>
              <a:ext cx="863603" cy="762003"/>
              <a:chOff x="0" y="0"/>
              <a:chExt cx="863602" cy="762002"/>
            </a:xfrm>
          </p:grpSpPr>
          <p:sp>
            <p:nvSpPr>
              <p:cNvPr id="265" name="Shape 154"/>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66" name="Shape 155"/>
              <p:cNvSpPr txBox="1"/>
              <p:nvPr/>
            </p:nvSpPr>
            <p:spPr>
              <a:xfrm>
                <a:off x="202455" y="153670"/>
                <a:ext cx="465589"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11</a:t>
                </a:r>
              </a:p>
            </p:txBody>
          </p:sp>
        </p:grpSp>
        <p:grpSp>
          <p:nvGrpSpPr>
            <p:cNvPr id="270" name="Group 159"/>
            <p:cNvGrpSpPr/>
            <p:nvPr/>
          </p:nvGrpSpPr>
          <p:grpSpPr>
            <a:xfrm>
              <a:off x="3005102" y="1377244"/>
              <a:ext cx="863603" cy="811534"/>
              <a:chOff x="0" y="0"/>
              <a:chExt cx="863602" cy="811533"/>
            </a:xfrm>
          </p:grpSpPr>
          <p:sp>
            <p:nvSpPr>
              <p:cNvPr id="268" name="Shape 157"/>
              <p:cNvSpPr/>
              <p:nvPr/>
            </p:nvSpPr>
            <p:spPr>
              <a:xfrm>
                <a:off x="-1" y="49529"/>
                <a:ext cx="863604" cy="762005"/>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69" name="Shape 158"/>
              <p:cNvSpPr txBox="1"/>
              <p:nvPr/>
            </p:nvSpPr>
            <p:spPr>
              <a:xfrm>
                <a:off x="182834" y="-1"/>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a:t>
                </a:r>
              </a:p>
            </p:txBody>
          </p:sp>
        </p:grpSp>
        <p:sp>
          <p:nvSpPr>
            <p:cNvPr id="271" name="Shape 160"/>
            <p:cNvSpPr/>
            <p:nvPr/>
          </p:nvSpPr>
          <p:spPr>
            <a:xfrm>
              <a:off x="6635608" y="437867"/>
              <a:ext cx="21717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72" name="Shape 161"/>
            <p:cNvSpPr/>
            <p:nvPr/>
          </p:nvSpPr>
          <p:spPr>
            <a:xfrm flipH="1">
              <a:off x="7394222" y="979734"/>
              <a:ext cx="12954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275" name="Group 164"/>
            <p:cNvGrpSpPr/>
            <p:nvPr/>
          </p:nvGrpSpPr>
          <p:grpSpPr>
            <a:xfrm>
              <a:off x="5714435" y="2258"/>
              <a:ext cx="863603" cy="811532"/>
              <a:chOff x="0" y="0"/>
              <a:chExt cx="863602" cy="811531"/>
            </a:xfrm>
          </p:grpSpPr>
          <p:sp>
            <p:nvSpPr>
              <p:cNvPr id="273" name="Shape 162"/>
              <p:cNvSpPr/>
              <p:nvPr/>
            </p:nvSpPr>
            <p:spPr>
              <a:xfrm>
                <a:off x="-1" y="49529"/>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74" name="Shape 163"/>
              <p:cNvSpPr txBox="1"/>
              <p:nvPr/>
            </p:nvSpPr>
            <p:spPr>
              <a:xfrm>
                <a:off x="182835"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a:t>
                </a:r>
              </a:p>
            </p:txBody>
          </p:sp>
        </p:grpSp>
        <p:grpSp>
          <p:nvGrpSpPr>
            <p:cNvPr id="278" name="Group 167"/>
            <p:cNvGrpSpPr/>
            <p:nvPr/>
          </p:nvGrpSpPr>
          <p:grpSpPr>
            <a:xfrm>
              <a:off x="8687929" y="668161"/>
              <a:ext cx="863603" cy="762003"/>
              <a:chOff x="0" y="0"/>
              <a:chExt cx="863602" cy="762002"/>
            </a:xfrm>
          </p:grpSpPr>
          <p:sp>
            <p:nvSpPr>
              <p:cNvPr id="276" name="Shape 165"/>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77" name="Shape 166"/>
              <p:cNvSpPr txBox="1"/>
              <p:nvPr/>
            </p:nvSpPr>
            <p:spPr>
              <a:xfrm>
                <a:off x="246334" y="15367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a:t>
                </a:r>
              </a:p>
            </p:txBody>
          </p:sp>
        </p:grpSp>
        <p:grpSp>
          <p:nvGrpSpPr>
            <p:cNvPr id="281" name="Group 170"/>
            <p:cNvGrpSpPr/>
            <p:nvPr/>
          </p:nvGrpSpPr>
          <p:grpSpPr>
            <a:xfrm>
              <a:off x="6628835" y="1430161"/>
              <a:ext cx="863603" cy="762003"/>
              <a:chOff x="0" y="0"/>
              <a:chExt cx="863602" cy="762002"/>
            </a:xfrm>
          </p:grpSpPr>
          <p:sp>
            <p:nvSpPr>
              <p:cNvPr id="279" name="Shape 168"/>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80" name="Shape 169"/>
              <p:cNvSpPr txBox="1"/>
              <p:nvPr/>
            </p:nvSpPr>
            <p:spPr>
              <a:xfrm>
                <a:off x="284435" y="159879"/>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7</a:t>
                </a:r>
              </a:p>
            </p:txBody>
          </p:sp>
        </p:grpSp>
        <p:sp>
          <p:nvSpPr>
            <p:cNvPr id="282" name="Shape 171"/>
            <p:cNvSpPr/>
            <p:nvPr/>
          </p:nvSpPr>
          <p:spPr>
            <a:xfrm>
              <a:off x="3104444" y="2734028"/>
              <a:ext cx="431802" cy="6477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83" name="Shape 172"/>
            <p:cNvSpPr/>
            <p:nvPr/>
          </p:nvSpPr>
          <p:spPr>
            <a:xfrm flipH="1">
              <a:off x="2454204" y="458187"/>
              <a:ext cx="32512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84" name="Shape 173"/>
            <p:cNvSpPr/>
            <p:nvPr/>
          </p:nvSpPr>
          <p:spPr>
            <a:xfrm>
              <a:off x="2372923" y="1309370"/>
              <a:ext cx="717976" cy="38608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285" name="Shape 174"/>
            <p:cNvSpPr/>
            <p:nvPr/>
          </p:nvSpPr>
          <p:spPr>
            <a:xfrm>
              <a:off x="3321190" y="2192161"/>
              <a:ext cx="2260"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288" name="Group 177"/>
            <p:cNvGrpSpPr/>
            <p:nvPr/>
          </p:nvGrpSpPr>
          <p:grpSpPr>
            <a:xfrm>
              <a:off x="1587216" y="674934"/>
              <a:ext cx="863603" cy="762003"/>
              <a:chOff x="0" y="0"/>
              <a:chExt cx="863602" cy="762002"/>
            </a:xfrm>
          </p:grpSpPr>
          <p:sp>
            <p:nvSpPr>
              <p:cNvPr id="286" name="Shape 175"/>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87" name="Shape 176"/>
              <p:cNvSpPr txBox="1"/>
              <p:nvPr/>
            </p:nvSpPr>
            <p:spPr>
              <a:xfrm>
                <a:off x="233635" y="15367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a:t>
                </a:r>
              </a:p>
            </p:txBody>
          </p:sp>
        </p:grpSp>
        <p:grpSp>
          <p:nvGrpSpPr>
            <p:cNvPr id="291" name="Group 180"/>
            <p:cNvGrpSpPr/>
            <p:nvPr/>
          </p:nvGrpSpPr>
          <p:grpSpPr>
            <a:xfrm>
              <a:off x="2996070" y="1433547"/>
              <a:ext cx="863604" cy="762003"/>
              <a:chOff x="0" y="0"/>
              <a:chExt cx="863602" cy="762002"/>
            </a:xfrm>
          </p:grpSpPr>
          <p:sp>
            <p:nvSpPr>
              <p:cNvPr id="289" name="Shape 178"/>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90" name="Shape 179"/>
              <p:cNvSpPr txBox="1"/>
              <p:nvPr/>
            </p:nvSpPr>
            <p:spPr>
              <a:xfrm>
                <a:off x="271734" y="14097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a:t>
                </a:r>
              </a:p>
            </p:txBody>
          </p:sp>
        </p:grpSp>
        <p:grpSp>
          <p:nvGrpSpPr>
            <p:cNvPr id="294" name="Group 183"/>
            <p:cNvGrpSpPr/>
            <p:nvPr/>
          </p:nvGrpSpPr>
          <p:grpSpPr>
            <a:xfrm>
              <a:off x="5705404" y="58561"/>
              <a:ext cx="863603" cy="762003"/>
              <a:chOff x="0" y="0"/>
              <a:chExt cx="863602" cy="762002"/>
            </a:xfrm>
          </p:grpSpPr>
          <p:sp>
            <p:nvSpPr>
              <p:cNvPr id="292" name="Shape 181"/>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293" name="Shape 182"/>
              <p:cNvSpPr txBox="1"/>
              <p:nvPr/>
            </p:nvSpPr>
            <p:spPr>
              <a:xfrm>
                <a:off x="271735" y="12827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a:t>
                </a:r>
              </a:p>
            </p:txBody>
          </p:sp>
        </p:grpSp>
      </p:grpSp>
      <p:sp>
        <p:nvSpPr>
          <p:cNvPr id="296" name="Shape 185"/>
          <p:cNvSpPr txBox="1"/>
          <p:nvPr/>
        </p:nvSpPr>
        <p:spPr>
          <a:xfrm>
            <a:off x="5490350" y="7674750"/>
            <a:ext cx="2895602" cy="520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400">
                <a:uFill>
                  <a:solidFill>
                    <a:srgbClr val="000000"/>
                  </a:solidFill>
                </a:uFill>
              </a:defRPr>
            </a:lvl1pPr>
          </a:lstStyle>
          <a:p>
            <a:pPr/>
            <a:r>
              <a:t>折半查找判定树</a:t>
            </a:r>
          </a:p>
        </p:txBody>
      </p:sp>
      <p:sp>
        <p:nvSpPr>
          <p:cNvPr id="297" name="Shape 186"/>
          <p:cNvSpPr txBox="1"/>
          <p:nvPr>
            <p:ph type="title"/>
          </p:nvPr>
        </p:nvSpPr>
        <p:spPr>
          <a:xfrm>
            <a:off x="1611488" y="125588"/>
            <a:ext cx="9448801" cy="952501"/>
          </a:xfrm>
          <a:prstGeom prst="rect">
            <a:avLst/>
          </a:prstGeom>
        </p:spPr>
        <p:txBody>
          <a:bodyPr/>
          <a:lstStyle/>
          <a:p>
            <a:pPr/>
            <a:r>
              <a:t>二叉搜索树－来源</a:t>
            </a:r>
          </a:p>
        </p:txBody>
      </p:sp>
      <p:graphicFrame>
        <p:nvGraphicFramePr>
          <p:cNvPr id="298" name="Table 187"/>
          <p:cNvGraphicFramePr/>
          <p:nvPr/>
        </p:nvGraphicFramePr>
        <p:xfrm>
          <a:off x="825500" y="1585466"/>
          <a:ext cx="10464804" cy="71120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72065"/>
                <a:gridCol w="872065"/>
                <a:gridCol w="872065"/>
                <a:gridCol w="872065"/>
                <a:gridCol w="872065"/>
                <a:gridCol w="872065"/>
                <a:gridCol w="872065"/>
                <a:gridCol w="872065"/>
                <a:gridCol w="872065"/>
                <a:gridCol w="872065"/>
                <a:gridCol w="872065"/>
                <a:gridCol w="872065"/>
              </a:tblGrid>
              <a:tr h="711200">
                <a:tc>
                  <a:txBody>
                    <a:bodyPr/>
                    <a:lstStyle/>
                    <a:p>
                      <a:pPr defTabSz="457200">
                        <a:spcBef>
                          <a:spcPts val="900"/>
                        </a:spcBef>
                        <a:tabLst>
                          <a:tab pos="1295400" algn="l"/>
                        </a:tabLst>
                        <a:defRPr sz="2400">
                          <a:uFillTx/>
                        </a:defRPr>
                      </a:pP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5</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13</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19</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21</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37</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56</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64</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75</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80</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88</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c>
                  <a:txBody>
                    <a:bodyPr/>
                    <a:lstStyle/>
                    <a:p>
                      <a:pPr defTabSz="457200">
                        <a:spcBef>
                          <a:spcPts val="900"/>
                        </a:spcBef>
                        <a:tabLst>
                          <a:tab pos="1295400" algn="l"/>
                        </a:tabLst>
                        <a:defRPr sz="1800">
                          <a:uFillTx/>
                        </a:defRPr>
                      </a:pPr>
                      <a:r>
                        <a:rPr sz="2400"/>
                        <a:t>92</a:t>
                      </a:r>
                    </a:p>
                  </a:txBody>
                  <a:tcPr marL="50800" marR="50800" marT="50800" marB="50800" anchor="ctr" anchorCtr="0" horzOverflow="overflow">
                    <a:lnL w="3175">
                      <a:solidFill>
                        <a:srgbClr val="000000"/>
                      </a:solidFill>
                      <a:miter lim="400000"/>
                    </a:lnL>
                    <a:lnR w="3175">
                      <a:solidFill>
                        <a:srgbClr val="000000"/>
                      </a:solidFill>
                      <a:miter lim="400000"/>
                    </a:lnR>
                    <a:lnT w="3175">
                      <a:solidFill>
                        <a:srgbClr val="000000"/>
                      </a:solidFill>
                      <a:miter lim="400000"/>
                    </a:lnT>
                    <a:lnB w="3175">
                      <a:solidFill>
                        <a:srgbClr val="000000"/>
                      </a:solidFill>
                      <a:miter lim="400000"/>
                    </a:lnB>
                    <a:noFill/>
                  </a:tcPr>
                </a:tc>
              </a:tr>
            </a:tbl>
          </a:graphicData>
        </a:graphic>
      </p:graphicFrame>
      <p:graphicFrame>
        <p:nvGraphicFramePr>
          <p:cNvPr id="299" name="Table 188"/>
          <p:cNvGraphicFramePr/>
          <p:nvPr/>
        </p:nvGraphicFramePr>
        <p:xfrm>
          <a:off x="825500" y="2349500"/>
          <a:ext cx="10464804" cy="7112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72065"/>
                <a:gridCol w="872065"/>
                <a:gridCol w="872065"/>
                <a:gridCol w="872065"/>
                <a:gridCol w="872065"/>
                <a:gridCol w="872065"/>
                <a:gridCol w="872065"/>
                <a:gridCol w="872065"/>
                <a:gridCol w="872065"/>
                <a:gridCol w="872065"/>
                <a:gridCol w="872065"/>
                <a:gridCol w="872065"/>
              </a:tblGrid>
              <a:tr h="711200">
                <a:tc>
                  <a:txBody>
                    <a:bodyPr/>
                    <a:lstStyle/>
                    <a:p>
                      <a:pPr defTabSz="457200">
                        <a:spcBef>
                          <a:spcPts val="900"/>
                        </a:spcBef>
                        <a:tabLst>
                          <a:tab pos="1295400" algn="l"/>
                        </a:tabLst>
                        <a:defRPr sz="1800">
                          <a:uFillTx/>
                        </a:defRPr>
                      </a:pPr>
                      <a:r>
                        <a:rPr sz="2400"/>
                        <a:t>0</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1</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2</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3</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4</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5</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6</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7</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8</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9</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10</a:t>
                      </a:r>
                    </a:p>
                  </a:txBody>
                  <a:tcPr marL="50800" marR="50800" marT="50800" marB="50800" anchor="ctr" anchorCtr="0" horzOverflow="overflow">
                    <a:noFill/>
                  </a:tcPr>
                </a:tc>
                <a:tc>
                  <a:txBody>
                    <a:bodyPr/>
                    <a:lstStyle/>
                    <a:p>
                      <a:pPr defTabSz="457200">
                        <a:spcBef>
                          <a:spcPts val="900"/>
                        </a:spcBef>
                        <a:tabLst>
                          <a:tab pos="1295400" algn="l"/>
                        </a:tabLst>
                        <a:defRPr sz="1800">
                          <a:uFillTx/>
                        </a:defRPr>
                      </a:pPr>
                      <a:r>
                        <a:rPr sz="2400"/>
                        <a:t>11</a:t>
                      </a:r>
                    </a:p>
                  </a:txBody>
                  <a:tcPr marL="50800" marR="50800" marT="50800" marB="50800" anchor="ctr" anchorCtr="0" horzOverflow="overflow">
                    <a:noFill/>
                  </a:tcPr>
                </a:tc>
              </a:tr>
            </a:tbl>
          </a:graphicData>
        </a:graphic>
      </p:graphicFrame>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64" name="Group 253"/>
          <p:cNvGrpSpPr/>
          <p:nvPr/>
        </p:nvGrpSpPr>
        <p:grpSpPr>
          <a:xfrm>
            <a:off x="666043" y="1884680"/>
            <a:ext cx="11527090" cy="3191372"/>
            <a:chOff x="0" y="0"/>
            <a:chExt cx="11527088" cy="3191371"/>
          </a:xfrm>
        </p:grpSpPr>
        <p:sp>
          <p:nvSpPr>
            <p:cNvPr id="303" name="Shape 192"/>
            <p:cNvSpPr/>
            <p:nvPr/>
          </p:nvSpPr>
          <p:spPr>
            <a:xfrm flipH="1">
              <a:off x="2167466" y="401884"/>
              <a:ext cx="3251203"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4" name="Shape 193"/>
            <p:cNvSpPr/>
            <p:nvPr/>
          </p:nvSpPr>
          <p:spPr>
            <a:xfrm>
              <a:off x="6328551" y="401884"/>
              <a:ext cx="21717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5" name="Shape 194"/>
            <p:cNvSpPr/>
            <p:nvPr/>
          </p:nvSpPr>
          <p:spPr>
            <a:xfrm flipH="1">
              <a:off x="758613" y="1025031"/>
              <a:ext cx="713460" cy="489939"/>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6" name="Shape 195"/>
            <p:cNvSpPr/>
            <p:nvPr/>
          </p:nvSpPr>
          <p:spPr>
            <a:xfrm>
              <a:off x="756355" y="1946205"/>
              <a:ext cx="652500" cy="544126"/>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7" name="Shape 196"/>
            <p:cNvSpPr/>
            <p:nvPr/>
          </p:nvSpPr>
          <p:spPr>
            <a:xfrm>
              <a:off x="2086186" y="1253066"/>
              <a:ext cx="717976" cy="38608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8" name="Shape 197"/>
            <p:cNvSpPr/>
            <p:nvPr/>
          </p:nvSpPr>
          <p:spPr>
            <a:xfrm>
              <a:off x="3576320" y="1919111"/>
              <a:ext cx="762002" cy="5461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09" name="Shape 198"/>
            <p:cNvSpPr/>
            <p:nvPr/>
          </p:nvSpPr>
          <p:spPr>
            <a:xfrm flipH="1">
              <a:off x="7087165" y="943751"/>
              <a:ext cx="12954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10" name="Shape 199"/>
            <p:cNvSpPr/>
            <p:nvPr/>
          </p:nvSpPr>
          <p:spPr>
            <a:xfrm>
              <a:off x="7087165" y="2027485"/>
              <a:ext cx="426722" cy="431238"/>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11" name="Shape 200"/>
            <p:cNvSpPr/>
            <p:nvPr/>
          </p:nvSpPr>
          <p:spPr>
            <a:xfrm>
              <a:off x="9254633" y="1052124"/>
              <a:ext cx="762001" cy="4318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12" name="Shape 201"/>
            <p:cNvSpPr/>
            <p:nvPr/>
          </p:nvSpPr>
          <p:spPr>
            <a:xfrm>
              <a:off x="10415130" y="1946205"/>
              <a:ext cx="605087" cy="514775"/>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315" name="Group 204"/>
            <p:cNvGrpSpPr/>
            <p:nvPr/>
          </p:nvGrpSpPr>
          <p:grpSpPr>
            <a:xfrm>
              <a:off x="5416408" y="0"/>
              <a:ext cx="863603" cy="762001"/>
              <a:chOff x="0" y="0"/>
              <a:chExt cx="863602" cy="762000"/>
            </a:xfrm>
          </p:grpSpPr>
          <p:sp>
            <p:nvSpPr>
              <p:cNvPr id="313" name="Shape 202"/>
              <p:cNvSpPr/>
              <p:nvPr/>
            </p:nvSpPr>
            <p:spPr>
              <a:xfrm>
                <a:off x="-1" y="-1"/>
                <a:ext cx="863604" cy="76200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14" name="Shape 203"/>
              <p:cNvSpPr txBox="1"/>
              <p:nvPr/>
            </p:nvSpPr>
            <p:spPr>
              <a:xfrm>
                <a:off x="220935" y="3175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a:t>
                </a:r>
              </a:p>
            </p:txBody>
          </p:sp>
        </p:grpSp>
        <p:grpSp>
          <p:nvGrpSpPr>
            <p:cNvPr id="318" name="Group 207"/>
            <p:cNvGrpSpPr/>
            <p:nvPr/>
          </p:nvGrpSpPr>
          <p:grpSpPr>
            <a:xfrm>
              <a:off x="1300480" y="618631"/>
              <a:ext cx="863603" cy="762003"/>
              <a:chOff x="0" y="0"/>
              <a:chExt cx="863602" cy="762002"/>
            </a:xfrm>
          </p:grpSpPr>
          <p:sp>
            <p:nvSpPr>
              <p:cNvPr id="316" name="Shape 205"/>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17" name="Shape 206"/>
              <p:cNvSpPr txBox="1"/>
              <p:nvPr/>
            </p:nvSpPr>
            <p:spPr>
              <a:xfrm>
                <a:off x="220935" y="317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a:t>
                </a:r>
              </a:p>
            </p:txBody>
          </p:sp>
        </p:grpSp>
        <p:grpSp>
          <p:nvGrpSpPr>
            <p:cNvPr id="321" name="Group 210"/>
            <p:cNvGrpSpPr/>
            <p:nvPr/>
          </p:nvGrpSpPr>
          <p:grpSpPr>
            <a:xfrm>
              <a:off x="8387645" y="618631"/>
              <a:ext cx="863603" cy="762003"/>
              <a:chOff x="0" y="0"/>
              <a:chExt cx="863602" cy="762002"/>
            </a:xfrm>
          </p:grpSpPr>
          <p:sp>
            <p:nvSpPr>
              <p:cNvPr id="319" name="Shape 208"/>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20" name="Shape 209"/>
              <p:cNvSpPr txBox="1"/>
              <p:nvPr/>
            </p:nvSpPr>
            <p:spPr>
              <a:xfrm>
                <a:off x="220935" y="317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a:t>
                </a:r>
              </a:p>
            </p:txBody>
          </p:sp>
        </p:grpSp>
        <p:grpSp>
          <p:nvGrpSpPr>
            <p:cNvPr id="324" name="Group 213"/>
            <p:cNvGrpSpPr/>
            <p:nvPr/>
          </p:nvGrpSpPr>
          <p:grpSpPr>
            <a:xfrm>
              <a:off x="0" y="1406595"/>
              <a:ext cx="863601" cy="762003"/>
              <a:chOff x="0" y="0"/>
              <a:chExt cx="863600" cy="762002"/>
            </a:xfrm>
          </p:grpSpPr>
          <p:sp>
            <p:nvSpPr>
              <p:cNvPr id="322" name="Shape 211"/>
              <p:cNvSpPr/>
              <p:nvPr/>
            </p:nvSpPr>
            <p:spPr>
              <a:xfrm>
                <a:off x="-1" y="0"/>
                <a:ext cx="863601"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23" name="Shape 212"/>
              <p:cNvSpPr txBox="1"/>
              <p:nvPr/>
            </p:nvSpPr>
            <p:spPr>
              <a:xfrm>
                <a:off x="220935" y="1841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a:t>
                </a:r>
              </a:p>
            </p:txBody>
          </p:sp>
        </p:grpSp>
        <p:grpSp>
          <p:nvGrpSpPr>
            <p:cNvPr id="327" name="Group 216"/>
            <p:cNvGrpSpPr/>
            <p:nvPr/>
          </p:nvGrpSpPr>
          <p:grpSpPr>
            <a:xfrm>
              <a:off x="1300480" y="2381956"/>
              <a:ext cx="863603" cy="762003"/>
              <a:chOff x="0" y="0"/>
              <a:chExt cx="863602" cy="762002"/>
            </a:xfrm>
          </p:grpSpPr>
          <p:sp>
            <p:nvSpPr>
              <p:cNvPr id="325" name="Shape 214"/>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26" name="Shape 215"/>
              <p:cNvSpPr txBox="1"/>
              <p:nvPr/>
            </p:nvSpPr>
            <p:spPr>
              <a:xfrm>
                <a:off x="170135" y="1587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13</a:t>
                </a:r>
              </a:p>
            </p:txBody>
          </p:sp>
        </p:grpSp>
        <p:grpSp>
          <p:nvGrpSpPr>
            <p:cNvPr id="330" name="Group 219"/>
            <p:cNvGrpSpPr/>
            <p:nvPr/>
          </p:nvGrpSpPr>
          <p:grpSpPr>
            <a:xfrm>
              <a:off x="4226559" y="2352605"/>
              <a:ext cx="863603" cy="762003"/>
              <a:chOff x="0" y="0"/>
              <a:chExt cx="863602" cy="762002"/>
            </a:xfrm>
          </p:grpSpPr>
          <p:sp>
            <p:nvSpPr>
              <p:cNvPr id="328" name="Shape 217"/>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29" name="Shape 218"/>
              <p:cNvSpPr txBox="1"/>
              <p:nvPr/>
            </p:nvSpPr>
            <p:spPr>
              <a:xfrm>
                <a:off x="170135" y="1714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grpSp>
          <p:nvGrpSpPr>
            <p:cNvPr id="333" name="Group 222"/>
            <p:cNvGrpSpPr/>
            <p:nvPr/>
          </p:nvGrpSpPr>
          <p:grpSpPr>
            <a:xfrm>
              <a:off x="6328551" y="1377244"/>
              <a:ext cx="863603" cy="762003"/>
              <a:chOff x="0" y="0"/>
              <a:chExt cx="863602" cy="762002"/>
            </a:xfrm>
          </p:grpSpPr>
          <p:sp>
            <p:nvSpPr>
              <p:cNvPr id="331" name="Shape 220"/>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32" name="Shape 221"/>
              <p:cNvSpPr txBox="1"/>
              <p:nvPr/>
            </p:nvSpPr>
            <p:spPr>
              <a:xfrm>
                <a:off x="220935" y="317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7</a:t>
                </a:r>
              </a:p>
            </p:txBody>
          </p:sp>
        </p:grpSp>
        <p:grpSp>
          <p:nvGrpSpPr>
            <p:cNvPr id="336" name="Group 225"/>
            <p:cNvGrpSpPr/>
            <p:nvPr/>
          </p:nvGrpSpPr>
          <p:grpSpPr>
            <a:xfrm>
              <a:off x="7303911" y="2352605"/>
              <a:ext cx="863603" cy="762003"/>
              <a:chOff x="0" y="0"/>
              <a:chExt cx="863602" cy="762002"/>
            </a:xfrm>
          </p:grpSpPr>
          <p:sp>
            <p:nvSpPr>
              <p:cNvPr id="334" name="Shape 223"/>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35" name="Shape 224"/>
              <p:cNvSpPr txBox="1"/>
              <p:nvPr/>
            </p:nvSpPr>
            <p:spPr>
              <a:xfrm>
                <a:off x="208236" y="1587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75</a:t>
                </a:r>
              </a:p>
            </p:txBody>
          </p:sp>
        </p:grpSp>
        <p:grpSp>
          <p:nvGrpSpPr>
            <p:cNvPr id="339" name="Group 228"/>
            <p:cNvGrpSpPr/>
            <p:nvPr/>
          </p:nvGrpSpPr>
          <p:grpSpPr>
            <a:xfrm>
              <a:off x="9688125" y="1485617"/>
              <a:ext cx="863603" cy="762003"/>
              <a:chOff x="0" y="0"/>
              <a:chExt cx="863602" cy="762002"/>
            </a:xfrm>
          </p:grpSpPr>
          <p:sp>
            <p:nvSpPr>
              <p:cNvPr id="337" name="Shape 226"/>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38" name="Shape 227"/>
              <p:cNvSpPr txBox="1"/>
              <p:nvPr/>
            </p:nvSpPr>
            <p:spPr>
              <a:xfrm>
                <a:off x="170135" y="1460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grpSp>
          <p:nvGrpSpPr>
            <p:cNvPr id="342" name="Group 231"/>
            <p:cNvGrpSpPr/>
            <p:nvPr/>
          </p:nvGrpSpPr>
          <p:grpSpPr>
            <a:xfrm>
              <a:off x="10663486" y="2429369"/>
              <a:ext cx="863603" cy="762003"/>
              <a:chOff x="0" y="0"/>
              <a:chExt cx="863602" cy="762002"/>
            </a:xfrm>
          </p:grpSpPr>
          <p:sp>
            <p:nvSpPr>
              <p:cNvPr id="340" name="Shape 229"/>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41" name="Shape 230"/>
              <p:cNvSpPr txBox="1"/>
              <p:nvPr/>
            </p:nvSpPr>
            <p:spPr>
              <a:xfrm>
                <a:off x="208234" y="1460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92</a:t>
                </a:r>
              </a:p>
            </p:txBody>
          </p:sp>
        </p:grpSp>
        <p:grpSp>
          <p:nvGrpSpPr>
            <p:cNvPr id="345" name="Group 234"/>
            <p:cNvGrpSpPr/>
            <p:nvPr/>
          </p:nvGrpSpPr>
          <p:grpSpPr>
            <a:xfrm>
              <a:off x="2709333" y="1377244"/>
              <a:ext cx="863603" cy="762003"/>
              <a:chOff x="0" y="0"/>
              <a:chExt cx="863602" cy="762002"/>
            </a:xfrm>
          </p:grpSpPr>
          <p:sp>
            <p:nvSpPr>
              <p:cNvPr id="343" name="Shape 232"/>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44" name="Shape 233"/>
              <p:cNvSpPr txBox="1"/>
              <p:nvPr/>
            </p:nvSpPr>
            <p:spPr>
              <a:xfrm>
                <a:off x="220934" y="317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a:t>
                </a:r>
              </a:p>
            </p:txBody>
          </p:sp>
        </p:grpSp>
        <p:grpSp>
          <p:nvGrpSpPr>
            <p:cNvPr id="348" name="Group 237"/>
            <p:cNvGrpSpPr/>
            <p:nvPr/>
          </p:nvGrpSpPr>
          <p:grpSpPr>
            <a:xfrm>
              <a:off x="5418666" y="7619"/>
              <a:ext cx="863603" cy="762003"/>
              <a:chOff x="0" y="0"/>
              <a:chExt cx="863602" cy="762002"/>
            </a:xfrm>
          </p:grpSpPr>
          <p:sp>
            <p:nvSpPr>
              <p:cNvPr id="346" name="Shape 235"/>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47" name="Shape 236"/>
              <p:cNvSpPr txBox="1"/>
              <p:nvPr/>
            </p:nvSpPr>
            <p:spPr>
              <a:xfrm>
                <a:off x="220934" y="31750"/>
                <a:ext cx="3245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a:t>
                </a:r>
              </a:p>
            </p:txBody>
          </p:sp>
        </p:grpSp>
        <p:grpSp>
          <p:nvGrpSpPr>
            <p:cNvPr id="351" name="Group 240"/>
            <p:cNvGrpSpPr/>
            <p:nvPr/>
          </p:nvGrpSpPr>
          <p:grpSpPr>
            <a:xfrm>
              <a:off x="8392160" y="618631"/>
              <a:ext cx="863603" cy="762003"/>
              <a:chOff x="0" y="0"/>
              <a:chExt cx="863602" cy="762002"/>
            </a:xfrm>
          </p:grpSpPr>
          <p:sp>
            <p:nvSpPr>
              <p:cNvPr id="349" name="Shape 238"/>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50" name="Shape 239"/>
              <p:cNvSpPr txBox="1"/>
              <p:nvPr/>
            </p:nvSpPr>
            <p:spPr>
              <a:xfrm>
                <a:off x="208235" y="1460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354" name="Group 243"/>
            <p:cNvGrpSpPr/>
            <p:nvPr/>
          </p:nvGrpSpPr>
          <p:grpSpPr>
            <a:xfrm>
              <a:off x="6333067" y="1374139"/>
              <a:ext cx="863603" cy="762003"/>
              <a:chOff x="0" y="0"/>
              <a:chExt cx="863602" cy="762002"/>
            </a:xfrm>
          </p:grpSpPr>
          <p:sp>
            <p:nvSpPr>
              <p:cNvPr id="352" name="Shape 241"/>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53" name="Shape 242"/>
              <p:cNvSpPr txBox="1"/>
              <p:nvPr/>
            </p:nvSpPr>
            <p:spPr>
              <a:xfrm>
                <a:off x="182835" y="1714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64</a:t>
                </a:r>
              </a:p>
            </p:txBody>
          </p:sp>
        </p:grpSp>
        <p:grpSp>
          <p:nvGrpSpPr>
            <p:cNvPr id="357" name="Group 246"/>
            <p:cNvGrpSpPr/>
            <p:nvPr/>
          </p:nvGrpSpPr>
          <p:grpSpPr>
            <a:xfrm>
              <a:off x="1291448" y="625404"/>
              <a:ext cx="863603" cy="762003"/>
              <a:chOff x="0" y="0"/>
              <a:chExt cx="863602" cy="762002"/>
            </a:xfrm>
          </p:grpSpPr>
          <p:sp>
            <p:nvSpPr>
              <p:cNvPr id="355" name="Shape 244"/>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56" name="Shape 245"/>
              <p:cNvSpPr txBox="1"/>
              <p:nvPr/>
            </p:nvSpPr>
            <p:spPr>
              <a:xfrm>
                <a:off x="157435" y="1460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19</a:t>
                </a:r>
              </a:p>
            </p:txBody>
          </p:sp>
        </p:grpSp>
        <p:grpSp>
          <p:nvGrpSpPr>
            <p:cNvPr id="360" name="Group 249"/>
            <p:cNvGrpSpPr/>
            <p:nvPr/>
          </p:nvGrpSpPr>
          <p:grpSpPr>
            <a:xfrm>
              <a:off x="2700302" y="1384017"/>
              <a:ext cx="863603" cy="762003"/>
              <a:chOff x="0" y="0"/>
              <a:chExt cx="863602" cy="762002"/>
            </a:xfrm>
          </p:grpSpPr>
          <p:sp>
            <p:nvSpPr>
              <p:cNvPr id="358" name="Shape 247"/>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59" name="Shape 248"/>
              <p:cNvSpPr txBox="1"/>
              <p:nvPr/>
            </p:nvSpPr>
            <p:spPr>
              <a:xfrm>
                <a:off x="208234" y="1587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21</a:t>
                </a:r>
              </a:p>
            </p:txBody>
          </p:sp>
        </p:grpSp>
        <p:grpSp>
          <p:nvGrpSpPr>
            <p:cNvPr id="363" name="Group 252"/>
            <p:cNvGrpSpPr/>
            <p:nvPr/>
          </p:nvGrpSpPr>
          <p:grpSpPr>
            <a:xfrm>
              <a:off x="5409636" y="9031"/>
              <a:ext cx="863603" cy="762003"/>
              <a:chOff x="0" y="0"/>
              <a:chExt cx="863602" cy="762002"/>
            </a:xfrm>
          </p:grpSpPr>
          <p:sp>
            <p:nvSpPr>
              <p:cNvPr id="361" name="Shape 250"/>
              <p:cNvSpPr/>
              <p:nvPr/>
            </p:nvSpPr>
            <p:spPr>
              <a:xfrm>
                <a:off x="-1" y="0"/>
                <a:ext cx="863604" cy="76200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62" name="Shape 251"/>
              <p:cNvSpPr txBox="1"/>
              <p:nvPr/>
            </p:nvSpPr>
            <p:spPr>
              <a:xfrm>
                <a:off x="195535" y="158750"/>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56</a:t>
                </a:r>
              </a:p>
            </p:txBody>
          </p:sp>
        </p:grpSp>
      </p:grpSp>
      <p:sp>
        <p:nvSpPr>
          <p:cNvPr id="365" name="Shape 254"/>
          <p:cNvSpPr txBox="1"/>
          <p:nvPr/>
        </p:nvSpPr>
        <p:spPr>
          <a:xfrm>
            <a:off x="3324859" y="6010204"/>
            <a:ext cx="740410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折半查找的过程，就构成了一棵二叉搜索树</a:t>
            </a:r>
          </a:p>
        </p:txBody>
      </p:sp>
      <p:sp>
        <p:nvSpPr>
          <p:cNvPr id="366" name="Shape 255"/>
          <p:cNvSpPr txBox="1"/>
          <p:nvPr>
            <p:ph type="title"/>
          </p:nvPr>
        </p:nvSpPr>
        <p:spPr>
          <a:xfrm>
            <a:off x="1700388" y="176388"/>
            <a:ext cx="9448802" cy="952501"/>
          </a:xfrm>
          <a:prstGeom prst="rect">
            <a:avLst/>
          </a:prstGeom>
        </p:spPr>
        <p:txBody>
          <a:bodyPr/>
          <a:lstStyle/>
          <a:p>
            <a:pPr/>
            <a:r>
              <a:t>二叉搜索树－来源</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265"/>
          <p:cNvSpPr txBox="1"/>
          <p:nvPr/>
        </p:nvSpPr>
        <p:spPr>
          <a:xfrm>
            <a:off x="1833532" y="3545839"/>
            <a:ext cx="10478206" cy="2138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1）若给定值等于根结点的关键字，则查找成功；</a:t>
            </a:r>
          </a:p>
          <a:p>
            <a:pPr marR="57798" defTabSz="1295400">
              <a:spcBef>
                <a:spcPts val="1900"/>
              </a:spcBef>
              <a:defRPr sz="2800">
                <a:uFill>
                  <a:solidFill>
                    <a:srgbClr val="000000"/>
                  </a:solidFill>
                </a:uFill>
              </a:defRPr>
            </a:pPr>
            <a:r>
              <a:t>2）若给定值小于根结点的关键字，则继续在左子树上进行查找；</a:t>
            </a:r>
          </a:p>
          <a:p>
            <a:pPr marR="57798" defTabSz="1295400">
              <a:spcBef>
                <a:spcPts val="1900"/>
              </a:spcBef>
              <a:defRPr sz="2800">
                <a:uFill>
                  <a:solidFill>
                    <a:srgbClr val="000000"/>
                  </a:solidFill>
                </a:uFill>
              </a:defRPr>
            </a:pPr>
            <a:r>
              <a:t>3）若给定值大于根结点的关键字，则继续在右子树上进行查找。</a:t>
            </a:r>
          </a:p>
        </p:txBody>
      </p:sp>
      <p:sp>
        <p:nvSpPr>
          <p:cNvPr id="369" name="Shape 266"/>
          <p:cNvSpPr txBox="1"/>
          <p:nvPr/>
        </p:nvSpPr>
        <p:spPr>
          <a:xfrm>
            <a:off x="1191758" y="2808110"/>
            <a:ext cx="143510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否则：</a:t>
            </a:r>
          </a:p>
        </p:txBody>
      </p:sp>
      <p:sp>
        <p:nvSpPr>
          <p:cNvPr id="370" name="Shape 267"/>
          <p:cNvSpPr txBox="1"/>
          <p:nvPr/>
        </p:nvSpPr>
        <p:spPr>
          <a:xfrm>
            <a:off x="1191476" y="2087597"/>
            <a:ext cx="9372602"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若二叉搜索树为空，则查找不成功；</a:t>
            </a:r>
          </a:p>
        </p:txBody>
      </p:sp>
      <p:sp>
        <p:nvSpPr>
          <p:cNvPr id="371" name="Shape 268"/>
          <p:cNvSpPr txBox="1"/>
          <p:nvPr>
            <p:ph type="title"/>
          </p:nvPr>
        </p:nvSpPr>
        <p:spPr>
          <a:xfrm>
            <a:off x="1611488" y="125588"/>
            <a:ext cx="9448801" cy="952501"/>
          </a:xfrm>
          <a:prstGeom prst="rect">
            <a:avLst/>
          </a:prstGeom>
        </p:spPr>
        <p:txBody>
          <a:bodyPr/>
          <a:lstStyle/>
          <a:p>
            <a:pPr/>
            <a:r>
              <a:t>查找操作</a:t>
            </a:r>
          </a:p>
        </p:txBody>
      </p:sp>
      <p:sp>
        <p:nvSpPr>
          <p:cNvPr id="372" name="递归查找："/>
          <p:cNvSpPr txBox="1"/>
          <p:nvPr/>
        </p:nvSpPr>
        <p:spPr>
          <a:xfrm>
            <a:off x="415600" y="1407301"/>
            <a:ext cx="207710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递归查找：</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Shape 270"/>
          <p:cNvSpPr/>
          <p:nvPr/>
        </p:nvSpPr>
        <p:spPr>
          <a:xfrm>
            <a:off x="6940223" y="3257439"/>
            <a:ext cx="897282" cy="730053"/>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375" name="Shape 271"/>
          <p:cNvSpPr/>
          <p:nvPr/>
        </p:nvSpPr>
        <p:spPr>
          <a:xfrm>
            <a:off x="6902123" y="3232039"/>
            <a:ext cx="897282" cy="730053"/>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376" name="Shape 272"/>
          <p:cNvSpPr/>
          <p:nvPr/>
        </p:nvSpPr>
        <p:spPr>
          <a:xfrm flipH="1">
            <a:off x="5771823" y="5568839"/>
            <a:ext cx="886499" cy="885920"/>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377" name="Shape 273"/>
          <p:cNvSpPr/>
          <p:nvPr/>
        </p:nvSpPr>
        <p:spPr>
          <a:xfrm>
            <a:off x="5644823" y="4425839"/>
            <a:ext cx="973104" cy="742810"/>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378" name="Shape 274"/>
          <p:cNvSpPr txBox="1"/>
          <p:nvPr/>
        </p:nvSpPr>
        <p:spPr>
          <a:xfrm>
            <a:off x="1677842" y="2084523"/>
            <a:ext cx="2489202"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查找关键字</a:t>
            </a:r>
          </a:p>
        </p:txBody>
      </p:sp>
      <p:sp>
        <p:nvSpPr>
          <p:cNvPr id="379" name="Shape 275"/>
          <p:cNvSpPr txBox="1"/>
          <p:nvPr/>
        </p:nvSpPr>
        <p:spPr>
          <a:xfrm>
            <a:off x="4158358" y="2081701"/>
            <a:ext cx="794400" cy="49289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lvl1pPr marR="57798" defTabSz="1295400">
              <a:spcBef>
                <a:spcPts val="1900"/>
              </a:spcBef>
              <a:defRPr sz="2800">
                <a:uFill>
                  <a:solidFill>
                    <a:srgbClr val="000000"/>
                  </a:solidFill>
                </a:uFill>
              </a:defRPr>
            </a:lvl1pPr>
          </a:lstStyle>
          <a:p>
            <a:pPr/>
            <a:r>
              <a:t> 50 ,</a:t>
            </a:r>
          </a:p>
        </p:txBody>
      </p:sp>
      <p:sp>
        <p:nvSpPr>
          <p:cNvPr id="380" name="Shape 276"/>
          <p:cNvSpPr txBox="1"/>
          <p:nvPr/>
        </p:nvSpPr>
        <p:spPr>
          <a:xfrm>
            <a:off x="4842747" y="2091579"/>
            <a:ext cx="705500" cy="49289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lvl1pPr marR="57798" defTabSz="1295400">
              <a:spcBef>
                <a:spcPts val="1900"/>
              </a:spcBef>
              <a:defRPr sz="2800">
                <a:uFill>
                  <a:solidFill>
                    <a:srgbClr val="000000"/>
                  </a:solidFill>
                </a:uFill>
              </a:defRPr>
            </a:lvl1pPr>
          </a:lstStyle>
          <a:p>
            <a:pPr/>
            <a:r>
              <a:t>35 ,</a:t>
            </a:r>
          </a:p>
        </p:txBody>
      </p:sp>
      <p:sp>
        <p:nvSpPr>
          <p:cNvPr id="381" name="Shape 277"/>
          <p:cNvSpPr txBox="1"/>
          <p:nvPr/>
        </p:nvSpPr>
        <p:spPr>
          <a:xfrm>
            <a:off x="5470127" y="2091579"/>
            <a:ext cx="705500" cy="49289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lvl1pPr marR="57798" defTabSz="1295400">
              <a:spcBef>
                <a:spcPts val="1900"/>
              </a:spcBef>
              <a:defRPr sz="2800">
                <a:uFill>
                  <a:solidFill>
                    <a:srgbClr val="000000"/>
                  </a:solidFill>
                </a:uFill>
              </a:defRPr>
            </a:lvl1pPr>
          </a:lstStyle>
          <a:p>
            <a:pPr/>
            <a:r>
              <a:t>90 ,</a:t>
            </a:r>
          </a:p>
        </p:txBody>
      </p:sp>
      <p:sp>
        <p:nvSpPr>
          <p:cNvPr id="382" name="Shape 278"/>
          <p:cNvSpPr txBox="1"/>
          <p:nvPr/>
        </p:nvSpPr>
        <p:spPr>
          <a:xfrm>
            <a:off x="6100330" y="2091579"/>
            <a:ext cx="616600" cy="49289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lvl1pPr marR="57798" defTabSz="1295400">
              <a:spcBef>
                <a:spcPts val="1900"/>
              </a:spcBef>
              <a:defRPr sz="2800">
                <a:uFill>
                  <a:solidFill>
                    <a:srgbClr val="000000"/>
                  </a:solidFill>
                </a:uFill>
              </a:defRPr>
            </a:lvl1pPr>
          </a:lstStyle>
          <a:p>
            <a:pPr/>
            <a:r>
              <a:t>95 </a:t>
            </a:r>
          </a:p>
        </p:txBody>
      </p:sp>
      <p:sp>
        <p:nvSpPr>
          <p:cNvPr id="383" name="Shape 279"/>
          <p:cNvSpPr txBox="1"/>
          <p:nvPr>
            <p:ph type="title"/>
          </p:nvPr>
        </p:nvSpPr>
        <p:spPr>
          <a:xfrm>
            <a:off x="1611488" y="125588"/>
            <a:ext cx="9448801" cy="952501"/>
          </a:xfrm>
          <a:prstGeom prst="rect">
            <a:avLst/>
          </a:prstGeom>
        </p:spPr>
        <p:txBody>
          <a:bodyPr/>
          <a:lstStyle/>
          <a:p>
            <a:pPr/>
            <a:r>
              <a:t>查找操作</a:t>
            </a:r>
          </a:p>
        </p:txBody>
      </p:sp>
      <p:grpSp>
        <p:nvGrpSpPr>
          <p:cNvPr id="423" name="Group 319"/>
          <p:cNvGrpSpPr/>
          <p:nvPr/>
        </p:nvGrpSpPr>
        <p:grpSpPr>
          <a:xfrm>
            <a:off x="3596171" y="2727193"/>
            <a:ext cx="6288480" cy="5594211"/>
            <a:chOff x="0" y="0"/>
            <a:chExt cx="6288479" cy="5594210"/>
          </a:xfrm>
        </p:grpSpPr>
        <p:sp>
          <p:nvSpPr>
            <p:cNvPr id="384" name="Shape 280"/>
            <p:cNvSpPr/>
            <p:nvPr/>
          </p:nvSpPr>
          <p:spPr>
            <a:xfrm flipH="1">
              <a:off x="2009041" y="616037"/>
              <a:ext cx="809685" cy="673404"/>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85" name="Shape 281"/>
            <p:cNvSpPr/>
            <p:nvPr/>
          </p:nvSpPr>
          <p:spPr>
            <a:xfrm flipH="1">
              <a:off x="644313" y="1741680"/>
              <a:ext cx="807248" cy="671322"/>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86" name="Shape 282"/>
            <p:cNvSpPr/>
            <p:nvPr/>
          </p:nvSpPr>
          <p:spPr>
            <a:xfrm>
              <a:off x="3413256" y="583564"/>
              <a:ext cx="897284" cy="730053"/>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87" name="Shape 283"/>
            <p:cNvSpPr/>
            <p:nvPr/>
          </p:nvSpPr>
          <p:spPr>
            <a:xfrm>
              <a:off x="2066148" y="1707726"/>
              <a:ext cx="973105" cy="742811"/>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88" name="Shape 284"/>
            <p:cNvSpPr/>
            <p:nvPr/>
          </p:nvSpPr>
          <p:spPr>
            <a:xfrm flipH="1">
              <a:off x="2231776" y="2773397"/>
              <a:ext cx="886500" cy="885921"/>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89" name="Shape 285"/>
            <p:cNvSpPr/>
            <p:nvPr/>
          </p:nvSpPr>
          <p:spPr>
            <a:xfrm>
              <a:off x="4672472" y="1771226"/>
              <a:ext cx="667865" cy="571901"/>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90" name="Shape 286"/>
            <p:cNvSpPr/>
            <p:nvPr/>
          </p:nvSpPr>
          <p:spPr>
            <a:xfrm flipH="1">
              <a:off x="4782664" y="2911144"/>
              <a:ext cx="664057" cy="785415"/>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391" name="Shape 287"/>
            <p:cNvSpPr/>
            <p:nvPr/>
          </p:nvSpPr>
          <p:spPr>
            <a:xfrm>
              <a:off x="4878652" y="4198056"/>
              <a:ext cx="812024" cy="730101"/>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394" name="Group 290"/>
            <p:cNvGrpSpPr/>
            <p:nvPr/>
          </p:nvGrpSpPr>
          <p:grpSpPr>
            <a:xfrm>
              <a:off x="0" y="2274993"/>
              <a:ext cx="747327" cy="742813"/>
              <a:chOff x="0" y="0"/>
              <a:chExt cx="747325" cy="742812"/>
            </a:xfrm>
          </p:grpSpPr>
          <p:sp>
            <p:nvSpPr>
              <p:cNvPr id="392" name="Shape 288"/>
              <p:cNvSpPr/>
              <p:nvPr/>
            </p:nvSpPr>
            <p:spPr>
              <a:xfrm>
                <a:off x="0" y="-1"/>
                <a:ext cx="747327" cy="742814"/>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93" name="Shape 289"/>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20</a:t>
                </a:r>
              </a:p>
            </p:txBody>
          </p:sp>
        </p:grpSp>
        <p:grpSp>
          <p:nvGrpSpPr>
            <p:cNvPr id="397" name="Group 293"/>
            <p:cNvGrpSpPr/>
            <p:nvPr/>
          </p:nvGrpSpPr>
          <p:grpSpPr>
            <a:xfrm>
              <a:off x="1350151" y="1155700"/>
              <a:ext cx="747327" cy="742811"/>
              <a:chOff x="0" y="0"/>
              <a:chExt cx="747325" cy="742809"/>
            </a:xfrm>
          </p:grpSpPr>
          <p:sp>
            <p:nvSpPr>
              <p:cNvPr id="395" name="Shape 291"/>
              <p:cNvSpPr/>
              <p:nvPr/>
            </p:nvSpPr>
            <p:spPr>
              <a:xfrm>
                <a:off x="0" y="-1"/>
                <a:ext cx="747327"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96" name="Shape 292"/>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30</a:t>
                </a:r>
              </a:p>
            </p:txBody>
          </p:sp>
        </p:grpSp>
        <p:grpSp>
          <p:nvGrpSpPr>
            <p:cNvPr id="400" name="Group 296"/>
            <p:cNvGrpSpPr/>
            <p:nvPr/>
          </p:nvGrpSpPr>
          <p:grpSpPr>
            <a:xfrm>
              <a:off x="2747151" y="-1"/>
              <a:ext cx="747327" cy="742811"/>
              <a:chOff x="0" y="0"/>
              <a:chExt cx="747325" cy="742809"/>
            </a:xfrm>
          </p:grpSpPr>
          <p:sp>
            <p:nvSpPr>
              <p:cNvPr id="398" name="Shape 294"/>
              <p:cNvSpPr/>
              <p:nvPr/>
            </p:nvSpPr>
            <p:spPr>
              <a:xfrm>
                <a:off x="0" y="-1"/>
                <a:ext cx="747327"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399" name="Shape 295"/>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50</a:t>
                </a:r>
              </a:p>
            </p:txBody>
          </p:sp>
        </p:grpSp>
        <p:grpSp>
          <p:nvGrpSpPr>
            <p:cNvPr id="403" name="Group 299"/>
            <p:cNvGrpSpPr/>
            <p:nvPr/>
          </p:nvGrpSpPr>
          <p:grpSpPr>
            <a:xfrm>
              <a:off x="4029851" y="1155700"/>
              <a:ext cx="747329" cy="742811"/>
              <a:chOff x="0" y="0"/>
              <a:chExt cx="747328" cy="742809"/>
            </a:xfrm>
          </p:grpSpPr>
          <p:sp>
            <p:nvSpPr>
              <p:cNvPr id="401" name="Shape 297"/>
              <p:cNvSpPr/>
              <p:nvPr/>
            </p:nvSpPr>
            <p:spPr>
              <a:xfrm>
                <a:off x="0" y="-1"/>
                <a:ext cx="747329"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02" name="Shape 298"/>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80</a:t>
                </a:r>
              </a:p>
            </p:txBody>
          </p:sp>
        </p:grpSp>
        <p:grpSp>
          <p:nvGrpSpPr>
            <p:cNvPr id="406" name="Group 302"/>
            <p:cNvGrpSpPr/>
            <p:nvPr/>
          </p:nvGrpSpPr>
          <p:grpSpPr>
            <a:xfrm>
              <a:off x="5210951" y="2273300"/>
              <a:ext cx="747329" cy="742811"/>
              <a:chOff x="0" y="0"/>
              <a:chExt cx="747328" cy="742809"/>
            </a:xfrm>
          </p:grpSpPr>
          <p:sp>
            <p:nvSpPr>
              <p:cNvPr id="404" name="Shape 300"/>
              <p:cNvSpPr/>
              <p:nvPr/>
            </p:nvSpPr>
            <p:spPr>
              <a:xfrm>
                <a:off x="0" y="-1"/>
                <a:ext cx="747329"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05" name="Shape 301"/>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90</a:t>
                </a:r>
              </a:p>
            </p:txBody>
          </p:sp>
        </p:grpSp>
        <p:grpSp>
          <p:nvGrpSpPr>
            <p:cNvPr id="409" name="Group 305"/>
            <p:cNvGrpSpPr/>
            <p:nvPr/>
          </p:nvGrpSpPr>
          <p:grpSpPr>
            <a:xfrm>
              <a:off x="5541151" y="4851400"/>
              <a:ext cx="747329" cy="742811"/>
              <a:chOff x="0" y="0"/>
              <a:chExt cx="747328" cy="742809"/>
            </a:xfrm>
          </p:grpSpPr>
          <p:sp>
            <p:nvSpPr>
              <p:cNvPr id="407" name="Shape 303"/>
              <p:cNvSpPr/>
              <p:nvPr/>
            </p:nvSpPr>
            <p:spPr>
              <a:xfrm>
                <a:off x="0" y="-1"/>
                <a:ext cx="747329"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08" name="Shape 304"/>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88</a:t>
                </a:r>
              </a:p>
            </p:txBody>
          </p:sp>
        </p:grpSp>
        <p:grpSp>
          <p:nvGrpSpPr>
            <p:cNvPr id="412" name="Group 308"/>
            <p:cNvGrpSpPr/>
            <p:nvPr/>
          </p:nvGrpSpPr>
          <p:grpSpPr>
            <a:xfrm>
              <a:off x="4207651" y="3606800"/>
              <a:ext cx="747329" cy="742811"/>
              <a:chOff x="0" y="0"/>
              <a:chExt cx="747328" cy="742809"/>
            </a:xfrm>
          </p:grpSpPr>
          <p:sp>
            <p:nvSpPr>
              <p:cNvPr id="410" name="Shape 306"/>
              <p:cNvSpPr/>
              <p:nvPr/>
            </p:nvSpPr>
            <p:spPr>
              <a:xfrm>
                <a:off x="0" y="-1"/>
                <a:ext cx="747329"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11" name="Shape 307"/>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85</a:t>
                </a:r>
              </a:p>
            </p:txBody>
          </p:sp>
        </p:grpSp>
        <p:grpSp>
          <p:nvGrpSpPr>
            <p:cNvPr id="415" name="Group 311"/>
            <p:cNvGrpSpPr/>
            <p:nvPr/>
          </p:nvGrpSpPr>
          <p:grpSpPr>
            <a:xfrm>
              <a:off x="2836051" y="2273300"/>
              <a:ext cx="747327" cy="742811"/>
              <a:chOff x="0" y="0"/>
              <a:chExt cx="747325" cy="742809"/>
            </a:xfrm>
          </p:grpSpPr>
          <p:sp>
            <p:nvSpPr>
              <p:cNvPr id="413" name="Shape 309"/>
              <p:cNvSpPr/>
              <p:nvPr/>
            </p:nvSpPr>
            <p:spPr>
              <a:xfrm>
                <a:off x="0" y="-1"/>
                <a:ext cx="747327"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14" name="Shape 310"/>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40</a:t>
                </a:r>
              </a:p>
            </p:txBody>
          </p:sp>
        </p:grpSp>
        <p:grpSp>
          <p:nvGrpSpPr>
            <p:cNvPr id="418" name="Group 314"/>
            <p:cNvGrpSpPr/>
            <p:nvPr/>
          </p:nvGrpSpPr>
          <p:grpSpPr>
            <a:xfrm>
              <a:off x="1680351" y="3606800"/>
              <a:ext cx="747327" cy="742811"/>
              <a:chOff x="0" y="0"/>
              <a:chExt cx="747325" cy="742809"/>
            </a:xfrm>
          </p:grpSpPr>
          <p:sp>
            <p:nvSpPr>
              <p:cNvPr id="416" name="Shape 312"/>
              <p:cNvSpPr/>
              <p:nvPr/>
            </p:nvSpPr>
            <p:spPr>
              <a:xfrm>
                <a:off x="0" y="-1"/>
                <a:ext cx="747327"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17" name="Shape 313"/>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35</a:t>
                </a:r>
              </a:p>
            </p:txBody>
          </p:sp>
        </p:grpSp>
        <p:grpSp>
          <p:nvGrpSpPr>
            <p:cNvPr id="421" name="Group 317"/>
            <p:cNvGrpSpPr/>
            <p:nvPr/>
          </p:nvGrpSpPr>
          <p:grpSpPr>
            <a:xfrm>
              <a:off x="384951" y="4851400"/>
              <a:ext cx="747327" cy="742811"/>
              <a:chOff x="0" y="0"/>
              <a:chExt cx="747325" cy="742809"/>
            </a:xfrm>
          </p:grpSpPr>
          <p:sp>
            <p:nvSpPr>
              <p:cNvPr id="419" name="Shape 315"/>
              <p:cNvSpPr/>
              <p:nvPr/>
            </p:nvSpPr>
            <p:spPr>
              <a:xfrm>
                <a:off x="0" y="-1"/>
                <a:ext cx="747327" cy="742811"/>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20" name="Shape 316"/>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32</a:t>
                </a:r>
              </a:p>
            </p:txBody>
          </p:sp>
        </p:grpSp>
        <p:sp>
          <p:nvSpPr>
            <p:cNvPr id="422" name="Shape 318"/>
            <p:cNvSpPr/>
            <p:nvPr/>
          </p:nvSpPr>
          <p:spPr>
            <a:xfrm flipH="1">
              <a:off x="981851" y="4200727"/>
              <a:ext cx="762160" cy="711092"/>
            </a:xfrm>
            <a:prstGeom prst="line">
              <a:avLst/>
            </a:prstGeom>
            <a:noFill/>
            <a:ln w="25400"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426" name="Group 322"/>
          <p:cNvGrpSpPr/>
          <p:nvPr/>
        </p:nvGrpSpPr>
        <p:grpSpPr>
          <a:xfrm>
            <a:off x="6356023" y="2721531"/>
            <a:ext cx="747327" cy="742811"/>
            <a:chOff x="0" y="0"/>
            <a:chExt cx="747325" cy="742809"/>
          </a:xfrm>
        </p:grpSpPr>
        <p:sp>
          <p:nvSpPr>
            <p:cNvPr id="424" name="Shape 320"/>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25" name="Shape 321"/>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50</a:t>
              </a:r>
            </a:p>
          </p:txBody>
        </p:sp>
      </p:grpSp>
      <p:grpSp>
        <p:nvGrpSpPr>
          <p:cNvPr id="429" name="Group 325"/>
          <p:cNvGrpSpPr/>
          <p:nvPr/>
        </p:nvGrpSpPr>
        <p:grpSpPr>
          <a:xfrm>
            <a:off x="6341349" y="2721531"/>
            <a:ext cx="747327" cy="742811"/>
            <a:chOff x="0" y="0"/>
            <a:chExt cx="747325" cy="742809"/>
          </a:xfrm>
        </p:grpSpPr>
        <p:sp>
          <p:nvSpPr>
            <p:cNvPr id="427" name="Shape 323"/>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28" name="Shape 324"/>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50</a:t>
              </a:r>
            </a:p>
          </p:txBody>
        </p:sp>
      </p:grpSp>
      <p:sp>
        <p:nvSpPr>
          <p:cNvPr id="430" name="Shape 326"/>
          <p:cNvSpPr/>
          <p:nvPr/>
        </p:nvSpPr>
        <p:spPr>
          <a:xfrm flipH="1">
            <a:off x="5606723" y="3346339"/>
            <a:ext cx="809686" cy="673404"/>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433" name="Group 329"/>
          <p:cNvGrpSpPr/>
          <p:nvPr/>
        </p:nvGrpSpPr>
        <p:grpSpPr>
          <a:xfrm>
            <a:off x="4946323" y="3883136"/>
            <a:ext cx="747327" cy="742811"/>
            <a:chOff x="0" y="0"/>
            <a:chExt cx="747325" cy="742809"/>
          </a:xfrm>
        </p:grpSpPr>
        <p:sp>
          <p:nvSpPr>
            <p:cNvPr id="431" name="Shape 327"/>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32" name="Shape 328"/>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30</a:t>
              </a:r>
            </a:p>
          </p:txBody>
        </p:sp>
      </p:grpSp>
      <p:grpSp>
        <p:nvGrpSpPr>
          <p:cNvPr id="436" name="Group 332"/>
          <p:cNvGrpSpPr/>
          <p:nvPr/>
        </p:nvGrpSpPr>
        <p:grpSpPr>
          <a:xfrm>
            <a:off x="6442948" y="5006934"/>
            <a:ext cx="747327" cy="742811"/>
            <a:chOff x="0" y="0"/>
            <a:chExt cx="747325" cy="742809"/>
          </a:xfrm>
        </p:grpSpPr>
        <p:sp>
          <p:nvSpPr>
            <p:cNvPr id="434" name="Shape 330"/>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35" name="Shape 331"/>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40</a:t>
              </a:r>
            </a:p>
          </p:txBody>
        </p:sp>
      </p:grpSp>
      <p:grpSp>
        <p:nvGrpSpPr>
          <p:cNvPr id="439" name="Group 335"/>
          <p:cNvGrpSpPr/>
          <p:nvPr/>
        </p:nvGrpSpPr>
        <p:grpSpPr>
          <a:xfrm>
            <a:off x="5271413" y="6346643"/>
            <a:ext cx="747327" cy="742811"/>
            <a:chOff x="0" y="0"/>
            <a:chExt cx="747325" cy="742809"/>
          </a:xfrm>
        </p:grpSpPr>
        <p:sp>
          <p:nvSpPr>
            <p:cNvPr id="437" name="Shape 333"/>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38" name="Shape 334"/>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35</a:t>
              </a:r>
            </a:p>
          </p:txBody>
        </p:sp>
      </p:grpSp>
      <p:grpSp>
        <p:nvGrpSpPr>
          <p:cNvPr id="442" name="Group 338"/>
          <p:cNvGrpSpPr/>
          <p:nvPr/>
        </p:nvGrpSpPr>
        <p:grpSpPr>
          <a:xfrm>
            <a:off x="6341349" y="2721531"/>
            <a:ext cx="747327" cy="742811"/>
            <a:chOff x="0" y="0"/>
            <a:chExt cx="747325" cy="742809"/>
          </a:xfrm>
        </p:grpSpPr>
        <p:sp>
          <p:nvSpPr>
            <p:cNvPr id="440" name="Shape 336"/>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41" name="Shape 337"/>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50</a:t>
              </a:r>
            </a:p>
          </p:txBody>
        </p:sp>
      </p:grpSp>
      <p:grpSp>
        <p:nvGrpSpPr>
          <p:cNvPr id="445" name="Group 341"/>
          <p:cNvGrpSpPr/>
          <p:nvPr/>
        </p:nvGrpSpPr>
        <p:grpSpPr>
          <a:xfrm>
            <a:off x="7641165" y="3883136"/>
            <a:ext cx="747327" cy="742811"/>
            <a:chOff x="0" y="0"/>
            <a:chExt cx="747325" cy="742809"/>
          </a:xfrm>
        </p:grpSpPr>
        <p:sp>
          <p:nvSpPr>
            <p:cNvPr id="443" name="Shape 339"/>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44" name="Shape 340"/>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80</a:t>
              </a:r>
            </a:p>
          </p:txBody>
        </p:sp>
      </p:grpSp>
      <p:sp>
        <p:nvSpPr>
          <p:cNvPr id="446" name="Shape 342"/>
          <p:cNvSpPr/>
          <p:nvPr/>
        </p:nvSpPr>
        <p:spPr>
          <a:xfrm>
            <a:off x="8273723" y="4502039"/>
            <a:ext cx="667865" cy="571900"/>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47" name="Shape 343"/>
          <p:cNvSpPr/>
          <p:nvPr/>
        </p:nvSpPr>
        <p:spPr>
          <a:xfrm>
            <a:off x="9430043" y="5673649"/>
            <a:ext cx="703254" cy="685134"/>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450" name="Group 346"/>
          <p:cNvGrpSpPr/>
          <p:nvPr/>
        </p:nvGrpSpPr>
        <p:grpSpPr>
          <a:xfrm>
            <a:off x="8807123" y="4997339"/>
            <a:ext cx="747327" cy="742811"/>
            <a:chOff x="0" y="0"/>
            <a:chExt cx="747325" cy="742809"/>
          </a:xfrm>
        </p:grpSpPr>
        <p:sp>
          <p:nvSpPr>
            <p:cNvPr id="448" name="Shape 344"/>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49" name="Shape 345"/>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90</a:t>
              </a:r>
            </a:p>
          </p:txBody>
        </p:sp>
      </p:grpSp>
      <p:grpSp>
        <p:nvGrpSpPr>
          <p:cNvPr id="453" name="Group 349"/>
          <p:cNvGrpSpPr/>
          <p:nvPr/>
        </p:nvGrpSpPr>
        <p:grpSpPr>
          <a:xfrm>
            <a:off x="6348329" y="2721531"/>
            <a:ext cx="747327" cy="742811"/>
            <a:chOff x="0" y="0"/>
            <a:chExt cx="747325" cy="742809"/>
          </a:xfrm>
        </p:grpSpPr>
        <p:sp>
          <p:nvSpPr>
            <p:cNvPr id="451" name="Shape 347"/>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52" name="Shape 348"/>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50</a:t>
              </a:r>
            </a:p>
          </p:txBody>
        </p:sp>
      </p:grpSp>
      <p:grpSp>
        <p:nvGrpSpPr>
          <p:cNvPr id="456" name="Group 352"/>
          <p:cNvGrpSpPr/>
          <p:nvPr/>
        </p:nvGrpSpPr>
        <p:grpSpPr>
          <a:xfrm>
            <a:off x="7638723" y="3883136"/>
            <a:ext cx="747327" cy="742811"/>
            <a:chOff x="0" y="0"/>
            <a:chExt cx="747325" cy="742809"/>
          </a:xfrm>
        </p:grpSpPr>
        <p:sp>
          <p:nvSpPr>
            <p:cNvPr id="454" name="Shape 350"/>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55" name="Shape 351"/>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80</a:t>
              </a:r>
            </a:p>
          </p:txBody>
        </p:sp>
      </p:grpSp>
      <p:sp>
        <p:nvSpPr>
          <p:cNvPr id="457" name="Shape 353"/>
          <p:cNvSpPr/>
          <p:nvPr/>
        </p:nvSpPr>
        <p:spPr>
          <a:xfrm>
            <a:off x="8286423" y="4514739"/>
            <a:ext cx="667865" cy="571900"/>
          </a:xfrm>
          <a:prstGeom prst="line">
            <a:avLst/>
          </a:prstGeom>
          <a:ln w="25400">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460" name="Group 356"/>
          <p:cNvGrpSpPr/>
          <p:nvPr/>
        </p:nvGrpSpPr>
        <p:grpSpPr>
          <a:xfrm>
            <a:off x="8806137" y="4997339"/>
            <a:ext cx="747327" cy="742811"/>
            <a:chOff x="0" y="0"/>
            <a:chExt cx="747325" cy="742809"/>
          </a:xfrm>
        </p:grpSpPr>
        <p:sp>
          <p:nvSpPr>
            <p:cNvPr id="458" name="Shape 354"/>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59" name="Shape 355"/>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90</a:t>
              </a:r>
            </a:p>
          </p:txBody>
        </p:sp>
      </p:grpSp>
      <p:grpSp>
        <p:nvGrpSpPr>
          <p:cNvPr id="463" name="Group 359"/>
          <p:cNvGrpSpPr/>
          <p:nvPr/>
        </p:nvGrpSpPr>
        <p:grpSpPr>
          <a:xfrm>
            <a:off x="9912023" y="6343539"/>
            <a:ext cx="747327" cy="742811"/>
            <a:chOff x="0" y="0"/>
            <a:chExt cx="747325" cy="742809"/>
          </a:xfrm>
        </p:grpSpPr>
        <p:sp>
          <p:nvSpPr>
            <p:cNvPr id="461" name="Shape 357"/>
            <p:cNvSpPr/>
            <p:nvPr/>
          </p:nvSpPr>
          <p:spPr>
            <a:xfrm>
              <a:off x="-1" y="0"/>
              <a:ext cx="747327" cy="742810"/>
            </a:xfrm>
            <a:prstGeom prst="ellipse">
              <a:avLst/>
            </a:prstGeom>
            <a:solidFill>
              <a:srgbClr val="002D99"/>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62" name="Shape 358"/>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95</a:t>
              </a:r>
            </a:p>
          </p:txBody>
        </p:sp>
      </p:grpSp>
      <p:grpSp>
        <p:nvGrpSpPr>
          <p:cNvPr id="466" name="Group 356"/>
          <p:cNvGrpSpPr/>
          <p:nvPr/>
        </p:nvGrpSpPr>
        <p:grpSpPr>
          <a:xfrm>
            <a:off x="8806137" y="4997339"/>
            <a:ext cx="747327" cy="742811"/>
            <a:chOff x="0" y="0"/>
            <a:chExt cx="747325" cy="742809"/>
          </a:xfrm>
        </p:grpSpPr>
        <p:sp>
          <p:nvSpPr>
            <p:cNvPr id="464" name="Shape 354"/>
            <p:cNvSpPr/>
            <p:nvPr/>
          </p:nvSpPr>
          <p:spPr>
            <a:xfrm>
              <a:off x="-1" y="0"/>
              <a:ext cx="747327" cy="742810"/>
            </a:xfrm>
            <a:prstGeom prst="ellipse">
              <a:avLst/>
            </a:prstGeom>
            <a:solidFill>
              <a:srgbClr val="D90B00"/>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65" name="Shape 355"/>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rgbClr val="FFFFFF"/>
                  </a:solidFill>
                  <a:uFill>
                    <a:solidFill>
                      <a:srgbClr val="FFFFFF"/>
                    </a:solidFill>
                  </a:uFill>
                </a:defRPr>
              </a:lvl1pPr>
            </a:lstStyle>
            <a:p>
              <a:pPr/>
              <a:r>
                <a:t>90</a:t>
              </a:r>
            </a:p>
          </p:txBody>
        </p:sp>
      </p:grpSp>
      <p:sp>
        <p:nvSpPr>
          <p:cNvPr id="467" name="非递归查找："/>
          <p:cNvSpPr txBox="1"/>
          <p:nvPr/>
        </p:nvSpPr>
        <p:spPr>
          <a:xfrm>
            <a:off x="642930" y="1491942"/>
            <a:ext cx="245810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非递归查找：</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5" grpId="2" fill="hold">
                                  <p:stCondLst>
                                    <p:cond delay="0"/>
                                  </p:stCondLst>
                                  <p:iterate type="el" backwards="0">
                                    <p:tmAbs val="0"/>
                                  </p:iterate>
                                  <p:childTnLst>
                                    <p:set>
                                      <p:cBhvr>
                                        <p:cTn id="10" fill="hold"/>
                                        <p:tgtEl>
                                          <p:spTgt spid="426"/>
                                        </p:tgtEl>
                                        <p:attrNameLst>
                                          <p:attrName>style.visibility</p:attrName>
                                        </p:attrNameLst>
                                      </p:cBhvr>
                                      <p:to>
                                        <p:strVal val="visible"/>
                                      </p:to>
                                    </p:set>
                                    <p:anim calcmode="lin" valueType="num">
                                      <p:cBhvr>
                                        <p:cTn id="11" dur="1000" fill="hold"/>
                                        <p:tgtEl>
                                          <p:spTgt spid="426"/>
                                        </p:tgtEl>
                                        <p:attrNameLst>
                                          <p:attrName>ppt_w</p:attrName>
                                        </p:attrNameLst>
                                      </p:cBhvr>
                                      <p:tavLst>
                                        <p:tav tm="0">
                                          <p:val>
                                            <p:fltVal val="0"/>
                                          </p:val>
                                        </p:tav>
                                        <p:tav tm="100000">
                                          <p:val>
                                            <p:strVal val="#ppt_w"/>
                                          </p:val>
                                        </p:tav>
                                      </p:tavLst>
                                    </p:anim>
                                    <p:anim calcmode="lin" valueType="num">
                                      <p:cBhvr>
                                        <p:cTn id="12" dur="1000" fill="hold"/>
                                        <p:tgtEl>
                                          <p:spTgt spid="426"/>
                                        </p:tgtEl>
                                        <p:attrNameLst>
                                          <p:attrName>ppt_h</p:attrName>
                                        </p:attrNameLst>
                                      </p:cBhvr>
                                      <p:tavLst>
                                        <p:tav tm="0">
                                          <p:val>
                                            <p:fltVal val="0"/>
                                          </p:val>
                                        </p:tav>
                                        <p:tav tm="100000">
                                          <p:val>
                                            <p:strVal val="#ppt_h"/>
                                          </p:val>
                                        </p:tav>
                                      </p:tavLst>
                                    </p:anim>
                                    <p:anim calcmode="lin" valueType="num">
                                      <p:cBhvr>
                                        <p:cTn id="13" dur="1000" fill="hold"/>
                                        <p:tgtEl>
                                          <p:spTgt spid="426"/>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3" fill="hold">
                                  <p:stCondLst>
                                    <p:cond delay="0"/>
                                  </p:stCondLst>
                                  <p:iterate type="el" backwards="0">
                                    <p:tmAbs val="0"/>
                                  </p:iterate>
                                  <p:childTnLst>
                                    <p:set>
                                      <p:cBhvr>
                                        <p:cTn id="18" fill="hold"/>
                                        <p:tgtEl>
                                          <p:spTgt spid="3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5" grpId="4" fill="hold">
                                  <p:stCondLst>
                                    <p:cond delay="0"/>
                                  </p:stCondLst>
                                  <p:iterate type="el" backwards="0">
                                    <p:tmAbs val="0"/>
                                  </p:iterate>
                                  <p:childTnLst>
                                    <p:set>
                                      <p:cBhvr>
                                        <p:cTn id="22" fill="hold"/>
                                        <p:tgtEl>
                                          <p:spTgt spid="429"/>
                                        </p:tgtEl>
                                        <p:attrNameLst>
                                          <p:attrName>style.visibility</p:attrName>
                                        </p:attrNameLst>
                                      </p:cBhvr>
                                      <p:to>
                                        <p:strVal val="visible"/>
                                      </p:to>
                                    </p:set>
                                    <p:anim calcmode="lin" valueType="num">
                                      <p:cBhvr>
                                        <p:cTn id="23" dur="1000" fill="hold"/>
                                        <p:tgtEl>
                                          <p:spTgt spid="429"/>
                                        </p:tgtEl>
                                        <p:attrNameLst>
                                          <p:attrName>ppt_w</p:attrName>
                                        </p:attrNameLst>
                                      </p:cBhvr>
                                      <p:tavLst>
                                        <p:tav tm="0">
                                          <p:val>
                                            <p:fltVal val="0"/>
                                          </p:val>
                                        </p:tav>
                                        <p:tav tm="100000">
                                          <p:val>
                                            <p:strVal val="#ppt_w"/>
                                          </p:val>
                                        </p:tav>
                                      </p:tavLst>
                                    </p:anim>
                                    <p:anim calcmode="lin" valueType="num">
                                      <p:cBhvr>
                                        <p:cTn id="24" dur="1000" fill="hold"/>
                                        <p:tgtEl>
                                          <p:spTgt spid="429"/>
                                        </p:tgtEl>
                                        <p:attrNameLst>
                                          <p:attrName>ppt_h</p:attrName>
                                        </p:attrNameLst>
                                      </p:cBhvr>
                                      <p:tavLst>
                                        <p:tav tm="0">
                                          <p:val>
                                            <p:fltVal val="0"/>
                                          </p:val>
                                        </p:tav>
                                        <p:tav tm="100000">
                                          <p:val>
                                            <p:strVal val="#ppt_h"/>
                                          </p:val>
                                        </p:tav>
                                      </p:tavLst>
                                    </p:anim>
                                    <p:anim calcmode="lin" valueType="num">
                                      <p:cBhvr>
                                        <p:cTn id="25" dur="1000" fill="hold"/>
                                        <p:tgtEl>
                                          <p:spTgt spid="429"/>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2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0" presetID="15" grpId="5" fill="hold">
                                  <p:stCondLst>
                                    <p:cond delay="0"/>
                                  </p:stCondLst>
                                  <p:iterate type="el" backwards="0">
                                    <p:tmAbs val="0"/>
                                  </p:iterate>
                                  <p:childTnLst>
                                    <p:set>
                                      <p:cBhvr>
                                        <p:cTn id="30" fill="hold"/>
                                        <p:tgtEl>
                                          <p:spTgt spid="430"/>
                                        </p:tgtEl>
                                        <p:attrNameLst>
                                          <p:attrName>style.visibility</p:attrName>
                                        </p:attrNameLst>
                                      </p:cBhvr>
                                      <p:to>
                                        <p:strVal val="visible"/>
                                      </p:to>
                                    </p:set>
                                    <p:anim calcmode="lin" valueType="num">
                                      <p:cBhvr>
                                        <p:cTn id="31" dur="1000" fill="hold"/>
                                        <p:tgtEl>
                                          <p:spTgt spid="430"/>
                                        </p:tgtEl>
                                        <p:attrNameLst>
                                          <p:attrName>ppt_w</p:attrName>
                                        </p:attrNameLst>
                                      </p:cBhvr>
                                      <p:tavLst>
                                        <p:tav tm="0">
                                          <p:val>
                                            <p:fltVal val="0"/>
                                          </p:val>
                                        </p:tav>
                                        <p:tav tm="100000">
                                          <p:val>
                                            <p:strVal val="#ppt_w"/>
                                          </p:val>
                                        </p:tav>
                                      </p:tavLst>
                                    </p:anim>
                                    <p:anim calcmode="lin" valueType="num">
                                      <p:cBhvr>
                                        <p:cTn id="32" dur="1000" fill="hold"/>
                                        <p:tgtEl>
                                          <p:spTgt spid="430"/>
                                        </p:tgtEl>
                                        <p:attrNameLst>
                                          <p:attrName>ppt_h</p:attrName>
                                        </p:attrNameLst>
                                      </p:cBhvr>
                                      <p:tavLst>
                                        <p:tav tm="0">
                                          <p:val>
                                            <p:fltVal val="0"/>
                                          </p:val>
                                        </p:tav>
                                        <p:tav tm="100000">
                                          <p:val>
                                            <p:strVal val="#ppt_h"/>
                                          </p:val>
                                        </p:tav>
                                      </p:tavLst>
                                    </p:anim>
                                    <p:anim calcmode="lin" valueType="num">
                                      <p:cBhvr>
                                        <p:cTn id="33" dur="1000" fill="hold"/>
                                        <p:tgtEl>
                                          <p:spTgt spid="430"/>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43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0" presetID="15" grpId="6" fill="hold">
                                  <p:stCondLst>
                                    <p:cond delay="0"/>
                                  </p:stCondLst>
                                  <p:iterate type="el" backwards="0">
                                    <p:tmAbs val="0"/>
                                  </p:iterate>
                                  <p:childTnLst>
                                    <p:set>
                                      <p:cBhvr>
                                        <p:cTn id="38" fill="hold"/>
                                        <p:tgtEl>
                                          <p:spTgt spid="433"/>
                                        </p:tgtEl>
                                        <p:attrNameLst>
                                          <p:attrName>style.visibility</p:attrName>
                                        </p:attrNameLst>
                                      </p:cBhvr>
                                      <p:to>
                                        <p:strVal val="visible"/>
                                      </p:to>
                                    </p:set>
                                    <p:anim calcmode="lin" valueType="num">
                                      <p:cBhvr>
                                        <p:cTn id="39" dur="1000" fill="hold"/>
                                        <p:tgtEl>
                                          <p:spTgt spid="433"/>
                                        </p:tgtEl>
                                        <p:attrNameLst>
                                          <p:attrName>ppt_w</p:attrName>
                                        </p:attrNameLst>
                                      </p:cBhvr>
                                      <p:tavLst>
                                        <p:tav tm="0">
                                          <p:val>
                                            <p:fltVal val="0"/>
                                          </p:val>
                                        </p:tav>
                                        <p:tav tm="100000">
                                          <p:val>
                                            <p:strVal val="#ppt_w"/>
                                          </p:val>
                                        </p:tav>
                                      </p:tavLst>
                                    </p:anim>
                                    <p:anim calcmode="lin" valueType="num">
                                      <p:cBhvr>
                                        <p:cTn id="40" dur="1000" fill="hold"/>
                                        <p:tgtEl>
                                          <p:spTgt spid="433"/>
                                        </p:tgtEl>
                                        <p:attrNameLst>
                                          <p:attrName>ppt_h</p:attrName>
                                        </p:attrNameLst>
                                      </p:cBhvr>
                                      <p:tavLst>
                                        <p:tav tm="0">
                                          <p:val>
                                            <p:fltVal val="0"/>
                                          </p:val>
                                        </p:tav>
                                        <p:tav tm="100000">
                                          <p:val>
                                            <p:strVal val="#ppt_h"/>
                                          </p:val>
                                        </p:tav>
                                      </p:tavLst>
                                    </p:anim>
                                    <p:anim calcmode="lin" valueType="num">
                                      <p:cBhvr>
                                        <p:cTn id="41" dur="1000" fill="hold"/>
                                        <p:tgtEl>
                                          <p:spTgt spid="433"/>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43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0" presetID="15" grpId="7" fill="hold">
                                  <p:stCondLst>
                                    <p:cond delay="0"/>
                                  </p:stCondLst>
                                  <p:iterate type="el" backwards="0">
                                    <p:tmAbs val="0"/>
                                  </p:iterate>
                                  <p:childTnLst>
                                    <p:set>
                                      <p:cBhvr>
                                        <p:cTn id="46" fill="hold"/>
                                        <p:tgtEl>
                                          <p:spTgt spid="377"/>
                                        </p:tgtEl>
                                        <p:attrNameLst>
                                          <p:attrName>style.visibility</p:attrName>
                                        </p:attrNameLst>
                                      </p:cBhvr>
                                      <p:to>
                                        <p:strVal val="visible"/>
                                      </p:to>
                                    </p:set>
                                    <p:anim calcmode="lin" valueType="num">
                                      <p:cBhvr>
                                        <p:cTn id="47" dur="1000" fill="hold"/>
                                        <p:tgtEl>
                                          <p:spTgt spid="377"/>
                                        </p:tgtEl>
                                        <p:attrNameLst>
                                          <p:attrName>ppt_w</p:attrName>
                                        </p:attrNameLst>
                                      </p:cBhvr>
                                      <p:tavLst>
                                        <p:tav tm="0">
                                          <p:val>
                                            <p:fltVal val="0"/>
                                          </p:val>
                                        </p:tav>
                                        <p:tav tm="100000">
                                          <p:val>
                                            <p:strVal val="#ppt_w"/>
                                          </p:val>
                                        </p:tav>
                                      </p:tavLst>
                                    </p:anim>
                                    <p:anim calcmode="lin" valueType="num">
                                      <p:cBhvr>
                                        <p:cTn id="48" dur="1000" fill="hold"/>
                                        <p:tgtEl>
                                          <p:spTgt spid="377"/>
                                        </p:tgtEl>
                                        <p:attrNameLst>
                                          <p:attrName>ppt_h</p:attrName>
                                        </p:attrNameLst>
                                      </p:cBhvr>
                                      <p:tavLst>
                                        <p:tav tm="0">
                                          <p:val>
                                            <p:fltVal val="0"/>
                                          </p:val>
                                        </p:tav>
                                        <p:tav tm="100000">
                                          <p:val>
                                            <p:strVal val="#ppt_h"/>
                                          </p:val>
                                        </p:tav>
                                      </p:tavLst>
                                    </p:anim>
                                    <p:anim calcmode="lin" valueType="num">
                                      <p:cBhvr>
                                        <p:cTn id="49" dur="1000" fill="hold"/>
                                        <p:tgtEl>
                                          <p:spTgt spid="377"/>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7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Subtype="0" presetID="15" grpId="8" fill="hold">
                                  <p:stCondLst>
                                    <p:cond delay="0"/>
                                  </p:stCondLst>
                                  <p:iterate type="el" backwards="0">
                                    <p:tmAbs val="0"/>
                                  </p:iterate>
                                  <p:childTnLst>
                                    <p:set>
                                      <p:cBhvr>
                                        <p:cTn id="54" fill="hold"/>
                                        <p:tgtEl>
                                          <p:spTgt spid="436"/>
                                        </p:tgtEl>
                                        <p:attrNameLst>
                                          <p:attrName>style.visibility</p:attrName>
                                        </p:attrNameLst>
                                      </p:cBhvr>
                                      <p:to>
                                        <p:strVal val="visible"/>
                                      </p:to>
                                    </p:set>
                                    <p:anim calcmode="lin" valueType="num">
                                      <p:cBhvr>
                                        <p:cTn id="55" dur="1000" fill="hold"/>
                                        <p:tgtEl>
                                          <p:spTgt spid="436"/>
                                        </p:tgtEl>
                                        <p:attrNameLst>
                                          <p:attrName>ppt_w</p:attrName>
                                        </p:attrNameLst>
                                      </p:cBhvr>
                                      <p:tavLst>
                                        <p:tav tm="0">
                                          <p:val>
                                            <p:fltVal val="0"/>
                                          </p:val>
                                        </p:tav>
                                        <p:tav tm="100000">
                                          <p:val>
                                            <p:strVal val="#ppt_w"/>
                                          </p:val>
                                        </p:tav>
                                      </p:tavLst>
                                    </p:anim>
                                    <p:anim calcmode="lin" valueType="num">
                                      <p:cBhvr>
                                        <p:cTn id="56" dur="1000" fill="hold"/>
                                        <p:tgtEl>
                                          <p:spTgt spid="436"/>
                                        </p:tgtEl>
                                        <p:attrNameLst>
                                          <p:attrName>ppt_h</p:attrName>
                                        </p:attrNameLst>
                                      </p:cBhvr>
                                      <p:tavLst>
                                        <p:tav tm="0">
                                          <p:val>
                                            <p:fltVal val="0"/>
                                          </p:val>
                                        </p:tav>
                                        <p:tav tm="100000">
                                          <p:val>
                                            <p:strVal val="#ppt_h"/>
                                          </p:val>
                                        </p:tav>
                                      </p:tavLst>
                                    </p:anim>
                                    <p:anim calcmode="lin" valueType="num">
                                      <p:cBhvr>
                                        <p:cTn id="57" dur="1000" fill="hold"/>
                                        <p:tgtEl>
                                          <p:spTgt spid="436"/>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4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9" fill="hold">
                      <p:stCondLst>
                        <p:cond delay="indefinite"/>
                      </p:stCondLst>
                      <p:childTnLst>
                        <p:par>
                          <p:cTn id="60" fill="hold">
                            <p:stCondLst>
                              <p:cond delay="0"/>
                            </p:stCondLst>
                            <p:childTnLst>
                              <p:par>
                                <p:cTn id="61" presetClass="entr" nodeType="clickEffect" presetSubtype="0" presetID="15" grpId="9" fill="hold">
                                  <p:stCondLst>
                                    <p:cond delay="0"/>
                                  </p:stCondLst>
                                  <p:iterate type="el" backwards="0">
                                    <p:tmAbs val="0"/>
                                  </p:iterate>
                                  <p:childTnLst>
                                    <p:set>
                                      <p:cBhvr>
                                        <p:cTn id="62" fill="hold"/>
                                        <p:tgtEl>
                                          <p:spTgt spid="376"/>
                                        </p:tgtEl>
                                        <p:attrNameLst>
                                          <p:attrName>style.visibility</p:attrName>
                                        </p:attrNameLst>
                                      </p:cBhvr>
                                      <p:to>
                                        <p:strVal val="visible"/>
                                      </p:to>
                                    </p:set>
                                    <p:anim calcmode="lin" valueType="num">
                                      <p:cBhvr>
                                        <p:cTn id="63" dur="1000" fill="hold"/>
                                        <p:tgtEl>
                                          <p:spTgt spid="376"/>
                                        </p:tgtEl>
                                        <p:attrNameLst>
                                          <p:attrName>ppt_w</p:attrName>
                                        </p:attrNameLst>
                                      </p:cBhvr>
                                      <p:tavLst>
                                        <p:tav tm="0">
                                          <p:val>
                                            <p:fltVal val="0"/>
                                          </p:val>
                                        </p:tav>
                                        <p:tav tm="100000">
                                          <p:val>
                                            <p:strVal val="#ppt_w"/>
                                          </p:val>
                                        </p:tav>
                                      </p:tavLst>
                                    </p:anim>
                                    <p:anim calcmode="lin" valueType="num">
                                      <p:cBhvr>
                                        <p:cTn id="64" dur="1000" fill="hold"/>
                                        <p:tgtEl>
                                          <p:spTgt spid="376"/>
                                        </p:tgtEl>
                                        <p:attrNameLst>
                                          <p:attrName>ppt_h</p:attrName>
                                        </p:attrNameLst>
                                      </p:cBhvr>
                                      <p:tavLst>
                                        <p:tav tm="0">
                                          <p:val>
                                            <p:fltVal val="0"/>
                                          </p:val>
                                        </p:tav>
                                        <p:tav tm="100000">
                                          <p:val>
                                            <p:strVal val="#ppt_h"/>
                                          </p:val>
                                        </p:tav>
                                      </p:tavLst>
                                    </p:anim>
                                    <p:anim calcmode="lin" valueType="num">
                                      <p:cBhvr>
                                        <p:cTn id="65" dur="1000" fill="hold"/>
                                        <p:tgtEl>
                                          <p:spTgt spid="376"/>
                                        </p:tgtEl>
                                        <p:attrNameLst>
                                          <p:attrName>ppt_x</p:attrName>
                                        </p:attrNameLst>
                                      </p:cBhvr>
                                      <p:tavLst>
                                        <p:tav tm="0" fmla="#ppt_x+(cos(-2*pi*(1-$))*-#ppt_x-sin(-2*pi*(1-$))*(1-#ppt_y))*(1-$)">
                                          <p:val>
                                            <p:fltVal val="0"/>
                                          </p:val>
                                        </p:tav>
                                        <p:tav tm="100000">
                                          <p:val>
                                            <p:fltVal val="1"/>
                                          </p:val>
                                        </p:tav>
                                      </p:tavLst>
                                    </p:anim>
                                    <p:anim calcmode="lin" valueType="num">
                                      <p:cBhvr>
                                        <p:cTn id="66" dur="1000" fill="hold"/>
                                        <p:tgtEl>
                                          <p:spTgt spid="37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7" fill="hold">
                      <p:stCondLst>
                        <p:cond delay="indefinite"/>
                      </p:stCondLst>
                      <p:childTnLst>
                        <p:par>
                          <p:cTn id="68" fill="hold">
                            <p:stCondLst>
                              <p:cond delay="0"/>
                            </p:stCondLst>
                            <p:childTnLst>
                              <p:par>
                                <p:cTn id="69" presetClass="entr" nodeType="clickEffect" presetSubtype="0" presetID="15" grpId="10" fill="hold">
                                  <p:stCondLst>
                                    <p:cond delay="0"/>
                                  </p:stCondLst>
                                  <p:iterate type="el" backwards="0">
                                    <p:tmAbs val="0"/>
                                  </p:iterate>
                                  <p:childTnLst>
                                    <p:set>
                                      <p:cBhvr>
                                        <p:cTn id="70" fill="hold"/>
                                        <p:tgtEl>
                                          <p:spTgt spid="439"/>
                                        </p:tgtEl>
                                        <p:attrNameLst>
                                          <p:attrName>style.visibility</p:attrName>
                                        </p:attrNameLst>
                                      </p:cBhvr>
                                      <p:to>
                                        <p:strVal val="visible"/>
                                      </p:to>
                                    </p:set>
                                    <p:anim calcmode="lin" valueType="num">
                                      <p:cBhvr>
                                        <p:cTn id="71" dur="1000" fill="hold"/>
                                        <p:tgtEl>
                                          <p:spTgt spid="439"/>
                                        </p:tgtEl>
                                        <p:attrNameLst>
                                          <p:attrName>ppt_w</p:attrName>
                                        </p:attrNameLst>
                                      </p:cBhvr>
                                      <p:tavLst>
                                        <p:tav tm="0">
                                          <p:val>
                                            <p:fltVal val="0"/>
                                          </p:val>
                                        </p:tav>
                                        <p:tav tm="100000">
                                          <p:val>
                                            <p:strVal val="#ppt_w"/>
                                          </p:val>
                                        </p:tav>
                                      </p:tavLst>
                                    </p:anim>
                                    <p:anim calcmode="lin" valueType="num">
                                      <p:cBhvr>
                                        <p:cTn id="72" dur="1000" fill="hold"/>
                                        <p:tgtEl>
                                          <p:spTgt spid="439"/>
                                        </p:tgtEl>
                                        <p:attrNameLst>
                                          <p:attrName>ppt_h</p:attrName>
                                        </p:attrNameLst>
                                      </p:cBhvr>
                                      <p:tavLst>
                                        <p:tav tm="0">
                                          <p:val>
                                            <p:fltVal val="0"/>
                                          </p:val>
                                        </p:tav>
                                        <p:tav tm="100000">
                                          <p:val>
                                            <p:strVal val="#ppt_h"/>
                                          </p:val>
                                        </p:tav>
                                      </p:tavLst>
                                    </p:anim>
                                    <p:anim calcmode="lin" valueType="num">
                                      <p:cBhvr>
                                        <p:cTn id="73" dur="1000" fill="hold"/>
                                        <p:tgtEl>
                                          <p:spTgt spid="439"/>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43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p:stCondLst>
                        <p:cond delay="indefinite"/>
                      </p:stCondLst>
                      <p:childTnLst>
                        <p:par>
                          <p:cTn id="76" fill="hold">
                            <p:stCondLst>
                              <p:cond delay="0"/>
                            </p:stCondLst>
                            <p:childTnLst>
                              <p:par>
                                <p:cTn id="77" presetClass="entr" nodeType="clickEffect" presetSubtype="0" presetID="1" grpId="11" fill="hold">
                                  <p:stCondLst>
                                    <p:cond delay="0"/>
                                  </p:stCondLst>
                                  <p:iterate type="el" backwards="0">
                                    <p:tmAbs val="0"/>
                                  </p:iterate>
                                  <p:childTnLst>
                                    <p:set>
                                      <p:cBhvr>
                                        <p:cTn id="78" fill="hold"/>
                                        <p:tgtEl>
                                          <p:spTgt spid="38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Class="entr" nodeType="clickEffect" presetSubtype="0" presetID="15" grpId="12" fill="hold">
                                  <p:stCondLst>
                                    <p:cond delay="0"/>
                                  </p:stCondLst>
                                  <p:iterate type="el" backwards="0">
                                    <p:tmAbs val="0"/>
                                  </p:iterate>
                                  <p:childTnLst>
                                    <p:set>
                                      <p:cBhvr>
                                        <p:cTn id="82" fill="hold"/>
                                        <p:tgtEl>
                                          <p:spTgt spid="442"/>
                                        </p:tgtEl>
                                        <p:attrNameLst>
                                          <p:attrName>style.visibility</p:attrName>
                                        </p:attrNameLst>
                                      </p:cBhvr>
                                      <p:to>
                                        <p:strVal val="visible"/>
                                      </p:to>
                                    </p:set>
                                    <p:anim calcmode="lin" valueType="num">
                                      <p:cBhvr>
                                        <p:cTn id="83" dur="1000" fill="hold"/>
                                        <p:tgtEl>
                                          <p:spTgt spid="442"/>
                                        </p:tgtEl>
                                        <p:attrNameLst>
                                          <p:attrName>ppt_w</p:attrName>
                                        </p:attrNameLst>
                                      </p:cBhvr>
                                      <p:tavLst>
                                        <p:tav tm="0">
                                          <p:val>
                                            <p:fltVal val="0"/>
                                          </p:val>
                                        </p:tav>
                                        <p:tav tm="100000">
                                          <p:val>
                                            <p:strVal val="#ppt_w"/>
                                          </p:val>
                                        </p:tav>
                                      </p:tavLst>
                                    </p:anim>
                                    <p:anim calcmode="lin" valueType="num">
                                      <p:cBhvr>
                                        <p:cTn id="84" dur="1000" fill="hold"/>
                                        <p:tgtEl>
                                          <p:spTgt spid="442"/>
                                        </p:tgtEl>
                                        <p:attrNameLst>
                                          <p:attrName>ppt_h</p:attrName>
                                        </p:attrNameLst>
                                      </p:cBhvr>
                                      <p:tavLst>
                                        <p:tav tm="0">
                                          <p:val>
                                            <p:fltVal val="0"/>
                                          </p:val>
                                        </p:tav>
                                        <p:tav tm="100000">
                                          <p:val>
                                            <p:strVal val="#ppt_h"/>
                                          </p:val>
                                        </p:tav>
                                      </p:tavLst>
                                    </p:anim>
                                    <p:anim calcmode="lin" valueType="num">
                                      <p:cBhvr>
                                        <p:cTn id="85" dur="1000" fill="hold"/>
                                        <p:tgtEl>
                                          <p:spTgt spid="442"/>
                                        </p:tgtEl>
                                        <p:attrNameLst>
                                          <p:attrName>ppt_x</p:attrName>
                                        </p:attrNameLst>
                                      </p:cBhvr>
                                      <p:tavLst>
                                        <p:tav tm="0" fmla="#ppt_x+(cos(-2*pi*(1-$))*-#ppt_x-sin(-2*pi*(1-$))*(1-#ppt_y))*(1-$)">
                                          <p:val>
                                            <p:fltVal val="0"/>
                                          </p:val>
                                        </p:tav>
                                        <p:tav tm="100000">
                                          <p:val>
                                            <p:fltVal val="1"/>
                                          </p:val>
                                        </p:tav>
                                      </p:tavLst>
                                    </p:anim>
                                    <p:anim calcmode="lin" valueType="num">
                                      <p:cBhvr>
                                        <p:cTn id="86" dur="1000" fill="hold"/>
                                        <p:tgtEl>
                                          <p:spTgt spid="44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87" fill="hold">
                      <p:stCondLst>
                        <p:cond delay="indefinite"/>
                      </p:stCondLst>
                      <p:childTnLst>
                        <p:par>
                          <p:cTn id="88" fill="hold">
                            <p:stCondLst>
                              <p:cond delay="0"/>
                            </p:stCondLst>
                            <p:childTnLst>
                              <p:par>
                                <p:cTn id="89" presetClass="entr" nodeType="clickEffect" presetSubtype="0" presetID="15" grpId="13" fill="hold">
                                  <p:stCondLst>
                                    <p:cond delay="0"/>
                                  </p:stCondLst>
                                  <p:iterate type="el" backwards="0">
                                    <p:tmAbs val="0"/>
                                  </p:iterate>
                                  <p:childTnLst>
                                    <p:set>
                                      <p:cBhvr>
                                        <p:cTn id="90" fill="hold"/>
                                        <p:tgtEl>
                                          <p:spTgt spid="375"/>
                                        </p:tgtEl>
                                        <p:attrNameLst>
                                          <p:attrName>style.visibility</p:attrName>
                                        </p:attrNameLst>
                                      </p:cBhvr>
                                      <p:to>
                                        <p:strVal val="visible"/>
                                      </p:to>
                                    </p:set>
                                    <p:anim calcmode="lin" valueType="num">
                                      <p:cBhvr>
                                        <p:cTn id="91" dur="1000" fill="hold"/>
                                        <p:tgtEl>
                                          <p:spTgt spid="375"/>
                                        </p:tgtEl>
                                        <p:attrNameLst>
                                          <p:attrName>ppt_w</p:attrName>
                                        </p:attrNameLst>
                                      </p:cBhvr>
                                      <p:tavLst>
                                        <p:tav tm="0">
                                          <p:val>
                                            <p:fltVal val="0"/>
                                          </p:val>
                                        </p:tav>
                                        <p:tav tm="100000">
                                          <p:val>
                                            <p:strVal val="#ppt_w"/>
                                          </p:val>
                                        </p:tav>
                                      </p:tavLst>
                                    </p:anim>
                                    <p:anim calcmode="lin" valueType="num">
                                      <p:cBhvr>
                                        <p:cTn id="92" dur="1000" fill="hold"/>
                                        <p:tgtEl>
                                          <p:spTgt spid="375"/>
                                        </p:tgtEl>
                                        <p:attrNameLst>
                                          <p:attrName>ppt_h</p:attrName>
                                        </p:attrNameLst>
                                      </p:cBhvr>
                                      <p:tavLst>
                                        <p:tav tm="0">
                                          <p:val>
                                            <p:fltVal val="0"/>
                                          </p:val>
                                        </p:tav>
                                        <p:tav tm="100000">
                                          <p:val>
                                            <p:strVal val="#ppt_h"/>
                                          </p:val>
                                        </p:tav>
                                      </p:tavLst>
                                    </p:anim>
                                    <p:anim calcmode="lin" valueType="num">
                                      <p:cBhvr>
                                        <p:cTn id="93" dur="1000" fill="hold"/>
                                        <p:tgtEl>
                                          <p:spTgt spid="375"/>
                                        </p:tgtEl>
                                        <p:attrNameLst>
                                          <p:attrName>ppt_x</p:attrName>
                                        </p:attrNameLst>
                                      </p:cBhvr>
                                      <p:tavLst>
                                        <p:tav tm="0" fmla="#ppt_x+(cos(-2*pi*(1-$))*-#ppt_x-sin(-2*pi*(1-$))*(1-#ppt_y))*(1-$)">
                                          <p:val>
                                            <p:fltVal val="0"/>
                                          </p:val>
                                        </p:tav>
                                        <p:tav tm="100000">
                                          <p:val>
                                            <p:fltVal val="1"/>
                                          </p:val>
                                        </p:tav>
                                      </p:tavLst>
                                    </p:anim>
                                    <p:anim calcmode="lin" valueType="num">
                                      <p:cBhvr>
                                        <p:cTn id="94" dur="1000" fill="hold"/>
                                        <p:tgtEl>
                                          <p:spTgt spid="37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5" fill="hold">
                      <p:stCondLst>
                        <p:cond delay="indefinite"/>
                      </p:stCondLst>
                      <p:childTnLst>
                        <p:par>
                          <p:cTn id="96" fill="hold">
                            <p:stCondLst>
                              <p:cond delay="0"/>
                            </p:stCondLst>
                            <p:childTnLst>
                              <p:par>
                                <p:cTn id="97" presetClass="entr" nodeType="clickEffect" presetSubtype="0" presetID="15" grpId="14" fill="hold">
                                  <p:stCondLst>
                                    <p:cond delay="0"/>
                                  </p:stCondLst>
                                  <p:iterate type="el" backwards="0">
                                    <p:tmAbs val="0"/>
                                  </p:iterate>
                                  <p:childTnLst>
                                    <p:set>
                                      <p:cBhvr>
                                        <p:cTn id="98" fill="hold"/>
                                        <p:tgtEl>
                                          <p:spTgt spid="445"/>
                                        </p:tgtEl>
                                        <p:attrNameLst>
                                          <p:attrName>style.visibility</p:attrName>
                                        </p:attrNameLst>
                                      </p:cBhvr>
                                      <p:to>
                                        <p:strVal val="visible"/>
                                      </p:to>
                                    </p:set>
                                    <p:anim calcmode="lin" valueType="num">
                                      <p:cBhvr>
                                        <p:cTn id="99" dur="1000" fill="hold"/>
                                        <p:tgtEl>
                                          <p:spTgt spid="445"/>
                                        </p:tgtEl>
                                        <p:attrNameLst>
                                          <p:attrName>ppt_w</p:attrName>
                                        </p:attrNameLst>
                                      </p:cBhvr>
                                      <p:tavLst>
                                        <p:tav tm="0">
                                          <p:val>
                                            <p:fltVal val="0"/>
                                          </p:val>
                                        </p:tav>
                                        <p:tav tm="100000">
                                          <p:val>
                                            <p:strVal val="#ppt_w"/>
                                          </p:val>
                                        </p:tav>
                                      </p:tavLst>
                                    </p:anim>
                                    <p:anim calcmode="lin" valueType="num">
                                      <p:cBhvr>
                                        <p:cTn id="100" dur="1000" fill="hold"/>
                                        <p:tgtEl>
                                          <p:spTgt spid="445"/>
                                        </p:tgtEl>
                                        <p:attrNameLst>
                                          <p:attrName>ppt_h</p:attrName>
                                        </p:attrNameLst>
                                      </p:cBhvr>
                                      <p:tavLst>
                                        <p:tav tm="0">
                                          <p:val>
                                            <p:fltVal val="0"/>
                                          </p:val>
                                        </p:tav>
                                        <p:tav tm="100000">
                                          <p:val>
                                            <p:strVal val="#ppt_h"/>
                                          </p:val>
                                        </p:tav>
                                      </p:tavLst>
                                    </p:anim>
                                    <p:anim calcmode="lin" valueType="num">
                                      <p:cBhvr>
                                        <p:cTn id="101" dur="1000" fill="hold"/>
                                        <p:tgtEl>
                                          <p:spTgt spid="445"/>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44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3" fill="hold">
                      <p:stCondLst>
                        <p:cond delay="indefinite"/>
                      </p:stCondLst>
                      <p:childTnLst>
                        <p:par>
                          <p:cTn id="104" fill="hold">
                            <p:stCondLst>
                              <p:cond delay="0"/>
                            </p:stCondLst>
                            <p:childTnLst>
                              <p:par>
                                <p:cTn id="105" presetClass="entr" nodeType="clickEffect" presetSubtype="0" presetID="15" grpId="15" fill="hold">
                                  <p:stCondLst>
                                    <p:cond delay="0"/>
                                  </p:stCondLst>
                                  <p:iterate type="el" backwards="0">
                                    <p:tmAbs val="0"/>
                                  </p:iterate>
                                  <p:childTnLst>
                                    <p:set>
                                      <p:cBhvr>
                                        <p:cTn id="106" fill="hold"/>
                                        <p:tgtEl>
                                          <p:spTgt spid="446"/>
                                        </p:tgtEl>
                                        <p:attrNameLst>
                                          <p:attrName>style.visibility</p:attrName>
                                        </p:attrNameLst>
                                      </p:cBhvr>
                                      <p:to>
                                        <p:strVal val="visible"/>
                                      </p:to>
                                    </p:set>
                                    <p:anim calcmode="lin" valueType="num">
                                      <p:cBhvr>
                                        <p:cTn id="107" dur="1000" fill="hold"/>
                                        <p:tgtEl>
                                          <p:spTgt spid="446"/>
                                        </p:tgtEl>
                                        <p:attrNameLst>
                                          <p:attrName>ppt_w</p:attrName>
                                        </p:attrNameLst>
                                      </p:cBhvr>
                                      <p:tavLst>
                                        <p:tav tm="0">
                                          <p:val>
                                            <p:fltVal val="0"/>
                                          </p:val>
                                        </p:tav>
                                        <p:tav tm="100000">
                                          <p:val>
                                            <p:strVal val="#ppt_w"/>
                                          </p:val>
                                        </p:tav>
                                      </p:tavLst>
                                    </p:anim>
                                    <p:anim calcmode="lin" valueType="num">
                                      <p:cBhvr>
                                        <p:cTn id="108" dur="1000" fill="hold"/>
                                        <p:tgtEl>
                                          <p:spTgt spid="446"/>
                                        </p:tgtEl>
                                        <p:attrNameLst>
                                          <p:attrName>ppt_h</p:attrName>
                                        </p:attrNameLst>
                                      </p:cBhvr>
                                      <p:tavLst>
                                        <p:tav tm="0">
                                          <p:val>
                                            <p:fltVal val="0"/>
                                          </p:val>
                                        </p:tav>
                                        <p:tav tm="100000">
                                          <p:val>
                                            <p:strVal val="#ppt_h"/>
                                          </p:val>
                                        </p:tav>
                                      </p:tavLst>
                                    </p:anim>
                                    <p:anim calcmode="lin" valueType="num">
                                      <p:cBhvr>
                                        <p:cTn id="109" dur="1000" fill="hold"/>
                                        <p:tgtEl>
                                          <p:spTgt spid="446"/>
                                        </p:tgtEl>
                                        <p:attrNameLst>
                                          <p:attrName>ppt_x</p:attrName>
                                        </p:attrNameLst>
                                      </p:cBhvr>
                                      <p:tavLst>
                                        <p:tav tm="0" fmla="#ppt_x+(cos(-2*pi*(1-$))*-#ppt_x-sin(-2*pi*(1-$))*(1-#ppt_y))*(1-$)">
                                          <p:val>
                                            <p:fltVal val="0"/>
                                          </p:val>
                                        </p:tav>
                                        <p:tav tm="100000">
                                          <p:val>
                                            <p:fltVal val="1"/>
                                          </p:val>
                                        </p:tav>
                                      </p:tavLst>
                                    </p:anim>
                                    <p:anim calcmode="lin" valueType="num">
                                      <p:cBhvr>
                                        <p:cTn id="110" dur="1000" fill="hold"/>
                                        <p:tgtEl>
                                          <p:spTgt spid="44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1" fill="hold">
                      <p:stCondLst>
                        <p:cond delay="indefinite"/>
                      </p:stCondLst>
                      <p:childTnLst>
                        <p:par>
                          <p:cTn id="112" fill="hold">
                            <p:stCondLst>
                              <p:cond delay="0"/>
                            </p:stCondLst>
                            <p:childTnLst>
                              <p:par>
                                <p:cTn id="113" presetClass="entr" nodeType="clickEffect" presetSubtype="0" presetID="15" grpId="16" fill="hold">
                                  <p:stCondLst>
                                    <p:cond delay="0"/>
                                  </p:stCondLst>
                                  <p:iterate type="el" backwards="0">
                                    <p:tmAbs val="0"/>
                                  </p:iterate>
                                  <p:childTnLst>
                                    <p:set>
                                      <p:cBhvr>
                                        <p:cTn id="114" fill="hold"/>
                                        <p:tgtEl>
                                          <p:spTgt spid="460"/>
                                        </p:tgtEl>
                                        <p:attrNameLst>
                                          <p:attrName>style.visibility</p:attrName>
                                        </p:attrNameLst>
                                      </p:cBhvr>
                                      <p:to>
                                        <p:strVal val="visible"/>
                                      </p:to>
                                    </p:set>
                                    <p:anim calcmode="lin" valueType="num">
                                      <p:cBhvr>
                                        <p:cTn id="115" dur="1000" fill="hold"/>
                                        <p:tgtEl>
                                          <p:spTgt spid="460"/>
                                        </p:tgtEl>
                                        <p:attrNameLst>
                                          <p:attrName>ppt_w</p:attrName>
                                        </p:attrNameLst>
                                      </p:cBhvr>
                                      <p:tavLst>
                                        <p:tav tm="0">
                                          <p:val>
                                            <p:fltVal val="0"/>
                                          </p:val>
                                        </p:tav>
                                        <p:tav tm="100000">
                                          <p:val>
                                            <p:strVal val="#ppt_w"/>
                                          </p:val>
                                        </p:tav>
                                      </p:tavLst>
                                    </p:anim>
                                    <p:anim calcmode="lin" valueType="num">
                                      <p:cBhvr>
                                        <p:cTn id="116" dur="1000" fill="hold"/>
                                        <p:tgtEl>
                                          <p:spTgt spid="460"/>
                                        </p:tgtEl>
                                        <p:attrNameLst>
                                          <p:attrName>ppt_h</p:attrName>
                                        </p:attrNameLst>
                                      </p:cBhvr>
                                      <p:tavLst>
                                        <p:tav tm="0">
                                          <p:val>
                                            <p:fltVal val="0"/>
                                          </p:val>
                                        </p:tav>
                                        <p:tav tm="100000">
                                          <p:val>
                                            <p:strVal val="#ppt_h"/>
                                          </p:val>
                                        </p:tav>
                                      </p:tavLst>
                                    </p:anim>
                                    <p:anim calcmode="lin" valueType="num">
                                      <p:cBhvr>
                                        <p:cTn id="117" dur="1000" fill="hold"/>
                                        <p:tgtEl>
                                          <p:spTgt spid="460"/>
                                        </p:tgtEl>
                                        <p:attrNameLst>
                                          <p:attrName>ppt_x</p:attrName>
                                        </p:attrNameLst>
                                      </p:cBhvr>
                                      <p:tavLst>
                                        <p:tav tm="0" fmla="#ppt_x+(cos(-2*pi*(1-$))*-#ppt_x-sin(-2*pi*(1-$))*(1-#ppt_y))*(1-$)">
                                          <p:val>
                                            <p:fltVal val="0"/>
                                          </p:val>
                                        </p:tav>
                                        <p:tav tm="100000">
                                          <p:val>
                                            <p:fltVal val="1"/>
                                          </p:val>
                                        </p:tav>
                                      </p:tavLst>
                                    </p:anim>
                                    <p:anim calcmode="lin" valueType="num">
                                      <p:cBhvr>
                                        <p:cTn id="118" dur="1000" fill="hold"/>
                                        <p:tgtEl>
                                          <p:spTgt spid="46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9" fill="hold">
                      <p:stCondLst>
                        <p:cond delay="indefinite"/>
                      </p:stCondLst>
                      <p:childTnLst>
                        <p:par>
                          <p:cTn id="120" fill="hold">
                            <p:stCondLst>
                              <p:cond delay="0"/>
                            </p:stCondLst>
                            <p:childTnLst>
                              <p:par>
                                <p:cTn id="121" presetClass="entr" nodeType="clickEffect" presetSubtype="0" presetID="1" grpId="17" fill="hold">
                                  <p:stCondLst>
                                    <p:cond delay="0"/>
                                  </p:stCondLst>
                                  <p:iterate type="el" backwards="0">
                                    <p:tmAbs val="0"/>
                                  </p:iterate>
                                  <p:childTnLst>
                                    <p:set>
                                      <p:cBhvr>
                                        <p:cTn id="122" fill="hold"/>
                                        <p:tgtEl>
                                          <p:spTgt spid="38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Class="entr" nodeType="clickEffect" presetSubtype="0" presetID="15" grpId="18" fill="hold">
                                  <p:stCondLst>
                                    <p:cond delay="0"/>
                                  </p:stCondLst>
                                  <p:iterate type="el" backwards="0">
                                    <p:tmAbs val="0"/>
                                  </p:iterate>
                                  <p:childTnLst>
                                    <p:set>
                                      <p:cBhvr>
                                        <p:cTn id="126" fill="hold"/>
                                        <p:tgtEl>
                                          <p:spTgt spid="453"/>
                                        </p:tgtEl>
                                        <p:attrNameLst>
                                          <p:attrName>style.visibility</p:attrName>
                                        </p:attrNameLst>
                                      </p:cBhvr>
                                      <p:to>
                                        <p:strVal val="visible"/>
                                      </p:to>
                                    </p:set>
                                    <p:anim calcmode="lin" valueType="num">
                                      <p:cBhvr>
                                        <p:cTn id="127" dur="1000" fill="hold"/>
                                        <p:tgtEl>
                                          <p:spTgt spid="453"/>
                                        </p:tgtEl>
                                        <p:attrNameLst>
                                          <p:attrName>ppt_w</p:attrName>
                                        </p:attrNameLst>
                                      </p:cBhvr>
                                      <p:tavLst>
                                        <p:tav tm="0">
                                          <p:val>
                                            <p:fltVal val="0"/>
                                          </p:val>
                                        </p:tav>
                                        <p:tav tm="100000">
                                          <p:val>
                                            <p:strVal val="#ppt_w"/>
                                          </p:val>
                                        </p:tav>
                                      </p:tavLst>
                                    </p:anim>
                                    <p:anim calcmode="lin" valueType="num">
                                      <p:cBhvr>
                                        <p:cTn id="128" dur="1000" fill="hold"/>
                                        <p:tgtEl>
                                          <p:spTgt spid="453"/>
                                        </p:tgtEl>
                                        <p:attrNameLst>
                                          <p:attrName>ppt_h</p:attrName>
                                        </p:attrNameLst>
                                      </p:cBhvr>
                                      <p:tavLst>
                                        <p:tav tm="0">
                                          <p:val>
                                            <p:fltVal val="0"/>
                                          </p:val>
                                        </p:tav>
                                        <p:tav tm="100000">
                                          <p:val>
                                            <p:strVal val="#ppt_h"/>
                                          </p:val>
                                        </p:tav>
                                      </p:tavLst>
                                    </p:anim>
                                    <p:anim calcmode="lin" valueType="num">
                                      <p:cBhvr>
                                        <p:cTn id="129" dur="1000" fill="hold"/>
                                        <p:tgtEl>
                                          <p:spTgt spid="453"/>
                                        </p:tgtEl>
                                        <p:attrNameLst>
                                          <p:attrName>ppt_x</p:attrName>
                                        </p:attrNameLst>
                                      </p:cBhvr>
                                      <p:tavLst>
                                        <p:tav tm="0" fmla="#ppt_x+(cos(-2*pi*(1-$))*-#ppt_x-sin(-2*pi*(1-$))*(1-#ppt_y))*(1-$)">
                                          <p:val>
                                            <p:fltVal val="0"/>
                                          </p:val>
                                        </p:tav>
                                        <p:tav tm="100000">
                                          <p:val>
                                            <p:fltVal val="1"/>
                                          </p:val>
                                        </p:tav>
                                      </p:tavLst>
                                    </p:anim>
                                    <p:anim calcmode="lin" valueType="num">
                                      <p:cBhvr>
                                        <p:cTn id="130" dur="1000" fill="hold"/>
                                        <p:tgtEl>
                                          <p:spTgt spid="45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31" fill="hold">
                      <p:stCondLst>
                        <p:cond delay="indefinite"/>
                      </p:stCondLst>
                      <p:childTnLst>
                        <p:par>
                          <p:cTn id="132" fill="hold">
                            <p:stCondLst>
                              <p:cond delay="0"/>
                            </p:stCondLst>
                            <p:childTnLst>
                              <p:par>
                                <p:cTn id="133" presetClass="entr" nodeType="clickEffect" presetSubtype="0" presetID="15" grpId="19" fill="hold">
                                  <p:stCondLst>
                                    <p:cond delay="0"/>
                                  </p:stCondLst>
                                  <p:iterate type="el" backwards="0">
                                    <p:tmAbs val="0"/>
                                  </p:iterate>
                                  <p:childTnLst>
                                    <p:set>
                                      <p:cBhvr>
                                        <p:cTn id="134" fill="hold"/>
                                        <p:tgtEl>
                                          <p:spTgt spid="374"/>
                                        </p:tgtEl>
                                        <p:attrNameLst>
                                          <p:attrName>style.visibility</p:attrName>
                                        </p:attrNameLst>
                                      </p:cBhvr>
                                      <p:to>
                                        <p:strVal val="visible"/>
                                      </p:to>
                                    </p:set>
                                    <p:anim calcmode="lin" valueType="num">
                                      <p:cBhvr>
                                        <p:cTn id="135" dur="1000" fill="hold"/>
                                        <p:tgtEl>
                                          <p:spTgt spid="374"/>
                                        </p:tgtEl>
                                        <p:attrNameLst>
                                          <p:attrName>ppt_w</p:attrName>
                                        </p:attrNameLst>
                                      </p:cBhvr>
                                      <p:tavLst>
                                        <p:tav tm="0">
                                          <p:val>
                                            <p:fltVal val="0"/>
                                          </p:val>
                                        </p:tav>
                                        <p:tav tm="100000">
                                          <p:val>
                                            <p:strVal val="#ppt_w"/>
                                          </p:val>
                                        </p:tav>
                                      </p:tavLst>
                                    </p:anim>
                                    <p:anim calcmode="lin" valueType="num">
                                      <p:cBhvr>
                                        <p:cTn id="136" dur="1000" fill="hold"/>
                                        <p:tgtEl>
                                          <p:spTgt spid="374"/>
                                        </p:tgtEl>
                                        <p:attrNameLst>
                                          <p:attrName>ppt_h</p:attrName>
                                        </p:attrNameLst>
                                      </p:cBhvr>
                                      <p:tavLst>
                                        <p:tav tm="0">
                                          <p:val>
                                            <p:fltVal val="0"/>
                                          </p:val>
                                        </p:tav>
                                        <p:tav tm="100000">
                                          <p:val>
                                            <p:strVal val="#ppt_h"/>
                                          </p:val>
                                        </p:tav>
                                      </p:tavLst>
                                    </p:anim>
                                    <p:anim calcmode="lin" valueType="num">
                                      <p:cBhvr>
                                        <p:cTn id="137" dur="1000" fill="hold"/>
                                        <p:tgtEl>
                                          <p:spTgt spid="374"/>
                                        </p:tgtEl>
                                        <p:attrNameLst>
                                          <p:attrName>ppt_x</p:attrName>
                                        </p:attrNameLst>
                                      </p:cBhvr>
                                      <p:tavLst>
                                        <p:tav tm="0" fmla="#ppt_x+(cos(-2*pi*(1-$))*-#ppt_x-sin(-2*pi*(1-$))*(1-#ppt_y))*(1-$)">
                                          <p:val>
                                            <p:fltVal val="0"/>
                                          </p:val>
                                        </p:tav>
                                        <p:tav tm="100000">
                                          <p:val>
                                            <p:fltVal val="1"/>
                                          </p:val>
                                        </p:tav>
                                      </p:tavLst>
                                    </p:anim>
                                    <p:anim calcmode="lin" valueType="num">
                                      <p:cBhvr>
                                        <p:cTn id="138" dur="1000" fill="hold"/>
                                        <p:tgtEl>
                                          <p:spTgt spid="37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39" fill="hold">
                      <p:stCondLst>
                        <p:cond delay="indefinite"/>
                      </p:stCondLst>
                      <p:childTnLst>
                        <p:par>
                          <p:cTn id="140" fill="hold">
                            <p:stCondLst>
                              <p:cond delay="0"/>
                            </p:stCondLst>
                            <p:childTnLst>
                              <p:par>
                                <p:cTn id="141" presetClass="entr" nodeType="clickEffect" presetSubtype="0" presetID="15" grpId="20" fill="hold">
                                  <p:stCondLst>
                                    <p:cond delay="0"/>
                                  </p:stCondLst>
                                  <p:iterate type="el" backwards="0">
                                    <p:tmAbs val="0"/>
                                  </p:iterate>
                                  <p:childTnLst>
                                    <p:set>
                                      <p:cBhvr>
                                        <p:cTn id="142" fill="hold"/>
                                        <p:tgtEl>
                                          <p:spTgt spid="456"/>
                                        </p:tgtEl>
                                        <p:attrNameLst>
                                          <p:attrName>style.visibility</p:attrName>
                                        </p:attrNameLst>
                                      </p:cBhvr>
                                      <p:to>
                                        <p:strVal val="visible"/>
                                      </p:to>
                                    </p:set>
                                    <p:anim calcmode="lin" valueType="num">
                                      <p:cBhvr>
                                        <p:cTn id="143" dur="1000" fill="hold"/>
                                        <p:tgtEl>
                                          <p:spTgt spid="456"/>
                                        </p:tgtEl>
                                        <p:attrNameLst>
                                          <p:attrName>ppt_w</p:attrName>
                                        </p:attrNameLst>
                                      </p:cBhvr>
                                      <p:tavLst>
                                        <p:tav tm="0">
                                          <p:val>
                                            <p:fltVal val="0"/>
                                          </p:val>
                                        </p:tav>
                                        <p:tav tm="100000">
                                          <p:val>
                                            <p:strVal val="#ppt_w"/>
                                          </p:val>
                                        </p:tav>
                                      </p:tavLst>
                                    </p:anim>
                                    <p:anim calcmode="lin" valueType="num">
                                      <p:cBhvr>
                                        <p:cTn id="144" dur="1000" fill="hold"/>
                                        <p:tgtEl>
                                          <p:spTgt spid="456"/>
                                        </p:tgtEl>
                                        <p:attrNameLst>
                                          <p:attrName>ppt_h</p:attrName>
                                        </p:attrNameLst>
                                      </p:cBhvr>
                                      <p:tavLst>
                                        <p:tav tm="0">
                                          <p:val>
                                            <p:fltVal val="0"/>
                                          </p:val>
                                        </p:tav>
                                        <p:tav tm="100000">
                                          <p:val>
                                            <p:strVal val="#ppt_h"/>
                                          </p:val>
                                        </p:tav>
                                      </p:tavLst>
                                    </p:anim>
                                    <p:anim calcmode="lin" valueType="num">
                                      <p:cBhvr>
                                        <p:cTn id="145" dur="1000" fill="hold"/>
                                        <p:tgtEl>
                                          <p:spTgt spid="456"/>
                                        </p:tgtEl>
                                        <p:attrNameLst>
                                          <p:attrName>ppt_x</p:attrName>
                                        </p:attrNameLst>
                                      </p:cBhvr>
                                      <p:tavLst>
                                        <p:tav tm="0" fmla="#ppt_x+(cos(-2*pi*(1-$))*-#ppt_x-sin(-2*pi*(1-$))*(1-#ppt_y))*(1-$)">
                                          <p:val>
                                            <p:fltVal val="0"/>
                                          </p:val>
                                        </p:tav>
                                        <p:tav tm="100000">
                                          <p:val>
                                            <p:fltVal val="1"/>
                                          </p:val>
                                        </p:tav>
                                      </p:tavLst>
                                    </p:anim>
                                    <p:anim calcmode="lin" valueType="num">
                                      <p:cBhvr>
                                        <p:cTn id="146" dur="1000" fill="hold"/>
                                        <p:tgtEl>
                                          <p:spTgt spid="45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47" fill="hold">
                      <p:stCondLst>
                        <p:cond delay="indefinite"/>
                      </p:stCondLst>
                      <p:childTnLst>
                        <p:par>
                          <p:cTn id="148" fill="hold">
                            <p:stCondLst>
                              <p:cond delay="0"/>
                            </p:stCondLst>
                            <p:childTnLst>
                              <p:par>
                                <p:cTn id="149" presetClass="entr" nodeType="clickEffect" presetSubtype="0" presetID="15" grpId="21" fill="hold">
                                  <p:stCondLst>
                                    <p:cond delay="0"/>
                                  </p:stCondLst>
                                  <p:iterate type="el" backwards="0">
                                    <p:tmAbs val="0"/>
                                  </p:iterate>
                                  <p:childTnLst>
                                    <p:set>
                                      <p:cBhvr>
                                        <p:cTn id="150" fill="hold"/>
                                        <p:tgtEl>
                                          <p:spTgt spid="457"/>
                                        </p:tgtEl>
                                        <p:attrNameLst>
                                          <p:attrName>style.visibility</p:attrName>
                                        </p:attrNameLst>
                                      </p:cBhvr>
                                      <p:to>
                                        <p:strVal val="visible"/>
                                      </p:to>
                                    </p:set>
                                    <p:anim calcmode="lin" valueType="num">
                                      <p:cBhvr>
                                        <p:cTn id="151" dur="1000" fill="hold"/>
                                        <p:tgtEl>
                                          <p:spTgt spid="457"/>
                                        </p:tgtEl>
                                        <p:attrNameLst>
                                          <p:attrName>ppt_w</p:attrName>
                                        </p:attrNameLst>
                                      </p:cBhvr>
                                      <p:tavLst>
                                        <p:tav tm="0">
                                          <p:val>
                                            <p:fltVal val="0"/>
                                          </p:val>
                                        </p:tav>
                                        <p:tav tm="100000">
                                          <p:val>
                                            <p:strVal val="#ppt_w"/>
                                          </p:val>
                                        </p:tav>
                                      </p:tavLst>
                                    </p:anim>
                                    <p:anim calcmode="lin" valueType="num">
                                      <p:cBhvr>
                                        <p:cTn id="152" dur="1000" fill="hold"/>
                                        <p:tgtEl>
                                          <p:spTgt spid="457"/>
                                        </p:tgtEl>
                                        <p:attrNameLst>
                                          <p:attrName>ppt_h</p:attrName>
                                        </p:attrNameLst>
                                      </p:cBhvr>
                                      <p:tavLst>
                                        <p:tav tm="0">
                                          <p:val>
                                            <p:fltVal val="0"/>
                                          </p:val>
                                        </p:tav>
                                        <p:tav tm="100000">
                                          <p:val>
                                            <p:strVal val="#ppt_h"/>
                                          </p:val>
                                        </p:tav>
                                      </p:tavLst>
                                    </p:anim>
                                    <p:anim calcmode="lin" valueType="num">
                                      <p:cBhvr>
                                        <p:cTn id="153" dur="1000" fill="hold"/>
                                        <p:tgtEl>
                                          <p:spTgt spid="457"/>
                                        </p:tgtEl>
                                        <p:attrNameLst>
                                          <p:attrName>ppt_x</p:attrName>
                                        </p:attrNameLst>
                                      </p:cBhvr>
                                      <p:tavLst>
                                        <p:tav tm="0" fmla="#ppt_x+(cos(-2*pi*(1-$))*-#ppt_x-sin(-2*pi*(1-$))*(1-#ppt_y))*(1-$)">
                                          <p:val>
                                            <p:fltVal val="0"/>
                                          </p:val>
                                        </p:tav>
                                        <p:tav tm="100000">
                                          <p:val>
                                            <p:fltVal val="1"/>
                                          </p:val>
                                        </p:tav>
                                      </p:tavLst>
                                    </p:anim>
                                    <p:anim calcmode="lin" valueType="num">
                                      <p:cBhvr>
                                        <p:cTn id="154" dur="1000" fill="hold"/>
                                        <p:tgtEl>
                                          <p:spTgt spid="45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5" fill="hold">
                      <p:stCondLst>
                        <p:cond delay="indefinite"/>
                      </p:stCondLst>
                      <p:childTnLst>
                        <p:par>
                          <p:cTn id="156" fill="hold">
                            <p:stCondLst>
                              <p:cond delay="0"/>
                            </p:stCondLst>
                            <p:childTnLst>
                              <p:par>
                                <p:cTn id="157" presetClass="entr" nodeType="clickEffect" presetSubtype="0" presetID="15" grpId="22" fill="hold">
                                  <p:stCondLst>
                                    <p:cond delay="0"/>
                                  </p:stCondLst>
                                  <p:iterate type="el" backwards="0">
                                    <p:tmAbs val="0"/>
                                  </p:iterate>
                                  <p:childTnLst>
                                    <p:set>
                                      <p:cBhvr>
                                        <p:cTn id="158" fill="hold"/>
                                        <p:tgtEl>
                                          <p:spTgt spid="466"/>
                                        </p:tgtEl>
                                        <p:attrNameLst>
                                          <p:attrName>style.visibility</p:attrName>
                                        </p:attrNameLst>
                                      </p:cBhvr>
                                      <p:to>
                                        <p:strVal val="visible"/>
                                      </p:to>
                                    </p:set>
                                    <p:anim calcmode="lin" valueType="num">
                                      <p:cBhvr>
                                        <p:cTn id="159" dur="1000" fill="hold"/>
                                        <p:tgtEl>
                                          <p:spTgt spid="466"/>
                                        </p:tgtEl>
                                        <p:attrNameLst>
                                          <p:attrName>ppt_w</p:attrName>
                                        </p:attrNameLst>
                                      </p:cBhvr>
                                      <p:tavLst>
                                        <p:tav tm="0">
                                          <p:val>
                                            <p:fltVal val="0"/>
                                          </p:val>
                                        </p:tav>
                                        <p:tav tm="100000">
                                          <p:val>
                                            <p:strVal val="#ppt_w"/>
                                          </p:val>
                                        </p:tav>
                                      </p:tavLst>
                                    </p:anim>
                                    <p:anim calcmode="lin" valueType="num">
                                      <p:cBhvr>
                                        <p:cTn id="160" dur="1000" fill="hold"/>
                                        <p:tgtEl>
                                          <p:spTgt spid="466"/>
                                        </p:tgtEl>
                                        <p:attrNameLst>
                                          <p:attrName>ppt_h</p:attrName>
                                        </p:attrNameLst>
                                      </p:cBhvr>
                                      <p:tavLst>
                                        <p:tav tm="0">
                                          <p:val>
                                            <p:fltVal val="0"/>
                                          </p:val>
                                        </p:tav>
                                        <p:tav tm="100000">
                                          <p:val>
                                            <p:strVal val="#ppt_h"/>
                                          </p:val>
                                        </p:tav>
                                      </p:tavLst>
                                    </p:anim>
                                    <p:anim calcmode="lin" valueType="num">
                                      <p:cBhvr>
                                        <p:cTn id="161" dur="1000" fill="hold"/>
                                        <p:tgtEl>
                                          <p:spTgt spid="466"/>
                                        </p:tgtEl>
                                        <p:attrNameLst>
                                          <p:attrName>ppt_x</p:attrName>
                                        </p:attrNameLst>
                                      </p:cBhvr>
                                      <p:tavLst>
                                        <p:tav tm="0" fmla="#ppt_x+(cos(-2*pi*(1-$))*-#ppt_x-sin(-2*pi*(1-$))*(1-#ppt_y))*(1-$)">
                                          <p:val>
                                            <p:fltVal val="0"/>
                                          </p:val>
                                        </p:tav>
                                        <p:tav tm="100000">
                                          <p:val>
                                            <p:fltVal val="1"/>
                                          </p:val>
                                        </p:tav>
                                      </p:tavLst>
                                    </p:anim>
                                    <p:anim calcmode="lin" valueType="num">
                                      <p:cBhvr>
                                        <p:cTn id="162" dur="1000" fill="hold"/>
                                        <p:tgtEl>
                                          <p:spTgt spid="46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3" fill="hold">
                      <p:stCondLst>
                        <p:cond delay="indefinite"/>
                      </p:stCondLst>
                      <p:childTnLst>
                        <p:par>
                          <p:cTn id="164" fill="hold">
                            <p:stCondLst>
                              <p:cond delay="0"/>
                            </p:stCondLst>
                            <p:childTnLst>
                              <p:par>
                                <p:cTn id="165" presetClass="entr" nodeType="clickEffect" presetID="10" grpId="23" fill="hold">
                                  <p:stCondLst>
                                    <p:cond delay="0"/>
                                  </p:stCondLst>
                                  <p:iterate type="el" backwards="0">
                                    <p:tmAbs val="0"/>
                                  </p:iterate>
                                  <p:childTnLst>
                                    <p:set>
                                      <p:cBhvr>
                                        <p:cTn id="166" fill="hold"/>
                                        <p:tgtEl>
                                          <p:spTgt spid="447"/>
                                        </p:tgtEl>
                                        <p:attrNameLst>
                                          <p:attrName>style.visibility</p:attrName>
                                        </p:attrNameLst>
                                      </p:cBhvr>
                                      <p:to>
                                        <p:strVal val="visible"/>
                                      </p:to>
                                    </p:set>
                                    <p:animEffect filter="fade" transition="in">
                                      <p:cBhvr>
                                        <p:cTn id="167" dur="1000"/>
                                        <p:tgtEl>
                                          <p:spTgt spid="447"/>
                                        </p:tgtEl>
                                      </p:cBhvr>
                                    </p:animEffect>
                                  </p:childTnLst>
                                </p:cTn>
                              </p:par>
                            </p:childTnLst>
                          </p:cTn>
                        </p:par>
                      </p:childTnLst>
                    </p:cTn>
                  </p:par>
                  <p:par>
                    <p:cTn id="168" fill="hold">
                      <p:stCondLst>
                        <p:cond delay="indefinite"/>
                      </p:stCondLst>
                      <p:childTnLst>
                        <p:par>
                          <p:cTn id="169" fill="hold">
                            <p:stCondLst>
                              <p:cond delay="0"/>
                            </p:stCondLst>
                            <p:childTnLst>
                              <p:par>
                                <p:cTn id="170" presetClass="entr" nodeType="clickEffect" presetSubtype="4" presetID="22" grpId="24" fill="hold">
                                  <p:stCondLst>
                                    <p:cond delay="0"/>
                                  </p:stCondLst>
                                  <p:iterate type="el" backwards="0">
                                    <p:tmAbs val="0"/>
                                  </p:iterate>
                                  <p:childTnLst>
                                    <p:set>
                                      <p:cBhvr>
                                        <p:cTn id="171" fill="hold"/>
                                        <p:tgtEl>
                                          <p:spTgt spid="463"/>
                                        </p:tgtEl>
                                        <p:attrNameLst>
                                          <p:attrName>style.visibility</p:attrName>
                                        </p:attrNameLst>
                                      </p:cBhvr>
                                      <p:to>
                                        <p:strVal val="visible"/>
                                      </p:to>
                                    </p:set>
                                    <p:animEffect filter="wipe(down)" transition="in">
                                      <p:cBhvr>
                                        <p:cTn id="172" dur="25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3" grpId="18"/>
      <p:bldP build="whole" bldLvl="1" animBg="1" rev="0" advAuto="0" spid="374" grpId="19"/>
      <p:bldP build="whole" bldLvl="1" animBg="1" rev="0" advAuto="0" spid="457" grpId="21"/>
      <p:bldP build="whole" bldLvl="1" animBg="1" rev="0" advAuto="0" spid="380" grpId="3"/>
      <p:bldP build="whole" bldLvl="1" animBg="1" rev="0" advAuto="0" spid="460" grpId="16"/>
      <p:bldP build="whole" bldLvl="1" animBg="1" rev="0" advAuto="0" spid="456" grpId="20"/>
      <p:bldP build="whole" bldLvl="1" animBg="1" rev="0" advAuto="0" spid="375" grpId="13"/>
      <p:bldP build="whole" bldLvl="1" animBg="1" rev="0" advAuto="0" spid="376" grpId="9"/>
      <p:bldP build="whole" bldLvl="1" animBg="1" rev="0" advAuto="0" spid="446" grpId="15"/>
      <p:bldP build="whole" bldLvl="1" animBg="1" rev="0" advAuto="0" spid="436" grpId="8"/>
      <p:bldP build="whole" bldLvl="1" animBg="1" rev="0" advAuto="0" spid="382" grpId="17"/>
      <p:bldP build="whole" bldLvl="1" animBg="1" rev="0" advAuto="0" spid="466" grpId="22"/>
      <p:bldP build="whole" bldLvl="1" animBg="1" rev="0" advAuto="0" spid="447" grpId="23"/>
      <p:bldP build="whole" bldLvl="1" animBg="1" rev="0" advAuto="0" spid="439" grpId="10"/>
      <p:bldP build="whole" bldLvl="1" animBg="1" rev="0" advAuto="0" spid="463" grpId="24"/>
      <p:bldP build="whole" bldLvl="1" animBg="1" rev="0" advAuto="0" spid="426" grpId="2"/>
      <p:bldP build="whole" bldLvl="1" animBg="1" rev="0" advAuto="0" spid="377" grpId="7"/>
      <p:bldP build="whole" bldLvl="1" animBg="1" rev="0" advAuto="0" spid="442" grpId="12"/>
      <p:bldP build="whole" bldLvl="1" animBg="1" rev="0" advAuto="0" spid="381" grpId="11"/>
      <p:bldP build="whole" bldLvl="1" animBg="1" rev="0" advAuto="0" spid="429" grpId="4"/>
      <p:bldP build="whole" bldLvl="1" animBg="1" rev="0" advAuto="0" spid="445" grpId="14"/>
      <p:bldP build="whole" bldLvl="1" animBg="1" rev="0" advAuto="0" spid="430" grpId="5"/>
      <p:bldP build="whole" bldLvl="1" animBg="1" rev="0" advAuto="0" spid="433" grpId="6"/>
      <p:bldP build="whole" bldLvl="1" animBg="1" rev="0" advAuto="0" spid="379"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hape 364"/>
          <p:cNvSpPr txBox="1"/>
          <p:nvPr/>
        </p:nvSpPr>
        <p:spPr>
          <a:xfrm>
            <a:off x="342335" y="1399821"/>
            <a:ext cx="110490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从上述查找过程可见，在查找过程中，生成了一条查找路径:</a:t>
            </a:r>
          </a:p>
        </p:txBody>
      </p:sp>
      <p:sp>
        <p:nvSpPr>
          <p:cNvPr id="470" name="Shape 366"/>
          <p:cNvSpPr txBox="1"/>
          <p:nvPr/>
        </p:nvSpPr>
        <p:spPr>
          <a:xfrm>
            <a:off x="811388" y="2331154"/>
            <a:ext cx="10947401" cy="1320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lnSpc>
                <a:spcPct val="140000"/>
              </a:lnSpc>
              <a:spcBef>
                <a:spcPts val="1900"/>
              </a:spcBef>
              <a:defRPr sz="2800">
                <a:uFill>
                  <a:solidFill>
                    <a:srgbClr val="000000"/>
                  </a:solidFill>
                </a:uFill>
              </a:defRPr>
            </a:lvl1pPr>
          </a:lstStyle>
          <a:p>
            <a:pPr/>
            <a:r>
              <a:t>查找成功：从根结点出发，沿着左分支或右分支逐层向下直至关键字等于给定值的结点;</a:t>
            </a:r>
          </a:p>
        </p:txBody>
      </p:sp>
      <p:sp>
        <p:nvSpPr>
          <p:cNvPr id="471" name="Shape 367"/>
          <p:cNvSpPr txBox="1"/>
          <p:nvPr/>
        </p:nvSpPr>
        <p:spPr>
          <a:xfrm>
            <a:off x="811387" y="4076698"/>
            <a:ext cx="12036876"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lnSpc>
                <a:spcPct val="140000"/>
              </a:lnSpc>
              <a:spcBef>
                <a:spcPts val="1900"/>
              </a:spcBef>
              <a:defRPr sz="2800">
                <a:uFill>
                  <a:solidFill>
                    <a:srgbClr val="000000"/>
                  </a:solidFill>
                </a:uFill>
              </a:defRPr>
            </a:lvl1pPr>
          </a:lstStyle>
          <a:p>
            <a:pPr/>
            <a:r>
              <a:t>查找不成功：从根结点出发，沿着左分支或右分支逐层向下直至空树为止。</a:t>
            </a:r>
          </a:p>
        </p:txBody>
      </p:sp>
      <p:sp>
        <p:nvSpPr>
          <p:cNvPr id="472" name="Shape 368"/>
          <p:cNvSpPr txBox="1"/>
          <p:nvPr>
            <p:ph type="title"/>
          </p:nvPr>
        </p:nvSpPr>
        <p:spPr>
          <a:xfrm>
            <a:off x="1611488" y="125588"/>
            <a:ext cx="9448801" cy="952501"/>
          </a:xfrm>
          <a:prstGeom prst="rect">
            <a:avLst/>
          </a:prstGeom>
        </p:spPr>
        <p:txBody>
          <a:bodyPr/>
          <a:lstStyle/>
          <a:p>
            <a:pPr/>
            <a:r>
              <a:t>get(查找操作)</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370"/>
          <p:cNvSpPr txBox="1"/>
          <p:nvPr>
            <p:ph type="title"/>
          </p:nvPr>
        </p:nvSpPr>
        <p:spPr>
          <a:xfrm>
            <a:off x="1611488" y="125588"/>
            <a:ext cx="9448801" cy="952501"/>
          </a:xfrm>
          <a:prstGeom prst="rect">
            <a:avLst/>
          </a:prstGeom>
        </p:spPr>
        <p:txBody>
          <a:bodyPr/>
          <a:lstStyle/>
          <a:p>
            <a:pPr/>
            <a:r>
              <a:t>BinarySearchTree</a:t>
            </a:r>
          </a:p>
        </p:txBody>
      </p:sp>
      <p:sp>
        <p:nvSpPr>
          <p:cNvPr id="475" name="public class BinarySearchTree&lt;K, V&gt; implements IMap&lt;K, V&gt; {…"/>
          <p:cNvSpPr txBox="1"/>
          <p:nvPr/>
        </p:nvSpPr>
        <p:spPr>
          <a:xfrm>
            <a:off x="837285" y="1389793"/>
            <a:ext cx="11355630" cy="647801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500">
                <a:latin typeface="Monaco"/>
                <a:ea typeface="Monaco"/>
                <a:cs typeface="Monaco"/>
                <a:sym typeface="Monaco"/>
              </a:defRPr>
            </a:pPr>
            <a:r>
              <a:rPr>
                <a:solidFill>
                  <a:srgbClr val="931A68"/>
                </a:solidFill>
              </a:rPr>
              <a:t>public</a:t>
            </a:r>
            <a:r>
              <a:t> </a:t>
            </a:r>
            <a:r>
              <a:rPr>
                <a:solidFill>
                  <a:srgbClr val="931A68"/>
                </a:solidFill>
              </a:rPr>
              <a:t>class</a:t>
            </a:r>
            <a:r>
              <a:t> BinarySearchTree&lt;K, V&gt; </a:t>
            </a:r>
            <a:r>
              <a:rPr>
                <a:solidFill>
                  <a:srgbClr val="931A68"/>
                </a:solidFill>
              </a:rPr>
              <a:t>implements</a:t>
            </a:r>
            <a:r>
              <a:t> IMap&lt;K, V&gt; {</a:t>
            </a:r>
          </a:p>
          <a:p>
            <a:pPr indent="0">
              <a:defRPr sz="2500">
                <a:latin typeface="Monaco"/>
                <a:ea typeface="Monaco"/>
                <a:cs typeface="Monaco"/>
                <a:sym typeface="Monaco"/>
              </a:defRPr>
            </a:pPr>
            <a:r>
              <a:t>	</a:t>
            </a:r>
            <a:r>
              <a:rPr>
                <a:solidFill>
                  <a:srgbClr val="931A68"/>
                </a:solidFill>
              </a:rPr>
              <a:t>private</a:t>
            </a:r>
            <a:r>
              <a:t> Node&lt;K, V&gt; </a:t>
            </a:r>
            <a:r>
              <a:rPr>
                <a:solidFill>
                  <a:srgbClr val="0326CC"/>
                </a:solidFill>
              </a:rPr>
              <a:t>root</a:t>
            </a:r>
            <a:r>
              <a:t>;</a:t>
            </a:r>
          </a:p>
          <a:p>
            <a:pPr indent="0">
              <a:defRPr sz="2500">
                <a:solidFill>
                  <a:srgbClr val="931A68"/>
                </a:solidFill>
                <a:latin typeface="Monaco"/>
                <a:ea typeface="Monaco"/>
                <a:cs typeface="Monaco"/>
                <a:sym typeface="Monaco"/>
              </a:defRPr>
            </a:pPr>
            <a:r>
              <a:rPr>
                <a:solidFill>
                  <a:srgbClr val="000000"/>
                </a:solidFill>
              </a:rPr>
              <a:t>	</a:t>
            </a:r>
            <a:r>
              <a:t>private</a:t>
            </a:r>
            <a:r>
              <a:rPr>
                <a:solidFill>
                  <a:srgbClr val="000000"/>
                </a:solidFill>
              </a:rPr>
              <a:t> </a:t>
            </a:r>
            <a:r>
              <a:t>int</a:t>
            </a:r>
            <a:r>
              <a:rPr>
                <a:solidFill>
                  <a:srgbClr val="000000"/>
                </a:solidFill>
              </a:rPr>
              <a:t> </a:t>
            </a:r>
            <a:r>
              <a:rPr>
                <a:solidFill>
                  <a:srgbClr val="0326CC"/>
                </a:solidFill>
              </a:rPr>
              <a:t>size</a:t>
            </a:r>
            <a:r>
              <a:rPr>
                <a:solidFill>
                  <a:srgbClr val="000000"/>
                </a:solidFill>
              </a:rPr>
              <a:t>;</a:t>
            </a:r>
            <a:endParaRPr>
              <a:solidFill>
                <a:srgbClr val="000000"/>
              </a:solidFill>
            </a:endParaRPr>
          </a:p>
          <a:p>
            <a:pPr indent="0">
              <a:defRPr sz="2500">
                <a:solidFill>
                  <a:srgbClr val="931A68"/>
                </a:solidFill>
                <a:latin typeface="Monaco"/>
                <a:ea typeface="Monaco"/>
                <a:cs typeface="Monaco"/>
                <a:sym typeface="Monaco"/>
              </a:defRPr>
            </a:pPr>
            <a:endParaRPr>
              <a:solidFill>
                <a:srgbClr val="000000"/>
              </a:solidFill>
            </a:endParaRPr>
          </a:p>
          <a:p>
            <a:pPr indent="0">
              <a:defRPr sz="2300">
                <a:latin typeface="Monaco"/>
                <a:ea typeface="Monaco"/>
                <a:cs typeface="Monaco"/>
                <a:sym typeface="Monaco"/>
              </a:defRPr>
            </a:pPr>
            <a:r>
              <a:t>	</a:t>
            </a:r>
            <a:r>
              <a:rPr>
                <a:solidFill>
                  <a:srgbClr val="931A68"/>
                </a:solidFill>
              </a:rPr>
              <a:t>private</a:t>
            </a:r>
            <a:r>
              <a:t> </a:t>
            </a:r>
            <a:r>
              <a:rPr>
                <a:solidFill>
                  <a:srgbClr val="931A68"/>
                </a:solidFill>
              </a:rPr>
              <a:t>static</a:t>
            </a:r>
            <a:r>
              <a:t> </a:t>
            </a:r>
            <a:r>
              <a:rPr>
                <a:solidFill>
                  <a:srgbClr val="931A68"/>
                </a:solidFill>
              </a:rPr>
              <a:t>class</a:t>
            </a:r>
            <a:r>
              <a:t> Node&lt;K, V&gt; {</a:t>
            </a:r>
          </a:p>
          <a:p>
            <a:pPr indent="0">
              <a:defRPr sz="2300">
                <a:solidFill>
                  <a:srgbClr val="4E9072"/>
                </a:solidFill>
                <a:latin typeface="Monaco"/>
                <a:ea typeface="Monaco"/>
                <a:cs typeface="Monaco"/>
                <a:sym typeface="Monaco"/>
              </a:defRPr>
            </a:pPr>
            <a:r>
              <a:rPr>
                <a:solidFill>
                  <a:srgbClr val="000000"/>
                </a:solidFill>
              </a:rPr>
              <a:t>		K </a:t>
            </a:r>
            <a:r>
              <a:rPr>
                <a:solidFill>
                  <a:srgbClr val="0326CC"/>
                </a:solidFill>
              </a:rPr>
              <a:t>key</a:t>
            </a:r>
            <a:r>
              <a:rPr>
                <a:solidFill>
                  <a:srgbClr val="000000"/>
                </a:solidFill>
              </a:rPr>
              <a:t>;</a:t>
            </a:r>
            <a:endParaRPr>
              <a:solidFill>
                <a:srgbClr val="000000"/>
              </a:solidFill>
            </a:endParaRPr>
          </a:p>
          <a:p>
            <a:pPr indent="0">
              <a:defRPr sz="2300">
                <a:solidFill>
                  <a:srgbClr val="0326CC"/>
                </a:solidFill>
                <a:latin typeface="Monaco"/>
                <a:ea typeface="Monaco"/>
                <a:cs typeface="Monaco"/>
                <a:sym typeface="Monaco"/>
              </a:defRPr>
            </a:pPr>
            <a:r>
              <a:rPr>
                <a:solidFill>
                  <a:srgbClr val="000000"/>
                </a:solidFill>
              </a:rPr>
              <a:t>		V </a:t>
            </a:r>
            <a:r>
              <a:t>value</a:t>
            </a:r>
            <a:r>
              <a:rPr>
                <a:solidFill>
                  <a:srgbClr val="000000"/>
                </a:solidFill>
              </a:rPr>
              <a:t>;</a:t>
            </a:r>
            <a:endParaRPr>
              <a:solidFill>
                <a:srgbClr val="000000"/>
              </a:solidFill>
            </a:endParaRPr>
          </a:p>
          <a:p>
            <a:pPr indent="0">
              <a:defRPr sz="2300">
                <a:latin typeface="Monaco"/>
                <a:ea typeface="Monaco"/>
                <a:cs typeface="Monaco"/>
                <a:sym typeface="Monaco"/>
              </a:defRPr>
            </a:pPr>
            <a:r>
              <a:t>		Node&lt;K, V&gt; </a:t>
            </a:r>
            <a:r>
              <a:rPr>
                <a:solidFill>
                  <a:srgbClr val="0326CC"/>
                </a:solidFill>
              </a:rPr>
              <a:t>left</a:t>
            </a:r>
            <a:r>
              <a:t>;</a:t>
            </a:r>
          </a:p>
          <a:p>
            <a:pPr indent="0">
              <a:defRPr sz="2300">
                <a:latin typeface="Monaco"/>
                <a:ea typeface="Monaco"/>
                <a:cs typeface="Monaco"/>
                <a:sym typeface="Monaco"/>
              </a:defRPr>
            </a:pPr>
            <a:r>
              <a:t>		Node&lt;K, V&gt; </a:t>
            </a:r>
            <a:r>
              <a:rPr>
                <a:solidFill>
                  <a:srgbClr val="0326CC"/>
                </a:solidFill>
              </a:rPr>
              <a:t>right</a:t>
            </a:r>
            <a:r>
              <a:t>;</a:t>
            </a:r>
          </a:p>
          <a:p>
            <a:pPr indent="0">
              <a:defRPr sz="2300">
                <a:latin typeface="Monaco"/>
                <a:ea typeface="Monaco"/>
                <a:cs typeface="Monaco"/>
                <a:sym typeface="Monaco"/>
              </a:defRPr>
            </a:pPr>
            <a:r>
              <a:t>		Node(K </a:t>
            </a:r>
            <a:r>
              <a:rPr>
                <a:solidFill>
                  <a:srgbClr val="7E504F"/>
                </a:solidFill>
              </a:rPr>
              <a:t>key</a:t>
            </a:r>
            <a:r>
              <a:t>, V </a:t>
            </a:r>
            <a:r>
              <a:rPr>
                <a:solidFill>
                  <a:srgbClr val="7E504F"/>
                </a:solidFill>
              </a:rPr>
              <a:t>value</a:t>
            </a:r>
            <a:r>
              <a:t>, Node&lt;K, V&gt; </a:t>
            </a:r>
            <a:r>
              <a:rPr>
                <a:solidFill>
                  <a:srgbClr val="7E504F"/>
                </a:solidFill>
              </a:rPr>
              <a:t>left</a:t>
            </a:r>
            <a:r>
              <a:t>, Node&lt;K, V&gt; </a:t>
            </a:r>
            <a:r>
              <a:rPr>
                <a:solidFill>
                  <a:srgbClr val="7E504F"/>
                </a:solidFill>
              </a:rPr>
              <a:t>right</a:t>
            </a:r>
            <a:r>
              <a:t>) {</a:t>
            </a:r>
          </a:p>
          <a:p>
            <a:pPr indent="0">
              <a:defRPr sz="2300">
                <a:solidFill>
                  <a:srgbClr val="931A68"/>
                </a:solidFill>
                <a:latin typeface="Monaco"/>
                <a:ea typeface="Monaco"/>
                <a:cs typeface="Monaco"/>
                <a:sym typeface="Monaco"/>
              </a:defRPr>
            </a:pPr>
            <a:r>
              <a:rPr>
                <a:solidFill>
                  <a:srgbClr val="000000"/>
                </a:solidFill>
              </a:rPr>
              <a:t>			</a:t>
            </a:r>
            <a:r>
              <a:t>this</a:t>
            </a:r>
            <a:r>
              <a:rPr>
                <a:solidFill>
                  <a:srgbClr val="000000"/>
                </a:solidFill>
              </a:rPr>
              <a:t>.</a:t>
            </a:r>
            <a:r>
              <a:rPr>
                <a:solidFill>
                  <a:srgbClr val="0326CC"/>
                </a:solidFill>
              </a:rPr>
              <a:t>key</a:t>
            </a:r>
            <a:r>
              <a:rPr>
                <a:solidFill>
                  <a:srgbClr val="000000"/>
                </a:solidFill>
              </a:rPr>
              <a:t> = </a:t>
            </a:r>
            <a:r>
              <a:rPr>
                <a:solidFill>
                  <a:srgbClr val="7E504F"/>
                </a:solidFill>
              </a:rPr>
              <a:t>key</a:t>
            </a:r>
            <a:r>
              <a:rPr>
                <a:solidFill>
                  <a:srgbClr val="000000"/>
                </a:solidFill>
              </a:rPr>
              <a:t>;</a:t>
            </a:r>
            <a:endParaRPr>
              <a:solidFill>
                <a:srgbClr val="000000"/>
              </a:solidFill>
            </a:endParaRPr>
          </a:p>
          <a:p>
            <a:pPr indent="0">
              <a:defRPr sz="2300">
                <a:solidFill>
                  <a:srgbClr val="0326CC"/>
                </a:solidFill>
                <a:latin typeface="Monaco"/>
                <a:ea typeface="Monaco"/>
                <a:cs typeface="Monaco"/>
                <a:sym typeface="Monaco"/>
              </a:defRPr>
            </a:pPr>
            <a:r>
              <a:rPr>
                <a:solidFill>
                  <a:srgbClr val="000000"/>
                </a:solidFill>
              </a:rPr>
              <a:t>			</a:t>
            </a:r>
            <a:r>
              <a:rPr>
                <a:solidFill>
                  <a:srgbClr val="931A68"/>
                </a:solidFill>
              </a:rPr>
              <a:t>this</a:t>
            </a:r>
            <a:r>
              <a:rPr>
                <a:solidFill>
                  <a:srgbClr val="000000"/>
                </a:solidFill>
              </a:rPr>
              <a:t>.</a:t>
            </a:r>
            <a:r>
              <a:t>value</a:t>
            </a:r>
            <a:r>
              <a:rPr>
                <a:solidFill>
                  <a:srgbClr val="000000"/>
                </a:solidFill>
              </a:rPr>
              <a:t> = </a:t>
            </a:r>
            <a:r>
              <a:rPr>
                <a:solidFill>
                  <a:srgbClr val="7E504F"/>
                </a:solidFill>
              </a:rPr>
              <a:t>value</a:t>
            </a:r>
            <a:r>
              <a:rPr>
                <a:solidFill>
                  <a:srgbClr val="000000"/>
                </a:solidFill>
              </a:rPr>
              <a:t>;</a:t>
            </a:r>
            <a:endParaRPr>
              <a:solidFill>
                <a:srgbClr val="000000"/>
              </a:solidFill>
            </a:endParaRPr>
          </a:p>
          <a:p>
            <a:pPr indent="0">
              <a:defRPr sz="2300">
                <a:solidFill>
                  <a:srgbClr val="931A68"/>
                </a:solidFill>
                <a:latin typeface="Monaco"/>
                <a:ea typeface="Monaco"/>
                <a:cs typeface="Monaco"/>
                <a:sym typeface="Monaco"/>
              </a:defRPr>
            </a:pPr>
            <a:r>
              <a:rPr>
                <a:solidFill>
                  <a:srgbClr val="000000"/>
                </a:solidFill>
              </a:rPr>
              <a:t>			</a:t>
            </a:r>
            <a:r>
              <a:t>this</a:t>
            </a:r>
            <a:r>
              <a:rPr>
                <a:solidFill>
                  <a:srgbClr val="000000"/>
                </a:solidFill>
              </a:rPr>
              <a:t>.</a:t>
            </a:r>
            <a:r>
              <a:rPr>
                <a:solidFill>
                  <a:srgbClr val="0326CC"/>
                </a:solidFill>
              </a:rPr>
              <a:t>left</a:t>
            </a:r>
            <a:r>
              <a:rPr>
                <a:solidFill>
                  <a:srgbClr val="000000"/>
                </a:solidFill>
              </a:rPr>
              <a:t> = </a:t>
            </a:r>
            <a:r>
              <a:rPr>
                <a:solidFill>
                  <a:srgbClr val="7E504F"/>
                </a:solidFill>
              </a:rPr>
              <a:t>left</a:t>
            </a:r>
            <a:r>
              <a:rPr>
                <a:solidFill>
                  <a:srgbClr val="000000"/>
                </a:solidFill>
              </a:rPr>
              <a:t>;</a:t>
            </a:r>
            <a:endParaRPr>
              <a:solidFill>
                <a:srgbClr val="000000"/>
              </a:solidFill>
            </a:endParaRPr>
          </a:p>
          <a:p>
            <a:pPr indent="0">
              <a:defRPr sz="2300">
                <a:solidFill>
                  <a:srgbClr val="0326CC"/>
                </a:solidFill>
                <a:latin typeface="Monaco"/>
                <a:ea typeface="Monaco"/>
                <a:cs typeface="Monaco"/>
                <a:sym typeface="Monaco"/>
              </a:defRPr>
            </a:pPr>
            <a:r>
              <a:rPr>
                <a:solidFill>
                  <a:srgbClr val="000000"/>
                </a:solidFill>
              </a:rPr>
              <a:t>			</a:t>
            </a:r>
            <a:r>
              <a:rPr>
                <a:solidFill>
                  <a:srgbClr val="931A68"/>
                </a:solidFill>
              </a:rPr>
              <a:t>this</a:t>
            </a:r>
            <a:r>
              <a:rPr>
                <a:solidFill>
                  <a:srgbClr val="000000"/>
                </a:solidFill>
              </a:rPr>
              <a:t>.</a:t>
            </a:r>
            <a:r>
              <a:t>right</a:t>
            </a:r>
            <a:r>
              <a:rPr>
                <a:solidFill>
                  <a:srgbClr val="000000"/>
                </a:solidFill>
              </a:rPr>
              <a:t> = </a:t>
            </a:r>
            <a:r>
              <a:rPr>
                <a:solidFill>
                  <a:srgbClr val="7E504F"/>
                </a:solidFill>
              </a:rPr>
              <a:t>right</a:t>
            </a:r>
            <a:r>
              <a:rPr>
                <a:solidFill>
                  <a:srgbClr val="000000"/>
                </a:solidFill>
              </a:rPr>
              <a:t>;</a:t>
            </a:r>
            <a:endParaRPr>
              <a:solidFill>
                <a:srgbClr val="000000"/>
              </a:solidFill>
            </a:endParaRP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Shape 370"/>
          <p:cNvSpPr txBox="1"/>
          <p:nvPr>
            <p:ph type="title"/>
          </p:nvPr>
        </p:nvSpPr>
        <p:spPr>
          <a:xfrm>
            <a:off x="1611488" y="125588"/>
            <a:ext cx="9448801" cy="952501"/>
          </a:xfrm>
          <a:prstGeom prst="rect">
            <a:avLst/>
          </a:prstGeom>
        </p:spPr>
        <p:txBody>
          <a:bodyPr/>
          <a:lstStyle/>
          <a:p>
            <a:pPr/>
            <a:r>
              <a:t>get</a:t>
            </a:r>
          </a:p>
        </p:txBody>
      </p:sp>
      <p:sp>
        <p:nvSpPr>
          <p:cNvPr id="478" name="public V get(K key) { // 获取指定key的value，如果key不存在，返回null…"/>
          <p:cNvSpPr txBox="1"/>
          <p:nvPr/>
        </p:nvSpPr>
        <p:spPr>
          <a:xfrm>
            <a:off x="331988" y="1382135"/>
            <a:ext cx="12155091" cy="6210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400">
                <a:solidFill>
                  <a:srgbClr val="4E9072"/>
                </a:solidFill>
                <a:latin typeface="Monaco"/>
                <a:ea typeface="Monaco"/>
                <a:cs typeface="Monaco"/>
                <a:sym typeface="Monaco"/>
              </a:defRPr>
            </a:pPr>
            <a:r>
              <a:rPr>
                <a:solidFill>
                  <a:srgbClr val="000000"/>
                </a:solidFill>
              </a:rPr>
              <a:t>	</a:t>
            </a:r>
            <a:r>
              <a:rPr>
                <a:solidFill>
                  <a:srgbClr val="931A68"/>
                </a:solidFill>
              </a:rPr>
              <a:t>public</a:t>
            </a:r>
            <a:r>
              <a:rPr>
                <a:solidFill>
                  <a:srgbClr val="000000"/>
                </a:solidFill>
              </a:rPr>
              <a:t> V get(K </a:t>
            </a:r>
            <a:r>
              <a:rPr>
                <a:solidFill>
                  <a:srgbClr val="7E504F"/>
                </a:solidFill>
              </a:rPr>
              <a:t>key</a:t>
            </a:r>
            <a:r>
              <a:rPr>
                <a:solidFill>
                  <a:srgbClr val="000000"/>
                </a:solidFill>
              </a:rPr>
              <a:t>) { </a:t>
            </a:r>
            <a:r>
              <a:t>// 获取指定key的value，如果key不存在，返回null</a:t>
            </a:r>
            <a:endParaRPr>
              <a:solidFill>
                <a:srgbClr val="000000"/>
              </a:solidFill>
            </a:endParaRPr>
          </a:p>
          <a:p>
            <a:pPr indent="0">
              <a:defRPr sz="2400">
                <a:latin typeface="Monaco"/>
                <a:ea typeface="Monaco"/>
                <a:cs typeface="Monaco"/>
                <a:sym typeface="Monaco"/>
              </a:defRPr>
            </a:pPr>
            <a:r>
              <a:t>		Objects.requireNonNull(</a:t>
            </a:r>
            <a:r>
              <a:rPr>
                <a:solidFill>
                  <a:srgbClr val="7E504F"/>
                </a:solidFill>
              </a:rPr>
              <a:t>key</a:t>
            </a:r>
            <a:r>
              <a:t>);</a:t>
            </a:r>
          </a:p>
          <a:p>
            <a:pPr indent="0">
              <a:defRPr sz="2400">
                <a:latin typeface="Monaco"/>
                <a:ea typeface="Monaco"/>
                <a:cs typeface="Monaco"/>
                <a:sym typeface="Monaco"/>
              </a:defRPr>
            </a:pPr>
            <a:r>
              <a:t>		Node&lt;K, V&gt; </a:t>
            </a:r>
            <a:r>
              <a:rPr>
                <a:solidFill>
                  <a:srgbClr val="7E504F"/>
                </a:solidFill>
              </a:rPr>
              <a:t>t</a:t>
            </a:r>
            <a:r>
              <a:t> = </a:t>
            </a:r>
            <a:r>
              <a:rPr>
                <a:solidFill>
                  <a:srgbClr val="0326CC"/>
                </a:solidFill>
              </a:rPr>
              <a:t>root</a:t>
            </a:r>
            <a:r>
              <a:t>;</a:t>
            </a:r>
          </a:p>
          <a:p>
            <a:pPr indent="0">
              <a:defRPr sz="2400">
                <a:solidFill>
                  <a:srgbClr val="931A68"/>
                </a:solidFill>
                <a:latin typeface="Monaco"/>
                <a:ea typeface="Monaco"/>
                <a:cs typeface="Monaco"/>
                <a:sym typeface="Monaco"/>
              </a:defRPr>
            </a:pPr>
            <a:r>
              <a:rPr>
                <a:solidFill>
                  <a:srgbClr val="000000"/>
                </a:solidFill>
              </a:rPr>
              <a:t>		</a:t>
            </a:r>
            <a:r>
              <a:t>while</a:t>
            </a:r>
            <a:r>
              <a:rPr>
                <a:solidFill>
                  <a:srgbClr val="000000"/>
                </a:solidFill>
              </a:rPr>
              <a:t> (</a:t>
            </a:r>
            <a:r>
              <a:rPr>
                <a:solidFill>
                  <a:srgbClr val="7E504F"/>
                </a:solidFill>
              </a:rPr>
              <a:t>t</a:t>
            </a:r>
            <a:r>
              <a:rPr>
                <a:solidFill>
                  <a:srgbClr val="000000"/>
                </a:solidFill>
              </a:rPr>
              <a:t> != </a:t>
            </a:r>
            <a:r>
              <a:t>null</a:t>
            </a:r>
            <a:r>
              <a:rPr>
                <a:solidFill>
                  <a:srgbClr val="000000"/>
                </a:solidFill>
              </a:rPr>
              <a:t>) {</a:t>
            </a:r>
            <a:endParaRPr>
              <a:solidFill>
                <a:srgbClr val="000000"/>
              </a:solidFill>
            </a:endParaRPr>
          </a:p>
          <a:p>
            <a:pPr indent="0">
              <a:defRPr sz="2400">
                <a:solidFill>
                  <a:srgbClr val="777777"/>
                </a:solidFill>
                <a:latin typeface="Monaco"/>
                <a:ea typeface="Monaco"/>
                <a:cs typeface="Monaco"/>
                <a:sym typeface="Monaco"/>
              </a:defRPr>
            </a:pPr>
            <a:r>
              <a:rPr>
                <a:solidFill>
                  <a:srgbClr val="000000"/>
                </a:solidFill>
              </a:rPr>
              <a:t>			</a:t>
            </a:r>
            <a:r>
              <a:t>@SuppressWarnings</a:t>
            </a:r>
            <a:r>
              <a:rPr>
                <a:solidFill>
                  <a:srgbClr val="000000"/>
                </a:solidFill>
              </a:rPr>
              <a:t>(</a:t>
            </a:r>
            <a:r>
              <a:rPr>
                <a:solidFill>
                  <a:srgbClr val="3933FF"/>
                </a:solidFill>
              </a:rPr>
              <a:t>"unchecked"</a:t>
            </a:r>
            <a:r>
              <a:rPr>
                <a:solidFill>
                  <a:srgbClr val="000000"/>
                </a:solidFill>
              </a:rPr>
              <a:t>)</a:t>
            </a:r>
            <a:endParaRPr>
              <a:solidFill>
                <a:srgbClr val="000000"/>
              </a:solidFill>
            </a:endParaRPr>
          </a:p>
          <a:p>
            <a:pPr indent="0">
              <a:defRPr sz="2400">
                <a:latin typeface="Monaco"/>
                <a:ea typeface="Monaco"/>
                <a:cs typeface="Monaco"/>
                <a:sym typeface="Monaco"/>
              </a:defRPr>
            </a:pPr>
            <a:r>
              <a:t>			</a:t>
            </a:r>
            <a:r>
              <a:rPr>
                <a:solidFill>
                  <a:srgbClr val="931A68"/>
                </a:solidFill>
              </a:rPr>
              <a:t>int</a:t>
            </a:r>
            <a:r>
              <a:t> </a:t>
            </a:r>
            <a:r>
              <a:rPr>
                <a:solidFill>
                  <a:srgbClr val="7E504F"/>
                </a:solidFill>
              </a:rPr>
              <a:t>cmp</a:t>
            </a:r>
            <a:r>
              <a:t> = ((Comparable&lt;? </a:t>
            </a:r>
            <a:r>
              <a:rPr>
                <a:solidFill>
                  <a:srgbClr val="931A68"/>
                </a:solidFill>
              </a:rPr>
              <a:t>super</a:t>
            </a:r>
            <a:r>
              <a:t> K&gt;) </a:t>
            </a:r>
            <a:r>
              <a:rPr>
                <a:solidFill>
                  <a:srgbClr val="7E504F"/>
                </a:solidFill>
              </a:rPr>
              <a:t>key</a:t>
            </a:r>
            <a:r>
              <a:t>).compareTo(</a:t>
            </a:r>
            <a:r>
              <a:rPr>
                <a:solidFill>
                  <a:srgbClr val="7E504F"/>
                </a:solidFill>
              </a:rPr>
              <a:t>t</a:t>
            </a:r>
            <a:r>
              <a:t>.</a:t>
            </a:r>
            <a:r>
              <a:rPr>
                <a:solidFill>
                  <a:srgbClr val="0326CC"/>
                </a:solidFill>
              </a:rPr>
              <a:t>key</a:t>
            </a:r>
            <a:r>
              <a:t>);</a:t>
            </a:r>
          </a:p>
          <a:p>
            <a:pPr indent="0">
              <a:defRPr sz="2400">
                <a:latin typeface="Monaco"/>
                <a:ea typeface="Monaco"/>
                <a:cs typeface="Monaco"/>
                <a:sym typeface="Monaco"/>
              </a:defRPr>
            </a:pPr>
            <a:r>
              <a:t>			</a:t>
            </a:r>
            <a:r>
              <a:rPr>
                <a:solidFill>
                  <a:srgbClr val="931A68"/>
                </a:solidFill>
              </a:rPr>
              <a:t>if</a:t>
            </a:r>
            <a:r>
              <a:t> (</a:t>
            </a:r>
            <a:r>
              <a:rPr>
                <a:solidFill>
                  <a:srgbClr val="7E504F"/>
                </a:solidFill>
              </a:rPr>
              <a:t>cmp</a:t>
            </a:r>
            <a:r>
              <a:t> == 0)</a:t>
            </a:r>
          </a:p>
          <a:p>
            <a:pPr indent="0">
              <a:defRPr sz="2400">
                <a:solidFill>
                  <a:srgbClr val="931A68"/>
                </a:solidFill>
                <a:latin typeface="Monaco"/>
                <a:ea typeface="Monaco"/>
                <a:cs typeface="Monaco"/>
                <a:sym typeface="Monaco"/>
              </a:defRPr>
            </a:pPr>
            <a:r>
              <a:rPr>
                <a:solidFill>
                  <a:srgbClr val="000000"/>
                </a:solidFill>
              </a:rPr>
              <a:t>				</a:t>
            </a:r>
            <a:r>
              <a:t>break</a:t>
            </a:r>
            <a:r>
              <a:rPr>
                <a:solidFill>
                  <a:srgbClr val="000000"/>
                </a:solidFill>
              </a:rPr>
              <a:t>;</a:t>
            </a:r>
            <a:endParaRPr>
              <a:solidFill>
                <a:srgbClr val="000000"/>
              </a:solidFill>
            </a:endParaRPr>
          </a:p>
          <a:p>
            <a:pPr indent="0">
              <a:defRPr sz="2400">
                <a:latin typeface="Monaco"/>
                <a:ea typeface="Monaco"/>
                <a:cs typeface="Monaco"/>
                <a:sym typeface="Monaco"/>
              </a:defRPr>
            </a:pPr>
            <a:r>
              <a:t>			</a:t>
            </a:r>
            <a:r>
              <a:rPr>
                <a:solidFill>
                  <a:srgbClr val="931A68"/>
                </a:solidFill>
              </a:rPr>
              <a:t>if</a:t>
            </a:r>
            <a:r>
              <a:t> (</a:t>
            </a:r>
            <a:r>
              <a:rPr>
                <a:solidFill>
                  <a:srgbClr val="7E504F"/>
                </a:solidFill>
              </a:rPr>
              <a:t>cmp</a:t>
            </a:r>
            <a:r>
              <a:t> &lt; 0)</a:t>
            </a:r>
          </a:p>
          <a:p>
            <a:pPr indent="0">
              <a:defRPr sz="2400">
                <a:latin typeface="Monaco"/>
                <a:ea typeface="Monaco"/>
                <a:cs typeface="Monaco"/>
                <a:sym typeface="Monaco"/>
              </a:defRPr>
            </a:pPr>
            <a:r>
              <a:t>				</a:t>
            </a:r>
            <a:r>
              <a:rPr>
                <a:solidFill>
                  <a:srgbClr val="7E504F"/>
                </a:solidFill>
              </a:rPr>
              <a:t>t</a:t>
            </a:r>
            <a:r>
              <a:t> = </a:t>
            </a:r>
            <a:r>
              <a:rPr>
                <a:solidFill>
                  <a:srgbClr val="7E504F"/>
                </a:solidFill>
              </a:rPr>
              <a:t>t</a:t>
            </a:r>
            <a:r>
              <a:t>.</a:t>
            </a:r>
            <a:r>
              <a:rPr>
                <a:solidFill>
                  <a:srgbClr val="0326CC"/>
                </a:solidFill>
              </a:rPr>
              <a:t>left</a:t>
            </a:r>
            <a:r>
              <a:t>;</a:t>
            </a:r>
          </a:p>
          <a:p>
            <a:pPr indent="0">
              <a:defRPr sz="24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400">
                <a:solidFill>
                  <a:srgbClr val="0326CC"/>
                </a:solidFill>
                <a:latin typeface="Monaco"/>
                <a:ea typeface="Monaco"/>
                <a:cs typeface="Monaco"/>
                <a:sym typeface="Monaco"/>
              </a:defRPr>
            </a:pPr>
            <a:r>
              <a:rPr>
                <a:solidFill>
                  <a:srgbClr val="000000"/>
                </a:solidFill>
              </a:rPr>
              <a:t>				</a:t>
            </a:r>
            <a:r>
              <a:rPr>
                <a:solidFill>
                  <a:srgbClr val="7E504F"/>
                </a:solidFill>
              </a:rPr>
              <a:t>t</a:t>
            </a:r>
            <a:r>
              <a:rPr>
                <a:solidFill>
                  <a:srgbClr val="000000"/>
                </a:solidFill>
              </a:rPr>
              <a:t> = </a:t>
            </a:r>
            <a:r>
              <a:rPr>
                <a:solidFill>
                  <a:srgbClr val="7E504F"/>
                </a:solidFill>
              </a:rPr>
              <a:t>t</a:t>
            </a:r>
            <a:r>
              <a:rPr>
                <a:solidFill>
                  <a:srgbClr val="000000"/>
                </a:solidFill>
              </a:rPr>
              <a:t>.</a:t>
            </a:r>
            <a:r>
              <a:t>right</a:t>
            </a:r>
            <a:r>
              <a:rPr>
                <a:solidFill>
                  <a:srgbClr val="000000"/>
                </a:solidFill>
              </a:rPr>
              <a:t>;</a:t>
            </a:r>
            <a:endParaRPr>
              <a:solidFill>
                <a:srgbClr val="000000"/>
              </a:solidFill>
            </a:endParaRPr>
          </a:p>
          <a:p>
            <a:pPr indent="0">
              <a:defRPr sz="2400">
                <a:latin typeface="Monaco"/>
                <a:ea typeface="Monaco"/>
                <a:cs typeface="Monaco"/>
                <a:sym typeface="Monaco"/>
              </a:defRPr>
            </a:pPr>
            <a:r>
              <a:t>		}</a:t>
            </a:r>
          </a:p>
          <a:p>
            <a:pPr indent="0">
              <a:defRPr sz="24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t</a:t>
            </a:r>
            <a:r>
              <a:rPr>
                <a:solidFill>
                  <a:srgbClr val="000000"/>
                </a:solidFill>
              </a:rPr>
              <a:t> == </a:t>
            </a:r>
            <a:r>
              <a:t>null</a:t>
            </a:r>
            <a:r>
              <a:rPr>
                <a:solidFill>
                  <a:srgbClr val="000000"/>
                </a:solidFill>
              </a:rPr>
              <a:t> ? </a:t>
            </a:r>
            <a:r>
              <a:t>null</a:t>
            </a:r>
            <a:r>
              <a:rPr>
                <a:solidFill>
                  <a:srgbClr val="000000"/>
                </a:solidFill>
              </a:rPr>
              <a:t> : </a:t>
            </a:r>
            <a:r>
              <a:rPr>
                <a:solidFill>
                  <a:srgbClr val="7E504F"/>
                </a:solidFill>
              </a:rPr>
              <a:t>t</a:t>
            </a:r>
            <a:r>
              <a:rPr>
                <a:solidFill>
                  <a:srgbClr val="000000"/>
                </a:solidFill>
              </a:rPr>
              <a:t>.</a:t>
            </a:r>
            <a:r>
              <a:rPr>
                <a:solidFill>
                  <a:srgbClr val="0326CC"/>
                </a:solidFill>
              </a:rPr>
              <a:t>value</a:t>
            </a:r>
            <a:r>
              <a:rPr>
                <a:solidFill>
                  <a:srgbClr val="000000"/>
                </a:solidFill>
              </a:rPr>
              <a:t>;</a:t>
            </a:r>
            <a:endParaRPr>
              <a:solidFill>
                <a:srgbClr val="000000"/>
              </a:solidFill>
            </a:endParaRPr>
          </a:p>
          <a:p>
            <a:pPr indent="0">
              <a:defRPr sz="24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0" name="Shape 373"/>
          <p:cNvSpPr txBox="1"/>
          <p:nvPr/>
        </p:nvSpPr>
        <p:spPr>
          <a:xfrm>
            <a:off x="357581" y="1421675"/>
            <a:ext cx="12416637" cy="19151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nSpc>
                <a:spcPct val="120000"/>
              </a:lnSpc>
            </a:pPr>
            <a:r>
              <a:t>若二叉搜索树为空树，则新插入的结点为新的根结点；</a:t>
            </a:r>
          </a:p>
          <a:p>
            <a:pPr>
              <a:lnSpc>
                <a:spcPct val="120000"/>
              </a:lnSpc>
            </a:pPr>
            <a:r>
              <a:t>否则：</a:t>
            </a:r>
          </a:p>
          <a:p>
            <a:pPr>
              <a:lnSpc>
                <a:spcPct val="120000"/>
              </a:lnSpc>
            </a:pPr>
            <a:r>
              <a:t>       新插入的结点必为一个新的叶子结点，其插入位置由查找过程得到。</a:t>
            </a:r>
          </a:p>
        </p:txBody>
      </p:sp>
      <p:sp>
        <p:nvSpPr>
          <p:cNvPr id="481" name="Shape 374"/>
          <p:cNvSpPr txBox="1"/>
          <p:nvPr>
            <p:ph type="title"/>
          </p:nvPr>
        </p:nvSpPr>
        <p:spPr>
          <a:xfrm>
            <a:off x="1611488" y="125588"/>
            <a:ext cx="9448801" cy="952501"/>
          </a:xfrm>
          <a:prstGeom prst="rect">
            <a:avLst/>
          </a:prstGeom>
        </p:spPr>
        <p:txBody>
          <a:bodyPr/>
          <a:lstStyle/>
          <a:p>
            <a:pPr/>
            <a:r>
              <a:t>插入操作</a:t>
            </a:r>
          </a:p>
        </p:txBody>
      </p:sp>
      <p:grpSp>
        <p:nvGrpSpPr>
          <p:cNvPr id="484" name="Group 37"/>
          <p:cNvGrpSpPr/>
          <p:nvPr/>
        </p:nvGrpSpPr>
        <p:grpSpPr>
          <a:xfrm>
            <a:off x="6602445" y="3625106"/>
            <a:ext cx="747329" cy="745069"/>
            <a:chOff x="0" y="0"/>
            <a:chExt cx="747328" cy="745067"/>
          </a:xfrm>
        </p:grpSpPr>
        <p:sp>
          <p:nvSpPr>
            <p:cNvPr id="482" name="Shape 35"/>
            <p:cNvSpPr/>
            <p:nvPr/>
          </p:nvSpPr>
          <p:spPr>
            <a:xfrm>
              <a:off x="-1" y="-1"/>
              <a:ext cx="747330"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83" name="Shape 36"/>
            <p:cNvSpPr txBox="1"/>
            <p:nvPr/>
          </p:nvSpPr>
          <p:spPr>
            <a:xfrm>
              <a:off x="123004"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sp>
        <p:nvSpPr>
          <p:cNvPr id="485" name="Shape 38"/>
          <p:cNvSpPr/>
          <p:nvPr/>
        </p:nvSpPr>
        <p:spPr>
          <a:xfrm>
            <a:off x="7264472" y="4250327"/>
            <a:ext cx="854796" cy="615705"/>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86" name="Shape 39"/>
          <p:cNvSpPr/>
          <p:nvPr/>
        </p:nvSpPr>
        <p:spPr>
          <a:xfrm flipH="1">
            <a:off x="5671958" y="4108466"/>
            <a:ext cx="968610" cy="78099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87" name="Shape 40"/>
          <p:cNvSpPr/>
          <p:nvPr/>
        </p:nvSpPr>
        <p:spPr>
          <a:xfrm flipH="1">
            <a:off x="4250471" y="5304046"/>
            <a:ext cx="810760" cy="7006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88" name="Shape 41"/>
          <p:cNvSpPr/>
          <p:nvPr/>
        </p:nvSpPr>
        <p:spPr>
          <a:xfrm>
            <a:off x="5686633" y="5268769"/>
            <a:ext cx="973105" cy="74281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89" name="Shape 42"/>
          <p:cNvSpPr/>
          <p:nvPr/>
        </p:nvSpPr>
        <p:spPr>
          <a:xfrm flipH="1">
            <a:off x="3073663" y="6458618"/>
            <a:ext cx="720954" cy="63438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0" name="Shape 43"/>
          <p:cNvSpPr/>
          <p:nvPr/>
        </p:nvSpPr>
        <p:spPr>
          <a:xfrm>
            <a:off x="4169407" y="6370845"/>
            <a:ext cx="892897" cy="81704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1" name="Shape 44"/>
          <p:cNvSpPr/>
          <p:nvPr/>
        </p:nvSpPr>
        <p:spPr>
          <a:xfrm flipH="1">
            <a:off x="4312494" y="7688006"/>
            <a:ext cx="711043" cy="669405"/>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2" name="Shape 45"/>
          <p:cNvSpPr/>
          <p:nvPr/>
        </p:nvSpPr>
        <p:spPr>
          <a:xfrm flipH="1">
            <a:off x="6194000" y="6488690"/>
            <a:ext cx="595821" cy="599684"/>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3" name="Shape 46"/>
          <p:cNvSpPr/>
          <p:nvPr/>
        </p:nvSpPr>
        <p:spPr>
          <a:xfrm>
            <a:off x="8678083" y="5323088"/>
            <a:ext cx="855807" cy="59338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4" name="Shape 47"/>
          <p:cNvSpPr/>
          <p:nvPr/>
        </p:nvSpPr>
        <p:spPr>
          <a:xfrm flipH="1">
            <a:off x="8736306" y="6462559"/>
            <a:ext cx="849933" cy="72972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495" name="Shape 48"/>
          <p:cNvSpPr/>
          <p:nvPr/>
        </p:nvSpPr>
        <p:spPr>
          <a:xfrm>
            <a:off x="8693390" y="7722101"/>
            <a:ext cx="773542" cy="61670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498" name="Group 51"/>
          <p:cNvGrpSpPr/>
          <p:nvPr/>
        </p:nvGrpSpPr>
        <p:grpSpPr>
          <a:xfrm>
            <a:off x="4991238" y="4745245"/>
            <a:ext cx="749585" cy="745072"/>
            <a:chOff x="0" y="0"/>
            <a:chExt cx="749583" cy="745070"/>
          </a:xfrm>
        </p:grpSpPr>
        <p:sp>
          <p:nvSpPr>
            <p:cNvPr id="496" name="Shape 49"/>
            <p:cNvSpPr/>
            <p:nvPr/>
          </p:nvSpPr>
          <p:spPr>
            <a:xfrm>
              <a:off x="0" y="-1"/>
              <a:ext cx="749585"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497" name="Shape 50"/>
            <p:cNvSpPr txBox="1"/>
            <p:nvPr/>
          </p:nvSpPr>
          <p:spPr>
            <a:xfrm>
              <a:off x="124133" y="141534"/>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501" name="Group 54"/>
          <p:cNvGrpSpPr/>
          <p:nvPr/>
        </p:nvGrpSpPr>
        <p:grpSpPr>
          <a:xfrm>
            <a:off x="8012145" y="4745245"/>
            <a:ext cx="747329" cy="745072"/>
            <a:chOff x="0" y="0"/>
            <a:chExt cx="747328" cy="745070"/>
          </a:xfrm>
        </p:grpSpPr>
        <p:sp>
          <p:nvSpPr>
            <p:cNvPr id="499" name="Shape 52"/>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00" name="Shape 53"/>
            <p:cNvSpPr txBox="1"/>
            <p:nvPr/>
          </p:nvSpPr>
          <p:spPr>
            <a:xfrm>
              <a:off x="135704" y="154234"/>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504" name="Group 57"/>
          <p:cNvGrpSpPr/>
          <p:nvPr/>
        </p:nvGrpSpPr>
        <p:grpSpPr>
          <a:xfrm>
            <a:off x="3645885" y="5785235"/>
            <a:ext cx="747327" cy="742813"/>
            <a:chOff x="0" y="0"/>
            <a:chExt cx="747325" cy="742812"/>
          </a:xfrm>
        </p:grpSpPr>
        <p:sp>
          <p:nvSpPr>
            <p:cNvPr id="502" name="Shape 55"/>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03" name="Shape 56"/>
            <p:cNvSpPr txBox="1"/>
            <p:nvPr/>
          </p:nvSpPr>
          <p:spPr>
            <a:xfrm>
              <a:off x="13570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507" name="Group 60"/>
          <p:cNvGrpSpPr/>
          <p:nvPr/>
        </p:nvGrpSpPr>
        <p:grpSpPr>
          <a:xfrm>
            <a:off x="9396163" y="5775640"/>
            <a:ext cx="747329" cy="742813"/>
            <a:chOff x="0" y="0"/>
            <a:chExt cx="747328" cy="742812"/>
          </a:xfrm>
        </p:grpSpPr>
        <p:sp>
          <p:nvSpPr>
            <p:cNvPr id="505" name="Shape 58"/>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06" name="Shape 59"/>
            <p:cNvSpPr txBox="1"/>
            <p:nvPr/>
          </p:nvSpPr>
          <p:spPr>
            <a:xfrm>
              <a:off x="135704"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510" name="Group 63"/>
          <p:cNvGrpSpPr/>
          <p:nvPr/>
        </p:nvGrpSpPr>
        <p:grpSpPr>
          <a:xfrm>
            <a:off x="2528285" y="7085715"/>
            <a:ext cx="747327" cy="742813"/>
            <a:chOff x="0" y="0"/>
            <a:chExt cx="747325" cy="742812"/>
          </a:xfrm>
        </p:grpSpPr>
        <p:sp>
          <p:nvSpPr>
            <p:cNvPr id="508" name="Shape 61"/>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09" name="Shape 62"/>
            <p:cNvSpPr txBox="1"/>
            <p:nvPr/>
          </p:nvSpPr>
          <p:spPr>
            <a:xfrm>
              <a:off x="110303"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10</a:t>
              </a:r>
            </a:p>
          </p:txBody>
        </p:sp>
      </p:grpSp>
      <p:grpSp>
        <p:nvGrpSpPr>
          <p:cNvPr id="513" name="Group 66"/>
          <p:cNvGrpSpPr/>
          <p:nvPr/>
        </p:nvGrpSpPr>
        <p:grpSpPr>
          <a:xfrm>
            <a:off x="8054761" y="7076120"/>
            <a:ext cx="747329" cy="742813"/>
            <a:chOff x="0" y="0"/>
            <a:chExt cx="747328" cy="742812"/>
          </a:xfrm>
        </p:grpSpPr>
        <p:sp>
          <p:nvSpPr>
            <p:cNvPr id="511" name="Shape 64"/>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12" name="Shape 65"/>
            <p:cNvSpPr txBox="1"/>
            <p:nvPr/>
          </p:nvSpPr>
          <p:spPr>
            <a:xfrm>
              <a:off x="123004"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85</a:t>
              </a:r>
            </a:p>
          </p:txBody>
        </p:sp>
      </p:grpSp>
      <p:grpSp>
        <p:nvGrpSpPr>
          <p:cNvPr id="516" name="Group 69"/>
          <p:cNvGrpSpPr/>
          <p:nvPr/>
        </p:nvGrpSpPr>
        <p:grpSpPr>
          <a:xfrm>
            <a:off x="6537535" y="5779026"/>
            <a:ext cx="747327" cy="742813"/>
            <a:chOff x="0" y="0"/>
            <a:chExt cx="747325" cy="742812"/>
          </a:xfrm>
        </p:grpSpPr>
        <p:sp>
          <p:nvSpPr>
            <p:cNvPr id="514" name="Shape 67"/>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15" name="Shape 68"/>
            <p:cNvSpPr txBox="1"/>
            <p:nvPr/>
          </p:nvSpPr>
          <p:spPr>
            <a:xfrm>
              <a:off x="1357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519" name="Group 72"/>
          <p:cNvGrpSpPr/>
          <p:nvPr/>
        </p:nvGrpSpPr>
        <p:grpSpPr>
          <a:xfrm>
            <a:off x="5765657" y="7079507"/>
            <a:ext cx="749584" cy="742811"/>
            <a:chOff x="0" y="0"/>
            <a:chExt cx="749583" cy="742809"/>
          </a:xfrm>
        </p:grpSpPr>
        <p:sp>
          <p:nvSpPr>
            <p:cNvPr id="517" name="Shape 7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18" name="Shape 71"/>
            <p:cNvSpPr txBox="1"/>
            <p:nvPr/>
          </p:nvSpPr>
          <p:spPr>
            <a:xfrm>
              <a:off x="11143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522" name="Group 75"/>
          <p:cNvGrpSpPr/>
          <p:nvPr/>
        </p:nvGrpSpPr>
        <p:grpSpPr>
          <a:xfrm>
            <a:off x="4951728" y="7085715"/>
            <a:ext cx="747326" cy="742813"/>
            <a:chOff x="0" y="0"/>
            <a:chExt cx="747325" cy="742812"/>
          </a:xfrm>
        </p:grpSpPr>
        <p:sp>
          <p:nvSpPr>
            <p:cNvPr id="520" name="Shape 73"/>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21" name="Shape 74"/>
            <p:cNvSpPr txBox="1"/>
            <p:nvPr/>
          </p:nvSpPr>
          <p:spPr>
            <a:xfrm>
              <a:off x="123003"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25</a:t>
              </a:r>
            </a:p>
          </p:txBody>
        </p:sp>
      </p:grpSp>
      <p:grpSp>
        <p:nvGrpSpPr>
          <p:cNvPr id="525" name="Group 78"/>
          <p:cNvGrpSpPr/>
          <p:nvPr/>
        </p:nvGrpSpPr>
        <p:grpSpPr>
          <a:xfrm>
            <a:off x="3763007" y="8224201"/>
            <a:ext cx="747327" cy="745071"/>
            <a:chOff x="0" y="0"/>
            <a:chExt cx="747325" cy="745070"/>
          </a:xfrm>
        </p:grpSpPr>
        <p:sp>
          <p:nvSpPr>
            <p:cNvPr id="523" name="Shape 76"/>
            <p:cNvSpPr/>
            <p:nvPr/>
          </p:nvSpPr>
          <p:spPr>
            <a:xfrm>
              <a:off x="0"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24" name="Shape 77"/>
            <p:cNvSpPr txBox="1"/>
            <p:nvPr/>
          </p:nvSpPr>
          <p:spPr>
            <a:xfrm>
              <a:off x="123004" y="14689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23</a:t>
              </a:r>
            </a:p>
          </p:txBody>
        </p:sp>
      </p:grpSp>
      <p:grpSp>
        <p:nvGrpSpPr>
          <p:cNvPr id="528" name="Group 81"/>
          <p:cNvGrpSpPr/>
          <p:nvPr/>
        </p:nvGrpSpPr>
        <p:grpSpPr>
          <a:xfrm>
            <a:off x="9396163" y="8224201"/>
            <a:ext cx="747329" cy="745071"/>
            <a:chOff x="0" y="0"/>
            <a:chExt cx="747328" cy="745070"/>
          </a:xfrm>
        </p:grpSpPr>
        <p:sp>
          <p:nvSpPr>
            <p:cNvPr id="526" name="Shape 79"/>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27" name="Shape 80"/>
            <p:cNvSpPr txBox="1"/>
            <p:nvPr/>
          </p:nvSpPr>
          <p:spPr>
            <a:xfrm>
              <a:off x="123004" y="14689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grpSp>
        <p:nvGrpSpPr>
          <p:cNvPr id="531" name="Group 69"/>
          <p:cNvGrpSpPr/>
          <p:nvPr/>
        </p:nvGrpSpPr>
        <p:grpSpPr>
          <a:xfrm>
            <a:off x="7432507" y="6442502"/>
            <a:ext cx="747327" cy="742813"/>
            <a:chOff x="0" y="0"/>
            <a:chExt cx="747325" cy="742812"/>
          </a:xfrm>
        </p:grpSpPr>
        <p:sp>
          <p:nvSpPr>
            <p:cNvPr id="529" name="Shape 67"/>
            <p:cNvSpPr/>
            <p:nvPr/>
          </p:nvSpPr>
          <p:spPr>
            <a:xfrm>
              <a:off x="0"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30" name="Shape 68"/>
            <p:cNvSpPr txBox="1"/>
            <p:nvPr/>
          </p:nvSpPr>
          <p:spPr>
            <a:xfrm>
              <a:off x="1357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chemeClr val="accent5"/>
                  </a:solidFill>
                  <a:uFill>
                    <a:solidFill>
                      <a:srgbClr val="000000"/>
                    </a:solidFill>
                  </a:uFill>
                </a:defRPr>
              </a:lvl1pPr>
            </a:lstStyle>
            <a:p>
              <a:pPr/>
              <a:r>
                <a:t>45</a:t>
              </a:r>
            </a:p>
          </p:txBody>
        </p:sp>
      </p:grpSp>
      <p:sp>
        <p:nvSpPr>
          <p:cNvPr id="532" name="p"/>
          <p:cNvSpPr txBox="1"/>
          <p:nvPr/>
        </p:nvSpPr>
        <p:spPr>
          <a:xfrm>
            <a:off x="7378337" y="5053153"/>
            <a:ext cx="362600" cy="51721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p</a:t>
            </a:r>
          </a:p>
        </p:txBody>
      </p:sp>
      <p:sp>
        <p:nvSpPr>
          <p:cNvPr id="533" name="线条"/>
          <p:cNvSpPr/>
          <p:nvPr/>
        </p:nvSpPr>
        <p:spPr>
          <a:xfrm flipH="1">
            <a:off x="7084033" y="5421403"/>
            <a:ext cx="405733" cy="405732"/>
          </a:xfrm>
          <a:prstGeom prst="line">
            <a:avLst/>
          </a:prstGeom>
          <a:ln w="25400">
            <a:solidFill>
              <a:schemeClr val="accent1"/>
            </a:solidFill>
            <a:tailEnd type="triangle"/>
          </a:ln>
        </p:spPr>
        <p:txBody>
          <a:bodyPr lIns="45718" tIns="45718" rIns="45718" bIns="45718"/>
          <a:lstStyle/>
          <a:p>
            <a:pPr marR="57798" defTabSz="1295400">
              <a:spcBef>
                <a:spcPts val="1900"/>
              </a:spcBef>
              <a:defRPr sz="2400">
                <a:uFill>
                  <a:solidFill>
                    <a:srgbClr val="000000"/>
                  </a:solidFill>
                </a:uFill>
              </a:defRPr>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5" name="Shape 376"/>
          <p:cNvSpPr txBox="1"/>
          <p:nvPr>
            <p:ph type="title"/>
          </p:nvPr>
        </p:nvSpPr>
        <p:spPr>
          <a:xfrm>
            <a:off x="1611488" y="125588"/>
            <a:ext cx="9448801" cy="952501"/>
          </a:xfrm>
          <a:prstGeom prst="rect">
            <a:avLst/>
          </a:prstGeom>
        </p:spPr>
        <p:txBody>
          <a:bodyPr/>
          <a:lstStyle/>
          <a:p>
            <a:pPr/>
            <a:r>
              <a:t>put</a:t>
            </a:r>
          </a:p>
        </p:txBody>
      </p:sp>
      <p:sp>
        <p:nvSpPr>
          <p:cNvPr id="536" name="public V put(K key, V value) {…"/>
          <p:cNvSpPr txBox="1"/>
          <p:nvPr/>
        </p:nvSpPr>
        <p:spPr>
          <a:xfrm>
            <a:off x="180533" y="1434191"/>
            <a:ext cx="12694534" cy="69614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public</a:t>
            </a:r>
            <a:r>
              <a:rPr>
                <a:solidFill>
                  <a:srgbClr val="000000"/>
                </a:solidFill>
              </a:rPr>
              <a:t> V put(K </a:t>
            </a:r>
            <a:r>
              <a:rPr>
                <a:solidFill>
                  <a:srgbClr val="7E504F"/>
                </a:solidFill>
              </a:rPr>
              <a:t>key</a:t>
            </a:r>
            <a:r>
              <a:rPr>
                <a:solidFill>
                  <a:srgbClr val="000000"/>
                </a:solidFill>
              </a:rPr>
              <a:t>, V </a:t>
            </a:r>
            <a:r>
              <a:rPr>
                <a:solidFill>
                  <a:srgbClr val="7E504F"/>
                </a:solidFill>
              </a:rPr>
              <a:t>value</a:t>
            </a:r>
            <a:r>
              <a:rPr>
                <a:solidFill>
                  <a:srgbClr val="000000"/>
                </a:solidFill>
              </a:rPr>
              <a:t>) {</a:t>
            </a:r>
            <a:endParaRPr>
              <a:solidFill>
                <a:srgbClr val="000000"/>
              </a:solidFill>
            </a:endParaRPr>
          </a:p>
          <a:p>
            <a:pPr indent="0">
              <a:defRPr sz="2200">
                <a:latin typeface="Monaco"/>
                <a:ea typeface="Monaco"/>
                <a:cs typeface="Monaco"/>
                <a:sym typeface="Monaco"/>
              </a:defRPr>
            </a:pPr>
            <a:r>
              <a:t>		Objects.requireNonNull(</a:t>
            </a:r>
            <a:r>
              <a:rPr>
                <a:solidFill>
                  <a:srgbClr val="7E504F"/>
                </a:solidFill>
              </a:rPr>
              <a:t>key</a:t>
            </a:r>
            <a:r>
              <a:t>);</a:t>
            </a:r>
          </a:p>
          <a:p>
            <a:pPr indent="0">
              <a:defRPr sz="2200">
                <a:solidFill>
                  <a:srgbClr val="0326CC"/>
                </a:solidFill>
                <a:latin typeface="Monaco"/>
                <a:ea typeface="Monaco"/>
                <a:cs typeface="Monaco"/>
                <a:sym typeface="Monaco"/>
              </a:defRPr>
            </a:pPr>
            <a:r>
              <a:rPr>
                <a:solidFill>
                  <a:srgbClr val="000000"/>
                </a:solidFill>
              </a:rPr>
              <a:t>		</a:t>
            </a:r>
            <a:r>
              <a:t>size</a:t>
            </a:r>
            <a:r>
              <a:rPr>
                <a:solidFill>
                  <a:srgbClr val="000000"/>
                </a:solidFill>
              </a:rPr>
              <a:t>++;</a:t>
            </a:r>
            <a:endParaRPr>
              <a:solidFill>
                <a:srgbClr val="000000"/>
              </a:solidFill>
            </a:endParaRPr>
          </a:p>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0326CC"/>
                </a:solidFill>
              </a:rPr>
              <a:t>root</a:t>
            </a:r>
            <a:r>
              <a:rPr>
                <a:solidFill>
                  <a:srgbClr val="000000"/>
                </a:solidFill>
              </a:rPr>
              <a:t> == </a:t>
            </a:r>
            <a:r>
              <a:rPr>
                <a:solidFill>
                  <a:srgbClr val="931A68"/>
                </a:solidFill>
              </a:rPr>
              <a:t>null</a:t>
            </a:r>
            <a:r>
              <a:rPr>
                <a:solidFill>
                  <a:srgbClr val="000000"/>
                </a:solidFill>
              </a:rPr>
              <a:t>) {</a:t>
            </a:r>
            <a:r>
              <a:t>// 空树</a:t>
            </a:r>
            <a:endParaRPr>
              <a:solidFill>
                <a:srgbClr val="000000"/>
              </a:solidFill>
            </a:endParaRPr>
          </a:p>
          <a:p>
            <a:pPr indent="0">
              <a:defRPr sz="2200">
                <a:latin typeface="Monaco"/>
                <a:ea typeface="Monaco"/>
                <a:cs typeface="Monaco"/>
                <a:sym typeface="Monaco"/>
              </a:defRPr>
            </a:pPr>
            <a:r>
              <a:t>			</a:t>
            </a:r>
            <a:r>
              <a:rPr>
                <a:solidFill>
                  <a:srgbClr val="0326CC"/>
                </a:solidFill>
              </a:rPr>
              <a:t>root</a:t>
            </a:r>
            <a:r>
              <a:t> = </a:t>
            </a:r>
            <a:r>
              <a:rPr>
                <a:solidFill>
                  <a:srgbClr val="931A68"/>
                </a:solidFill>
              </a:rPr>
              <a:t>new</a:t>
            </a:r>
            <a:r>
              <a:t> Node&lt;&gt;(</a:t>
            </a:r>
            <a:r>
              <a:rPr>
                <a:solidFill>
                  <a:srgbClr val="7E504F"/>
                </a:solidFill>
              </a:rPr>
              <a:t>key</a:t>
            </a:r>
            <a:r>
              <a:t>, </a:t>
            </a:r>
            <a:r>
              <a:rPr>
                <a:solidFill>
                  <a:srgbClr val="7E504F"/>
                </a:solidFill>
              </a:rPr>
              <a:t>value</a:t>
            </a:r>
            <a:r>
              <a:t>, </a:t>
            </a:r>
            <a:r>
              <a:rPr>
                <a:solidFill>
                  <a:srgbClr val="931A68"/>
                </a:solidFill>
              </a:rPr>
              <a:t>null</a:t>
            </a:r>
            <a:r>
              <a:t>, </a:t>
            </a:r>
            <a:r>
              <a:rPr>
                <a:solidFill>
                  <a:srgbClr val="931A68"/>
                </a:solidFill>
              </a:rPr>
              <a:t>null</a:t>
            </a:r>
            <a:r>
              <a:t>);</a:t>
            </a:r>
          </a:p>
          <a:p>
            <a:pPr indent="0">
              <a:defRPr sz="22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200">
                <a:latin typeface="Monaco"/>
                <a:ea typeface="Monaco"/>
                <a:cs typeface="Monaco"/>
                <a:sym typeface="Monaco"/>
              </a:defRPr>
            </a:pPr>
            <a:r>
              <a:t>		}</a:t>
            </a:r>
          </a:p>
          <a:p>
            <a:pPr indent="0">
              <a:defRPr sz="2200">
                <a:solidFill>
                  <a:srgbClr val="4E9072"/>
                </a:solidFill>
                <a:latin typeface="Monaco"/>
                <a:ea typeface="Monaco"/>
                <a:cs typeface="Monaco"/>
                <a:sym typeface="Monaco"/>
              </a:defRPr>
            </a:pPr>
            <a:r>
              <a:rPr>
                <a:solidFill>
                  <a:srgbClr val="000000"/>
                </a:solidFill>
              </a:rPr>
              <a:t>		Node&lt;K, V&gt; </a:t>
            </a:r>
            <a:r>
              <a:rPr>
                <a:solidFill>
                  <a:srgbClr val="7E504F"/>
                </a:solidFill>
              </a:rPr>
              <a:t>p</a:t>
            </a:r>
            <a:r>
              <a:rPr>
                <a:solidFill>
                  <a:srgbClr val="000000"/>
                </a:solidFill>
              </a:rPr>
              <a:t> = </a:t>
            </a:r>
            <a:r>
              <a:rPr>
                <a:solidFill>
                  <a:srgbClr val="0326CC"/>
                </a:solidFill>
              </a:rPr>
              <a:t>root</a:t>
            </a:r>
            <a:r>
              <a:rPr>
                <a:solidFill>
                  <a:srgbClr val="000000"/>
                </a:solidFill>
              </a:rPr>
              <a:t>, </a:t>
            </a:r>
            <a:r>
              <a:rPr>
                <a:solidFill>
                  <a:srgbClr val="7E504F"/>
                </a:solidFill>
              </a:rPr>
              <a:t>c</a:t>
            </a:r>
            <a:r>
              <a:rPr>
                <a:solidFill>
                  <a:srgbClr val="000000"/>
                </a:solidFill>
              </a:rPr>
              <a:t> = </a:t>
            </a:r>
            <a:r>
              <a:rPr>
                <a:solidFill>
                  <a:srgbClr val="0326CC"/>
                </a:solidFill>
              </a:rPr>
              <a:t>root</a:t>
            </a:r>
            <a:r>
              <a:rPr>
                <a:solidFill>
                  <a:srgbClr val="000000"/>
                </a:solidFill>
              </a:rPr>
              <a:t>;</a:t>
            </a:r>
            <a:endParaRPr>
              <a:solidFill>
                <a:srgbClr val="000000"/>
              </a:solidFill>
            </a:endParaRPr>
          </a:p>
          <a:p>
            <a:pPr indent="0">
              <a:defRPr sz="2200">
                <a:latin typeface="Monaco"/>
                <a:ea typeface="Monaco"/>
                <a:cs typeface="Monaco"/>
                <a:sym typeface="Monaco"/>
              </a:defRPr>
            </a:pPr>
            <a:r>
              <a:t>		</a:t>
            </a:r>
            <a:r>
              <a:rPr>
                <a:solidFill>
                  <a:srgbClr val="931A68"/>
                </a:solidFill>
              </a:rPr>
              <a:t>int</a:t>
            </a:r>
            <a:r>
              <a:t> </a:t>
            </a:r>
            <a:r>
              <a:rPr>
                <a:solidFill>
                  <a:srgbClr val="7E504F"/>
                </a:solidFill>
              </a:rPr>
              <a:t>cmp</a:t>
            </a:r>
            <a:r>
              <a:t> = 0;</a:t>
            </a:r>
          </a:p>
          <a:p>
            <a:pPr indent="0">
              <a:defRPr sz="2200">
                <a:latin typeface="Monaco"/>
                <a:ea typeface="Monaco"/>
                <a:cs typeface="Monaco"/>
                <a:sym typeface="Monaco"/>
              </a:defRPr>
            </a:pPr>
            <a:r>
              <a:t>		</a:t>
            </a:r>
            <a:r>
              <a:rPr>
                <a:solidFill>
                  <a:srgbClr val="931A68"/>
                </a:solidFill>
              </a:rPr>
              <a:t>while</a:t>
            </a:r>
            <a:r>
              <a:t> ((</a:t>
            </a:r>
            <a:r>
              <a:rPr>
                <a:solidFill>
                  <a:srgbClr val="7E504F"/>
                </a:solidFill>
              </a:rPr>
              <a:t>cmp</a:t>
            </a:r>
            <a:r>
              <a:t> = ((Comparable&lt;? </a:t>
            </a:r>
            <a:r>
              <a:rPr>
                <a:solidFill>
                  <a:srgbClr val="931A68"/>
                </a:solidFill>
              </a:rPr>
              <a:t>super</a:t>
            </a:r>
            <a:r>
              <a:t> K&gt;) </a:t>
            </a:r>
            <a:r>
              <a:rPr>
                <a:solidFill>
                  <a:srgbClr val="7E504F"/>
                </a:solidFill>
              </a:rPr>
              <a:t>key</a:t>
            </a:r>
            <a:r>
              <a:t>).compareTo(</a:t>
            </a:r>
            <a:r>
              <a:rPr>
                <a:solidFill>
                  <a:srgbClr val="7E504F"/>
                </a:solidFill>
              </a:rPr>
              <a:t>c</a:t>
            </a:r>
            <a:r>
              <a:t>.</a:t>
            </a:r>
            <a:r>
              <a:rPr>
                <a:solidFill>
                  <a:srgbClr val="0326CC"/>
                </a:solidFill>
              </a:rPr>
              <a:t>key</a:t>
            </a:r>
            <a:r>
              <a:t>)) != 0) {</a:t>
            </a:r>
          </a:p>
          <a:p>
            <a:pPr indent="0">
              <a:defRPr sz="2200">
                <a:latin typeface="Monaco"/>
                <a:ea typeface="Monaco"/>
                <a:cs typeface="Monaco"/>
                <a:sym typeface="Monaco"/>
              </a:defRPr>
            </a:pPr>
            <a:r>
              <a:t>			</a:t>
            </a:r>
            <a:r>
              <a:rPr>
                <a:solidFill>
                  <a:srgbClr val="7E504F"/>
                </a:solidFill>
              </a:rPr>
              <a:t>p</a:t>
            </a:r>
            <a:r>
              <a:t> = </a:t>
            </a:r>
            <a:r>
              <a:rPr>
                <a:solidFill>
                  <a:srgbClr val="7E504F"/>
                </a:solidFill>
              </a:rPr>
              <a:t>c</a:t>
            </a:r>
            <a:r>
              <a:t>;</a:t>
            </a:r>
          </a:p>
          <a:p>
            <a:pPr indent="0">
              <a:defRPr sz="2200">
                <a:latin typeface="Monaco"/>
                <a:ea typeface="Monaco"/>
                <a:cs typeface="Monaco"/>
                <a:sym typeface="Monaco"/>
              </a:defRPr>
            </a:pPr>
            <a:r>
              <a:t>			</a:t>
            </a:r>
            <a:r>
              <a:rPr>
                <a:solidFill>
                  <a:srgbClr val="931A68"/>
                </a:solidFill>
              </a:rPr>
              <a:t>if</a:t>
            </a:r>
            <a:r>
              <a:t> (</a:t>
            </a:r>
            <a:r>
              <a:rPr>
                <a:solidFill>
                  <a:srgbClr val="7E504F"/>
                </a:solidFill>
              </a:rPr>
              <a:t>cmp</a:t>
            </a:r>
            <a:r>
              <a:t> &lt; 0)</a:t>
            </a:r>
          </a:p>
          <a:p>
            <a:pPr indent="0">
              <a:defRPr sz="2200">
                <a:latin typeface="Monaco"/>
                <a:ea typeface="Monaco"/>
                <a:cs typeface="Monaco"/>
                <a:sym typeface="Monaco"/>
              </a:defRPr>
            </a:pPr>
            <a:r>
              <a:t>				</a:t>
            </a:r>
            <a:r>
              <a:rPr>
                <a:solidFill>
                  <a:srgbClr val="7E504F"/>
                </a:solidFill>
              </a:rPr>
              <a:t>c</a:t>
            </a:r>
            <a:r>
              <a:t> = </a:t>
            </a:r>
            <a:r>
              <a:rPr>
                <a:solidFill>
                  <a:srgbClr val="7E504F"/>
                </a:solidFill>
              </a:rPr>
              <a:t>c</a:t>
            </a:r>
            <a:r>
              <a:t>.</a:t>
            </a:r>
            <a:r>
              <a:rPr>
                <a:solidFill>
                  <a:srgbClr val="0326CC"/>
                </a:solidFill>
              </a:rPr>
              <a:t>left</a:t>
            </a:r>
            <a:r>
              <a:t>;</a:t>
            </a:r>
          </a:p>
          <a:p>
            <a:pPr indent="0">
              <a:defRPr sz="22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2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 = </a:t>
            </a:r>
            <a:r>
              <a:rPr>
                <a:solidFill>
                  <a:srgbClr val="7E504F"/>
                </a:solidFill>
              </a:rPr>
              <a:t>c</a:t>
            </a:r>
            <a:r>
              <a:rPr>
                <a:solidFill>
                  <a:srgbClr val="000000"/>
                </a:solidFill>
              </a:rPr>
              <a:t>.</a:t>
            </a:r>
            <a:r>
              <a:t>right</a:t>
            </a:r>
            <a:r>
              <a:rPr>
                <a:solidFill>
                  <a:srgbClr val="000000"/>
                </a:solidFill>
              </a:rPr>
              <a:t>;</a:t>
            </a:r>
            <a:endParaRPr>
              <a:solidFill>
                <a:srgbClr val="000000"/>
              </a:solidFill>
            </a:endParaRPr>
          </a:p>
          <a:p>
            <a:pPr indent="0">
              <a:defRPr sz="22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931A68"/>
                </a:solidFill>
              </a:rPr>
              <a:t>null</a:t>
            </a:r>
            <a:r>
              <a:t>)</a:t>
            </a:r>
          </a:p>
          <a:p>
            <a:pPr indent="0">
              <a:defRPr sz="2200">
                <a:solidFill>
                  <a:srgbClr val="931A68"/>
                </a:solidFill>
                <a:latin typeface="Monaco"/>
                <a:ea typeface="Monaco"/>
                <a:cs typeface="Monaco"/>
                <a:sym typeface="Monaco"/>
              </a:defRPr>
            </a:pPr>
            <a:r>
              <a:rPr>
                <a:solidFill>
                  <a:srgbClr val="000000"/>
                </a:solidFill>
              </a:rPr>
              <a:t>				</a:t>
            </a:r>
            <a:r>
              <a:t>break</a:t>
            </a:r>
            <a:r>
              <a:rPr>
                <a:solidFill>
                  <a:srgbClr val="000000"/>
                </a:solidFill>
              </a:rPr>
              <a:t>;</a:t>
            </a:r>
            <a:endParaRPr>
              <a:solidFill>
                <a:srgbClr val="000000"/>
              </a:solidFill>
            </a:endParaRPr>
          </a:p>
          <a:p>
            <a:pPr indent="0">
              <a:defRPr sz="22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Shape 376"/>
          <p:cNvSpPr txBox="1"/>
          <p:nvPr>
            <p:ph type="title"/>
          </p:nvPr>
        </p:nvSpPr>
        <p:spPr>
          <a:xfrm>
            <a:off x="1611488" y="125588"/>
            <a:ext cx="9448801" cy="952501"/>
          </a:xfrm>
          <a:prstGeom prst="rect">
            <a:avLst/>
          </a:prstGeom>
        </p:spPr>
        <p:txBody>
          <a:bodyPr/>
          <a:lstStyle/>
          <a:p>
            <a:pPr/>
            <a:r>
              <a:t>put</a:t>
            </a:r>
          </a:p>
        </p:txBody>
      </p:sp>
      <p:sp>
        <p:nvSpPr>
          <p:cNvPr id="539" name="if (c != null) {// key已经存在，修改value…"/>
          <p:cNvSpPr txBox="1"/>
          <p:nvPr/>
        </p:nvSpPr>
        <p:spPr>
          <a:xfrm>
            <a:off x="1564294" y="1754781"/>
            <a:ext cx="10059796" cy="4749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5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 != </a:t>
            </a:r>
            <a:r>
              <a:rPr>
                <a:solidFill>
                  <a:srgbClr val="931A68"/>
                </a:solidFill>
              </a:rPr>
              <a:t>null</a:t>
            </a:r>
            <a:r>
              <a:rPr>
                <a:solidFill>
                  <a:srgbClr val="000000"/>
                </a:solidFill>
              </a:rPr>
              <a:t>) {</a:t>
            </a:r>
            <a:r>
              <a:t>// key已经存在，修改value</a:t>
            </a:r>
            <a:endParaRPr>
              <a:solidFill>
                <a:srgbClr val="000000"/>
              </a:solidFill>
            </a:endParaRPr>
          </a:p>
          <a:p>
            <a:pPr indent="0">
              <a:defRPr sz="2500">
                <a:solidFill>
                  <a:srgbClr val="7E504F"/>
                </a:solidFill>
                <a:latin typeface="Monaco"/>
                <a:ea typeface="Monaco"/>
                <a:cs typeface="Monaco"/>
                <a:sym typeface="Monaco"/>
              </a:defRPr>
            </a:pPr>
            <a:r>
              <a:rPr>
                <a:solidFill>
                  <a:srgbClr val="000000"/>
                </a:solidFill>
              </a:rPr>
              <a:t>			V </a:t>
            </a:r>
            <a:r>
              <a:t>result</a:t>
            </a:r>
            <a:r>
              <a:rPr>
                <a:solidFill>
                  <a:srgbClr val="000000"/>
                </a:solidFill>
              </a:rPr>
              <a:t> = </a:t>
            </a:r>
            <a:r>
              <a:t>c</a:t>
            </a:r>
            <a:r>
              <a:rPr>
                <a:solidFill>
                  <a:srgbClr val="000000"/>
                </a:solidFill>
              </a:rPr>
              <a:t>.</a:t>
            </a:r>
            <a:r>
              <a:rPr>
                <a:solidFill>
                  <a:srgbClr val="0326CC"/>
                </a:solidFill>
              </a:rPr>
              <a:t>value</a:t>
            </a:r>
            <a:r>
              <a:rPr>
                <a:solidFill>
                  <a:srgbClr val="000000"/>
                </a:solidFill>
              </a:rPr>
              <a:t>;</a:t>
            </a:r>
            <a:endParaRPr>
              <a:solidFill>
                <a:srgbClr val="000000"/>
              </a:solidFill>
            </a:endParaRPr>
          </a:p>
          <a:p>
            <a:pPr indent="0">
              <a:defRPr sz="25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value</a:t>
            </a:r>
            <a:r>
              <a:rPr>
                <a:solidFill>
                  <a:srgbClr val="000000"/>
                </a:solidFill>
              </a:rPr>
              <a:t> = </a:t>
            </a:r>
            <a:r>
              <a:rPr>
                <a:solidFill>
                  <a:srgbClr val="7E504F"/>
                </a:solidFill>
              </a:rPr>
              <a:t>value</a:t>
            </a:r>
            <a:r>
              <a:rPr>
                <a:solidFill>
                  <a:srgbClr val="000000"/>
                </a:solidFill>
              </a:rPr>
              <a:t>;</a:t>
            </a:r>
            <a:endParaRPr>
              <a:solidFill>
                <a:srgbClr val="000000"/>
              </a:solidFill>
            </a:endParaRPr>
          </a:p>
          <a:p>
            <a:pPr indent="0">
              <a:defRPr sz="25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result</a:t>
            </a:r>
            <a:r>
              <a:rPr>
                <a:solidFill>
                  <a:srgbClr val="000000"/>
                </a:solidFill>
              </a:rPr>
              <a:t>;</a:t>
            </a:r>
            <a:endParaRPr>
              <a:solidFill>
                <a:srgbClr val="000000"/>
              </a:solidFill>
            </a:endParaRPr>
          </a:p>
          <a:p>
            <a:pPr indent="0">
              <a:defRPr sz="2500">
                <a:latin typeface="Monaco"/>
                <a:ea typeface="Monaco"/>
                <a:cs typeface="Monaco"/>
                <a:sym typeface="Monaco"/>
              </a:defRPr>
            </a:pPr>
            <a:r>
              <a:t>		}</a:t>
            </a:r>
          </a:p>
          <a:p>
            <a:pPr indent="0">
              <a:defRPr sz="2500">
                <a:latin typeface="Monaco"/>
                <a:ea typeface="Monaco"/>
                <a:cs typeface="Monaco"/>
                <a:sym typeface="Monaco"/>
              </a:defRPr>
            </a:pPr>
            <a:r>
              <a:t>		</a:t>
            </a:r>
            <a:r>
              <a:rPr>
                <a:solidFill>
                  <a:srgbClr val="931A68"/>
                </a:solidFill>
              </a:rPr>
              <a:t>if</a:t>
            </a:r>
            <a:r>
              <a:t> (</a:t>
            </a:r>
            <a:r>
              <a:rPr>
                <a:solidFill>
                  <a:srgbClr val="7E504F"/>
                </a:solidFill>
              </a:rPr>
              <a:t>cmp</a:t>
            </a:r>
            <a:r>
              <a:t> &lt; 0)</a:t>
            </a:r>
          </a:p>
          <a:p>
            <a:pPr indent="0">
              <a:defRPr sz="25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931A68"/>
                </a:solidFill>
              </a:rPr>
              <a:t>new</a:t>
            </a:r>
            <a:r>
              <a:t> Node&lt;&gt;(</a:t>
            </a:r>
            <a:r>
              <a:rPr>
                <a:solidFill>
                  <a:srgbClr val="7E504F"/>
                </a:solidFill>
              </a:rPr>
              <a:t>key</a:t>
            </a:r>
            <a:r>
              <a:t>, </a:t>
            </a:r>
            <a:r>
              <a:rPr>
                <a:solidFill>
                  <a:srgbClr val="7E504F"/>
                </a:solidFill>
              </a:rPr>
              <a:t>value</a:t>
            </a:r>
            <a:r>
              <a:t>, </a:t>
            </a:r>
            <a:r>
              <a:rPr>
                <a:solidFill>
                  <a:srgbClr val="931A68"/>
                </a:solidFill>
              </a:rPr>
              <a:t>null</a:t>
            </a:r>
            <a:r>
              <a:t>, </a:t>
            </a:r>
            <a:r>
              <a:rPr>
                <a:solidFill>
                  <a:srgbClr val="931A68"/>
                </a:solidFill>
              </a:rPr>
              <a:t>null</a:t>
            </a:r>
            <a:r>
              <a:t>);</a:t>
            </a:r>
          </a:p>
          <a:p>
            <a:pPr indent="0">
              <a:defRPr sz="25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500">
                <a:latin typeface="Monaco"/>
                <a:ea typeface="Monaco"/>
                <a:cs typeface="Monaco"/>
                <a:sym typeface="Monaco"/>
              </a:defRPr>
            </a:pPr>
            <a:r>
              <a:t>			</a:t>
            </a:r>
            <a:r>
              <a:rPr>
                <a:solidFill>
                  <a:srgbClr val="7E504F"/>
                </a:solidFill>
              </a:rPr>
              <a:t>p</a:t>
            </a:r>
            <a:r>
              <a:t>.</a:t>
            </a:r>
            <a:r>
              <a:rPr>
                <a:solidFill>
                  <a:srgbClr val="0326CC"/>
                </a:solidFill>
              </a:rPr>
              <a:t>right</a:t>
            </a:r>
            <a:r>
              <a:t> = </a:t>
            </a:r>
            <a:r>
              <a:rPr>
                <a:solidFill>
                  <a:srgbClr val="931A68"/>
                </a:solidFill>
              </a:rPr>
              <a:t>new</a:t>
            </a:r>
            <a:r>
              <a:t> Node&lt;&gt;(</a:t>
            </a:r>
            <a:r>
              <a:rPr>
                <a:solidFill>
                  <a:srgbClr val="7E504F"/>
                </a:solidFill>
              </a:rPr>
              <a:t>key</a:t>
            </a:r>
            <a:r>
              <a:t>, </a:t>
            </a:r>
            <a:r>
              <a:rPr>
                <a:solidFill>
                  <a:srgbClr val="7E504F"/>
                </a:solidFill>
              </a:rPr>
              <a:t>value</a:t>
            </a:r>
            <a:r>
              <a:t>, </a:t>
            </a:r>
            <a:r>
              <a:rPr>
                <a:solidFill>
                  <a:srgbClr val="931A68"/>
                </a:solidFill>
              </a:rPr>
              <a:t>null</a:t>
            </a:r>
            <a:r>
              <a:t>, </a:t>
            </a:r>
            <a:r>
              <a:rPr>
                <a:solidFill>
                  <a:srgbClr val="931A68"/>
                </a:solidFill>
              </a:rPr>
              <a:t>null</a:t>
            </a:r>
            <a:r>
              <a:t>);</a:t>
            </a:r>
          </a:p>
          <a:p>
            <a:pPr indent="0">
              <a:defRPr sz="25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5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1" name="Shape 497"/>
          <p:cNvSpPr txBox="1"/>
          <p:nvPr/>
        </p:nvSpPr>
        <p:spPr>
          <a:xfrm>
            <a:off x="172043" y="1553067"/>
            <a:ext cx="12749915" cy="1562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40000"/>
              </a:lnSpc>
              <a:spcBef>
                <a:spcPts val="1900"/>
              </a:spcBef>
              <a:defRPr sz="2800">
                <a:uFill>
                  <a:solidFill>
                    <a:srgbClr val="000000"/>
                  </a:solidFill>
                </a:uFill>
              </a:defRPr>
            </a:pPr>
            <a:r>
              <a:t>删除在查找成功之后进行，相当于删除有序系列中的一个记录。</a:t>
            </a:r>
          </a:p>
          <a:p>
            <a:pPr marR="57798" defTabSz="1295400">
              <a:lnSpc>
                <a:spcPct val="140000"/>
              </a:lnSpc>
              <a:spcBef>
                <a:spcPts val="1900"/>
              </a:spcBef>
              <a:defRPr sz="2800">
                <a:uFill>
                  <a:solidFill>
                    <a:srgbClr val="000000"/>
                  </a:solidFill>
                </a:uFill>
              </a:defRPr>
            </a:pPr>
            <a:r>
              <a:t>删除操作要求在删除二叉搜索树上某个结点之后，仍然保持二叉搜索树的</a:t>
            </a:r>
            <a:r>
              <a:rPr>
                <a:solidFill>
                  <a:schemeClr val="accent5"/>
                </a:solidFill>
              </a:rPr>
              <a:t>特性</a:t>
            </a:r>
            <a:r>
              <a:t>。</a:t>
            </a:r>
          </a:p>
        </p:txBody>
      </p:sp>
      <p:sp>
        <p:nvSpPr>
          <p:cNvPr id="542" name="Shape 498"/>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Shape 500"/>
          <p:cNvSpPr txBox="1"/>
          <p:nvPr/>
        </p:nvSpPr>
        <p:spPr>
          <a:xfrm>
            <a:off x="1553633" y="2311400"/>
            <a:ext cx="8382001" cy="21384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（1）被删除的结点是叶子结点；</a:t>
            </a:r>
          </a:p>
          <a:p>
            <a:pPr marR="57798" defTabSz="1295400">
              <a:spcBef>
                <a:spcPts val="1900"/>
              </a:spcBef>
              <a:defRPr sz="2800">
                <a:uFill>
                  <a:solidFill>
                    <a:srgbClr val="000000"/>
                  </a:solidFill>
                </a:uFill>
              </a:defRPr>
            </a:pPr>
            <a:r>
              <a:t>（2）被删除的结点只有左子树或者只有右子树；</a:t>
            </a:r>
          </a:p>
          <a:p>
            <a:pPr marR="57798" defTabSz="1295400">
              <a:spcBef>
                <a:spcPts val="1900"/>
              </a:spcBef>
              <a:defRPr sz="2800">
                <a:uFill>
                  <a:solidFill>
                    <a:srgbClr val="000000"/>
                  </a:solidFill>
                </a:uFill>
              </a:defRPr>
            </a:pPr>
            <a:r>
              <a:t>（3）被删除的结点既有左子树，也有右子树。</a:t>
            </a:r>
          </a:p>
        </p:txBody>
      </p:sp>
      <p:sp>
        <p:nvSpPr>
          <p:cNvPr id="545" name="Shape 501"/>
          <p:cNvSpPr txBox="1"/>
          <p:nvPr/>
        </p:nvSpPr>
        <p:spPr>
          <a:xfrm>
            <a:off x="1228513" y="1425221"/>
            <a:ext cx="749300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删除操作可分三种情况讨论：</a:t>
            </a:r>
          </a:p>
        </p:txBody>
      </p:sp>
      <p:sp>
        <p:nvSpPr>
          <p:cNvPr id="546" name="Shape 502"/>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8" name="Shape 504"/>
          <p:cNvSpPr txBox="1"/>
          <p:nvPr/>
        </p:nvSpPr>
        <p:spPr>
          <a:xfrm>
            <a:off x="627096" y="1564922"/>
            <a:ext cx="48514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1.被删除的结点是叶子结点</a:t>
            </a:r>
          </a:p>
        </p:txBody>
      </p:sp>
      <p:grpSp>
        <p:nvGrpSpPr>
          <p:cNvPr id="553" name="Group 522"/>
          <p:cNvGrpSpPr/>
          <p:nvPr/>
        </p:nvGrpSpPr>
        <p:grpSpPr>
          <a:xfrm>
            <a:off x="5135033" y="3295656"/>
            <a:ext cx="1221549" cy="1176723"/>
            <a:chOff x="0" y="0"/>
            <a:chExt cx="1221547" cy="1176721"/>
          </a:xfrm>
        </p:grpSpPr>
        <p:sp>
          <p:nvSpPr>
            <p:cNvPr id="549" name="Shape 518"/>
            <p:cNvSpPr/>
            <p:nvPr/>
          </p:nvSpPr>
          <p:spPr>
            <a:xfrm flipH="1">
              <a:off x="394744" y="-1"/>
              <a:ext cx="826804" cy="67617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552" name="Group 521"/>
            <p:cNvGrpSpPr/>
            <p:nvPr/>
          </p:nvGrpSpPr>
          <p:grpSpPr>
            <a:xfrm>
              <a:off x="-1" y="433909"/>
              <a:ext cx="747327" cy="742813"/>
              <a:chOff x="0" y="0"/>
              <a:chExt cx="747325" cy="742812"/>
            </a:xfrm>
          </p:grpSpPr>
          <p:sp>
            <p:nvSpPr>
              <p:cNvPr id="550" name="Shape 519"/>
              <p:cNvSpPr/>
              <p:nvPr/>
            </p:nvSpPr>
            <p:spPr>
              <a:xfrm>
                <a:off x="-1"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51" name="Shape 520"/>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grpSp>
        <p:nvGrpSpPr>
          <p:cNvPr id="558" name="Group 542"/>
          <p:cNvGrpSpPr/>
          <p:nvPr/>
        </p:nvGrpSpPr>
        <p:grpSpPr>
          <a:xfrm>
            <a:off x="9396569" y="5655187"/>
            <a:ext cx="1270871" cy="1360014"/>
            <a:chOff x="0" y="0"/>
            <a:chExt cx="1270870" cy="1360013"/>
          </a:xfrm>
        </p:grpSpPr>
        <p:sp>
          <p:nvSpPr>
            <p:cNvPr id="554" name="Shape 538"/>
            <p:cNvSpPr/>
            <p:nvPr/>
          </p:nvSpPr>
          <p:spPr>
            <a:xfrm>
              <a:off x="-1" y="0"/>
              <a:ext cx="713985" cy="65642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557" name="Group 541"/>
            <p:cNvGrpSpPr/>
            <p:nvPr/>
          </p:nvGrpSpPr>
          <p:grpSpPr>
            <a:xfrm>
              <a:off x="523542" y="614943"/>
              <a:ext cx="747329" cy="745071"/>
              <a:chOff x="0" y="0"/>
              <a:chExt cx="747328" cy="745070"/>
            </a:xfrm>
          </p:grpSpPr>
          <p:sp>
            <p:nvSpPr>
              <p:cNvPr id="555" name="Shape 539"/>
              <p:cNvSpPr/>
              <p:nvPr/>
            </p:nvSpPr>
            <p:spPr>
              <a:xfrm>
                <a:off x="-1" y="0"/>
                <a:ext cx="747330"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56" name="Shape 540"/>
              <p:cNvSpPr txBox="1"/>
              <p:nvPr/>
            </p:nvSpPr>
            <p:spPr>
              <a:xfrm>
                <a:off x="123003"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grpSp>
      <p:grpSp>
        <p:nvGrpSpPr>
          <p:cNvPr id="590" name="成组"/>
          <p:cNvGrpSpPr/>
          <p:nvPr/>
        </p:nvGrpSpPr>
        <p:grpSpPr>
          <a:xfrm>
            <a:off x="5212079" y="1569436"/>
            <a:ext cx="5379158" cy="5436734"/>
            <a:chOff x="0" y="0"/>
            <a:chExt cx="5379157" cy="5436732"/>
          </a:xfrm>
        </p:grpSpPr>
        <p:sp>
          <p:nvSpPr>
            <p:cNvPr id="559" name="Shape 505"/>
            <p:cNvSpPr/>
            <p:nvPr/>
          </p:nvSpPr>
          <p:spPr>
            <a:xfrm flipH="1">
              <a:off x="1653533" y="595284"/>
              <a:ext cx="828712" cy="674978"/>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0" name="Shape 506"/>
            <p:cNvSpPr/>
            <p:nvPr/>
          </p:nvSpPr>
          <p:spPr>
            <a:xfrm>
              <a:off x="2856281" y="616552"/>
              <a:ext cx="671068" cy="580466"/>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1" name="Shape 507"/>
            <p:cNvSpPr/>
            <p:nvPr/>
          </p:nvSpPr>
          <p:spPr>
            <a:xfrm>
              <a:off x="1620520" y="1643663"/>
              <a:ext cx="973105" cy="742809"/>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2" name="Shape 508"/>
            <p:cNvSpPr/>
            <p:nvPr/>
          </p:nvSpPr>
          <p:spPr>
            <a:xfrm flipH="1">
              <a:off x="407774" y="4048190"/>
              <a:ext cx="880211" cy="76432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3" name="Shape 509"/>
            <p:cNvSpPr/>
            <p:nvPr/>
          </p:nvSpPr>
          <p:spPr>
            <a:xfrm flipH="1">
              <a:off x="1692778" y="2772833"/>
              <a:ext cx="853150" cy="79406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4" name="Shape 510"/>
            <p:cNvSpPr/>
            <p:nvPr/>
          </p:nvSpPr>
          <p:spPr>
            <a:xfrm>
              <a:off x="4030658" y="1722310"/>
              <a:ext cx="789700" cy="657954"/>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565" name="Shape 511"/>
            <p:cNvSpPr/>
            <p:nvPr/>
          </p:nvSpPr>
          <p:spPr>
            <a:xfrm flipH="1">
              <a:off x="4085018" y="2798516"/>
              <a:ext cx="667324" cy="737671"/>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568" name="Group 514"/>
            <p:cNvGrpSpPr/>
            <p:nvPr/>
          </p:nvGrpSpPr>
          <p:grpSpPr>
            <a:xfrm>
              <a:off x="1052406" y="1115341"/>
              <a:ext cx="749585" cy="745072"/>
              <a:chOff x="0" y="0"/>
              <a:chExt cx="749583" cy="745070"/>
            </a:xfrm>
          </p:grpSpPr>
          <p:sp>
            <p:nvSpPr>
              <p:cNvPr id="566" name="Shape 512"/>
              <p:cNvSpPr/>
              <p:nvPr/>
            </p:nvSpPr>
            <p:spPr>
              <a:xfrm>
                <a:off x="-1" y="-1"/>
                <a:ext cx="749585"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67" name="Shape 513"/>
              <p:cNvSpPr txBox="1"/>
              <p:nvPr/>
            </p:nvSpPr>
            <p:spPr>
              <a:xfrm>
                <a:off x="124133"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571" name="Group 517"/>
            <p:cNvGrpSpPr/>
            <p:nvPr/>
          </p:nvGrpSpPr>
          <p:grpSpPr>
            <a:xfrm>
              <a:off x="3451013" y="1115341"/>
              <a:ext cx="747329" cy="745072"/>
              <a:chOff x="0" y="0"/>
              <a:chExt cx="747328" cy="745070"/>
            </a:xfrm>
          </p:grpSpPr>
          <p:sp>
            <p:nvSpPr>
              <p:cNvPr id="569" name="Shape 515"/>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70" name="Shape 516"/>
              <p:cNvSpPr txBox="1"/>
              <p:nvPr/>
            </p:nvSpPr>
            <p:spPr>
              <a:xfrm>
                <a:off x="1357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574" name="Group 525"/>
            <p:cNvGrpSpPr/>
            <p:nvPr/>
          </p:nvGrpSpPr>
          <p:grpSpPr>
            <a:xfrm>
              <a:off x="4631831" y="2150534"/>
              <a:ext cx="747327" cy="742813"/>
              <a:chOff x="0" y="0"/>
              <a:chExt cx="747325" cy="742812"/>
            </a:xfrm>
          </p:grpSpPr>
          <p:sp>
            <p:nvSpPr>
              <p:cNvPr id="572" name="Shape 523"/>
              <p:cNvSpPr/>
              <p:nvPr/>
            </p:nvSpPr>
            <p:spPr>
              <a:xfrm>
                <a:off x="-1"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73" name="Shape 524"/>
              <p:cNvSpPr txBox="1"/>
              <p:nvPr/>
            </p:nvSpPr>
            <p:spPr>
              <a:xfrm>
                <a:off x="97603"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577" name="Group 528"/>
            <p:cNvGrpSpPr/>
            <p:nvPr/>
          </p:nvGrpSpPr>
          <p:grpSpPr>
            <a:xfrm>
              <a:off x="3557128" y="3451014"/>
              <a:ext cx="747330" cy="742813"/>
              <a:chOff x="0" y="0"/>
              <a:chExt cx="747328" cy="742812"/>
            </a:xfrm>
          </p:grpSpPr>
          <p:sp>
            <p:nvSpPr>
              <p:cNvPr id="575" name="Shape 526"/>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76" name="Shape 527"/>
              <p:cNvSpPr txBox="1"/>
              <p:nvPr/>
            </p:nvSpPr>
            <p:spPr>
              <a:xfrm>
                <a:off x="1103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85</a:t>
                </a:r>
              </a:p>
            </p:txBody>
          </p:sp>
        </p:grpSp>
        <p:grpSp>
          <p:nvGrpSpPr>
            <p:cNvPr id="580" name="Group 531"/>
            <p:cNvGrpSpPr/>
            <p:nvPr/>
          </p:nvGrpSpPr>
          <p:grpSpPr>
            <a:xfrm>
              <a:off x="2306603" y="2153921"/>
              <a:ext cx="747326" cy="742811"/>
              <a:chOff x="0" y="0"/>
              <a:chExt cx="747325" cy="742809"/>
            </a:xfrm>
          </p:grpSpPr>
          <p:sp>
            <p:nvSpPr>
              <p:cNvPr id="578" name="Shape 529"/>
              <p:cNvSpPr/>
              <p:nvPr/>
            </p:nvSpPr>
            <p:spPr>
              <a:xfrm>
                <a:off x="-1" y="0"/>
                <a:ext cx="747327" cy="742810"/>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79" name="Shape 530"/>
              <p:cNvSpPr txBox="1"/>
              <p:nvPr/>
            </p:nvSpPr>
            <p:spPr>
              <a:xfrm>
                <a:off x="135704" y="1452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583" name="Group 534"/>
            <p:cNvGrpSpPr/>
            <p:nvPr/>
          </p:nvGrpSpPr>
          <p:grpSpPr>
            <a:xfrm>
              <a:off x="1115624" y="3454400"/>
              <a:ext cx="749585" cy="742813"/>
              <a:chOff x="0" y="0"/>
              <a:chExt cx="749583" cy="742812"/>
            </a:xfrm>
          </p:grpSpPr>
          <p:sp>
            <p:nvSpPr>
              <p:cNvPr id="581" name="Shape 532"/>
              <p:cNvSpPr/>
              <p:nvPr/>
            </p:nvSpPr>
            <p:spPr>
              <a:xfrm>
                <a:off x="-1" y="-1"/>
                <a:ext cx="749585"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82" name="Shape 533"/>
              <p:cNvSpPr txBox="1"/>
              <p:nvPr/>
            </p:nvSpPr>
            <p:spPr>
              <a:xfrm>
                <a:off x="136833"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586" name="Group 537"/>
            <p:cNvGrpSpPr/>
            <p:nvPr/>
          </p:nvGrpSpPr>
          <p:grpSpPr>
            <a:xfrm>
              <a:off x="0" y="4691662"/>
              <a:ext cx="747329" cy="745071"/>
              <a:chOff x="0" y="0"/>
              <a:chExt cx="747328" cy="745070"/>
            </a:xfrm>
          </p:grpSpPr>
          <p:sp>
            <p:nvSpPr>
              <p:cNvPr id="584" name="Shape 535"/>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85" name="Shape 536"/>
              <p:cNvSpPr txBox="1"/>
              <p:nvPr/>
            </p:nvSpPr>
            <p:spPr>
              <a:xfrm>
                <a:off x="110304" y="17427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grpSp>
          <p:nvGrpSpPr>
            <p:cNvPr id="589" name="Group 545"/>
            <p:cNvGrpSpPr/>
            <p:nvPr/>
          </p:nvGrpSpPr>
          <p:grpSpPr>
            <a:xfrm>
              <a:off x="2293620" y="0"/>
              <a:ext cx="747327" cy="745071"/>
              <a:chOff x="0" y="0"/>
              <a:chExt cx="747325" cy="745070"/>
            </a:xfrm>
          </p:grpSpPr>
          <p:sp>
            <p:nvSpPr>
              <p:cNvPr id="587" name="Shape 543"/>
              <p:cNvSpPr/>
              <p:nvPr/>
            </p:nvSpPr>
            <p:spPr>
              <a:xfrm>
                <a:off x="-1"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588" name="Shape 544"/>
              <p:cNvSpPr txBox="1"/>
              <p:nvPr/>
            </p:nvSpPr>
            <p:spPr>
              <a:xfrm>
                <a:off x="118488" y="16411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sp>
        <p:nvSpPr>
          <p:cNvPr id="591" name="Shape 546"/>
          <p:cNvSpPr txBox="1"/>
          <p:nvPr/>
        </p:nvSpPr>
        <p:spPr>
          <a:xfrm>
            <a:off x="991446" y="2306036"/>
            <a:ext cx="41148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1）删除结点20</a:t>
            </a:r>
          </a:p>
        </p:txBody>
      </p:sp>
      <p:sp>
        <p:nvSpPr>
          <p:cNvPr id="592" name="Shape 547"/>
          <p:cNvSpPr txBox="1"/>
          <p:nvPr/>
        </p:nvSpPr>
        <p:spPr>
          <a:xfrm>
            <a:off x="991446" y="3218178"/>
            <a:ext cx="41148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2）删除结点88</a:t>
            </a:r>
          </a:p>
        </p:txBody>
      </p:sp>
      <p:sp>
        <p:nvSpPr>
          <p:cNvPr id="593" name="Shape 548"/>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Subtype="2" presetID="22" grpId="1" fill="hold">
                                  <p:stCondLst>
                                    <p:cond delay="0"/>
                                  </p:stCondLst>
                                  <p:iterate type="el" backwards="0">
                                    <p:tmAbs val="0"/>
                                  </p:iterate>
                                  <p:childTnLst>
                                    <p:animEffect filter="wipe(right)" transition="out">
                                      <p:cBhvr>
                                        <p:cTn id="6" dur="1000" fill="hold"/>
                                        <p:tgtEl>
                                          <p:spTgt spid="553"/>
                                        </p:tgtEl>
                                      </p:cBhvr>
                                    </p:animEffect>
                                    <p:set>
                                      <p:cBhvr>
                                        <p:cTn id="7" fill="hold">
                                          <p:stCondLst>
                                            <p:cond delay="999"/>
                                          </p:stCondLst>
                                        </p:cTn>
                                        <p:tgtEl>
                                          <p:spTgt spid="55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Class="exit" nodeType="clickEffect" presetSubtype="2" presetID="22" grpId="2" fill="hold">
                                  <p:stCondLst>
                                    <p:cond delay="0"/>
                                  </p:stCondLst>
                                  <p:iterate type="el" backwards="0">
                                    <p:tmAbs val="0"/>
                                  </p:iterate>
                                  <p:childTnLst>
                                    <p:animEffect filter="wipe(right)" transition="out">
                                      <p:cBhvr>
                                        <p:cTn id="11" dur="1000" fill="hold"/>
                                        <p:tgtEl>
                                          <p:spTgt spid="558"/>
                                        </p:tgtEl>
                                      </p:cBhvr>
                                    </p:animEffect>
                                    <p:set>
                                      <p:cBhvr>
                                        <p:cTn id="12" fill="hold">
                                          <p:stCondLst>
                                            <p:cond delay="999"/>
                                          </p:stCondLst>
                                        </p:cTn>
                                        <p:tgtEl>
                                          <p:spTgt spid="55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8" grpId="2"/>
      <p:bldP build="whole" bldLvl="1" animBg="1" rev="0" advAuto="0" spid="553"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5" name="Shape 550"/>
          <p:cNvSpPr txBox="1"/>
          <p:nvPr/>
        </p:nvSpPr>
        <p:spPr>
          <a:xfrm>
            <a:off x="982273" y="1431148"/>
            <a:ext cx="7823202"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1.被删除的结点是叶子结点</a:t>
            </a:r>
          </a:p>
        </p:txBody>
      </p:sp>
      <p:sp>
        <p:nvSpPr>
          <p:cNvPr id="596" name="Shape 551"/>
          <p:cNvSpPr txBox="1"/>
          <p:nvPr/>
        </p:nvSpPr>
        <p:spPr>
          <a:xfrm>
            <a:off x="1631102" y="2308575"/>
            <a:ext cx="10058402" cy="14756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20000"/>
              </a:lnSpc>
              <a:spcBef>
                <a:spcPts val="1900"/>
              </a:spcBef>
              <a:defRPr sz="2800">
                <a:uFill>
                  <a:solidFill>
                    <a:srgbClr val="000000"/>
                  </a:solidFill>
                </a:uFill>
              </a:defRPr>
            </a:pPr>
            <a:r>
              <a:t>1）删除叶子结点不会破坏整棵树的结构</a:t>
            </a:r>
          </a:p>
          <a:p>
            <a:pPr marR="57798" defTabSz="1295400">
              <a:lnSpc>
                <a:spcPct val="120000"/>
              </a:lnSpc>
              <a:spcBef>
                <a:spcPts val="1900"/>
              </a:spcBef>
              <a:defRPr sz="2800">
                <a:uFill>
                  <a:solidFill>
                    <a:srgbClr val="000000"/>
                  </a:solidFill>
                </a:uFill>
              </a:defRPr>
            </a:pPr>
            <a:r>
              <a:t>2）只需将其双亲结点的left或者right的值设置为null</a:t>
            </a:r>
          </a:p>
        </p:txBody>
      </p:sp>
      <p:sp>
        <p:nvSpPr>
          <p:cNvPr id="597" name="Shape 552"/>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Shape 554"/>
          <p:cNvSpPr txBox="1"/>
          <p:nvPr/>
        </p:nvSpPr>
        <p:spPr>
          <a:xfrm>
            <a:off x="207997" y="1476022"/>
            <a:ext cx="957580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2、3.被删除的结点只有左子树或右子树</a:t>
            </a:r>
          </a:p>
        </p:txBody>
      </p:sp>
      <p:sp>
        <p:nvSpPr>
          <p:cNvPr id="600" name="Shape 555"/>
          <p:cNvSpPr/>
          <p:nvPr/>
        </p:nvSpPr>
        <p:spPr>
          <a:xfrm flipH="1">
            <a:off x="6292991" y="2736991"/>
            <a:ext cx="898598" cy="652499"/>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1" name="Shape 556"/>
          <p:cNvSpPr/>
          <p:nvPr/>
        </p:nvSpPr>
        <p:spPr>
          <a:xfrm flipH="1">
            <a:off x="5012830" y="3902003"/>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2" name="Shape 557"/>
          <p:cNvSpPr/>
          <p:nvPr/>
        </p:nvSpPr>
        <p:spPr>
          <a:xfrm>
            <a:off x="7832796" y="2784404"/>
            <a:ext cx="1039738" cy="674829"/>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3" name="Shape 558"/>
          <p:cNvSpPr/>
          <p:nvPr/>
        </p:nvSpPr>
        <p:spPr>
          <a:xfrm>
            <a:off x="6460065" y="3870395"/>
            <a:ext cx="973106" cy="74281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4" name="Shape 559"/>
          <p:cNvSpPr/>
          <p:nvPr/>
        </p:nvSpPr>
        <p:spPr>
          <a:xfrm flipH="1">
            <a:off x="5666027" y="6250783"/>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5" name="Shape 560"/>
          <p:cNvSpPr/>
          <p:nvPr/>
        </p:nvSpPr>
        <p:spPr>
          <a:xfrm flipH="1">
            <a:off x="6749326" y="4977747"/>
            <a:ext cx="797813" cy="69290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6" name="Shape 561"/>
          <p:cNvSpPr/>
          <p:nvPr/>
        </p:nvSpPr>
        <p:spPr>
          <a:xfrm>
            <a:off x="9484086" y="3923155"/>
            <a:ext cx="762097" cy="58714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7" name="Shape 562"/>
          <p:cNvSpPr/>
          <p:nvPr/>
        </p:nvSpPr>
        <p:spPr>
          <a:xfrm flipH="1">
            <a:off x="9794803" y="5076048"/>
            <a:ext cx="520702" cy="745069"/>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08" name="Shape 563"/>
          <p:cNvSpPr/>
          <p:nvPr/>
        </p:nvSpPr>
        <p:spPr>
          <a:xfrm>
            <a:off x="9720298" y="6378785"/>
            <a:ext cx="672818" cy="55767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611" name="Group 566"/>
          <p:cNvGrpSpPr/>
          <p:nvPr/>
        </p:nvGrpSpPr>
        <p:grpSpPr>
          <a:xfrm>
            <a:off x="5764670" y="3342075"/>
            <a:ext cx="749585" cy="745071"/>
            <a:chOff x="0" y="0"/>
            <a:chExt cx="749583" cy="745070"/>
          </a:xfrm>
        </p:grpSpPr>
        <p:sp>
          <p:nvSpPr>
            <p:cNvPr id="609" name="Shape 564"/>
            <p:cNvSpPr/>
            <p:nvPr/>
          </p:nvSpPr>
          <p:spPr>
            <a:xfrm>
              <a:off x="-1" y="-1"/>
              <a:ext cx="749585"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10" name="Shape 565"/>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614" name="Group 569"/>
          <p:cNvGrpSpPr/>
          <p:nvPr/>
        </p:nvGrpSpPr>
        <p:grpSpPr>
          <a:xfrm>
            <a:off x="8785577" y="3342075"/>
            <a:ext cx="747327" cy="745071"/>
            <a:chOff x="0" y="0"/>
            <a:chExt cx="747325" cy="745070"/>
          </a:xfrm>
        </p:grpSpPr>
        <p:sp>
          <p:nvSpPr>
            <p:cNvPr id="612" name="Shape 567"/>
            <p:cNvSpPr/>
            <p:nvPr/>
          </p:nvSpPr>
          <p:spPr>
            <a:xfrm>
              <a:off x="-1"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13" name="Shape 568"/>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617" name="Group 572"/>
          <p:cNvGrpSpPr/>
          <p:nvPr/>
        </p:nvGrpSpPr>
        <p:grpSpPr>
          <a:xfrm>
            <a:off x="4355817" y="4412262"/>
            <a:ext cx="747329" cy="742813"/>
            <a:chOff x="0" y="0"/>
            <a:chExt cx="747328" cy="742812"/>
          </a:xfrm>
        </p:grpSpPr>
        <p:sp>
          <p:nvSpPr>
            <p:cNvPr id="615" name="Shape 570"/>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16" name="Shape 571"/>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620" name="Group 575"/>
          <p:cNvGrpSpPr/>
          <p:nvPr/>
        </p:nvGrpSpPr>
        <p:grpSpPr>
          <a:xfrm>
            <a:off x="10172699" y="4428066"/>
            <a:ext cx="747327" cy="742813"/>
            <a:chOff x="0" y="0"/>
            <a:chExt cx="747325" cy="742812"/>
          </a:xfrm>
        </p:grpSpPr>
        <p:sp>
          <p:nvSpPr>
            <p:cNvPr id="618" name="Shape 573"/>
            <p:cNvSpPr/>
            <p:nvPr/>
          </p:nvSpPr>
          <p:spPr>
            <a:xfrm>
              <a:off x="-1"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19" name="Shape 574"/>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623" name="Group 578"/>
          <p:cNvGrpSpPr/>
          <p:nvPr/>
        </p:nvGrpSpPr>
        <p:grpSpPr>
          <a:xfrm>
            <a:off x="9196492" y="5728546"/>
            <a:ext cx="747329" cy="742813"/>
            <a:chOff x="0" y="0"/>
            <a:chExt cx="747328" cy="742812"/>
          </a:xfrm>
        </p:grpSpPr>
        <p:sp>
          <p:nvSpPr>
            <p:cNvPr id="621" name="Shape 576"/>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22" name="Shape 577"/>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85</a:t>
              </a:r>
            </a:p>
          </p:txBody>
        </p:sp>
      </p:grpSp>
      <p:grpSp>
        <p:nvGrpSpPr>
          <p:cNvPr id="626" name="Group 581"/>
          <p:cNvGrpSpPr/>
          <p:nvPr/>
        </p:nvGrpSpPr>
        <p:grpSpPr>
          <a:xfrm>
            <a:off x="7374466" y="4380653"/>
            <a:ext cx="747329" cy="742813"/>
            <a:chOff x="0" y="0"/>
            <a:chExt cx="747328" cy="742812"/>
          </a:xfrm>
        </p:grpSpPr>
        <p:sp>
          <p:nvSpPr>
            <p:cNvPr id="624" name="Shape 579"/>
            <p:cNvSpPr/>
            <p:nvPr/>
          </p:nvSpPr>
          <p:spPr>
            <a:xfrm>
              <a:off x="-1" y="-1"/>
              <a:ext cx="747330"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25" name="Shape 580"/>
            <p:cNvSpPr txBox="1"/>
            <p:nvPr/>
          </p:nvSpPr>
          <p:spPr>
            <a:xfrm>
              <a:off x="161104" y="1579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629" name="Group 584"/>
          <p:cNvGrpSpPr/>
          <p:nvPr/>
        </p:nvGrpSpPr>
        <p:grpSpPr>
          <a:xfrm>
            <a:off x="6121399" y="5554133"/>
            <a:ext cx="749585" cy="742813"/>
            <a:chOff x="0" y="0"/>
            <a:chExt cx="749583" cy="742812"/>
          </a:xfrm>
        </p:grpSpPr>
        <p:sp>
          <p:nvSpPr>
            <p:cNvPr id="627" name="Shape 582"/>
            <p:cNvSpPr/>
            <p:nvPr/>
          </p:nvSpPr>
          <p:spPr>
            <a:xfrm>
              <a:off x="-1" y="-1"/>
              <a:ext cx="749585"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28" name="Shape 583"/>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632" name="Group 587"/>
          <p:cNvGrpSpPr/>
          <p:nvPr/>
        </p:nvGrpSpPr>
        <p:grpSpPr>
          <a:xfrm>
            <a:off x="5118663" y="6819899"/>
            <a:ext cx="747329" cy="745069"/>
            <a:chOff x="0" y="0"/>
            <a:chExt cx="747328" cy="745067"/>
          </a:xfrm>
        </p:grpSpPr>
        <p:sp>
          <p:nvSpPr>
            <p:cNvPr id="630" name="Shape 585"/>
            <p:cNvSpPr/>
            <p:nvPr/>
          </p:nvSpPr>
          <p:spPr>
            <a:xfrm>
              <a:off x="-1" y="-1"/>
              <a:ext cx="747330"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31" name="Shape 586"/>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grpSp>
        <p:nvGrpSpPr>
          <p:cNvPr id="635" name="Group 590"/>
          <p:cNvGrpSpPr/>
          <p:nvPr/>
        </p:nvGrpSpPr>
        <p:grpSpPr>
          <a:xfrm>
            <a:off x="10172699" y="6825825"/>
            <a:ext cx="747327" cy="745071"/>
            <a:chOff x="0" y="0"/>
            <a:chExt cx="747325" cy="745070"/>
          </a:xfrm>
        </p:grpSpPr>
        <p:sp>
          <p:nvSpPr>
            <p:cNvPr id="633" name="Shape 588"/>
            <p:cNvSpPr/>
            <p:nvPr/>
          </p:nvSpPr>
          <p:spPr>
            <a:xfrm>
              <a:off x="-1"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34" name="Shape 589"/>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sp>
        <p:nvSpPr>
          <p:cNvPr id="636" name="Shape 591"/>
          <p:cNvSpPr txBox="1"/>
          <p:nvPr/>
        </p:nvSpPr>
        <p:spPr>
          <a:xfrm>
            <a:off x="881661" y="2280636"/>
            <a:ext cx="41148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1）删除结点40</a:t>
            </a:r>
          </a:p>
        </p:txBody>
      </p:sp>
      <p:sp>
        <p:nvSpPr>
          <p:cNvPr id="637" name="Shape 592"/>
          <p:cNvSpPr txBox="1"/>
          <p:nvPr/>
        </p:nvSpPr>
        <p:spPr>
          <a:xfrm>
            <a:off x="881661" y="3192778"/>
            <a:ext cx="41148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2）删除结点80</a:t>
            </a:r>
          </a:p>
        </p:txBody>
      </p:sp>
      <p:sp>
        <p:nvSpPr>
          <p:cNvPr id="638" name="Shape 593"/>
          <p:cNvSpPr/>
          <p:nvPr/>
        </p:nvSpPr>
        <p:spPr>
          <a:xfrm flipH="1">
            <a:off x="6745225" y="4918004"/>
            <a:ext cx="830185" cy="77391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641" name="Group 596"/>
          <p:cNvGrpSpPr/>
          <p:nvPr/>
        </p:nvGrpSpPr>
        <p:grpSpPr>
          <a:xfrm>
            <a:off x="6116318" y="5554696"/>
            <a:ext cx="747329" cy="745071"/>
            <a:chOff x="0" y="0"/>
            <a:chExt cx="747328" cy="745070"/>
          </a:xfrm>
        </p:grpSpPr>
        <p:sp>
          <p:nvSpPr>
            <p:cNvPr id="639" name="Shape 594"/>
            <p:cNvSpPr/>
            <p:nvPr/>
          </p:nvSpPr>
          <p:spPr>
            <a:xfrm>
              <a:off x="-1" y="-1"/>
              <a:ext cx="747330"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40" name="Shape 595"/>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642" name="Shape 597"/>
          <p:cNvSpPr/>
          <p:nvPr/>
        </p:nvSpPr>
        <p:spPr>
          <a:xfrm>
            <a:off x="6464299" y="3883941"/>
            <a:ext cx="973105"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645" name="Group 600"/>
          <p:cNvGrpSpPr/>
          <p:nvPr/>
        </p:nvGrpSpPr>
        <p:grpSpPr>
          <a:xfrm>
            <a:off x="7371643" y="4368800"/>
            <a:ext cx="749585" cy="742810"/>
            <a:chOff x="0" y="0"/>
            <a:chExt cx="749583" cy="742809"/>
          </a:xfrm>
        </p:grpSpPr>
        <p:sp>
          <p:nvSpPr>
            <p:cNvPr id="643" name="Shape 598"/>
            <p:cNvSpPr/>
            <p:nvPr/>
          </p:nvSpPr>
          <p:spPr>
            <a:xfrm>
              <a:off x="-1" y="0"/>
              <a:ext cx="749585" cy="742810"/>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44" name="Shape 599"/>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sp>
        <p:nvSpPr>
          <p:cNvPr id="646" name="Shape 601"/>
          <p:cNvSpPr/>
          <p:nvPr/>
        </p:nvSpPr>
        <p:spPr>
          <a:xfrm flipH="1">
            <a:off x="8657731" y="3833423"/>
            <a:ext cx="520702" cy="74507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647" name="Shape 602"/>
          <p:cNvSpPr/>
          <p:nvPr/>
        </p:nvSpPr>
        <p:spPr>
          <a:xfrm>
            <a:off x="8826499" y="5059962"/>
            <a:ext cx="672819" cy="55767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650" name="Group 605"/>
          <p:cNvGrpSpPr/>
          <p:nvPr/>
        </p:nvGrpSpPr>
        <p:grpSpPr>
          <a:xfrm>
            <a:off x="8778522" y="3350541"/>
            <a:ext cx="747327" cy="742814"/>
            <a:chOff x="0" y="0"/>
            <a:chExt cx="747325" cy="742812"/>
          </a:xfrm>
        </p:grpSpPr>
        <p:sp>
          <p:nvSpPr>
            <p:cNvPr id="648" name="Shape 603"/>
            <p:cNvSpPr/>
            <p:nvPr/>
          </p:nvSpPr>
          <p:spPr>
            <a:xfrm>
              <a:off x="-1"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49" name="Shape 604"/>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653" name="Group 608"/>
          <p:cNvGrpSpPr/>
          <p:nvPr/>
        </p:nvGrpSpPr>
        <p:grpSpPr>
          <a:xfrm>
            <a:off x="8216899" y="4371621"/>
            <a:ext cx="747327" cy="742813"/>
            <a:chOff x="0" y="0"/>
            <a:chExt cx="747325" cy="742812"/>
          </a:xfrm>
        </p:grpSpPr>
        <p:sp>
          <p:nvSpPr>
            <p:cNvPr id="651" name="Shape 606"/>
            <p:cNvSpPr/>
            <p:nvPr/>
          </p:nvSpPr>
          <p:spPr>
            <a:xfrm>
              <a:off x="-1" y="-1"/>
              <a:ext cx="747327" cy="742814"/>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52" name="Shape 607"/>
            <p:cNvSpPr txBox="1"/>
            <p:nvPr/>
          </p:nvSpPr>
          <p:spPr>
            <a:xfrm>
              <a:off x="130624"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85</a:t>
              </a:r>
            </a:p>
          </p:txBody>
        </p:sp>
      </p:grpSp>
      <p:grpSp>
        <p:nvGrpSpPr>
          <p:cNvPr id="656" name="Group 611"/>
          <p:cNvGrpSpPr/>
          <p:nvPr/>
        </p:nvGrpSpPr>
        <p:grpSpPr>
          <a:xfrm>
            <a:off x="9184922" y="5473699"/>
            <a:ext cx="747327" cy="745069"/>
            <a:chOff x="0" y="0"/>
            <a:chExt cx="747325" cy="745067"/>
          </a:xfrm>
        </p:grpSpPr>
        <p:sp>
          <p:nvSpPr>
            <p:cNvPr id="654" name="Shape 609"/>
            <p:cNvSpPr/>
            <p:nvPr/>
          </p:nvSpPr>
          <p:spPr>
            <a:xfrm>
              <a:off x="-1" y="-1"/>
              <a:ext cx="747327"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55" name="Shape 610"/>
            <p:cNvSpPr txBox="1"/>
            <p:nvPr/>
          </p:nvSpPr>
          <p:spPr>
            <a:xfrm>
              <a:off x="161104" y="116134"/>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88</a:t>
              </a:r>
            </a:p>
          </p:txBody>
        </p:sp>
      </p:grpSp>
      <p:sp>
        <p:nvSpPr>
          <p:cNvPr id="657" name="Shape 612"/>
          <p:cNvSpPr/>
          <p:nvPr/>
        </p:nvSpPr>
        <p:spPr>
          <a:xfrm>
            <a:off x="7602976" y="2620220"/>
            <a:ext cx="1266552" cy="85312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660" name="Group 615"/>
          <p:cNvGrpSpPr/>
          <p:nvPr/>
        </p:nvGrpSpPr>
        <p:grpSpPr>
          <a:xfrm>
            <a:off x="7128368" y="2226733"/>
            <a:ext cx="747327" cy="745071"/>
            <a:chOff x="0" y="0"/>
            <a:chExt cx="747325" cy="745070"/>
          </a:xfrm>
        </p:grpSpPr>
        <p:sp>
          <p:nvSpPr>
            <p:cNvPr id="658" name="Shape 613"/>
            <p:cNvSpPr/>
            <p:nvPr/>
          </p:nvSpPr>
          <p:spPr>
            <a:xfrm>
              <a:off x="-1" y="-1"/>
              <a:ext cx="747327" cy="74507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59" name="Shape 614"/>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sp>
        <p:nvSpPr>
          <p:cNvPr id="661" name="Shape 616"/>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Subtype="2" presetID="22" grpId="1" fill="hold">
                                  <p:stCondLst>
                                    <p:cond delay="0"/>
                                  </p:stCondLst>
                                  <p:iterate type="el" backwards="0">
                                    <p:tmAbs val="0"/>
                                  </p:iterate>
                                  <p:childTnLst>
                                    <p:animEffect filter="wipe(right)" transition="out">
                                      <p:cBhvr>
                                        <p:cTn id="6" dur="500" fill="hold"/>
                                        <p:tgtEl>
                                          <p:spTgt spid="603"/>
                                        </p:tgtEl>
                                      </p:cBhvr>
                                    </p:animEffect>
                                    <p:set>
                                      <p:cBhvr>
                                        <p:cTn id="7" fill="hold">
                                          <p:stCondLst>
                                            <p:cond delay="499"/>
                                          </p:stCondLst>
                                        </p:cTn>
                                        <p:tgtEl>
                                          <p:spTgt spid="603"/>
                                        </p:tgtEl>
                                        <p:attrNameLst>
                                          <p:attrName>style.visibility</p:attrName>
                                        </p:attrNameLst>
                                      </p:cBhvr>
                                      <p:to>
                                        <p:strVal val="hidden"/>
                                      </p:to>
                                    </p:set>
                                  </p:childTnLst>
                                </p:cTn>
                              </p:par>
                            </p:childTnLst>
                          </p:cTn>
                        </p:par>
                        <p:par>
                          <p:cTn id="8" fill="hold">
                            <p:stCondLst>
                              <p:cond delay="500"/>
                            </p:stCondLst>
                            <p:childTnLst>
                              <p:par>
                                <p:cTn id="9" presetClass="exit" nodeType="afterEffect" presetSubtype="2" presetID="22" grpId="2" fill="hold">
                                  <p:stCondLst>
                                    <p:cond delay="0"/>
                                  </p:stCondLst>
                                  <p:iterate type="el" backwards="0">
                                    <p:tmAbs val="0"/>
                                  </p:iterate>
                                  <p:childTnLst>
                                    <p:animEffect filter="wipe(right)" transition="out">
                                      <p:cBhvr>
                                        <p:cTn id="10" dur="500" fill="hold"/>
                                        <p:tgtEl>
                                          <p:spTgt spid="626"/>
                                        </p:tgtEl>
                                      </p:cBhvr>
                                    </p:animEffect>
                                    <p:set>
                                      <p:cBhvr>
                                        <p:cTn id="11" fill="hold">
                                          <p:stCondLst>
                                            <p:cond delay="499"/>
                                          </p:stCondLst>
                                        </p:cTn>
                                        <p:tgtEl>
                                          <p:spTgt spid="626"/>
                                        </p:tgtEl>
                                        <p:attrNameLst>
                                          <p:attrName>style.visibility</p:attrName>
                                        </p:attrNameLst>
                                      </p:cBhvr>
                                      <p:to>
                                        <p:strVal val="hidden"/>
                                      </p:to>
                                    </p:set>
                                  </p:childTnLst>
                                </p:cTn>
                              </p:par>
                            </p:childTnLst>
                          </p:cTn>
                        </p:par>
                        <p:par>
                          <p:cTn id="12" fill="hold">
                            <p:stCondLst>
                              <p:cond delay="1000"/>
                            </p:stCondLst>
                            <p:childTnLst>
                              <p:par>
                                <p:cTn id="13" presetClass="exit" nodeType="afterEffect" presetSubtype="2" presetID="22" grpId="3" fill="hold">
                                  <p:stCondLst>
                                    <p:cond delay="0"/>
                                  </p:stCondLst>
                                  <p:iterate type="el" backwards="0">
                                    <p:tmAbs val="0"/>
                                  </p:iterate>
                                  <p:childTnLst>
                                    <p:animEffect filter="wipe(right)" transition="out">
                                      <p:cBhvr>
                                        <p:cTn id="14" dur="500" fill="hold"/>
                                        <p:tgtEl>
                                          <p:spTgt spid="605"/>
                                        </p:tgtEl>
                                      </p:cBhvr>
                                    </p:animEffect>
                                    <p:set>
                                      <p:cBhvr>
                                        <p:cTn id="15" fill="hold">
                                          <p:stCondLst>
                                            <p:cond delay="499"/>
                                          </p:stCondLst>
                                        </p:cTn>
                                        <p:tgtEl>
                                          <p:spTgt spid="60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Class="exit" nodeType="clickEffect" presetSubtype="2" presetID="22" grpId="4" fill="hold">
                                  <p:stCondLst>
                                    <p:cond delay="0"/>
                                  </p:stCondLst>
                                  <p:iterate type="el" backwards="0">
                                    <p:tmAbs val="0"/>
                                  </p:iterate>
                                  <p:childTnLst>
                                    <p:animEffect filter="wipe(right)" transition="out">
                                      <p:cBhvr>
                                        <p:cTn id="19" dur="500" fill="hold"/>
                                        <p:tgtEl>
                                          <p:spTgt spid="632"/>
                                        </p:tgtEl>
                                      </p:cBhvr>
                                    </p:animEffect>
                                    <p:set>
                                      <p:cBhvr>
                                        <p:cTn id="20" fill="hold">
                                          <p:stCondLst>
                                            <p:cond delay="499"/>
                                          </p:stCondLst>
                                        </p:cTn>
                                        <p:tgtEl>
                                          <p:spTgt spid="632"/>
                                        </p:tgtEl>
                                        <p:attrNameLst>
                                          <p:attrName>style.visibility</p:attrName>
                                        </p:attrNameLst>
                                      </p:cBhvr>
                                      <p:to>
                                        <p:strVal val="hidden"/>
                                      </p:to>
                                    </p:set>
                                  </p:childTnLst>
                                </p:cTn>
                              </p:par>
                            </p:childTnLst>
                          </p:cTn>
                        </p:par>
                        <p:par>
                          <p:cTn id="21" fill="hold">
                            <p:stCondLst>
                              <p:cond delay="500"/>
                            </p:stCondLst>
                            <p:childTnLst>
                              <p:par>
                                <p:cTn id="22" presetClass="exit" nodeType="afterEffect" presetSubtype="2" presetID="22" grpId="5" fill="hold">
                                  <p:stCondLst>
                                    <p:cond delay="0"/>
                                  </p:stCondLst>
                                  <p:iterate type="el" backwards="0">
                                    <p:tmAbs val="0"/>
                                  </p:iterate>
                                  <p:childTnLst>
                                    <p:animEffect filter="wipe(right)" transition="out">
                                      <p:cBhvr>
                                        <p:cTn id="23" dur="500" fill="hold"/>
                                        <p:tgtEl>
                                          <p:spTgt spid="604"/>
                                        </p:tgtEl>
                                      </p:cBhvr>
                                    </p:animEffect>
                                    <p:set>
                                      <p:cBhvr>
                                        <p:cTn id="24" fill="hold">
                                          <p:stCondLst>
                                            <p:cond delay="499"/>
                                          </p:stCondLst>
                                        </p:cTn>
                                        <p:tgtEl>
                                          <p:spTgt spid="604"/>
                                        </p:tgtEl>
                                        <p:attrNameLst>
                                          <p:attrName>style.visibility</p:attrName>
                                        </p:attrNameLst>
                                      </p:cBhvr>
                                      <p:to>
                                        <p:strVal val="hidden"/>
                                      </p:to>
                                    </p:set>
                                  </p:childTnLst>
                                </p:cTn>
                              </p:par>
                            </p:childTnLst>
                          </p:cTn>
                        </p:par>
                        <p:par>
                          <p:cTn id="25" fill="hold">
                            <p:stCondLst>
                              <p:cond delay="1000"/>
                            </p:stCondLst>
                            <p:childTnLst>
                              <p:par>
                                <p:cTn id="26" presetClass="exit" nodeType="afterEffect" presetSubtype="2" presetID="22" grpId="6" fill="hold">
                                  <p:stCondLst>
                                    <p:cond delay="0"/>
                                  </p:stCondLst>
                                  <p:iterate type="el" backwards="0">
                                    <p:tmAbs val="0"/>
                                  </p:iterate>
                                  <p:childTnLst>
                                    <p:animEffect filter="wipe(right)" transition="out">
                                      <p:cBhvr>
                                        <p:cTn id="27" dur="500" fill="hold"/>
                                        <p:tgtEl>
                                          <p:spTgt spid="629"/>
                                        </p:tgtEl>
                                      </p:cBhvr>
                                    </p:animEffect>
                                    <p:set>
                                      <p:cBhvr>
                                        <p:cTn id="28" fill="hold">
                                          <p:stCondLst>
                                            <p:cond delay="499"/>
                                          </p:stCondLst>
                                        </p:cTn>
                                        <p:tgtEl>
                                          <p:spTgt spid="62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2" grpId="7" fill="hold">
                                  <p:stCondLst>
                                    <p:cond delay="0"/>
                                  </p:stCondLst>
                                  <p:iterate type="el" backwards="0">
                                    <p:tmAbs val="0"/>
                                  </p:iterate>
                                  <p:childTnLst>
                                    <p:set>
                                      <p:cBhvr>
                                        <p:cTn id="32" fill="hold"/>
                                        <p:tgtEl>
                                          <p:spTgt spid="642"/>
                                        </p:tgtEl>
                                        <p:attrNameLst>
                                          <p:attrName>style.visibility</p:attrName>
                                        </p:attrNameLst>
                                      </p:cBhvr>
                                      <p:to>
                                        <p:strVal val="visible"/>
                                      </p:to>
                                    </p:set>
                                    <p:animEffect filter="wipe(left)" transition="in">
                                      <p:cBhvr>
                                        <p:cTn id="33" dur="500"/>
                                        <p:tgtEl>
                                          <p:spTgt spid="642"/>
                                        </p:tgtEl>
                                      </p:cBhvr>
                                    </p:animEffect>
                                  </p:childTnLst>
                                </p:cTn>
                              </p:par>
                            </p:childTnLst>
                          </p:cTn>
                        </p:par>
                        <p:par>
                          <p:cTn id="34" fill="hold">
                            <p:stCondLst>
                              <p:cond delay="500"/>
                            </p:stCondLst>
                            <p:childTnLst>
                              <p:par>
                                <p:cTn id="35" presetClass="entr" nodeType="afterEffect" presetSubtype="8" presetID="22" grpId="8" fill="hold">
                                  <p:stCondLst>
                                    <p:cond delay="0"/>
                                  </p:stCondLst>
                                  <p:iterate type="el" backwards="0">
                                    <p:tmAbs val="0"/>
                                  </p:iterate>
                                  <p:childTnLst>
                                    <p:set>
                                      <p:cBhvr>
                                        <p:cTn id="36" fill="hold"/>
                                        <p:tgtEl>
                                          <p:spTgt spid="638"/>
                                        </p:tgtEl>
                                        <p:attrNameLst>
                                          <p:attrName>style.visibility</p:attrName>
                                        </p:attrNameLst>
                                      </p:cBhvr>
                                      <p:to>
                                        <p:strVal val="visible"/>
                                      </p:to>
                                    </p:set>
                                    <p:animEffect filter="wipe(left)" transition="in">
                                      <p:cBhvr>
                                        <p:cTn id="37" dur="500"/>
                                        <p:tgtEl>
                                          <p:spTgt spid="638"/>
                                        </p:tgtEl>
                                      </p:cBhvr>
                                    </p:animEffect>
                                  </p:childTnLst>
                                </p:cTn>
                              </p:par>
                            </p:childTnLst>
                          </p:cTn>
                        </p:par>
                        <p:par>
                          <p:cTn id="38" fill="hold">
                            <p:stCondLst>
                              <p:cond delay="1000"/>
                            </p:stCondLst>
                            <p:childTnLst>
                              <p:par>
                                <p:cTn id="39" presetClass="entr" nodeType="afterEffect" presetSubtype="8" presetID="22" grpId="9" fill="hold">
                                  <p:stCondLst>
                                    <p:cond delay="0"/>
                                  </p:stCondLst>
                                  <p:iterate type="el" backwards="0">
                                    <p:tmAbs val="0"/>
                                  </p:iterate>
                                  <p:childTnLst>
                                    <p:set>
                                      <p:cBhvr>
                                        <p:cTn id="40" fill="hold"/>
                                        <p:tgtEl>
                                          <p:spTgt spid="645"/>
                                        </p:tgtEl>
                                        <p:attrNameLst>
                                          <p:attrName>style.visibility</p:attrName>
                                        </p:attrNameLst>
                                      </p:cBhvr>
                                      <p:to>
                                        <p:strVal val="visible"/>
                                      </p:to>
                                    </p:set>
                                    <p:animEffect filter="wipe(left)" transition="in">
                                      <p:cBhvr>
                                        <p:cTn id="41" dur="500"/>
                                        <p:tgtEl>
                                          <p:spTgt spid="645"/>
                                        </p:tgtEl>
                                      </p:cBhvr>
                                    </p:animEffect>
                                  </p:childTnLst>
                                </p:cTn>
                              </p:par>
                            </p:childTnLst>
                          </p:cTn>
                        </p:par>
                        <p:par>
                          <p:cTn id="42" fill="hold">
                            <p:stCondLst>
                              <p:cond delay="1500"/>
                            </p:stCondLst>
                            <p:childTnLst>
                              <p:par>
                                <p:cTn id="43" presetClass="entr" nodeType="afterEffect" presetSubtype="8" presetID="22" grpId="10" fill="hold">
                                  <p:stCondLst>
                                    <p:cond delay="0"/>
                                  </p:stCondLst>
                                  <p:iterate type="el" backwards="0">
                                    <p:tmAbs val="0"/>
                                  </p:iterate>
                                  <p:childTnLst>
                                    <p:set>
                                      <p:cBhvr>
                                        <p:cTn id="44" fill="hold"/>
                                        <p:tgtEl>
                                          <p:spTgt spid="641"/>
                                        </p:tgtEl>
                                        <p:attrNameLst>
                                          <p:attrName>style.visibility</p:attrName>
                                        </p:attrNameLst>
                                      </p:cBhvr>
                                      <p:to>
                                        <p:strVal val="visible"/>
                                      </p:to>
                                    </p:set>
                                    <p:animEffect filter="wipe(left)" transition="in">
                                      <p:cBhvr>
                                        <p:cTn id="45" dur="500"/>
                                        <p:tgtEl>
                                          <p:spTgt spid="641"/>
                                        </p:tgtEl>
                                      </p:cBhvr>
                                    </p:animEffect>
                                  </p:childTnLst>
                                </p:cTn>
                              </p:par>
                            </p:childTnLst>
                          </p:cTn>
                        </p:par>
                      </p:childTnLst>
                    </p:cTn>
                  </p:par>
                  <p:par>
                    <p:cTn id="46" fill="hold">
                      <p:stCondLst>
                        <p:cond delay="indefinite"/>
                      </p:stCondLst>
                      <p:childTnLst>
                        <p:par>
                          <p:cTn id="47" fill="hold">
                            <p:stCondLst>
                              <p:cond delay="0"/>
                            </p:stCondLst>
                            <p:childTnLst>
                              <p:par>
                                <p:cTn id="48" presetClass="exit" nodeType="clickEffect" presetSubtype="2" presetID="22" grpId="11" fill="hold">
                                  <p:stCondLst>
                                    <p:cond delay="0"/>
                                  </p:stCondLst>
                                  <p:iterate type="el" backwards="0">
                                    <p:tmAbs val="0"/>
                                  </p:iterate>
                                  <p:childTnLst>
                                    <p:animEffect filter="wipe(right)" transition="out">
                                      <p:cBhvr>
                                        <p:cTn id="49" dur="500" fill="hold"/>
                                        <p:tgtEl>
                                          <p:spTgt spid="602"/>
                                        </p:tgtEl>
                                      </p:cBhvr>
                                    </p:animEffect>
                                    <p:set>
                                      <p:cBhvr>
                                        <p:cTn id="50" fill="hold">
                                          <p:stCondLst>
                                            <p:cond delay="499"/>
                                          </p:stCondLst>
                                        </p:cTn>
                                        <p:tgtEl>
                                          <p:spTgt spid="602"/>
                                        </p:tgtEl>
                                        <p:attrNameLst>
                                          <p:attrName>style.visibility</p:attrName>
                                        </p:attrNameLst>
                                      </p:cBhvr>
                                      <p:to>
                                        <p:strVal val="hidden"/>
                                      </p:to>
                                    </p:set>
                                  </p:childTnLst>
                                </p:cTn>
                              </p:par>
                            </p:childTnLst>
                          </p:cTn>
                        </p:par>
                        <p:par>
                          <p:cTn id="51" fill="hold">
                            <p:stCondLst>
                              <p:cond delay="500"/>
                            </p:stCondLst>
                            <p:childTnLst>
                              <p:par>
                                <p:cTn id="52" presetClass="exit" nodeType="afterEffect" presetSubtype="2" presetID="22" grpId="12" fill="hold">
                                  <p:stCondLst>
                                    <p:cond delay="0"/>
                                  </p:stCondLst>
                                  <p:iterate type="el" backwards="0">
                                    <p:tmAbs val="0"/>
                                  </p:iterate>
                                  <p:childTnLst>
                                    <p:animEffect filter="wipe(right)" transition="out">
                                      <p:cBhvr>
                                        <p:cTn id="53" dur="500" fill="hold"/>
                                        <p:tgtEl>
                                          <p:spTgt spid="614"/>
                                        </p:tgtEl>
                                      </p:cBhvr>
                                    </p:animEffect>
                                    <p:set>
                                      <p:cBhvr>
                                        <p:cTn id="54" fill="hold">
                                          <p:stCondLst>
                                            <p:cond delay="499"/>
                                          </p:stCondLst>
                                        </p:cTn>
                                        <p:tgtEl>
                                          <p:spTgt spid="614"/>
                                        </p:tgtEl>
                                        <p:attrNameLst>
                                          <p:attrName>style.visibility</p:attrName>
                                        </p:attrNameLst>
                                      </p:cBhvr>
                                      <p:to>
                                        <p:strVal val="hidden"/>
                                      </p:to>
                                    </p:set>
                                  </p:childTnLst>
                                </p:cTn>
                              </p:par>
                            </p:childTnLst>
                          </p:cTn>
                        </p:par>
                        <p:par>
                          <p:cTn id="55" fill="hold">
                            <p:stCondLst>
                              <p:cond delay="1000"/>
                            </p:stCondLst>
                            <p:childTnLst>
                              <p:par>
                                <p:cTn id="56" presetClass="exit" nodeType="afterEffect" presetSubtype="2" presetID="22" grpId="13" fill="hold">
                                  <p:stCondLst>
                                    <p:cond delay="0"/>
                                  </p:stCondLst>
                                  <p:iterate type="el" backwards="0">
                                    <p:tmAbs val="0"/>
                                  </p:iterate>
                                  <p:childTnLst>
                                    <p:animEffect filter="wipe(right)" transition="out">
                                      <p:cBhvr>
                                        <p:cTn id="57" dur="500" fill="hold"/>
                                        <p:tgtEl>
                                          <p:spTgt spid="606"/>
                                        </p:tgtEl>
                                      </p:cBhvr>
                                    </p:animEffect>
                                    <p:set>
                                      <p:cBhvr>
                                        <p:cTn id="58" fill="hold">
                                          <p:stCondLst>
                                            <p:cond delay="499"/>
                                          </p:stCondLst>
                                        </p:cTn>
                                        <p:tgtEl>
                                          <p:spTgt spid="60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Class="exit" nodeType="clickEffect" presetSubtype="2" presetID="22" grpId="14" fill="hold">
                                  <p:stCondLst>
                                    <p:cond delay="0"/>
                                  </p:stCondLst>
                                  <p:iterate type="el" backwards="0">
                                    <p:tmAbs val="0"/>
                                  </p:iterate>
                                  <p:childTnLst>
                                    <p:animEffect filter="wipe(right)" transition="out">
                                      <p:cBhvr>
                                        <p:cTn id="62" dur="500" fill="hold"/>
                                        <p:tgtEl>
                                          <p:spTgt spid="607"/>
                                        </p:tgtEl>
                                      </p:cBhvr>
                                    </p:animEffect>
                                    <p:set>
                                      <p:cBhvr>
                                        <p:cTn id="63" fill="hold">
                                          <p:stCondLst>
                                            <p:cond delay="499"/>
                                          </p:stCondLst>
                                        </p:cTn>
                                        <p:tgtEl>
                                          <p:spTgt spid="607"/>
                                        </p:tgtEl>
                                        <p:attrNameLst>
                                          <p:attrName>style.visibility</p:attrName>
                                        </p:attrNameLst>
                                      </p:cBhvr>
                                      <p:to>
                                        <p:strVal val="hidden"/>
                                      </p:to>
                                    </p:set>
                                  </p:childTnLst>
                                </p:cTn>
                              </p:par>
                            </p:childTnLst>
                          </p:cTn>
                        </p:par>
                        <p:par>
                          <p:cTn id="64" fill="hold">
                            <p:stCondLst>
                              <p:cond delay="500"/>
                            </p:stCondLst>
                            <p:childTnLst>
                              <p:par>
                                <p:cTn id="65" presetClass="exit" nodeType="afterEffect" presetSubtype="2" presetID="22" grpId="15" fill="hold">
                                  <p:stCondLst>
                                    <p:cond delay="0"/>
                                  </p:stCondLst>
                                  <p:iterate type="el" backwards="0">
                                    <p:tmAbs val="0"/>
                                  </p:iterate>
                                  <p:childTnLst>
                                    <p:animEffect filter="wipe(right)" transition="out">
                                      <p:cBhvr>
                                        <p:cTn id="66" dur="500" fill="hold"/>
                                        <p:tgtEl>
                                          <p:spTgt spid="608"/>
                                        </p:tgtEl>
                                      </p:cBhvr>
                                    </p:animEffect>
                                    <p:set>
                                      <p:cBhvr>
                                        <p:cTn id="67" fill="hold">
                                          <p:stCondLst>
                                            <p:cond delay="499"/>
                                          </p:stCondLst>
                                        </p:cTn>
                                        <p:tgtEl>
                                          <p:spTgt spid="608"/>
                                        </p:tgtEl>
                                        <p:attrNameLst>
                                          <p:attrName>style.visibility</p:attrName>
                                        </p:attrNameLst>
                                      </p:cBhvr>
                                      <p:to>
                                        <p:strVal val="hidden"/>
                                      </p:to>
                                    </p:set>
                                  </p:childTnLst>
                                </p:cTn>
                              </p:par>
                            </p:childTnLst>
                          </p:cTn>
                        </p:par>
                        <p:par>
                          <p:cTn id="68" fill="hold">
                            <p:stCondLst>
                              <p:cond delay="1000"/>
                            </p:stCondLst>
                            <p:childTnLst>
                              <p:par>
                                <p:cTn id="69" presetClass="exit" nodeType="afterEffect" presetSubtype="2" presetID="22" grpId="16" fill="hold">
                                  <p:stCondLst>
                                    <p:cond delay="0"/>
                                  </p:stCondLst>
                                  <p:iterate type="el" backwards="0">
                                    <p:tmAbs val="0"/>
                                  </p:iterate>
                                  <p:childTnLst>
                                    <p:animEffect filter="wipe(right)" transition="out">
                                      <p:cBhvr>
                                        <p:cTn id="70" dur="500" fill="hold"/>
                                        <p:tgtEl>
                                          <p:spTgt spid="620"/>
                                        </p:tgtEl>
                                      </p:cBhvr>
                                    </p:animEffect>
                                    <p:set>
                                      <p:cBhvr>
                                        <p:cTn id="71" fill="hold">
                                          <p:stCondLst>
                                            <p:cond delay="499"/>
                                          </p:stCondLst>
                                        </p:cTn>
                                        <p:tgtEl>
                                          <p:spTgt spid="620"/>
                                        </p:tgtEl>
                                        <p:attrNameLst>
                                          <p:attrName>style.visibility</p:attrName>
                                        </p:attrNameLst>
                                      </p:cBhvr>
                                      <p:to>
                                        <p:strVal val="hidden"/>
                                      </p:to>
                                    </p:set>
                                  </p:childTnLst>
                                </p:cTn>
                              </p:par>
                            </p:childTnLst>
                          </p:cTn>
                        </p:par>
                        <p:par>
                          <p:cTn id="72" fill="hold">
                            <p:stCondLst>
                              <p:cond delay="1500"/>
                            </p:stCondLst>
                            <p:childTnLst>
                              <p:par>
                                <p:cTn id="73" presetClass="exit" nodeType="afterEffect" presetSubtype="2" presetID="22" grpId="17" fill="hold">
                                  <p:stCondLst>
                                    <p:cond delay="0"/>
                                  </p:stCondLst>
                                  <p:iterate type="el" backwards="0">
                                    <p:tmAbs val="0"/>
                                  </p:iterate>
                                  <p:childTnLst>
                                    <p:animEffect filter="wipe(right)" transition="out">
                                      <p:cBhvr>
                                        <p:cTn id="74" dur="500" fill="hold"/>
                                        <p:tgtEl>
                                          <p:spTgt spid="623"/>
                                        </p:tgtEl>
                                      </p:cBhvr>
                                    </p:animEffect>
                                    <p:set>
                                      <p:cBhvr>
                                        <p:cTn id="75" fill="hold">
                                          <p:stCondLst>
                                            <p:cond delay="499"/>
                                          </p:stCondLst>
                                        </p:cTn>
                                        <p:tgtEl>
                                          <p:spTgt spid="623"/>
                                        </p:tgtEl>
                                        <p:attrNameLst>
                                          <p:attrName>style.visibility</p:attrName>
                                        </p:attrNameLst>
                                      </p:cBhvr>
                                      <p:to>
                                        <p:strVal val="hidden"/>
                                      </p:to>
                                    </p:set>
                                  </p:childTnLst>
                                </p:cTn>
                              </p:par>
                            </p:childTnLst>
                          </p:cTn>
                        </p:par>
                        <p:par>
                          <p:cTn id="76" fill="hold">
                            <p:stCondLst>
                              <p:cond delay="2000"/>
                            </p:stCondLst>
                            <p:childTnLst>
                              <p:par>
                                <p:cTn id="77" presetClass="exit" nodeType="afterEffect" presetSubtype="2" presetID="22" grpId="18" fill="hold">
                                  <p:stCondLst>
                                    <p:cond delay="0"/>
                                  </p:stCondLst>
                                  <p:iterate type="el" backwards="0">
                                    <p:tmAbs val="0"/>
                                  </p:iterate>
                                  <p:childTnLst>
                                    <p:animEffect filter="wipe(right)" transition="out">
                                      <p:cBhvr>
                                        <p:cTn id="78" dur="500" fill="hold"/>
                                        <p:tgtEl>
                                          <p:spTgt spid="635"/>
                                        </p:tgtEl>
                                      </p:cBhvr>
                                    </p:animEffect>
                                    <p:set>
                                      <p:cBhvr>
                                        <p:cTn id="79" fill="hold">
                                          <p:stCondLst>
                                            <p:cond delay="499"/>
                                          </p:stCondLst>
                                        </p:cTn>
                                        <p:tgtEl>
                                          <p:spTgt spid="635"/>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Class="entr" nodeType="clickEffect" presetSubtype="8" presetID="22" grpId="19" fill="hold">
                                  <p:stCondLst>
                                    <p:cond delay="0"/>
                                  </p:stCondLst>
                                  <p:iterate type="el" backwards="0">
                                    <p:tmAbs val="0"/>
                                  </p:iterate>
                                  <p:childTnLst>
                                    <p:set>
                                      <p:cBhvr>
                                        <p:cTn id="83" fill="hold"/>
                                        <p:tgtEl>
                                          <p:spTgt spid="646"/>
                                        </p:tgtEl>
                                        <p:attrNameLst>
                                          <p:attrName>style.visibility</p:attrName>
                                        </p:attrNameLst>
                                      </p:cBhvr>
                                      <p:to>
                                        <p:strVal val="visible"/>
                                      </p:to>
                                    </p:set>
                                    <p:animEffect filter="wipe(left)" transition="in">
                                      <p:cBhvr>
                                        <p:cTn id="84" dur="500"/>
                                        <p:tgtEl>
                                          <p:spTgt spid="646"/>
                                        </p:tgtEl>
                                      </p:cBhvr>
                                    </p:animEffect>
                                  </p:childTnLst>
                                </p:cTn>
                              </p:par>
                            </p:childTnLst>
                          </p:cTn>
                        </p:par>
                        <p:par>
                          <p:cTn id="85" fill="hold">
                            <p:stCondLst>
                              <p:cond delay="500"/>
                            </p:stCondLst>
                            <p:childTnLst>
                              <p:par>
                                <p:cTn id="86" presetClass="entr" nodeType="afterEffect" presetSubtype="8" presetID="22" grpId="20" fill="hold">
                                  <p:stCondLst>
                                    <p:cond delay="0"/>
                                  </p:stCondLst>
                                  <p:iterate type="el" backwards="0">
                                    <p:tmAbs val="0"/>
                                  </p:iterate>
                                  <p:childTnLst>
                                    <p:set>
                                      <p:cBhvr>
                                        <p:cTn id="87" fill="hold"/>
                                        <p:tgtEl>
                                          <p:spTgt spid="647"/>
                                        </p:tgtEl>
                                        <p:attrNameLst>
                                          <p:attrName>style.visibility</p:attrName>
                                        </p:attrNameLst>
                                      </p:cBhvr>
                                      <p:to>
                                        <p:strVal val="visible"/>
                                      </p:to>
                                    </p:set>
                                    <p:animEffect filter="wipe(left)" transition="in">
                                      <p:cBhvr>
                                        <p:cTn id="88" dur="500"/>
                                        <p:tgtEl>
                                          <p:spTgt spid="647"/>
                                        </p:tgtEl>
                                      </p:cBhvr>
                                    </p:animEffect>
                                  </p:childTnLst>
                                </p:cTn>
                              </p:par>
                            </p:childTnLst>
                          </p:cTn>
                        </p:par>
                        <p:par>
                          <p:cTn id="89" fill="hold">
                            <p:stCondLst>
                              <p:cond delay="1000"/>
                            </p:stCondLst>
                            <p:childTnLst>
                              <p:par>
                                <p:cTn id="90" presetClass="entr" nodeType="afterEffect" presetSubtype="8" presetID="22" grpId="21" fill="hold">
                                  <p:stCondLst>
                                    <p:cond delay="0"/>
                                  </p:stCondLst>
                                  <p:iterate type="el" backwards="0">
                                    <p:tmAbs val="0"/>
                                  </p:iterate>
                                  <p:childTnLst>
                                    <p:set>
                                      <p:cBhvr>
                                        <p:cTn id="91" fill="hold"/>
                                        <p:tgtEl>
                                          <p:spTgt spid="650"/>
                                        </p:tgtEl>
                                        <p:attrNameLst>
                                          <p:attrName>style.visibility</p:attrName>
                                        </p:attrNameLst>
                                      </p:cBhvr>
                                      <p:to>
                                        <p:strVal val="visible"/>
                                      </p:to>
                                    </p:set>
                                    <p:animEffect filter="wipe(left)" transition="in">
                                      <p:cBhvr>
                                        <p:cTn id="92" dur="500"/>
                                        <p:tgtEl>
                                          <p:spTgt spid="650"/>
                                        </p:tgtEl>
                                      </p:cBhvr>
                                    </p:animEffect>
                                  </p:childTnLst>
                                </p:cTn>
                              </p:par>
                            </p:childTnLst>
                          </p:cTn>
                        </p:par>
                        <p:par>
                          <p:cTn id="93" fill="hold">
                            <p:stCondLst>
                              <p:cond delay="1500"/>
                            </p:stCondLst>
                            <p:childTnLst>
                              <p:par>
                                <p:cTn id="94" presetClass="entr" nodeType="afterEffect" presetSubtype="8" presetID="22" grpId="22" fill="hold">
                                  <p:stCondLst>
                                    <p:cond delay="0"/>
                                  </p:stCondLst>
                                  <p:iterate type="el" backwards="0">
                                    <p:tmAbs val="0"/>
                                  </p:iterate>
                                  <p:childTnLst>
                                    <p:set>
                                      <p:cBhvr>
                                        <p:cTn id="95" fill="hold"/>
                                        <p:tgtEl>
                                          <p:spTgt spid="653"/>
                                        </p:tgtEl>
                                        <p:attrNameLst>
                                          <p:attrName>style.visibility</p:attrName>
                                        </p:attrNameLst>
                                      </p:cBhvr>
                                      <p:to>
                                        <p:strVal val="visible"/>
                                      </p:to>
                                    </p:set>
                                    <p:animEffect filter="wipe(left)" transition="in">
                                      <p:cBhvr>
                                        <p:cTn id="96" dur="500"/>
                                        <p:tgtEl>
                                          <p:spTgt spid="653"/>
                                        </p:tgtEl>
                                      </p:cBhvr>
                                    </p:animEffect>
                                  </p:childTnLst>
                                </p:cTn>
                              </p:par>
                            </p:childTnLst>
                          </p:cTn>
                        </p:par>
                        <p:par>
                          <p:cTn id="97" fill="hold">
                            <p:stCondLst>
                              <p:cond delay="2000"/>
                            </p:stCondLst>
                            <p:childTnLst>
                              <p:par>
                                <p:cTn id="98" presetClass="entr" nodeType="afterEffect" presetSubtype="8" presetID="22" grpId="23" fill="hold">
                                  <p:stCondLst>
                                    <p:cond delay="0"/>
                                  </p:stCondLst>
                                  <p:iterate type="el" backwards="0">
                                    <p:tmAbs val="0"/>
                                  </p:iterate>
                                  <p:childTnLst>
                                    <p:set>
                                      <p:cBhvr>
                                        <p:cTn id="99" fill="hold"/>
                                        <p:tgtEl>
                                          <p:spTgt spid="656"/>
                                        </p:tgtEl>
                                        <p:attrNameLst>
                                          <p:attrName>style.visibility</p:attrName>
                                        </p:attrNameLst>
                                      </p:cBhvr>
                                      <p:to>
                                        <p:strVal val="visible"/>
                                      </p:to>
                                    </p:set>
                                    <p:animEffect filter="wipe(left)" transition="in">
                                      <p:cBhvr>
                                        <p:cTn id="100" dur="500"/>
                                        <p:tgtEl>
                                          <p:spTgt spid="656"/>
                                        </p:tgtEl>
                                      </p:cBhvr>
                                    </p:animEffect>
                                  </p:childTnLst>
                                </p:cTn>
                              </p:par>
                            </p:childTnLst>
                          </p:cTn>
                        </p:par>
                        <p:par>
                          <p:cTn id="101" fill="hold">
                            <p:stCondLst>
                              <p:cond delay="2500"/>
                            </p:stCondLst>
                            <p:childTnLst>
                              <p:par>
                                <p:cTn id="102" presetClass="entr" nodeType="afterEffect" presetSubtype="8" presetID="22" grpId="24" fill="hold">
                                  <p:stCondLst>
                                    <p:cond delay="0"/>
                                  </p:stCondLst>
                                  <p:iterate type="el" backwards="0">
                                    <p:tmAbs val="0"/>
                                  </p:iterate>
                                  <p:childTnLst>
                                    <p:set>
                                      <p:cBhvr>
                                        <p:cTn id="103" fill="hold"/>
                                        <p:tgtEl>
                                          <p:spTgt spid="657"/>
                                        </p:tgtEl>
                                        <p:attrNameLst>
                                          <p:attrName>style.visibility</p:attrName>
                                        </p:attrNameLst>
                                      </p:cBhvr>
                                      <p:to>
                                        <p:strVal val="visible"/>
                                      </p:to>
                                    </p:set>
                                    <p:animEffect filter="wipe(left)" transition="in">
                                      <p:cBhvr>
                                        <p:cTn id="104"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07" grpId="14"/>
      <p:bldP build="whole" bldLvl="1" animBg="1" rev="0" advAuto="0" spid="608" grpId="15"/>
      <p:bldP build="whole" bldLvl="1" animBg="1" rev="0" advAuto="0" spid="657" grpId="24"/>
      <p:bldP build="whole" bldLvl="1" animBg="1" rev="0" advAuto="0" spid="603" grpId="1"/>
      <p:bldP build="whole" bldLvl="1" animBg="1" rev="0" advAuto="0" spid="642" grpId="7"/>
      <p:bldP build="whole" bldLvl="1" animBg="1" rev="0" advAuto="0" spid="656" grpId="23"/>
      <p:bldP build="whole" bldLvl="1" animBg="1" rev="0" advAuto="0" spid="605" grpId="3"/>
      <p:bldP build="whole" bldLvl="1" animBg="1" rev="0" advAuto="0" spid="647" grpId="20"/>
      <p:bldP build="whole" bldLvl="1" animBg="1" rev="0" advAuto="0" spid="620" grpId="16"/>
      <p:bldP build="whole" bldLvl="1" animBg="1" rev="0" advAuto="0" spid="638" grpId="8"/>
      <p:bldP build="whole" bldLvl="1" animBg="1" rev="0" advAuto="0" spid="626" grpId="2"/>
      <p:bldP build="whole" bldLvl="1" animBg="1" rev="0" advAuto="0" spid="646" grpId="19"/>
      <p:bldP build="whole" bldLvl="1" animBg="1" rev="0" advAuto="0" spid="650" grpId="21"/>
      <p:bldP build="whole" bldLvl="1" animBg="1" rev="0" advAuto="0" spid="653" grpId="22"/>
      <p:bldP build="whole" bldLvl="1" animBg="1" rev="0" advAuto="0" spid="645" grpId="9"/>
      <p:bldP build="whole" bldLvl="1" animBg="1" rev="0" advAuto="0" spid="623" grpId="17"/>
      <p:bldP build="whole" bldLvl="1" animBg="1" rev="0" advAuto="0" spid="632" grpId="4"/>
      <p:bldP build="whole" bldLvl="1" animBg="1" rev="0" advAuto="0" spid="602" grpId="11"/>
      <p:bldP build="whole" bldLvl="1" animBg="1" rev="0" advAuto="0" spid="614" grpId="12"/>
      <p:bldP build="whole" bldLvl="1" animBg="1" rev="0" advAuto="0" spid="629" grpId="6"/>
      <p:bldP build="whole" bldLvl="1" animBg="1" rev="0" advAuto="0" spid="606" grpId="13"/>
      <p:bldP build="whole" bldLvl="1" animBg="1" rev="0" advAuto="0" spid="604" grpId="5"/>
      <p:bldP build="whole" bldLvl="1" animBg="1" rev="0" advAuto="0" spid="635" grpId="18"/>
      <p:bldP build="whole" bldLvl="1" animBg="1" rev="0" advAuto="0" spid="641" grpId="10"/>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3" name="Shape 618"/>
          <p:cNvSpPr txBox="1"/>
          <p:nvPr/>
        </p:nvSpPr>
        <p:spPr>
          <a:xfrm>
            <a:off x="221114" y="1763199"/>
            <a:ext cx="957580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2、3.被删除的结点只有左子树或右子树</a:t>
            </a:r>
          </a:p>
        </p:txBody>
      </p:sp>
      <p:sp>
        <p:nvSpPr>
          <p:cNvPr id="664" name="Shape 619"/>
          <p:cNvSpPr txBox="1"/>
          <p:nvPr/>
        </p:nvSpPr>
        <p:spPr>
          <a:xfrm>
            <a:off x="762471" y="2510965"/>
            <a:ext cx="11699807" cy="21384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1）这种删除结点的操作不会破坏二叉搜索树的特性</a:t>
            </a:r>
          </a:p>
          <a:p>
            <a:pPr marR="57798" defTabSz="1295400">
              <a:spcBef>
                <a:spcPts val="1900"/>
              </a:spcBef>
              <a:defRPr sz="2800">
                <a:uFill>
                  <a:solidFill>
                    <a:srgbClr val="000000"/>
                  </a:solidFill>
                </a:uFill>
              </a:defRPr>
            </a:pPr>
            <a:r>
              <a:t>2）将一棵子树</a:t>
            </a:r>
            <a:r>
              <a:rPr>
                <a:solidFill>
                  <a:schemeClr val="accent5"/>
                </a:solidFill>
              </a:rPr>
              <a:t>转移</a:t>
            </a:r>
            <a:r>
              <a:t>到双亲结点，即让双亲结点的相应引用变量的值</a:t>
            </a:r>
          </a:p>
          <a:p>
            <a:pPr marR="57798" defTabSz="1295400">
              <a:spcBef>
                <a:spcPts val="1900"/>
              </a:spcBef>
              <a:defRPr sz="2800">
                <a:uFill>
                  <a:solidFill>
                    <a:srgbClr val="000000"/>
                  </a:solidFill>
                </a:uFill>
              </a:defRPr>
            </a:pPr>
            <a:r>
              <a:t>     改为 “引用被删除结点的左子树或右子树”。</a:t>
            </a:r>
          </a:p>
        </p:txBody>
      </p:sp>
      <p:sp>
        <p:nvSpPr>
          <p:cNvPr id="665" name="Shape 620"/>
          <p:cNvSpPr txBox="1"/>
          <p:nvPr>
            <p:ph type="title"/>
          </p:nvPr>
        </p:nvSpPr>
        <p:spPr>
          <a:xfrm>
            <a:off x="1611488" y="125588"/>
            <a:ext cx="9448801" cy="952501"/>
          </a:xfrm>
          <a:prstGeom prst="rect">
            <a:avLst/>
          </a:prstGeom>
        </p:spPr>
        <p:txBody>
          <a:bodyPr/>
          <a:lstStyle/>
          <a:p>
            <a:pPr/>
            <a:r>
              <a:t>remove</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7" name="Shape 623"/>
          <p:cNvSpPr txBox="1"/>
          <p:nvPr/>
        </p:nvSpPr>
        <p:spPr>
          <a:xfrm>
            <a:off x="-21042" y="1464664"/>
            <a:ext cx="7224651"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4.被删除的结点既有左子树也有右子树</a:t>
            </a:r>
          </a:p>
        </p:txBody>
      </p:sp>
      <p:sp>
        <p:nvSpPr>
          <p:cNvPr id="668" name="Shape 664"/>
          <p:cNvSpPr txBox="1"/>
          <p:nvPr/>
        </p:nvSpPr>
        <p:spPr>
          <a:xfrm>
            <a:off x="154828" y="2805288"/>
            <a:ext cx="3810002"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spcBef>
                <a:spcPts val="1900"/>
              </a:spcBef>
              <a:defRPr sz="2800">
                <a:uFill>
                  <a:solidFill>
                    <a:srgbClr val="000000"/>
                  </a:solidFill>
                </a:uFill>
              </a:defRPr>
            </a:lvl1pPr>
          </a:lstStyle>
          <a:p>
            <a:pPr/>
            <a:r>
              <a:t>中序遍历序列为：</a:t>
            </a:r>
          </a:p>
        </p:txBody>
      </p:sp>
      <p:sp>
        <p:nvSpPr>
          <p:cNvPr id="669" name="Shape 665"/>
          <p:cNvSpPr txBox="1"/>
          <p:nvPr/>
        </p:nvSpPr>
        <p:spPr>
          <a:xfrm>
            <a:off x="55178" y="3673121"/>
            <a:ext cx="6309960" cy="4928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20,30,31,32,37, </a:t>
            </a:r>
            <a:r>
              <a:rPr>
                <a:solidFill>
                  <a:schemeClr val="accent5"/>
                </a:solidFill>
              </a:rPr>
              <a:t>38</a:t>
            </a:r>
            <a:r>
              <a:t>,</a:t>
            </a:r>
            <a:r>
              <a:rPr>
                <a:solidFill>
                  <a:srgbClr val="002D99"/>
                </a:solidFill>
                <a:uFill>
                  <a:solidFill>
                    <a:srgbClr val="002D99"/>
                  </a:solidFill>
                </a:uFill>
              </a:rPr>
              <a:t>40</a:t>
            </a:r>
            <a:r>
              <a:t>,42,45,</a:t>
            </a:r>
            <a:r>
              <a:rPr>
                <a:uFill>
                  <a:solidFill>
                    <a:srgbClr val="D90B00"/>
                  </a:solidFill>
                </a:uFill>
              </a:rPr>
              <a:t>50</a:t>
            </a:r>
            <a:r>
              <a:t>,80,90</a:t>
            </a:r>
          </a:p>
        </p:txBody>
      </p:sp>
      <p:sp>
        <p:nvSpPr>
          <p:cNvPr id="670" name="Shape 676"/>
          <p:cNvSpPr txBox="1"/>
          <p:nvPr>
            <p:ph type="title"/>
          </p:nvPr>
        </p:nvSpPr>
        <p:spPr>
          <a:xfrm>
            <a:off x="1611488" y="125588"/>
            <a:ext cx="9448801" cy="952501"/>
          </a:xfrm>
          <a:prstGeom prst="rect">
            <a:avLst/>
          </a:prstGeom>
        </p:spPr>
        <p:txBody>
          <a:bodyPr/>
          <a:lstStyle/>
          <a:p>
            <a:pPr/>
            <a:r>
              <a:t>remove</a:t>
            </a:r>
          </a:p>
        </p:txBody>
      </p:sp>
      <p:grpSp>
        <p:nvGrpSpPr>
          <p:cNvPr id="728" name="成组"/>
          <p:cNvGrpSpPr/>
          <p:nvPr/>
        </p:nvGrpSpPr>
        <p:grpSpPr>
          <a:xfrm>
            <a:off x="6445270" y="1247421"/>
            <a:ext cx="6564210" cy="7648276"/>
            <a:chOff x="0" y="0"/>
            <a:chExt cx="6564209" cy="7648274"/>
          </a:xfrm>
        </p:grpSpPr>
        <p:sp>
          <p:nvSpPr>
            <p:cNvPr id="671" name="Shape 749"/>
            <p:cNvSpPr/>
            <p:nvPr/>
          </p:nvSpPr>
          <p:spPr>
            <a:xfrm>
              <a:off x="3544353" y="5083587"/>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674" name="Group 752"/>
            <p:cNvGrpSpPr/>
            <p:nvPr/>
          </p:nvGrpSpPr>
          <p:grpSpPr>
            <a:xfrm>
              <a:off x="3975382" y="5381500"/>
              <a:ext cx="747327" cy="745071"/>
              <a:chOff x="0" y="0"/>
              <a:chExt cx="747325" cy="745070"/>
            </a:xfrm>
          </p:grpSpPr>
          <p:sp>
            <p:nvSpPr>
              <p:cNvPr id="672"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73"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chemeClr val="accent5"/>
                    </a:solidFill>
                    <a:uFill>
                      <a:solidFill>
                        <a:srgbClr val="000000"/>
                      </a:solidFill>
                    </a:uFill>
                  </a:defRPr>
                </a:lvl1pPr>
              </a:lstStyle>
              <a:p>
                <a:pPr/>
                <a:r>
                  <a:t>38</a:t>
                </a:r>
              </a:p>
            </p:txBody>
          </p:sp>
        </p:grpSp>
        <p:sp>
          <p:nvSpPr>
            <p:cNvPr id="675" name="Shape 753"/>
            <p:cNvSpPr/>
            <p:nvPr/>
          </p:nvSpPr>
          <p:spPr>
            <a:xfrm flipH="1">
              <a:off x="1937173" y="510257"/>
              <a:ext cx="898598" cy="65250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76" name="Shape 754"/>
            <p:cNvSpPr/>
            <p:nvPr/>
          </p:nvSpPr>
          <p:spPr>
            <a:xfrm flipH="1">
              <a:off x="657013" y="1675270"/>
              <a:ext cx="821833"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77" name="Shape 755"/>
            <p:cNvSpPr/>
            <p:nvPr/>
          </p:nvSpPr>
          <p:spPr>
            <a:xfrm>
              <a:off x="3476978" y="557670"/>
              <a:ext cx="1039738" cy="67483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78" name="Shape 756"/>
            <p:cNvSpPr/>
            <p:nvPr/>
          </p:nvSpPr>
          <p:spPr>
            <a:xfrm>
              <a:off x="2104249" y="1643662"/>
              <a:ext cx="973104" cy="742810"/>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79" name="Shape 757"/>
            <p:cNvSpPr/>
            <p:nvPr/>
          </p:nvSpPr>
          <p:spPr>
            <a:xfrm flipH="1">
              <a:off x="1310209" y="4024051"/>
              <a:ext cx="656889" cy="606836"/>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80" name="Shape 758"/>
            <p:cNvSpPr/>
            <p:nvPr/>
          </p:nvSpPr>
          <p:spPr>
            <a:xfrm flipH="1">
              <a:off x="2393508" y="2751014"/>
              <a:ext cx="797813" cy="69290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81" name="Shape 759"/>
            <p:cNvSpPr/>
            <p:nvPr/>
          </p:nvSpPr>
          <p:spPr>
            <a:xfrm>
              <a:off x="5128269" y="1696422"/>
              <a:ext cx="762098" cy="58714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82" name="Shape 760"/>
            <p:cNvSpPr/>
            <p:nvPr/>
          </p:nvSpPr>
          <p:spPr>
            <a:xfrm>
              <a:off x="3652661" y="2724933"/>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683" name="Shape 761"/>
            <p:cNvSpPr/>
            <p:nvPr/>
          </p:nvSpPr>
          <p:spPr>
            <a:xfrm>
              <a:off x="4829528" y="3936156"/>
              <a:ext cx="656618" cy="65661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686" name="Group 764"/>
            <p:cNvGrpSpPr/>
            <p:nvPr/>
          </p:nvGrpSpPr>
          <p:grpSpPr>
            <a:xfrm>
              <a:off x="1408853" y="1115342"/>
              <a:ext cx="749585" cy="745071"/>
              <a:chOff x="0" y="0"/>
              <a:chExt cx="749583" cy="745070"/>
            </a:xfrm>
          </p:grpSpPr>
          <p:sp>
            <p:nvSpPr>
              <p:cNvPr id="684"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85"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689" name="Group 767"/>
            <p:cNvGrpSpPr/>
            <p:nvPr/>
          </p:nvGrpSpPr>
          <p:grpSpPr>
            <a:xfrm>
              <a:off x="4429761" y="1115342"/>
              <a:ext cx="747329" cy="745071"/>
              <a:chOff x="0" y="0"/>
              <a:chExt cx="747328" cy="745070"/>
            </a:xfrm>
          </p:grpSpPr>
          <p:sp>
            <p:nvSpPr>
              <p:cNvPr id="687"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88"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692" name="Group 770"/>
            <p:cNvGrpSpPr/>
            <p:nvPr/>
          </p:nvGrpSpPr>
          <p:grpSpPr>
            <a:xfrm>
              <a:off x="0" y="2185529"/>
              <a:ext cx="747326" cy="742811"/>
              <a:chOff x="0" y="0"/>
              <a:chExt cx="747325" cy="742809"/>
            </a:xfrm>
          </p:grpSpPr>
          <p:sp>
            <p:nvSpPr>
              <p:cNvPr id="690"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91"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695" name="Group 773"/>
            <p:cNvGrpSpPr/>
            <p:nvPr/>
          </p:nvGrpSpPr>
          <p:grpSpPr>
            <a:xfrm>
              <a:off x="5816883" y="2201333"/>
              <a:ext cx="747327" cy="742813"/>
              <a:chOff x="0" y="0"/>
              <a:chExt cx="747325" cy="742812"/>
            </a:xfrm>
          </p:grpSpPr>
          <p:sp>
            <p:nvSpPr>
              <p:cNvPr id="693"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94"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698" name="Group 776"/>
            <p:cNvGrpSpPr/>
            <p:nvPr/>
          </p:nvGrpSpPr>
          <p:grpSpPr>
            <a:xfrm>
              <a:off x="4145798" y="3327401"/>
              <a:ext cx="747327" cy="742811"/>
              <a:chOff x="0" y="0"/>
              <a:chExt cx="747325" cy="742809"/>
            </a:xfrm>
          </p:grpSpPr>
          <p:sp>
            <p:nvSpPr>
              <p:cNvPr id="696"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697"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701" name="Group 782"/>
            <p:cNvGrpSpPr/>
            <p:nvPr/>
          </p:nvGrpSpPr>
          <p:grpSpPr>
            <a:xfrm>
              <a:off x="1765582" y="3327401"/>
              <a:ext cx="749585" cy="742811"/>
              <a:chOff x="0" y="0"/>
              <a:chExt cx="749583" cy="742809"/>
            </a:xfrm>
          </p:grpSpPr>
          <p:sp>
            <p:nvSpPr>
              <p:cNvPr id="699"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00"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704" name="Group 785"/>
            <p:cNvGrpSpPr/>
            <p:nvPr/>
          </p:nvGrpSpPr>
          <p:grpSpPr>
            <a:xfrm>
              <a:off x="762846" y="4593167"/>
              <a:ext cx="747329" cy="745071"/>
              <a:chOff x="0" y="0"/>
              <a:chExt cx="747328" cy="745070"/>
            </a:xfrm>
          </p:grpSpPr>
          <p:sp>
            <p:nvSpPr>
              <p:cNvPr id="702" name="Shape 783"/>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03" name="Shape 784"/>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31</a:t>
                </a:r>
              </a:p>
            </p:txBody>
          </p:sp>
        </p:grpSp>
        <p:grpSp>
          <p:nvGrpSpPr>
            <p:cNvPr id="707" name="Group 788"/>
            <p:cNvGrpSpPr/>
            <p:nvPr/>
          </p:nvGrpSpPr>
          <p:grpSpPr>
            <a:xfrm>
              <a:off x="5270783" y="4505200"/>
              <a:ext cx="747327" cy="745071"/>
              <a:chOff x="0" y="0"/>
              <a:chExt cx="747325" cy="745070"/>
            </a:xfrm>
          </p:grpSpPr>
          <p:sp>
            <p:nvSpPr>
              <p:cNvPr id="705"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06"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710" name="Group 791"/>
            <p:cNvGrpSpPr/>
            <p:nvPr/>
          </p:nvGrpSpPr>
          <p:grpSpPr>
            <a:xfrm>
              <a:off x="1760501" y="3327965"/>
              <a:ext cx="747329" cy="745069"/>
              <a:chOff x="0" y="0"/>
              <a:chExt cx="747328" cy="745067"/>
            </a:xfrm>
          </p:grpSpPr>
          <p:sp>
            <p:nvSpPr>
              <p:cNvPr id="708"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09"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711" name="Shape 792"/>
            <p:cNvSpPr/>
            <p:nvPr/>
          </p:nvSpPr>
          <p:spPr>
            <a:xfrm>
              <a:off x="2108482" y="1657208"/>
              <a:ext cx="973104" cy="742811"/>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714" name="Group 795"/>
            <p:cNvGrpSpPr/>
            <p:nvPr/>
          </p:nvGrpSpPr>
          <p:grpSpPr>
            <a:xfrm>
              <a:off x="3022176" y="2228892"/>
              <a:ext cx="749587" cy="742813"/>
              <a:chOff x="0" y="0"/>
              <a:chExt cx="749586" cy="742812"/>
            </a:xfrm>
          </p:grpSpPr>
          <p:sp>
            <p:nvSpPr>
              <p:cNvPr id="712"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13"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chemeClr val="accent1"/>
                    </a:solidFill>
                    <a:uFill>
                      <a:solidFill>
                        <a:srgbClr val="000000"/>
                      </a:solidFill>
                    </a:uFill>
                  </a:defRPr>
                </a:lvl1pPr>
              </a:lstStyle>
              <a:p>
                <a:pPr/>
                <a:r>
                  <a:t>40</a:t>
                </a:r>
              </a:p>
            </p:txBody>
          </p:sp>
        </p:grpSp>
        <p:grpSp>
          <p:nvGrpSpPr>
            <p:cNvPr id="717" name="Group 798"/>
            <p:cNvGrpSpPr/>
            <p:nvPr/>
          </p:nvGrpSpPr>
          <p:grpSpPr>
            <a:xfrm>
              <a:off x="4422705" y="1123808"/>
              <a:ext cx="747327" cy="742813"/>
              <a:chOff x="0" y="0"/>
              <a:chExt cx="747325" cy="742812"/>
            </a:xfrm>
          </p:grpSpPr>
          <p:sp>
            <p:nvSpPr>
              <p:cNvPr id="715"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16"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718" name="Shape 799"/>
            <p:cNvSpPr/>
            <p:nvPr/>
          </p:nvSpPr>
          <p:spPr>
            <a:xfrm>
              <a:off x="3247159" y="393487"/>
              <a:ext cx="1266552" cy="85312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721" name="Group 802"/>
            <p:cNvGrpSpPr/>
            <p:nvPr/>
          </p:nvGrpSpPr>
          <p:grpSpPr>
            <a:xfrm>
              <a:off x="2772551" y="0"/>
              <a:ext cx="747329" cy="745068"/>
              <a:chOff x="0" y="0"/>
              <a:chExt cx="747328" cy="745067"/>
            </a:xfrm>
          </p:grpSpPr>
          <p:sp>
            <p:nvSpPr>
              <p:cNvPr id="719"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20"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724" name="Group 805"/>
            <p:cNvGrpSpPr/>
            <p:nvPr/>
          </p:nvGrpSpPr>
          <p:grpSpPr>
            <a:xfrm>
              <a:off x="2913898" y="4506329"/>
              <a:ext cx="747327" cy="742813"/>
              <a:chOff x="0" y="0"/>
              <a:chExt cx="747325" cy="742812"/>
            </a:xfrm>
          </p:grpSpPr>
          <p:sp>
            <p:nvSpPr>
              <p:cNvPr id="722" name="Shape 803"/>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23" name="Shape 804"/>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sp>
          <p:nvSpPr>
            <p:cNvPr id="725" name="Shape 806"/>
            <p:cNvSpPr/>
            <p:nvPr/>
          </p:nvSpPr>
          <p:spPr>
            <a:xfrm>
              <a:off x="2357261" y="3991387"/>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726" name="Shape 816"/>
            <p:cNvSpPr/>
            <p:nvPr/>
          </p:nvSpPr>
          <p:spPr>
            <a:xfrm>
              <a:off x="3448984" y="6378273"/>
              <a:ext cx="602119" cy="1270002"/>
            </a:xfrm>
            <a:prstGeom prst="rect">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27" name="Shape 817"/>
            <p:cNvSpPr/>
            <p:nvPr/>
          </p:nvSpPr>
          <p:spPr>
            <a:xfrm flipV="1">
              <a:off x="3734854" y="6022217"/>
              <a:ext cx="341962" cy="3419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729" name="假设删除的是40"/>
          <p:cNvSpPr txBox="1"/>
          <p:nvPr/>
        </p:nvSpPr>
        <p:spPr>
          <a:xfrm>
            <a:off x="138636" y="2070805"/>
            <a:ext cx="2661300" cy="609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R="57798" defTabSz="1295400">
              <a:spcBef>
                <a:spcPts val="1900"/>
              </a:spcBef>
              <a:defRPr sz="2800">
                <a:uFill>
                  <a:solidFill>
                    <a:srgbClr val="000000"/>
                  </a:solidFill>
                </a:uFill>
              </a:defRPr>
            </a:lvl1pPr>
          </a:lstStyle>
          <a:p>
            <a:pPr/>
            <a:r>
              <a:t>假设删除的是40</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3" name="Shape 749"/>
          <p:cNvSpPr/>
          <p:nvPr/>
        </p:nvSpPr>
        <p:spPr>
          <a:xfrm>
            <a:off x="3641938" y="63369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736" name="Group 752"/>
          <p:cNvGrpSpPr/>
          <p:nvPr/>
        </p:nvGrpSpPr>
        <p:grpSpPr>
          <a:xfrm>
            <a:off x="4072968" y="6634848"/>
            <a:ext cx="747327" cy="745071"/>
            <a:chOff x="0" y="0"/>
            <a:chExt cx="747325" cy="745070"/>
          </a:xfrm>
        </p:grpSpPr>
        <p:sp>
          <p:nvSpPr>
            <p:cNvPr id="734"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35"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38</a:t>
              </a:r>
            </a:p>
          </p:txBody>
        </p:sp>
      </p:grpSp>
      <p:sp>
        <p:nvSpPr>
          <p:cNvPr id="737" name="Shape 753"/>
          <p:cNvSpPr/>
          <p:nvPr/>
        </p:nvSpPr>
        <p:spPr>
          <a:xfrm flipH="1">
            <a:off x="2034759" y="1763605"/>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38" name="Shape 754"/>
          <p:cNvSpPr/>
          <p:nvPr/>
        </p:nvSpPr>
        <p:spPr>
          <a:xfrm flipH="1">
            <a:off x="754598" y="2928618"/>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39" name="Shape 755"/>
          <p:cNvSpPr/>
          <p:nvPr/>
        </p:nvSpPr>
        <p:spPr>
          <a:xfrm>
            <a:off x="3574564" y="1811018"/>
            <a:ext cx="1039738"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0" name="Shape 756"/>
          <p:cNvSpPr/>
          <p:nvPr/>
        </p:nvSpPr>
        <p:spPr>
          <a:xfrm>
            <a:off x="2201834" y="2897010"/>
            <a:ext cx="973104" cy="74281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1" name="Shape 757"/>
          <p:cNvSpPr/>
          <p:nvPr/>
        </p:nvSpPr>
        <p:spPr>
          <a:xfrm flipH="1">
            <a:off x="1407794" y="5277399"/>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2" name="Shape 758"/>
          <p:cNvSpPr/>
          <p:nvPr/>
        </p:nvSpPr>
        <p:spPr>
          <a:xfrm flipH="1">
            <a:off x="2491093" y="4004362"/>
            <a:ext cx="797813" cy="69290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3" name="Shape 759"/>
          <p:cNvSpPr/>
          <p:nvPr/>
        </p:nvSpPr>
        <p:spPr>
          <a:xfrm>
            <a:off x="5225855" y="2949770"/>
            <a:ext cx="762097"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4" name="Shape 760"/>
          <p:cNvSpPr/>
          <p:nvPr/>
        </p:nvSpPr>
        <p:spPr>
          <a:xfrm>
            <a:off x="3750247" y="3978281"/>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745" name="Shape 761"/>
          <p:cNvSpPr/>
          <p:nvPr/>
        </p:nvSpPr>
        <p:spPr>
          <a:xfrm>
            <a:off x="4927113" y="5189503"/>
            <a:ext cx="656618" cy="65661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748" name="Group 764"/>
          <p:cNvGrpSpPr/>
          <p:nvPr/>
        </p:nvGrpSpPr>
        <p:grpSpPr>
          <a:xfrm>
            <a:off x="1506438" y="2368690"/>
            <a:ext cx="749585" cy="745071"/>
            <a:chOff x="0" y="0"/>
            <a:chExt cx="749583" cy="745070"/>
          </a:xfrm>
        </p:grpSpPr>
        <p:sp>
          <p:nvSpPr>
            <p:cNvPr id="746"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47"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751" name="Group 767"/>
          <p:cNvGrpSpPr/>
          <p:nvPr/>
        </p:nvGrpSpPr>
        <p:grpSpPr>
          <a:xfrm>
            <a:off x="4527346" y="2368690"/>
            <a:ext cx="747329" cy="745071"/>
            <a:chOff x="0" y="0"/>
            <a:chExt cx="747328" cy="745070"/>
          </a:xfrm>
        </p:grpSpPr>
        <p:sp>
          <p:nvSpPr>
            <p:cNvPr id="749"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50"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754" name="Group 770"/>
          <p:cNvGrpSpPr/>
          <p:nvPr/>
        </p:nvGrpSpPr>
        <p:grpSpPr>
          <a:xfrm>
            <a:off x="97585" y="3438877"/>
            <a:ext cx="747327" cy="742811"/>
            <a:chOff x="0" y="0"/>
            <a:chExt cx="747325" cy="742809"/>
          </a:xfrm>
        </p:grpSpPr>
        <p:sp>
          <p:nvSpPr>
            <p:cNvPr id="752"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53"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757" name="Group 773"/>
          <p:cNvGrpSpPr/>
          <p:nvPr/>
        </p:nvGrpSpPr>
        <p:grpSpPr>
          <a:xfrm>
            <a:off x="5914468" y="3454681"/>
            <a:ext cx="747327" cy="742813"/>
            <a:chOff x="0" y="0"/>
            <a:chExt cx="747325" cy="742812"/>
          </a:xfrm>
        </p:grpSpPr>
        <p:sp>
          <p:nvSpPr>
            <p:cNvPr id="755"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56"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760" name="Group 776"/>
          <p:cNvGrpSpPr/>
          <p:nvPr/>
        </p:nvGrpSpPr>
        <p:grpSpPr>
          <a:xfrm>
            <a:off x="4243384" y="4580749"/>
            <a:ext cx="747327" cy="742811"/>
            <a:chOff x="0" y="0"/>
            <a:chExt cx="747325" cy="742809"/>
          </a:xfrm>
        </p:grpSpPr>
        <p:sp>
          <p:nvSpPr>
            <p:cNvPr id="758"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59"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763" name="Group 782"/>
          <p:cNvGrpSpPr/>
          <p:nvPr/>
        </p:nvGrpSpPr>
        <p:grpSpPr>
          <a:xfrm>
            <a:off x="1863167" y="4580749"/>
            <a:ext cx="749585" cy="742811"/>
            <a:chOff x="0" y="0"/>
            <a:chExt cx="749583" cy="742809"/>
          </a:xfrm>
        </p:grpSpPr>
        <p:sp>
          <p:nvSpPr>
            <p:cNvPr id="761"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62"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766" name="Group 785"/>
          <p:cNvGrpSpPr/>
          <p:nvPr/>
        </p:nvGrpSpPr>
        <p:grpSpPr>
          <a:xfrm>
            <a:off x="860431" y="5846515"/>
            <a:ext cx="747329" cy="745071"/>
            <a:chOff x="0" y="0"/>
            <a:chExt cx="747328" cy="745070"/>
          </a:xfrm>
        </p:grpSpPr>
        <p:sp>
          <p:nvSpPr>
            <p:cNvPr id="764" name="Shape 783"/>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65" name="Shape 784"/>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31</a:t>
              </a:r>
            </a:p>
          </p:txBody>
        </p:sp>
      </p:grpSp>
      <p:grpSp>
        <p:nvGrpSpPr>
          <p:cNvPr id="769" name="Group 788"/>
          <p:cNvGrpSpPr/>
          <p:nvPr/>
        </p:nvGrpSpPr>
        <p:grpSpPr>
          <a:xfrm>
            <a:off x="5368368" y="5758548"/>
            <a:ext cx="747327" cy="745071"/>
            <a:chOff x="0" y="0"/>
            <a:chExt cx="747325" cy="745070"/>
          </a:xfrm>
        </p:grpSpPr>
        <p:sp>
          <p:nvSpPr>
            <p:cNvPr id="767"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68"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772" name="Group 791"/>
          <p:cNvGrpSpPr/>
          <p:nvPr/>
        </p:nvGrpSpPr>
        <p:grpSpPr>
          <a:xfrm>
            <a:off x="1858086" y="4581313"/>
            <a:ext cx="747329" cy="745069"/>
            <a:chOff x="0" y="0"/>
            <a:chExt cx="747328" cy="745067"/>
          </a:xfrm>
        </p:grpSpPr>
        <p:sp>
          <p:nvSpPr>
            <p:cNvPr id="770"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71"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773" name="Shape 792"/>
          <p:cNvSpPr/>
          <p:nvPr/>
        </p:nvSpPr>
        <p:spPr>
          <a:xfrm>
            <a:off x="2206067" y="2910556"/>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776" name="Group 795"/>
          <p:cNvGrpSpPr/>
          <p:nvPr/>
        </p:nvGrpSpPr>
        <p:grpSpPr>
          <a:xfrm>
            <a:off x="3119762" y="3482240"/>
            <a:ext cx="749587" cy="742813"/>
            <a:chOff x="0" y="0"/>
            <a:chExt cx="749586" cy="742812"/>
          </a:xfrm>
        </p:grpSpPr>
        <p:sp>
          <p:nvSpPr>
            <p:cNvPr id="774"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75"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779" name="Group 798"/>
          <p:cNvGrpSpPr/>
          <p:nvPr/>
        </p:nvGrpSpPr>
        <p:grpSpPr>
          <a:xfrm>
            <a:off x="4520290" y="2377156"/>
            <a:ext cx="747327" cy="742813"/>
            <a:chOff x="0" y="0"/>
            <a:chExt cx="747325" cy="742812"/>
          </a:xfrm>
        </p:grpSpPr>
        <p:sp>
          <p:nvSpPr>
            <p:cNvPr id="777"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78"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780" name="Shape 799"/>
          <p:cNvSpPr/>
          <p:nvPr/>
        </p:nvSpPr>
        <p:spPr>
          <a:xfrm>
            <a:off x="3344744" y="1646835"/>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783" name="Group 802"/>
          <p:cNvGrpSpPr/>
          <p:nvPr/>
        </p:nvGrpSpPr>
        <p:grpSpPr>
          <a:xfrm>
            <a:off x="2870136" y="1253348"/>
            <a:ext cx="747329" cy="745069"/>
            <a:chOff x="0" y="0"/>
            <a:chExt cx="747328" cy="745067"/>
          </a:xfrm>
        </p:grpSpPr>
        <p:sp>
          <p:nvSpPr>
            <p:cNvPr id="781"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82"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786" name="Group 805"/>
          <p:cNvGrpSpPr/>
          <p:nvPr/>
        </p:nvGrpSpPr>
        <p:grpSpPr>
          <a:xfrm>
            <a:off x="3011484" y="5759677"/>
            <a:ext cx="747327" cy="742813"/>
            <a:chOff x="0" y="0"/>
            <a:chExt cx="747325" cy="742812"/>
          </a:xfrm>
        </p:grpSpPr>
        <p:sp>
          <p:nvSpPr>
            <p:cNvPr id="784" name="Shape 803"/>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785" name="Shape 804"/>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sp>
        <p:nvSpPr>
          <p:cNvPr id="787" name="Shape 806"/>
          <p:cNvSpPr/>
          <p:nvPr/>
        </p:nvSpPr>
        <p:spPr>
          <a:xfrm>
            <a:off x="2454847" y="52447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790" name="成组"/>
          <p:cNvGrpSpPr/>
          <p:nvPr/>
        </p:nvGrpSpPr>
        <p:grpSpPr>
          <a:xfrm>
            <a:off x="913518" y="1682873"/>
            <a:ext cx="666635" cy="796362"/>
            <a:chOff x="0" y="0"/>
            <a:chExt cx="666634" cy="796361"/>
          </a:xfrm>
        </p:grpSpPr>
        <p:sp>
          <p:nvSpPr>
            <p:cNvPr id="788" name="Shape 808"/>
            <p:cNvSpPr txBox="1"/>
            <p:nvPr/>
          </p:nvSpPr>
          <p:spPr>
            <a:xfrm>
              <a:off x="0" y="0"/>
              <a:ext cx="324499"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789" name="Shape 810"/>
            <p:cNvSpPr/>
            <p:nvPr/>
          </p:nvSpPr>
          <p:spPr>
            <a:xfrm>
              <a:off x="238449" y="368176"/>
              <a:ext cx="428186" cy="428186"/>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793" name="成组"/>
          <p:cNvGrpSpPr/>
          <p:nvPr/>
        </p:nvGrpSpPr>
        <p:grpSpPr>
          <a:xfrm>
            <a:off x="3723325" y="3028949"/>
            <a:ext cx="1330394" cy="1270001"/>
            <a:chOff x="0" y="215775"/>
            <a:chExt cx="1330392" cy="1270000"/>
          </a:xfrm>
        </p:grpSpPr>
        <p:sp>
          <p:nvSpPr>
            <p:cNvPr id="791"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792"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796" name="成组"/>
          <p:cNvGrpSpPr/>
          <p:nvPr/>
        </p:nvGrpSpPr>
        <p:grpSpPr>
          <a:xfrm>
            <a:off x="3565680" y="4997574"/>
            <a:ext cx="384891" cy="855823"/>
            <a:chOff x="0" y="0"/>
            <a:chExt cx="384889" cy="855822"/>
          </a:xfrm>
        </p:grpSpPr>
        <p:sp>
          <p:nvSpPr>
            <p:cNvPr id="794" name="Shape 812"/>
            <p:cNvSpPr txBox="1"/>
            <p:nvPr/>
          </p:nvSpPr>
          <p:spPr>
            <a:xfrm>
              <a:off x="60390"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795" name="Shape 813"/>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799" name="成组"/>
          <p:cNvGrpSpPr/>
          <p:nvPr/>
        </p:nvGrpSpPr>
        <p:grpSpPr>
          <a:xfrm>
            <a:off x="4523425" y="5797674"/>
            <a:ext cx="384893" cy="855823"/>
            <a:chOff x="0" y="0"/>
            <a:chExt cx="384891" cy="855822"/>
          </a:xfrm>
        </p:grpSpPr>
        <p:sp>
          <p:nvSpPr>
            <p:cNvPr id="797" name="Shape 814"/>
            <p:cNvSpPr txBox="1"/>
            <p:nvPr/>
          </p:nvSpPr>
          <p:spPr>
            <a:xfrm>
              <a:off x="60392"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798"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800" name="Shape 816"/>
          <p:cNvSpPr/>
          <p:nvPr/>
        </p:nvSpPr>
        <p:spPr>
          <a:xfrm>
            <a:off x="3546569" y="7631621"/>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sp>
        <p:nvSpPr>
          <p:cNvPr id="801" name="Shape 817"/>
          <p:cNvSpPr/>
          <p:nvPr/>
        </p:nvSpPr>
        <p:spPr>
          <a:xfrm flipV="1">
            <a:off x="3832439" y="7275565"/>
            <a:ext cx="341962" cy="3419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02" name="Shape 747"/>
          <p:cNvSpPr txBox="1"/>
          <p:nvPr>
            <p:ph type="title"/>
          </p:nvPr>
        </p:nvSpPr>
        <p:spPr>
          <a:xfrm>
            <a:off x="1611488" y="125588"/>
            <a:ext cx="9448801" cy="952501"/>
          </a:xfrm>
          <a:prstGeom prst="rect">
            <a:avLst/>
          </a:prstGeom>
        </p:spPr>
        <p:txBody>
          <a:bodyPr/>
          <a:lstStyle/>
          <a:p>
            <a:pPr/>
            <a:r>
              <a:t>remove(值复制)</a:t>
            </a:r>
          </a:p>
        </p:txBody>
      </p:sp>
      <p:grpSp>
        <p:nvGrpSpPr>
          <p:cNvPr id="805" name="Group 752"/>
          <p:cNvGrpSpPr/>
          <p:nvPr/>
        </p:nvGrpSpPr>
        <p:grpSpPr>
          <a:xfrm>
            <a:off x="3119570" y="3481111"/>
            <a:ext cx="747327" cy="745071"/>
            <a:chOff x="0" y="0"/>
            <a:chExt cx="747325" cy="745070"/>
          </a:xfrm>
        </p:grpSpPr>
        <p:sp>
          <p:nvSpPr>
            <p:cNvPr id="803"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04"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solidFill>
                    <a:schemeClr val="accent1"/>
                  </a:solidFill>
                  <a:uFill>
                    <a:solidFill>
                      <a:srgbClr val="000000"/>
                    </a:solidFill>
                  </a:uFill>
                </a:defRPr>
              </a:lvl1pPr>
            </a:lstStyle>
            <a:p>
              <a:pPr/>
              <a:r>
                <a:t>38</a:t>
              </a:r>
            </a:p>
          </p:txBody>
        </p:sp>
      </p:grpSp>
      <p:grpSp>
        <p:nvGrpSpPr>
          <p:cNvPr id="808" name="成组"/>
          <p:cNvGrpSpPr/>
          <p:nvPr/>
        </p:nvGrpSpPr>
        <p:grpSpPr>
          <a:xfrm>
            <a:off x="4736218" y="6231622"/>
            <a:ext cx="1317693" cy="1270001"/>
            <a:chOff x="0" y="215775"/>
            <a:chExt cx="1317692" cy="1270000"/>
          </a:xfrm>
        </p:grpSpPr>
        <p:sp>
          <p:nvSpPr>
            <p:cNvPr id="806" name="Shape 809"/>
            <p:cNvSpPr/>
            <p:nvPr/>
          </p:nvSpPr>
          <p:spPr>
            <a:xfrm>
              <a:off x="476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807"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809" name="Shape 665"/>
          <p:cNvSpPr txBox="1"/>
          <p:nvPr/>
        </p:nvSpPr>
        <p:spPr>
          <a:xfrm>
            <a:off x="6156426" y="8490675"/>
            <a:ext cx="6641900" cy="4928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20,30,31,32,37, </a:t>
            </a:r>
            <a:r>
              <a:rPr>
                <a:solidFill>
                  <a:srgbClr val="002D99"/>
                </a:solidFill>
                <a:uFill>
                  <a:solidFill>
                    <a:srgbClr val="002D99"/>
                  </a:solidFill>
                </a:uFill>
              </a:rPr>
              <a:t>38</a:t>
            </a:r>
            <a:r>
              <a:t>,42,45,</a:t>
            </a:r>
            <a:r>
              <a:rPr>
                <a:uFill>
                  <a:solidFill>
                    <a:srgbClr val="D90B00"/>
                  </a:solidFill>
                </a:uFill>
              </a:rPr>
              <a:t>50</a:t>
            </a:r>
            <a:r>
              <a:t>,80,90</a:t>
            </a:r>
          </a:p>
        </p:txBody>
      </p:sp>
      <p:sp>
        <p:nvSpPr>
          <p:cNvPr id="810" name="Shape 665"/>
          <p:cNvSpPr txBox="1"/>
          <p:nvPr/>
        </p:nvSpPr>
        <p:spPr>
          <a:xfrm>
            <a:off x="6040427" y="7613093"/>
            <a:ext cx="6309960" cy="4928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20,30,31,32,37, </a:t>
            </a:r>
            <a:r>
              <a:rPr>
                <a:solidFill>
                  <a:schemeClr val="accent5"/>
                </a:solidFill>
              </a:rPr>
              <a:t>38</a:t>
            </a:r>
            <a:r>
              <a:t>,</a:t>
            </a:r>
            <a:r>
              <a:rPr>
                <a:solidFill>
                  <a:srgbClr val="002D99"/>
                </a:solidFill>
                <a:uFill>
                  <a:solidFill>
                    <a:srgbClr val="002D99"/>
                  </a:solidFill>
                </a:uFill>
              </a:rPr>
              <a:t>38</a:t>
            </a:r>
            <a:r>
              <a:t>,42,45,</a:t>
            </a:r>
            <a:r>
              <a:rPr>
                <a:uFill>
                  <a:solidFill>
                    <a:srgbClr val="D90B00"/>
                  </a:solidFill>
                </a:uFill>
              </a:rPr>
              <a:t>50</a:t>
            </a:r>
            <a:r>
              <a:t>,80,90</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Subtype="0" presetID="1" grpId="1" fill="hold">
                                  <p:stCondLst>
                                    <p:cond delay="0"/>
                                  </p:stCondLst>
                                  <p:iterate type="el" backwards="0">
                                    <p:tmAbs val="0"/>
                                  </p:iterate>
                                  <p:childTnLst>
                                    <p:set>
                                      <p:cBhvr>
                                        <p:cTn id="6" fill="hold">
                                          <p:stCondLst>
                                            <p:cond delay="0"/>
                                          </p:stCondLst>
                                        </p:cTn>
                                        <p:tgtEl>
                                          <p:spTgt spid="790"/>
                                        </p:tgtEl>
                                        <p:attrNameLst>
                                          <p:attrName>style.visibility</p:attrName>
                                        </p:attrNameLst>
                                      </p:cBhvr>
                                      <p:to>
                                        <p:strVal val="hidden"/>
                                      </p:to>
                                    </p:set>
                                  </p:childTnLst>
                                </p:cTn>
                              </p:par>
                            </p:childTnLst>
                          </p:cTn>
                        </p:par>
                        <p:par>
                          <p:cTn id="7" fill="hold">
                            <p:stCondLst>
                              <p:cond delay="0"/>
                            </p:stCondLst>
                            <p:childTnLst>
                              <p:par>
                                <p:cTn id="8" presetClass="entr" nodeType="afterEffect" presetSubtype="0" presetID="1" grpId="2" fill="hold">
                                  <p:stCondLst>
                                    <p:cond delay="200"/>
                                  </p:stCondLst>
                                  <p:iterate type="el" backwards="0">
                                    <p:tmAbs val="0"/>
                                  </p:iterate>
                                  <p:childTnLst>
                                    <p:set>
                                      <p:cBhvr>
                                        <p:cTn id="9" fill="hold"/>
                                        <p:tgtEl>
                                          <p:spTgt spid="79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0" presetID="1" grpId="3" fill="hold">
                                  <p:stCondLst>
                                    <p:cond delay="0"/>
                                  </p:stCondLst>
                                  <p:iterate type="el" backwards="0">
                                    <p:tmAbs val="0"/>
                                  </p:iterate>
                                  <p:childTnLst>
                                    <p:set>
                                      <p:cBhvr>
                                        <p:cTn id="13" fill="hold"/>
                                        <p:tgtEl>
                                          <p:spTgt spid="79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Class="exit" nodeType="clickEffect" presetSubtype="0" presetID="1" grpId="4" fill="hold">
                                  <p:stCondLst>
                                    <p:cond delay="0"/>
                                  </p:stCondLst>
                                  <p:iterate type="el" backwards="0">
                                    <p:tmAbs val="0"/>
                                  </p:iterate>
                                  <p:childTnLst>
                                    <p:set>
                                      <p:cBhvr>
                                        <p:cTn id="17" fill="hold">
                                          <p:stCondLst>
                                            <p:cond delay="0"/>
                                          </p:stCondLst>
                                        </p:cTn>
                                        <p:tgtEl>
                                          <p:spTgt spid="776"/>
                                        </p:tgtEl>
                                        <p:attrNameLst>
                                          <p:attrName>style.visibility</p:attrName>
                                        </p:attrNameLst>
                                      </p:cBhvr>
                                      <p:to>
                                        <p:strVal val="hidden"/>
                                      </p:to>
                                    </p:set>
                                  </p:childTnLst>
                                </p:cTn>
                              </p:par>
                            </p:childTnLst>
                          </p:cTn>
                        </p:par>
                        <p:par>
                          <p:cTn id="18" fill="hold">
                            <p:stCondLst>
                              <p:cond delay="0"/>
                            </p:stCondLst>
                            <p:childTnLst>
                              <p:par>
                                <p:cTn id="19" presetClass="entr" nodeType="afterEffect" presetSubtype="0" presetID="1" grpId="5" fill="hold">
                                  <p:stCondLst>
                                    <p:cond delay="200"/>
                                  </p:stCondLst>
                                  <p:iterate type="el" backwards="0">
                                    <p:tmAbs val="0"/>
                                  </p:iterate>
                                  <p:childTnLst>
                                    <p:set>
                                      <p:cBhvr>
                                        <p:cTn id="20" fill="hold"/>
                                        <p:tgtEl>
                                          <p:spTgt spid="80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xit" nodeType="clickEffect" presetSubtype="0" presetID="1" grpId="6" fill="hold">
                                  <p:stCondLst>
                                    <p:cond delay="0"/>
                                  </p:stCondLst>
                                  <p:iterate type="el" backwards="0">
                                    <p:tmAbs val="0"/>
                                  </p:iterate>
                                  <p:childTnLst>
                                    <p:set>
                                      <p:cBhvr>
                                        <p:cTn id="24" fill="hold">
                                          <p:stCondLst>
                                            <p:cond delay="0"/>
                                          </p:stCondLst>
                                        </p:cTn>
                                        <p:tgtEl>
                                          <p:spTgt spid="793"/>
                                        </p:tgtEl>
                                        <p:attrNameLst>
                                          <p:attrName>style.visibility</p:attrName>
                                        </p:attrNameLst>
                                      </p:cBhvr>
                                      <p:to>
                                        <p:strVal val="hidden"/>
                                      </p:to>
                                    </p:set>
                                  </p:childTnLst>
                                </p:cTn>
                              </p:par>
                            </p:childTnLst>
                          </p:cTn>
                        </p:par>
                        <p:par>
                          <p:cTn id="25" fill="hold">
                            <p:stCondLst>
                              <p:cond delay="0"/>
                            </p:stCondLst>
                            <p:childTnLst>
                              <p:par>
                                <p:cTn id="26" presetClass="entr" nodeType="afterEffect" presetSubtype="0" presetID="1" grpId="7" fill="hold">
                                  <p:stCondLst>
                                    <p:cond delay="200"/>
                                  </p:stCondLst>
                                  <p:iterate type="el" backwards="0">
                                    <p:tmAbs val="0"/>
                                  </p:iterate>
                                  <p:childTnLst>
                                    <p:set>
                                      <p:cBhvr>
                                        <p:cTn id="27" fill="hold"/>
                                        <p:tgtEl>
                                          <p:spTgt spid="80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0" presetID="1" grpId="8" fill="hold">
                                  <p:stCondLst>
                                    <p:cond delay="0"/>
                                  </p:stCondLst>
                                  <p:iterate type="el" backwards="0">
                                    <p:tmAbs val="0"/>
                                  </p:iterate>
                                  <p:childTnLst>
                                    <p:set>
                                      <p:cBhvr>
                                        <p:cTn id="31" fill="hold"/>
                                        <p:tgtEl>
                                          <p:spTgt spid="8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0" presetID="1" grpId="9" fill="hold">
                                  <p:stCondLst>
                                    <p:cond delay="0"/>
                                  </p:stCondLst>
                                  <p:iterate type="el" backwards="0">
                                    <p:tmAbs val="0"/>
                                  </p:iterate>
                                  <p:childTnLst>
                                    <p:set>
                                      <p:cBhvr>
                                        <p:cTn id="35" fill="hold"/>
                                        <p:tgtEl>
                                          <p:spTgt spid="8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76" grpId="4"/>
      <p:bldP build="whole" bldLvl="1" animBg="1" rev="0" advAuto="0" spid="805" grpId="5"/>
      <p:bldP build="whole" bldLvl="1" animBg="1" rev="0" advAuto="0" spid="799" grpId="3"/>
      <p:bldP build="whole" bldLvl="1" animBg="1" rev="0" advAuto="0" spid="809" grpId="9"/>
      <p:bldP build="whole" bldLvl="1" animBg="1" rev="0" advAuto="0" spid="810" grpId="8"/>
      <p:bldP build="whole" bldLvl="1" animBg="1" rev="0" advAuto="0" spid="793" grpId="6"/>
      <p:bldP build="whole" bldLvl="1" animBg="1" rev="0" advAuto="0" spid="796" grpId="2"/>
      <p:bldP build="whole" bldLvl="1" animBg="1" rev="0" advAuto="0" spid="790" grpId="1"/>
      <p:bldP build="whole" bldLvl="1" animBg="1" rev="0" advAuto="0" spid="808" grpId="7"/>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2" name="Shape 370"/>
          <p:cNvSpPr txBox="1"/>
          <p:nvPr>
            <p:ph type="title"/>
          </p:nvPr>
        </p:nvSpPr>
        <p:spPr>
          <a:xfrm>
            <a:off x="1611488" y="125588"/>
            <a:ext cx="9448801" cy="952501"/>
          </a:xfrm>
          <a:prstGeom prst="rect">
            <a:avLst/>
          </a:prstGeom>
        </p:spPr>
        <p:txBody>
          <a:bodyPr/>
          <a:lstStyle/>
          <a:p>
            <a:pPr/>
            <a:r>
              <a:t>remove：分别处理</a:t>
            </a:r>
          </a:p>
        </p:txBody>
      </p:sp>
      <p:sp>
        <p:nvSpPr>
          <p:cNvPr id="813" name="1、查找要删除的结点…"/>
          <p:cNvSpPr txBox="1"/>
          <p:nvPr/>
        </p:nvSpPr>
        <p:spPr>
          <a:xfrm>
            <a:off x="962531" y="1521173"/>
            <a:ext cx="4785958" cy="226757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50000"/>
              </a:lnSpc>
            </a:pPr>
            <a:r>
              <a:t>1、查找要删除的结点</a:t>
            </a:r>
          </a:p>
          <a:p>
            <a:pPr>
              <a:lnSpc>
                <a:spcPct val="150000"/>
              </a:lnSpc>
            </a:pPr>
            <a:r>
              <a:t>2、分别处理4种情形</a:t>
            </a:r>
          </a:p>
          <a:p>
            <a:pPr>
              <a:lnSpc>
                <a:spcPct val="150000"/>
              </a:lnSpc>
            </a:pPr>
            <a:r>
              <a:t>3、size--、帮助GC、返回值</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5" name="Shape 370"/>
          <p:cNvSpPr txBox="1"/>
          <p:nvPr>
            <p:ph type="title"/>
          </p:nvPr>
        </p:nvSpPr>
        <p:spPr>
          <a:xfrm>
            <a:off x="1611488" y="125588"/>
            <a:ext cx="9448801" cy="952501"/>
          </a:xfrm>
          <a:prstGeom prst="rect">
            <a:avLst/>
          </a:prstGeom>
        </p:spPr>
        <p:txBody>
          <a:bodyPr/>
          <a:lstStyle/>
          <a:p>
            <a:pPr/>
            <a:r>
              <a:t>remove：分别处理</a:t>
            </a:r>
          </a:p>
        </p:txBody>
      </p:sp>
      <p:sp>
        <p:nvSpPr>
          <p:cNvPr id="816" name="// 删除指定key的&lt;key, value&gt;,返回value，如果key不存在，返回null…"/>
          <p:cNvSpPr txBox="1"/>
          <p:nvPr/>
        </p:nvSpPr>
        <p:spPr>
          <a:xfrm>
            <a:off x="218740" y="1594203"/>
            <a:ext cx="12597743" cy="66558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200">
                <a:solidFill>
                  <a:srgbClr val="4E9072"/>
                </a:solidFill>
                <a:latin typeface="Monaco"/>
                <a:ea typeface="Monaco"/>
                <a:cs typeface="Monaco"/>
                <a:sym typeface="Monaco"/>
              </a:defRPr>
            </a:pPr>
            <a:r>
              <a:rPr>
                <a:solidFill>
                  <a:srgbClr val="000000"/>
                </a:solidFill>
              </a:rPr>
              <a:t>	</a:t>
            </a:r>
            <a:r>
              <a:t>// 删除指定key的&lt;key, value&gt;,返回value，如果key不存在，返回null</a:t>
            </a:r>
            <a:endParaRPr>
              <a:solidFill>
                <a:srgbClr val="000000"/>
              </a:solidFill>
            </a:endParaRPr>
          </a:p>
          <a:p>
            <a:pPr indent="0">
              <a:defRPr sz="2200">
                <a:latin typeface="Monaco"/>
                <a:ea typeface="Monaco"/>
                <a:cs typeface="Monaco"/>
                <a:sym typeface="Monaco"/>
              </a:defRPr>
            </a:pPr>
            <a:r>
              <a:t>	</a:t>
            </a:r>
            <a:r>
              <a:rPr>
                <a:solidFill>
                  <a:srgbClr val="931A68"/>
                </a:solidFill>
              </a:rPr>
              <a:t>public</a:t>
            </a:r>
            <a:r>
              <a:t> V remove(K </a:t>
            </a:r>
            <a:r>
              <a:rPr>
                <a:solidFill>
                  <a:srgbClr val="7E504F"/>
                </a:solidFill>
              </a:rPr>
              <a:t>key</a:t>
            </a:r>
            <a:r>
              <a:t>) {</a:t>
            </a:r>
          </a:p>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0326CC"/>
                </a:solidFill>
              </a:rPr>
              <a:t>root</a:t>
            </a:r>
            <a:r>
              <a:rPr>
                <a:solidFill>
                  <a:srgbClr val="000000"/>
                </a:solidFill>
              </a:rPr>
              <a:t> == </a:t>
            </a:r>
            <a:r>
              <a:rPr>
                <a:solidFill>
                  <a:srgbClr val="931A68"/>
                </a:solidFill>
              </a:rPr>
              <a:t>null</a:t>
            </a:r>
            <a:r>
              <a:rPr>
                <a:solidFill>
                  <a:srgbClr val="000000"/>
                </a:solidFill>
              </a:rPr>
              <a:t>) </a:t>
            </a:r>
            <a:r>
              <a:t>// 空树</a:t>
            </a:r>
            <a:endParaRPr>
              <a:solidFill>
                <a:srgbClr val="000000"/>
              </a:solidFill>
            </a:endParaRPr>
          </a:p>
          <a:p>
            <a:pPr indent="0">
              <a:defRPr sz="22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200">
                <a:latin typeface="Monaco"/>
                <a:ea typeface="Monaco"/>
                <a:cs typeface="Monaco"/>
                <a:sym typeface="Monaco"/>
              </a:defRPr>
            </a:pPr>
            <a:r>
              <a:t>		Objects.requireNonNull(</a:t>
            </a:r>
            <a:r>
              <a:rPr>
                <a:solidFill>
                  <a:srgbClr val="7E504F"/>
                </a:solidFill>
              </a:rPr>
              <a:t>key</a:t>
            </a:r>
            <a:r>
              <a:t>);</a:t>
            </a:r>
          </a:p>
          <a:p>
            <a:pPr indent="0">
              <a:defRPr sz="2200">
                <a:solidFill>
                  <a:srgbClr val="4E9072"/>
                </a:solidFill>
                <a:latin typeface="Monaco"/>
                <a:ea typeface="Monaco"/>
                <a:cs typeface="Monaco"/>
                <a:sym typeface="Monaco"/>
              </a:defRPr>
            </a:pPr>
            <a:r>
              <a:rPr>
                <a:solidFill>
                  <a:srgbClr val="000000"/>
                </a:solidFill>
              </a:rPr>
              <a:t>		</a:t>
            </a:r>
            <a:r>
              <a:t>// 查找要删除的结点c，p是其父结点</a:t>
            </a:r>
            <a:endParaRPr>
              <a:solidFill>
                <a:srgbClr val="000000"/>
              </a:solidFill>
            </a:endParaRPr>
          </a:p>
          <a:p>
            <a:pPr indent="0">
              <a:defRPr sz="2200">
                <a:latin typeface="Monaco"/>
                <a:ea typeface="Monaco"/>
                <a:cs typeface="Monaco"/>
                <a:sym typeface="Monaco"/>
              </a:defRPr>
            </a:pPr>
            <a:r>
              <a:t>		Node&lt;K, V&gt; </a:t>
            </a:r>
            <a:r>
              <a:rPr>
                <a:solidFill>
                  <a:srgbClr val="7E504F"/>
                </a:solidFill>
              </a:rPr>
              <a:t>p</a:t>
            </a:r>
            <a:r>
              <a:t> = </a:t>
            </a:r>
            <a:r>
              <a:rPr>
                <a:solidFill>
                  <a:srgbClr val="0326CC"/>
                </a:solidFill>
              </a:rPr>
              <a:t>root</a:t>
            </a:r>
            <a:r>
              <a:t>, </a:t>
            </a:r>
            <a:r>
              <a:rPr>
                <a:solidFill>
                  <a:srgbClr val="7E504F"/>
                </a:solidFill>
              </a:rPr>
              <a:t>c</a:t>
            </a:r>
            <a:r>
              <a:t> = </a:t>
            </a:r>
            <a:r>
              <a:rPr>
                <a:solidFill>
                  <a:srgbClr val="0326CC"/>
                </a:solidFill>
              </a:rPr>
              <a:t>root</a:t>
            </a:r>
            <a:r>
              <a:t>;</a:t>
            </a:r>
          </a:p>
          <a:p>
            <a:pPr indent="0">
              <a:defRPr sz="2200">
                <a:latin typeface="Monaco"/>
                <a:ea typeface="Monaco"/>
                <a:cs typeface="Monaco"/>
                <a:sym typeface="Monaco"/>
              </a:defRPr>
            </a:pPr>
            <a:r>
              <a:t>		</a:t>
            </a:r>
            <a:r>
              <a:rPr>
                <a:solidFill>
                  <a:srgbClr val="931A68"/>
                </a:solidFill>
              </a:rPr>
              <a:t>int</a:t>
            </a:r>
            <a:r>
              <a:t> </a:t>
            </a:r>
            <a:r>
              <a:rPr>
                <a:solidFill>
                  <a:srgbClr val="7E504F"/>
                </a:solidFill>
              </a:rPr>
              <a:t>cmp</a:t>
            </a:r>
            <a:r>
              <a:t> = 0;</a:t>
            </a:r>
          </a:p>
          <a:p>
            <a:pPr indent="0">
              <a:defRPr sz="2200">
                <a:latin typeface="Monaco"/>
                <a:ea typeface="Monaco"/>
                <a:cs typeface="Monaco"/>
                <a:sym typeface="Monaco"/>
              </a:defRPr>
            </a:pPr>
            <a:r>
              <a:t>		</a:t>
            </a:r>
            <a:r>
              <a:rPr>
                <a:solidFill>
                  <a:srgbClr val="931A68"/>
                </a:solidFill>
              </a:rPr>
              <a:t>while</a:t>
            </a:r>
            <a:r>
              <a:t> ((</a:t>
            </a:r>
            <a:r>
              <a:rPr>
                <a:solidFill>
                  <a:srgbClr val="7E504F"/>
                </a:solidFill>
              </a:rPr>
              <a:t>cmp</a:t>
            </a:r>
            <a:r>
              <a:t> = ((Comparable&lt;? </a:t>
            </a:r>
            <a:r>
              <a:rPr>
                <a:solidFill>
                  <a:srgbClr val="931A68"/>
                </a:solidFill>
              </a:rPr>
              <a:t>super</a:t>
            </a:r>
            <a:r>
              <a:t> K&gt;) </a:t>
            </a:r>
            <a:r>
              <a:rPr>
                <a:solidFill>
                  <a:srgbClr val="7E504F"/>
                </a:solidFill>
              </a:rPr>
              <a:t>key</a:t>
            </a:r>
            <a:r>
              <a:t>).compareTo(</a:t>
            </a:r>
            <a:r>
              <a:rPr>
                <a:solidFill>
                  <a:srgbClr val="7E504F"/>
                </a:solidFill>
              </a:rPr>
              <a:t>c</a:t>
            </a:r>
            <a:r>
              <a:t>.</a:t>
            </a:r>
            <a:r>
              <a:rPr>
                <a:solidFill>
                  <a:srgbClr val="0326CC"/>
                </a:solidFill>
              </a:rPr>
              <a:t>key</a:t>
            </a:r>
            <a:r>
              <a:t>)) != 0) {</a:t>
            </a:r>
          </a:p>
          <a:p>
            <a:pPr indent="0">
              <a:defRPr sz="2200">
                <a:latin typeface="Monaco"/>
                <a:ea typeface="Monaco"/>
                <a:cs typeface="Monaco"/>
                <a:sym typeface="Monaco"/>
              </a:defRPr>
            </a:pPr>
            <a:r>
              <a:t>			</a:t>
            </a:r>
            <a:r>
              <a:rPr>
                <a:solidFill>
                  <a:srgbClr val="7E504F"/>
                </a:solidFill>
              </a:rPr>
              <a:t>p</a:t>
            </a:r>
            <a:r>
              <a:t> = </a:t>
            </a:r>
            <a:r>
              <a:rPr>
                <a:solidFill>
                  <a:srgbClr val="7E504F"/>
                </a:solidFill>
              </a:rPr>
              <a:t>c</a:t>
            </a:r>
            <a:r>
              <a:t>;</a:t>
            </a:r>
          </a:p>
          <a:p>
            <a:pPr indent="0">
              <a:defRPr sz="2200">
                <a:latin typeface="Monaco"/>
                <a:ea typeface="Monaco"/>
                <a:cs typeface="Monaco"/>
                <a:sym typeface="Monaco"/>
              </a:defRPr>
            </a:pPr>
            <a:r>
              <a:t>			</a:t>
            </a:r>
            <a:r>
              <a:rPr>
                <a:solidFill>
                  <a:srgbClr val="931A68"/>
                </a:solidFill>
              </a:rPr>
              <a:t>if</a:t>
            </a:r>
            <a:r>
              <a:t> (</a:t>
            </a:r>
            <a:r>
              <a:rPr>
                <a:solidFill>
                  <a:srgbClr val="7E504F"/>
                </a:solidFill>
              </a:rPr>
              <a:t>cmp</a:t>
            </a:r>
            <a:r>
              <a:t> &lt; 0)</a:t>
            </a:r>
          </a:p>
          <a:p>
            <a:pPr indent="0">
              <a:defRPr sz="2200">
                <a:latin typeface="Monaco"/>
                <a:ea typeface="Monaco"/>
                <a:cs typeface="Monaco"/>
                <a:sym typeface="Monaco"/>
              </a:defRPr>
            </a:pPr>
            <a:r>
              <a:t>				</a:t>
            </a:r>
            <a:r>
              <a:rPr>
                <a:solidFill>
                  <a:srgbClr val="7E504F"/>
                </a:solidFill>
              </a:rPr>
              <a:t>c</a:t>
            </a:r>
            <a:r>
              <a:t> = </a:t>
            </a:r>
            <a:r>
              <a:rPr>
                <a:solidFill>
                  <a:srgbClr val="7E504F"/>
                </a:solidFill>
              </a:rPr>
              <a:t>c</a:t>
            </a:r>
            <a:r>
              <a:t>.</a:t>
            </a:r>
            <a:r>
              <a:rPr>
                <a:solidFill>
                  <a:srgbClr val="0326CC"/>
                </a:solidFill>
              </a:rPr>
              <a:t>left</a:t>
            </a:r>
            <a:r>
              <a:t>;</a:t>
            </a:r>
          </a:p>
          <a:p>
            <a:pPr indent="0">
              <a:defRPr sz="22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2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 = </a:t>
            </a:r>
            <a:r>
              <a:rPr>
                <a:solidFill>
                  <a:srgbClr val="7E504F"/>
                </a:solidFill>
              </a:rPr>
              <a:t>c</a:t>
            </a:r>
            <a:r>
              <a:rPr>
                <a:solidFill>
                  <a:srgbClr val="000000"/>
                </a:solidFill>
              </a:rPr>
              <a:t>.</a:t>
            </a:r>
            <a:r>
              <a:t>right</a:t>
            </a:r>
            <a:r>
              <a:rPr>
                <a:solidFill>
                  <a:srgbClr val="000000"/>
                </a:solidFill>
              </a:rPr>
              <a:t>;</a:t>
            </a:r>
            <a:endParaRPr>
              <a:solidFill>
                <a:srgbClr val="000000"/>
              </a:solidFill>
            </a:endParaRPr>
          </a:p>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 == </a:t>
            </a:r>
            <a:r>
              <a:rPr>
                <a:solidFill>
                  <a:srgbClr val="931A68"/>
                </a:solidFill>
              </a:rPr>
              <a:t>null</a:t>
            </a:r>
            <a:r>
              <a:rPr>
                <a:solidFill>
                  <a:srgbClr val="000000"/>
                </a:solidFill>
              </a:rPr>
              <a:t>)</a:t>
            </a:r>
            <a:r>
              <a:t>// 没有结点与要删除的key相等</a:t>
            </a:r>
            <a:endParaRPr>
              <a:solidFill>
                <a:srgbClr val="000000"/>
              </a:solidFill>
            </a:endParaRPr>
          </a:p>
          <a:p>
            <a:pPr indent="0">
              <a:defRPr sz="22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2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8" name="Shape 370"/>
          <p:cNvSpPr txBox="1"/>
          <p:nvPr>
            <p:ph type="title"/>
          </p:nvPr>
        </p:nvSpPr>
        <p:spPr>
          <a:xfrm>
            <a:off x="1611488" y="125588"/>
            <a:ext cx="9448801" cy="952501"/>
          </a:xfrm>
          <a:prstGeom prst="rect">
            <a:avLst/>
          </a:prstGeom>
        </p:spPr>
        <p:txBody>
          <a:bodyPr/>
          <a:lstStyle/>
          <a:p>
            <a:pPr/>
            <a:r>
              <a:t>remove：分别处理</a:t>
            </a:r>
          </a:p>
        </p:txBody>
      </p:sp>
      <p:sp>
        <p:nvSpPr>
          <p:cNvPr id="819" name="if (c.left == null &amp;&amp; c.right == null) {// 叶子结点…"/>
          <p:cNvSpPr txBox="1"/>
          <p:nvPr/>
        </p:nvSpPr>
        <p:spPr>
          <a:xfrm>
            <a:off x="1489096" y="1238671"/>
            <a:ext cx="10026608" cy="802539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r>
              <a:t>// 叶子结点</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0326CC"/>
                </a:solidFill>
              </a:rPr>
              <a:t>root</a:t>
            </a:r>
            <a:r>
              <a:t>) {</a:t>
            </a:r>
          </a:p>
          <a:p>
            <a:pPr indent="0">
              <a:defRPr sz="2300">
                <a:latin typeface="Monaco"/>
                <a:ea typeface="Monaco"/>
                <a:cs typeface="Monaco"/>
                <a:sym typeface="Monaco"/>
              </a:defRPr>
            </a:pPr>
            <a:r>
              <a:t>				</a:t>
            </a:r>
            <a:r>
              <a:rPr>
                <a:solidFill>
                  <a:srgbClr val="0326CC"/>
                </a:solidFill>
              </a:rPr>
              <a:t>root</a:t>
            </a:r>
            <a:r>
              <a:t> = </a:t>
            </a:r>
            <a:r>
              <a:rPr>
                <a:solidFill>
                  <a:srgbClr val="931A68"/>
                </a:solidFill>
              </a:rPr>
              <a:t>null</a:t>
            </a:r>
            <a:r>
              <a:t>;</a:t>
            </a:r>
          </a:p>
          <a:p>
            <a:pPr indent="0">
              <a:defRPr sz="2300">
                <a:latin typeface="Monaco"/>
                <a:ea typeface="Monaco"/>
                <a:cs typeface="Monaco"/>
                <a:sym typeface="Monaco"/>
              </a:defRPr>
            </a:pPr>
            <a:r>
              <a:t>			} </a:t>
            </a:r>
            <a:r>
              <a:rPr>
                <a:solidFill>
                  <a:srgbClr val="931A68"/>
                </a:solidFill>
              </a:rPr>
              <a:t>else</a:t>
            </a:r>
            <a:r>
              <a:t> {</a:t>
            </a: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u="sng">
                <a:solidFill>
                  <a:srgbClr val="7E504F"/>
                </a:solidFill>
              </a:rPr>
              <a:t>p</a:t>
            </a:r>
            <a:r>
              <a:t>.</a:t>
            </a:r>
            <a:r>
              <a:rPr>
                <a:solidFill>
                  <a:srgbClr val="0326CC"/>
                </a:solidFill>
              </a:rPr>
              <a:t>left</a:t>
            </a:r>
            <a:r>
              <a:t>)</a:t>
            </a:r>
          </a:p>
          <a:p>
            <a:pPr indent="0">
              <a:defRPr sz="23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931A68"/>
                </a:solidFill>
              </a:rPr>
              <a:t>null</a:t>
            </a:r>
            <a:r>
              <a:t>;</a:t>
            </a:r>
          </a:p>
          <a:p>
            <a:pPr indent="0">
              <a:defRPr sz="2300">
                <a:latin typeface="Monaco"/>
                <a:ea typeface="Monaco"/>
                <a:cs typeface="Monaco"/>
                <a:sym typeface="Monaco"/>
              </a:defRPr>
            </a:pPr>
            <a:r>
              <a:t>				</a:t>
            </a:r>
            <a:r>
              <a:rPr>
                <a:solidFill>
                  <a:srgbClr val="931A68"/>
                </a:solidFill>
              </a:rPr>
              <a:t>else</a:t>
            </a:r>
          </a:p>
          <a:p>
            <a:pPr indent="0">
              <a:defRPr sz="2300">
                <a:latin typeface="Monaco"/>
                <a:ea typeface="Monaco"/>
                <a:cs typeface="Monaco"/>
                <a:sym typeface="Monaco"/>
              </a:defRPr>
            </a:pPr>
            <a:r>
              <a:t>					</a:t>
            </a:r>
            <a:r>
              <a:rPr>
                <a:solidFill>
                  <a:srgbClr val="7E504F"/>
                </a:solidFill>
              </a:rPr>
              <a:t>p</a:t>
            </a:r>
            <a:r>
              <a:t>.</a:t>
            </a:r>
            <a:r>
              <a:rPr>
                <a:solidFill>
                  <a:srgbClr val="0326CC"/>
                </a:solidFill>
              </a:rPr>
              <a:t>right</a:t>
            </a:r>
            <a:r>
              <a:t> = </a:t>
            </a:r>
            <a:r>
              <a:rPr>
                <a:solidFill>
                  <a:srgbClr val="931A68"/>
                </a:solidFill>
              </a:rPr>
              <a:t>null</a:t>
            </a:r>
            <a:r>
              <a:t>;</a:t>
            </a: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p>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r>
              <a:t>// 只有左子树</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0326CC"/>
                </a:solidFill>
              </a:rPr>
              <a:t>root</a:t>
            </a:r>
            <a:r>
              <a:t>)</a:t>
            </a:r>
          </a:p>
          <a:p>
            <a:pPr indent="0">
              <a:defRPr sz="2300">
                <a:latin typeface="Monaco"/>
                <a:ea typeface="Monaco"/>
                <a:cs typeface="Monaco"/>
                <a:sym typeface="Monaco"/>
              </a:defRPr>
            </a:pPr>
            <a:r>
              <a:t>				</a:t>
            </a:r>
            <a:r>
              <a:rPr>
                <a:solidFill>
                  <a:srgbClr val="0326CC"/>
                </a:solidFill>
              </a:rPr>
              <a:t>root</a:t>
            </a:r>
            <a:r>
              <a:t> = </a:t>
            </a:r>
            <a:r>
              <a:rPr>
                <a:solidFill>
                  <a:srgbClr val="7E504F"/>
                </a:solidFill>
              </a:rPr>
              <a:t>c</a:t>
            </a:r>
            <a:r>
              <a:t>.</a:t>
            </a:r>
            <a:r>
              <a:rPr>
                <a:solidFill>
                  <a:srgbClr val="0326CC"/>
                </a:solidFill>
              </a:rPr>
              <a:t>left</a:t>
            </a:r>
            <a:r>
              <a:t>;</a:t>
            </a:r>
          </a:p>
          <a:p>
            <a:pPr indent="0">
              <a:defRPr sz="2300">
                <a:solidFill>
                  <a:srgbClr val="931A68"/>
                </a:solidFill>
                <a:latin typeface="Monaco"/>
                <a:ea typeface="Monaco"/>
                <a:cs typeface="Monaco"/>
                <a:sym typeface="Monaco"/>
              </a:defRPr>
            </a:pPr>
            <a:r>
              <a:rPr>
                <a:solidFill>
                  <a:srgbClr val="000000"/>
                </a:solidFill>
              </a:rPr>
              <a:t>			</a:t>
            </a:r>
            <a:r>
              <a:t>else</a:t>
            </a:r>
            <a:r>
              <a:rPr>
                <a:solidFill>
                  <a:srgbClr val="000000"/>
                </a:solidFill>
              </a:rPr>
              <a:t> {</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u="sng">
                <a:solidFill>
                  <a:srgbClr val="7E504F"/>
                </a:solidFill>
              </a:rPr>
              <a:t>p</a:t>
            </a:r>
            <a:r>
              <a:t>.</a:t>
            </a:r>
            <a:r>
              <a:rPr>
                <a:solidFill>
                  <a:srgbClr val="0326CC"/>
                </a:solidFill>
              </a:rPr>
              <a:t>left</a:t>
            </a:r>
            <a:r>
              <a:t>)</a:t>
            </a:r>
          </a:p>
          <a:p>
            <a:pPr indent="0">
              <a:defRPr sz="23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7E504F"/>
                </a:solidFill>
              </a:rPr>
              <a:t>c</a:t>
            </a:r>
            <a:r>
              <a:t>.</a:t>
            </a:r>
            <a:r>
              <a:rPr>
                <a:solidFill>
                  <a:srgbClr val="0326CC"/>
                </a:solidFill>
              </a:rPr>
              <a:t>left</a:t>
            </a:r>
            <a:r>
              <a:t>;</a:t>
            </a:r>
          </a:p>
          <a:p>
            <a:pPr indent="0">
              <a:defRPr sz="2300">
                <a:latin typeface="Monaco"/>
                <a:ea typeface="Monaco"/>
                <a:cs typeface="Monaco"/>
                <a:sym typeface="Monaco"/>
              </a:defRPr>
            </a:pPr>
            <a:r>
              <a:t>				</a:t>
            </a:r>
            <a:r>
              <a:rPr>
                <a:solidFill>
                  <a:srgbClr val="931A68"/>
                </a:solidFill>
              </a:rPr>
              <a:t>else</a:t>
            </a:r>
          </a:p>
          <a:p>
            <a:pPr indent="0">
              <a:defRPr sz="2300">
                <a:latin typeface="Monaco"/>
                <a:ea typeface="Monaco"/>
                <a:cs typeface="Monaco"/>
                <a:sym typeface="Monaco"/>
              </a:defRPr>
            </a:pPr>
            <a:r>
              <a:t>					</a:t>
            </a:r>
            <a:r>
              <a:rPr>
                <a:solidFill>
                  <a:srgbClr val="7E504F"/>
                </a:solidFill>
              </a:rPr>
              <a:t>p</a:t>
            </a:r>
            <a:r>
              <a:t>.</a:t>
            </a:r>
            <a:r>
              <a:rPr>
                <a:solidFill>
                  <a:srgbClr val="0326CC"/>
                </a:solidFill>
              </a:rPr>
              <a:t>right</a:t>
            </a:r>
            <a:r>
              <a:t> = </a:t>
            </a:r>
            <a:r>
              <a:rPr>
                <a:solidFill>
                  <a:srgbClr val="7E504F"/>
                </a:solidFill>
              </a:rPr>
              <a:t>c</a:t>
            </a:r>
            <a:r>
              <a:t>.</a:t>
            </a:r>
            <a:r>
              <a:rPr>
                <a:solidFill>
                  <a:srgbClr val="0326CC"/>
                </a:solidFill>
              </a:rPr>
              <a:t>left</a:t>
            </a:r>
            <a:r>
              <a:t>;</a:t>
            </a: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1" name="Shape 370"/>
          <p:cNvSpPr txBox="1"/>
          <p:nvPr>
            <p:ph type="title"/>
          </p:nvPr>
        </p:nvSpPr>
        <p:spPr>
          <a:xfrm>
            <a:off x="1611488" y="125588"/>
            <a:ext cx="9448801" cy="952501"/>
          </a:xfrm>
          <a:prstGeom prst="rect">
            <a:avLst/>
          </a:prstGeom>
        </p:spPr>
        <p:txBody>
          <a:bodyPr/>
          <a:lstStyle/>
          <a:p>
            <a:pPr/>
            <a:r>
              <a:t>remove：分别处理</a:t>
            </a:r>
          </a:p>
        </p:txBody>
      </p:sp>
      <p:sp>
        <p:nvSpPr>
          <p:cNvPr id="822" name="if (c.left != null &amp;&amp; c.right == null) {// 只有左子树…"/>
          <p:cNvSpPr txBox="1"/>
          <p:nvPr/>
        </p:nvSpPr>
        <p:spPr>
          <a:xfrm>
            <a:off x="1322585" y="1397375"/>
            <a:ext cx="10026607" cy="80253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r>
              <a:t>// 只有左子树</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0326CC"/>
                </a:solidFill>
              </a:rPr>
              <a:t>root</a:t>
            </a:r>
            <a:r>
              <a:t>)</a:t>
            </a:r>
          </a:p>
          <a:p>
            <a:pPr indent="0">
              <a:defRPr sz="2300">
                <a:latin typeface="Monaco"/>
                <a:ea typeface="Monaco"/>
                <a:cs typeface="Monaco"/>
                <a:sym typeface="Monaco"/>
              </a:defRPr>
            </a:pPr>
            <a:r>
              <a:t>				</a:t>
            </a:r>
            <a:r>
              <a:rPr>
                <a:solidFill>
                  <a:srgbClr val="0326CC"/>
                </a:solidFill>
              </a:rPr>
              <a:t>root</a:t>
            </a:r>
            <a:r>
              <a:t> = </a:t>
            </a:r>
            <a:r>
              <a:rPr>
                <a:solidFill>
                  <a:srgbClr val="7E504F"/>
                </a:solidFill>
              </a:rPr>
              <a:t>c</a:t>
            </a:r>
            <a:r>
              <a:t>.</a:t>
            </a:r>
            <a:r>
              <a:rPr>
                <a:solidFill>
                  <a:srgbClr val="0326CC"/>
                </a:solidFill>
              </a:rPr>
              <a:t>left</a:t>
            </a:r>
            <a:r>
              <a:t>;</a:t>
            </a:r>
          </a:p>
          <a:p>
            <a:pPr indent="0">
              <a:defRPr sz="2300">
                <a:solidFill>
                  <a:srgbClr val="931A68"/>
                </a:solidFill>
                <a:latin typeface="Monaco"/>
                <a:ea typeface="Monaco"/>
                <a:cs typeface="Monaco"/>
                <a:sym typeface="Monaco"/>
              </a:defRPr>
            </a:pPr>
            <a:r>
              <a:rPr>
                <a:solidFill>
                  <a:srgbClr val="000000"/>
                </a:solidFill>
              </a:rPr>
              <a:t>			</a:t>
            </a:r>
            <a:r>
              <a:t>else</a:t>
            </a:r>
            <a:r>
              <a:rPr>
                <a:solidFill>
                  <a:srgbClr val="000000"/>
                </a:solidFill>
              </a:rPr>
              <a:t> {</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u="sng">
                <a:solidFill>
                  <a:srgbClr val="7E504F"/>
                </a:solidFill>
              </a:rPr>
              <a:t>p</a:t>
            </a:r>
            <a:r>
              <a:t>.</a:t>
            </a:r>
            <a:r>
              <a:rPr>
                <a:solidFill>
                  <a:srgbClr val="0326CC"/>
                </a:solidFill>
              </a:rPr>
              <a:t>left</a:t>
            </a:r>
            <a:r>
              <a:t>)</a:t>
            </a:r>
          </a:p>
          <a:p>
            <a:pPr indent="0">
              <a:defRPr sz="23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7E504F"/>
                </a:solidFill>
              </a:rPr>
              <a:t>c</a:t>
            </a:r>
            <a:r>
              <a:t>.</a:t>
            </a:r>
            <a:r>
              <a:rPr>
                <a:solidFill>
                  <a:srgbClr val="0326CC"/>
                </a:solidFill>
              </a:rPr>
              <a:t>left</a:t>
            </a:r>
            <a:r>
              <a:t>;</a:t>
            </a:r>
          </a:p>
          <a:p>
            <a:pPr indent="0">
              <a:defRPr sz="2300">
                <a:latin typeface="Monaco"/>
                <a:ea typeface="Monaco"/>
                <a:cs typeface="Monaco"/>
                <a:sym typeface="Monaco"/>
              </a:defRPr>
            </a:pPr>
            <a:r>
              <a:t>				</a:t>
            </a:r>
            <a:r>
              <a:rPr>
                <a:solidFill>
                  <a:srgbClr val="931A68"/>
                </a:solidFill>
              </a:rPr>
              <a:t>else</a:t>
            </a:r>
          </a:p>
          <a:p>
            <a:pPr indent="0">
              <a:defRPr sz="2300">
                <a:latin typeface="Monaco"/>
                <a:ea typeface="Monaco"/>
                <a:cs typeface="Monaco"/>
                <a:sym typeface="Monaco"/>
              </a:defRPr>
            </a:pPr>
            <a:r>
              <a:t>					</a:t>
            </a:r>
            <a:r>
              <a:rPr>
                <a:solidFill>
                  <a:srgbClr val="7E504F"/>
                </a:solidFill>
              </a:rPr>
              <a:t>p</a:t>
            </a:r>
            <a:r>
              <a:t>.</a:t>
            </a:r>
            <a:r>
              <a:rPr>
                <a:solidFill>
                  <a:srgbClr val="0326CC"/>
                </a:solidFill>
              </a:rPr>
              <a:t>right</a:t>
            </a:r>
            <a:r>
              <a:t> = </a:t>
            </a:r>
            <a:r>
              <a:rPr>
                <a:solidFill>
                  <a:srgbClr val="7E504F"/>
                </a:solidFill>
              </a:rPr>
              <a:t>c</a:t>
            </a:r>
            <a:r>
              <a:t>.</a:t>
            </a:r>
            <a:r>
              <a:rPr>
                <a:solidFill>
                  <a:srgbClr val="0326CC"/>
                </a:solidFill>
              </a:rPr>
              <a:t>left</a:t>
            </a:r>
            <a:r>
              <a:t>;</a:t>
            </a: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p>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r>
              <a:t>// 只有右子树</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0326CC"/>
                </a:solidFill>
              </a:rPr>
              <a:t>root</a:t>
            </a:r>
            <a:r>
              <a:t>)</a:t>
            </a:r>
          </a:p>
          <a:p>
            <a:pPr indent="0">
              <a:defRPr sz="2300">
                <a:solidFill>
                  <a:srgbClr val="0326CC"/>
                </a:solidFill>
                <a:latin typeface="Monaco"/>
                <a:ea typeface="Monaco"/>
                <a:cs typeface="Monaco"/>
                <a:sym typeface="Monaco"/>
              </a:defRPr>
            </a:pPr>
            <a:r>
              <a:rPr>
                <a:solidFill>
                  <a:srgbClr val="000000"/>
                </a:solidFill>
              </a:rPr>
              <a:t>				</a:t>
            </a:r>
            <a:r>
              <a:t>root</a:t>
            </a:r>
            <a:r>
              <a:rPr>
                <a:solidFill>
                  <a:srgbClr val="000000"/>
                </a:solidFill>
              </a:rPr>
              <a:t> = </a:t>
            </a:r>
            <a:r>
              <a:rPr>
                <a:solidFill>
                  <a:srgbClr val="7E504F"/>
                </a:solidFill>
              </a:rPr>
              <a:t>c</a:t>
            </a:r>
            <a:r>
              <a:rPr>
                <a:solidFill>
                  <a:srgbClr val="000000"/>
                </a:solidFill>
              </a:rPr>
              <a:t>.</a:t>
            </a:r>
            <a:r>
              <a:t>right</a:t>
            </a:r>
            <a:r>
              <a:rPr>
                <a:solidFill>
                  <a:srgbClr val="000000"/>
                </a:solidFill>
              </a:rPr>
              <a:t>;</a:t>
            </a:r>
            <a:endParaRPr>
              <a:solidFill>
                <a:srgbClr val="000000"/>
              </a:solidFill>
            </a:endParaRPr>
          </a:p>
          <a:p>
            <a:pPr indent="0">
              <a:defRPr sz="2300">
                <a:solidFill>
                  <a:srgbClr val="931A68"/>
                </a:solidFill>
                <a:latin typeface="Monaco"/>
                <a:ea typeface="Monaco"/>
                <a:cs typeface="Monaco"/>
                <a:sym typeface="Monaco"/>
              </a:defRPr>
            </a:pPr>
            <a:r>
              <a:rPr>
                <a:solidFill>
                  <a:srgbClr val="000000"/>
                </a:solidFill>
              </a:rPr>
              <a:t>			</a:t>
            </a:r>
            <a:r>
              <a:t>else</a:t>
            </a:r>
            <a:r>
              <a:rPr>
                <a:solidFill>
                  <a:srgbClr val="000000"/>
                </a:solidFill>
              </a:rPr>
              <a:t> {</a:t>
            </a:r>
            <a:endParaRPr>
              <a:solidFill>
                <a:srgbClr val="000000"/>
              </a:solidFill>
            </a:endParaRPr>
          </a:p>
          <a:p>
            <a:pPr indent="0">
              <a:defRPr sz="2300">
                <a:latin typeface="Monaco"/>
                <a:ea typeface="Monaco"/>
                <a:cs typeface="Monaco"/>
                <a:sym typeface="Monaco"/>
              </a:defRPr>
            </a:pPr>
            <a:r>
              <a:t>				</a:t>
            </a:r>
            <a:r>
              <a:rPr>
                <a:solidFill>
                  <a:srgbClr val="931A68"/>
                </a:solidFill>
              </a:rPr>
              <a:t>if</a:t>
            </a:r>
            <a:r>
              <a:t> (</a:t>
            </a:r>
            <a:r>
              <a:rPr>
                <a:solidFill>
                  <a:srgbClr val="7E504F"/>
                </a:solidFill>
              </a:rPr>
              <a:t>c</a:t>
            </a:r>
            <a:r>
              <a:t> == </a:t>
            </a:r>
            <a:r>
              <a:rPr u="sng">
                <a:solidFill>
                  <a:srgbClr val="7E504F"/>
                </a:solidFill>
              </a:rPr>
              <a:t>p</a:t>
            </a:r>
            <a:r>
              <a:t>.</a:t>
            </a:r>
            <a:r>
              <a:rPr>
                <a:solidFill>
                  <a:srgbClr val="0326CC"/>
                </a:solidFill>
              </a:rPr>
              <a:t>left</a:t>
            </a:r>
            <a:r>
              <a:t>)</a:t>
            </a:r>
          </a:p>
          <a:p>
            <a:pPr indent="0">
              <a:defRPr sz="23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7E504F"/>
                </a:solidFill>
              </a:rPr>
              <a:t>c</a:t>
            </a:r>
            <a:r>
              <a:t>.</a:t>
            </a:r>
            <a:r>
              <a:rPr>
                <a:solidFill>
                  <a:srgbClr val="0326CC"/>
                </a:solidFill>
              </a:rPr>
              <a:t>right</a:t>
            </a:r>
            <a:r>
              <a:t>;</a:t>
            </a:r>
          </a:p>
          <a:p>
            <a:pPr indent="0">
              <a:defRPr sz="2300">
                <a:latin typeface="Monaco"/>
                <a:ea typeface="Monaco"/>
                <a:cs typeface="Monaco"/>
                <a:sym typeface="Monaco"/>
              </a:defRPr>
            </a:pPr>
            <a:r>
              <a:t>				</a:t>
            </a:r>
            <a:r>
              <a:rPr>
                <a:solidFill>
                  <a:srgbClr val="931A68"/>
                </a:solidFill>
              </a:rPr>
              <a:t>else</a:t>
            </a:r>
          </a:p>
          <a:p>
            <a:pPr indent="0">
              <a:defRPr sz="2300">
                <a:latin typeface="Monaco"/>
                <a:ea typeface="Monaco"/>
                <a:cs typeface="Monaco"/>
                <a:sym typeface="Monaco"/>
              </a:defRPr>
            </a:pPr>
            <a:r>
              <a:t>					</a:t>
            </a:r>
            <a:r>
              <a:rPr>
                <a:solidFill>
                  <a:srgbClr val="7E504F"/>
                </a:solidFill>
              </a:rPr>
              <a:t>p</a:t>
            </a:r>
            <a:r>
              <a:t>.</a:t>
            </a:r>
            <a:r>
              <a:rPr>
                <a:solidFill>
                  <a:srgbClr val="0326CC"/>
                </a:solidFill>
              </a:rPr>
              <a:t>right</a:t>
            </a:r>
            <a:r>
              <a:t> = </a:t>
            </a:r>
            <a:r>
              <a:rPr>
                <a:solidFill>
                  <a:srgbClr val="7E504F"/>
                </a:solidFill>
              </a:rPr>
              <a:t>c</a:t>
            </a:r>
            <a:r>
              <a:t>.</a:t>
            </a:r>
            <a:r>
              <a:rPr>
                <a:solidFill>
                  <a:srgbClr val="0326CC"/>
                </a:solidFill>
              </a:rPr>
              <a:t>right</a:t>
            </a:r>
            <a:r>
              <a:t>;</a:t>
            </a:r>
          </a:p>
          <a:p>
            <a:pPr indent="0">
              <a:defRPr sz="2300">
                <a:latin typeface="Monaco"/>
                <a:ea typeface="Monaco"/>
                <a:cs typeface="Monaco"/>
                <a:sym typeface="Monaco"/>
              </a:defRPr>
            </a:pPr>
            <a:r>
              <a:t>			}</a:t>
            </a:r>
          </a:p>
          <a:p>
            <a:pPr indent="0">
              <a:defRPr sz="23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4" name="Shape 370"/>
          <p:cNvSpPr txBox="1"/>
          <p:nvPr>
            <p:ph type="title"/>
          </p:nvPr>
        </p:nvSpPr>
        <p:spPr>
          <a:xfrm>
            <a:off x="1611488" y="125588"/>
            <a:ext cx="9448801" cy="952501"/>
          </a:xfrm>
          <a:prstGeom prst="rect">
            <a:avLst/>
          </a:prstGeom>
        </p:spPr>
        <p:txBody>
          <a:bodyPr/>
          <a:lstStyle/>
          <a:p>
            <a:pPr/>
            <a:r>
              <a:t>remove：分别处理</a:t>
            </a:r>
          </a:p>
        </p:txBody>
      </p:sp>
      <p:sp>
        <p:nvSpPr>
          <p:cNvPr id="825" name="if (c.left != null &amp;&amp; c.right != null) {// 既有左子树也有右子树…"/>
          <p:cNvSpPr txBox="1"/>
          <p:nvPr/>
        </p:nvSpPr>
        <p:spPr>
          <a:xfrm>
            <a:off x="249579" y="1463409"/>
            <a:ext cx="12460487" cy="59183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4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r>
              <a:t>// 既有左子树也有右子树</a:t>
            </a:r>
            <a:endParaRPr>
              <a:solidFill>
                <a:srgbClr val="000000"/>
              </a:solidFill>
            </a:endParaRPr>
          </a:p>
          <a:p>
            <a:pPr indent="0">
              <a:defRPr sz="2400">
                <a:latin typeface="Monaco"/>
                <a:ea typeface="Monaco"/>
                <a:cs typeface="Monaco"/>
                <a:sym typeface="Monaco"/>
              </a:defRPr>
            </a:pPr>
            <a:r>
              <a:t>			Node&lt;K, V&gt; </a:t>
            </a:r>
            <a:r>
              <a:rPr>
                <a:solidFill>
                  <a:srgbClr val="7E504F"/>
                </a:solidFill>
              </a:rPr>
              <a:t>q</a:t>
            </a:r>
            <a:r>
              <a:t>;</a:t>
            </a:r>
          </a:p>
          <a:p>
            <a:pPr indent="0">
              <a:defRPr sz="2400">
                <a:solidFill>
                  <a:srgbClr val="0326CC"/>
                </a:solidFill>
                <a:latin typeface="Monaco"/>
                <a:ea typeface="Monaco"/>
                <a:cs typeface="Monaco"/>
                <a:sym typeface="Monaco"/>
              </a:defRPr>
            </a:pPr>
            <a:r>
              <a:rPr>
                <a:solidFill>
                  <a:srgbClr val="000000"/>
                </a:solidFill>
              </a:rPr>
              <a:t>			</a:t>
            </a:r>
            <a:r>
              <a:rPr>
                <a:solidFill>
                  <a:srgbClr val="931A68"/>
                </a:solidFill>
              </a:rPr>
              <a:t>for</a:t>
            </a:r>
            <a:r>
              <a:rPr>
                <a:solidFill>
                  <a:srgbClr val="000000"/>
                </a:solidFill>
              </a:rPr>
              <a:t> (</a:t>
            </a:r>
            <a:r>
              <a:rPr>
                <a:solidFill>
                  <a:srgbClr val="7E504F"/>
                </a:solidFill>
              </a:rPr>
              <a:t>p</a:t>
            </a:r>
            <a:r>
              <a:rPr>
                <a:solidFill>
                  <a:srgbClr val="000000"/>
                </a:solidFill>
              </a:rPr>
              <a:t> = </a:t>
            </a:r>
            <a:r>
              <a:rPr>
                <a:solidFill>
                  <a:srgbClr val="7E504F"/>
                </a:solidFill>
              </a:rPr>
              <a:t>c</a:t>
            </a:r>
            <a:r>
              <a:rPr>
                <a:solidFill>
                  <a:srgbClr val="000000"/>
                </a:solidFill>
              </a:rPr>
              <a:t>, </a:t>
            </a:r>
            <a:r>
              <a:rPr>
                <a:solidFill>
                  <a:srgbClr val="7E504F"/>
                </a:solidFill>
              </a:rPr>
              <a:t>q</a:t>
            </a:r>
            <a:r>
              <a:rPr>
                <a:solidFill>
                  <a:srgbClr val="000000"/>
                </a:solidFill>
              </a:rPr>
              <a:t> = </a:t>
            </a:r>
            <a:r>
              <a:rPr>
                <a:solidFill>
                  <a:srgbClr val="7E504F"/>
                </a:solidFill>
              </a:rPr>
              <a:t>c</a:t>
            </a:r>
            <a:r>
              <a:rPr>
                <a:solidFill>
                  <a:srgbClr val="000000"/>
                </a:solidFill>
              </a:rPr>
              <a:t>.</a:t>
            </a:r>
            <a:r>
              <a:t>left</a:t>
            </a:r>
            <a:r>
              <a:rPr>
                <a:solidFill>
                  <a:srgbClr val="000000"/>
                </a:solidFill>
              </a:rPr>
              <a:t>; </a:t>
            </a:r>
            <a:r>
              <a:rPr>
                <a:solidFill>
                  <a:srgbClr val="7E504F"/>
                </a:solidFill>
              </a:rPr>
              <a:t>q</a:t>
            </a:r>
            <a:r>
              <a:rPr>
                <a:solidFill>
                  <a:srgbClr val="000000"/>
                </a:solidFill>
              </a:rPr>
              <a:t>.</a:t>
            </a:r>
            <a:r>
              <a:t>right</a:t>
            </a:r>
            <a:r>
              <a:rPr>
                <a:solidFill>
                  <a:srgbClr val="000000"/>
                </a:solidFill>
              </a:rPr>
              <a:t> != </a:t>
            </a:r>
            <a:r>
              <a:rPr>
                <a:solidFill>
                  <a:srgbClr val="931A68"/>
                </a:solidFill>
              </a:rPr>
              <a:t>null</a:t>
            </a:r>
            <a:r>
              <a:rPr>
                <a:solidFill>
                  <a:srgbClr val="000000"/>
                </a:solidFill>
              </a:rPr>
              <a:t>; </a:t>
            </a:r>
            <a:r>
              <a:rPr>
                <a:solidFill>
                  <a:srgbClr val="7E504F"/>
                </a:solidFill>
              </a:rPr>
              <a:t>p</a:t>
            </a:r>
            <a:r>
              <a:rPr>
                <a:solidFill>
                  <a:srgbClr val="000000"/>
                </a:solidFill>
              </a:rPr>
              <a:t> = </a:t>
            </a:r>
            <a:r>
              <a:rPr>
                <a:solidFill>
                  <a:srgbClr val="7E504F"/>
                </a:solidFill>
              </a:rPr>
              <a:t>q</a:t>
            </a:r>
            <a:r>
              <a:rPr>
                <a:solidFill>
                  <a:srgbClr val="000000"/>
                </a:solidFill>
              </a:rPr>
              <a:t>, </a:t>
            </a:r>
            <a:r>
              <a:rPr>
                <a:solidFill>
                  <a:srgbClr val="7E504F"/>
                </a:solidFill>
              </a:rPr>
              <a:t>q</a:t>
            </a:r>
            <a:r>
              <a:rPr>
                <a:solidFill>
                  <a:srgbClr val="000000"/>
                </a:solidFill>
              </a:rPr>
              <a:t> = </a:t>
            </a:r>
            <a:r>
              <a:rPr>
                <a:solidFill>
                  <a:srgbClr val="7E504F"/>
                </a:solidFill>
              </a:rPr>
              <a:t>q</a:t>
            </a:r>
            <a:r>
              <a:rPr>
                <a:solidFill>
                  <a:srgbClr val="000000"/>
                </a:solidFill>
              </a:rPr>
              <a:t>.</a:t>
            </a:r>
            <a:r>
              <a:t>right</a:t>
            </a:r>
            <a:r>
              <a:rPr>
                <a:solidFill>
                  <a:srgbClr val="000000"/>
                </a:solidFill>
              </a:rPr>
              <a:t>)</a:t>
            </a:r>
            <a:endParaRPr>
              <a:solidFill>
                <a:srgbClr val="000000"/>
              </a:solidFill>
            </a:endParaRPr>
          </a:p>
          <a:p>
            <a:pPr indent="0">
              <a:defRPr sz="2400">
                <a:latin typeface="Monaco"/>
                <a:ea typeface="Monaco"/>
                <a:cs typeface="Monaco"/>
                <a:sym typeface="Monaco"/>
              </a:defRPr>
            </a:pPr>
            <a:r>
              <a:t>				;</a:t>
            </a:r>
            <a:r>
              <a:rPr>
                <a:solidFill>
                  <a:schemeClr val="accent2">
                    <a:satOff val="-36093"/>
                    <a:lumOff val="17303"/>
                  </a:schemeClr>
                </a:solidFill>
              </a:rPr>
              <a:t>// 最大的关键字，一定在最右下脚</a:t>
            </a:r>
          </a:p>
          <a:p>
            <a:pPr indent="0">
              <a:defRPr sz="2400">
                <a:solidFill>
                  <a:srgbClr val="4E9072"/>
                </a:solidFill>
                <a:latin typeface="Monaco"/>
                <a:ea typeface="Monaco"/>
                <a:cs typeface="Monaco"/>
                <a:sym typeface="Monaco"/>
              </a:defRPr>
            </a:pPr>
            <a:r>
              <a:rPr>
                <a:solidFill>
                  <a:srgbClr val="000000"/>
                </a:solidFill>
              </a:rPr>
              <a:t>			</a:t>
            </a:r>
            <a:r>
              <a:t>// 复制q的值到c</a:t>
            </a:r>
            <a:endParaRPr>
              <a:solidFill>
                <a:srgbClr val="000000"/>
              </a:solidFill>
            </a:endParaRPr>
          </a:p>
          <a:p>
            <a:pPr indent="0">
              <a:defRPr sz="2400">
                <a:latin typeface="Monaco"/>
                <a:ea typeface="Monaco"/>
                <a:cs typeface="Monaco"/>
                <a:sym typeface="Monaco"/>
              </a:defRPr>
            </a:pPr>
            <a:r>
              <a:t>			</a:t>
            </a:r>
            <a:r>
              <a:rPr>
                <a:solidFill>
                  <a:srgbClr val="7E504F"/>
                </a:solidFill>
              </a:rPr>
              <a:t>c</a:t>
            </a:r>
            <a:r>
              <a:t>.</a:t>
            </a:r>
            <a:r>
              <a:rPr>
                <a:solidFill>
                  <a:srgbClr val="0326CC"/>
                </a:solidFill>
              </a:rPr>
              <a:t>key</a:t>
            </a:r>
            <a:r>
              <a:t> = </a:t>
            </a:r>
            <a:r>
              <a:rPr>
                <a:solidFill>
                  <a:srgbClr val="7E504F"/>
                </a:solidFill>
              </a:rPr>
              <a:t>q</a:t>
            </a:r>
            <a:r>
              <a:t>.</a:t>
            </a:r>
            <a:r>
              <a:rPr>
                <a:solidFill>
                  <a:srgbClr val="0326CC"/>
                </a:solidFill>
              </a:rPr>
              <a:t>key</a:t>
            </a:r>
            <a:r>
              <a:t>;</a:t>
            </a:r>
          </a:p>
          <a:p>
            <a:pPr indent="0">
              <a:defRPr sz="24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value</a:t>
            </a:r>
            <a:r>
              <a:rPr>
                <a:solidFill>
                  <a:srgbClr val="000000"/>
                </a:solidFill>
              </a:rPr>
              <a:t> = </a:t>
            </a:r>
            <a:r>
              <a:rPr>
                <a:solidFill>
                  <a:srgbClr val="7E504F"/>
                </a:solidFill>
              </a:rPr>
              <a:t>q</a:t>
            </a:r>
            <a:r>
              <a:rPr>
                <a:solidFill>
                  <a:srgbClr val="000000"/>
                </a:solidFill>
              </a:rPr>
              <a:t>.</a:t>
            </a:r>
            <a:r>
              <a:t>value</a:t>
            </a:r>
            <a:r>
              <a:rPr>
                <a:solidFill>
                  <a:srgbClr val="000000"/>
                </a:solidFill>
              </a:rPr>
              <a:t>;</a:t>
            </a:r>
            <a:endParaRPr>
              <a:solidFill>
                <a:srgbClr val="000000"/>
              </a:solidFill>
            </a:endParaRPr>
          </a:p>
          <a:p>
            <a:pPr indent="0">
              <a:defRPr sz="2400">
                <a:solidFill>
                  <a:srgbClr val="4E9072"/>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 = </a:t>
            </a:r>
            <a:r>
              <a:rPr>
                <a:solidFill>
                  <a:srgbClr val="7E504F"/>
                </a:solidFill>
              </a:rPr>
              <a:t>q</a:t>
            </a:r>
            <a:r>
              <a:rPr>
                <a:solidFill>
                  <a:srgbClr val="000000"/>
                </a:solidFill>
              </a:rPr>
              <a:t>;</a:t>
            </a:r>
            <a:r>
              <a:t>// q成为待删除的结点，q肯定不会是根结点</a:t>
            </a:r>
            <a:endParaRPr>
              <a:solidFill>
                <a:srgbClr val="000000"/>
              </a:solidFill>
            </a:endParaRPr>
          </a:p>
          <a:p>
            <a:pPr indent="0">
              <a:defRPr sz="2400">
                <a:latin typeface="Monaco"/>
                <a:ea typeface="Monaco"/>
                <a:cs typeface="Monaco"/>
                <a:sym typeface="Monaco"/>
              </a:defRPr>
            </a:pPr>
            <a:r>
              <a:t>			</a:t>
            </a:r>
            <a:r>
              <a:rPr>
                <a:solidFill>
                  <a:srgbClr val="931A68"/>
                </a:solidFill>
              </a:rPr>
              <a:t>if</a:t>
            </a:r>
            <a:r>
              <a:t> (</a:t>
            </a:r>
            <a:r>
              <a:rPr>
                <a:solidFill>
                  <a:srgbClr val="7E504F"/>
                </a:solidFill>
              </a:rPr>
              <a:t>c</a:t>
            </a:r>
            <a:r>
              <a:t> == </a:t>
            </a:r>
            <a:r>
              <a:rPr>
                <a:solidFill>
                  <a:srgbClr val="7E504F"/>
                </a:solidFill>
              </a:rPr>
              <a:t>p</a:t>
            </a:r>
            <a:r>
              <a:t>.</a:t>
            </a:r>
            <a:r>
              <a:rPr>
                <a:solidFill>
                  <a:srgbClr val="0326CC"/>
                </a:solidFill>
              </a:rPr>
              <a:t>left</a:t>
            </a:r>
            <a:r>
              <a:t>)</a:t>
            </a:r>
          </a:p>
          <a:p>
            <a:pPr indent="0">
              <a:defRPr sz="2400">
                <a:latin typeface="Monaco"/>
                <a:ea typeface="Monaco"/>
                <a:cs typeface="Monaco"/>
                <a:sym typeface="Monaco"/>
              </a:defRPr>
            </a:pPr>
            <a:r>
              <a:t>				</a:t>
            </a:r>
            <a:r>
              <a:rPr>
                <a:solidFill>
                  <a:srgbClr val="7E504F"/>
                </a:solidFill>
              </a:rPr>
              <a:t>p</a:t>
            </a:r>
            <a:r>
              <a:t>.</a:t>
            </a:r>
            <a:r>
              <a:rPr>
                <a:solidFill>
                  <a:srgbClr val="0326CC"/>
                </a:solidFill>
              </a:rPr>
              <a:t>left</a:t>
            </a:r>
            <a:r>
              <a:t> = </a:t>
            </a:r>
            <a:r>
              <a:rPr>
                <a:solidFill>
                  <a:srgbClr val="7E504F"/>
                </a:solidFill>
              </a:rPr>
              <a:t>c</a:t>
            </a:r>
            <a:r>
              <a:t>.</a:t>
            </a:r>
            <a:r>
              <a:rPr>
                <a:solidFill>
                  <a:srgbClr val="0326CC"/>
                </a:solidFill>
              </a:rPr>
              <a:t>left</a:t>
            </a:r>
            <a:r>
              <a:t>;</a:t>
            </a:r>
          </a:p>
          <a:p>
            <a:pPr indent="0">
              <a:defRPr sz="24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400">
                <a:solidFill>
                  <a:srgbClr val="0326CC"/>
                </a:solidFill>
                <a:latin typeface="Monaco"/>
                <a:ea typeface="Monaco"/>
                <a:cs typeface="Monaco"/>
                <a:sym typeface="Monaco"/>
              </a:defRPr>
            </a:pPr>
            <a:r>
              <a:rPr>
                <a:solidFill>
                  <a:srgbClr val="000000"/>
                </a:solidFill>
              </a:rPr>
              <a:t>				</a:t>
            </a:r>
            <a:r>
              <a:rPr>
                <a:solidFill>
                  <a:srgbClr val="7E504F"/>
                </a:solidFill>
              </a:rPr>
              <a:t>p</a:t>
            </a:r>
            <a:r>
              <a:rPr>
                <a:solidFill>
                  <a:srgbClr val="000000"/>
                </a:solidFill>
              </a:rPr>
              <a:t>.</a:t>
            </a:r>
            <a:r>
              <a:t>right</a:t>
            </a:r>
            <a:r>
              <a:rPr>
                <a:solidFill>
                  <a:srgbClr val="000000"/>
                </a:solidFill>
              </a:rPr>
              <a:t> = </a:t>
            </a:r>
            <a:r>
              <a:rPr>
                <a:solidFill>
                  <a:srgbClr val="7E504F"/>
                </a:solidFill>
              </a:rPr>
              <a:t>c</a:t>
            </a:r>
            <a:r>
              <a:rPr>
                <a:solidFill>
                  <a:srgbClr val="000000"/>
                </a:solidFill>
              </a:rPr>
              <a:t>.</a:t>
            </a:r>
            <a:r>
              <a:t>left</a:t>
            </a:r>
            <a:r>
              <a:rPr>
                <a:solidFill>
                  <a:srgbClr val="000000"/>
                </a:solidFill>
              </a:rPr>
              <a:t>;</a:t>
            </a:r>
            <a:endParaRPr>
              <a:solidFill>
                <a:srgbClr val="000000"/>
              </a:solidFill>
            </a:endParaRPr>
          </a:p>
          <a:p>
            <a:pPr indent="0">
              <a:defRPr sz="2400">
                <a:latin typeface="Monaco"/>
                <a:ea typeface="Monaco"/>
                <a:cs typeface="Monaco"/>
                <a:sym typeface="Monaco"/>
              </a:defRPr>
            </a:pPr>
          </a:p>
          <a:p>
            <a:pPr indent="0">
              <a:defRPr sz="24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7" name="Shape 370"/>
          <p:cNvSpPr txBox="1"/>
          <p:nvPr>
            <p:ph type="title"/>
          </p:nvPr>
        </p:nvSpPr>
        <p:spPr>
          <a:xfrm>
            <a:off x="1611488" y="125588"/>
            <a:ext cx="9448801" cy="952501"/>
          </a:xfrm>
          <a:prstGeom prst="rect">
            <a:avLst/>
          </a:prstGeom>
        </p:spPr>
        <p:txBody>
          <a:bodyPr/>
          <a:lstStyle/>
          <a:p>
            <a:pPr/>
            <a:r>
              <a:t>remove：分别处理</a:t>
            </a:r>
          </a:p>
        </p:txBody>
      </p:sp>
      <p:sp>
        <p:nvSpPr>
          <p:cNvPr id="828" name="size--;…"/>
          <p:cNvSpPr txBox="1"/>
          <p:nvPr/>
        </p:nvSpPr>
        <p:spPr>
          <a:xfrm>
            <a:off x="2193626" y="1253348"/>
            <a:ext cx="5601445" cy="3073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500">
                <a:solidFill>
                  <a:srgbClr val="0326CC"/>
                </a:solidFill>
                <a:latin typeface="Monaco"/>
                <a:ea typeface="Monaco"/>
                <a:cs typeface="Monaco"/>
                <a:sym typeface="Monaco"/>
              </a:defRPr>
            </a:pPr>
            <a:r>
              <a:rPr>
                <a:solidFill>
                  <a:srgbClr val="000000"/>
                </a:solidFill>
              </a:rPr>
              <a:t>		</a:t>
            </a:r>
            <a:r>
              <a:t>size</a:t>
            </a:r>
            <a:r>
              <a:rPr>
                <a:solidFill>
                  <a:srgbClr val="000000"/>
                </a:solidFill>
              </a:rPr>
              <a:t>--;</a:t>
            </a:r>
            <a:endParaRPr>
              <a:solidFill>
                <a:srgbClr val="000000"/>
              </a:solidFill>
            </a:endParaRPr>
          </a:p>
          <a:p>
            <a:pPr indent="0">
              <a:defRPr sz="2500">
                <a:solidFill>
                  <a:srgbClr val="7E504F"/>
                </a:solidFill>
                <a:latin typeface="Monaco"/>
                <a:ea typeface="Monaco"/>
                <a:cs typeface="Monaco"/>
                <a:sym typeface="Monaco"/>
              </a:defRPr>
            </a:pPr>
            <a:r>
              <a:rPr>
                <a:solidFill>
                  <a:srgbClr val="000000"/>
                </a:solidFill>
              </a:rPr>
              <a:t>		V </a:t>
            </a:r>
            <a:r>
              <a:t>result</a:t>
            </a:r>
            <a:r>
              <a:rPr>
                <a:solidFill>
                  <a:srgbClr val="000000"/>
                </a:solidFill>
              </a:rPr>
              <a:t> = </a:t>
            </a:r>
            <a:r>
              <a:t>c</a:t>
            </a:r>
            <a:r>
              <a:rPr>
                <a:solidFill>
                  <a:srgbClr val="000000"/>
                </a:solidFill>
              </a:rPr>
              <a:t>.</a:t>
            </a:r>
            <a:r>
              <a:rPr>
                <a:solidFill>
                  <a:srgbClr val="0326CC"/>
                </a:solidFill>
              </a:rPr>
              <a:t>value</a:t>
            </a:r>
            <a:r>
              <a:rPr>
                <a:solidFill>
                  <a:srgbClr val="000000"/>
                </a:solidFill>
              </a:rPr>
              <a:t>;</a:t>
            </a:r>
            <a:endParaRPr>
              <a:solidFill>
                <a:srgbClr val="000000"/>
              </a:solidFill>
            </a:endParaRPr>
          </a:p>
          <a:p>
            <a:pPr indent="0">
              <a:defRPr sz="2500">
                <a:solidFill>
                  <a:srgbClr val="4E9072"/>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rPr>
                <a:solidFill>
                  <a:srgbClr val="0326CC"/>
                </a:solidFill>
              </a:rPr>
              <a:t>key</a:t>
            </a:r>
            <a:r>
              <a:rPr>
                <a:solidFill>
                  <a:srgbClr val="000000"/>
                </a:solidFill>
              </a:rPr>
              <a:t> = </a:t>
            </a:r>
            <a:r>
              <a:rPr>
                <a:solidFill>
                  <a:srgbClr val="931A68"/>
                </a:solidFill>
              </a:rPr>
              <a:t>null</a:t>
            </a:r>
            <a:r>
              <a:rPr>
                <a:solidFill>
                  <a:srgbClr val="000000"/>
                </a:solidFill>
              </a:rPr>
              <a:t>;</a:t>
            </a:r>
            <a:r>
              <a:t>// 帮助GC</a:t>
            </a:r>
            <a:endParaRPr>
              <a:solidFill>
                <a:srgbClr val="000000"/>
              </a:solidFill>
            </a:endParaRPr>
          </a:p>
          <a:p>
            <a:pPr indent="0">
              <a:defRPr sz="25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value</a:t>
            </a:r>
            <a:r>
              <a:rPr>
                <a:solidFill>
                  <a:srgbClr val="000000"/>
                </a:solidFill>
              </a:rPr>
              <a:t> = </a:t>
            </a:r>
            <a:r>
              <a:rPr>
                <a:solidFill>
                  <a:srgbClr val="931A68"/>
                </a:solidFill>
              </a:rPr>
              <a:t>null</a:t>
            </a:r>
            <a:r>
              <a:rPr>
                <a:solidFill>
                  <a:srgbClr val="000000"/>
                </a:solidFill>
              </a:rPr>
              <a:t>;</a:t>
            </a:r>
            <a:endParaRPr>
              <a:solidFill>
                <a:srgbClr val="000000"/>
              </a:solidFill>
            </a:endParaRPr>
          </a:p>
          <a:p>
            <a:pPr indent="0">
              <a:defRPr sz="25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left</a:t>
            </a:r>
            <a:r>
              <a:rPr>
                <a:solidFill>
                  <a:srgbClr val="000000"/>
                </a:solidFill>
              </a:rPr>
              <a:t> = </a:t>
            </a:r>
            <a:r>
              <a:rPr>
                <a:solidFill>
                  <a:srgbClr val="7E504F"/>
                </a:solidFill>
              </a:rPr>
              <a:t>c</a:t>
            </a:r>
            <a:r>
              <a:rPr>
                <a:solidFill>
                  <a:srgbClr val="000000"/>
                </a:solidFill>
              </a:rPr>
              <a:t>.</a:t>
            </a:r>
            <a:r>
              <a:t>right</a:t>
            </a:r>
            <a:r>
              <a:rPr>
                <a:solidFill>
                  <a:srgbClr val="000000"/>
                </a:solidFill>
              </a:rPr>
              <a:t> = </a:t>
            </a:r>
            <a:r>
              <a:rPr>
                <a:solidFill>
                  <a:srgbClr val="931A68"/>
                </a:solidFill>
              </a:rPr>
              <a:t>null</a:t>
            </a:r>
            <a:r>
              <a:rPr>
                <a:solidFill>
                  <a:srgbClr val="000000"/>
                </a:solidFill>
              </a:rPr>
              <a:t>;</a:t>
            </a:r>
            <a:endParaRPr>
              <a:solidFill>
                <a:srgbClr val="000000"/>
              </a:solidFill>
            </a:endParaRPr>
          </a:p>
          <a:p>
            <a:pPr indent="0">
              <a:defRPr sz="25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result</a:t>
            </a:r>
            <a:r>
              <a:rPr>
                <a:solidFill>
                  <a:srgbClr val="000000"/>
                </a:solidFill>
              </a:rPr>
              <a:t>;</a:t>
            </a:r>
            <a:endParaRPr>
              <a:solidFill>
                <a:srgbClr val="000000"/>
              </a:solidFill>
            </a:endParaRPr>
          </a:p>
          <a:p>
            <a:pPr indent="0">
              <a:defRPr sz="2500">
                <a:latin typeface="Monaco"/>
                <a:ea typeface="Monaco"/>
                <a:cs typeface="Monaco"/>
                <a:sym typeface="Monaco"/>
              </a:defRPr>
            </a:pPr>
            <a:r>
              <a:t>	}</a:t>
            </a:r>
          </a:p>
        </p:txBody>
      </p:sp>
      <p:sp>
        <p:nvSpPr>
          <p:cNvPr id="829" name="这种风格的代码：…"/>
          <p:cNvSpPr txBox="1"/>
          <p:nvPr/>
        </p:nvSpPr>
        <p:spPr>
          <a:xfrm>
            <a:off x="309798" y="4726901"/>
            <a:ext cx="5960984" cy="303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50000"/>
              </a:lnSpc>
            </a:pPr>
            <a:r>
              <a:t>这种风格的代码：</a:t>
            </a:r>
          </a:p>
          <a:p>
            <a:pPr lvl="1" marL="681789" indent="-300789">
              <a:lnSpc>
                <a:spcPct val="150000"/>
              </a:lnSpc>
              <a:buSzPct val="60000"/>
              <a:buBlip>
                <a:blip r:embed="rId2"/>
              </a:buBlip>
            </a:pPr>
            <a:r>
              <a:t>易于理解</a:t>
            </a:r>
          </a:p>
          <a:p>
            <a:pPr lvl="1" marL="681789" indent="-300789">
              <a:lnSpc>
                <a:spcPct val="150000"/>
              </a:lnSpc>
              <a:buSzPct val="60000"/>
              <a:buBlip>
                <a:blip r:embed="rId2"/>
              </a:buBlip>
            </a:pPr>
            <a:r>
              <a:t>有很多相似的代码，繁琐</a:t>
            </a:r>
          </a:p>
          <a:p>
            <a:pPr lvl="1" marL="681789" indent="-300789">
              <a:lnSpc>
                <a:spcPct val="150000"/>
              </a:lnSpc>
              <a:buSzPct val="60000"/>
              <a:buBlip>
                <a:blip r:embed="rId2"/>
              </a:buBlip>
            </a:pPr>
            <a:r>
              <a:t>if语句多，会影响CPU的流水线</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1" name="Shape 370"/>
          <p:cNvSpPr txBox="1"/>
          <p:nvPr>
            <p:ph type="title"/>
          </p:nvPr>
        </p:nvSpPr>
        <p:spPr>
          <a:xfrm>
            <a:off x="1611488" y="125588"/>
            <a:ext cx="9448801" cy="952501"/>
          </a:xfrm>
          <a:prstGeom prst="rect">
            <a:avLst/>
          </a:prstGeom>
        </p:spPr>
        <p:txBody>
          <a:bodyPr/>
          <a:lstStyle/>
          <a:p>
            <a:pPr/>
            <a:r>
              <a:t>remove：混合处理</a:t>
            </a:r>
          </a:p>
        </p:txBody>
      </p:sp>
      <p:sp>
        <p:nvSpPr>
          <p:cNvPr id="832" name="// 删除指定key的&lt;key, value&gt;,返回value，如果key不存在，返回null…"/>
          <p:cNvSpPr txBox="1"/>
          <p:nvPr/>
        </p:nvSpPr>
        <p:spPr>
          <a:xfrm>
            <a:off x="206040" y="1594203"/>
            <a:ext cx="12597743" cy="66558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200">
                <a:solidFill>
                  <a:srgbClr val="4E9072"/>
                </a:solidFill>
                <a:latin typeface="Monaco"/>
                <a:ea typeface="Monaco"/>
                <a:cs typeface="Monaco"/>
                <a:sym typeface="Monaco"/>
              </a:defRPr>
            </a:pPr>
            <a:r>
              <a:rPr>
                <a:solidFill>
                  <a:srgbClr val="000000"/>
                </a:solidFill>
              </a:rPr>
              <a:t>	</a:t>
            </a:r>
            <a:r>
              <a:t>// 删除指定key的&lt;key, value&gt;,返回value，如果key不存在，返回null</a:t>
            </a:r>
            <a:endParaRPr>
              <a:solidFill>
                <a:srgbClr val="000000"/>
              </a:solidFill>
            </a:endParaRPr>
          </a:p>
          <a:p>
            <a:pPr indent="0">
              <a:defRPr sz="2200">
                <a:latin typeface="Monaco"/>
                <a:ea typeface="Monaco"/>
                <a:cs typeface="Monaco"/>
                <a:sym typeface="Monaco"/>
              </a:defRPr>
            </a:pPr>
            <a:r>
              <a:t>	</a:t>
            </a:r>
            <a:r>
              <a:rPr>
                <a:solidFill>
                  <a:srgbClr val="931A68"/>
                </a:solidFill>
              </a:rPr>
              <a:t>public</a:t>
            </a:r>
            <a:r>
              <a:t> V remove(K </a:t>
            </a:r>
            <a:r>
              <a:rPr>
                <a:solidFill>
                  <a:srgbClr val="7E504F"/>
                </a:solidFill>
              </a:rPr>
              <a:t>key</a:t>
            </a:r>
            <a:r>
              <a:t>) {</a:t>
            </a:r>
          </a:p>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0326CC"/>
                </a:solidFill>
              </a:rPr>
              <a:t>root</a:t>
            </a:r>
            <a:r>
              <a:rPr>
                <a:solidFill>
                  <a:srgbClr val="000000"/>
                </a:solidFill>
              </a:rPr>
              <a:t> == </a:t>
            </a:r>
            <a:r>
              <a:rPr>
                <a:solidFill>
                  <a:srgbClr val="931A68"/>
                </a:solidFill>
              </a:rPr>
              <a:t>null</a:t>
            </a:r>
            <a:r>
              <a:rPr>
                <a:solidFill>
                  <a:srgbClr val="000000"/>
                </a:solidFill>
              </a:rPr>
              <a:t>) </a:t>
            </a:r>
            <a:r>
              <a:t>// 空树</a:t>
            </a:r>
            <a:endParaRPr>
              <a:solidFill>
                <a:srgbClr val="000000"/>
              </a:solidFill>
            </a:endParaRPr>
          </a:p>
          <a:p>
            <a:pPr indent="0">
              <a:defRPr sz="22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200">
                <a:latin typeface="Monaco"/>
                <a:ea typeface="Monaco"/>
                <a:cs typeface="Monaco"/>
                <a:sym typeface="Monaco"/>
              </a:defRPr>
            </a:pPr>
            <a:r>
              <a:t>		Objects.requireNonNull(</a:t>
            </a:r>
            <a:r>
              <a:rPr>
                <a:solidFill>
                  <a:srgbClr val="7E504F"/>
                </a:solidFill>
              </a:rPr>
              <a:t>key</a:t>
            </a:r>
            <a:r>
              <a:t>);</a:t>
            </a:r>
          </a:p>
          <a:p>
            <a:pPr indent="0">
              <a:defRPr sz="2200">
                <a:solidFill>
                  <a:srgbClr val="4E9072"/>
                </a:solidFill>
                <a:latin typeface="Monaco"/>
                <a:ea typeface="Monaco"/>
                <a:cs typeface="Monaco"/>
                <a:sym typeface="Monaco"/>
              </a:defRPr>
            </a:pPr>
            <a:r>
              <a:rPr>
                <a:solidFill>
                  <a:srgbClr val="000000"/>
                </a:solidFill>
              </a:rPr>
              <a:t>		</a:t>
            </a:r>
            <a:r>
              <a:t>// 查找要删除的结点c，p是其父结点</a:t>
            </a:r>
            <a:endParaRPr>
              <a:solidFill>
                <a:srgbClr val="000000"/>
              </a:solidFill>
            </a:endParaRPr>
          </a:p>
          <a:p>
            <a:pPr indent="0">
              <a:defRPr sz="2200">
                <a:latin typeface="Monaco"/>
                <a:ea typeface="Monaco"/>
                <a:cs typeface="Monaco"/>
                <a:sym typeface="Monaco"/>
              </a:defRPr>
            </a:pPr>
            <a:r>
              <a:t>		Node&lt;K, V&gt; </a:t>
            </a:r>
            <a:r>
              <a:rPr>
                <a:solidFill>
                  <a:srgbClr val="7E504F"/>
                </a:solidFill>
              </a:rPr>
              <a:t>p</a:t>
            </a:r>
            <a:r>
              <a:t> = </a:t>
            </a:r>
            <a:r>
              <a:rPr>
                <a:solidFill>
                  <a:srgbClr val="0326CC"/>
                </a:solidFill>
              </a:rPr>
              <a:t>root</a:t>
            </a:r>
            <a:r>
              <a:t>, </a:t>
            </a:r>
            <a:r>
              <a:rPr>
                <a:solidFill>
                  <a:srgbClr val="7E504F"/>
                </a:solidFill>
              </a:rPr>
              <a:t>c</a:t>
            </a:r>
            <a:r>
              <a:t> = </a:t>
            </a:r>
            <a:r>
              <a:rPr>
                <a:solidFill>
                  <a:srgbClr val="0326CC"/>
                </a:solidFill>
              </a:rPr>
              <a:t>root</a:t>
            </a:r>
            <a:r>
              <a:t>;</a:t>
            </a:r>
          </a:p>
          <a:p>
            <a:pPr indent="0">
              <a:defRPr sz="2200">
                <a:latin typeface="Monaco"/>
                <a:ea typeface="Monaco"/>
                <a:cs typeface="Monaco"/>
                <a:sym typeface="Monaco"/>
              </a:defRPr>
            </a:pPr>
            <a:r>
              <a:t>		</a:t>
            </a:r>
            <a:r>
              <a:rPr>
                <a:solidFill>
                  <a:srgbClr val="931A68"/>
                </a:solidFill>
              </a:rPr>
              <a:t>int</a:t>
            </a:r>
            <a:r>
              <a:t> </a:t>
            </a:r>
            <a:r>
              <a:rPr>
                <a:solidFill>
                  <a:srgbClr val="7E504F"/>
                </a:solidFill>
              </a:rPr>
              <a:t>cmp</a:t>
            </a:r>
            <a:r>
              <a:t> = 0;</a:t>
            </a:r>
          </a:p>
          <a:p>
            <a:pPr indent="0">
              <a:defRPr sz="2200">
                <a:latin typeface="Monaco"/>
                <a:ea typeface="Monaco"/>
                <a:cs typeface="Monaco"/>
                <a:sym typeface="Monaco"/>
              </a:defRPr>
            </a:pPr>
            <a:r>
              <a:t>		</a:t>
            </a:r>
            <a:r>
              <a:rPr>
                <a:solidFill>
                  <a:srgbClr val="931A68"/>
                </a:solidFill>
              </a:rPr>
              <a:t>while</a:t>
            </a:r>
            <a:r>
              <a:t> ((</a:t>
            </a:r>
            <a:r>
              <a:rPr>
                <a:solidFill>
                  <a:srgbClr val="7E504F"/>
                </a:solidFill>
              </a:rPr>
              <a:t>cmp</a:t>
            </a:r>
            <a:r>
              <a:t> = ((Comparable&lt;? </a:t>
            </a:r>
            <a:r>
              <a:rPr>
                <a:solidFill>
                  <a:srgbClr val="931A68"/>
                </a:solidFill>
              </a:rPr>
              <a:t>super</a:t>
            </a:r>
            <a:r>
              <a:t> K&gt;) </a:t>
            </a:r>
            <a:r>
              <a:rPr>
                <a:solidFill>
                  <a:srgbClr val="7E504F"/>
                </a:solidFill>
              </a:rPr>
              <a:t>key</a:t>
            </a:r>
            <a:r>
              <a:t>).compareTo(</a:t>
            </a:r>
            <a:r>
              <a:rPr>
                <a:solidFill>
                  <a:srgbClr val="7E504F"/>
                </a:solidFill>
              </a:rPr>
              <a:t>c</a:t>
            </a:r>
            <a:r>
              <a:t>.</a:t>
            </a:r>
            <a:r>
              <a:rPr>
                <a:solidFill>
                  <a:srgbClr val="0326CC"/>
                </a:solidFill>
              </a:rPr>
              <a:t>key</a:t>
            </a:r>
            <a:r>
              <a:t>)) != 0) {</a:t>
            </a:r>
          </a:p>
          <a:p>
            <a:pPr indent="0">
              <a:defRPr sz="2200">
                <a:latin typeface="Monaco"/>
                <a:ea typeface="Monaco"/>
                <a:cs typeface="Monaco"/>
                <a:sym typeface="Monaco"/>
              </a:defRPr>
            </a:pPr>
            <a:r>
              <a:t>			</a:t>
            </a:r>
            <a:r>
              <a:rPr>
                <a:solidFill>
                  <a:srgbClr val="7E504F"/>
                </a:solidFill>
              </a:rPr>
              <a:t>p</a:t>
            </a:r>
            <a:r>
              <a:t> = </a:t>
            </a:r>
            <a:r>
              <a:rPr>
                <a:solidFill>
                  <a:srgbClr val="7E504F"/>
                </a:solidFill>
              </a:rPr>
              <a:t>c</a:t>
            </a:r>
            <a:r>
              <a:t>;</a:t>
            </a:r>
          </a:p>
          <a:p>
            <a:pPr indent="0">
              <a:defRPr sz="2200">
                <a:latin typeface="Monaco"/>
                <a:ea typeface="Monaco"/>
                <a:cs typeface="Monaco"/>
                <a:sym typeface="Monaco"/>
              </a:defRPr>
            </a:pPr>
            <a:r>
              <a:t>			</a:t>
            </a:r>
            <a:r>
              <a:rPr>
                <a:solidFill>
                  <a:srgbClr val="931A68"/>
                </a:solidFill>
              </a:rPr>
              <a:t>if</a:t>
            </a:r>
            <a:r>
              <a:t> (</a:t>
            </a:r>
            <a:r>
              <a:rPr>
                <a:solidFill>
                  <a:srgbClr val="7E504F"/>
                </a:solidFill>
              </a:rPr>
              <a:t>cmp</a:t>
            </a:r>
            <a:r>
              <a:t> &lt; 0)</a:t>
            </a:r>
          </a:p>
          <a:p>
            <a:pPr indent="0">
              <a:defRPr sz="2200">
                <a:latin typeface="Monaco"/>
                <a:ea typeface="Monaco"/>
                <a:cs typeface="Monaco"/>
                <a:sym typeface="Monaco"/>
              </a:defRPr>
            </a:pPr>
            <a:r>
              <a:t>				</a:t>
            </a:r>
            <a:r>
              <a:rPr>
                <a:solidFill>
                  <a:srgbClr val="7E504F"/>
                </a:solidFill>
              </a:rPr>
              <a:t>c</a:t>
            </a:r>
            <a:r>
              <a:t> = </a:t>
            </a:r>
            <a:r>
              <a:rPr>
                <a:solidFill>
                  <a:srgbClr val="7E504F"/>
                </a:solidFill>
              </a:rPr>
              <a:t>c</a:t>
            </a:r>
            <a:r>
              <a:t>.</a:t>
            </a:r>
            <a:r>
              <a:rPr>
                <a:solidFill>
                  <a:srgbClr val="0326CC"/>
                </a:solidFill>
              </a:rPr>
              <a:t>left</a:t>
            </a:r>
            <a:r>
              <a:t>;</a:t>
            </a:r>
          </a:p>
          <a:p>
            <a:pPr indent="0">
              <a:defRPr sz="22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2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 = </a:t>
            </a:r>
            <a:r>
              <a:rPr>
                <a:solidFill>
                  <a:srgbClr val="7E504F"/>
                </a:solidFill>
              </a:rPr>
              <a:t>c</a:t>
            </a:r>
            <a:r>
              <a:rPr>
                <a:solidFill>
                  <a:srgbClr val="000000"/>
                </a:solidFill>
              </a:rPr>
              <a:t>.</a:t>
            </a:r>
            <a:r>
              <a:t>right</a:t>
            </a:r>
            <a:r>
              <a:rPr>
                <a:solidFill>
                  <a:srgbClr val="000000"/>
                </a:solidFill>
              </a:rPr>
              <a:t>;</a:t>
            </a:r>
            <a:endParaRPr>
              <a:solidFill>
                <a:srgbClr val="000000"/>
              </a:solidFill>
            </a:endParaRPr>
          </a:p>
          <a:p>
            <a:pPr indent="0">
              <a:defRPr sz="22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 == </a:t>
            </a:r>
            <a:r>
              <a:rPr>
                <a:solidFill>
                  <a:srgbClr val="931A68"/>
                </a:solidFill>
              </a:rPr>
              <a:t>null</a:t>
            </a:r>
            <a:r>
              <a:rPr>
                <a:solidFill>
                  <a:srgbClr val="000000"/>
                </a:solidFill>
              </a:rPr>
              <a:t>)</a:t>
            </a:r>
            <a:r>
              <a:t>// 没有结点与要删除的key相等</a:t>
            </a:r>
            <a:endParaRPr>
              <a:solidFill>
                <a:srgbClr val="000000"/>
              </a:solidFill>
            </a:endParaRPr>
          </a:p>
          <a:p>
            <a:pPr indent="0">
              <a:defRPr sz="22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t>null</a:t>
            </a:r>
            <a:r>
              <a:rPr>
                <a:solidFill>
                  <a:srgbClr val="000000"/>
                </a:solidFill>
              </a:rPr>
              <a:t>;</a:t>
            </a:r>
            <a:endParaRPr>
              <a:solidFill>
                <a:srgbClr val="000000"/>
              </a:solidFill>
            </a:endParaRPr>
          </a:p>
          <a:p>
            <a:pPr indent="0">
              <a:defRPr sz="22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4" name="Shape 370"/>
          <p:cNvSpPr txBox="1"/>
          <p:nvPr>
            <p:ph type="title"/>
          </p:nvPr>
        </p:nvSpPr>
        <p:spPr>
          <a:xfrm>
            <a:off x="1611488" y="125588"/>
            <a:ext cx="9448801" cy="952501"/>
          </a:xfrm>
          <a:prstGeom prst="rect">
            <a:avLst/>
          </a:prstGeom>
        </p:spPr>
        <p:txBody>
          <a:bodyPr/>
          <a:lstStyle/>
          <a:p>
            <a:pPr/>
            <a:r>
              <a:t>remove</a:t>
            </a:r>
          </a:p>
        </p:txBody>
      </p:sp>
      <p:sp>
        <p:nvSpPr>
          <p:cNvPr id="835" name="// 如果c既有左子树也有右子树，复制左子树中最大结点的值到结点c…"/>
          <p:cNvSpPr txBox="1"/>
          <p:nvPr/>
        </p:nvSpPr>
        <p:spPr>
          <a:xfrm>
            <a:off x="105645" y="1479212"/>
            <a:ext cx="12460487" cy="46991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400">
                <a:solidFill>
                  <a:srgbClr val="4E9072"/>
                </a:solidFill>
                <a:latin typeface="Monaco"/>
                <a:ea typeface="Monaco"/>
                <a:cs typeface="Monaco"/>
                <a:sym typeface="Monaco"/>
              </a:defRPr>
            </a:pPr>
            <a:r>
              <a:rPr>
                <a:solidFill>
                  <a:srgbClr val="000000"/>
                </a:solidFill>
              </a:rPr>
              <a:t>		</a:t>
            </a:r>
            <a:r>
              <a:t>// 如果c既有左子树也有右子树，复制左子树中最大结点的值到结点c</a:t>
            </a:r>
            <a:endParaRPr>
              <a:solidFill>
                <a:srgbClr val="000000"/>
              </a:solidFill>
            </a:endParaRPr>
          </a:p>
          <a:p>
            <a:pPr indent="0">
              <a:defRPr sz="2400">
                <a:solidFill>
                  <a:srgbClr val="4E9072"/>
                </a:solidFill>
                <a:latin typeface="Monaco"/>
                <a:ea typeface="Monaco"/>
                <a:cs typeface="Monaco"/>
                <a:sym typeface="Monaco"/>
              </a:defRPr>
            </a:pPr>
            <a:r>
              <a:rPr>
                <a:solidFill>
                  <a:srgbClr val="000000"/>
                </a:solidFill>
              </a:rPr>
              <a:t>		</a:t>
            </a:r>
            <a:r>
              <a:t>// 转换为c只有左子树的情形</a:t>
            </a:r>
            <a:endParaRPr>
              <a:solidFill>
                <a:srgbClr val="000000"/>
              </a:solidFill>
            </a:endParaRPr>
          </a:p>
          <a:p>
            <a:pPr indent="0">
              <a:defRPr sz="24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rPr>
                <a:solidFill>
                  <a:srgbClr val="0326CC"/>
                </a:solidFill>
              </a:rP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rPr>
                <a:solidFill>
                  <a:srgbClr val="0326CC"/>
                </a:solidFill>
              </a:rPr>
              <a:t>right</a:t>
            </a:r>
            <a:r>
              <a:rPr>
                <a:solidFill>
                  <a:srgbClr val="000000"/>
                </a:solidFill>
              </a:rPr>
              <a:t> != </a:t>
            </a:r>
            <a:r>
              <a:rPr>
                <a:solidFill>
                  <a:srgbClr val="931A68"/>
                </a:solidFill>
              </a:rPr>
              <a:t>null</a:t>
            </a:r>
            <a:r>
              <a:rPr>
                <a:solidFill>
                  <a:srgbClr val="000000"/>
                </a:solidFill>
              </a:rPr>
              <a:t>) {</a:t>
            </a:r>
            <a:endParaRPr>
              <a:solidFill>
                <a:srgbClr val="000000"/>
              </a:solidFill>
            </a:endParaRPr>
          </a:p>
          <a:p>
            <a:pPr indent="0">
              <a:defRPr sz="2400">
                <a:latin typeface="Monaco"/>
                <a:ea typeface="Monaco"/>
                <a:cs typeface="Monaco"/>
                <a:sym typeface="Monaco"/>
              </a:defRPr>
            </a:pPr>
            <a:r>
              <a:t>			Node&lt;K, V&gt; </a:t>
            </a:r>
            <a:r>
              <a:rPr>
                <a:solidFill>
                  <a:srgbClr val="7E504F"/>
                </a:solidFill>
              </a:rPr>
              <a:t>q</a:t>
            </a:r>
            <a:r>
              <a:t>;</a:t>
            </a:r>
          </a:p>
          <a:p>
            <a:pPr indent="0">
              <a:defRPr sz="2400">
                <a:solidFill>
                  <a:srgbClr val="0326CC"/>
                </a:solidFill>
                <a:latin typeface="Monaco"/>
                <a:ea typeface="Monaco"/>
                <a:cs typeface="Monaco"/>
                <a:sym typeface="Monaco"/>
              </a:defRPr>
            </a:pPr>
            <a:r>
              <a:rPr>
                <a:solidFill>
                  <a:srgbClr val="000000"/>
                </a:solidFill>
              </a:rPr>
              <a:t>			</a:t>
            </a:r>
            <a:r>
              <a:rPr>
                <a:solidFill>
                  <a:srgbClr val="931A68"/>
                </a:solidFill>
              </a:rPr>
              <a:t>for</a:t>
            </a:r>
            <a:r>
              <a:rPr>
                <a:solidFill>
                  <a:srgbClr val="000000"/>
                </a:solidFill>
              </a:rPr>
              <a:t> (</a:t>
            </a:r>
            <a:r>
              <a:rPr>
                <a:solidFill>
                  <a:srgbClr val="7E504F"/>
                </a:solidFill>
              </a:rPr>
              <a:t>p</a:t>
            </a:r>
            <a:r>
              <a:rPr>
                <a:solidFill>
                  <a:srgbClr val="000000"/>
                </a:solidFill>
              </a:rPr>
              <a:t> = </a:t>
            </a:r>
            <a:r>
              <a:rPr>
                <a:solidFill>
                  <a:srgbClr val="7E504F"/>
                </a:solidFill>
              </a:rPr>
              <a:t>c</a:t>
            </a:r>
            <a:r>
              <a:rPr>
                <a:solidFill>
                  <a:srgbClr val="000000"/>
                </a:solidFill>
              </a:rPr>
              <a:t>, </a:t>
            </a:r>
            <a:r>
              <a:rPr>
                <a:solidFill>
                  <a:srgbClr val="7E504F"/>
                </a:solidFill>
              </a:rPr>
              <a:t>q</a:t>
            </a:r>
            <a:r>
              <a:rPr>
                <a:solidFill>
                  <a:srgbClr val="000000"/>
                </a:solidFill>
              </a:rPr>
              <a:t> = </a:t>
            </a:r>
            <a:r>
              <a:rPr>
                <a:solidFill>
                  <a:srgbClr val="7E504F"/>
                </a:solidFill>
              </a:rPr>
              <a:t>c</a:t>
            </a:r>
            <a:r>
              <a:rPr>
                <a:solidFill>
                  <a:srgbClr val="000000"/>
                </a:solidFill>
              </a:rPr>
              <a:t>.</a:t>
            </a:r>
            <a:r>
              <a:t>left</a:t>
            </a:r>
            <a:r>
              <a:rPr>
                <a:solidFill>
                  <a:srgbClr val="000000"/>
                </a:solidFill>
              </a:rPr>
              <a:t>; </a:t>
            </a:r>
            <a:r>
              <a:rPr>
                <a:solidFill>
                  <a:srgbClr val="7E504F"/>
                </a:solidFill>
              </a:rPr>
              <a:t>q</a:t>
            </a:r>
            <a:r>
              <a:rPr>
                <a:solidFill>
                  <a:srgbClr val="000000"/>
                </a:solidFill>
              </a:rPr>
              <a:t>.</a:t>
            </a:r>
            <a:r>
              <a:t>right</a:t>
            </a:r>
            <a:r>
              <a:rPr>
                <a:solidFill>
                  <a:srgbClr val="000000"/>
                </a:solidFill>
              </a:rPr>
              <a:t> != </a:t>
            </a:r>
            <a:r>
              <a:rPr>
                <a:solidFill>
                  <a:srgbClr val="931A68"/>
                </a:solidFill>
              </a:rPr>
              <a:t>null</a:t>
            </a:r>
            <a:r>
              <a:rPr>
                <a:solidFill>
                  <a:srgbClr val="000000"/>
                </a:solidFill>
              </a:rPr>
              <a:t>; </a:t>
            </a:r>
            <a:r>
              <a:rPr>
                <a:solidFill>
                  <a:srgbClr val="7E504F"/>
                </a:solidFill>
              </a:rPr>
              <a:t>p</a:t>
            </a:r>
            <a:r>
              <a:rPr>
                <a:solidFill>
                  <a:srgbClr val="000000"/>
                </a:solidFill>
              </a:rPr>
              <a:t> = </a:t>
            </a:r>
            <a:r>
              <a:rPr>
                <a:solidFill>
                  <a:srgbClr val="7E504F"/>
                </a:solidFill>
              </a:rPr>
              <a:t>q</a:t>
            </a:r>
            <a:r>
              <a:rPr>
                <a:solidFill>
                  <a:srgbClr val="000000"/>
                </a:solidFill>
              </a:rPr>
              <a:t>, </a:t>
            </a:r>
            <a:r>
              <a:rPr>
                <a:solidFill>
                  <a:srgbClr val="7E504F"/>
                </a:solidFill>
              </a:rPr>
              <a:t>q</a:t>
            </a:r>
            <a:r>
              <a:rPr>
                <a:solidFill>
                  <a:srgbClr val="000000"/>
                </a:solidFill>
              </a:rPr>
              <a:t> = </a:t>
            </a:r>
            <a:r>
              <a:rPr>
                <a:solidFill>
                  <a:srgbClr val="7E504F"/>
                </a:solidFill>
              </a:rPr>
              <a:t>q</a:t>
            </a:r>
            <a:r>
              <a:rPr>
                <a:solidFill>
                  <a:srgbClr val="000000"/>
                </a:solidFill>
              </a:rPr>
              <a:t>.</a:t>
            </a:r>
            <a:r>
              <a:t>right</a:t>
            </a:r>
            <a:r>
              <a:rPr>
                <a:solidFill>
                  <a:srgbClr val="000000"/>
                </a:solidFill>
              </a:rPr>
              <a:t>)</a:t>
            </a:r>
            <a:endParaRPr>
              <a:solidFill>
                <a:srgbClr val="000000"/>
              </a:solidFill>
            </a:endParaRPr>
          </a:p>
          <a:p>
            <a:pPr indent="0">
              <a:defRPr sz="2400">
                <a:latin typeface="Monaco"/>
                <a:ea typeface="Monaco"/>
                <a:cs typeface="Monaco"/>
                <a:sym typeface="Monaco"/>
              </a:defRPr>
            </a:pPr>
            <a:r>
              <a:t>				;</a:t>
            </a:r>
          </a:p>
          <a:p>
            <a:pPr indent="0">
              <a:defRPr sz="2400">
                <a:solidFill>
                  <a:srgbClr val="4E9072"/>
                </a:solidFill>
                <a:latin typeface="Monaco"/>
                <a:ea typeface="Monaco"/>
                <a:cs typeface="Monaco"/>
                <a:sym typeface="Monaco"/>
              </a:defRPr>
            </a:pPr>
            <a:r>
              <a:rPr>
                <a:solidFill>
                  <a:srgbClr val="000000"/>
                </a:solidFill>
              </a:rPr>
              <a:t>			</a:t>
            </a:r>
            <a:r>
              <a:t>// 复制q的值到c</a:t>
            </a:r>
            <a:endParaRPr>
              <a:solidFill>
                <a:srgbClr val="000000"/>
              </a:solidFill>
            </a:endParaRPr>
          </a:p>
          <a:p>
            <a:pPr indent="0">
              <a:defRPr sz="2400">
                <a:latin typeface="Monaco"/>
                <a:ea typeface="Monaco"/>
                <a:cs typeface="Monaco"/>
                <a:sym typeface="Monaco"/>
              </a:defRPr>
            </a:pPr>
            <a:r>
              <a:t>			</a:t>
            </a:r>
            <a:r>
              <a:rPr>
                <a:solidFill>
                  <a:srgbClr val="7E504F"/>
                </a:solidFill>
              </a:rPr>
              <a:t>c</a:t>
            </a:r>
            <a:r>
              <a:t>.</a:t>
            </a:r>
            <a:r>
              <a:rPr>
                <a:solidFill>
                  <a:srgbClr val="0326CC"/>
                </a:solidFill>
              </a:rPr>
              <a:t>key</a:t>
            </a:r>
            <a:r>
              <a:t> = </a:t>
            </a:r>
            <a:r>
              <a:rPr>
                <a:solidFill>
                  <a:srgbClr val="7E504F"/>
                </a:solidFill>
              </a:rPr>
              <a:t>q</a:t>
            </a:r>
            <a:r>
              <a:t>.</a:t>
            </a:r>
            <a:r>
              <a:rPr>
                <a:solidFill>
                  <a:srgbClr val="0326CC"/>
                </a:solidFill>
              </a:rPr>
              <a:t>key</a:t>
            </a:r>
            <a:r>
              <a:t>;</a:t>
            </a:r>
          </a:p>
          <a:p>
            <a:pPr indent="0">
              <a:defRPr sz="24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value</a:t>
            </a:r>
            <a:r>
              <a:rPr>
                <a:solidFill>
                  <a:srgbClr val="000000"/>
                </a:solidFill>
              </a:rPr>
              <a:t> = </a:t>
            </a:r>
            <a:r>
              <a:rPr>
                <a:solidFill>
                  <a:srgbClr val="7E504F"/>
                </a:solidFill>
              </a:rPr>
              <a:t>q</a:t>
            </a:r>
            <a:r>
              <a:rPr>
                <a:solidFill>
                  <a:srgbClr val="000000"/>
                </a:solidFill>
              </a:rPr>
              <a:t>.</a:t>
            </a:r>
            <a:r>
              <a:t>value</a:t>
            </a:r>
            <a:r>
              <a:rPr>
                <a:solidFill>
                  <a:srgbClr val="000000"/>
                </a:solidFill>
              </a:rPr>
              <a:t>;</a:t>
            </a:r>
            <a:endParaRPr>
              <a:solidFill>
                <a:srgbClr val="000000"/>
              </a:solidFill>
            </a:endParaRPr>
          </a:p>
          <a:p>
            <a:pPr indent="0">
              <a:defRPr sz="2400">
                <a:solidFill>
                  <a:srgbClr val="4E9072"/>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 = </a:t>
            </a:r>
            <a:r>
              <a:rPr>
                <a:solidFill>
                  <a:srgbClr val="7E504F"/>
                </a:solidFill>
              </a:rPr>
              <a:t>q</a:t>
            </a:r>
            <a:r>
              <a:rPr>
                <a:solidFill>
                  <a:srgbClr val="000000"/>
                </a:solidFill>
              </a:rPr>
              <a:t>;</a:t>
            </a:r>
            <a:r>
              <a:t>// q成为待删除的结点</a:t>
            </a:r>
            <a:endParaRPr>
              <a:solidFill>
                <a:srgbClr val="000000"/>
              </a:solidFill>
            </a:endParaRPr>
          </a:p>
          <a:p>
            <a:pPr indent="0">
              <a:defRPr sz="24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7" name="Shape 370"/>
          <p:cNvSpPr txBox="1"/>
          <p:nvPr>
            <p:ph type="title"/>
          </p:nvPr>
        </p:nvSpPr>
        <p:spPr>
          <a:xfrm>
            <a:off x="1611488" y="125588"/>
            <a:ext cx="9448801" cy="952501"/>
          </a:xfrm>
          <a:prstGeom prst="rect">
            <a:avLst/>
          </a:prstGeom>
        </p:spPr>
        <p:txBody>
          <a:bodyPr/>
          <a:lstStyle/>
          <a:p>
            <a:pPr/>
            <a:r>
              <a:t>remove</a:t>
            </a:r>
          </a:p>
        </p:txBody>
      </p:sp>
      <p:sp>
        <p:nvSpPr>
          <p:cNvPr id="838" name="// 3合1:删除结点c, c或为叶子结点，或为只有左子树，或只有右子树的结点；p是c的父结点…"/>
          <p:cNvSpPr txBox="1"/>
          <p:nvPr/>
        </p:nvSpPr>
        <p:spPr>
          <a:xfrm>
            <a:off x="281768" y="1225971"/>
            <a:ext cx="12441264" cy="734925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300">
                <a:solidFill>
                  <a:srgbClr val="4E9072"/>
                </a:solidFill>
                <a:latin typeface="Monaco"/>
                <a:ea typeface="Monaco"/>
                <a:cs typeface="Monaco"/>
                <a:sym typeface="Monaco"/>
              </a:defRPr>
            </a:pPr>
            <a:r>
              <a:t>// 3合1:删除结点c, c或为叶子结点，或为只有左子树，或只有右子树的结点；p是c的父结点</a:t>
            </a:r>
            <a:endParaRPr>
              <a:solidFill>
                <a:srgbClr val="000000"/>
              </a:solidFill>
            </a:endParaRPr>
          </a:p>
          <a:p>
            <a:pPr indent="0">
              <a:defRPr sz="2300">
                <a:solidFill>
                  <a:srgbClr val="4E9072"/>
                </a:solidFill>
                <a:latin typeface="Monaco"/>
                <a:ea typeface="Monaco"/>
                <a:cs typeface="Monaco"/>
                <a:sym typeface="Monaco"/>
              </a:defRPr>
            </a:pPr>
            <a:r>
              <a:rPr>
                <a:solidFill>
                  <a:srgbClr val="000000"/>
                </a:solidFill>
              </a:rPr>
              <a:t>		</a:t>
            </a:r>
            <a:r>
              <a:t>// orphan引用c的不为空的子树(如果c是叶子结点，则为空树)</a:t>
            </a:r>
            <a:endParaRPr>
              <a:solidFill>
                <a:srgbClr val="000000"/>
              </a:solidFill>
            </a:endParaRPr>
          </a:p>
          <a:p>
            <a:pPr indent="0">
              <a:defRPr sz="2300">
                <a:latin typeface="Monaco"/>
                <a:ea typeface="Monaco"/>
                <a:cs typeface="Monaco"/>
                <a:sym typeface="Monaco"/>
              </a:defRPr>
            </a:pPr>
            <a:r>
              <a:t>		Node&lt;K, V&gt; </a:t>
            </a:r>
            <a:r>
              <a:rPr>
                <a:solidFill>
                  <a:srgbClr val="7E504F"/>
                </a:solidFill>
              </a:rPr>
              <a:t>orphan</a:t>
            </a:r>
            <a:r>
              <a:t> = </a:t>
            </a:r>
            <a:r>
              <a:rPr>
                <a:solidFill>
                  <a:srgbClr val="7E504F"/>
                </a:solidFill>
              </a:rPr>
              <a:t>c</a:t>
            </a:r>
            <a:r>
              <a:t>.</a:t>
            </a:r>
            <a:r>
              <a:rPr>
                <a:solidFill>
                  <a:srgbClr val="0326CC"/>
                </a:solidFill>
              </a:rPr>
              <a:t>left</a:t>
            </a:r>
            <a:r>
              <a:t> == </a:t>
            </a:r>
            <a:r>
              <a:rPr>
                <a:solidFill>
                  <a:srgbClr val="931A68"/>
                </a:solidFill>
              </a:rPr>
              <a:t>null</a:t>
            </a:r>
            <a:r>
              <a:t> ? </a:t>
            </a:r>
            <a:r>
              <a:rPr>
                <a:solidFill>
                  <a:srgbClr val="7E504F"/>
                </a:solidFill>
              </a:rPr>
              <a:t>c</a:t>
            </a:r>
            <a:r>
              <a:t>.</a:t>
            </a:r>
            <a:r>
              <a:rPr>
                <a:solidFill>
                  <a:srgbClr val="0326CC"/>
                </a:solidFill>
              </a:rPr>
              <a:t>right</a:t>
            </a:r>
            <a:r>
              <a:t> : </a:t>
            </a:r>
            <a:r>
              <a:rPr>
                <a:solidFill>
                  <a:srgbClr val="7E504F"/>
                </a:solidFill>
              </a:rPr>
              <a:t>c</a:t>
            </a:r>
            <a:r>
              <a:t>.</a:t>
            </a:r>
            <a:r>
              <a:rPr>
                <a:solidFill>
                  <a:srgbClr val="0326CC"/>
                </a:solidFill>
              </a:rPr>
              <a:t>left</a:t>
            </a:r>
            <a:r>
              <a:t>;</a:t>
            </a:r>
          </a:p>
          <a:p>
            <a:pPr indent="0">
              <a:defRPr sz="2300">
                <a:solidFill>
                  <a:srgbClr val="0326CC"/>
                </a:solidFill>
                <a:latin typeface="Monaco"/>
                <a:ea typeface="Monaco"/>
                <a:cs typeface="Monaco"/>
                <a:sym typeface="Monaco"/>
              </a:defRPr>
            </a:pPr>
            <a:r>
              <a:rPr>
                <a:solidFill>
                  <a:srgbClr val="000000"/>
                </a:solidFill>
              </a:rPr>
              <a:t>		</a:t>
            </a:r>
            <a:r>
              <a:t>size</a:t>
            </a:r>
            <a:r>
              <a:rPr>
                <a:solidFill>
                  <a:srgbClr val="000000"/>
                </a:solidFill>
              </a:rPr>
              <a:t>--;</a:t>
            </a:r>
            <a:endParaRPr>
              <a:solidFill>
                <a:srgbClr val="000000"/>
              </a:solidFill>
            </a:endParaRPr>
          </a:p>
          <a:p>
            <a:pPr indent="0">
              <a:defRPr sz="2300">
                <a:solidFill>
                  <a:srgbClr val="7E504F"/>
                </a:solidFill>
                <a:latin typeface="Monaco"/>
                <a:ea typeface="Monaco"/>
                <a:cs typeface="Monaco"/>
                <a:sym typeface="Monaco"/>
              </a:defRPr>
            </a:pPr>
            <a:r>
              <a:rPr>
                <a:solidFill>
                  <a:srgbClr val="000000"/>
                </a:solidFill>
              </a:rPr>
              <a:t>		V </a:t>
            </a:r>
            <a:r>
              <a:t>result</a:t>
            </a:r>
            <a:r>
              <a:rPr>
                <a:solidFill>
                  <a:srgbClr val="000000"/>
                </a:solidFill>
              </a:rPr>
              <a:t> = </a:t>
            </a:r>
            <a:r>
              <a:t>c</a:t>
            </a:r>
            <a:r>
              <a:rPr>
                <a:solidFill>
                  <a:srgbClr val="000000"/>
                </a:solidFill>
              </a:rPr>
              <a:t>.</a:t>
            </a:r>
            <a:r>
              <a:rPr>
                <a:solidFill>
                  <a:srgbClr val="0326CC"/>
                </a:solidFill>
              </a:rPr>
              <a:t>value</a:t>
            </a:r>
            <a:r>
              <a:rPr>
                <a:solidFill>
                  <a:srgbClr val="000000"/>
                </a:solidFill>
              </a:rPr>
              <a:t>;</a:t>
            </a:r>
            <a:endParaRPr>
              <a:solidFill>
                <a:srgbClr val="000000"/>
              </a:solidFill>
            </a:endParaRPr>
          </a:p>
          <a:p>
            <a:pPr indent="0">
              <a:defRPr sz="2300">
                <a:solidFill>
                  <a:srgbClr val="4E9072"/>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rPr>
                <a:solidFill>
                  <a:srgbClr val="0326CC"/>
                </a:solidFill>
              </a:rPr>
              <a:t>key</a:t>
            </a:r>
            <a:r>
              <a:rPr>
                <a:solidFill>
                  <a:srgbClr val="000000"/>
                </a:solidFill>
              </a:rPr>
              <a:t> = </a:t>
            </a:r>
            <a:r>
              <a:rPr>
                <a:solidFill>
                  <a:srgbClr val="931A68"/>
                </a:solidFill>
              </a:rPr>
              <a:t>null</a:t>
            </a:r>
            <a:r>
              <a:rPr>
                <a:solidFill>
                  <a:srgbClr val="000000"/>
                </a:solidFill>
              </a:rPr>
              <a:t>;</a:t>
            </a:r>
            <a:r>
              <a:t>// 帮助GC</a:t>
            </a:r>
            <a:endParaRPr>
              <a:solidFill>
                <a:srgbClr val="000000"/>
              </a:solidFill>
            </a:endParaRPr>
          </a:p>
          <a:p>
            <a:pPr indent="0">
              <a:defRPr sz="23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value</a:t>
            </a:r>
            <a:r>
              <a:rPr>
                <a:solidFill>
                  <a:srgbClr val="000000"/>
                </a:solidFill>
              </a:rPr>
              <a:t> = </a:t>
            </a:r>
            <a:r>
              <a:rPr>
                <a:solidFill>
                  <a:srgbClr val="931A68"/>
                </a:solidFill>
              </a:rPr>
              <a:t>null</a:t>
            </a:r>
            <a:r>
              <a:rPr>
                <a:solidFill>
                  <a:srgbClr val="000000"/>
                </a:solidFill>
              </a:rPr>
              <a:t>;</a:t>
            </a:r>
            <a:endParaRPr>
              <a:solidFill>
                <a:srgbClr val="000000"/>
              </a:solidFill>
            </a:endParaRPr>
          </a:p>
          <a:p>
            <a:pPr indent="0">
              <a:defRPr sz="23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left</a:t>
            </a:r>
            <a:r>
              <a:rPr>
                <a:solidFill>
                  <a:srgbClr val="000000"/>
                </a:solidFill>
              </a:rPr>
              <a:t> = </a:t>
            </a:r>
            <a:r>
              <a:rPr>
                <a:solidFill>
                  <a:srgbClr val="7E504F"/>
                </a:solidFill>
              </a:rPr>
              <a:t>c</a:t>
            </a:r>
            <a:r>
              <a:rPr>
                <a:solidFill>
                  <a:srgbClr val="000000"/>
                </a:solidFill>
              </a:rPr>
              <a:t>.</a:t>
            </a:r>
            <a:r>
              <a:t>right</a:t>
            </a:r>
            <a:r>
              <a:rPr>
                <a:solidFill>
                  <a:srgbClr val="000000"/>
                </a:solidFill>
              </a:rPr>
              <a:t> = </a:t>
            </a:r>
            <a:r>
              <a:rPr>
                <a:solidFill>
                  <a:srgbClr val="931A68"/>
                </a:solidFill>
              </a:rPr>
              <a:t>null</a:t>
            </a:r>
            <a:r>
              <a:rPr>
                <a:solidFill>
                  <a:srgbClr val="000000"/>
                </a:solidFill>
              </a:rPr>
              <a:t>;</a:t>
            </a:r>
            <a:endParaRPr>
              <a:solidFill>
                <a:srgbClr val="000000"/>
              </a:solidFill>
            </a:endParaRPr>
          </a:p>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 == </a:t>
            </a:r>
            <a:r>
              <a:rPr>
                <a:solidFill>
                  <a:srgbClr val="0326CC"/>
                </a:solidFill>
              </a:rPr>
              <a:t>root</a:t>
            </a:r>
            <a:r>
              <a:rPr>
                <a:solidFill>
                  <a:srgbClr val="000000"/>
                </a:solidFill>
              </a:rPr>
              <a:t>) {</a:t>
            </a:r>
            <a:r>
              <a:t>// 删除的是根结点</a:t>
            </a:r>
            <a:endParaRPr>
              <a:solidFill>
                <a:srgbClr val="000000"/>
              </a:solidFill>
            </a:endParaRPr>
          </a:p>
          <a:p>
            <a:pPr indent="0">
              <a:defRPr sz="2300">
                <a:solidFill>
                  <a:srgbClr val="7E504F"/>
                </a:solidFill>
                <a:latin typeface="Monaco"/>
                <a:ea typeface="Monaco"/>
                <a:cs typeface="Monaco"/>
                <a:sym typeface="Monaco"/>
              </a:defRPr>
            </a:pPr>
            <a:r>
              <a:rPr>
                <a:solidFill>
                  <a:srgbClr val="000000"/>
                </a:solidFill>
              </a:rPr>
              <a:t>			</a:t>
            </a:r>
            <a:r>
              <a:rPr>
                <a:solidFill>
                  <a:srgbClr val="0326CC"/>
                </a:solidFill>
              </a:rPr>
              <a:t>root</a:t>
            </a:r>
            <a:r>
              <a:rPr>
                <a:solidFill>
                  <a:srgbClr val="000000"/>
                </a:solidFill>
              </a:rPr>
              <a:t> = </a:t>
            </a:r>
            <a:r>
              <a:t>orphan</a:t>
            </a:r>
            <a:r>
              <a:rPr>
                <a:solidFill>
                  <a:srgbClr val="000000"/>
                </a:solidFill>
              </a:rPr>
              <a:t>;</a:t>
            </a:r>
            <a:endParaRPr>
              <a:solidFill>
                <a:srgbClr val="000000"/>
              </a:solidFill>
            </a:endParaRPr>
          </a:p>
          <a:p>
            <a:pPr indent="0">
              <a:defRPr sz="23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result</a:t>
            </a:r>
            <a:r>
              <a:rPr>
                <a:solidFill>
                  <a:srgbClr val="000000"/>
                </a:solidFill>
              </a:rPr>
              <a:t>;</a:t>
            </a:r>
            <a:endParaRPr>
              <a:solidFill>
                <a:srgbClr val="000000"/>
              </a:solidFill>
            </a:endParaRPr>
          </a:p>
          <a:p>
            <a:pPr indent="0">
              <a:defRPr sz="2300">
                <a:latin typeface="Monaco"/>
                <a:ea typeface="Monaco"/>
                <a:cs typeface="Monaco"/>
                <a:sym typeface="Monaco"/>
              </a:defRPr>
            </a:pPr>
            <a:r>
              <a:t>		}</a:t>
            </a:r>
          </a:p>
          <a:p>
            <a:pPr indent="0">
              <a:defRPr sz="2300">
                <a:solidFill>
                  <a:srgbClr val="4E9072"/>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 == </a:t>
            </a:r>
            <a:r>
              <a:rPr>
                <a:solidFill>
                  <a:srgbClr val="7E504F"/>
                </a:solidFill>
              </a:rPr>
              <a:t>p</a:t>
            </a:r>
            <a:r>
              <a:rPr>
                <a:solidFill>
                  <a:srgbClr val="000000"/>
                </a:solidFill>
              </a:rPr>
              <a:t>.</a:t>
            </a:r>
            <a:r>
              <a:rPr>
                <a:solidFill>
                  <a:srgbClr val="0326CC"/>
                </a:solidFill>
              </a:rPr>
              <a:t>left</a:t>
            </a:r>
            <a:r>
              <a:rPr>
                <a:solidFill>
                  <a:srgbClr val="000000"/>
                </a:solidFill>
              </a:rPr>
              <a:t>)</a:t>
            </a:r>
            <a:r>
              <a:t>// p只有在删除根结点时才会为null，这时一定不为null</a:t>
            </a:r>
            <a:endParaRPr>
              <a:solidFill>
                <a:srgbClr val="000000"/>
              </a:solidFill>
            </a:endParaRPr>
          </a:p>
          <a:p>
            <a:pPr indent="0">
              <a:defRPr sz="2300">
                <a:solidFill>
                  <a:srgbClr val="7E504F"/>
                </a:solidFill>
                <a:latin typeface="Monaco"/>
                <a:ea typeface="Monaco"/>
                <a:cs typeface="Monaco"/>
                <a:sym typeface="Monaco"/>
              </a:defRPr>
            </a:pPr>
            <a:r>
              <a:rPr>
                <a:solidFill>
                  <a:srgbClr val="000000"/>
                </a:solidFill>
              </a:rPr>
              <a:t>			</a:t>
            </a:r>
            <a:r>
              <a:t>p</a:t>
            </a:r>
            <a:r>
              <a:rPr>
                <a:solidFill>
                  <a:srgbClr val="000000"/>
                </a:solidFill>
              </a:rPr>
              <a:t>.</a:t>
            </a:r>
            <a:r>
              <a:rPr>
                <a:solidFill>
                  <a:srgbClr val="0326CC"/>
                </a:solidFill>
              </a:rPr>
              <a:t>left</a:t>
            </a:r>
            <a:r>
              <a:rPr>
                <a:solidFill>
                  <a:srgbClr val="000000"/>
                </a:solidFill>
              </a:rPr>
              <a:t> = </a:t>
            </a:r>
            <a:r>
              <a:t>orphan</a:t>
            </a:r>
            <a:r>
              <a:rPr>
                <a:solidFill>
                  <a:srgbClr val="000000"/>
                </a:solidFill>
              </a:rPr>
              <a:t>;</a:t>
            </a:r>
            <a:endParaRPr>
              <a:solidFill>
                <a:srgbClr val="000000"/>
              </a:solidFill>
            </a:endParaRPr>
          </a:p>
          <a:p>
            <a:pPr indent="0">
              <a:defRPr sz="2300">
                <a:solidFill>
                  <a:srgbClr val="931A68"/>
                </a:solidFill>
                <a:latin typeface="Monaco"/>
                <a:ea typeface="Monaco"/>
                <a:cs typeface="Monaco"/>
                <a:sym typeface="Monaco"/>
              </a:defRPr>
            </a:pPr>
            <a:r>
              <a:rPr>
                <a:solidFill>
                  <a:srgbClr val="000000"/>
                </a:solidFill>
              </a:rPr>
              <a:t>		</a:t>
            </a:r>
            <a:r>
              <a:t>else</a:t>
            </a:r>
            <a:endParaRPr>
              <a:solidFill>
                <a:srgbClr val="000000"/>
              </a:solidFill>
            </a:endParaRPr>
          </a:p>
          <a:p>
            <a:pPr indent="0">
              <a:defRPr sz="2300">
                <a:solidFill>
                  <a:srgbClr val="7E504F"/>
                </a:solidFill>
                <a:latin typeface="Monaco"/>
                <a:ea typeface="Monaco"/>
                <a:cs typeface="Monaco"/>
                <a:sym typeface="Monaco"/>
              </a:defRPr>
            </a:pPr>
            <a:r>
              <a:rPr>
                <a:solidFill>
                  <a:srgbClr val="000000"/>
                </a:solidFill>
              </a:rPr>
              <a:t>			</a:t>
            </a:r>
            <a:r>
              <a:t>p</a:t>
            </a:r>
            <a:r>
              <a:rPr>
                <a:solidFill>
                  <a:srgbClr val="000000"/>
                </a:solidFill>
              </a:rPr>
              <a:t>.</a:t>
            </a:r>
            <a:r>
              <a:rPr>
                <a:solidFill>
                  <a:srgbClr val="0326CC"/>
                </a:solidFill>
              </a:rPr>
              <a:t>right</a:t>
            </a:r>
            <a:r>
              <a:rPr>
                <a:solidFill>
                  <a:srgbClr val="000000"/>
                </a:solidFill>
              </a:rPr>
              <a:t> = </a:t>
            </a:r>
            <a:r>
              <a:t>orphan</a:t>
            </a:r>
            <a:r>
              <a:rPr>
                <a:solidFill>
                  <a:srgbClr val="000000"/>
                </a:solidFill>
              </a:rPr>
              <a:t>;</a:t>
            </a:r>
            <a:endParaRPr>
              <a:solidFill>
                <a:srgbClr val="000000"/>
              </a:solidFill>
            </a:endParaRPr>
          </a:p>
          <a:p>
            <a:pPr indent="0">
              <a:defRPr sz="2300">
                <a:solidFill>
                  <a:srgbClr val="931A68"/>
                </a:solidFill>
                <a:latin typeface="Monaco"/>
                <a:ea typeface="Monaco"/>
                <a:cs typeface="Monaco"/>
                <a:sym typeface="Monaco"/>
              </a:defRPr>
            </a:pPr>
            <a:r>
              <a:rPr>
                <a:solidFill>
                  <a:srgbClr val="000000"/>
                </a:solidFill>
              </a:rPr>
              <a:t>		</a:t>
            </a:r>
            <a:r>
              <a:t>return</a:t>
            </a:r>
            <a:r>
              <a:rPr>
                <a:solidFill>
                  <a:srgbClr val="000000"/>
                </a:solidFill>
              </a:rPr>
              <a:t> </a:t>
            </a:r>
            <a:r>
              <a:rPr>
                <a:solidFill>
                  <a:srgbClr val="7E504F"/>
                </a:solidFill>
              </a:rPr>
              <a:t>result</a:t>
            </a:r>
            <a:r>
              <a:rPr>
                <a:solidFill>
                  <a:srgbClr val="000000"/>
                </a:solidFill>
              </a:rPr>
              <a:t>;</a:t>
            </a:r>
            <a:endParaRPr>
              <a:solidFill>
                <a:srgbClr val="000000"/>
              </a:solidFill>
            </a:endParaRPr>
          </a:p>
          <a:p>
            <a:pPr indent="0">
              <a:defRPr sz="23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0" name="Shape 749"/>
          <p:cNvSpPr/>
          <p:nvPr/>
        </p:nvSpPr>
        <p:spPr>
          <a:xfrm>
            <a:off x="5334770" y="62353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843" name="Group 752"/>
          <p:cNvGrpSpPr/>
          <p:nvPr/>
        </p:nvGrpSpPr>
        <p:grpSpPr>
          <a:xfrm>
            <a:off x="5765800" y="6533248"/>
            <a:ext cx="747327" cy="745071"/>
            <a:chOff x="0" y="0"/>
            <a:chExt cx="747325" cy="745070"/>
          </a:xfrm>
        </p:grpSpPr>
        <p:sp>
          <p:nvSpPr>
            <p:cNvPr id="841"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42"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38</a:t>
              </a:r>
            </a:p>
          </p:txBody>
        </p:sp>
      </p:grpSp>
      <p:sp>
        <p:nvSpPr>
          <p:cNvPr id="844" name="Shape 753"/>
          <p:cNvSpPr/>
          <p:nvPr/>
        </p:nvSpPr>
        <p:spPr>
          <a:xfrm flipH="1">
            <a:off x="3727591" y="1662005"/>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45" name="Shape 754"/>
          <p:cNvSpPr/>
          <p:nvPr/>
        </p:nvSpPr>
        <p:spPr>
          <a:xfrm flipH="1">
            <a:off x="2447430" y="2827018"/>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46" name="Shape 755"/>
          <p:cNvSpPr/>
          <p:nvPr/>
        </p:nvSpPr>
        <p:spPr>
          <a:xfrm>
            <a:off x="5267396" y="1709418"/>
            <a:ext cx="1039738"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47" name="Shape 756"/>
          <p:cNvSpPr/>
          <p:nvPr/>
        </p:nvSpPr>
        <p:spPr>
          <a:xfrm>
            <a:off x="3894666" y="2795410"/>
            <a:ext cx="973104" cy="74281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48" name="Shape 757"/>
          <p:cNvSpPr/>
          <p:nvPr/>
        </p:nvSpPr>
        <p:spPr>
          <a:xfrm flipH="1">
            <a:off x="3100626" y="5175799"/>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49" name="Shape 758"/>
          <p:cNvSpPr/>
          <p:nvPr/>
        </p:nvSpPr>
        <p:spPr>
          <a:xfrm flipH="1">
            <a:off x="4183925" y="3902762"/>
            <a:ext cx="797813" cy="69290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850" name="Shape 759"/>
          <p:cNvSpPr/>
          <p:nvPr/>
        </p:nvSpPr>
        <p:spPr>
          <a:xfrm>
            <a:off x="6918686" y="2848170"/>
            <a:ext cx="762098"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853" name="Group 764"/>
          <p:cNvGrpSpPr/>
          <p:nvPr/>
        </p:nvGrpSpPr>
        <p:grpSpPr>
          <a:xfrm>
            <a:off x="3199270" y="2267090"/>
            <a:ext cx="749585" cy="745071"/>
            <a:chOff x="0" y="0"/>
            <a:chExt cx="749583" cy="745070"/>
          </a:xfrm>
        </p:grpSpPr>
        <p:sp>
          <p:nvSpPr>
            <p:cNvPr id="851"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52"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856" name="Group 767"/>
          <p:cNvGrpSpPr/>
          <p:nvPr/>
        </p:nvGrpSpPr>
        <p:grpSpPr>
          <a:xfrm>
            <a:off x="6220178" y="2267090"/>
            <a:ext cx="747329" cy="745071"/>
            <a:chOff x="0" y="0"/>
            <a:chExt cx="747328" cy="745070"/>
          </a:xfrm>
        </p:grpSpPr>
        <p:sp>
          <p:nvSpPr>
            <p:cNvPr id="854"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55"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859" name="Group 770"/>
          <p:cNvGrpSpPr/>
          <p:nvPr/>
        </p:nvGrpSpPr>
        <p:grpSpPr>
          <a:xfrm>
            <a:off x="1790417" y="3337277"/>
            <a:ext cx="747327" cy="742811"/>
            <a:chOff x="0" y="0"/>
            <a:chExt cx="747325" cy="742809"/>
          </a:xfrm>
        </p:grpSpPr>
        <p:sp>
          <p:nvSpPr>
            <p:cNvPr id="857"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58"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862" name="Group 773"/>
          <p:cNvGrpSpPr/>
          <p:nvPr/>
        </p:nvGrpSpPr>
        <p:grpSpPr>
          <a:xfrm>
            <a:off x="7607300" y="3353081"/>
            <a:ext cx="747327" cy="742813"/>
            <a:chOff x="0" y="0"/>
            <a:chExt cx="747325" cy="742812"/>
          </a:xfrm>
        </p:grpSpPr>
        <p:sp>
          <p:nvSpPr>
            <p:cNvPr id="860"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61"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865" name="Group 782"/>
          <p:cNvGrpSpPr/>
          <p:nvPr/>
        </p:nvGrpSpPr>
        <p:grpSpPr>
          <a:xfrm>
            <a:off x="3555999" y="4479149"/>
            <a:ext cx="749585" cy="742811"/>
            <a:chOff x="0" y="0"/>
            <a:chExt cx="749583" cy="742809"/>
          </a:xfrm>
        </p:grpSpPr>
        <p:sp>
          <p:nvSpPr>
            <p:cNvPr id="863"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64"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868" name="Group 785"/>
          <p:cNvGrpSpPr/>
          <p:nvPr/>
        </p:nvGrpSpPr>
        <p:grpSpPr>
          <a:xfrm>
            <a:off x="2553263" y="5744915"/>
            <a:ext cx="747329" cy="745071"/>
            <a:chOff x="0" y="0"/>
            <a:chExt cx="747328" cy="745070"/>
          </a:xfrm>
        </p:grpSpPr>
        <p:sp>
          <p:nvSpPr>
            <p:cNvPr id="866" name="Shape 783"/>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67" name="Shape 784"/>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31</a:t>
              </a:r>
            </a:p>
          </p:txBody>
        </p:sp>
      </p:grpSp>
      <p:grpSp>
        <p:nvGrpSpPr>
          <p:cNvPr id="877" name="成组"/>
          <p:cNvGrpSpPr/>
          <p:nvPr/>
        </p:nvGrpSpPr>
        <p:grpSpPr>
          <a:xfrm>
            <a:off x="5443078" y="3876681"/>
            <a:ext cx="2365449" cy="2525338"/>
            <a:chOff x="0" y="0"/>
            <a:chExt cx="2365447" cy="2525336"/>
          </a:xfrm>
        </p:grpSpPr>
        <p:sp>
          <p:nvSpPr>
            <p:cNvPr id="869" name="Shape 760"/>
            <p:cNvSpPr/>
            <p:nvPr/>
          </p:nvSpPr>
          <p:spPr>
            <a:xfrm>
              <a:off x="0" y="0"/>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870" name="Shape 761"/>
            <p:cNvSpPr/>
            <p:nvPr/>
          </p:nvSpPr>
          <p:spPr>
            <a:xfrm>
              <a:off x="1176866" y="1211222"/>
              <a:ext cx="656618" cy="65661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873" name="Group 776"/>
            <p:cNvGrpSpPr/>
            <p:nvPr/>
          </p:nvGrpSpPr>
          <p:grpSpPr>
            <a:xfrm>
              <a:off x="493137" y="602467"/>
              <a:ext cx="747327" cy="742811"/>
              <a:chOff x="0" y="0"/>
              <a:chExt cx="747325" cy="742809"/>
            </a:xfrm>
          </p:grpSpPr>
          <p:sp>
            <p:nvSpPr>
              <p:cNvPr id="871"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72"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876" name="Group 788"/>
            <p:cNvGrpSpPr/>
            <p:nvPr/>
          </p:nvGrpSpPr>
          <p:grpSpPr>
            <a:xfrm>
              <a:off x="1618121" y="1780266"/>
              <a:ext cx="747327" cy="745071"/>
              <a:chOff x="0" y="0"/>
              <a:chExt cx="747325" cy="745070"/>
            </a:xfrm>
          </p:grpSpPr>
          <p:sp>
            <p:nvSpPr>
              <p:cNvPr id="874"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75"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grpSp>
        <p:nvGrpSpPr>
          <p:cNvPr id="880" name="Group 791"/>
          <p:cNvGrpSpPr/>
          <p:nvPr/>
        </p:nvGrpSpPr>
        <p:grpSpPr>
          <a:xfrm>
            <a:off x="3550918" y="4479713"/>
            <a:ext cx="747329" cy="745069"/>
            <a:chOff x="0" y="0"/>
            <a:chExt cx="747328" cy="745067"/>
          </a:xfrm>
        </p:grpSpPr>
        <p:sp>
          <p:nvSpPr>
            <p:cNvPr id="878"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79"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881" name="Shape 792"/>
          <p:cNvSpPr/>
          <p:nvPr/>
        </p:nvSpPr>
        <p:spPr>
          <a:xfrm>
            <a:off x="3898899" y="2808956"/>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884" name="Group 795"/>
          <p:cNvGrpSpPr/>
          <p:nvPr/>
        </p:nvGrpSpPr>
        <p:grpSpPr>
          <a:xfrm>
            <a:off x="4812594" y="3380640"/>
            <a:ext cx="749587" cy="742813"/>
            <a:chOff x="0" y="0"/>
            <a:chExt cx="749586" cy="742812"/>
          </a:xfrm>
        </p:grpSpPr>
        <p:sp>
          <p:nvSpPr>
            <p:cNvPr id="882"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83"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887" name="Group 798"/>
          <p:cNvGrpSpPr/>
          <p:nvPr/>
        </p:nvGrpSpPr>
        <p:grpSpPr>
          <a:xfrm>
            <a:off x="6213122" y="2275556"/>
            <a:ext cx="747327" cy="742813"/>
            <a:chOff x="0" y="0"/>
            <a:chExt cx="747325" cy="742812"/>
          </a:xfrm>
        </p:grpSpPr>
        <p:sp>
          <p:nvSpPr>
            <p:cNvPr id="885"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86"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888" name="Shape 799"/>
          <p:cNvSpPr/>
          <p:nvPr/>
        </p:nvSpPr>
        <p:spPr>
          <a:xfrm>
            <a:off x="5037576" y="1545235"/>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891" name="Group 802"/>
          <p:cNvGrpSpPr/>
          <p:nvPr/>
        </p:nvGrpSpPr>
        <p:grpSpPr>
          <a:xfrm>
            <a:off x="4562968" y="1151747"/>
            <a:ext cx="747329" cy="745069"/>
            <a:chOff x="0" y="0"/>
            <a:chExt cx="747328" cy="745067"/>
          </a:xfrm>
        </p:grpSpPr>
        <p:sp>
          <p:nvSpPr>
            <p:cNvPr id="889"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90"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894" name="Group 805"/>
          <p:cNvGrpSpPr/>
          <p:nvPr/>
        </p:nvGrpSpPr>
        <p:grpSpPr>
          <a:xfrm>
            <a:off x="4704315" y="5658077"/>
            <a:ext cx="747327" cy="742813"/>
            <a:chOff x="0" y="0"/>
            <a:chExt cx="747325" cy="742812"/>
          </a:xfrm>
        </p:grpSpPr>
        <p:sp>
          <p:nvSpPr>
            <p:cNvPr id="892" name="Shape 803"/>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893" name="Shape 804"/>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sp>
        <p:nvSpPr>
          <p:cNvPr id="895" name="Shape 806"/>
          <p:cNvSpPr/>
          <p:nvPr/>
        </p:nvSpPr>
        <p:spPr>
          <a:xfrm>
            <a:off x="4147678" y="51431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898" name="成组"/>
          <p:cNvGrpSpPr/>
          <p:nvPr/>
        </p:nvGrpSpPr>
        <p:grpSpPr>
          <a:xfrm>
            <a:off x="2606350" y="1644773"/>
            <a:ext cx="666635" cy="796362"/>
            <a:chOff x="0" y="0"/>
            <a:chExt cx="666634" cy="796361"/>
          </a:xfrm>
        </p:grpSpPr>
        <p:sp>
          <p:nvSpPr>
            <p:cNvPr id="896" name="Shape 808"/>
            <p:cNvSpPr txBox="1"/>
            <p:nvPr/>
          </p:nvSpPr>
          <p:spPr>
            <a:xfrm>
              <a:off x="0" y="0"/>
              <a:ext cx="324499"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897" name="Shape 810"/>
            <p:cNvSpPr/>
            <p:nvPr/>
          </p:nvSpPr>
          <p:spPr>
            <a:xfrm>
              <a:off x="238449" y="368176"/>
              <a:ext cx="428186" cy="428186"/>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901" name="成组"/>
          <p:cNvGrpSpPr/>
          <p:nvPr/>
        </p:nvGrpSpPr>
        <p:grpSpPr>
          <a:xfrm>
            <a:off x="5428857" y="2889249"/>
            <a:ext cx="1330394" cy="1270001"/>
            <a:chOff x="0" y="215775"/>
            <a:chExt cx="1330392" cy="1270000"/>
          </a:xfrm>
        </p:grpSpPr>
        <p:sp>
          <p:nvSpPr>
            <p:cNvPr id="899"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900"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904" name="成组"/>
          <p:cNvGrpSpPr/>
          <p:nvPr/>
        </p:nvGrpSpPr>
        <p:grpSpPr>
          <a:xfrm>
            <a:off x="6216257" y="5696074"/>
            <a:ext cx="384893" cy="855823"/>
            <a:chOff x="0" y="0"/>
            <a:chExt cx="384891" cy="855822"/>
          </a:xfrm>
        </p:grpSpPr>
        <p:sp>
          <p:nvSpPr>
            <p:cNvPr id="902" name="Shape 814"/>
            <p:cNvSpPr txBox="1"/>
            <p:nvPr/>
          </p:nvSpPr>
          <p:spPr>
            <a:xfrm>
              <a:off x="60392"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903"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905" name="Shape 816"/>
          <p:cNvSpPr/>
          <p:nvPr/>
        </p:nvSpPr>
        <p:spPr>
          <a:xfrm>
            <a:off x="5239401" y="7517321"/>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sp>
        <p:nvSpPr>
          <p:cNvPr id="906" name="Shape 817"/>
          <p:cNvSpPr/>
          <p:nvPr/>
        </p:nvSpPr>
        <p:spPr>
          <a:xfrm flipV="1">
            <a:off x="5525271" y="7173965"/>
            <a:ext cx="341962" cy="3419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07" name="Shape 747"/>
          <p:cNvSpPr txBox="1"/>
          <p:nvPr>
            <p:ph type="title"/>
          </p:nvPr>
        </p:nvSpPr>
        <p:spPr>
          <a:xfrm>
            <a:off x="1611488" y="125588"/>
            <a:ext cx="9448801" cy="952501"/>
          </a:xfrm>
          <a:prstGeom prst="rect">
            <a:avLst/>
          </a:prstGeom>
        </p:spPr>
        <p:txBody>
          <a:bodyPr/>
          <a:lstStyle/>
          <a:p>
            <a:pPr/>
            <a:r>
              <a:t>remove(转移右子树)</a:t>
            </a:r>
          </a:p>
        </p:txBody>
      </p:sp>
      <p:grpSp>
        <p:nvGrpSpPr>
          <p:cNvPr id="916" name="成组"/>
          <p:cNvGrpSpPr/>
          <p:nvPr/>
        </p:nvGrpSpPr>
        <p:grpSpPr>
          <a:xfrm>
            <a:off x="6446325" y="7159203"/>
            <a:ext cx="2365448" cy="2525337"/>
            <a:chOff x="0" y="0"/>
            <a:chExt cx="2365447" cy="2525336"/>
          </a:xfrm>
        </p:grpSpPr>
        <p:sp>
          <p:nvSpPr>
            <p:cNvPr id="908" name="Shape 760"/>
            <p:cNvSpPr/>
            <p:nvPr/>
          </p:nvSpPr>
          <p:spPr>
            <a:xfrm>
              <a:off x="0" y="0"/>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909" name="Shape 761"/>
            <p:cNvSpPr/>
            <p:nvPr/>
          </p:nvSpPr>
          <p:spPr>
            <a:xfrm>
              <a:off x="1176866" y="1211222"/>
              <a:ext cx="656618" cy="65661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912" name="Group 776"/>
            <p:cNvGrpSpPr/>
            <p:nvPr/>
          </p:nvGrpSpPr>
          <p:grpSpPr>
            <a:xfrm>
              <a:off x="493137" y="602467"/>
              <a:ext cx="747327" cy="742811"/>
              <a:chOff x="0" y="0"/>
              <a:chExt cx="747325" cy="742809"/>
            </a:xfrm>
          </p:grpSpPr>
          <p:sp>
            <p:nvSpPr>
              <p:cNvPr id="910"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11"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915" name="Group 788"/>
            <p:cNvGrpSpPr/>
            <p:nvPr/>
          </p:nvGrpSpPr>
          <p:grpSpPr>
            <a:xfrm>
              <a:off x="1618121" y="1780266"/>
              <a:ext cx="747327" cy="745071"/>
              <a:chOff x="0" y="0"/>
              <a:chExt cx="747325" cy="745070"/>
            </a:xfrm>
          </p:grpSpPr>
          <p:sp>
            <p:nvSpPr>
              <p:cNvPr id="913"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14"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Subtype="0" presetID="1" grpId="1" fill="hold">
                                  <p:stCondLst>
                                    <p:cond delay="0"/>
                                  </p:stCondLst>
                                  <p:iterate type="el" backwards="0">
                                    <p:tmAbs val="0"/>
                                  </p:iterate>
                                  <p:childTnLst>
                                    <p:set>
                                      <p:cBhvr>
                                        <p:cTn id="6" fill="hold">
                                          <p:stCondLst>
                                            <p:cond delay="0"/>
                                          </p:stCondLst>
                                        </p:cTn>
                                        <p:tgtEl>
                                          <p:spTgt spid="87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9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16" grpId="2"/>
      <p:bldP build="whole" bldLvl="1" animBg="1" rev="0" advAuto="0" spid="877" grpId="1"/>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8" name="Shape 370"/>
          <p:cNvSpPr txBox="1"/>
          <p:nvPr>
            <p:ph type="title"/>
          </p:nvPr>
        </p:nvSpPr>
        <p:spPr>
          <a:xfrm>
            <a:off x="1611488" y="125588"/>
            <a:ext cx="9448801" cy="952501"/>
          </a:xfrm>
          <a:prstGeom prst="rect">
            <a:avLst/>
          </a:prstGeom>
        </p:spPr>
        <p:txBody>
          <a:bodyPr/>
          <a:lstStyle/>
          <a:p>
            <a:pPr/>
            <a:r>
              <a:t>remove</a:t>
            </a:r>
          </a:p>
        </p:txBody>
      </p:sp>
      <p:sp>
        <p:nvSpPr>
          <p:cNvPr id="919" name="if (c.left != null &amp;&amp; c.right != null) {…"/>
          <p:cNvSpPr txBox="1"/>
          <p:nvPr/>
        </p:nvSpPr>
        <p:spPr>
          <a:xfrm>
            <a:off x="1299625" y="1444999"/>
            <a:ext cx="10250327" cy="3073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500">
                <a:solidFill>
                  <a:srgbClr val="0326CC"/>
                </a:solidFill>
                <a:latin typeface="Monaco"/>
                <a:ea typeface="Monaco"/>
                <a:cs typeface="Monaco"/>
                <a:sym typeface="Monaco"/>
              </a:defRPr>
            </a:pPr>
            <a:r>
              <a:rPr>
                <a:solidFill>
                  <a:srgbClr val="000000"/>
                </a:solidFill>
              </a:rPr>
              <a:t>		</a:t>
            </a:r>
            <a:r>
              <a:rPr>
                <a:solidFill>
                  <a:srgbClr val="931A68"/>
                </a:solidFill>
              </a:rPr>
              <a:t>if</a:t>
            </a:r>
            <a:r>
              <a:rPr>
                <a:solidFill>
                  <a:srgbClr val="000000"/>
                </a:solidFill>
              </a:rPr>
              <a:t> (</a:t>
            </a:r>
            <a:r>
              <a:rPr>
                <a:solidFill>
                  <a:srgbClr val="7E504F"/>
                </a:solidFill>
              </a:rPr>
              <a:t>c</a:t>
            </a:r>
            <a:r>
              <a:rPr>
                <a:solidFill>
                  <a:srgbClr val="000000"/>
                </a:solidFill>
              </a:rPr>
              <a:t>.</a:t>
            </a:r>
            <a:r>
              <a:t>left</a:t>
            </a:r>
            <a:r>
              <a:rPr>
                <a:solidFill>
                  <a:srgbClr val="000000"/>
                </a:solidFill>
              </a:rPr>
              <a:t> != </a:t>
            </a:r>
            <a:r>
              <a:rPr>
                <a:solidFill>
                  <a:srgbClr val="931A68"/>
                </a:solidFill>
              </a:rPr>
              <a:t>null</a:t>
            </a:r>
            <a:r>
              <a:rPr>
                <a:solidFill>
                  <a:srgbClr val="000000"/>
                </a:solidFill>
              </a:rPr>
              <a:t> &amp;&amp; </a:t>
            </a:r>
            <a:r>
              <a:rPr>
                <a:solidFill>
                  <a:srgbClr val="7E504F"/>
                </a:solidFill>
              </a:rPr>
              <a:t>c</a:t>
            </a:r>
            <a:r>
              <a:rPr>
                <a:solidFill>
                  <a:srgbClr val="000000"/>
                </a:solidFill>
              </a:rPr>
              <a:t>.</a:t>
            </a:r>
            <a:r>
              <a:t>right</a:t>
            </a:r>
            <a:r>
              <a:rPr>
                <a:solidFill>
                  <a:srgbClr val="000000"/>
                </a:solidFill>
              </a:rPr>
              <a:t> != </a:t>
            </a:r>
            <a:r>
              <a:rPr>
                <a:solidFill>
                  <a:srgbClr val="931A68"/>
                </a:solidFill>
              </a:rPr>
              <a:t>null</a:t>
            </a:r>
            <a:r>
              <a:rPr>
                <a:solidFill>
                  <a:srgbClr val="000000"/>
                </a:solidFill>
              </a:rPr>
              <a:t>) {</a:t>
            </a:r>
            <a:endParaRPr>
              <a:solidFill>
                <a:srgbClr val="000000"/>
              </a:solidFill>
            </a:endParaRPr>
          </a:p>
          <a:p>
            <a:pPr indent="0">
              <a:defRPr sz="2500">
                <a:latin typeface="Monaco"/>
                <a:ea typeface="Monaco"/>
                <a:cs typeface="Monaco"/>
                <a:sym typeface="Monaco"/>
              </a:defRPr>
            </a:pPr>
            <a:r>
              <a:t>			Node&lt;K, V&gt; </a:t>
            </a:r>
            <a:r>
              <a:rPr>
                <a:solidFill>
                  <a:srgbClr val="7E504F"/>
                </a:solidFill>
              </a:rPr>
              <a:t>q</a:t>
            </a:r>
            <a:r>
              <a:t>;</a:t>
            </a:r>
          </a:p>
          <a:p>
            <a:pPr indent="0">
              <a:defRPr sz="2500">
                <a:solidFill>
                  <a:srgbClr val="0326CC"/>
                </a:solidFill>
                <a:latin typeface="Monaco"/>
                <a:ea typeface="Monaco"/>
                <a:cs typeface="Monaco"/>
                <a:sym typeface="Monaco"/>
              </a:defRPr>
            </a:pPr>
            <a:r>
              <a:rPr>
                <a:solidFill>
                  <a:srgbClr val="000000"/>
                </a:solidFill>
              </a:rPr>
              <a:t>			</a:t>
            </a:r>
            <a:r>
              <a:rPr>
                <a:solidFill>
                  <a:srgbClr val="931A68"/>
                </a:solidFill>
              </a:rPr>
              <a:t>for</a:t>
            </a:r>
            <a:r>
              <a:rPr>
                <a:solidFill>
                  <a:srgbClr val="000000"/>
                </a:solidFill>
              </a:rPr>
              <a:t> (</a:t>
            </a:r>
            <a:r>
              <a:rPr>
                <a:solidFill>
                  <a:srgbClr val="7E504F"/>
                </a:solidFill>
              </a:rPr>
              <a:t>q</a:t>
            </a:r>
            <a:r>
              <a:rPr>
                <a:solidFill>
                  <a:srgbClr val="000000"/>
                </a:solidFill>
              </a:rPr>
              <a:t> = </a:t>
            </a:r>
            <a:r>
              <a:rPr>
                <a:solidFill>
                  <a:srgbClr val="7E504F"/>
                </a:solidFill>
              </a:rPr>
              <a:t>c</a:t>
            </a:r>
            <a:r>
              <a:rPr>
                <a:solidFill>
                  <a:srgbClr val="000000"/>
                </a:solidFill>
              </a:rPr>
              <a:t>.</a:t>
            </a:r>
            <a:r>
              <a:t>left</a:t>
            </a:r>
            <a:r>
              <a:rPr>
                <a:solidFill>
                  <a:srgbClr val="000000"/>
                </a:solidFill>
              </a:rPr>
              <a:t>; </a:t>
            </a:r>
            <a:r>
              <a:rPr>
                <a:solidFill>
                  <a:srgbClr val="7E504F"/>
                </a:solidFill>
              </a:rPr>
              <a:t>q</a:t>
            </a:r>
            <a:r>
              <a:rPr>
                <a:solidFill>
                  <a:srgbClr val="000000"/>
                </a:solidFill>
              </a:rPr>
              <a:t>.</a:t>
            </a:r>
            <a:r>
              <a:t>right</a:t>
            </a:r>
            <a:r>
              <a:rPr>
                <a:solidFill>
                  <a:srgbClr val="000000"/>
                </a:solidFill>
              </a:rPr>
              <a:t> != </a:t>
            </a:r>
            <a:r>
              <a:rPr>
                <a:solidFill>
                  <a:srgbClr val="931A68"/>
                </a:solidFill>
              </a:rPr>
              <a:t>null</a:t>
            </a:r>
            <a:r>
              <a:rPr>
                <a:solidFill>
                  <a:srgbClr val="000000"/>
                </a:solidFill>
              </a:rPr>
              <a:t>; </a:t>
            </a:r>
            <a:r>
              <a:rPr>
                <a:solidFill>
                  <a:srgbClr val="7E504F"/>
                </a:solidFill>
              </a:rPr>
              <a:t>q</a:t>
            </a:r>
            <a:r>
              <a:rPr>
                <a:solidFill>
                  <a:srgbClr val="000000"/>
                </a:solidFill>
              </a:rPr>
              <a:t> = </a:t>
            </a:r>
            <a:r>
              <a:rPr>
                <a:solidFill>
                  <a:srgbClr val="7E504F"/>
                </a:solidFill>
              </a:rPr>
              <a:t>q</a:t>
            </a:r>
            <a:r>
              <a:rPr>
                <a:solidFill>
                  <a:srgbClr val="000000"/>
                </a:solidFill>
              </a:rPr>
              <a:t>.</a:t>
            </a:r>
            <a:r>
              <a:t>right</a:t>
            </a:r>
            <a:r>
              <a:rPr>
                <a:solidFill>
                  <a:srgbClr val="000000"/>
                </a:solidFill>
              </a:rPr>
              <a:t>)</a:t>
            </a:r>
            <a:endParaRPr>
              <a:solidFill>
                <a:srgbClr val="000000"/>
              </a:solidFill>
            </a:endParaRPr>
          </a:p>
          <a:p>
            <a:pPr indent="0">
              <a:defRPr sz="2500">
                <a:solidFill>
                  <a:srgbClr val="4E9072"/>
                </a:solidFill>
                <a:latin typeface="Monaco"/>
                <a:ea typeface="Monaco"/>
                <a:cs typeface="Monaco"/>
                <a:sym typeface="Monaco"/>
              </a:defRPr>
            </a:pPr>
            <a:r>
              <a:rPr>
                <a:solidFill>
                  <a:srgbClr val="000000"/>
                </a:solidFill>
              </a:rPr>
              <a:t>				;</a:t>
            </a:r>
            <a:r>
              <a:t>// 最大的关键字，一定在最右下脚</a:t>
            </a:r>
            <a:endParaRPr>
              <a:solidFill>
                <a:srgbClr val="000000"/>
              </a:solidFill>
            </a:endParaRPr>
          </a:p>
          <a:p>
            <a:pPr indent="0">
              <a:defRPr sz="2500">
                <a:solidFill>
                  <a:srgbClr val="0326CC"/>
                </a:solidFill>
                <a:latin typeface="Monaco"/>
                <a:ea typeface="Monaco"/>
                <a:cs typeface="Monaco"/>
                <a:sym typeface="Monaco"/>
              </a:defRPr>
            </a:pPr>
            <a:r>
              <a:rPr>
                <a:solidFill>
                  <a:srgbClr val="000000"/>
                </a:solidFill>
              </a:rPr>
              <a:t>			</a:t>
            </a:r>
            <a:r>
              <a:rPr>
                <a:solidFill>
                  <a:srgbClr val="7E504F"/>
                </a:solidFill>
              </a:rPr>
              <a:t>q</a:t>
            </a:r>
            <a:r>
              <a:rPr>
                <a:solidFill>
                  <a:srgbClr val="000000"/>
                </a:solidFill>
              </a:rPr>
              <a:t>.</a:t>
            </a:r>
            <a:r>
              <a:t>right</a:t>
            </a:r>
            <a:r>
              <a:rPr>
                <a:solidFill>
                  <a:srgbClr val="000000"/>
                </a:solidFill>
              </a:rPr>
              <a:t> = </a:t>
            </a:r>
            <a:r>
              <a:rPr>
                <a:solidFill>
                  <a:srgbClr val="7E504F"/>
                </a:solidFill>
              </a:rPr>
              <a:t>c</a:t>
            </a:r>
            <a:r>
              <a:rPr>
                <a:solidFill>
                  <a:srgbClr val="000000"/>
                </a:solidFill>
              </a:rPr>
              <a:t>.</a:t>
            </a:r>
            <a:r>
              <a:t>right</a:t>
            </a:r>
            <a:r>
              <a:rPr>
                <a:solidFill>
                  <a:srgbClr val="000000"/>
                </a:solidFill>
              </a:rPr>
              <a:t>;</a:t>
            </a:r>
            <a:endParaRPr>
              <a:solidFill>
                <a:srgbClr val="000000"/>
              </a:solidFill>
            </a:endParaRPr>
          </a:p>
          <a:p>
            <a:pPr indent="0">
              <a:defRPr sz="2500">
                <a:solidFill>
                  <a:srgbClr val="0326CC"/>
                </a:solidFill>
                <a:latin typeface="Monaco"/>
                <a:ea typeface="Monaco"/>
                <a:cs typeface="Monaco"/>
                <a:sym typeface="Monaco"/>
              </a:defRPr>
            </a:pPr>
            <a:r>
              <a:rPr>
                <a:solidFill>
                  <a:srgbClr val="000000"/>
                </a:solidFill>
              </a:rPr>
              <a:t>			</a:t>
            </a:r>
            <a:r>
              <a:rPr>
                <a:solidFill>
                  <a:srgbClr val="7E504F"/>
                </a:solidFill>
              </a:rPr>
              <a:t>c</a:t>
            </a:r>
            <a:r>
              <a:rPr>
                <a:solidFill>
                  <a:srgbClr val="000000"/>
                </a:solidFill>
              </a:rPr>
              <a:t>.</a:t>
            </a:r>
            <a:r>
              <a:t>right</a:t>
            </a:r>
            <a:r>
              <a:rPr>
                <a:solidFill>
                  <a:srgbClr val="000000"/>
                </a:solidFill>
              </a:rPr>
              <a:t> = </a:t>
            </a:r>
            <a:r>
              <a:rPr>
                <a:solidFill>
                  <a:srgbClr val="931A68"/>
                </a:solidFill>
              </a:rPr>
              <a:t>null</a:t>
            </a:r>
            <a:r>
              <a:rPr>
                <a:solidFill>
                  <a:srgbClr val="000000"/>
                </a:solidFill>
              </a:rPr>
              <a:t>;</a:t>
            </a:r>
            <a:endParaRPr>
              <a:solidFill>
                <a:srgbClr val="000000"/>
              </a:solidFill>
            </a:endParaRPr>
          </a:p>
          <a:p>
            <a:pPr indent="0">
              <a:defRPr sz="2500">
                <a:latin typeface="Monaco"/>
                <a:ea typeface="Monaco"/>
                <a:cs typeface="Monaco"/>
                <a:sym typeface="Monaco"/>
              </a:defRPr>
            </a:pPr>
            <a:r>
              <a:t>		}</a:t>
            </a:r>
          </a:p>
        </p:txBody>
      </p:sp>
      <p:sp>
        <p:nvSpPr>
          <p:cNvPr id="920" name="注意：如果不需要对二叉搜索树进行平衡，则这个方法很简便。…"/>
          <p:cNvSpPr txBox="1"/>
          <p:nvPr/>
        </p:nvSpPr>
        <p:spPr>
          <a:xfrm>
            <a:off x="415600" y="4981921"/>
            <a:ext cx="11961706" cy="193134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120000"/>
              </a:lnSpc>
            </a:pPr>
            <a:r>
              <a:t>注意：如果不需要对二叉搜索树进行平衡，则这个方法很简便。</a:t>
            </a:r>
          </a:p>
          <a:p>
            <a:pPr>
              <a:lnSpc>
                <a:spcPct val="120000"/>
              </a:lnSpc>
            </a:pPr>
            <a:r>
              <a:t>            如果需要平衡，因为转移子树，更改了c、q等结点的平衡因子，</a:t>
            </a:r>
          </a:p>
          <a:p>
            <a:pPr>
              <a:lnSpc>
                <a:spcPct val="120000"/>
              </a:lnSpc>
            </a:pPr>
            <a:r>
              <a:t>            这个方法不可行。</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2" name="Shape 747"/>
          <p:cNvSpPr txBox="1"/>
          <p:nvPr>
            <p:ph type="title"/>
          </p:nvPr>
        </p:nvSpPr>
        <p:spPr>
          <a:xfrm>
            <a:off x="1611488" y="125588"/>
            <a:ext cx="9448801" cy="952501"/>
          </a:xfrm>
          <a:prstGeom prst="rect">
            <a:avLst/>
          </a:prstGeom>
        </p:spPr>
        <p:txBody>
          <a:bodyPr/>
          <a:lstStyle/>
          <a:p>
            <a:pPr/>
            <a:r>
              <a:t>remove(位置交换)</a:t>
            </a:r>
          </a:p>
        </p:txBody>
      </p:sp>
      <p:sp>
        <p:nvSpPr>
          <p:cNvPr id="923" name="Shape 749"/>
          <p:cNvSpPr/>
          <p:nvPr/>
        </p:nvSpPr>
        <p:spPr>
          <a:xfrm>
            <a:off x="9860204" y="63369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26" name="Group 752"/>
          <p:cNvGrpSpPr/>
          <p:nvPr/>
        </p:nvGrpSpPr>
        <p:grpSpPr>
          <a:xfrm>
            <a:off x="10291233" y="6634848"/>
            <a:ext cx="747327" cy="745071"/>
            <a:chOff x="0" y="0"/>
            <a:chExt cx="747325" cy="745070"/>
          </a:xfrm>
        </p:grpSpPr>
        <p:sp>
          <p:nvSpPr>
            <p:cNvPr id="924"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25"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38</a:t>
              </a:r>
            </a:p>
          </p:txBody>
        </p:sp>
      </p:grpSp>
      <p:sp>
        <p:nvSpPr>
          <p:cNvPr id="927" name="Shape 753"/>
          <p:cNvSpPr/>
          <p:nvPr/>
        </p:nvSpPr>
        <p:spPr>
          <a:xfrm flipH="1">
            <a:off x="8253024" y="1763605"/>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28" name="Shape 754"/>
          <p:cNvSpPr/>
          <p:nvPr/>
        </p:nvSpPr>
        <p:spPr>
          <a:xfrm flipH="1">
            <a:off x="6972863" y="2928618"/>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29" name="Shape 755"/>
          <p:cNvSpPr/>
          <p:nvPr/>
        </p:nvSpPr>
        <p:spPr>
          <a:xfrm>
            <a:off x="9792829" y="1811018"/>
            <a:ext cx="1039738"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30" name="Shape 757"/>
          <p:cNvSpPr/>
          <p:nvPr/>
        </p:nvSpPr>
        <p:spPr>
          <a:xfrm flipH="1">
            <a:off x="7626060" y="5277399"/>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31" name="Shape 758"/>
          <p:cNvSpPr/>
          <p:nvPr/>
        </p:nvSpPr>
        <p:spPr>
          <a:xfrm flipH="1">
            <a:off x="8709359" y="4017062"/>
            <a:ext cx="797813" cy="69290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32" name="Shape 759"/>
          <p:cNvSpPr/>
          <p:nvPr/>
        </p:nvSpPr>
        <p:spPr>
          <a:xfrm>
            <a:off x="11444120" y="2949770"/>
            <a:ext cx="762097"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35" name="Group 764"/>
          <p:cNvGrpSpPr/>
          <p:nvPr/>
        </p:nvGrpSpPr>
        <p:grpSpPr>
          <a:xfrm>
            <a:off x="7724703" y="2368690"/>
            <a:ext cx="749585" cy="745071"/>
            <a:chOff x="0" y="0"/>
            <a:chExt cx="749583" cy="745070"/>
          </a:xfrm>
        </p:grpSpPr>
        <p:sp>
          <p:nvSpPr>
            <p:cNvPr id="933"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34"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938" name="Group 767"/>
          <p:cNvGrpSpPr/>
          <p:nvPr/>
        </p:nvGrpSpPr>
        <p:grpSpPr>
          <a:xfrm>
            <a:off x="10745611" y="2368690"/>
            <a:ext cx="747329" cy="745071"/>
            <a:chOff x="0" y="0"/>
            <a:chExt cx="747328" cy="745070"/>
          </a:xfrm>
        </p:grpSpPr>
        <p:sp>
          <p:nvSpPr>
            <p:cNvPr id="936"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37"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941" name="Group 770"/>
          <p:cNvGrpSpPr/>
          <p:nvPr/>
        </p:nvGrpSpPr>
        <p:grpSpPr>
          <a:xfrm>
            <a:off x="6315850" y="3438877"/>
            <a:ext cx="747327" cy="742811"/>
            <a:chOff x="0" y="0"/>
            <a:chExt cx="747325" cy="742809"/>
          </a:xfrm>
        </p:grpSpPr>
        <p:sp>
          <p:nvSpPr>
            <p:cNvPr id="939"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40"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944" name="Group 773"/>
          <p:cNvGrpSpPr/>
          <p:nvPr/>
        </p:nvGrpSpPr>
        <p:grpSpPr>
          <a:xfrm>
            <a:off x="12132733" y="3454681"/>
            <a:ext cx="747327" cy="742813"/>
            <a:chOff x="0" y="0"/>
            <a:chExt cx="747325" cy="742812"/>
          </a:xfrm>
        </p:grpSpPr>
        <p:sp>
          <p:nvSpPr>
            <p:cNvPr id="942"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43"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947" name="Group 782"/>
          <p:cNvGrpSpPr/>
          <p:nvPr/>
        </p:nvGrpSpPr>
        <p:grpSpPr>
          <a:xfrm>
            <a:off x="8081433" y="4580749"/>
            <a:ext cx="749585" cy="742811"/>
            <a:chOff x="0" y="0"/>
            <a:chExt cx="749583" cy="742809"/>
          </a:xfrm>
        </p:grpSpPr>
        <p:sp>
          <p:nvSpPr>
            <p:cNvPr id="945"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46"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950" name="Group 785"/>
          <p:cNvGrpSpPr/>
          <p:nvPr/>
        </p:nvGrpSpPr>
        <p:grpSpPr>
          <a:xfrm>
            <a:off x="7078696" y="5846515"/>
            <a:ext cx="747329" cy="745071"/>
            <a:chOff x="0" y="0"/>
            <a:chExt cx="747328" cy="745070"/>
          </a:xfrm>
        </p:grpSpPr>
        <p:sp>
          <p:nvSpPr>
            <p:cNvPr id="948" name="Shape 783"/>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49" name="Shape 784"/>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31</a:t>
              </a:r>
            </a:p>
          </p:txBody>
        </p:sp>
      </p:grpSp>
      <p:sp>
        <p:nvSpPr>
          <p:cNvPr id="951" name="Shape 760"/>
          <p:cNvSpPr/>
          <p:nvPr/>
        </p:nvSpPr>
        <p:spPr>
          <a:xfrm>
            <a:off x="9968512" y="3978281"/>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952" name="Shape 761"/>
          <p:cNvSpPr/>
          <p:nvPr/>
        </p:nvSpPr>
        <p:spPr>
          <a:xfrm>
            <a:off x="11145378" y="5189503"/>
            <a:ext cx="656618" cy="65661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55" name="Group 776"/>
          <p:cNvGrpSpPr/>
          <p:nvPr/>
        </p:nvGrpSpPr>
        <p:grpSpPr>
          <a:xfrm>
            <a:off x="10461649" y="4580749"/>
            <a:ext cx="747327" cy="742811"/>
            <a:chOff x="0" y="0"/>
            <a:chExt cx="747325" cy="742809"/>
          </a:xfrm>
        </p:grpSpPr>
        <p:sp>
          <p:nvSpPr>
            <p:cNvPr id="953"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54"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958" name="Group 788"/>
          <p:cNvGrpSpPr/>
          <p:nvPr/>
        </p:nvGrpSpPr>
        <p:grpSpPr>
          <a:xfrm>
            <a:off x="11586633" y="5758548"/>
            <a:ext cx="747327" cy="745071"/>
            <a:chOff x="0" y="0"/>
            <a:chExt cx="747325" cy="745070"/>
          </a:xfrm>
        </p:grpSpPr>
        <p:sp>
          <p:nvSpPr>
            <p:cNvPr id="956"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57"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961" name="Group 791"/>
          <p:cNvGrpSpPr/>
          <p:nvPr/>
        </p:nvGrpSpPr>
        <p:grpSpPr>
          <a:xfrm>
            <a:off x="8076351" y="4581313"/>
            <a:ext cx="747330" cy="745069"/>
            <a:chOff x="0" y="0"/>
            <a:chExt cx="747328" cy="745067"/>
          </a:xfrm>
        </p:grpSpPr>
        <p:sp>
          <p:nvSpPr>
            <p:cNvPr id="959"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60"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962" name="Shape 792"/>
          <p:cNvSpPr/>
          <p:nvPr/>
        </p:nvSpPr>
        <p:spPr>
          <a:xfrm>
            <a:off x="8437032" y="2872456"/>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65" name="Group 795"/>
          <p:cNvGrpSpPr/>
          <p:nvPr/>
        </p:nvGrpSpPr>
        <p:grpSpPr>
          <a:xfrm>
            <a:off x="9338027" y="3482240"/>
            <a:ext cx="749587" cy="742813"/>
            <a:chOff x="0" y="0"/>
            <a:chExt cx="749586" cy="742812"/>
          </a:xfrm>
        </p:grpSpPr>
        <p:sp>
          <p:nvSpPr>
            <p:cNvPr id="963"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64"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968" name="Group 798"/>
          <p:cNvGrpSpPr/>
          <p:nvPr/>
        </p:nvGrpSpPr>
        <p:grpSpPr>
          <a:xfrm>
            <a:off x="10738555" y="2377156"/>
            <a:ext cx="747327" cy="742813"/>
            <a:chOff x="0" y="0"/>
            <a:chExt cx="747325" cy="742812"/>
          </a:xfrm>
        </p:grpSpPr>
        <p:sp>
          <p:nvSpPr>
            <p:cNvPr id="966"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67"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969" name="Shape 799"/>
          <p:cNvSpPr/>
          <p:nvPr/>
        </p:nvSpPr>
        <p:spPr>
          <a:xfrm>
            <a:off x="9563009" y="1646835"/>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72" name="Group 802"/>
          <p:cNvGrpSpPr/>
          <p:nvPr/>
        </p:nvGrpSpPr>
        <p:grpSpPr>
          <a:xfrm>
            <a:off x="9088401" y="1253347"/>
            <a:ext cx="747329" cy="745069"/>
            <a:chOff x="0" y="0"/>
            <a:chExt cx="747328" cy="745067"/>
          </a:xfrm>
        </p:grpSpPr>
        <p:sp>
          <p:nvSpPr>
            <p:cNvPr id="970"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71"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975" name="Group 805"/>
          <p:cNvGrpSpPr/>
          <p:nvPr/>
        </p:nvGrpSpPr>
        <p:grpSpPr>
          <a:xfrm>
            <a:off x="9229749" y="5759677"/>
            <a:ext cx="747327" cy="742813"/>
            <a:chOff x="0" y="0"/>
            <a:chExt cx="747325" cy="742812"/>
          </a:xfrm>
        </p:grpSpPr>
        <p:sp>
          <p:nvSpPr>
            <p:cNvPr id="973" name="Shape 803"/>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974" name="Shape 804"/>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sp>
        <p:nvSpPr>
          <p:cNvPr id="976" name="Shape 806"/>
          <p:cNvSpPr/>
          <p:nvPr/>
        </p:nvSpPr>
        <p:spPr>
          <a:xfrm>
            <a:off x="8673112" y="52447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79" name="成组"/>
          <p:cNvGrpSpPr/>
          <p:nvPr/>
        </p:nvGrpSpPr>
        <p:grpSpPr>
          <a:xfrm>
            <a:off x="7182583" y="1746373"/>
            <a:ext cx="666635" cy="796362"/>
            <a:chOff x="0" y="0"/>
            <a:chExt cx="666634" cy="796361"/>
          </a:xfrm>
        </p:grpSpPr>
        <p:sp>
          <p:nvSpPr>
            <p:cNvPr id="977" name="Shape 808"/>
            <p:cNvSpPr txBox="1"/>
            <p:nvPr/>
          </p:nvSpPr>
          <p:spPr>
            <a:xfrm>
              <a:off x="0" y="0"/>
              <a:ext cx="324499"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978" name="Shape 810"/>
            <p:cNvSpPr/>
            <p:nvPr/>
          </p:nvSpPr>
          <p:spPr>
            <a:xfrm>
              <a:off x="238449" y="368176"/>
              <a:ext cx="428186" cy="428186"/>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982" name="成组"/>
          <p:cNvGrpSpPr/>
          <p:nvPr/>
        </p:nvGrpSpPr>
        <p:grpSpPr>
          <a:xfrm>
            <a:off x="9878090" y="2952749"/>
            <a:ext cx="1330394" cy="1270001"/>
            <a:chOff x="0" y="215775"/>
            <a:chExt cx="1330392" cy="1270000"/>
          </a:xfrm>
        </p:grpSpPr>
        <p:sp>
          <p:nvSpPr>
            <p:cNvPr id="980"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981"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985" name="成组"/>
          <p:cNvGrpSpPr/>
          <p:nvPr/>
        </p:nvGrpSpPr>
        <p:grpSpPr>
          <a:xfrm>
            <a:off x="10741690" y="5797674"/>
            <a:ext cx="384893" cy="855823"/>
            <a:chOff x="0" y="0"/>
            <a:chExt cx="384891" cy="855822"/>
          </a:xfrm>
        </p:grpSpPr>
        <p:sp>
          <p:nvSpPr>
            <p:cNvPr id="983" name="Shape 814"/>
            <p:cNvSpPr txBox="1"/>
            <p:nvPr/>
          </p:nvSpPr>
          <p:spPr>
            <a:xfrm>
              <a:off x="60392"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984"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986" name="Shape 816"/>
          <p:cNvSpPr/>
          <p:nvPr/>
        </p:nvSpPr>
        <p:spPr>
          <a:xfrm>
            <a:off x="9764834" y="7618921"/>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sp>
        <p:nvSpPr>
          <p:cNvPr id="987" name="Shape 817"/>
          <p:cNvSpPr/>
          <p:nvPr/>
        </p:nvSpPr>
        <p:spPr>
          <a:xfrm flipV="1">
            <a:off x="10050704" y="7275565"/>
            <a:ext cx="341962" cy="3419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990" name="成组"/>
          <p:cNvGrpSpPr/>
          <p:nvPr/>
        </p:nvGrpSpPr>
        <p:grpSpPr>
          <a:xfrm>
            <a:off x="9771848" y="5188141"/>
            <a:ext cx="1330393" cy="1270001"/>
            <a:chOff x="0" y="215775"/>
            <a:chExt cx="1330392" cy="1270000"/>
          </a:xfrm>
        </p:grpSpPr>
        <p:sp>
          <p:nvSpPr>
            <p:cNvPr id="988" name="Shape 814"/>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pq</a:t>
              </a:r>
            </a:p>
          </p:txBody>
        </p:sp>
        <p:sp>
          <p:nvSpPr>
            <p:cNvPr id="989"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002" name="连接线"/>
          <p:cNvSpPr/>
          <p:nvPr/>
        </p:nvSpPr>
        <p:spPr>
          <a:xfrm>
            <a:off x="10640284" y="5314436"/>
            <a:ext cx="327982" cy="1310836"/>
          </a:xfrm>
          <a:custGeom>
            <a:avLst/>
            <a:gdLst/>
            <a:ahLst/>
            <a:cxnLst>
              <a:cxn ang="0">
                <a:pos x="wd2" y="hd2"/>
              </a:cxn>
              <a:cxn ang="5400000">
                <a:pos x="wd2" y="hd2"/>
              </a:cxn>
              <a:cxn ang="10800000">
                <a:pos x="wd2" y="hd2"/>
              </a:cxn>
              <a:cxn ang="16200000">
                <a:pos x="wd2" y="hd2"/>
              </a:cxn>
            </a:cxnLst>
            <a:rect l="0" t="0" r="r" b="b"/>
            <a:pathLst>
              <a:path w="18411" h="21600" fill="norm" stroke="1" extrusionOk="0">
                <a:moveTo>
                  <a:pt x="0" y="21600"/>
                </a:moveTo>
                <a:cubicBezTo>
                  <a:pt x="16041" y="14949"/>
                  <a:pt x="21600" y="7749"/>
                  <a:pt x="16676" y="0"/>
                </a:cubicBezTo>
              </a:path>
            </a:pathLst>
          </a:custGeom>
          <a:ln w="25400">
            <a:solidFill>
              <a:schemeClr val="accent1"/>
            </a:solidFill>
            <a:custDash>
              <a:ds d="200000" sp="200000"/>
            </a:custDash>
            <a:miter lim="400000"/>
            <a:tailEnd type="triangle"/>
          </a:ln>
        </p:spPr>
        <p:txBody>
          <a:bodyPr/>
          <a:lstStyle/>
          <a:p>
            <a:pPr/>
          </a:p>
        </p:txBody>
      </p:sp>
      <p:sp>
        <p:nvSpPr>
          <p:cNvPr id="1003" name="连接线"/>
          <p:cNvSpPr/>
          <p:nvPr/>
        </p:nvSpPr>
        <p:spPr>
          <a:xfrm>
            <a:off x="8545889" y="5318981"/>
            <a:ext cx="1794817" cy="1871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0627" y="17502"/>
                  <a:pt x="3427" y="10302"/>
                  <a:pt x="0" y="0"/>
                </a:cubicBezTo>
              </a:path>
            </a:pathLst>
          </a:custGeom>
          <a:ln w="25400">
            <a:solidFill>
              <a:schemeClr val="accent1"/>
            </a:solidFill>
            <a:custDash>
              <a:ds d="200000" sp="200000"/>
            </a:custDash>
            <a:miter lim="400000"/>
            <a:tailEnd type="triangle"/>
          </a:ln>
        </p:spPr>
        <p:txBody>
          <a:bodyPr/>
          <a:lstStyle/>
          <a:p>
            <a:pPr/>
          </a:p>
        </p:txBody>
      </p:sp>
      <p:sp>
        <p:nvSpPr>
          <p:cNvPr id="1004" name="连接线"/>
          <p:cNvSpPr/>
          <p:nvPr/>
        </p:nvSpPr>
        <p:spPr>
          <a:xfrm>
            <a:off x="9466010" y="4216436"/>
            <a:ext cx="574955" cy="3437016"/>
          </a:xfrm>
          <a:custGeom>
            <a:avLst/>
            <a:gdLst/>
            <a:ahLst/>
            <a:cxnLst>
              <a:cxn ang="0">
                <a:pos x="wd2" y="hd2"/>
              </a:cxn>
              <a:cxn ang="5400000">
                <a:pos x="wd2" y="hd2"/>
              </a:cxn>
              <a:cxn ang="10800000">
                <a:pos x="wd2" y="hd2"/>
              </a:cxn>
              <a:cxn ang="16200000">
                <a:pos x="wd2" y="hd2"/>
              </a:cxn>
            </a:cxnLst>
            <a:rect l="0" t="0" r="r" b="b"/>
            <a:pathLst>
              <a:path w="17258" h="21600" fill="norm" stroke="1" extrusionOk="0">
                <a:moveTo>
                  <a:pt x="17258" y="21600"/>
                </a:moveTo>
                <a:cubicBezTo>
                  <a:pt x="-55" y="14768"/>
                  <a:pt x="-4342" y="7568"/>
                  <a:pt x="4398" y="0"/>
                </a:cubicBezTo>
              </a:path>
            </a:pathLst>
          </a:custGeom>
          <a:ln w="25400">
            <a:solidFill>
              <a:schemeClr val="accent4"/>
            </a:solidFill>
            <a:custDash>
              <a:ds d="200000" sp="200000"/>
            </a:custDash>
            <a:miter lim="400000"/>
            <a:headEnd type="triangle"/>
          </a:ln>
        </p:spPr>
        <p:txBody>
          <a:bodyPr/>
          <a:lstStyle/>
          <a:p>
            <a:pPr/>
          </a:p>
        </p:txBody>
      </p:sp>
      <p:grpSp>
        <p:nvGrpSpPr>
          <p:cNvPr id="996" name="成组"/>
          <p:cNvGrpSpPr/>
          <p:nvPr/>
        </p:nvGrpSpPr>
        <p:grpSpPr>
          <a:xfrm>
            <a:off x="9936948" y="5391341"/>
            <a:ext cx="1330393" cy="1270001"/>
            <a:chOff x="0" y="215775"/>
            <a:chExt cx="1330392" cy="1270000"/>
          </a:xfrm>
        </p:grpSpPr>
        <p:sp>
          <p:nvSpPr>
            <p:cNvPr id="994" name="Shape 814"/>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995" name="Shape 815"/>
            <p:cNvSpPr/>
            <p:nvPr/>
          </p:nvSpPr>
          <p:spPr>
            <a:xfrm flipH="1">
              <a:off x="-1" y="3808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997" name="如果不允许修改结点的key，…"/>
          <p:cNvSpPr txBox="1"/>
          <p:nvPr/>
        </p:nvSpPr>
        <p:spPr>
          <a:xfrm>
            <a:off x="205128" y="1518040"/>
            <a:ext cx="6322567" cy="220058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R="57798" defTabSz="1295400">
              <a:spcBef>
                <a:spcPts val="1900"/>
              </a:spcBef>
              <a:defRPr>
                <a:uFill>
                  <a:solidFill>
                    <a:srgbClr val="000000"/>
                  </a:solidFill>
                </a:uFill>
              </a:defRPr>
            </a:pPr>
            <a:r>
              <a:t>如果不允许修改结点的key，</a:t>
            </a:r>
          </a:p>
          <a:p>
            <a:pPr marR="57798" defTabSz="1295400">
              <a:spcBef>
                <a:spcPts val="1900"/>
              </a:spcBef>
              <a:defRPr>
                <a:uFill>
                  <a:solidFill>
                    <a:srgbClr val="000000"/>
                  </a:solidFill>
                </a:uFill>
              </a:defRPr>
            </a:pPr>
            <a:r>
              <a:t>则交换值的方法不可行。</a:t>
            </a:r>
          </a:p>
          <a:p>
            <a:pPr marR="57798" defTabSz="1295400">
              <a:spcBef>
                <a:spcPts val="1900"/>
              </a:spcBef>
              <a:defRPr>
                <a:uFill>
                  <a:solidFill>
                    <a:srgbClr val="000000"/>
                  </a:solidFill>
                </a:uFill>
              </a:defRPr>
            </a:pPr>
            <a:r>
              <a:t>可以采用交换位置的方法</a:t>
            </a:r>
          </a:p>
        </p:txBody>
      </p:sp>
      <p:sp>
        <p:nvSpPr>
          <p:cNvPr id="998" name="假设删除的是40"/>
          <p:cNvSpPr txBox="1"/>
          <p:nvPr/>
        </p:nvSpPr>
        <p:spPr>
          <a:xfrm>
            <a:off x="174979" y="3819063"/>
            <a:ext cx="283910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R="57798" defTabSz="1295400">
              <a:spcBef>
                <a:spcPts val="1900"/>
              </a:spcBef>
              <a:defRPr>
                <a:uFill>
                  <a:solidFill>
                    <a:srgbClr val="000000"/>
                  </a:solidFill>
                </a:uFill>
              </a:defRPr>
            </a:lvl1pPr>
          </a:lstStyle>
          <a:p>
            <a:pPr/>
            <a:r>
              <a:t>假设删除的是40</a:t>
            </a:r>
          </a:p>
        </p:txBody>
      </p:sp>
      <p:sp>
        <p:nvSpPr>
          <p:cNvPr id="999" name="最终，c是待删除结点，…"/>
          <p:cNvSpPr txBox="1"/>
          <p:nvPr/>
        </p:nvSpPr>
        <p:spPr>
          <a:xfrm>
            <a:off x="109537" y="4585734"/>
            <a:ext cx="5198956" cy="142588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R="57798" defTabSz="1295400">
              <a:spcBef>
                <a:spcPts val="1900"/>
              </a:spcBef>
              <a:defRPr>
                <a:uFill>
                  <a:solidFill>
                    <a:srgbClr val="000000"/>
                  </a:solidFill>
                </a:uFill>
              </a:defRPr>
            </a:pPr>
            <a:r>
              <a:t>           最终，c是待删除结点，</a:t>
            </a:r>
          </a:p>
          <a:p>
            <a:pPr marR="57798" defTabSz="1295400">
              <a:spcBef>
                <a:spcPts val="1900"/>
              </a:spcBef>
              <a:defRPr>
                <a:uFill>
                  <a:solidFill>
                    <a:srgbClr val="000000"/>
                  </a:solidFill>
                </a:uFill>
              </a:defRPr>
            </a:pPr>
            <a:r>
              <a:t>            p是c的父结点</a:t>
            </a:r>
          </a:p>
        </p:txBody>
      </p:sp>
      <p:sp>
        <p:nvSpPr>
          <p:cNvPr id="1005" name="连接线"/>
          <p:cNvSpPr/>
          <p:nvPr/>
        </p:nvSpPr>
        <p:spPr>
          <a:xfrm>
            <a:off x="9751642" y="4180058"/>
            <a:ext cx="238730" cy="1604703"/>
          </a:xfrm>
          <a:custGeom>
            <a:avLst/>
            <a:gdLst/>
            <a:ahLst/>
            <a:cxnLst>
              <a:cxn ang="0">
                <a:pos x="wd2" y="hd2"/>
              </a:cxn>
              <a:cxn ang="5400000">
                <a:pos x="wd2" y="hd2"/>
              </a:cxn>
              <a:cxn ang="10800000">
                <a:pos x="wd2" y="hd2"/>
              </a:cxn>
              <a:cxn ang="16200000">
                <a:pos x="wd2" y="hd2"/>
              </a:cxn>
            </a:cxnLst>
            <a:rect l="0" t="0" r="r" b="b"/>
            <a:pathLst>
              <a:path w="16840" h="21600" fill="norm" stroke="1" extrusionOk="0">
                <a:moveTo>
                  <a:pt x="0" y="21600"/>
                </a:moveTo>
                <a:cubicBezTo>
                  <a:pt x="18076" y="12725"/>
                  <a:pt x="21600" y="5525"/>
                  <a:pt x="10571" y="0"/>
                </a:cubicBezTo>
              </a:path>
            </a:pathLst>
          </a:custGeom>
          <a:ln w="25400">
            <a:solidFill>
              <a:srgbClr val="A7A7A7"/>
            </a:solidFill>
            <a:custDash>
              <a:ds d="200000" sp="200000"/>
            </a:custDash>
            <a:miter lim="400000"/>
            <a:tailEnd type="triangle"/>
          </a:ln>
        </p:spPr>
        <p:txBody>
          <a:bodyPr/>
          <a:lstStyle/>
          <a:p>
            <a:pPr/>
          </a:p>
        </p:txBody>
      </p:sp>
      <p:sp>
        <p:nvSpPr>
          <p:cNvPr id="1006" name="连接线"/>
          <p:cNvSpPr/>
          <p:nvPr/>
        </p:nvSpPr>
        <p:spPr>
          <a:xfrm>
            <a:off x="7881921" y="3110825"/>
            <a:ext cx="2404344" cy="3892420"/>
          </a:xfrm>
          <a:custGeom>
            <a:avLst/>
            <a:gdLst/>
            <a:ahLst/>
            <a:cxnLst>
              <a:cxn ang="0">
                <a:pos x="wd2" y="hd2"/>
              </a:cxn>
              <a:cxn ang="5400000">
                <a:pos x="wd2" y="hd2"/>
              </a:cxn>
              <a:cxn ang="10800000">
                <a:pos x="wd2" y="hd2"/>
              </a:cxn>
              <a:cxn ang="16200000">
                <a:pos x="wd2" y="hd2"/>
              </a:cxn>
            </a:cxnLst>
            <a:rect l="0" t="0" r="r" b="b"/>
            <a:pathLst>
              <a:path w="18926" h="21600" fill="norm" stroke="1" extrusionOk="0">
                <a:moveTo>
                  <a:pt x="18926" y="21600"/>
                </a:moveTo>
                <a:cubicBezTo>
                  <a:pt x="3268" y="21067"/>
                  <a:pt x="-2674" y="13867"/>
                  <a:pt x="1100" y="0"/>
                </a:cubicBezTo>
              </a:path>
            </a:pathLst>
          </a:custGeom>
          <a:ln w="25400">
            <a:solidFill>
              <a:schemeClr val="accent1"/>
            </a:solidFill>
            <a:custDash>
              <a:ds d="200000" sp="200000"/>
            </a:custDash>
            <a:miter lim="400000"/>
            <a:headEnd type="triangle"/>
          </a:ln>
        </p:spPr>
        <p:txBody>
          <a:bodyP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xit" nodeType="clickEffect" presetSubtype="0" presetID="1" grpId="2" fill="hold">
                                  <p:stCondLst>
                                    <p:cond delay="0"/>
                                  </p:stCondLst>
                                  <p:iterate type="el" backwards="0">
                                    <p:tmAbs val="0"/>
                                  </p:iterate>
                                  <p:childTnLst>
                                    <p:set>
                                      <p:cBhvr>
                                        <p:cTn id="10" fill="hold">
                                          <p:stCondLst>
                                            <p:cond delay="0"/>
                                          </p:stCondLst>
                                        </p:cTn>
                                        <p:tgtEl>
                                          <p:spTgt spid="95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Class="exit" nodeType="clickEffect" presetSubtype="0" presetID="1" grpId="3" fill="hold">
                                  <p:stCondLst>
                                    <p:cond delay="0"/>
                                  </p:stCondLst>
                                  <p:iterate type="el" backwards="0">
                                    <p:tmAbs val="0"/>
                                  </p:iterate>
                                  <p:childTnLst>
                                    <p:set>
                                      <p:cBhvr>
                                        <p:cTn id="14" fill="hold">
                                          <p:stCondLst>
                                            <p:cond delay="0"/>
                                          </p:stCondLst>
                                        </p:cTn>
                                        <p:tgtEl>
                                          <p:spTgt spid="931"/>
                                        </p:tgtEl>
                                        <p:attrNameLst>
                                          <p:attrName>style.visibility</p:attrName>
                                        </p:attrNameLst>
                                      </p:cBhvr>
                                      <p:to>
                                        <p:strVal val="hidden"/>
                                      </p:to>
                                    </p:set>
                                  </p:childTnLst>
                                </p:cTn>
                              </p:par>
                            </p:childTnLst>
                          </p:cTn>
                        </p:par>
                        <p:par>
                          <p:cTn id="15" fill="hold">
                            <p:stCondLst>
                              <p:cond delay="0"/>
                            </p:stCondLst>
                            <p:childTnLst>
                              <p:par>
                                <p:cTn id="16" presetClass="entr" nodeType="afterEffect" presetSubtype="0" presetID="1" grpId="4" fill="hold">
                                  <p:stCondLst>
                                    <p:cond delay="200"/>
                                  </p:stCondLst>
                                  <p:iterate type="el" backwards="0">
                                    <p:tmAbs val="0"/>
                                  </p:iterate>
                                  <p:childTnLst>
                                    <p:set>
                                      <p:cBhvr>
                                        <p:cTn id="17" fill="hold"/>
                                        <p:tgtEl>
                                          <p:spTgt spid="1004"/>
                                        </p:tgtEl>
                                        <p:attrNameLst>
                                          <p:attrName>style.visibility</p:attrName>
                                        </p:attrNameLst>
                                      </p:cBhvr>
                                      <p:to>
                                        <p:strVal val="visible"/>
                                      </p:to>
                                    </p:set>
                                  </p:childTnLst>
                                </p:cTn>
                              </p:par>
                            </p:childTnLst>
                          </p:cTn>
                        </p:par>
                        <p:par>
                          <p:cTn id="18" fill="hold">
                            <p:stCondLst>
                              <p:cond delay="200"/>
                            </p:stCondLst>
                            <p:childTnLst>
                              <p:par>
                                <p:cTn id="19" presetClass="exit" nodeType="afterEffect" presetSubtype="0" presetID="1" grpId="5" fill="hold">
                                  <p:stCondLst>
                                    <p:cond delay="0"/>
                                  </p:stCondLst>
                                  <p:iterate type="el" backwards="0">
                                    <p:tmAbs val="0"/>
                                  </p:iterate>
                                  <p:childTnLst>
                                    <p:set>
                                      <p:cBhvr>
                                        <p:cTn id="20" fill="hold">
                                          <p:stCondLst>
                                            <p:cond delay="0"/>
                                          </p:stCondLst>
                                        </p:cTn>
                                        <p:tgtEl>
                                          <p:spTgt spid="987"/>
                                        </p:tgtEl>
                                        <p:attrNameLst>
                                          <p:attrName>style.visibility</p:attrName>
                                        </p:attrNameLst>
                                      </p:cBhvr>
                                      <p:to>
                                        <p:strVal val="hidden"/>
                                      </p:to>
                                    </p:set>
                                  </p:childTnLst>
                                </p:cTn>
                              </p:par>
                            </p:childTnLst>
                          </p:cTn>
                        </p:par>
                        <p:par>
                          <p:cTn id="21" fill="hold">
                            <p:stCondLst>
                              <p:cond delay="200"/>
                            </p:stCondLst>
                            <p:childTnLst>
                              <p:par>
                                <p:cTn id="22" presetClass="entr" nodeType="afterEffect" presetSubtype="0" presetID="1" grpId="6" fill="hold">
                                  <p:stCondLst>
                                    <p:cond delay="200"/>
                                  </p:stCondLst>
                                  <p:iterate type="el" backwards="0">
                                    <p:tmAbs val="0"/>
                                  </p:iterate>
                                  <p:childTnLst>
                                    <p:set>
                                      <p:cBhvr>
                                        <p:cTn id="23" fill="hold"/>
                                        <p:tgtEl>
                                          <p:spTgt spid="100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xit" nodeType="clickEffect" presetSubtype="0" presetID="1" grpId="7" fill="hold">
                                  <p:stCondLst>
                                    <p:cond delay="0"/>
                                  </p:stCondLst>
                                  <p:iterate type="el" backwards="0">
                                    <p:tmAbs val="0"/>
                                  </p:iterate>
                                  <p:childTnLst>
                                    <p:set>
                                      <p:cBhvr>
                                        <p:cTn id="27" fill="hold">
                                          <p:stCondLst>
                                            <p:cond delay="0"/>
                                          </p:stCondLst>
                                        </p:cTn>
                                        <p:tgtEl>
                                          <p:spTgt spid="962"/>
                                        </p:tgtEl>
                                        <p:attrNameLst>
                                          <p:attrName>style.visibility</p:attrName>
                                        </p:attrNameLst>
                                      </p:cBhvr>
                                      <p:to>
                                        <p:strVal val="hidden"/>
                                      </p:to>
                                    </p:set>
                                  </p:childTnLst>
                                </p:cTn>
                              </p:par>
                            </p:childTnLst>
                          </p:cTn>
                        </p:par>
                        <p:par>
                          <p:cTn id="28" fill="hold">
                            <p:stCondLst>
                              <p:cond delay="0"/>
                            </p:stCondLst>
                            <p:childTnLst>
                              <p:par>
                                <p:cTn id="29" presetClass="entr" nodeType="afterEffect" presetSubtype="0" presetID="1" grpId="8" fill="hold">
                                  <p:stCondLst>
                                    <p:cond delay="200"/>
                                  </p:stCondLst>
                                  <p:iterate type="el" backwards="0">
                                    <p:tmAbs val="0"/>
                                  </p:iterate>
                                  <p:childTnLst>
                                    <p:set>
                                      <p:cBhvr>
                                        <p:cTn id="30" fill="hold"/>
                                        <p:tgtEl>
                                          <p:spTgt spid="10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xit" nodeType="clickEffect" presetSubtype="0" presetID="1" grpId="9" fill="hold">
                                  <p:stCondLst>
                                    <p:cond delay="0"/>
                                  </p:stCondLst>
                                  <p:iterate type="el" backwards="0">
                                    <p:tmAbs val="0"/>
                                  </p:iterate>
                                  <p:childTnLst>
                                    <p:set>
                                      <p:cBhvr>
                                        <p:cTn id="34" fill="hold">
                                          <p:stCondLst>
                                            <p:cond delay="0"/>
                                          </p:stCondLst>
                                        </p:cTn>
                                        <p:tgtEl>
                                          <p:spTgt spid="923"/>
                                        </p:tgtEl>
                                        <p:attrNameLst>
                                          <p:attrName>style.visibility</p:attrName>
                                        </p:attrNameLst>
                                      </p:cBhvr>
                                      <p:to>
                                        <p:strVal val="hidden"/>
                                      </p:to>
                                    </p:set>
                                  </p:childTnLst>
                                </p:cTn>
                              </p:par>
                            </p:childTnLst>
                          </p:cTn>
                        </p:par>
                        <p:par>
                          <p:cTn id="35" fill="hold">
                            <p:stCondLst>
                              <p:cond delay="0"/>
                            </p:stCondLst>
                            <p:childTnLst>
                              <p:par>
                                <p:cTn id="36" presetClass="entr" nodeType="afterEffect" presetSubtype="0" presetID="1" grpId="10" fill="hold">
                                  <p:stCondLst>
                                    <p:cond delay="200"/>
                                  </p:stCondLst>
                                  <p:iterate type="el" backwards="0">
                                    <p:tmAbs val="0"/>
                                  </p:iterate>
                                  <p:childTnLst>
                                    <p:set>
                                      <p:cBhvr>
                                        <p:cTn id="37" fill="hold"/>
                                        <p:tgtEl>
                                          <p:spTgt spid="100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Class="exit" nodeType="clickEffect" presetSubtype="0" presetID="1" grpId="11" fill="hold">
                                  <p:stCondLst>
                                    <p:cond delay="0"/>
                                  </p:stCondLst>
                                  <p:iterate type="el" backwards="0">
                                    <p:tmAbs val="0"/>
                                  </p:iterate>
                                  <p:childTnLst>
                                    <p:set>
                                      <p:cBhvr>
                                        <p:cTn id="41" fill="hold">
                                          <p:stCondLst>
                                            <p:cond delay="0"/>
                                          </p:stCondLst>
                                        </p:cTn>
                                        <p:tgtEl>
                                          <p:spTgt spid="979"/>
                                        </p:tgtEl>
                                        <p:attrNameLst>
                                          <p:attrName>style.visibility</p:attrName>
                                        </p:attrNameLst>
                                      </p:cBhvr>
                                      <p:to>
                                        <p:strVal val="hidden"/>
                                      </p:to>
                                    </p:set>
                                  </p:childTnLst>
                                </p:cTn>
                              </p:par>
                            </p:childTnLst>
                          </p:cTn>
                        </p:par>
                        <p:par>
                          <p:cTn id="42" fill="hold">
                            <p:stCondLst>
                              <p:cond delay="0"/>
                            </p:stCondLst>
                            <p:childTnLst>
                              <p:par>
                                <p:cTn id="43" presetClass="entr" nodeType="afterEffect" presetSubtype="0" presetID="1" grpId="12" fill="hold">
                                  <p:stCondLst>
                                    <p:cond delay="200"/>
                                  </p:stCondLst>
                                  <p:iterate type="el" backwards="0">
                                    <p:tmAbs val="0"/>
                                  </p:iterate>
                                  <p:childTnLst>
                                    <p:set>
                                      <p:cBhvr>
                                        <p:cTn id="44" fill="hold"/>
                                        <p:tgtEl>
                                          <p:spTgt spid="9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02" grpId="1"/>
      <p:bldP build="whole" bldLvl="1" animBg="1" rev="0" advAuto="0" spid="987" grpId="5"/>
      <p:bldP build="whole" bldLvl="1" animBg="1" rev="0" advAuto="0" spid="1004" grpId="4"/>
      <p:bldP build="whole" bldLvl="1" animBg="1" rev="0" advAuto="0" spid="979" grpId="11"/>
      <p:bldP build="whole" bldLvl="1" animBg="1" rev="0" advAuto="0" spid="996" grpId="12"/>
      <p:bldP build="whole" bldLvl="1" animBg="1" rev="0" advAuto="0" spid="1006" grpId="8"/>
      <p:bldP build="whole" bldLvl="1" animBg="1" rev="0" advAuto="0" spid="923" grpId="9"/>
      <p:bldP build="whole" bldLvl="1" animBg="1" rev="0" advAuto="0" spid="931" grpId="3"/>
      <p:bldP build="whole" bldLvl="1" animBg="1" rev="0" advAuto="0" spid="951" grpId="2"/>
      <p:bldP build="whole" bldLvl="1" animBg="1" rev="0" advAuto="0" spid="1005" grpId="10"/>
      <p:bldP build="whole" bldLvl="1" animBg="1" rev="0" advAuto="0" spid="1003" grpId="6"/>
      <p:bldP build="whole" bldLvl="1" animBg="1" rev="0" advAuto="0" spid="962" grpId="7"/>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8" name="Shape 753"/>
          <p:cNvSpPr/>
          <p:nvPr/>
        </p:nvSpPr>
        <p:spPr>
          <a:xfrm flipH="1">
            <a:off x="8253024" y="1763605"/>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09" name="Shape 754"/>
          <p:cNvSpPr/>
          <p:nvPr/>
        </p:nvSpPr>
        <p:spPr>
          <a:xfrm flipH="1">
            <a:off x="6972863" y="2928618"/>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10" name="Shape 755"/>
          <p:cNvSpPr/>
          <p:nvPr/>
        </p:nvSpPr>
        <p:spPr>
          <a:xfrm>
            <a:off x="9792829" y="1811018"/>
            <a:ext cx="1039738"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11" name="Shape 757"/>
          <p:cNvSpPr/>
          <p:nvPr/>
        </p:nvSpPr>
        <p:spPr>
          <a:xfrm flipH="1">
            <a:off x="7626060" y="5277399"/>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12" name="Shape 758"/>
          <p:cNvSpPr/>
          <p:nvPr/>
        </p:nvSpPr>
        <p:spPr>
          <a:xfrm flipH="1">
            <a:off x="8709359" y="4017062"/>
            <a:ext cx="797813" cy="69290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13" name="Shape 759"/>
          <p:cNvSpPr/>
          <p:nvPr/>
        </p:nvSpPr>
        <p:spPr>
          <a:xfrm>
            <a:off x="11444120" y="2949770"/>
            <a:ext cx="762097"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16" name="Group 764"/>
          <p:cNvGrpSpPr/>
          <p:nvPr/>
        </p:nvGrpSpPr>
        <p:grpSpPr>
          <a:xfrm>
            <a:off x="7724703" y="2368690"/>
            <a:ext cx="749585" cy="745071"/>
            <a:chOff x="0" y="0"/>
            <a:chExt cx="749583" cy="745070"/>
          </a:xfrm>
        </p:grpSpPr>
        <p:sp>
          <p:nvSpPr>
            <p:cNvPr id="1014"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15"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1019" name="Group 767"/>
          <p:cNvGrpSpPr/>
          <p:nvPr/>
        </p:nvGrpSpPr>
        <p:grpSpPr>
          <a:xfrm>
            <a:off x="10745611" y="2368690"/>
            <a:ext cx="747329" cy="745071"/>
            <a:chOff x="0" y="0"/>
            <a:chExt cx="747328" cy="745070"/>
          </a:xfrm>
        </p:grpSpPr>
        <p:sp>
          <p:nvSpPr>
            <p:cNvPr id="1017"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18"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1022" name="Group 770"/>
          <p:cNvGrpSpPr/>
          <p:nvPr/>
        </p:nvGrpSpPr>
        <p:grpSpPr>
          <a:xfrm>
            <a:off x="6315850" y="3438877"/>
            <a:ext cx="747327" cy="742811"/>
            <a:chOff x="0" y="0"/>
            <a:chExt cx="747325" cy="742809"/>
          </a:xfrm>
        </p:grpSpPr>
        <p:sp>
          <p:nvSpPr>
            <p:cNvPr id="1020"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21"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1025" name="Group 773"/>
          <p:cNvGrpSpPr/>
          <p:nvPr/>
        </p:nvGrpSpPr>
        <p:grpSpPr>
          <a:xfrm>
            <a:off x="12132733" y="3454681"/>
            <a:ext cx="747327" cy="742813"/>
            <a:chOff x="0" y="0"/>
            <a:chExt cx="747325" cy="742812"/>
          </a:xfrm>
        </p:grpSpPr>
        <p:sp>
          <p:nvSpPr>
            <p:cNvPr id="1023"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24"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1028" name="Group 782"/>
          <p:cNvGrpSpPr/>
          <p:nvPr/>
        </p:nvGrpSpPr>
        <p:grpSpPr>
          <a:xfrm>
            <a:off x="8081433" y="4580749"/>
            <a:ext cx="749585" cy="742811"/>
            <a:chOff x="0" y="0"/>
            <a:chExt cx="749583" cy="742809"/>
          </a:xfrm>
        </p:grpSpPr>
        <p:sp>
          <p:nvSpPr>
            <p:cNvPr id="1026"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27"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sp>
        <p:nvSpPr>
          <p:cNvPr id="1029" name="Shape 760"/>
          <p:cNvSpPr/>
          <p:nvPr/>
        </p:nvSpPr>
        <p:spPr>
          <a:xfrm>
            <a:off x="9968512" y="3978281"/>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30" name="Shape 761"/>
          <p:cNvSpPr/>
          <p:nvPr/>
        </p:nvSpPr>
        <p:spPr>
          <a:xfrm>
            <a:off x="11145378" y="5189503"/>
            <a:ext cx="656618" cy="65661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33" name="Group 776"/>
          <p:cNvGrpSpPr/>
          <p:nvPr/>
        </p:nvGrpSpPr>
        <p:grpSpPr>
          <a:xfrm>
            <a:off x="10461649" y="4580749"/>
            <a:ext cx="747327" cy="742811"/>
            <a:chOff x="0" y="0"/>
            <a:chExt cx="747325" cy="742809"/>
          </a:xfrm>
        </p:grpSpPr>
        <p:sp>
          <p:nvSpPr>
            <p:cNvPr id="1031"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32"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1036" name="Group 788"/>
          <p:cNvGrpSpPr/>
          <p:nvPr/>
        </p:nvGrpSpPr>
        <p:grpSpPr>
          <a:xfrm>
            <a:off x="11586633" y="5758548"/>
            <a:ext cx="747327" cy="745071"/>
            <a:chOff x="0" y="0"/>
            <a:chExt cx="747325" cy="745070"/>
          </a:xfrm>
        </p:grpSpPr>
        <p:sp>
          <p:nvSpPr>
            <p:cNvPr id="1034"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35"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1039" name="Group 791"/>
          <p:cNvGrpSpPr/>
          <p:nvPr/>
        </p:nvGrpSpPr>
        <p:grpSpPr>
          <a:xfrm>
            <a:off x="8076351" y="4581313"/>
            <a:ext cx="747330" cy="745069"/>
            <a:chOff x="0" y="0"/>
            <a:chExt cx="747328" cy="745067"/>
          </a:xfrm>
        </p:grpSpPr>
        <p:sp>
          <p:nvSpPr>
            <p:cNvPr id="1037"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38"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1040" name="Shape 792"/>
          <p:cNvSpPr/>
          <p:nvPr/>
        </p:nvSpPr>
        <p:spPr>
          <a:xfrm>
            <a:off x="8437032" y="2872456"/>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43" name="Group 795"/>
          <p:cNvGrpSpPr/>
          <p:nvPr/>
        </p:nvGrpSpPr>
        <p:grpSpPr>
          <a:xfrm>
            <a:off x="9338027" y="3482240"/>
            <a:ext cx="749587" cy="742813"/>
            <a:chOff x="0" y="0"/>
            <a:chExt cx="749586" cy="742812"/>
          </a:xfrm>
        </p:grpSpPr>
        <p:sp>
          <p:nvSpPr>
            <p:cNvPr id="1041"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42"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1046" name="Group 798"/>
          <p:cNvGrpSpPr/>
          <p:nvPr/>
        </p:nvGrpSpPr>
        <p:grpSpPr>
          <a:xfrm>
            <a:off x="10738555" y="2377156"/>
            <a:ext cx="747327" cy="742813"/>
            <a:chOff x="0" y="0"/>
            <a:chExt cx="747325" cy="742812"/>
          </a:xfrm>
        </p:grpSpPr>
        <p:sp>
          <p:nvSpPr>
            <p:cNvPr id="1044"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45"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1047" name="Shape 799"/>
          <p:cNvSpPr/>
          <p:nvPr/>
        </p:nvSpPr>
        <p:spPr>
          <a:xfrm>
            <a:off x="9563009" y="1646835"/>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50" name="Group 802"/>
          <p:cNvGrpSpPr/>
          <p:nvPr/>
        </p:nvGrpSpPr>
        <p:grpSpPr>
          <a:xfrm>
            <a:off x="9088401" y="1253347"/>
            <a:ext cx="747329" cy="745069"/>
            <a:chOff x="0" y="0"/>
            <a:chExt cx="747328" cy="745067"/>
          </a:xfrm>
        </p:grpSpPr>
        <p:sp>
          <p:nvSpPr>
            <p:cNvPr id="1048"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49"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1053" name="成组"/>
          <p:cNvGrpSpPr/>
          <p:nvPr/>
        </p:nvGrpSpPr>
        <p:grpSpPr>
          <a:xfrm>
            <a:off x="9966990" y="2965449"/>
            <a:ext cx="1330394" cy="1270001"/>
            <a:chOff x="0" y="215775"/>
            <a:chExt cx="1330392" cy="1270000"/>
          </a:xfrm>
        </p:grpSpPr>
        <p:sp>
          <p:nvSpPr>
            <p:cNvPr id="1051"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1052"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056" name="成组"/>
          <p:cNvGrpSpPr/>
          <p:nvPr/>
        </p:nvGrpSpPr>
        <p:grpSpPr>
          <a:xfrm>
            <a:off x="8382107" y="3864063"/>
            <a:ext cx="1270001" cy="1270001"/>
            <a:chOff x="0" y="215775"/>
            <a:chExt cx="1270000" cy="1270000"/>
          </a:xfrm>
        </p:grpSpPr>
        <p:sp>
          <p:nvSpPr>
            <p:cNvPr id="1054" name="Shape 814"/>
            <p:cNvSpPr/>
            <p:nvPr/>
          </p:nvSpPr>
          <p:spPr>
            <a:xfrm>
              <a:off x="0" y="215775"/>
              <a:ext cx="1270000"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1055" name="Shape 815"/>
            <p:cNvSpPr/>
            <p:nvPr/>
          </p:nvSpPr>
          <p:spPr>
            <a:xfrm flipH="1">
              <a:off x="2361" y="431676"/>
              <a:ext cx="134489" cy="501804"/>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057" name="Shape 816"/>
          <p:cNvSpPr/>
          <p:nvPr/>
        </p:nvSpPr>
        <p:spPr>
          <a:xfrm>
            <a:off x="7335494" y="5857785"/>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grpSp>
        <p:nvGrpSpPr>
          <p:cNvPr id="1060" name="成组"/>
          <p:cNvGrpSpPr/>
          <p:nvPr/>
        </p:nvGrpSpPr>
        <p:grpSpPr>
          <a:xfrm>
            <a:off x="9671296" y="2800392"/>
            <a:ext cx="1330393" cy="1270001"/>
            <a:chOff x="0" y="215775"/>
            <a:chExt cx="1330392" cy="1270000"/>
          </a:xfrm>
        </p:grpSpPr>
        <p:sp>
          <p:nvSpPr>
            <p:cNvPr id="1058" name="Shape 814"/>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pq</a:t>
              </a:r>
            </a:p>
          </p:txBody>
        </p:sp>
        <p:sp>
          <p:nvSpPr>
            <p:cNvPr id="1059"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061" name="特例：左子树的最大结点是待删除…"/>
          <p:cNvSpPr txBox="1"/>
          <p:nvPr/>
        </p:nvSpPr>
        <p:spPr>
          <a:xfrm>
            <a:off x="200546" y="1605692"/>
            <a:ext cx="6322568" cy="29914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R="57798" defTabSz="1295400">
              <a:spcBef>
                <a:spcPts val="1900"/>
              </a:spcBef>
              <a:defRPr>
                <a:uFill>
                  <a:solidFill>
                    <a:srgbClr val="000000"/>
                  </a:solidFill>
                </a:uFill>
              </a:defRPr>
            </a:pPr>
            <a:r>
              <a:t>特例：左子树的最大结点是待删除</a:t>
            </a:r>
          </a:p>
          <a:p>
            <a:pPr marR="57798" defTabSz="1295400">
              <a:spcBef>
                <a:spcPts val="1900"/>
              </a:spcBef>
              <a:defRPr>
                <a:uFill>
                  <a:solidFill>
                    <a:srgbClr val="000000"/>
                  </a:solidFill>
                </a:uFill>
              </a:defRPr>
            </a:pPr>
            <a:r>
              <a:t>            结点的左孩子</a:t>
            </a:r>
          </a:p>
          <a:p>
            <a:pPr marR="57798" defTabSz="1295400">
              <a:spcBef>
                <a:spcPts val="1900"/>
              </a:spcBef>
              <a:defRPr>
                <a:uFill>
                  <a:solidFill>
                    <a:srgbClr val="000000"/>
                  </a:solidFill>
                </a:uFill>
              </a:defRPr>
            </a:pPr>
            <a:r>
              <a:t>            最终，c是待删除结点，</a:t>
            </a:r>
          </a:p>
          <a:p>
            <a:pPr marR="57798" defTabSz="1295400">
              <a:spcBef>
                <a:spcPts val="1900"/>
              </a:spcBef>
              <a:defRPr>
                <a:uFill>
                  <a:solidFill>
                    <a:srgbClr val="000000"/>
                  </a:solidFill>
                </a:uFill>
              </a:defRPr>
            </a:pPr>
            <a:r>
              <a:t>            p是c的父结点</a:t>
            </a:r>
          </a:p>
        </p:txBody>
      </p:sp>
      <p:sp>
        <p:nvSpPr>
          <p:cNvPr id="1073" name="连接线"/>
          <p:cNvSpPr/>
          <p:nvPr/>
        </p:nvSpPr>
        <p:spPr>
          <a:xfrm>
            <a:off x="8765873" y="5151518"/>
            <a:ext cx="1748361" cy="253240"/>
          </a:xfrm>
          <a:custGeom>
            <a:avLst/>
            <a:gdLst/>
            <a:ahLst/>
            <a:cxnLst>
              <a:cxn ang="0">
                <a:pos x="wd2" y="hd2"/>
              </a:cxn>
              <a:cxn ang="5400000">
                <a:pos x="wd2" y="hd2"/>
              </a:cxn>
              <a:cxn ang="10800000">
                <a:pos x="wd2" y="hd2"/>
              </a:cxn>
              <a:cxn ang="16200000">
                <a:pos x="wd2" y="hd2"/>
              </a:cxn>
            </a:cxnLst>
            <a:rect l="0" t="0" r="r" b="b"/>
            <a:pathLst>
              <a:path w="21600" h="16206" fill="norm" stroke="1" extrusionOk="0">
                <a:moveTo>
                  <a:pt x="0" y="1187"/>
                </a:moveTo>
                <a:cubicBezTo>
                  <a:pt x="6770" y="21600"/>
                  <a:pt x="13970" y="21204"/>
                  <a:pt x="21600" y="0"/>
                </a:cubicBezTo>
              </a:path>
            </a:pathLst>
          </a:custGeom>
          <a:ln w="25400">
            <a:solidFill>
              <a:schemeClr val="accent1"/>
            </a:solidFill>
            <a:custDash>
              <a:ds d="200000" sp="200000"/>
            </a:custDash>
            <a:miter lim="400000"/>
            <a:tailEnd type="triangle"/>
          </a:ln>
        </p:spPr>
        <p:txBody>
          <a:bodyPr/>
          <a:lstStyle/>
          <a:p>
            <a:pPr/>
          </a:p>
        </p:txBody>
      </p:sp>
      <p:grpSp>
        <p:nvGrpSpPr>
          <p:cNvPr id="1065" name="成组"/>
          <p:cNvGrpSpPr/>
          <p:nvPr/>
        </p:nvGrpSpPr>
        <p:grpSpPr>
          <a:xfrm>
            <a:off x="7937246" y="1702254"/>
            <a:ext cx="1270001" cy="1270001"/>
            <a:chOff x="0" y="215775"/>
            <a:chExt cx="1270000" cy="1270000"/>
          </a:xfrm>
        </p:grpSpPr>
        <p:sp>
          <p:nvSpPr>
            <p:cNvPr id="1063" name="Shape 814"/>
            <p:cNvSpPr/>
            <p:nvPr/>
          </p:nvSpPr>
          <p:spPr>
            <a:xfrm>
              <a:off x="0" y="215775"/>
              <a:ext cx="1270000"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1064" name="Shape 815"/>
            <p:cNvSpPr/>
            <p:nvPr/>
          </p:nvSpPr>
          <p:spPr>
            <a:xfrm flipH="1">
              <a:off x="2361" y="431676"/>
              <a:ext cx="134489" cy="501804"/>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074" name="连接线"/>
          <p:cNvSpPr/>
          <p:nvPr/>
        </p:nvSpPr>
        <p:spPr>
          <a:xfrm>
            <a:off x="7920424" y="4228994"/>
            <a:ext cx="1763495" cy="2338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2581" y="19916"/>
                  <a:pt x="19781" y="12716"/>
                  <a:pt x="21600" y="0"/>
                </a:cubicBezTo>
              </a:path>
            </a:pathLst>
          </a:custGeom>
          <a:ln w="25400">
            <a:solidFill>
              <a:schemeClr val="accent5"/>
            </a:solidFill>
            <a:custDash>
              <a:ds d="200000" sp="200000"/>
            </a:custDash>
            <a:miter lim="400000"/>
            <a:headEnd type="triangle"/>
          </a:ln>
        </p:spPr>
        <p:txBody>
          <a:bodyPr/>
          <a:lstStyle/>
          <a:p>
            <a:pPr/>
          </a:p>
        </p:txBody>
      </p:sp>
      <p:sp>
        <p:nvSpPr>
          <p:cNvPr id="1075" name="连接线"/>
          <p:cNvSpPr/>
          <p:nvPr/>
        </p:nvSpPr>
        <p:spPr>
          <a:xfrm>
            <a:off x="8459534" y="3811271"/>
            <a:ext cx="876121" cy="765396"/>
          </a:xfrm>
          <a:custGeom>
            <a:avLst/>
            <a:gdLst/>
            <a:ahLst/>
            <a:cxnLst>
              <a:cxn ang="0">
                <a:pos x="wd2" y="hd2"/>
              </a:cxn>
              <a:cxn ang="5400000">
                <a:pos x="wd2" y="hd2"/>
              </a:cxn>
              <a:cxn ang="10800000">
                <a:pos x="wd2" y="hd2"/>
              </a:cxn>
              <a:cxn ang="16200000">
                <a:pos x="wd2" y="hd2"/>
              </a:cxn>
            </a:cxnLst>
            <a:rect l="0" t="0" r="r" b="b"/>
            <a:pathLst>
              <a:path w="21600" h="21429" fill="norm" stroke="1" extrusionOk="0">
                <a:moveTo>
                  <a:pt x="0" y="21429"/>
                </a:moveTo>
                <a:cubicBezTo>
                  <a:pt x="1587" y="6971"/>
                  <a:pt x="8787" y="-171"/>
                  <a:pt x="21600" y="3"/>
                </a:cubicBezTo>
              </a:path>
            </a:pathLst>
          </a:custGeom>
          <a:ln w="25400">
            <a:solidFill>
              <a:schemeClr val="accent1"/>
            </a:solidFill>
            <a:custDash>
              <a:ds d="200000" sp="200000"/>
            </a:custDash>
            <a:miter lim="400000"/>
            <a:tailEnd type="triangle"/>
          </a:ln>
        </p:spPr>
        <p:txBody>
          <a:bodyPr/>
          <a:lstStyle/>
          <a:p>
            <a:pPr/>
          </a:p>
        </p:txBody>
      </p:sp>
      <p:grpSp>
        <p:nvGrpSpPr>
          <p:cNvPr id="1070" name="成组"/>
          <p:cNvGrpSpPr/>
          <p:nvPr/>
        </p:nvGrpSpPr>
        <p:grpSpPr>
          <a:xfrm>
            <a:off x="8671756" y="3999898"/>
            <a:ext cx="1270001" cy="1270001"/>
            <a:chOff x="0" y="215775"/>
            <a:chExt cx="1270000" cy="1270000"/>
          </a:xfrm>
        </p:grpSpPr>
        <p:sp>
          <p:nvSpPr>
            <p:cNvPr id="1068" name="Shape 814"/>
            <p:cNvSpPr/>
            <p:nvPr/>
          </p:nvSpPr>
          <p:spPr>
            <a:xfrm>
              <a:off x="0" y="215775"/>
              <a:ext cx="1270000"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1069" name="Shape 815"/>
            <p:cNvSpPr/>
            <p:nvPr/>
          </p:nvSpPr>
          <p:spPr>
            <a:xfrm flipH="1">
              <a:off x="2361" y="431676"/>
              <a:ext cx="134489" cy="501804"/>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071" name="Shape 747"/>
          <p:cNvSpPr txBox="1"/>
          <p:nvPr>
            <p:ph type="title"/>
          </p:nvPr>
        </p:nvSpPr>
        <p:spPr>
          <a:xfrm>
            <a:off x="1611488" y="125588"/>
            <a:ext cx="9448801" cy="952501"/>
          </a:xfrm>
          <a:prstGeom prst="rect">
            <a:avLst/>
          </a:prstGeom>
        </p:spPr>
        <p:txBody>
          <a:bodyPr/>
          <a:lstStyle/>
          <a:p>
            <a:pPr/>
            <a:r>
              <a:t>remove(位置交换)</a:t>
            </a:r>
          </a:p>
        </p:txBody>
      </p:sp>
      <p:sp>
        <p:nvSpPr>
          <p:cNvPr id="1076" name="连接线"/>
          <p:cNvSpPr/>
          <p:nvPr/>
        </p:nvSpPr>
        <p:spPr>
          <a:xfrm>
            <a:off x="8398291" y="2974140"/>
            <a:ext cx="349852" cy="1632080"/>
          </a:xfrm>
          <a:custGeom>
            <a:avLst/>
            <a:gdLst/>
            <a:ahLst/>
            <a:cxnLst>
              <a:cxn ang="0">
                <a:pos x="wd2" y="hd2"/>
              </a:cxn>
              <a:cxn ang="5400000">
                <a:pos x="wd2" y="hd2"/>
              </a:cxn>
              <a:cxn ang="10800000">
                <a:pos x="wd2" y="hd2"/>
              </a:cxn>
              <a:cxn ang="16200000">
                <a:pos x="wd2" y="hd2"/>
              </a:cxn>
            </a:cxnLst>
            <a:rect l="0" t="0" r="r" b="b"/>
            <a:pathLst>
              <a:path w="16689" h="21600" fill="norm" stroke="1" extrusionOk="0">
                <a:moveTo>
                  <a:pt x="9473" y="21600"/>
                </a:moveTo>
                <a:cubicBezTo>
                  <a:pt x="21600" y="12356"/>
                  <a:pt x="18442" y="5156"/>
                  <a:pt x="0" y="0"/>
                </a:cubicBezTo>
              </a:path>
            </a:pathLst>
          </a:custGeom>
          <a:ln w="25400">
            <a:solidFill>
              <a:schemeClr val="accent1"/>
            </a:solidFill>
            <a:custDash>
              <a:ds d="200000" sp="200000"/>
            </a:custDash>
            <a:miter lim="400000"/>
            <a:headEnd type="triangle"/>
          </a:ln>
        </p:spPr>
        <p:txBody>
          <a:bodyP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xit" nodeType="clickEffect" presetSubtype="0" presetID="1" grpId="2" fill="hold">
                                  <p:stCondLst>
                                    <p:cond delay="0"/>
                                  </p:stCondLst>
                                  <p:iterate type="el" backwards="0">
                                    <p:tmAbs val="0"/>
                                  </p:iterate>
                                  <p:childTnLst>
                                    <p:set>
                                      <p:cBhvr>
                                        <p:cTn id="10" fill="hold">
                                          <p:stCondLst>
                                            <p:cond delay="0"/>
                                          </p:stCondLst>
                                        </p:cTn>
                                        <p:tgtEl>
                                          <p:spTgt spid="10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Class="exit" nodeType="clickEffect" presetSubtype="0" presetID="1" grpId="3" fill="hold">
                                  <p:stCondLst>
                                    <p:cond delay="0"/>
                                  </p:stCondLst>
                                  <p:iterate type="el" backwards="0">
                                    <p:tmAbs val="0"/>
                                  </p:iterate>
                                  <p:childTnLst>
                                    <p:set>
                                      <p:cBhvr>
                                        <p:cTn id="14" fill="hold">
                                          <p:stCondLst>
                                            <p:cond delay="0"/>
                                          </p:stCondLst>
                                        </p:cTn>
                                        <p:tgtEl>
                                          <p:spTgt spid="1012"/>
                                        </p:tgtEl>
                                        <p:attrNameLst>
                                          <p:attrName>style.visibility</p:attrName>
                                        </p:attrNameLst>
                                      </p:cBhvr>
                                      <p:to>
                                        <p:strVal val="hidden"/>
                                      </p:to>
                                    </p:set>
                                  </p:childTnLst>
                                </p:cTn>
                              </p:par>
                            </p:childTnLst>
                          </p:cTn>
                        </p:par>
                        <p:par>
                          <p:cTn id="15" fill="hold">
                            <p:stCondLst>
                              <p:cond delay="0"/>
                            </p:stCondLst>
                            <p:childTnLst>
                              <p:par>
                                <p:cTn id="16" presetClass="entr" nodeType="afterEffect" presetSubtype="0" presetID="1" grpId="4" fill="hold">
                                  <p:stCondLst>
                                    <p:cond delay="200"/>
                                  </p:stCondLst>
                                  <p:iterate type="el" backwards="0">
                                    <p:tmAbs val="0"/>
                                  </p:iterate>
                                  <p:childTnLst>
                                    <p:set>
                                      <p:cBhvr>
                                        <p:cTn id="17" fill="hold"/>
                                        <p:tgtEl>
                                          <p:spTgt spid="1074"/>
                                        </p:tgtEl>
                                        <p:attrNameLst>
                                          <p:attrName>style.visibility</p:attrName>
                                        </p:attrNameLst>
                                      </p:cBhvr>
                                      <p:to>
                                        <p:strVal val="visible"/>
                                      </p:to>
                                    </p:set>
                                  </p:childTnLst>
                                </p:cTn>
                              </p:par>
                            </p:childTnLst>
                          </p:cTn>
                        </p:par>
                        <p:par>
                          <p:cTn id="18" fill="hold">
                            <p:stCondLst>
                              <p:cond delay="200"/>
                            </p:stCondLst>
                            <p:childTnLst>
                              <p:par>
                                <p:cTn id="19" presetClass="exit" nodeType="afterEffect" presetSubtype="0" presetID="1" grpId="5" fill="hold">
                                  <p:stCondLst>
                                    <p:cond delay="300"/>
                                  </p:stCondLst>
                                  <p:iterate type="el" backwards="0">
                                    <p:tmAbs val="0"/>
                                  </p:iterate>
                                  <p:childTnLst>
                                    <p:set>
                                      <p:cBhvr>
                                        <p:cTn id="20" fill="hold">
                                          <p:stCondLst>
                                            <p:cond delay="0"/>
                                          </p:stCondLst>
                                        </p:cTn>
                                        <p:tgtEl>
                                          <p:spTgt spid="1011"/>
                                        </p:tgtEl>
                                        <p:attrNameLst>
                                          <p:attrName>style.visibility</p:attrName>
                                        </p:attrNameLst>
                                      </p:cBhvr>
                                      <p:to>
                                        <p:strVal val="hidden"/>
                                      </p:to>
                                    </p:set>
                                  </p:childTnLst>
                                </p:cTn>
                              </p:par>
                            </p:childTnLst>
                          </p:cTn>
                        </p:par>
                        <p:par>
                          <p:cTn id="21" fill="hold">
                            <p:stCondLst>
                              <p:cond delay="500"/>
                            </p:stCondLst>
                            <p:childTnLst>
                              <p:par>
                                <p:cTn id="22" presetClass="entr" nodeType="afterEffect" presetSubtype="0" presetID="1" grpId="6" fill="hold">
                                  <p:stCondLst>
                                    <p:cond delay="200"/>
                                  </p:stCondLst>
                                  <p:iterate type="el" backwards="0">
                                    <p:tmAbs val="0"/>
                                  </p:iterate>
                                  <p:childTnLst>
                                    <p:set>
                                      <p:cBhvr>
                                        <p:cTn id="23" fill="hold"/>
                                        <p:tgtEl>
                                          <p:spTgt spid="107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Class="exit" nodeType="clickEffect" presetSubtype="0" presetID="1" grpId="7" fill="hold">
                                  <p:stCondLst>
                                    <p:cond delay="0"/>
                                  </p:stCondLst>
                                  <p:iterate type="el" backwards="0">
                                    <p:tmAbs val="0"/>
                                  </p:iterate>
                                  <p:childTnLst>
                                    <p:set>
                                      <p:cBhvr>
                                        <p:cTn id="27" fill="hold">
                                          <p:stCondLst>
                                            <p:cond delay="0"/>
                                          </p:stCondLst>
                                        </p:cTn>
                                        <p:tgtEl>
                                          <p:spTgt spid="1040"/>
                                        </p:tgtEl>
                                        <p:attrNameLst>
                                          <p:attrName>style.visibility</p:attrName>
                                        </p:attrNameLst>
                                      </p:cBhvr>
                                      <p:to>
                                        <p:strVal val="hidden"/>
                                      </p:to>
                                    </p:set>
                                  </p:childTnLst>
                                </p:cTn>
                              </p:par>
                            </p:childTnLst>
                          </p:cTn>
                        </p:par>
                        <p:par>
                          <p:cTn id="28" fill="hold">
                            <p:stCondLst>
                              <p:cond delay="0"/>
                            </p:stCondLst>
                            <p:childTnLst>
                              <p:par>
                                <p:cTn id="29" presetClass="entr" nodeType="afterEffect" presetSubtype="0" presetID="1" grpId="8" fill="hold">
                                  <p:stCondLst>
                                    <p:cond delay="200"/>
                                  </p:stCondLst>
                                  <p:iterate type="el" backwards="0">
                                    <p:tmAbs val="0"/>
                                  </p:iterate>
                                  <p:childTnLst>
                                    <p:set>
                                      <p:cBhvr>
                                        <p:cTn id="30" fill="hold"/>
                                        <p:tgtEl>
                                          <p:spTgt spid="10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xit" nodeType="clickEffect" presetSubtype="0" presetID="1" grpId="9" fill="hold">
                                  <p:stCondLst>
                                    <p:cond delay="0"/>
                                  </p:stCondLst>
                                  <p:iterate type="el" backwards="0">
                                    <p:tmAbs val="0"/>
                                  </p:iterate>
                                  <p:childTnLst>
                                    <p:set>
                                      <p:cBhvr>
                                        <p:cTn id="34" fill="hold">
                                          <p:stCondLst>
                                            <p:cond delay="0"/>
                                          </p:stCondLst>
                                        </p:cTn>
                                        <p:tgtEl>
                                          <p:spTgt spid="1065"/>
                                        </p:tgtEl>
                                        <p:attrNameLst>
                                          <p:attrName>style.visibility</p:attrName>
                                        </p:attrNameLst>
                                      </p:cBhvr>
                                      <p:to>
                                        <p:strVal val="hidden"/>
                                      </p:to>
                                    </p:set>
                                  </p:childTnLst>
                                </p:cTn>
                              </p:par>
                            </p:childTnLst>
                          </p:cTn>
                        </p:par>
                        <p:par>
                          <p:cTn id="35" fill="hold">
                            <p:stCondLst>
                              <p:cond delay="0"/>
                            </p:stCondLst>
                            <p:childTnLst>
                              <p:par>
                                <p:cTn id="36" presetClass="entr" nodeType="afterEffect" presetSubtype="0" presetID="1" grpId="10" fill="hold">
                                  <p:stCondLst>
                                    <p:cond delay="200"/>
                                  </p:stCondLst>
                                  <p:iterate type="el" backwards="0">
                                    <p:tmAbs val="0"/>
                                  </p:iterate>
                                  <p:childTnLst>
                                    <p:set>
                                      <p:cBhvr>
                                        <p:cTn id="37" fill="hold"/>
                                        <p:tgtEl>
                                          <p:spTgt spid="10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74" grpId="4"/>
      <p:bldP build="whole" bldLvl="1" animBg="1" rev="0" advAuto="0" spid="1065" grpId="9"/>
      <p:bldP build="whole" bldLvl="1" animBg="1" rev="0" advAuto="0" spid="1040" grpId="7"/>
      <p:bldP build="whole" bldLvl="1" animBg="1" rev="0" advAuto="0" spid="1075" grpId="6"/>
      <p:bldP build="whole" bldLvl="1" animBg="1" rev="0" advAuto="0" spid="1070" grpId="10"/>
      <p:bldP build="whole" bldLvl="1" animBg="1" rev="0" advAuto="0" spid="1029" grpId="2"/>
      <p:bldP build="whole" bldLvl="1" animBg="1" rev="0" advAuto="0" spid="1011" grpId="5"/>
      <p:bldP build="whole" bldLvl="1" animBg="1" rev="0" advAuto="0" spid="1012" grpId="3"/>
      <p:bldP build="whole" bldLvl="1" animBg="1" rev="0" advAuto="0" spid="1073" grpId="1"/>
      <p:bldP build="whole" bldLvl="1" animBg="1" rev="0" advAuto="0" spid="1076" grpId="8"/>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8" name="Shape 747"/>
          <p:cNvSpPr txBox="1"/>
          <p:nvPr>
            <p:ph type="title"/>
          </p:nvPr>
        </p:nvSpPr>
        <p:spPr>
          <a:xfrm>
            <a:off x="1611488" y="125588"/>
            <a:ext cx="9448801" cy="952501"/>
          </a:xfrm>
          <a:prstGeom prst="rect">
            <a:avLst/>
          </a:prstGeom>
        </p:spPr>
        <p:txBody>
          <a:bodyPr/>
          <a:lstStyle/>
          <a:p>
            <a:pPr/>
            <a:r>
              <a:t>remove(交换位置)</a:t>
            </a:r>
          </a:p>
        </p:txBody>
      </p:sp>
      <p:sp>
        <p:nvSpPr>
          <p:cNvPr id="1079" name="Shape 749"/>
          <p:cNvSpPr/>
          <p:nvPr/>
        </p:nvSpPr>
        <p:spPr>
          <a:xfrm>
            <a:off x="9860204" y="63369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82" name="Group 752"/>
          <p:cNvGrpSpPr/>
          <p:nvPr/>
        </p:nvGrpSpPr>
        <p:grpSpPr>
          <a:xfrm>
            <a:off x="10291233" y="6634848"/>
            <a:ext cx="747327" cy="745071"/>
            <a:chOff x="0" y="0"/>
            <a:chExt cx="747325" cy="745070"/>
          </a:xfrm>
        </p:grpSpPr>
        <p:sp>
          <p:nvSpPr>
            <p:cNvPr id="1080" name="Shape 750"/>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81" name="Shape 751"/>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38</a:t>
              </a:r>
            </a:p>
          </p:txBody>
        </p:sp>
      </p:grpSp>
      <p:sp>
        <p:nvSpPr>
          <p:cNvPr id="1083" name="Shape 753"/>
          <p:cNvSpPr/>
          <p:nvPr/>
        </p:nvSpPr>
        <p:spPr>
          <a:xfrm flipH="1">
            <a:off x="8253024" y="1763605"/>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84" name="Shape 754"/>
          <p:cNvSpPr/>
          <p:nvPr/>
        </p:nvSpPr>
        <p:spPr>
          <a:xfrm flipH="1">
            <a:off x="6972863" y="2928618"/>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85" name="Shape 755"/>
          <p:cNvSpPr/>
          <p:nvPr/>
        </p:nvSpPr>
        <p:spPr>
          <a:xfrm>
            <a:off x="9792829" y="1811018"/>
            <a:ext cx="1039738"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86" name="Shape 757"/>
          <p:cNvSpPr/>
          <p:nvPr/>
        </p:nvSpPr>
        <p:spPr>
          <a:xfrm flipH="1">
            <a:off x="7626060" y="5277399"/>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087" name="Shape 759"/>
          <p:cNvSpPr/>
          <p:nvPr/>
        </p:nvSpPr>
        <p:spPr>
          <a:xfrm>
            <a:off x="11444120" y="2949770"/>
            <a:ext cx="762097"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090" name="Group 764"/>
          <p:cNvGrpSpPr/>
          <p:nvPr/>
        </p:nvGrpSpPr>
        <p:grpSpPr>
          <a:xfrm>
            <a:off x="7724703" y="2368690"/>
            <a:ext cx="749585" cy="745071"/>
            <a:chOff x="0" y="0"/>
            <a:chExt cx="749583" cy="745070"/>
          </a:xfrm>
        </p:grpSpPr>
        <p:sp>
          <p:nvSpPr>
            <p:cNvPr id="1088"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89"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1093" name="Group 767"/>
          <p:cNvGrpSpPr/>
          <p:nvPr/>
        </p:nvGrpSpPr>
        <p:grpSpPr>
          <a:xfrm>
            <a:off x="10745611" y="2368690"/>
            <a:ext cx="747329" cy="745071"/>
            <a:chOff x="0" y="0"/>
            <a:chExt cx="747328" cy="745070"/>
          </a:xfrm>
        </p:grpSpPr>
        <p:sp>
          <p:nvSpPr>
            <p:cNvPr id="1091"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92"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1096" name="Group 770"/>
          <p:cNvGrpSpPr/>
          <p:nvPr/>
        </p:nvGrpSpPr>
        <p:grpSpPr>
          <a:xfrm>
            <a:off x="6315850" y="3438877"/>
            <a:ext cx="747327" cy="742811"/>
            <a:chOff x="0" y="0"/>
            <a:chExt cx="747325" cy="742809"/>
          </a:xfrm>
        </p:grpSpPr>
        <p:sp>
          <p:nvSpPr>
            <p:cNvPr id="1094"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95"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1099" name="Group 773"/>
          <p:cNvGrpSpPr/>
          <p:nvPr/>
        </p:nvGrpSpPr>
        <p:grpSpPr>
          <a:xfrm>
            <a:off x="12132733" y="3454681"/>
            <a:ext cx="747327" cy="742813"/>
            <a:chOff x="0" y="0"/>
            <a:chExt cx="747325" cy="742812"/>
          </a:xfrm>
        </p:grpSpPr>
        <p:sp>
          <p:nvSpPr>
            <p:cNvPr id="1097"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098"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1102" name="Group 782"/>
          <p:cNvGrpSpPr/>
          <p:nvPr/>
        </p:nvGrpSpPr>
        <p:grpSpPr>
          <a:xfrm>
            <a:off x="8081433" y="4580749"/>
            <a:ext cx="749585" cy="742811"/>
            <a:chOff x="0" y="0"/>
            <a:chExt cx="749583" cy="742809"/>
          </a:xfrm>
        </p:grpSpPr>
        <p:sp>
          <p:nvSpPr>
            <p:cNvPr id="1100"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01"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grpSp>
        <p:nvGrpSpPr>
          <p:cNvPr id="1105" name="Group 785"/>
          <p:cNvGrpSpPr/>
          <p:nvPr/>
        </p:nvGrpSpPr>
        <p:grpSpPr>
          <a:xfrm>
            <a:off x="7078696" y="5846515"/>
            <a:ext cx="747329" cy="745071"/>
            <a:chOff x="0" y="0"/>
            <a:chExt cx="747328" cy="745070"/>
          </a:xfrm>
        </p:grpSpPr>
        <p:sp>
          <p:nvSpPr>
            <p:cNvPr id="1103" name="Shape 783"/>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04" name="Shape 784"/>
            <p:cNvSpPr txBox="1"/>
            <p:nvPr/>
          </p:nvSpPr>
          <p:spPr>
            <a:xfrm>
              <a:off x="148403" y="133067"/>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31</a:t>
              </a:r>
            </a:p>
          </p:txBody>
        </p:sp>
      </p:grpSp>
      <p:sp>
        <p:nvSpPr>
          <p:cNvPr id="1106" name="Shape 761"/>
          <p:cNvSpPr/>
          <p:nvPr/>
        </p:nvSpPr>
        <p:spPr>
          <a:xfrm>
            <a:off x="11145378" y="5189503"/>
            <a:ext cx="656618" cy="656618"/>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09" name="Group 776"/>
          <p:cNvGrpSpPr/>
          <p:nvPr/>
        </p:nvGrpSpPr>
        <p:grpSpPr>
          <a:xfrm>
            <a:off x="10461649" y="4580749"/>
            <a:ext cx="747327" cy="742811"/>
            <a:chOff x="0" y="0"/>
            <a:chExt cx="747325" cy="742809"/>
          </a:xfrm>
        </p:grpSpPr>
        <p:sp>
          <p:nvSpPr>
            <p:cNvPr id="1107"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08"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1112" name="Group 788"/>
          <p:cNvGrpSpPr/>
          <p:nvPr/>
        </p:nvGrpSpPr>
        <p:grpSpPr>
          <a:xfrm>
            <a:off x="11586633" y="5758548"/>
            <a:ext cx="747327" cy="745071"/>
            <a:chOff x="0" y="0"/>
            <a:chExt cx="747325" cy="745070"/>
          </a:xfrm>
        </p:grpSpPr>
        <p:sp>
          <p:nvSpPr>
            <p:cNvPr id="1110"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11"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1115" name="Group 791"/>
          <p:cNvGrpSpPr/>
          <p:nvPr/>
        </p:nvGrpSpPr>
        <p:grpSpPr>
          <a:xfrm>
            <a:off x="8076351" y="4581313"/>
            <a:ext cx="747330" cy="745069"/>
            <a:chOff x="0" y="0"/>
            <a:chExt cx="747328" cy="745067"/>
          </a:xfrm>
        </p:grpSpPr>
        <p:sp>
          <p:nvSpPr>
            <p:cNvPr id="1113"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14"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1116" name="Shape 792"/>
          <p:cNvSpPr/>
          <p:nvPr/>
        </p:nvSpPr>
        <p:spPr>
          <a:xfrm>
            <a:off x="8437032" y="2872456"/>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19" name="成组"/>
          <p:cNvGrpSpPr/>
          <p:nvPr/>
        </p:nvGrpSpPr>
        <p:grpSpPr>
          <a:xfrm>
            <a:off x="8709359" y="3978281"/>
            <a:ext cx="1931316" cy="731688"/>
            <a:chOff x="0" y="0"/>
            <a:chExt cx="1931315" cy="731687"/>
          </a:xfrm>
        </p:grpSpPr>
        <p:sp>
          <p:nvSpPr>
            <p:cNvPr id="1117" name="Shape 758"/>
            <p:cNvSpPr/>
            <p:nvPr/>
          </p:nvSpPr>
          <p:spPr>
            <a:xfrm flipH="1">
              <a:off x="0" y="38781"/>
              <a:ext cx="797812" cy="69290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118" name="Shape 760"/>
            <p:cNvSpPr/>
            <p:nvPr/>
          </p:nvSpPr>
          <p:spPr>
            <a:xfrm>
              <a:off x="1259153" y="0"/>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122" name="Group 795"/>
          <p:cNvGrpSpPr/>
          <p:nvPr/>
        </p:nvGrpSpPr>
        <p:grpSpPr>
          <a:xfrm>
            <a:off x="9338027" y="3482240"/>
            <a:ext cx="749587" cy="742813"/>
            <a:chOff x="0" y="0"/>
            <a:chExt cx="749586" cy="742812"/>
          </a:xfrm>
        </p:grpSpPr>
        <p:sp>
          <p:nvSpPr>
            <p:cNvPr id="1120"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21"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1125" name="Group 798"/>
          <p:cNvGrpSpPr/>
          <p:nvPr/>
        </p:nvGrpSpPr>
        <p:grpSpPr>
          <a:xfrm>
            <a:off x="10738555" y="2377156"/>
            <a:ext cx="747327" cy="742813"/>
            <a:chOff x="0" y="0"/>
            <a:chExt cx="747325" cy="742812"/>
          </a:xfrm>
        </p:grpSpPr>
        <p:sp>
          <p:nvSpPr>
            <p:cNvPr id="1123"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24"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1126" name="Shape 799"/>
          <p:cNvSpPr/>
          <p:nvPr/>
        </p:nvSpPr>
        <p:spPr>
          <a:xfrm>
            <a:off x="9563009" y="1646835"/>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29" name="Group 802"/>
          <p:cNvGrpSpPr/>
          <p:nvPr/>
        </p:nvGrpSpPr>
        <p:grpSpPr>
          <a:xfrm>
            <a:off x="9088401" y="1253347"/>
            <a:ext cx="747329" cy="745069"/>
            <a:chOff x="0" y="0"/>
            <a:chExt cx="747328" cy="745067"/>
          </a:xfrm>
        </p:grpSpPr>
        <p:sp>
          <p:nvSpPr>
            <p:cNvPr id="1127"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28"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1132" name="Group 805"/>
          <p:cNvGrpSpPr/>
          <p:nvPr/>
        </p:nvGrpSpPr>
        <p:grpSpPr>
          <a:xfrm>
            <a:off x="9229749" y="5759677"/>
            <a:ext cx="747327" cy="742813"/>
            <a:chOff x="0" y="0"/>
            <a:chExt cx="747325" cy="742812"/>
          </a:xfrm>
        </p:grpSpPr>
        <p:sp>
          <p:nvSpPr>
            <p:cNvPr id="1130" name="Shape 803"/>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31" name="Shape 804"/>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37</a:t>
              </a:r>
            </a:p>
          </p:txBody>
        </p:sp>
      </p:grpSp>
      <p:sp>
        <p:nvSpPr>
          <p:cNvPr id="1133" name="Shape 806"/>
          <p:cNvSpPr/>
          <p:nvPr/>
        </p:nvSpPr>
        <p:spPr>
          <a:xfrm>
            <a:off x="8673112" y="5244734"/>
            <a:ext cx="672163" cy="6721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36" name="成组"/>
          <p:cNvGrpSpPr/>
          <p:nvPr/>
        </p:nvGrpSpPr>
        <p:grpSpPr>
          <a:xfrm>
            <a:off x="7182583" y="1746373"/>
            <a:ext cx="666635" cy="796362"/>
            <a:chOff x="0" y="0"/>
            <a:chExt cx="666634" cy="796361"/>
          </a:xfrm>
        </p:grpSpPr>
        <p:sp>
          <p:nvSpPr>
            <p:cNvPr id="1134" name="Shape 808"/>
            <p:cNvSpPr txBox="1"/>
            <p:nvPr/>
          </p:nvSpPr>
          <p:spPr>
            <a:xfrm>
              <a:off x="0" y="0"/>
              <a:ext cx="324499"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1135" name="Shape 810"/>
            <p:cNvSpPr/>
            <p:nvPr/>
          </p:nvSpPr>
          <p:spPr>
            <a:xfrm>
              <a:off x="238449" y="368176"/>
              <a:ext cx="428186" cy="428186"/>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139" name="成组"/>
          <p:cNvGrpSpPr/>
          <p:nvPr/>
        </p:nvGrpSpPr>
        <p:grpSpPr>
          <a:xfrm>
            <a:off x="9878090" y="2952749"/>
            <a:ext cx="1330394" cy="1270001"/>
            <a:chOff x="0" y="215775"/>
            <a:chExt cx="1330392" cy="1270000"/>
          </a:xfrm>
        </p:grpSpPr>
        <p:sp>
          <p:nvSpPr>
            <p:cNvPr id="1137"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1138"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142" name="成组"/>
          <p:cNvGrpSpPr/>
          <p:nvPr/>
        </p:nvGrpSpPr>
        <p:grpSpPr>
          <a:xfrm>
            <a:off x="10741690" y="5797674"/>
            <a:ext cx="384893" cy="855823"/>
            <a:chOff x="0" y="0"/>
            <a:chExt cx="384891" cy="855822"/>
          </a:xfrm>
        </p:grpSpPr>
        <p:sp>
          <p:nvSpPr>
            <p:cNvPr id="1140" name="Shape 814"/>
            <p:cNvSpPr txBox="1"/>
            <p:nvPr/>
          </p:nvSpPr>
          <p:spPr>
            <a:xfrm>
              <a:off x="60392" y="0"/>
              <a:ext cx="324500" cy="43155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1141"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143" name="Shape 816"/>
          <p:cNvSpPr/>
          <p:nvPr/>
        </p:nvSpPr>
        <p:spPr>
          <a:xfrm>
            <a:off x="9764834" y="7618921"/>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sp>
        <p:nvSpPr>
          <p:cNvPr id="1144" name="Shape 817"/>
          <p:cNvSpPr/>
          <p:nvPr/>
        </p:nvSpPr>
        <p:spPr>
          <a:xfrm flipV="1">
            <a:off x="10050704" y="7275565"/>
            <a:ext cx="341962" cy="341963"/>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47" name="成组"/>
          <p:cNvGrpSpPr/>
          <p:nvPr/>
        </p:nvGrpSpPr>
        <p:grpSpPr>
          <a:xfrm>
            <a:off x="9771848" y="5188141"/>
            <a:ext cx="1330393" cy="1270001"/>
            <a:chOff x="0" y="215775"/>
            <a:chExt cx="1330392" cy="1270000"/>
          </a:xfrm>
        </p:grpSpPr>
        <p:sp>
          <p:nvSpPr>
            <p:cNvPr id="1145" name="Shape 814"/>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pq</a:t>
              </a:r>
            </a:p>
          </p:txBody>
        </p:sp>
        <p:sp>
          <p:nvSpPr>
            <p:cNvPr id="1146"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154" name="连接线"/>
          <p:cNvSpPr/>
          <p:nvPr/>
        </p:nvSpPr>
        <p:spPr>
          <a:xfrm>
            <a:off x="10640284" y="5318028"/>
            <a:ext cx="304433" cy="1307244"/>
          </a:xfrm>
          <a:custGeom>
            <a:avLst/>
            <a:gdLst/>
            <a:ahLst/>
            <a:cxnLst>
              <a:cxn ang="0">
                <a:pos x="wd2" y="hd2"/>
              </a:cxn>
              <a:cxn ang="5400000">
                <a:pos x="wd2" y="hd2"/>
              </a:cxn>
              <a:cxn ang="10800000">
                <a:pos x="wd2" y="hd2"/>
              </a:cxn>
              <a:cxn ang="16200000">
                <a:pos x="wd2" y="hd2"/>
              </a:cxn>
            </a:cxnLst>
            <a:rect l="0" t="0" r="r" b="b"/>
            <a:pathLst>
              <a:path w="18735" h="21600" fill="norm" stroke="1" extrusionOk="0">
                <a:moveTo>
                  <a:pt x="0" y="21600"/>
                </a:moveTo>
                <a:cubicBezTo>
                  <a:pt x="15791" y="14716"/>
                  <a:pt x="21600" y="7516"/>
                  <a:pt x="17427" y="0"/>
                </a:cubicBezTo>
              </a:path>
            </a:pathLst>
          </a:custGeom>
          <a:ln w="25400">
            <a:solidFill>
              <a:schemeClr val="accent1"/>
            </a:solidFill>
            <a:custDash>
              <a:ds d="200000" sp="200000"/>
            </a:custDash>
            <a:miter lim="400000"/>
            <a:tailEnd type="triangle"/>
          </a:ln>
        </p:spPr>
        <p:txBody>
          <a:bodyPr/>
          <a:lstStyle/>
          <a:p>
            <a:pPr/>
          </a:p>
        </p:txBody>
      </p:sp>
      <p:sp>
        <p:nvSpPr>
          <p:cNvPr id="1155" name="连接线"/>
          <p:cNvSpPr/>
          <p:nvPr/>
        </p:nvSpPr>
        <p:spPr>
          <a:xfrm>
            <a:off x="8545889" y="5318981"/>
            <a:ext cx="1794817" cy="1871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0627" y="17502"/>
                  <a:pt x="3427" y="10302"/>
                  <a:pt x="0" y="0"/>
                </a:cubicBezTo>
              </a:path>
            </a:pathLst>
          </a:custGeom>
          <a:ln w="25400">
            <a:solidFill>
              <a:schemeClr val="accent1"/>
            </a:solidFill>
            <a:custDash>
              <a:ds d="200000" sp="200000"/>
            </a:custDash>
            <a:miter lim="400000"/>
            <a:tailEnd type="triangle"/>
          </a:ln>
        </p:spPr>
        <p:txBody>
          <a:bodyPr/>
          <a:lstStyle/>
          <a:p>
            <a:pPr/>
          </a:p>
        </p:txBody>
      </p:sp>
      <p:sp>
        <p:nvSpPr>
          <p:cNvPr id="1156" name="连接线"/>
          <p:cNvSpPr/>
          <p:nvPr/>
        </p:nvSpPr>
        <p:spPr>
          <a:xfrm>
            <a:off x="9877636" y="6390401"/>
            <a:ext cx="303722" cy="1263051"/>
          </a:xfrm>
          <a:custGeom>
            <a:avLst/>
            <a:gdLst/>
            <a:ahLst/>
            <a:cxnLst>
              <a:cxn ang="0">
                <a:pos x="wd2" y="hd2"/>
              </a:cxn>
              <a:cxn ang="5400000">
                <a:pos x="wd2" y="hd2"/>
              </a:cxn>
              <a:cxn ang="10800000">
                <a:pos x="wd2" y="hd2"/>
              </a:cxn>
              <a:cxn ang="16200000">
                <a:pos x="wd2" y="hd2"/>
              </a:cxn>
            </a:cxnLst>
            <a:rect l="0" t="0" r="r" b="b"/>
            <a:pathLst>
              <a:path w="16626" h="21600" fill="norm" stroke="1" extrusionOk="0">
                <a:moveTo>
                  <a:pt x="8941" y="21600"/>
                </a:moveTo>
                <a:cubicBezTo>
                  <a:pt x="21600" y="13865"/>
                  <a:pt x="18620" y="6665"/>
                  <a:pt x="0" y="0"/>
                </a:cubicBezTo>
              </a:path>
            </a:pathLst>
          </a:custGeom>
          <a:ln w="25400">
            <a:solidFill>
              <a:schemeClr val="accent4"/>
            </a:solidFill>
            <a:custDash>
              <a:ds d="200000" sp="200000"/>
            </a:custDash>
            <a:miter lim="400000"/>
            <a:headEnd type="triangle"/>
          </a:ln>
        </p:spPr>
        <p:txBody>
          <a:bodyPr/>
          <a:lstStyle/>
          <a:p>
            <a:pPr/>
          </a:p>
        </p:txBody>
      </p:sp>
      <p:sp>
        <p:nvSpPr>
          <p:cNvPr id="1151" name="单独的代码处理特例，处理完即返回…"/>
          <p:cNvSpPr txBox="1"/>
          <p:nvPr/>
        </p:nvSpPr>
        <p:spPr>
          <a:xfrm>
            <a:off x="86189" y="1248367"/>
            <a:ext cx="6322567" cy="1409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R="57798" defTabSz="1295400">
              <a:spcBef>
                <a:spcPts val="1900"/>
              </a:spcBef>
              <a:defRPr>
                <a:solidFill>
                  <a:schemeClr val="accent5"/>
                </a:solidFill>
                <a:uFill>
                  <a:solidFill>
                    <a:srgbClr val="000000"/>
                  </a:solidFill>
                </a:uFill>
              </a:defRPr>
            </a:pPr>
            <a:r>
              <a:t>单独的代码处理特例，处理完即返回</a:t>
            </a:r>
          </a:p>
          <a:p>
            <a:pPr marR="57798" defTabSz="1295400">
              <a:spcBef>
                <a:spcPts val="1900"/>
              </a:spcBef>
              <a:defRPr>
                <a:solidFill>
                  <a:schemeClr val="accent5"/>
                </a:solidFill>
                <a:uFill>
                  <a:solidFill>
                    <a:srgbClr val="000000"/>
                  </a:solidFill>
                </a:uFill>
              </a:defRPr>
            </a:pPr>
            <a:r>
              <a:t>不合其他情形混合处理</a:t>
            </a:r>
          </a:p>
        </p:txBody>
      </p:sp>
      <p:sp>
        <p:nvSpPr>
          <p:cNvPr id="1152" name="这时，不用设置c的父结点和左子树…"/>
          <p:cNvSpPr txBox="1"/>
          <p:nvPr/>
        </p:nvSpPr>
        <p:spPr>
          <a:xfrm>
            <a:off x="60789" y="2778011"/>
            <a:ext cx="6322567" cy="142588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R="57798" defTabSz="1295400">
              <a:spcBef>
                <a:spcPts val="1900"/>
              </a:spcBef>
              <a:defRPr>
                <a:solidFill>
                  <a:schemeClr val="accent1"/>
                </a:solidFill>
                <a:uFill>
                  <a:solidFill>
                    <a:srgbClr val="000000"/>
                  </a:solidFill>
                </a:uFill>
              </a:defRPr>
            </a:pPr>
            <a:r>
              <a:t>这时，不用设置c的父结点和左子树</a:t>
            </a:r>
          </a:p>
          <a:p>
            <a:pPr marR="57798" defTabSz="1295400">
              <a:spcBef>
                <a:spcPts val="1900"/>
              </a:spcBef>
              <a:defRPr>
                <a:solidFill>
                  <a:schemeClr val="accent1"/>
                </a:solidFill>
                <a:uFill>
                  <a:solidFill>
                    <a:srgbClr val="000000"/>
                  </a:solidFill>
                </a:uFill>
              </a:defRPr>
            </a:pPr>
            <a:r>
              <a:t>调整后，直接帮助GC</a:t>
            </a:r>
          </a:p>
        </p:txBody>
      </p:sp>
      <p:sp>
        <p:nvSpPr>
          <p:cNvPr id="1157" name="连接线"/>
          <p:cNvSpPr/>
          <p:nvPr/>
        </p:nvSpPr>
        <p:spPr>
          <a:xfrm>
            <a:off x="8382223" y="2993182"/>
            <a:ext cx="2202174" cy="36456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066" y="6207"/>
                  <a:pt x="18266" y="13407"/>
                  <a:pt x="21600" y="21600"/>
                </a:cubicBezTo>
              </a:path>
            </a:pathLst>
          </a:custGeom>
          <a:ln w="25400">
            <a:solidFill>
              <a:schemeClr val="accent1"/>
            </a:solidFill>
            <a:custDash>
              <a:ds d="200000" sp="200000"/>
            </a:custDash>
            <a:miter lim="400000"/>
            <a:tailEnd type="triangle"/>
          </a:ln>
        </p:spPr>
        <p:txBody>
          <a:bodyP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xit" nodeType="clickEffect" presetSubtype="0" presetID="1" grpId="2" fill="hold">
                                  <p:stCondLst>
                                    <p:cond delay="0"/>
                                  </p:stCondLst>
                                  <p:iterate type="el" backwards="0">
                                    <p:tmAbs val="0"/>
                                  </p:iterate>
                                  <p:childTnLst>
                                    <p:set>
                                      <p:cBhvr>
                                        <p:cTn id="10" fill="hold">
                                          <p:stCondLst>
                                            <p:cond delay="0"/>
                                          </p:stCondLst>
                                        </p:cTn>
                                        <p:tgtEl>
                                          <p:spTgt spid="1079"/>
                                        </p:tgtEl>
                                        <p:attrNameLst>
                                          <p:attrName>style.visibility</p:attrName>
                                        </p:attrNameLst>
                                      </p:cBhvr>
                                      <p:to>
                                        <p:strVal val="hidden"/>
                                      </p:to>
                                    </p:set>
                                  </p:childTnLst>
                                </p:cTn>
                              </p:par>
                            </p:childTnLst>
                          </p:cTn>
                        </p:par>
                        <p:par>
                          <p:cTn id="11" fill="hold">
                            <p:stCondLst>
                              <p:cond delay="0"/>
                            </p:stCondLst>
                            <p:childTnLst>
                              <p:par>
                                <p:cTn id="12" presetClass="entr" nodeType="afterEffect" presetSubtype="0" presetID="1" grpId="3" fill="hold">
                                  <p:stCondLst>
                                    <p:cond delay="300"/>
                                  </p:stCondLst>
                                  <p:iterate type="el" backwards="0">
                                    <p:tmAbs val="0"/>
                                  </p:iterate>
                                  <p:childTnLst>
                                    <p:set>
                                      <p:cBhvr>
                                        <p:cTn id="13" fill="hold"/>
                                        <p:tgtEl>
                                          <p:spTgt spid="115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Class="exit" nodeType="clickEffect" presetSubtype="0" presetID="1" grpId="4" fill="hold">
                                  <p:stCondLst>
                                    <p:cond delay="0"/>
                                  </p:stCondLst>
                                  <p:iterate type="el" backwards="0">
                                    <p:tmAbs val="0"/>
                                  </p:iterate>
                                  <p:childTnLst>
                                    <p:set>
                                      <p:cBhvr>
                                        <p:cTn id="17" fill="hold">
                                          <p:stCondLst>
                                            <p:cond delay="0"/>
                                          </p:stCondLst>
                                        </p:cTn>
                                        <p:tgtEl>
                                          <p:spTgt spid="1144"/>
                                        </p:tgtEl>
                                        <p:attrNameLst>
                                          <p:attrName>style.visibility</p:attrName>
                                        </p:attrNameLst>
                                      </p:cBhvr>
                                      <p:to>
                                        <p:strVal val="hidden"/>
                                      </p:to>
                                    </p:set>
                                  </p:childTnLst>
                                </p:cTn>
                              </p:par>
                            </p:childTnLst>
                          </p:cTn>
                        </p:par>
                        <p:par>
                          <p:cTn id="18" fill="hold">
                            <p:stCondLst>
                              <p:cond delay="0"/>
                            </p:stCondLst>
                            <p:childTnLst>
                              <p:par>
                                <p:cTn id="19" presetClass="entr" nodeType="afterEffect" presetSubtype="0" presetID="1" grpId="5" fill="hold">
                                  <p:stCondLst>
                                    <p:cond delay="200"/>
                                  </p:stCondLst>
                                  <p:iterate type="el" backwards="0">
                                    <p:tmAbs val="0"/>
                                  </p:iterate>
                                  <p:childTnLst>
                                    <p:set>
                                      <p:cBhvr>
                                        <p:cTn id="20" fill="hold"/>
                                        <p:tgtEl>
                                          <p:spTgt spid="11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xit" nodeType="clickEffect" presetSubtype="0" presetID="1" grpId="6" fill="hold">
                                  <p:stCondLst>
                                    <p:cond delay="0"/>
                                  </p:stCondLst>
                                  <p:iterate type="el" backwards="0">
                                    <p:tmAbs val="0"/>
                                  </p:iterate>
                                  <p:childTnLst>
                                    <p:set>
                                      <p:cBhvr>
                                        <p:cTn id="24" fill="hold">
                                          <p:stCondLst>
                                            <p:cond delay="0"/>
                                          </p:stCondLst>
                                        </p:cTn>
                                        <p:tgtEl>
                                          <p:spTgt spid="1116"/>
                                        </p:tgtEl>
                                        <p:attrNameLst>
                                          <p:attrName>style.visibility</p:attrName>
                                        </p:attrNameLst>
                                      </p:cBhvr>
                                      <p:to>
                                        <p:strVal val="hidden"/>
                                      </p:to>
                                    </p:set>
                                  </p:childTnLst>
                                </p:cTn>
                              </p:par>
                            </p:childTnLst>
                          </p:cTn>
                        </p:par>
                        <p:par>
                          <p:cTn id="25" fill="hold">
                            <p:stCondLst>
                              <p:cond delay="0"/>
                            </p:stCondLst>
                            <p:childTnLst>
                              <p:par>
                                <p:cTn id="26" presetClass="entr" nodeType="afterEffect" presetSubtype="0" presetID="1" grpId="7" fill="hold">
                                  <p:stCondLst>
                                    <p:cond delay="200"/>
                                  </p:stCondLst>
                                  <p:iterate type="el" backwards="0">
                                    <p:tmAbs val="0"/>
                                  </p:iterate>
                                  <p:childTnLst>
                                    <p:set>
                                      <p:cBhvr>
                                        <p:cTn id="27" fill="hold"/>
                                        <p:tgtEl>
                                          <p:spTgt spid="1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79" grpId="2"/>
      <p:bldP build="whole" bldLvl="1" animBg="1" rev="0" advAuto="0" spid="1157" grpId="7"/>
      <p:bldP build="whole" bldLvl="1" animBg="1" rev="0" advAuto="0" spid="1154" grpId="1"/>
      <p:bldP build="whole" bldLvl="1" animBg="1" rev="0" advAuto="0" spid="1144" grpId="4"/>
      <p:bldP build="whole" bldLvl="1" animBg="1" rev="0" advAuto="0" spid="1116" grpId="6"/>
      <p:bldP build="whole" bldLvl="1" animBg="1" rev="0" advAuto="0" spid="1155" grpId="5"/>
      <p:bldP build="whole" bldLvl="1" animBg="1" rev="0" advAuto="0" spid="1156" grpId="3"/>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9" name="Shape 753"/>
          <p:cNvSpPr/>
          <p:nvPr/>
        </p:nvSpPr>
        <p:spPr>
          <a:xfrm flipH="1">
            <a:off x="4832092" y="2447456"/>
            <a:ext cx="898598" cy="65250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160" name="Shape 754"/>
          <p:cNvSpPr/>
          <p:nvPr/>
        </p:nvSpPr>
        <p:spPr>
          <a:xfrm flipH="1">
            <a:off x="3551932" y="3612469"/>
            <a:ext cx="821833" cy="64770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161" name="Shape 755"/>
          <p:cNvSpPr/>
          <p:nvPr/>
        </p:nvSpPr>
        <p:spPr>
          <a:xfrm>
            <a:off x="6371897" y="2494869"/>
            <a:ext cx="1039739" cy="674830"/>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162" name="Shape 757"/>
          <p:cNvSpPr/>
          <p:nvPr/>
        </p:nvSpPr>
        <p:spPr>
          <a:xfrm flipH="1">
            <a:off x="4205129" y="5961250"/>
            <a:ext cx="656889" cy="606836"/>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sp>
        <p:nvSpPr>
          <p:cNvPr id="1163" name="Shape 759"/>
          <p:cNvSpPr/>
          <p:nvPr/>
        </p:nvSpPr>
        <p:spPr>
          <a:xfrm>
            <a:off x="8023189" y="3633621"/>
            <a:ext cx="762097" cy="587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66" name="Group 764"/>
          <p:cNvGrpSpPr/>
          <p:nvPr/>
        </p:nvGrpSpPr>
        <p:grpSpPr>
          <a:xfrm>
            <a:off x="4303772" y="3052541"/>
            <a:ext cx="749585" cy="745071"/>
            <a:chOff x="0" y="0"/>
            <a:chExt cx="749583" cy="745070"/>
          </a:xfrm>
        </p:grpSpPr>
        <p:sp>
          <p:nvSpPr>
            <p:cNvPr id="1164" name="Shape 762"/>
            <p:cNvSpPr/>
            <p:nvPr/>
          </p:nvSpPr>
          <p:spPr>
            <a:xfrm>
              <a:off x="0" y="0"/>
              <a:ext cx="749585"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65" name="Shape 763"/>
            <p:cNvSpPr txBox="1"/>
            <p:nvPr/>
          </p:nvSpPr>
          <p:spPr>
            <a:xfrm>
              <a:off x="111432" y="1336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30</a:t>
              </a:r>
            </a:p>
          </p:txBody>
        </p:sp>
      </p:grpSp>
      <p:grpSp>
        <p:nvGrpSpPr>
          <p:cNvPr id="1169" name="Group 767"/>
          <p:cNvGrpSpPr/>
          <p:nvPr/>
        </p:nvGrpSpPr>
        <p:grpSpPr>
          <a:xfrm>
            <a:off x="7324680" y="3052541"/>
            <a:ext cx="747329" cy="745071"/>
            <a:chOff x="0" y="0"/>
            <a:chExt cx="747328" cy="745070"/>
          </a:xfrm>
        </p:grpSpPr>
        <p:sp>
          <p:nvSpPr>
            <p:cNvPr id="1167" name="Shape 765"/>
            <p:cNvSpPr/>
            <p:nvPr/>
          </p:nvSpPr>
          <p:spPr>
            <a:xfrm>
              <a:off x="0" y="0"/>
              <a:ext cx="747329"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68" name="Shape 766"/>
            <p:cNvSpPr txBox="1"/>
            <p:nvPr/>
          </p:nvSpPr>
          <p:spPr>
            <a:xfrm>
              <a:off x="148403" y="1590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grpSp>
        <p:nvGrpSpPr>
          <p:cNvPr id="1172" name="Group 770"/>
          <p:cNvGrpSpPr/>
          <p:nvPr/>
        </p:nvGrpSpPr>
        <p:grpSpPr>
          <a:xfrm>
            <a:off x="2894919" y="4122728"/>
            <a:ext cx="747327" cy="742811"/>
            <a:chOff x="0" y="0"/>
            <a:chExt cx="747325" cy="742809"/>
          </a:xfrm>
        </p:grpSpPr>
        <p:sp>
          <p:nvSpPr>
            <p:cNvPr id="1170" name="Shape 768"/>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71" name="Shape 769"/>
            <p:cNvSpPr txBox="1"/>
            <p:nvPr/>
          </p:nvSpPr>
          <p:spPr>
            <a:xfrm>
              <a:off x="135704"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20</a:t>
              </a:r>
            </a:p>
          </p:txBody>
        </p:sp>
      </p:grpSp>
      <p:grpSp>
        <p:nvGrpSpPr>
          <p:cNvPr id="1175" name="Group 773"/>
          <p:cNvGrpSpPr/>
          <p:nvPr/>
        </p:nvGrpSpPr>
        <p:grpSpPr>
          <a:xfrm>
            <a:off x="8711803" y="4138532"/>
            <a:ext cx="747327" cy="742813"/>
            <a:chOff x="0" y="0"/>
            <a:chExt cx="747325" cy="742812"/>
          </a:xfrm>
        </p:grpSpPr>
        <p:sp>
          <p:nvSpPr>
            <p:cNvPr id="1173" name="Shape 771"/>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74" name="Shape 772"/>
            <p:cNvSpPr txBox="1"/>
            <p:nvPr/>
          </p:nvSpPr>
          <p:spPr>
            <a:xfrm>
              <a:off x="56399" y="690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90</a:t>
              </a:r>
            </a:p>
          </p:txBody>
        </p:sp>
      </p:grpSp>
      <p:grpSp>
        <p:nvGrpSpPr>
          <p:cNvPr id="1178" name="Group 782"/>
          <p:cNvGrpSpPr/>
          <p:nvPr/>
        </p:nvGrpSpPr>
        <p:grpSpPr>
          <a:xfrm>
            <a:off x="4660501" y="5264600"/>
            <a:ext cx="749585" cy="742811"/>
            <a:chOff x="0" y="0"/>
            <a:chExt cx="749583" cy="742809"/>
          </a:xfrm>
        </p:grpSpPr>
        <p:sp>
          <p:nvSpPr>
            <p:cNvPr id="1176" name="Shape 780"/>
            <p:cNvSpPr/>
            <p:nvPr/>
          </p:nvSpPr>
          <p:spPr>
            <a:xfrm>
              <a:off x="0" y="-1"/>
              <a:ext cx="749585"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77" name="Shape 781"/>
            <p:cNvSpPr txBox="1"/>
            <p:nvPr/>
          </p:nvSpPr>
          <p:spPr>
            <a:xfrm>
              <a:off x="148121" y="1325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35</a:t>
              </a:r>
            </a:p>
          </p:txBody>
        </p:sp>
      </p:grpSp>
      <p:sp>
        <p:nvSpPr>
          <p:cNvPr id="1179" name="Shape 761"/>
          <p:cNvSpPr/>
          <p:nvPr/>
        </p:nvSpPr>
        <p:spPr>
          <a:xfrm>
            <a:off x="7724448" y="5873355"/>
            <a:ext cx="656617" cy="65661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82" name="Group 776"/>
          <p:cNvGrpSpPr/>
          <p:nvPr/>
        </p:nvGrpSpPr>
        <p:grpSpPr>
          <a:xfrm>
            <a:off x="7040719" y="5264600"/>
            <a:ext cx="747327" cy="742811"/>
            <a:chOff x="0" y="0"/>
            <a:chExt cx="747325" cy="742809"/>
          </a:xfrm>
        </p:grpSpPr>
        <p:sp>
          <p:nvSpPr>
            <p:cNvPr id="1180" name="Shape 774"/>
            <p:cNvSpPr/>
            <p:nvPr/>
          </p:nvSpPr>
          <p:spPr>
            <a:xfrm>
              <a:off x="0" y="-1"/>
              <a:ext cx="747327" cy="74281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81" name="Shape 775"/>
            <p:cNvSpPr txBox="1"/>
            <p:nvPr/>
          </p:nvSpPr>
          <p:spPr>
            <a:xfrm>
              <a:off x="135703" y="1198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42</a:t>
              </a:r>
            </a:p>
          </p:txBody>
        </p:sp>
      </p:grpSp>
      <p:grpSp>
        <p:nvGrpSpPr>
          <p:cNvPr id="1185" name="Group 788"/>
          <p:cNvGrpSpPr/>
          <p:nvPr/>
        </p:nvGrpSpPr>
        <p:grpSpPr>
          <a:xfrm>
            <a:off x="8165703" y="6442399"/>
            <a:ext cx="747327" cy="745071"/>
            <a:chOff x="0" y="0"/>
            <a:chExt cx="747325" cy="745070"/>
          </a:xfrm>
        </p:grpSpPr>
        <p:sp>
          <p:nvSpPr>
            <p:cNvPr id="1183" name="Shape 786"/>
            <p:cNvSpPr/>
            <p:nvPr/>
          </p:nvSpPr>
          <p:spPr>
            <a:xfrm>
              <a:off x="0" y="0"/>
              <a:ext cx="747327" cy="74507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84" name="Shape 787"/>
            <p:cNvSpPr txBox="1"/>
            <p:nvPr/>
          </p:nvSpPr>
          <p:spPr>
            <a:xfrm>
              <a:off x="132599" y="14633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45</a:t>
              </a:r>
            </a:p>
          </p:txBody>
        </p:sp>
      </p:grpSp>
      <p:grpSp>
        <p:nvGrpSpPr>
          <p:cNvPr id="1188" name="Group 791"/>
          <p:cNvGrpSpPr/>
          <p:nvPr/>
        </p:nvGrpSpPr>
        <p:grpSpPr>
          <a:xfrm>
            <a:off x="4655420" y="5265164"/>
            <a:ext cx="747329" cy="745069"/>
            <a:chOff x="0" y="0"/>
            <a:chExt cx="747328" cy="745067"/>
          </a:xfrm>
        </p:grpSpPr>
        <p:sp>
          <p:nvSpPr>
            <p:cNvPr id="1186" name="Shape 789"/>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87" name="Shape 790"/>
            <p:cNvSpPr txBox="1"/>
            <p:nvPr/>
          </p:nvSpPr>
          <p:spPr>
            <a:xfrm>
              <a:off x="110304" y="141252"/>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32</a:t>
              </a:r>
            </a:p>
          </p:txBody>
        </p:sp>
      </p:grpSp>
      <p:sp>
        <p:nvSpPr>
          <p:cNvPr id="1189" name="Shape 792"/>
          <p:cNvSpPr/>
          <p:nvPr/>
        </p:nvSpPr>
        <p:spPr>
          <a:xfrm>
            <a:off x="5016101" y="3556307"/>
            <a:ext cx="973104" cy="742811"/>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192" name="成组"/>
          <p:cNvGrpSpPr/>
          <p:nvPr/>
        </p:nvGrpSpPr>
        <p:grpSpPr>
          <a:xfrm>
            <a:off x="5288428" y="4662132"/>
            <a:ext cx="1931316" cy="731689"/>
            <a:chOff x="0" y="0"/>
            <a:chExt cx="1931315" cy="731687"/>
          </a:xfrm>
        </p:grpSpPr>
        <p:sp>
          <p:nvSpPr>
            <p:cNvPr id="1190" name="Shape 758"/>
            <p:cNvSpPr/>
            <p:nvPr/>
          </p:nvSpPr>
          <p:spPr>
            <a:xfrm flipH="1">
              <a:off x="0" y="38781"/>
              <a:ext cx="797812" cy="692907"/>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191" name="Shape 760"/>
            <p:cNvSpPr/>
            <p:nvPr/>
          </p:nvSpPr>
          <p:spPr>
            <a:xfrm>
              <a:off x="1259153" y="0"/>
              <a:ext cx="672163" cy="672163"/>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195" name="Group 795"/>
          <p:cNvGrpSpPr/>
          <p:nvPr/>
        </p:nvGrpSpPr>
        <p:grpSpPr>
          <a:xfrm>
            <a:off x="5917096" y="4166091"/>
            <a:ext cx="749587" cy="742813"/>
            <a:chOff x="0" y="0"/>
            <a:chExt cx="749586" cy="742812"/>
          </a:xfrm>
        </p:grpSpPr>
        <p:sp>
          <p:nvSpPr>
            <p:cNvPr id="1193" name="Shape 793"/>
            <p:cNvSpPr/>
            <p:nvPr/>
          </p:nvSpPr>
          <p:spPr>
            <a:xfrm>
              <a:off x="0" y="0"/>
              <a:ext cx="74958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94" name="Shape 794"/>
            <p:cNvSpPr txBox="1"/>
            <p:nvPr/>
          </p:nvSpPr>
          <p:spPr>
            <a:xfrm>
              <a:off x="136833" y="129399"/>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40</a:t>
              </a:r>
            </a:p>
          </p:txBody>
        </p:sp>
      </p:grpSp>
      <p:grpSp>
        <p:nvGrpSpPr>
          <p:cNvPr id="1198" name="Group 798"/>
          <p:cNvGrpSpPr/>
          <p:nvPr/>
        </p:nvGrpSpPr>
        <p:grpSpPr>
          <a:xfrm>
            <a:off x="7317624" y="3061007"/>
            <a:ext cx="747327" cy="742813"/>
            <a:chOff x="0" y="0"/>
            <a:chExt cx="747325" cy="742812"/>
          </a:xfrm>
        </p:grpSpPr>
        <p:sp>
          <p:nvSpPr>
            <p:cNvPr id="1196" name="Shape 796"/>
            <p:cNvSpPr/>
            <p:nvPr/>
          </p:nvSpPr>
          <p:spPr>
            <a:xfrm>
              <a:off x="0" y="0"/>
              <a:ext cx="747327" cy="742813"/>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197" name="Shape 797"/>
            <p:cNvSpPr txBox="1"/>
            <p:nvPr/>
          </p:nvSpPr>
          <p:spPr>
            <a:xfrm>
              <a:off x="110304" y="170603"/>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80</a:t>
              </a:r>
            </a:p>
          </p:txBody>
        </p:sp>
      </p:grpSp>
      <p:sp>
        <p:nvSpPr>
          <p:cNvPr id="1199" name="Shape 799"/>
          <p:cNvSpPr/>
          <p:nvPr/>
        </p:nvSpPr>
        <p:spPr>
          <a:xfrm>
            <a:off x="6142078" y="2330686"/>
            <a:ext cx="1266552" cy="853127"/>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202" name="Group 802"/>
          <p:cNvGrpSpPr/>
          <p:nvPr/>
        </p:nvGrpSpPr>
        <p:grpSpPr>
          <a:xfrm>
            <a:off x="5667470" y="1937199"/>
            <a:ext cx="747329" cy="745069"/>
            <a:chOff x="0" y="0"/>
            <a:chExt cx="747328" cy="745067"/>
          </a:xfrm>
        </p:grpSpPr>
        <p:sp>
          <p:nvSpPr>
            <p:cNvPr id="1200" name="Shape 800"/>
            <p:cNvSpPr/>
            <p:nvPr/>
          </p:nvSpPr>
          <p:spPr>
            <a:xfrm>
              <a:off x="0" y="0"/>
              <a:ext cx="747329" cy="745069"/>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01" name="Shape 801"/>
            <p:cNvSpPr txBox="1"/>
            <p:nvPr/>
          </p:nvSpPr>
          <p:spPr>
            <a:xfrm>
              <a:off x="135704" y="116416"/>
              <a:ext cx="476900" cy="431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50</a:t>
              </a:r>
            </a:p>
          </p:txBody>
        </p:sp>
      </p:grpSp>
      <p:grpSp>
        <p:nvGrpSpPr>
          <p:cNvPr id="1205" name="成组"/>
          <p:cNvGrpSpPr/>
          <p:nvPr/>
        </p:nvGrpSpPr>
        <p:grpSpPr>
          <a:xfrm>
            <a:off x="6546060" y="3649301"/>
            <a:ext cx="1330393" cy="1270001"/>
            <a:chOff x="0" y="215775"/>
            <a:chExt cx="1330392" cy="1270000"/>
          </a:xfrm>
        </p:grpSpPr>
        <p:sp>
          <p:nvSpPr>
            <p:cNvPr id="1203" name="Shape 809"/>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c</a:t>
              </a:r>
            </a:p>
          </p:txBody>
        </p:sp>
        <p:sp>
          <p:nvSpPr>
            <p:cNvPr id="1204" name="Shape 811"/>
            <p:cNvSpPr/>
            <p:nvPr/>
          </p:nvSpPr>
          <p:spPr>
            <a:xfrm flipH="1">
              <a:off x="-1" y="330074"/>
              <a:ext cx="197245"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grpSp>
        <p:nvGrpSpPr>
          <p:cNvPr id="1208" name="成组"/>
          <p:cNvGrpSpPr/>
          <p:nvPr/>
        </p:nvGrpSpPr>
        <p:grpSpPr>
          <a:xfrm>
            <a:off x="4961176" y="4547914"/>
            <a:ext cx="1270001" cy="1270001"/>
            <a:chOff x="0" y="215775"/>
            <a:chExt cx="1270000" cy="1270000"/>
          </a:xfrm>
        </p:grpSpPr>
        <p:sp>
          <p:nvSpPr>
            <p:cNvPr id="1206" name="Shape 814"/>
            <p:cNvSpPr/>
            <p:nvPr/>
          </p:nvSpPr>
          <p:spPr>
            <a:xfrm>
              <a:off x="0" y="215775"/>
              <a:ext cx="1270000"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q</a:t>
              </a:r>
            </a:p>
          </p:txBody>
        </p:sp>
        <p:sp>
          <p:nvSpPr>
            <p:cNvPr id="1207" name="Shape 815"/>
            <p:cNvSpPr/>
            <p:nvPr/>
          </p:nvSpPr>
          <p:spPr>
            <a:xfrm flipH="1">
              <a:off x="2361" y="431676"/>
              <a:ext cx="134489" cy="501804"/>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209" name="Shape 816"/>
          <p:cNvSpPr/>
          <p:nvPr/>
        </p:nvSpPr>
        <p:spPr>
          <a:xfrm>
            <a:off x="3914563" y="6541637"/>
            <a:ext cx="602119" cy="1270002"/>
          </a:xfrm>
          <a:prstGeom prst="rect">
            <a:avLst/>
          </a:prstGeom>
          <a:solidFill>
            <a:srgbClr val="FFFFFF"/>
          </a:solidFill>
          <a:ln>
            <a:solidFill>
              <a:srgbClr val="000000"/>
            </a:solidFill>
          </a:ln>
        </p:spPr>
        <p:txBody>
          <a:bodyPr lIns="50800" tIns="50800" rIns="50800" bIns="50800" anchor="ctr"/>
          <a:lstStyle/>
          <a:p>
            <a:pPr marR="57798" defTabSz="1295400">
              <a:spcBef>
                <a:spcPts val="1900"/>
              </a:spcBef>
              <a:defRPr b="1" sz="2800">
                <a:uFill>
                  <a:solidFill>
                    <a:srgbClr val="000000"/>
                  </a:solidFill>
                </a:uFill>
              </a:defRPr>
            </a:pPr>
          </a:p>
        </p:txBody>
      </p:sp>
      <p:grpSp>
        <p:nvGrpSpPr>
          <p:cNvPr id="1212" name="成组"/>
          <p:cNvGrpSpPr/>
          <p:nvPr/>
        </p:nvGrpSpPr>
        <p:grpSpPr>
          <a:xfrm>
            <a:off x="6250365" y="3484243"/>
            <a:ext cx="1330393" cy="1270001"/>
            <a:chOff x="0" y="215775"/>
            <a:chExt cx="1330392" cy="1270000"/>
          </a:xfrm>
        </p:grpSpPr>
        <p:sp>
          <p:nvSpPr>
            <p:cNvPr id="1210" name="Shape 814"/>
            <p:cNvSpPr/>
            <p:nvPr/>
          </p:nvSpPr>
          <p:spPr>
            <a:xfrm>
              <a:off x="60392" y="215775"/>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pq</a:t>
              </a:r>
            </a:p>
          </p:txBody>
        </p:sp>
        <p:sp>
          <p:nvSpPr>
            <p:cNvPr id="1211" name="Shape 815"/>
            <p:cNvSpPr/>
            <p:nvPr/>
          </p:nvSpPr>
          <p:spPr>
            <a:xfrm flipH="1">
              <a:off x="-1" y="431676"/>
              <a:ext cx="197244" cy="424147"/>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219" name="连接线"/>
          <p:cNvSpPr/>
          <p:nvPr/>
        </p:nvSpPr>
        <p:spPr>
          <a:xfrm>
            <a:off x="5344942" y="5835369"/>
            <a:ext cx="1748361" cy="253241"/>
          </a:xfrm>
          <a:custGeom>
            <a:avLst/>
            <a:gdLst/>
            <a:ahLst/>
            <a:cxnLst>
              <a:cxn ang="0">
                <a:pos x="wd2" y="hd2"/>
              </a:cxn>
              <a:cxn ang="5400000">
                <a:pos x="wd2" y="hd2"/>
              </a:cxn>
              <a:cxn ang="10800000">
                <a:pos x="wd2" y="hd2"/>
              </a:cxn>
              <a:cxn ang="16200000">
                <a:pos x="wd2" y="hd2"/>
              </a:cxn>
            </a:cxnLst>
            <a:rect l="0" t="0" r="r" b="b"/>
            <a:pathLst>
              <a:path w="21600" h="16206" fill="norm" stroke="1" extrusionOk="0">
                <a:moveTo>
                  <a:pt x="0" y="1187"/>
                </a:moveTo>
                <a:cubicBezTo>
                  <a:pt x="6770" y="21600"/>
                  <a:pt x="13970" y="21204"/>
                  <a:pt x="21600" y="0"/>
                </a:cubicBezTo>
              </a:path>
            </a:pathLst>
          </a:custGeom>
          <a:ln w="25400">
            <a:solidFill>
              <a:schemeClr val="accent1"/>
            </a:solidFill>
            <a:custDash>
              <a:ds d="200000" sp="200000"/>
            </a:custDash>
            <a:miter lim="400000"/>
            <a:tailEnd type="triangle"/>
          </a:ln>
        </p:spPr>
        <p:txBody>
          <a:bodyPr/>
          <a:lstStyle/>
          <a:p>
            <a:pPr/>
          </a:p>
        </p:txBody>
      </p:sp>
      <p:grpSp>
        <p:nvGrpSpPr>
          <p:cNvPr id="1216" name="成组"/>
          <p:cNvGrpSpPr/>
          <p:nvPr/>
        </p:nvGrpSpPr>
        <p:grpSpPr>
          <a:xfrm>
            <a:off x="4516315" y="2386105"/>
            <a:ext cx="1270001" cy="1270001"/>
            <a:chOff x="0" y="215775"/>
            <a:chExt cx="1270000" cy="1270000"/>
          </a:xfrm>
        </p:grpSpPr>
        <p:sp>
          <p:nvSpPr>
            <p:cNvPr id="1214" name="Shape 814"/>
            <p:cNvSpPr/>
            <p:nvPr/>
          </p:nvSpPr>
          <p:spPr>
            <a:xfrm>
              <a:off x="0" y="215775"/>
              <a:ext cx="1270000"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marR="57798" defTabSz="1295400">
                <a:spcBef>
                  <a:spcPts val="1900"/>
                </a:spcBef>
                <a:defRPr sz="2400">
                  <a:uFill>
                    <a:solidFill>
                      <a:srgbClr val="000000"/>
                    </a:solidFill>
                  </a:uFill>
                </a:defRPr>
              </a:lvl1pPr>
            </a:lstStyle>
            <a:p>
              <a:pPr/>
              <a:r>
                <a:t>p</a:t>
              </a:r>
            </a:p>
          </p:txBody>
        </p:sp>
        <p:sp>
          <p:nvSpPr>
            <p:cNvPr id="1215" name="Shape 815"/>
            <p:cNvSpPr/>
            <p:nvPr/>
          </p:nvSpPr>
          <p:spPr>
            <a:xfrm flipH="1">
              <a:off x="2361" y="431676"/>
              <a:ext cx="134489" cy="501804"/>
            </a:xfrm>
            <a:prstGeom prst="line">
              <a:avLst/>
            </a:prstGeom>
            <a:noFill/>
            <a:ln w="38100" cap="flat">
              <a:solidFill>
                <a:srgbClr val="000000"/>
              </a:solidFill>
              <a:prstDash val="solid"/>
              <a:round/>
              <a:tailEnd type="triangle" w="med" len="me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sp>
        <p:nvSpPr>
          <p:cNvPr id="1217" name="Shape 747"/>
          <p:cNvSpPr txBox="1"/>
          <p:nvPr>
            <p:ph type="title"/>
          </p:nvPr>
        </p:nvSpPr>
        <p:spPr>
          <a:xfrm>
            <a:off x="1611488" y="125588"/>
            <a:ext cx="9448801" cy="952501"/>
          </a:xfrm>
          <a:prstGeom prst="rect">
            <a:avLst/>
          </a:prstGeom>
        </p:spPr>
        <p:txBody>
          <a:bodyPr/>
          <a:lstStyle/>
          <a:p>
            <a:pPr/>
            <a:r>
              <a:t>remove(位置交换)</a:t>
            </a:r>
          </a:p>
        </p:txBody>
      </p:sp>
      <p:sp>
        <p:nvSpPr>
          <p:cNvPr id="1220" name="连接线"/>
          <p:cNvSpPr/>
          <p:nvPr/>
        </p:nvSpPr>
        <p:spPr>
          <a:xfrm>
            <a:off x="4964148" y="3673821"/>
            <a:ext cx="436286" cy="1640035"/>
          </a:xfrm>
          <a:custGeom>
            <a:avLst/>
            <a:gdLst/>
            <a:ahLst/>
            <a:cxnLst>
              <a:cxn ang="0">
                <a:pos x="wd2" y="hd2"/>
              </a:cxn>
              <a:cxn ang="5400000">
                <a:pos x="wd2" y="hd2"/>
              </a:cxn>
              <a:cxn ang="10800000">
                <a:pos x="wd2" y="hd2"/>
              </a:cxn>
              <a:cxn ang="16200000">
                <a:pos x="wd2" y="hd2"/>
              </a:cxn>
            </a:cxnLst>
            <a:rect l="0" t="0" r="r" b="b"/>
            <a:pathLst>
              <a:path w="16751" h="21600" fill="norm" stroke="1" extrusionOk="0">
                <a:moveTo>
                  <a:pt x="0" y="0"/>
                </a:moveTo>
                <a:cubicBezTo>
                  <a:pt x="18283" y="6387"/>
                  <a:pt x="21600" y="13587"/>
                  <a:pt x="9951" y="21600"/>
                </a:cubicBezTo>
              </a:path>
            </a:pathLst>
          </a:custGeom>
          <a:ln w="25400">
            <a:solidFill>
              <a:schemeClr val="accent1"/>
            </a:solidFill>
            <a:custDash>
              <a:ds d="200000" sp="200000"/>
            </a:custDash>
            <a:miter lim="400000"/>
            <a:tailEnd type="triangle"/>
          </a:ln>
        </p:spPr>
        <p:txBody>
          <a:bodyP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xit" nodeType="clickEffect" presetSubtype="0" presetID="1" grpId="2" fill="hold">
                                  <p:stCondLst>
                                    <p:cond delay="0"/>
                                  </p:stCondLst>
                                  <p:iterate type="el" backwards="0">
                                    <p:tmAbs val="0"/>
                                  </p:iterate>
                                  <p:childTnLst>
                                    <p:set>
                                      <p:cBhvr>
                                        <p:cTn id="10" fill="hold">
                                          <p:stCondLst>
                                            <p:cond delay="0"/>
                                          </p:stCondLst>
                                        </p:cTn>
                                        <p:tgtEl>
                                          <p:spTgt spid="1189"/>
                                        </p:tgtEl>
                                        <p:attrNameLst>
                                          <p:attrName>style.visibility</p:attrName>
                                        </p:attrNameLst>
                                      </p:cBhvr>
                                      <p:to>
                                        <p:strVal val="hidden"/>
                                      </p:to>
                                    </p:set>
                                  </p:childTnLst>
                                </p:cTn>
                              </p:par>
                            </p:childTnLst>
                          </p:cTn>
                        </p:par>
                        <p:par>
                          <p:cTn id="11" fill="hold">
                            <p:stCondLst>
                              <p:cond delay="0"/>
                            </p:stCondLst>
                            <p:childTnLst>
                              <p:par>
                                <p:cTn id="12" presetClass="entr" nodeType="afterEffect" presetSubtype="0" presetID="1" grpId="3" fill="hold">
                                  <p:stCondLst>
                                    <p:cond delay="200"/>
                                  </p:stCondLst>
                                  <p:iterate type="el" backwards="0">
                                    <p:tmAbs val="0"/>
                                  </p:iterate>
                                  <p:childTnLst>
                                    <p:set>
                                      <p:cBhvr>
                                        <p:cTn id="13" fill="hold"/>
                                        <p:tgtEl>
                                          <p:spTgt spid="1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89" grpId="2"/>
      <p:bldP build="whole" bldLvl="1" animBg="1" rev="0" advAuto="0" spid="1220" grpId="3"/>
      <p:bldP build="whole" bldLvl="1" animBg="1" rev="0" advAuto="0" spid="1219" grpId="1"/>
    </p:bld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2" name="Shape 894"/>
          <p:cNvSpPr txBox="1"/>
          <p:nvPr>
            <p:ph type="title"/>
          </p:nvPr>
        </p:nvSpPr>
        <p:spPr>
          <a:xfrm>
            <a:off x="1611488" y="125588"/>
            <a:ext cx="9448801" cy="952501"/>
          </a:xfrm>
          <a:prstGeom prst="rect">
            <a:avLst/>
          </a:prstGeom>
        </p:spPr>
        <p:txBody>
          <a:bodyPr/>
          <a:lstStyle/>
          <a:p>
            <a:pPr/>
            <a:r>
              <a:t>clear</a:t>
            </a:r>
          </a:p>
        </p:txBody>
      </p:sp>
      <p:sp>
        <p:nvSpPr>
          <p:cNvPr id="1223" name="public void clear() {…"/>
          <p:cNvSpPr txBox="1"/>
          <p:nvPr/>
        </p:nvSpPr>
        <p:spPr>
          <a:xfrm>
            <a:off x="1141616" y="1459642"/>
            <a:ext cx="6505377" cy="16274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200">
                <a:latin typeface="Monaco"/>
                <a:ea typeface="Monaco"/>
                <a:cs typeface="Monaco"/>
                <a:sym typeface="Monaco"/>
              </a:defRPr>
            </a:pPr>
            <a:r>
              <a:t>	</a:t>
            </a:r>
            <a:r>
              <a:rPr>
                <a:solidFill>
                  <a:srgbClr val="931A68"/>
                </a:solidFill>
              </a:rPr>
              <a:t>public</a:t>
            </a:r>
            <a:r>
              <a:t> </a:t>
            </a:r>
            <a:r>
              <a:rPr>
                <a:solidFill>
                  <a:srgbClr val="931A68"/>
                </a:solidFill>
              </a:rPr>
              <a:t>void</a:t>
            </a:r>
            <a:r>
              <a:t> clear() {</a:t>
            </a:r>
          </a:p>
          <a:p>
            <a:pPr indent="0">
              <a:defRPr sz="2200">
                <a:solidFill>
                  <a:srgbClr val="0326CC"/>
                </a:solidFill>
                <a:latin typeface="Monaco"/>
                <a:ea typeface="Monaco"/>
                <a:cs typeface="Monaco"/>
                <a:sym typeface="Monaco"/>
              </a:defRPr>
            </a:pPr>
            <a:r>
              <a:rPr>
                <a:solidFill>
                  <a:srgbClr val="000000"/>
                </a:solidFill>
              </a:rPr>
              <a:t>		</a:t>
            </a:r>
            <a:r>
              <a:t>root</a:t>
            </a:r>
            <a:r>
              <a:rPr>
                <a:solidFill>
                  <a:srgbClr val="000000"/>
                </a:solidFill>
              </a:rPr>
              <a:t> = </a:t>
            </a:r>
            <a:r>
              <a:rPr>
                <a:solidFill>
                  <a:srgbClr val="931A68"/>
                </a:solidFill>
              </a:rPr>
              <a:t>null</a:t>
            </a:r>
            <a:r>
              <a:rPr>
                <a:solidFill>
                  <a:srgbClr val="000000"/>
                </a:solidFill>
              </a:rPr>
              <a:t>;//简单处理了，没有帮助gc</a:t>
            </a:r>
            <a:endParaRPr>
              <a:solidFill>
                <a:srgbClr val="000000"/>
              </a:solidFill>
            </a:endParaRPr>
          </a:p>
          <a:p>
            <a:pPr indent="0">
              <a:defRPr sz="2200">
                <a:latin typeface="Monaco"/>
                <a:ea typeface="Monaco"/>
                <a:cs typeface="Monaco"/>
                <a:sym typeface="Monaco"/>
              </a:defRPr>
            </a:pPr>
            <a:r>
              <a:t>		</a:t>
            </a:r>
            <a:r>
              <a:rPr>
                <a:solidFill>
                  <a:srgbClr val="0326CC"/>
                </a:solidFill>
              </a:rPr>
              <a:t>size</a:t>
            </a:r>
            <a:r>
              <a:t> = 0;	</a:t>
            </a:r>
          </a:p>
          <a:p>
            <a:pPr indent="0">
              <a:defRPr sz="22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5" name="Shape 894"/>
          <p:cNvSpPr txBox="1"/>
          <p:nvPr>
            <p:ph type="title"/>
          </p:nvPr>
        </p:nvSpPr>
        <p:spPr>
          <a:xfrm>
            <a:off x="1611488" y="125588"/>
            <a:ext cx="9448801" cy="952501"/>
          </a:xfrm>
          <a:prstGeom prst="rect">
            <a:avLst/>
          </a:prstGeom>
        </p:spPr>
        <p:txBody>
          <a:bodyPr/>
          <a:lstStyle/>
          <a:p>
            <a:pPr/>
            <a:r>
              <a:t>测试</a:t>
            </a:r>
          </a:p>
        </p:txBody>
      </p:sp>
      <p:sp>
        <p:nvSpPr>
          <p:cNvPr id="1226" name="public static void main(String[] args) {…"/>
          <p:cNvSpPr txBox="1"/>
          <p:nvPr/>
        </p:nvSpPr>
        <p:spPr>
          <a:xfrm>
            <a:off x="182217" y="1316063"/>
            <a:ext cx="11550347" cy="670717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1900">
                <a:latin typeface="Monaco"/>
                <a:ea typeface="Monaco"/>
                <a:cs typeface="Monaco"/>
                <a:sym typeface="Monaco"/>
              </a:defRPr>
            </a:pPr>
            <a:r>
              <a:t>	</a:t>
            </a:r>
            <a:r>
              <a:rPr>
                <a:solidFill>
                  <a:srgbClr val="931A68"/>
                </a:solidFill>
              </a:rPr>
              <a:t>public</a:t>
            </a:r>
            <a:r>
              <a:t> </a:t>
            </a:r>
            <a:r>
              <a:rPr>
                <a:solidFill>
                  <a:srgbClr val="931A68"/>
                </a:solidFill>
              </a:rPr>
              <a:t>static</a:t>
            </a:r>
            <a:r>
              <a:t> </a:t>
            </a:r>
            <a:r>
              <a:rPr>
                <a:solidFill>
                  <a:srgbClr val="931A68"/>
                </a:solidFill>
              </a:rPr>
              <a:t>void</a:t>
            </a:r>
            <a:r>
              <a:t> main(String[] </a:t>
            </a:r>
            <a:r>
              <a:rPr>
                <a:solidFill>
                  <a:srgbClr val="7E504F"/>
                </a:solidFill>
              </a:rPr>
              <a:t>args</a:t>
            </a:r>
            <a:r>
              <a:t>) {</a:t>
            </a:r>
          </a:p>
          <a:p>
            <a:pPr indent="0">
              <a:defRPr sz="1900">
                <a:latin typeface="Monaco"/>
                <a:ea typeface="Monaco"/>
                <a:cs typeface="Monaco"/>
                <a:sym typeface="Monaco"/>
              </a:defRPr>
            </a:pPr>
            <a:r>
              <a:t>		BinarySearchTree&lt;Integer, Character&gt; </a:t>
            </a:r>
            <a:r>
              <a:rPr>
                <a:solidFill>
                  <a:srgbClr val="7E504F"/>
                </a:solidFill>
              </a:rPr>
              <a:t>bs</a:t>
            </a:r>
            <a:r>
              <a:t> = </a:t>
            </a:r>
            <a:r>
              <a:rPr>
                <a:solidFill>
                  <a:srgbClr val="931A68"/>
                </a:solidFill>
              </a:rPr>
              <a:t>new</a:t>
            </a:r>
            <a:r>
              <a:t> BinarySearchTree&lt;&gt;();</a:t>
            </a:r>
          </a:p>
          <a:p>
            <a:pPr indent="0">
              <a:defRPr sz="1900">
                <a:latin typeface="Monaco"/>
                <a:ea typeface="Monaco"/>
                <a:cs typeface="Monaco"/>
                <a:sym typeface="Monaco"/>
              </a:defRPr>
            </a:pPr>
            <a:r>
              <a:t>		</a:t>
            </a:r>
            <a:r>
              <a:rPr>
                <a:solidFill>
                  <a:srgbClr val="7E504F"/>
                </a:solidFill>
              </a:rPr>
              <a:t>bs</a:t>
            </a:r>
            <a:r>
              <a:t>.put(6, </a:t>
            </a:r>
            <a:r>
              <a:rPr>
                <a:solidFill>
                  <a:srgbClr val="3933FF"/>
                </a:solidFill>
              </a:rPr>
              <a:t>'a'</a:t>
            </a:r>
            <a:r>
              <a:t>);</a:t>
            </a:r>
          </a:p>
          <a:p>
            <a:pPr indent="0">
              <a:defRPr sz="1900">
                <a:latin typeface="Monaco"/>
                <a:ea typeface="Monaco"/>
                <a:cs typeface="Monaco"/>
                <a:sym typeface="Monaco"/>
              </a:defRPr>
            </a:pPr>
            <a:r>
              <a:t>		</a:t>
            </a:r>
            <a:r>
              <a:rPr>
                <a:solidFill>
                  <a:srgbClr val="7E504F"/>
                </a:solidFill>
              </a:rPr>
              <a:t>bs</a:t>
            </a:r>
            <a:r>
              <a:t>.put(3, </a:t>
            </a:r>
            <a:r>
              <a:rPr>
                <a:solidFill>
                  <a:srgbClr val="3933FF"/>
                </a:solidFill>
              </a:rPr>
              <a:t>'b'</a:t>
            </a:r>
            <a:r>
              <a:t>);</a:t>
            </a:r>
          </a:p>
          <a:p>
            <a:pPr indent="0">
              <a:defRPr sz="1900">
                <a:latin typeface="Monaco"/>
                <a:ea typeface="Monaco"/>
                <a:cs typeface="Monaco"/>
                <a:sym typeface="Monaco"/>
              </a:defRPr>
            </a:pPr>
            <a:r>
              <a:t>		</a:t>
            </a:r>
            <a:r>
              <a:rPr>
                <a:solidFill>
                  <a:srgbClr val="7E504F"/>
                </a:solidFill>
              </a:rPr>
              <a:t>bs</a:t>
            </a:r>
            <a:r>
              <a:t>.put(2, </a:t>
            </a:r>
            <a:r>
              <a:rPr>
                <a:solidFill>
                  <a:srgbClr val="3933FF"/>
                </a:solidFill>
              </a:rPr>
              <a:t>'c'</a:t>
            </a:r>
            <a:r>
              <a:t>);</a:t>
            </a:r>
          </a:p>
          <a:p>
            <a:pPr indent="0">
              <a:defRPr sz="1900">
                <a:latin typeface="Monaco"/>
                <a:ea typeface="Monaco"/>
                <a:cs typeface="Monaco"/>
                <a:sym typeface="Monaco"/>
              </a:defRPr>
            </a:pPr>
            <a:r>
              <a:t>		</a:t>
            </a:r>
            <a:r>
              <a:rPr>
                <a:solidFill>
                  <a:srgbClr val="7E504F"/>
                </a:solidFill>
              </a:rPr>
              <a:t>bs</a:t>
            </a:r>
            <a:r>
              <a:t>.put(3, </a:t>
            </a:r>
            <a:r>
              <a:rPr>
                <a:solidFill>
                  <a:srgbClr val="3933FF"/>
                </a:solidFill>
              </a:rPr>
              <a:t>'d'</a:t>
            </a:r>
            <a:r>
              <a:t>);</a:t>
            </a:r>
          </a:p>
          <a:p>
            <a:pPr indent="0">
              <a:defRPr sz="1900">
                <a:latin typeface="Monaco"/>
                <a:ea typeface="Monaco"/>
                <a:cs typeface="Monaco"/>
                <a:sym typeface="Monaco"/>
              </a:defRPr>
            </a:pPr>
            <a:r>
              <a:t>		</a:t>
            </a:r>
            <a:r>
              <a:rPr>
                <a:solidFill>
                  <a:srgbClr val="7E504F"/>
                </a:solidFill>
              </a:rPr>
              <a:t>bs</a:t>
            </a:r>
            <a:r>
              <a:t>.put(5, </a:t>
            </a:r>
            <a:r>
              <a:rPr>
                <a:solidFill>
                  <a:srgbClr val="3933FF"/>
                </a:solidFill>
              </a:rPr>
              <a:t>'e'</a:t>
            </a:r>
            <a:r>
              <a:t>);</a:t>
            </a:r>
          </a:p>
          <a:p>
            <a:pPr indent="0">
              <a:defRPr sz="1900">
                <a:latin typeface="Monaco"/>
                <a:ea typeface="Monaco"/>
                <a:cs typeface="Monaco"/>
                <a:sym typeface="Monaco"/>
              </a:defRPr>
            </a:pPr>
            <a:r>
              <a:t>		</a:t>
            </a:r>
            <a:r>
              <a:rPr>
                <a:solidFill>
                  <a:srgbClr val="7E504F"/>
                </a:solidFill>
              </a:rPr>
              <a:t>bs</a:t>
            </a:r>
            <a:r>
              <a:t>.put(4, </a:t>
            </a:r>
            <a:r>
              <a:rPr>
                <a:solidFill>
                  <a:srgbClr val="3933FF"/>
                </a:solidFill>
              </a:rPr>
              <a:t>'f'</a:t>
            </a:r>
            <a:r>
              <a:t>);</a:t>
            </a:r>
          </a:p>
          <a:p>
            <a:pPr indent="0">
              <a:defRPr sz="1900">
                <a:latin typeface="Monaco"/>
                <a:ea typeface="Monaco"/>
                <a:cs typeface="Monaco"/>
                <a:sym typeface="Monaco"/>
              </a:defRPr>
            </a:pPr>
            <a:r>
              <a:t>		</a:t>
            </a:r>
            <a:r>
              <a:rPr>
                <a:solidFill>
                  <a:srgbClr val="7E504F"/>
                </a:solidFill>
              </a:rPr>
              <a:t>bs</a:t>
            </a:r>
            <a:r>
              <a:t>.put(9, </a:t>
            </a:r>
            <a:r>
              <a:rPr>
                <a:solidFill>
                  <a:srgbClr val="3933FF"/>
                </a:solidFill>
              </a:rPr>
              <a:t>'g'</a:t>
            </a:r>
            <a:r>
              <a:t>);</a:t>
            </a:r>
          </a:p>
          <a:p>
            <a:pPr indent="0">
              <a:defRPr sz="1900">
                <a:latin typeface="Monaco"/>
                <a:ea typeface="Monaco"/>
                <a:cs typeface="Monaco"/>
                <a:sym typeface="Monaco"/>
              </a:defRPr>
            </a:pPr>
            <a:r>
              <a:t>		</a:t>
            </a:r>
            <a:r>
              <a:rPr>
                <a:solidFill>
                  <a:srgbClr val="7E504F"/>
                </a:solidFill>
              </a:rPr>
              <a:t>bs</a:t>
            </a:r>
            <a:r>
              <a:t>.put(7, </a:t>
            </a:r>
            <a:r>
              <a:rPr>
                <a:solidFill>
                  <a:srgbClr val="3933FF"/>
                </a:solidFill>
              </a:rPr>
              <a:t>'h'</a:t>
            </a:r>
            <a:r>
              <a:t>);</a:t>
            </a:r>
          </a:p>
          <a:p>
            <a:pPr indent="0">
              <a:defRPr sz="1900">
                <a:latin typeface="Monaco"/>
                <a:ea typeface="Monaco"/>
                <a:cs typeface="Monaco"/>
                <a:sym typeface="Monaco"/>
              </a:defRPr>
            </a:pPr>
            <a:r>
              <a:t>		</a:t>
            </a:r>
            <a:r>
              <a:rPr>
                <a:solidFill>
                  <a:srgbClr val="7E504F"/>
                </a:solidFill>
              </a:rPr>
              <a:t>bs</a:t>
            </a:r>
            <a:r>
              <a:t>.put(10, </a:t>
            </a:r>
            <a:r>
              <a:rPr>
                <a:solidFill>
                  <a:srgbClr val="3933FF"/>
                </a:solidFill>
              </a:rPr>
              <a:t>'i'</a:t>
            </a:r>
            <a:r>
              <a:t>);</a:t>
            </a:r>
          </a:p>
          <a:p>
            <a:pPr indent="0">
              <a:defRPr sz="1900">
                <a:latin typeface="Monaco"/>
                <a:ea typeface="Monaco"/>
                <a:cs typeface="Monaco"/>
                <a:sym typeface="Monaco"/>
              </a:defRPr>
            </a:pPr>
            <a:r>
              <a:t>		</a:t>
            </a:r>
            <a:r>
              <a:rPr>
                <a:solidFill>
                  <a:srgbClr val="7E504F"/>
                </a:solidFill>
              </a:rPr>
              <a:t>bs</a:t>
            </a:r>
            <a:r>
              <a:t>.put(8, </a:t>
            </a:r>
            <a:r>
              <a:rPr>
                <a:solidFill>
                  <a:srgbClr val="3933FF"/>
                </a:solidFill>
              </a:rPr>
              <a:t>'i'</a:t>
            </a:r>
            <a:r>
              <a:t>);</a:t>
            </a:r>
          </a:p>
          <a:p>
            <a:pPr indent="0">
              <a:defRPr sz="1900">
                <a:latin typeface="Monaco"/>
                <a:ea typeface="Monaco"/>
                <a:cs typeface="Monaco"/>
                <a:sym typeface="Monaco"/>
              </a:defRPr>
            </a:pPr>
            <a:r>
              <a:t>		</a:t>
            </a:r>
            <a:r>
              <a:rPr>
                <a:solidFill>
                  <a:srgbClr val="7E504F"/>
                </a:solidFill>
              </a:rPr>
              <a:t>bs</a:t>
            </a:r>
            <a:r>
              <a:t>.inOrder();</a:t>
            </a:r>
          </a:p>
          <a:p>
            <a:pPr indent="0">
              <a:defRPr sz="1900">
                <a:solidFill>
                  <a:srgbClr val="4E9072"/>
                </a:solidFill>
                <a:latin typeface="Monaco"/>
                <a:ea typeface="Monaco"/>
                <a:cs typeface="Monaco"/>
                <a:sym typeface="Monaco"/>
              </a:defRPr>
            </a:pPr>
            <a:r>
              <a:rPr>
                <a:solidFill>
                  <a:srgbClr val="000000"/>
                </a:solidFill>
              </a:rPr>
              <a:t>		</a:t>
            </a:r>
            <a:r>
              <a:rPr>
                <a:solidFill>
                  <a:srgbClr val="7E504F"/>
                </a:solidFill>
              </a:rPr>
              <a:t>bs</a:t>
            </a:r>
            <a:r>
              <a:rPr>
                <a:solidFill>
                  <a:srgbClr val="000000"/>
                </a:solidFill>
              </a:rPr>
              <a:t>.remove(3);</a:t>
            </a:r>
            <a:r>
              <a:t>// 测试各种情况2，4，8，10，5，7，3，9，6; 不put5和4，然后remove 3</a:t>
            </a:r>
            <a:endParaRPr>
              <a:solidFill>
                <a:srgbClr val="000000"/>
              </a:solidFill>
            </a:endParaRPr>
          </a:p>
          <a:p>
            <a:pPr indent="0">
              <a:defRPr sz="1900">
                <a:latin typeface="Monaco"/>
                <a:ea typeface="Monaco"/>
                <a:cs typeface="Monaco"/>
                <a:sym typeface="Monaco"/>
              </a:defRPr>
            </a:pPr>
            <a:r>
              <a:t>		System.</a:t>
            </a:r>
            <a:r>
              <a:rPr>
                <a:solidFill>
                  <a:srgbClr val="0326CC"/>
                </a:solidFill>
              </a:rPr>
              <a:t>out</a:t>
            </a:r>
            <a:r>
              <a:t>.println();</a:t>
            </a:r>
          </a:p>
          <a:p>
            <a:pPr indent="0">
              <a:defRPr sz="1900">
                <a:solidFill>
                  <a:srgbClr val="3933FF"/>
                </a:solidFill>
                <a:latin typeface="Monaco"/>
                <a:ea typeface="Monaco"/>
                <a:cs typeface="Monaco"/>
                <a:sym typeface="Monaco"/>
              </a:defRPr>
            </a:pPr>
            <a:r>
              <a:rPr>
                <a:solidFill>
                  <a:srgbClr val="000000"/>
                </a:solidFill>
              </a:rPr>
              <a:t>		System.</a:t>
            </a:r>
            <a:r>
              <a:rPr>
                <a:solidFill>
                  <a:srgbClr val="0326CC"/>
                </a:solidFill>
              </a:rPr>
              <a:t>out</a:t>
            </a:r>
            <a:r>
              <a:rPr>
                <a:solidFill>
                  <a:srgbClr val="000000"/>
                </a:solidFill>
              </a:rPr>
              <a:t>.println(</a:t>
            </a:r>
            <a:r>
              <a:t>"------after remove------"</a:t>
            </a:r>
            <a:r>
              <a:rPr>
                <a:solidFill>
                  <a:srgbClr val="000000"/>
                </a:solidFill>
              </a:rPr>
              <a:t>);</a:t>
            </a:r>
            <a:endParaRPr>
              <a:solidFill>
                <a:srgbClr val="000000"/>
              </a:solidFill>
            </a:endParaRPr>
          </a:p>
          <a:p>
            <a:pPr indent="0">
              <a:defRPr sz="1900">
                <a:latin typeface="Monaco"/>
                <a:ea typeface="Monaco"/>
                <a:cs typeface="Monaco"/>
                <a:sym typeface="Monaco"/>
              </a:defRPr>
            </a:pPr>
            <a:r>
              <a:t>		</a:t>
            </a:r>
            <a:r>
              <a:rPr>
                <a:solidFill>
                  <a:srgbClr val="7E504F"/>
                </a:solidFill>
              </a:rPr>
              <a:t>bs</a:t>
            </a:r>
            <a:r>
              <a:t>.inOrder();</a:t>
            </a:r>
          </a:p>
          <a:p>
            <a:pPr indent="0">
              <a:defRPr sz="1900">
                <a:latin typeface="Monaco"/>
                <a:ea typeface="Monaco"/>
                <a:cs typeface="Monaco"/>
                <a:sym typeface="Monaco"/>
              </a:defRPr>
            </a:pPr>
            <a:r>
              <a:t>		System.</a:t>
            </a:r>
            <a:r>
              <a:rPr>
                <a:solidFill>
                  <a:srgbClr val="0326CC"/>
                </a:solidFill>
              </a:rPr>
              <a:t>out</a:t>
            </a:r>
            <a:r>
              <a:t>.println();</a:t>
            </a:r>
          </a:p>
          <a:p>
            <a:pPr indent="0">
              <a:defRPr sz="1900">
                <a:latin typeface="Monaco"/>
                <a:ea typeface="Monaco"/>
                <a:cs typeface="Monaco"/>
                <a:sym typeface="Monaco"/>
              </a:defRPr>
            </a:pPr>
            <a:r>
              <a:t>		System.</a:t>
            </a:r>
            <a:r>
              <a:rPr>
                <a:solidFill>
                  <a:srgbClr val="0326CC"/>
                </a:solidFill>
              </a:rPr>
              <a:t>out</a:t>
            </a:r>
            <a:r>
              <a:t>.println(</a:t>
            </a:r>
            <a:r>
              <a:rPr>
                <a:solidFill>
                  <a:srgbClr val="7E504F"/>
                </a:solidFill>
              </a:rPr>
              <a:t>bs</a:t>
            </a:r>
            <a:r>
              <a:t>.get(9));</a:t>
            </a:r>
          </a:p>
          <a:p>
            <a:pPr indent="0">
              <a:defRPr sz="1900">
                <a:latin typeface="Monaco"/>
                <a:ea typeface="Monaco"/>
                <a:cs typeface="Monaco"/>
                <a:sym typeface="Monaco"/>
              </a:defRPr>
            </a:pPr>
            <a:r>
              <a:t>	}</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8" name="Shape 894"/>
          <p:cNvSpPr txBox="1"/>
          <p:nvPr>
            <p:ph type="title"/>
          </p:nvPr>
        </p:nvSpPr>
        <p:spPr>
          <a:xfrm>
            <a:off x="1611488" y="125588"/>
            <a:ext cx="9448801" cy="952501"/>
          </a:xfrm>
          <a:prstGeom prst="rect">
            <a:avLst/>
          </a:prstGeom>
        </p:spPr>
        <p:txBody>
          <a:bodyPr/>
          <a:lstStyle/>
          <a:p>
            <a:pPr/>
            <a:r>
              <a:t>三叉链表</a:t>
            </a:r>
          </a:p>
        </p:txBody>
      </p:sp>
      <p:sp>
        <p:nvSpPr>
          <p:cNvPr id="1229" name="public class BinarySearchTreeTriLink&lt;K, V&gt; implements IMap&lt;K, V&gt; {…"/>
          <p:cNvSpPr txBox="1"/>
          <p:nvPr/>
        </p:nvSpPr>
        <p:spPr>
          <a:xfrm>
            <a:off x="195907" y="2229167"/>
            <a:ext cx="12612986" cy="659549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indent="0">
              <a:defRPr sz="2000">
                <a:latin typeface="Monaco"/>
                <a:ea typeface="Monaco"/>
                <a:cs typeface="Monaco"/>
                <a:sym typeface="Monaco"/>
              </a:defRPr>
            </a:pPr>
            <a:r>
              <a:rPr>
                <a:solidFill>
                  <a:srgbClr val="931A68"/>
                </a:solidFill>
              </a:rPr>
              <a:t>public</a:t>
            </a:r>
            <a:r>
              <a:t> </a:t>
            </a:r>
            <a:r>
              <a:rPr>
                <a:solidFill>
                  <a:srgbClr val="931A68"/>
                </a:solidFill>
              </a:rPr>
              <a:t>class</a:t>
            </a:r>
            <a:r>
              <a:t> BinarySearchTreeTriLink&lt;K, V&gt; </a:t>
            </a:r>
            <a:r>
              <a:rPr>
                <a:solidFill>
                  <a:srgbClr val="931A68"/>
                </a:solidFill>
              </a:rPr>
              <a:t>implements</a:t>
            </a:r>
            <a:r>
              <a:t> IMap&lt;K, V&gt; {</a:t>
            </a:r>
          </a:p>
          <a:p>
            <a:pPr indent="0">
              <a:defRPr sz="2000">
                <a:latin typeface="Monaco"/>
                <a:ea typeface="Monaco"/>
                <a:cs typeface="Monaco"/>
                <a:sym typeface="Monaco"/>
              </a:defRPr>
            </a:pPr>
            <a:r>
              <a:t>	</a:t>
            </a:r>
            <a:r>
              <a:rPr>
                <a:solidFill>
                  <a:srgbClr val="931A68"/>
                </a:solidFill>
              </a:rPr>
              <a:t>private</a:t>
            </a:r>
            <a:r>
              <a:t> Node&lt;K, V&gt; </a:t>
            </a:r>
            <a:r>
              <a:rPr>
                <a:solidFill>
                  <a:srgbClr val="0326CC"/>
                </a:solidFill>
              </a:rPr>
              <a:t>root</a:t>
            </a:r>
            <a:r>
              <a:t>;</a:t>
            </a:r>
          </a:p>
          <a:p>
            <a:pPr indent="0">
              <a:defRPr sz="2000">
                <a:solidFill>
                  <a:srgbClr val="931A68"/>
                </a:solidFill>
                <a:latin typeface="Monaco"/>
                <a:ea typeface="Monaco"/>
                <a:cs typeface="Monaco"/>
                <a:sym typeface="Monaco"/>
              </a:defRPr>
            </a:pPr>
            <a:r>
              <a:rPr>
                <a:solidFill>
                  <a:srgbClr val="000000"/>
                </a:solidFill>
              </a:rPr>
              <a:t>	</a:t>
            </a:r>
            <a:r>
              <a:t>private</a:t>
            </a:r>
            <a:r>
              <a:rPr>
                <a:solidFill>
                  <a:srgbClr val="000000"/>
                </a:solidFill>
              </a:rPr>
              <a:t> </a:t>
            </a:r>
            <a:r>
              <a:t>int</a:t>
            </a:r>
            <a:r>
              <a:rPr>
                <a:solidFill>
                  <a:srgbClr val="000000"/>
                </a:solidFill>
              </a:rPr>
              <a:t> </a:t>
            </a:r>
            <a:r>
              <a:rPr>
                <a:solidFill>
                  <a:srgbClr val="0326CC"/>
                </a:solidFill>
              </a:rPr>
              <a:t>size</a:t>
            </a:r>
            <a:r>
              <a:rPr>
                <a:solidFill>
                  <a:srgbClr val="000000"/>
                </a:solidFill>
              </a:rPr>
              <a:t>;</a:t>
            </a:r>
            <a:endParaRPr>
              <a:solidFill>
                <a:srgbClr val="000000"/>
              </a:solidFill>
            </a:endParaRPr>
          </a:p>
          <a:p>
            <a:pPr indent="0">
              <a:defRPr sz="2000">
                <a:latin typeface="Monaco"/>
                <a:ea typeface="Monaco"/>
                <a:cs typeface="Monaco"/>
                <a:sym typeface="Monaco"/>
              </a:defRPr>
            </a:pPr>
          </a:p>
          <a:p>
            <a:pPr indent="0">
              <a:defRPr sz="2000">
                <a:latin typeface="Monaco"/>
                <a:ea typeface="Monaco"/>
                <a:cs typeface="Monaco"/>
                <a:sym typeface="Monaco"/>
              </a:defRPr>
            </a:pPr>
            <a:r>
              <a:t>	</a:t>
            </a:r>
            <a:r>
              <a:rPr>
                <a:solidFill>
                  <a:srgbClr val="931A68"/>
                </a:solidFill>
              </a:rPr>
              <a:t>private</a:t>
            </a:r>
            <a:r>
              <a:t> </a:t>
            </a:r>
            <a:r>
              <a:rPr>
                <a:solidFill>
                  <a:srgbClr val="931A68"/>
                </a:solidFill>
              </a:rPr>
              <a:t>static</a:t>
            </a:r>
            <a:r>
              <a:t> </a:t>
            </a:r>
            <a:r>
              <a:rPr>
                <a:solidFill>
                  <a:srgbClr val="931A68"/>
                </a:solidFill>
              </a:rPr>
              <a:t>class</a:t>
            </a:r>
            <a:r>
              <a:t> Node&lt;K, V&gt; {</a:t>
            </a:r>
          </a:p>
          <a:p>
            <a:pPr indent="0">
              <a:defRPr sz="2000">
                <a:latin typeface="Monaco"/>
                <a:ea typeface="Monaco"/>
                <a:cs typeface="Monaco"/>
                <a:sym typeface="Monaco"/>
              </a:defRPr>
            </a:pPr>
            <a:r>
              <a:t>		K </a:t>
            </a:r>
            <a:r>
              <a:rPr>
                <a:solidFill>
                  <a:srgbClr val="0326CC"/>
                </a:solidFill>
              </a:rPr>
              <a:t>key</a:t>
            </a:r>
            <a:r>
              <a:t>;</a:t>
            </a:r>
          </a:p>
          <a:p>
            <a:pPr indent="0">
              <a:defRPr sz="2000">
                <a:solidFill>
                  <a:srgbClr val="0326CC"/>
                </a:solidFill>
                <a:latin typeface="Monaco"/>
                <a:ea typeface="Monaco"/>
                <a:cs typeface="Monaco"/>
                <a:sym typeface="Monaco"/>
              </a:defRPr>
            </a:pPr>
            <a:r>
              <a:rPr>
                <a:solidFill>
                  <a:srgbClr val="000000"/>
                </a:solidFill>
              </a:rPr>
              <a:t>		V </a:t>
            </a:r>
            <a:r>
              <a:t>value</a:t>
            </a:r>
            <a:r>
              <a:rPr>
                <a:solidFill>
                  <a:srgbClr val="000000"/>
                </a:solidFill>
              </a:rPr>
              <a:t>;</a:t>
            </a:r>
            <a:endParaRPr>
              <a:solidFill>
                <a:srgbClr val="000000"/>
              </a:solidFill>
            </a:endParaRPr>
          </a:p>
          <a:p>
            <a:pPr indent="0">
              <a:defRPr sz="2000">
                <a:latin typeface="Monaco"/>
                <a:ea typeface="Monaco"/>
                <a:cs typeface="Monaco"/>
                <a:sym typeface="Monaco"/>
              </a:defRPr>
            </a:pPr>
            <a:r>
              <a:t>		Node&lt;K, V&gt; </a:t>
            </a:r>
            <a:r>
              <a:rPr>
                <a:solidFill>
                  <a:srgbClr val="0326CC"/>
                </a:solidFill>
              </a:rPr>
              <a:t>left</a:t>
            </a:r>
            <a:r>
              <a:t>;</a:t>
            </a:r>
          </a:p>
          <a:p>
            <a:pPr indent="0">
              <a:defRPr sz="2000">
                <a:latin typeface="Monaco"/>
                <a:ea typeface="Monaco"/>
                <a:cs typeface="Monaco"/>
                <a:sym typeface="Monaco"/>
              </a:defRPr>
            </a:pPr>
            <a:r>
              <a:t>		Node&lt;K, V&gt; </a:t>
            </a:r>
            <a:r>
              <a:rPr>
                <a:solidFill>
                  <a:srgbClr val="0326CC"/>
                </a:solidFill>
              </a:rPr>
              <a:t>right</a:t>
            </a:r>
            <a:r>
              <a:t>;</a:t>
            </a:r>
          </a:p>
          <a:p>
            <a:pPr indent="0">
              <a:defRPr sz="2000">
                <a:latin typeface="Monaco"/>
                <a:ea typeface="Monaco"/>
                <a:cs typeface="Monaco"/>
                <a:sym typeface="Monaco"/>
              </a:defRPr>
            </a:pPr>
            <a:r>
              <a:t>		Node&lt;K, V&gt; </a:t>
            </a:r>
            <a:r>
              <a:rPr>
                <a:solidFill>
                  <a:srgbClr val="0326CC"/>
                </a:solidFill>
              </a:rPr>
              <a:t>parent</a:t>
            </a:r>
            <a:r>
              <a:t>;</a:t>
            </a:r>
          </a:p>
          <a:p>
            <a:pPr indent="0">
              <a:defRPr sz="2000">
                <a:latin typeface="Monaco"/>
                <a:ea typeface="Monaco"/>
                <a:cs typeface="Monaco"/>
                <a:sym typeface="Monaco"/>
              </a:defRPr>
            </a:pPr>
          </a:p>
          <a:p>
            <a:pPr indent="0">
              <a:defRPr sz="2000">
                <a:latin typeface="Monaco"/>
                <a:ea typeface="Monaco"/>
                <a:cs typeface="Monaco"/>
                <a:sym typeface="Monaco"/>
              </a:defRPr>
            </a:pPr>
            <a:r>
              <a:t>		Node(K </a:t>
            </a:r>
            <a:r>
              <a:rPr>
                <a:solidFill>
                  <a:srgbClr val="7E504F"/>
                </a:solidFill>
              </a:rPr>
              <a:t>key</a:t>
            </a:r>
            <a:r>
              <a:t>, V </a:t>
            </a:r>
            <a:r>
              <a:rPr>
                <a:solidFill>
                  <a:srgbClr val="7E504F"/>
                </a:solidFill>
              </a:rPr>
              <a:t>value</a:t>
            </a:r>
            <a:r>
              <a:t>, Node&lt;K, V&gt; </a:t>
            </a:r>
            <a:r>
              <a:rPr>
                <a:solidFill>
                  <a:srgbClr val="7E504F"/>
                </a:solidFill>
              </a:rPr>
              <a:t>left</a:t>
            </a:r>
            <a:r>
              <a:t>, Node&lt;K, V&gt; </a:t>
            </a:r>
            <a:r>
              <a:rPr>
                <a:solidFill>
                  <a:srgbClr val="7E504F"/>
                </a:solidFill>
              </a:rPr>
              <a:t>right</a:t>
            </a:r>
            <a:r>
              <a:t>, Node&lt;K, V&gt; </a:t>
            </a:r>
            <a:r>
              <a:rPr>
                <a:solidFill>
                  <a:srgbClr val="7E504F"/>
                </a:solidFill>
              </a:rPr>
              <a:t>parent</a:t>
            </a:r>
            <a:r>
              <a:t>) {</a:t>
            </a:r>
          </a:p>
          <a:p>
            <a:pPr indent="0">
              <a:defRPr sz="2000">
                <a:solidFill>
                  <a:srgbClr val="931A68"/>
                </a:solidFill>
                <a:latin typeface="Monaco"/>
                <a:ea typeface="Monaco"/>
                <a:cs typeface="Monaco"/>
                <a:sym typeface="Monaco"/>
              </a:defRPr>
            </a:pPr>
            <a:r>
              <a:rPr>
                <a:solidFill>
                  <a:srgbClr val="000000"/>
                </a:solidFill>
              </a:rPr>
              <a:t>			</a:t>
            </a:r>
            <a:r>
              <a:t>this</a:t>
            </a:r>
            <a:r>
              <a:rPr>
                <a:solidFill>
                  <a:srgbClr val="000000"/>
                </a:solidFill>
              </a:rPr>
              <a:t>.</a:t>
            </a:r>
            <a:r>
              <a:rPr>
                <a:solidFill>
                  <a:srgbClr val="0326CC"/>
                </a:solidFill>
              </a:rPr>
              <a:t>key</a:t>
            </a:r>
            <a:r>
              <a:rPr>
                <a:solidFill>
                  <a:srgbClr val="000000"/>
                </a:solidFill>
              </a:rPr>
              <a:t> = </a:t>
            </a:r>
            <a:r>
              <a:rPr>
                <a:solidFill>
                  <a:srgbClr val="7E504F"/>
                </a:solidFill>
              </a:rPr>
              <a:t>key</a:t>
            </a:r>
            <a:r>
              <a:rPr>
                <a:solidFill>
                  <a:srgbClr val="000000"/>
                </a:solidFill>
              </a:rPr>
              <a:t>;</a:t>
            </a:r>
            <a:endParaRPr>
              <a:solidFill>
                <a:srgbClr val="000000"/>
              </a:solidFill>
            </a:endParaRPr>
          </a:p>
          <a:p>
            <a:pPr indent="0">
              <a:defRPr sz="2000">
                <a:solidFill>
                  <a:srgbClr val="0326CC"/>
                </a:solidFill>
                <a:latin typeface="Monaco"/>
                <a:ea typeface="Monaco"/>
                <a:cs typeface="Monaco"/>
                <a:sym typeface="Monaco"/>
              </a:defRPr>
            </a:pPr>
            <a:r>
              <a:rPr>
                <a:solidFill>
                  <a:srgbClr val="000000"/>
                </a:solidFill>
              </a:rPr>
              <a:t>			</a:t>
            </a:r>
            <a:r>
              <a:rPr>
                <a:solidFill>
                  <a:srgbClr val="931A68"/>
                </a:solidFill>
              </a:rPr>
              <a:t>this</a:t>
            </a:r>
            <a:r>
              <a:rPr>
                <a:solidFill>
                  <a:srgbClr val="000000"/>
                </a:solidFill>
              </a:rPr>
              <a:t>.</a:t>
            </a:r>
            <a:r>
              <a:t>value</a:t>
            </a:r>
            <a:r>
              <a:rPr>
                <a:solidFill>
                  <a:srgbClr val="000000"/>
                </a:solidFill>
              </a:rPr>
              <a:t> = </a:t>
            </a:r>
            <a:r>
              <a:rPr>
                <a:solidFill>
                  <a:srgbClr val="7E504F"/>
                </a:solidFill>
              </a:rPr>
              <a:t>value</a:t>
            </a:r>
            <a:r>
              <a:rPr>
                <a:solidFill>
                  <a:srgbClr val="000000"/>
                </a:solidFill>
              </a:rPr>
              <a:t>;</a:t>
            </a:r>
            <a:endParaRPr>
              <a:solidFill>
                <a:srgbClr val="000000"/>
              </a:solidFill>
            </a:endParaRPr>
          </a:p>
          <a:p>
            <a:pPr indent="0">
              <a:defRPr sz="2000">
                <a:solidFill>
                  <a:srgbClr val="931A68"/>
                </a:solidFill>
                <a:latin typeface="Monaco"/>
                <a:ea typeface="Monaco"/>
                <a:cs typeface="Monaco"/>
                <a:sym typeface="Monaco"/>
              </a:defRPr>
            </a:pPr>
            <a:r>
              <a:rPr>
                <a:solidFill>
                  <a:srgbClr val="000000"/>
                </a:solidFill>
              </a:rPr>
              <a:t>			</a:t>
            </a:r>
            <a:r>
              <a:t>this</a:t>
            </a:r>
            <a:r>
              <a:rPr>
                <a:solidFill>
                  <a:srgbClr val="000000"/>
                </a:solidFill>
              </a:rPr>
              <a:t>.</a:t>
            </a:r>
            <a:r>
              <a:rPr>
                <a:solidFill>
                  <a:srgbClr val="0326CC"/>
                </a:solidFill>
              </a:rPr>
              <a:t>left</a:t>
            </a:r>
            <a:r>
              <a:rPr>
                <a:solidFill>
                  <a:srgbClr val="000000"/>
                </a:solidFill>
              </a:rPr>
              <a:t> = </a:t>
            </a:r>
            <a:r>
              <a:rPr>
                <a:solidFill>
                  <a:srgbClr val="7E504F"/>
                </a:solidFill>
              </a:rPr>
              <a:t>left</a:t>
            </a:r>
            <a:r>
              <a:rPr>
                <a:solidFill>
                  <a:srgbClr val="000000"/>
                </a:solidFill>
              </a:rPr>
              <a:t>;</a:t>
            </a:r>
            <a:endParaRPr>
              <a:solidFill>
                <a:srgbClr val="000000"/>
              </a:solidFill>
            </a:endParaRPr>
          </a:p>
          <a:p>
            <a:pPr indent="0">
              <a:defRPr sz="2000">
                <a:solidFill>
                  <a:srgbClr val="0326CC"/>
                </a:solidFill>
                <a:latin typeface="Monaco"/>
                <a:ea typeface="Monaco"/>
                <a:cs typeface="Monaco"/>
                <a:sym typeface="Monaco"/>
              </a:defRPr>
            </a:pPr>
            <a:r>
              <a:rPr>
                <a:solidFill>
                  <a:srgbClr val="000000"/>
                </a:solidFill>
              </a:rPr>
              <a:t>			</a:t>
            </a:r>
            <a:r>
              <a:rPr>
                <a:solidFill>
                  <a:srgbClr val="931A68"/>
                </a:solidFill>
              </a:rPr>
              <a:t>this</a:t>
            </a:r>
            <a:r>
              <a:rPr>
                <a:solidFill>
                  <a:srgbClr val="000000"/>
                </a:solidFill>
              </a:rPr>
              <a:t>.</a:t>
            </a:r>
            <a:r>
              <a:t>right</a:t>
            </a:r>
            <a:r>
              <a:rPr>
                <a:solidFill>
                  <a:srgbClr val="000000"/>
                </a:solidFill>
              </a:rPr>
              <a:t> = </a:t>
            </a:r>
            <a:r>
              <a:rPr>
                <a:solidFill>
                  <a:srgbClr val="7E504F"/>
                </a:solidFill>
              </a:rPr>
              <a:t>right</a:t>
            </a:r>
            <a:r>
              <a:rPr>
                <a:solidFill>
                  <a:srgbClr val="000000"/>
                </a:solidFill>
              </a:rPr>
              <a:t>;</a:t>
            </a:r>
            <a:endParaRPr>
              <a:solidFill>
                <a:srgbClr val="000000"/>
              </a:solidFill>
            </a:endParaRPr>
          </a:p>
          <a:p>
            <a:pPr indent="0">
              <a:defRPr sz="2000">
                <a:solidFill>
                  <a:srgbClr val="0326CC"/>
                </a:solidFill>
                <a:latin typeface="Monaco"/>
                <a:ea typeface="Monaco"/>
                <a:cs typeface="Monaco"/>
                <a:sym typeface="Monaco"/>
              </a:defRPr>
            </a:pPr>
            <a:r>
              <a:rPr>
                <a:solidFill>
                  <a:srgbClr val="000000"/>
                </a:solidFill>
              </a:rPr>
              <a:t>			</a:t>
            </a:r>
            <a:r>
              <a:rPr>
                <a:solidFill>
                  <a:srgbClr val="931A68"/>
                </a:solidFill>
              </a:rPr>
              <a:t>this</a:t>
            </a:r>
            <a:r>
              <a:rPr>
                <a:solidFill>
                  <a:srgbClr val="000000"/>
                </a:solidFill>
              </a:rPr>
              <a:t>.</a:t>
            </a:r>
            <a:r>
              <a:t>parent</a:t>
            </a:r>
            <a:r>
              <a:rPr>
                <a:solidFill>
                  <a:srgbClr val="000000"/>
                </a:solidFill>
              </a:rPr>
              <a:t> = </a:t>
            </a:r>
            <a:r>
              <a:rPr>
                <a:solidFill>
                  <a:srgbClr val="7E504F"/>
                </a:solidFill>
              </a:rPr>
              <a:t>parent</a:t>
            </a:r>
            <a:r>
              <a:rPr>
                <a:solidFill>
                  <a:srgbClr val="000000"/>
                </a:solidFill>
              </a:rPr>
              <a:t>;</a:t>
            </a:r>
            <a:endParaRPr>
              <a:solidFill>
                <a:srgbClr val="000000"/>
              </a:solidFill>
            </a:endParaRPr>
          </a:p>
          <a:p>
            <a:pPr indent="0">
              <a:defRPr sz="2000">
                <a:latin typeface="Monaco"/>
                <a:ea typeface="Monaco"/>
                <a:cs typeface="Monaco"/>
                <a:sym typeface="Monaco"/>
              </a:defRPr>
            </a:pPr>
            <a:r>
              <a:t>		}</a:t>
            </a:r>
          </a:p>
          <a:p>
            <a:pPr indent="0">
              <a:defRPr sz="2000">
                <a:latin typeface="Monaco"/>
                <a:ea typeface="Monaco"/>
                <a:cs typeface="Monaco"/>
                <a:sym typeface="Monaco"/>
              </a:defRPr>
            </a:pPr>
            <a:r>
              <a:t>	}</a:t>
            </a:r>
          </a:p>
        </p:txBody>
      </p:sp>
      <p:sp>
        <p:nvSpPr>
          <p:cNvPr id="1230" name="如果对二叉搜索树进行平衡，经常需要找父结点，使用三叉链表比较好"/>
          <p:cNvSpPr txBox="1"/>
          <p:nvPr/>
        </p:nvSpPr>
        <p:spPr>
          <a:xfrm>
            <a:off x="163340" y="1474224"/>
            <a:ext cx="11983100"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如果对二叉搜索树进行平衡，经常需要找父结点，使用三叉链表比较好</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2" name="Shape 962"/>
          <p:cNvSpPr txBox="1"/>
          <p:nvPr/>
        </p:nvSpPr>
        <p:spPr>
          <a:xfrm>
            <a:off x="192216" y="1530142"/>
            <a:ext cx="12720246" cy="2747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600">
                <a:uFill>
                  <a:solidFill>
                    <a:srgbClr val="000000"/>
                  </a:solidFill>
                </a:uFill>
              </a:defRPr>
            </a:pPr>
            <a:r>
              <a:t>平均查找长度(Average Search Length)：</a:t>
            </a:r>
          </a:p>
          <a:p>
            <a:pPr marR="57798" defTabSz="1295400">
              <a:spcBef>
                <a:spcPts val="1900"/>
              </a:spcBef>
              <a:defRPr sz="2600">
                <a:uFill>
                  <a:solidFill>
                    <a:srgbClr val="000000"/>
                  </a:solidFill>
                </a:uFill>
              </a:defRPr>
            </a:pPr>
            <a:r>
              <a:t>     ASL = ∑p</a:t>
            </a:r>
            <a:r>
              <a:rPr baseline="-5999"/>
              <a:t>i</a:t>
            </a:r>
            <a:r>
              <a:t>×c</a:t>
            </a:r>
            <a:r>
              <a:rPr baseline="-5999"/>
              <a:t>i</a:t>
            </a:r>
            <a:r>
              <a:t>，p</a:t>
            </a:r>
            <a:r>
              <a:rPr baseline="-5999"/>
              <a:t>i</a:t>
            </a:r>
            <a:r>
              <a:t>查找第i 个数据元素的概率，c</a:t>
            </a:r>
            <a:r>
              <a:rPr baseline="-5999"/>
              <a:t>i</a:t>
            </a:r>
            <a:r>
              <a:t>找到第i 个数据元素的</a:t>
            </a:r>
            <a:r>
              <a:rPr>
                <a:solidFill>
                  <a:schemeClr val="accent5"/>
                </a:solidFill>
              </a:rPr>
              <a:t>关键字之间</a:t>
            </a:r>
            <a:r>
              <a:t>的</a:t>
            </a:r>
          </a:p>
          <a:p>
            <a:pPr marR="57798" defTabSz="1295400">
              <a:spcBef>
                <a:spcPts val="1900"/>
              </a:spcBef>
              <a:defRPr sz="2600">
                <a:uFill>
                  <a:solidFill>
                    <a:srgbClr val="000000"/>
                  </a:solidFill>
                </a:uFill>
              </a:defRPr>
            </a:pPr>
            <a:r>
              <a:t>                              比较次数</a:t>
            </a:r>
          </a:p>
          <a:p>
            <a:pPr marR="57798" defTabSz="1295400">
              <a:spcBef>
                <a:spcPts val="1900"/>
              </a:spcBef>
              <a:defRPr sz="2600">
                <a:uFill>
                  <a:solidFill>
                    <a:srgbClr val="000000"/>
                  </a:solidFill>
                </a:uFill>
              </a:defRPr>
            </a:pPr>
            <a:r>
              <a:t>ASL有成功查找和不成功查找之分。</a:t>
            </a:r>
          </a:p>
        </p:txBody>
      </p:sp>
      <p:sp>
        <p:nvSpPr>
          <p:cNvPr id="1233" name="Shape 963"/>
          <p:cNvSpPr txBox="1"/>
          <p:nvPr>
            <p:ph type="title"/>
          </p:nvPr>
        </p:nvSpPr>
        <p:spPr>
          <a:xfrm>
            <a:off x="1611488" y="125588"/>
            <a:ext cx="9448801" cy="952501"/>
          </a:xfrm>
          <a:prstGeom prst="rect">
            <a:avLst/>
          </a:prstGeom>
        </p:spPr>
        <p:txBody>
          <a:bodyPr/>
          <a:lstStyle/>
          <a:p>
            <a:pPr/>
            <a:r>
              <a:t>性能分析</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5" name="Shape 965"/>
          <p:cNvSpPr txBox="1"/>
          <p:nvPr/>
        </p:nvSpPr>
        <p:spPr>
          <a:xfrm>
            <a:off x="6604000" y="1564921"/>
            <a:ext cx="6070600" cy="12851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lnSpc>
                <a:spcPct val="130000"/>
              </a:lnSpc>
              <a:spcBef>
                <a:spcPts val="1900"/>
              </a:spcBef>
              <a:defRPr sz="2800">
                <a:uFill>
                  <a:solidFill>
                    <a:srgbClr val="000000"/>
                  </a:solidFill>
                </a:uFill>
              </a:defRPr>
            </a:lvl1pPr>
          </a:lstStyle>
          <a:p>
            <a:pPr/>
            <a:r>
              <a:t>由关键字序列 3，1，2，5，4构造而得的二叉搜索树</a:t>
            </a:r>
          </a:p>
        </p:txBody>
      </p:sp>
      <p:sp>
        <p:nvSpPr>
          <p:cNvPr id="1236" name="Shape 966"/>
          <p:cNvSpPr txBox="1"/>
          <p:nvPr/>
        </p:nvSpPr>
        <p:spPr>
          <a:xfrm>
            <a:off x="564725" y="1564921"/>
            <a:ext cx="5740403" cy="12851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lvl1pPr marR="57798" defTabSz="1295400">
              <a:lnSpc>
                <a:spcPct val="130000"/>
              </a:lnSpc>
              <a:spcBef>
                <a:spcPts val="1900"/>
              </a:spcBef>
              <a:defRPr sz="2800">
                <a:uFill>
                  <a:solidFill>
                    <a:srgbClr val="000000"/>
                  </a:solidFill>
                </a:uFill>
              </a:defRPr>
            </a:lvl1pPr>
          </a:lstStyle>
          <a:p>
            <a:pPr/>
            <a:r>
              <a:t>由关键字序列 1，2，3，4，5构造而得的二叉搜索树，</a:t>
            </a:r>
          </a:p>
        </p:txBody>
      </p:sp>
      <p:sp>
        <p:nvSpPr>
          <p:cNvPr id="1237" name="Shape 967"/>
          <p:cNvSpPr txBox="1"/>
          <p:nvPr/>
        </p:nvSpPr>
        <p:spPr>
          <a:xfrm>
            <a:off x="767925" y="6365150"/>
            <a:ext cx="5334003"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ASL</a:t>
            </a:r>
            <a:r>
              <a:rPr baseline="-5999"/>
              <a:t>成功</a:t>
            </a:r>
            <a:r>
              <a:t> =（1+2+3+4+5）/ 5 = 3</a:t>
            </a:r>
          </a:p>
        </p:txBody>
      </p:sp>
      <p:sp>
        <p:nvSpPr>
          <p:cNvPr id="1238" name="Shape 968"/>
          <p:cNvSpPr txBox="1"/>
          <p:nvPr/>
        </p:nvSpPr>
        <p:spPr>
          <a:xfrm>
            <a:off x="6825131" y="6365150"/>
            <a:ext cx="5740402" cy="609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spcBef>
                <a:spcPts val="1900"/>
              </a:spcBef>
              <a:defRPr sz="2800">
                <a:uFill>
                  <a:solidFill>
                    <a:srgbClr val="000000"/>
                  </a:solidFill>
                </a:uFill>
              </a:defRPr>
            </a:pPr>
            <a:r>
              <a:t>ASL</a:t>
            </a:r>
            <a:r>
              <a:rPr baseline="-5999"/>
              <a:t>成功</a:t>
            </a:r>
            <a:r>
              <a:t> =（1+2+2+3+3）/ 5  = 2.2</a:t>
            </a:r>
          </a:p>
        </p:txBody>
      </p:sp>
      <p:sp>
        <p:nvSpPr>
          <p:cNvPr id="1239" name="Shape 969"/>
          <p:cNvSpPr/>
          <p:nvPr/>
        </p:nvSpPr>
        <p:spPr>
          <a:xfrm>
            <a:off x="6463490" y="1144467"/>
            <a:ext cx="79" cy="8609142"/>
          </a:xfrm>
          <a:prstGeom prst="line">
            <a:avLst/>
          </a:prstGeom>
          <a:ln>
            <a:solidFill>
              <a:srgbClr val="000000"/>
            </a:solidFill>
          </a:ln>
        </p:spPr>
        <p:txBody>
          <a:bodyPr lIns="45718" tIns="45718" rIns="45718" bIns="45718"/>
          <a:lstStyle/>
          <a:p>
            <a:pPr marR="57798" defTabSz="1295400">
              <a:spcBef>
                <a:spcPts val="1900"/>
              </a:spcBef>
              <a:defRPr sz="2400">
                <a:uFill>
                  <a:solidFill>
                    <a:srgbClr val="000000"/>
                  </a:solidFill>
                </a:uFill>
              </a:defRPr>
            </a:pPr>
          </a:p>
        </p:txBody>
      </p:sp>
      <p:grpSp>
        <p:nvGrpSpPr>
          <p:cNvPr id="1259" name="Group 990"/>
          <p:cNvGrpSpPr/>
          <p:nvPr/>
        </p:nvGrpSpPr>
        <p:grpSpPr>
          <a:xfrm>
            <a:off x="1923211" y="3018514"/>
            <a:ext cx="4286348" cy="4015600"/>
            <a:chOff x="0" y="0"/>
            <a:chExt cx="4286347" cy="4015598"/>
          </a:xfrm>
        </p:grpSpPr>
        <p:sp>
          <p:nvSpPr>
            <p:cNvPr id="1240" name="Shape 970"/>
            <p:cNvSpPr/>
            <p:nvPr/>
          </p:nvSpPr>
          <p:spPr>
            <a:xfrm>
              <a:off x="433493" y="433493"/>
              <a:ext cx="4318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41" name="Shape 971"/>
            <p:cNvSpPr/>
            <p:nvPr/>
          </p:nvSpPr>
          <p:spPr>
            <a:xfrm>
              <a:off x="1192106" y="1083733"/>
              <a:ext cx="4318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42" name="Shape 972"/>
            <p:cNvSpPr/>
            <p:nvPr/>
          </p:nvSpPr>
          <p:spPr>
            <a:xfrm>
              <a:off x="1950720" y="1733973"/>
              <a:ext cx="4318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43" name="Shape 973"/>
            <p:cNvSpPr/>
            <p:nvPr/>
          </p:nvSpPr>
          <p:spPr>
            <a:xfrm>
              <a:off x="2600960" y="2384213"/>
              <a:ext cx="431802" cy="3302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1246" name="Group 977"/>
            <p:cNvGrpSpPr/>
            <p:nvPr/>
          </p:nvGrpSpPr>
          <p:grpSpPr>
            <a:xfrm>
              <a:off x="758613" y="650240"/>
              <a:ext cx="1353776" cy="1325175"/>
              <a:chOff x="0" y="0"/>
              <a:chExt cx="1353775" cy="1325174"/>
            </a:xfrm>
          </p:grpSpPr>
          <p:sp>
            <p:nvSpPr>
              <p:cNvPr id="1244" name="Shape 975"/>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45" name="Shape 976"/>
              <p:cNvSpPr/>
              <p:nvPr/>
            </p:nvSpPr>
            <p:spPr>
              <a:xfrm>
                <a:off x="83775" y="551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a:t>
                </a:r>
              </a:p>
            </p:txBody>
          </p:sp>
        </p:grpSp>
        <p:grpSp>
          <p:nvGrpSpPr>
            <p:cNvPr id="1249" name="Group 980"/>
            <p:cNvGrpSpPr/>
            <p:nvPr/>
          </p:nvGrpSpPr>
          <p:grpSpPr>
            <a:xfrm>
              <a:off x="0" y="-1"/>
              <a:ext cx="1353776" cy="1312475"/>
              <a:chOff x="0" y="0"/>
              <a:chExt cx="1353775" cy="1312474"/>
            </a:xfrm>
          </p:grpSpPr>
          <p:sp>
            <p:nvSpPr>
              <p:cNvPr id="1247" name="Shape 978"/>
              <p:cNvSpPr/>
              <p:nvPr/>
            </p:nvSpPr>
            <p:spPr>
              <a:xfrm>
                <a:off x="-1" y="-1"/>
                <a:ext cx="546101" cy="54610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48" name="Shape 979"/>
              <p:cNvSpPr/>
              <p:nvPr/>
            </p:nvSpPr>
            <p:spPr>
              <a:xfrm>
                <a:off x="83775" y="424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a:t>
                </a:r>
              </a:p>
            </p:txBody>
          </p:sp>
        </p:grpSp>
        <p:grpSp>
          <p:nvGrpSpPr>
            <p:cNvPr id="1252" name="Group 983"/>
            <p:cNvGrpSpPr/>
            <p:nvPr/>
          </p:nvGrpSpPr>
          <p:grpSpPr>
            <a:xfrm>
              <a:off x="1408853" y="1300480"/>
              <a:ext cx="1391876" cy="1337875"/>
              <a:chOff x="0" y="0"/>
              <a:chExt cx="1391875" cy="1337874"/>
            </a:xfrm>
          </p:grpSpPr>
          <p:sp>
            <p:nvSpPr>
              <p:cNvPr id="1250" name="Shape 981"/>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51" name="Shape 982"/>
              <p:cNvSpPr/>
              <p:nvPr/>
            </p:nvSpPr>
            <p:spPr>
              <a:xfrm>
                <a:off x="121875" y="678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a:t>
                </a:r>
              </a:p>
            </p:txBody>
          </p:sp>
        </p:grpSp>
        <p:grpSp>
          <p:nvGrpSpPr>
            <p:cNvPr id="1255" name="Group 986"/>
            <p:cNvGrpSpPr/>
            <p:nvPr/>
          </p:nvGrpSpPr>
          <p:grpSpPr>
            <a:xfrm>
              <a:off x="2167466" y="1950720"/>
              <a:ext cx="1353776" cy="1299775"/>
              <a:chOff x="0" y="0"/>
              <a:chExt cx="1353775" cy="1299774"/>
            </a:xfrm>
          </p:grpSpPr>
          <p:sp>
            <p:nvSpPr>
              <p:cNvPr id="1253" name="Shape 984"/>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54" name="Shape 985"/>
              <p:cNvSpPr/>
              <p:nvPr/>
            </p:nvSpPr>
            <p:spPr>
              <a:xfrm>
                <a:off x="83775" y="297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a:t>
                </a:r>
              </a:p>
            </p:txBody>
          </p:sp>
        </p:grpSp>
        <p:grpSp>
          <p:nvGrpSpPr>
            <p:cNvPr id="1258" name="Group 989"/>
            <p:cNvGrpSpPr/>
            <p:nvPr/>
          </p:nvGrpSpPr>
          <p:grpSpPr>
            <a:xfrm>
              <a:off x="2894472" y="2677724"/>
              <a:ext cx="1391876" cy="1337875"/>
              <a:chOff x="0" y="0"/>
              <a:chExt cx="1391875" cy="1337874"/>
            </a:xfrm>
          </p:grpSpPr>
          <p:sp>
            <p:nvSpPr>
              <p:cNvPr id="1256" name="Shape 987"/>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57" name="Shape 988"/>
              <p:cNvSpPr/>
              <p:nvPr/>
            </p:nvSpPr>
            <p:spPr>
              <a:xfrm>
                <a:off x="121875" y="678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a:t>
                </a:r>
              </a:p>
            </p:txBody>
          </p:sp>
        </p:grpSp>
      </p:grpSp>
      <p:grpSp>
        <p:nvGrpSpPr>
          <p:cNvPr id="1279" name="Group 1011"/>
          <p:cNvGrpSpPr/>
          <p:nvPr/>
        </p:nvGrpSpPr>
        <p:grpSpPr>
          <a:xfrm>
            <a:off x="7452110" y="3004799"/>
            <a:ext cx="3980135" cy="3385116"/>
            <a:chOff x="0" y="0"/>
            <a:chExt cx="3980133" cy="3385114"/>
          </a:xfrm>
        </p:grpSpPr>
        <p:sp>
          <p:nvSpPr>
            <p:cNvPr id="1260" name="Shape 991"/>
            <p:cNvSpPr/>
            <p:nvPr/>
          </p:nvSpPr>
          <p:spPr>
            <a:xfrm flipH="1">
              <a:off x="325120" y="325120"/>
              <a:ext cx="9779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61" name="Shape 992"/>
            <p:cNvSpPr/>
            <p:nvPr/>
          </p:nvSpPr>
          <p:spPr>
            <a:xfrm>
              <a:off x="1842347" y="325120"/>
              <a:ext cx="8636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62" name="Shape 993"/>
            <p:cNvSpPr/>
            <p:nvPr/>
          </p:nvSpPr>
          <p:spPr>
            <a:xfrm>
              <a:off x="325120" y="1469813"/>
              <a:ext cx="5461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sp>
          <p:nvSpPr>
            <p:cNvPr id="1263" name="Shape 994"/>
            <p:cNvSpPr/>
            <p:nvPr/>
          </p:nvSpPr>
          <p:spPr>
            <a:xfrm flipH="1">
              <a:off x="2275840" y="1469813"/>
              <a:ext cx="431802" cy="647702"/>
            </a:xfrm>
            <a:prstGeom prst="line">
              <a:avLst/>
            </a:prstGeom>
            <a:noFill/>
            <a:ln w="9525" cap="flat">
              <a:solidFill>
                <a:srgbClr val="000000"/>
              </a:solidFill>
              <a:prstDash val="solid"/>
              <a:round/>
            </a:ln>
            <a:effectLst/>
          </p:spPr>
          <p:txBody>
            <a:bodyPr wrap="square" lIns="45718" tIns="45718" rIns="45718" bIns="45718" numCol="1" anchor="t">
              <a:noAutofit/>
            </a:bodyPr>
            <a:lstStyle/>
            <a:p>
              <a:pPr marR="57798" defTabSz="1295400">
                <a:spcBef>
                  <a:spcPts val="1900"/>
                </a:spcBef>
                <a:defRPr sz="2400">
                  <a:uFill>
                    <a:solidFill>
                      <a:srgbClr val="000000"/>
                    </a:solidFill>
                  </a:uFill>
                </a:defRPr>
              </a:pPr>
            </a:p>
          </p:txBody>
        </p:sp>
        <p:grpSp>
          <p:nvGrpSpPr>
            <p:cNvPr id="1266" name="Group 998"/>
            <p:cNvGrpSpPr/>
            <p:nvPr/>
          </p:nvGrpSpPr>
          <p:grpSpPr>
            <a:xfrm>
              <a:off x="1300480" y="-1"/>
              <a:ext cx="1366475" cy="1325176"/>
              <a:chOff x="0" y="0"/>
              <a:chExt cx="1366474" cy="1325174"/>
            </a:xfrm>
          </p:grpSpPr>
          <p:sp>
            <p:nvSpPr>
              <p:cNvPr id="1264" name="Shape 996"/>
              <p:cNvSpPr/>
              <p:nvPr/>
            </p:nvSpPr>
            <p:spPr>
              <a:xfrm>
                <a:off x="0" y="-1"/>
                <a:ext cx="546102" cy="546101"/>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65" name="Shape 997"/>
              <p:cNvSpPr/>
              <p:nvPr/>
            </p:nvSpPr>
            <p:spPr>
              <a:xfrm>
                <a:off x="96474" y="551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3</a:t>
                </a:r>
              </a:p>
            </p:txBody>
          </p:sp>
        </p:grpSp>
        <p:grpSp>
          <p:nvGrpSpPr>
            <p:cNvPr id="1269" name="Group 1001"/>
            <p:cNvGrpSpPr/>
            <p:nvPr/>
          </p:nvGrpSpPr>
          <p:grpSpPr>
            <a:xfrm>
              <a:off x="2600960" y="975360"/>
              <a:ext cx="1379175" cy="1325175"/>
              <a:chOff x="0" y="0"/>
              <a:chExt cx="1379173" cy="1325174"/>
            </a:xfrm>
          </p:grpSpPr>
          <p:sp>
            <p:nvSpPr>
              <p:cNvPr id="1267" name="Shape 999"/>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68" name="Shape 1000"/>
              <p:cNvSpPr/>
              <p:nvPr/>
            </p:nvSpPr>
            <p:spPr>
              <a:xfrm>
                <a:off x="109173" y="551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5</a:t>
                </a:r>
              </a:p>
            </p:txBody>
          </p:sp>
        </p:grpSp>
        <p:grpSp>
          <p:nvGrpSpPr>
            <p:cNvPr id="1272" name="Group 1004"/>
            <p:cNvGrpSpPr/>
            <p:nvPr/>
          </p:nvGrpSpPr>
          <p:grpSpPr>
            <a:xfrm>
              <a:off x="1858151" y="2072640"/>
              <a:ext cx="1353774" cy="1312475"/>
              <a:chOff x="0" y="0"/>
              <a:chExt cx="1353773" cy="1312474"/>
            </a:xfrm>
          </p:grpSpPr>
          <p:sp>
            <p:nvSpPr>
              <p:cNvPr id="1270" name="Shape 1002"/>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71" name="Shape 1003"/>
              <p:cNvSpPr/>
              <p:nvPr/>
            </p:nvSpPr>
            <p:spPr>
              <a:xfrm>
                <a:off x="83773" y="424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4</a:t>
                </a:r>
              </a:p>
            </p:txBody>
          </p:sp>
        </p:grpSp>
        <p:grpSp>
          <p:nvGrpSpPr>
            <p:cNvPr id="1275" name="Group 1007"/>
            <p:cNvGrpSpPr/>
            <p:nvPr/>
          </p:nvGrpSpPr>
          <p:grpSpPr>
            <a:xfrm>
              <a:off x="0" y="975360"/>
              <a:ext cx="1341076" cy="1337875"/>
              <a:chOff x="0" y="0"/>
              <a:chExt cx="1341075" cy="1337874"/>
            </a:xfrm>
          </p:grpSpPr>
          <p:sp>
            <p:nvSpPr>
              <p:cNvPr id="1273" name="Shape 1005"/>
              <p:cNvSpPr/>
              <p:nvPr/>
            </p:nvSpPr>
            <p:spPr>
              <a:xfrm>
                <a:off x="-1" y="0"/>
                <a:ext cx="546101"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74" name="Shape 1006"/>
              <p:cNvSpPr/>
              <p:nvPr/>
            </p:nvSpPr>
            <p:spPr>
              <a:xfrm>
                <a:off x="71075" y="678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1</a:t>
                </a:r>
              </a:p>
            </p:txBody>
          </p:sp>
        </p:grpSp>
        <p:grpSp>
          <p:nvGrpSpPr>
            <p:cNvPr id="1278" name="Group 1010"/>
            <p:cNvGrpSpPr/>
            <p:nvPr/>
          </p:nvGrpSpPr>
          <p:grpSpPr>
            <a:xfrm>
              <a:off x="774417" y="2072640"/>
              <a:ext cx="1353776" cy="1312475"/>
              <a:chOff x="0" y="0"/>
              <a:chExt cx="1353775" cy="1312474"/>
            </a:xfrm>
          </p:grpSpPr>
          <p:sp>
            <p:nvSpPr>
              <p:cNvPr id="1276" name="Shape 1008"/>
              <p:cNvSpPr/>
              <p:nvPr/>
            </p:nvSpPr>
            <p:spPr>
              <a:xfrm>
                <a:off x="0" y="0"/>
                <a:ext cx="546102" cy="546102"/>
              </a:xfrm>
              <a:prstGeom prst="ellipse">
                <a:avLst/>
              </a:prstGeom>
              <a:solidFill>
                <a:srgbClr val="FFFFFF"/>
              </a:solidFill>
              <a:ln w="9525" cap="flat">
                <a:solidFill>
                  <a:srgbClr val="000000"/>
                </a:solidFill>
                <a:prstDash val="solid"/>
                <a:round/>
              </a:ln>
              <a:effectLst/>
            </p:spPr>
            <p:txBody>
              <a:bodyPr wrap="square" lIns="50800" tIns="50800" rIns="50800" bIns="50800" numCol="1" anchor="ctr">
                <a:noAutofit/>
              </a:bodyPr>
              <a:lstStyle/>
              <a:p>
                <a:pPr marR="57798" defTabSz="1295400">
                  <a:spcBef>
                    <a:spcPts val="1900"/>
                  </a:spcBef>
                  <a:defRPr b="1" sz="2800">
                    <a:uFill>
                      <a:solidFill>
                        <a:srgbClr val="000000"/>
                      </a:solidFill>
                    </a:uFill>
                  </a:defRPr>
                </a:pPr>
              </a:p>
            </p:txBody>
          </p:sp>
          <p:sp>
            <p:nvSpPr>
              <p:cNvPr id="1277" name="Shape 1009"/>
              <p:cNvSpPr/>
              <p:nvPr/>
            </p:nvSpPr>
            <p:spPr>
              <a:xfrm>
                <a:off x="83775" y="42474"/>
                <a:ext cx="1270001" cy="1270001"/>
              </a:xfrm>
              <a:prstGeom prst="line">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t">
                <a:spAutoFit/>
              </a:bodyPr>
              <a:lstStyle>
                <a:lvl1pPr marR="57798" defTabSz="1295400">
                  <a:spcBef>
                    <a:spcPts val="1900"/>
                  </a:spcBef>
                  <a:defRPr sz="2400">
                    <a:uFill>
                      <a:solidFill>
                        <a:srgbClr val="000000"/>
                      </a:solidFill>
                    </a:uFill>
                  </a:defRPr>
                </a:lvl1pPr>
              </a:lstStyle>
              <a:p>
                <a:pPr/>
                <a:r>
                  <a:t>2</a:t>
                </a:r>
              </a:p>
            </p:txBody>
          </p:sp>
        </p:grpSp>
      </p:grpSp>
      <p:sp>
        <p:nvSpPr>
          <p:cNvPr id="1280" name="Shape 1012"/>
          <p:cNvSpPr txBox="1"/>
          <p:nvPr>
            <p:ph type="title"/>
          </p:nvPr>
        </p:nvSpPr>
        <p:spPr>
          <a:xfrm>
            <a:off x="1611488" y="125588"/>
            <a:ext cx="9448801" cy="952501"/>
          </a:xfrm>
          <a:prstGeom prst="rect">
            <a:avLst/>
          </a:prstGeom>
        </p:spPr>
        <p:txBody>
          <a:bodyPr/>
          <a:lstStyle/>
          <a:p>
            <a:pPr/>
            <a:r>
              <a:t>性能分析</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5" presetID="3" grpId="1" fill="hold">
                                  <p:stCondLst>
                                    <p:cond delay="0"/>
                                  </p:stCondLst>
                                  <p:iterate type="el" backwards="0">
                                    <p:tmAbs val="0"/>
                                  </p:iterate>
                                  <p:childTnLst>
                                    <p:set>
                                      <p:cBhvr>
                                        <p:cTn id="6" fill="hold"/>
                                        <p:tgtEl>
                                          <p:spTgt spid="1236"/>
                                        </p:tgtEl>
                                        <p:attrNameLst>
                                          <p:attrName>style.visibility</p:attrName>
                                        </p:attrNameLst>
                                      </p:cBhvr>
                                      <p:to>
                                        <p:strVal val="visible"/>
                                      </p:to>
                                    </p:set>
                                    <p:animEffect filter="blinds(vertical)" transition="in">
                                      <p:cBhvr>
                                        <p:cTn id="7" dur="500"/>
                                        <p:tgtEl>
                                          <p:spTgt spid="123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259"/>
                                        </p:tgtEl>
                                        <p:attrNameLst>
                                          <p:attrName>style.visibility</p:attrName>
                                        </p:attrNameLst>
                                      </p:cBhvr>
                                      <p:to>
                                        <p:strVal val="visible"/>
                                      </p:to>
                                    </p:set>
                                    <p:animEffect filter="fade" transition="in">
                                      <p:cBhvr>
                                        <p:cTn id="12" dur="1500"/>
                                        <p:tgtEl>
                                          <p:spTgt spid="125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1237"/>
                                        </p:tgtEl>
                                        <p:attrNameLst>
                                          <p:attrName>style.visibility</p:attrName>
                                        </p:attrNameLst>
                                      </p:cBhvr>
                                      <p:to>
                                        <p:strVal val="visible"/>
                                      </p:to>
                                    </p:set>
                                    <p:animEffect filter="wipe(left)" transition="in">
                                      <p:cBhvr>
                                        <p:cTn id="17" dur="300"/>
                                        <p:tgtEl>
                                          <p:spTgt spid="123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5" presetID="3" grpId="4" fill="hold">
                                  <p:stCondLst>
                                    <p:cond delay="0"/>
                                  </p:stCondLst>
                                  <p:iterate type="el" backwards="0">
                                    <p:tmAbs val="0"/>
                                  </p:iterate>
                                  <p:childTnLst>
                                    <p:set>
                                      <p:cBhvr>
                                        <p:cTn id="21" fill="hold"/>
                                        <p:tgtEl>
                                          <p:spTgt spid="1235"/>
                                        </p:tgtEl>
                                        <p:attrNameLst>
                                          <p:attrName>style.visibility</p:attrName>
                                        </p:attrNameLst>
                                      </p:cBhvr>
                                      <p:to>
                                        <p:strVal val="visible"/>
                                      </p:to>
                                    </p:set>
                                    <p:animEffect filter="blinds(vertical)" transition="in">
                                      <p:cBhvr>
                                        <p:cTn id="22" dur="500"/>
                                        <p:tgtEl>
                                          <p:spTgt spid="123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1279"/>
                                        </p:tgtEl>
                                        <p:attrNameLst>
                                          <p:attrName>style.visibility</p:attrName>
                                        </p:attrNameLst>
                                      </p:cBhvr>
                                      <p:to>
                                        <p:strVal val="visible"/>
                                      </p:to>
                                    </p:set>
                                    <p:animEffect filter="fade" transition="in">
                                      <p:cBhvr>
                                        <p:cTn id="27" dur="1500"/>
                                        <p:tgtEl>
                                          <p:spTgt spid="1279"/>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1238"/>
                                        </p:tgtEl>
                                        <p:attrNameLst>
                                          <p:attrName>style.visibility</p:attrName>
                                        </p:attrNameLst>
                                      </p:cBhvr>
                                      <p:to>
                                        <p:strVal val="visible"/>
                                      </p:to>
                                    </p:set>
                                    <p:animEffect filter="wipe(left)" transition="in">
                                      <p:cBhvr>
                                        <p:cTn id="32" dur="300"/>
                                        <p:tgtEl>
                                          <p:spTgt spid="1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35" grpId="4"/>
      <p:bldP build="whole" bldLvl="1" animBg="1" rev="0" advAuto="0" spid="1237" grpId="3"/>
      <p:bldP build="whole" bldLvl="1" animBg="1" rev="0" advAuto="0" spid="1279" grpId="5"/>
      <p:bldP build="whole" bldLvl="1" animBg="1" rev="0" advAuto="0" spid="1259" grpId="2"/>
      <p:bldP build="whole" bldLvl="1" animBg="1" rev="0" advAuto="0" spid="1238" grpId="6"/>
      <p:bldP build="whole" bldLvl="1" animBg="1" rev="0" advAuto="0" spid="1236" grpId="1"/>
    </p:bld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2" name="Shape 1014"/>
          <p:cNvSpPr txBox="1"/>
          <p:nvPr/>
        </p:nvSpPr>
        <p:spPr>
          <a:xfrm>
            <a:off x="800100" y="1412192"/>
            <a:ext cx="11404600" cy="2443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30000"/>
              </a:lnSpc>
              <a:spcBef>
                <a:spcPts val="1900"/>
              </a:spcBef>
              <a:defRPr sz="2800">
                <a:uFill>
                  <a:solidFill>
                    <a:srgbClr val="000000"/>
                  </a:solidFill>
                </a:uFill>
              </a:defRPr>
            </a:pPr>
            <a:r>
              <a:t>因而，含有n个结点的二叉搜索树的ASL和树的形态有关：</a:t>
            </a:r>
          </a:p>
          <a:p>
            <a:pPr marR="57798" defTabSz="1295400">
              <a:lnSpc>
                <a:spcPct val="130000"/>
              </a:lnSpc>
              <a:spcBef>
                <a:spcPts val="1900"/>
              </a:spcBef>
              <a:defRPr sz="2800">
                <a:uFill>
                  <a:solidFill>
                    <a:srgbClr val="000000"/>
                  </a:solidFill>
                </a:uFill>
              </a:defRPr>
            </a:pPr>
            <a:r>
              <a:t>从（a）图知，其已蜕变成单分支树，ASL=(N+1)/2 与顺序查找相同。</a:t>
            </a:r>
          </a:p>
          <a:p>
            <a:pPr marR="57798" defTabSz="1295400">
              <a:lnSpc>
                <a:spcPct val="130000"/>
              </a:lnSpc>
              <a:spcBef>
                <a:spcPts val="1900"/>
              </a:spcBef>
              <a:defRPr sz="2800">
                <a:uFill>
                  <a:solidFill>
                    <a:srgbClr val="000000"/>
                  </a:solidFill>
                </a:uFill>
              </a:defRPr>
            </a:pPr>
            <a:r>
              <a:t>只有二叉搜索树为平衡树时，其ASL为O(logn)</a:t>
            </a:r>
          </a:p>
        </p:txBody>
      </p:sp>
      <p:sp>
        <p:nvSpPr>
          <p:cNvPr id="1283" name="Shape 1015"/>
          <p:cNvSpPr txBox="1"/>
          <p:nvPr>
            <p:ph type="title"/>
          </p:nvPr>
        </p:nvSpPr>
        <p:spPr>
          <a:xfrm>
            <a:off x="1611488" y="125588"/>
            <a:ext cx="9448801" cy="952501"/>
          </a:xfrm>
          <a:prstGeom prst="rect">
            <a:avLst/>
          </a:prstGeom>
        </p:spPr>
        <p:txBody>
          <a:bodyPr/>
          <a:lstStyle/>
          <a:p>
            <a:pPr/>
            <a:r>
              <a:t>性能分析</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5" name="Shape 1017"/>
          <p:cNvSpPr txBox="1"/>
          <p:nvPr/>
        </p:nvSpPr>
        <p:spPr>
          <a:xfrm>
            <a:off x="473285" y="1529079"/>
            <a:ext cx="12280903" cy="44800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30000"/>
              </a:lnSpc>
              <a:spcBef>
                <a:spcPts val="1900"/>
              </a:spcBef>
              <a:defRPr sz="2800">
                <a:uFill>
                  <a:solidFill>
                    <a:srgbClr val="000000"/>
                  </a:solidFill>
                </a:uFill>
              </a:defRPr>
            </a:pPr>
            <a:r>
              <a:t>输入一个整数序列（53，17，12，66，58，70，87，25，56，60），试完成以下各题：</a:t>
            </a:r>
          </a:p>
          <a:p>
            <a:pPr lvl="2" marR="57798" indent="743598" defTabSz="1295400">
              <a:spcBef>
                <a:spcPts val="1900"/>
              </a:spcBef>
              <a:defRPr sz="2800">
                <a:uFill>
                  <a:solidFill>
                    <a:srgbClr val="000000"/>
                  </a:solidFill>
                </a:uFill>
              </a:defRPr>
            </a:pPr>
            <a:r>
              <a:t>（1）按次序构造一棵二叉搜索树</a:t>
            </a:r>
          </a:p>
          <a:p>
            <a:pPr lvl="2" marR="57798" indent="743598" defTabSz="1295400">
              <a:spcBef>
                <a:spcPts val="1900"/>
              </a:spcBef>
              <a:defRPr sz="2800">
                <a:uFill>
                  <a:solidFill>
                    <a:srgbClr val="000000"/>
                  </a:solidFill>
                </a:uFill>
              </a:defRPr>
            </a:pPr>
            <a:r>
              <a:t>（2）计算该二叉搜索树的平均查找成功长度</a:t>
            </a:r>
          </a:p>
          <a:p>
            <a:pPr lvl="2" marR="57798" indent="743598" defTabSz="1295400">
              <a:spcBef>
                <a:spcPts val="1900"/>
              </a:spcBef>
              <a:defRPr sz="2800">
                <a:uFill>
                  <a:solidFill>
                    <a:srgbClr val="000000"/>
                  </a:solidFill>
                </a:uFill>
              </a:defRPr>
            </a:pPr>
            <a:r>
              <a:t>（3）依此二叉搜索树，如何得到一个从大到小的有序序列</a:t>
            </a:r>
          </a:p>
          <a:p>
            <a:pPr lvl="2" marR="57798" indent="743598" defTabSz="1295400">
              <a:spcBef>
                <a:spcPts val="1900"/>
              </a:spcBef>
              <a:defRPr sz="2800">
                <a:uFill>
                  <a:solidFill>
                    <a:srgbClr val="000000"/>
                  </a:solidFill>
                </a:uFill>
              </a:defRPr>
            </a:pPr>
            <a:r>
              <a:t>（4）画出删除66后的二叉搜索树</a:t>
            </a:r>
          </a:p>
        </p:txBody>
      </p:sp>
      <p:sp>
        <p:nvSpPr>
          <p:cNvPr id="1286" name="Shape 1018"/>
          <p:cNvSpPr txBox="1"/>
          <p:nvPr>
            <p:ph type="title"/>
          </p:nvPr>
        </p:nvSpPr>
        <p:spPr>
          <a:xfrm>
            <a:off x="1611488" y="125588"/>
            <a:ext cx="9448801" cy="952501"/>
          </a:xfrm>
          <a:prstGeom prst="rect">
            <a:avLst/>
          </a:prstGeom>
        </p:spPr>
        <p:txBody>
          <a:bodyPr/>
          <a:lstStyle/>
          <a:p>
            <a:pPr/>
            <a:r>
              <a:t>课堂练习</a:t>
            </a:r>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8" name="Shape 494"/>
          <p:cNvSpPr txBox="1"/>
          <p:nvPr/>
        </p:nvSpPr>
        <p:spPr>
          <a:xfrm>
            <a:off x="251458" y="1450621"/>
            <a:ext cx="12616312" cy="500043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R="57798" defTabSz="1295400">
              <a:lnSpc>
                <a:spcPct val="130000"/>
              </a:lnSpc>
              <a:spcBef>
                <a:spcPts val="1900"/>
              </a:spcBef>
              <a:defRPr sz="2700">
                <a:uFill>
                  <a:solidFill>
                    <a:srgbClr val="000000"/>
                  </a:solidFill>
                </a:uFill>
              </a:defRPr>
            </a:pPr>
            <a:r>
              <a:t>1）一个无序序列通过构造二叉搜索树可以变成一个有序序列。</a:t>
            </a:r>
          </a:p>
          <a:p>
            <a:pPr marR="57798" defTabSz="1295400">
              <a:lnSpc>
                <a:spcPct val="130000"/>
              </a:lnSpc>
              <a:spcBef>
                <a:spcPts val="1900"/>
              </a:spcBef>
              <a:defRPr sz="2700">
                <a:uFill>
                  <a:solidFill>
                    <a:srgbClr val="000000"/>
                  </a:solidFill>
                </a:uFill>
              </a:defRPr>
            </a:pPr>
            <a:r>
              <a:t>2）中序遍历一棵二叉搜索树可得到一个关键字的有序序列。</a:t>
            </a:r>
          </a:p>
          <a:p>
            <a:pPr marR="57798" defTabSz="1295400">
              <a:lnSpc>
                <a:spcPct val="130000"/>
              </a:lnSpc>
              <a:spcBef>
                <a:spcPts val="1900"/>
              </a:spcBef>
              <a:defRPr sz="2700">
                <a:uFill>
                  <a:solidFill>
                    <a:srgbClr val="000000"/>
                  </a:solidFill>
                </a:uFill>
              </a:defRPr>
            </a:pPr>
            <a:r>
              <a:t>3）查找是所有操作的基础，时间复杂度O(logn)。</a:t>
            </a:r>
          </a:p>
          <a:p>
            <a:pPr marR="57798" defTabSz="1295400">
              <a:lnSpc>
                <a:spcPct val="130000"/>
              </a:lnSpc>
              <a:spcBef>
                <a:spcPts val="1900"/>
              </a:spcBef>
              <a:defRPr sz="2700">
                <a:uFill>
                  <a:solidFill>
                    <a:srgbClr val="000000"/>
                  </a:solidFill>
                </a:uFill>
              </a:defRPr>
            </a:pPr>
            <a:r>
              <a:t>4）每次插入的新结点都是树的新的叶子结点，O(logn)。</a:t>
            </a:r>
          </a:p>
          <a:p>
            <a:pPr marR="57798" defTabSz="1295400">
              <a:lnSpc>
                <a:spcPct val="130000"/>
              </a:lnSpc>
              <a:spcBef>
                <a:spcPts val="1900"/>
              </a:spcBef>
              <a:defRPr sz="2700">
                <a:uFill>
                  <a:solidFill>
                    <a:srgbClr val="000000"/>
                  </a:solidFill>
                </a:uFill>
              </a:defRPr>
            </a:pPr>
            <a:r>
              <a:t>5）删除操作的难点是待删除结点既有左孩子又有右孩子，O(logn)。</a:t>
            </a:r>
          </a:p>
          <a:p>
            <a:pPr marR="57798" defTabSz="1295400">
              <a:lnSpc>
                <a:spcPct val="130000"/>
              </a:lnSpc>
              <a:spcBef>
                <a:spcPts val="1900"/>
              </a:spcBef>
              <a:defRPr sz="2700">
                <a:uFill>
                  <a:solidFill>
                    <a:srgbClr val="000000"/>
                  </a:solidFill>
                </a:uFill>
              </a:defRPr>
            </a:pPr>
            <a:r>
              <a:t>6）二叉搜索树是一种结合了折半查找和链式存储结构优点的动态查找表。</a:t>
            </a:r>
          </a:p>
        </p:txBody>
      </p:sp>
      <p:sp>
        <p:nvSpPr>
          <p:cNvPr id="1289" name="Shape 495"/>
          <p:cNvSpPr txBox="1"/>
          <p:nvPr>
            <p:ph type="title"/>
          </p:nvPr>
        </p:nvSpPr>
        <p:spPr>
          <a:xfrm>
            <a:off x="1611488" y="125588"/>
            <a:ext cx="9448801" cy="952501"/>
          </a:xfrm>
          <a:prstGeom prst="rect">
            <a:avLst/>
          </a:prstGeom>
        </p:spPr>
        <p:txBody>
          <a:bodyPr/>
          <a:lstStyle/>
          <a:p>
            <a:pPr/>
            <a:r>
              <a:t>总结</a:t>
            </a:r>
          </a:p>
        </p:txBody>
      </p:sp>
      <p:sp>
        <p:nvSpPr>
          <p:cNvPr id="1290" name="类库中的TreeMap就是二叉搜索树(红黑树-平衡)，使用三叉链表存储数据。"/>
          <p:cNvSpPr txBox="1"/>
          <p:nvPr/>
        </p:nvSpPr>
        <p:spPr>
          <a:xfrm>
            <a:off x="282250" y="6768271"/>
            <a:ext cx="12603527" cy="635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类库中的TreeMap就是二叉搜索树(红黑树-平衡)，使用三叉链表存储数据。</a:t>
            </a:r>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2" name="Shape 1020"/>
          <p:cNvSpPr txBox="1"/>
          <p:nvPr>
            <p:ph type="title"/>
          </p:nvPr>
        </p:nvSpPr>
        <p:spPr>
          <a:xfrm>
            <a:off x="1611488" y="125588"/>
            <a:ext cx="9448801" cy="952501"/>
          </a:xfrm>
          <a:prstGeom prst="rect">
            <a:avLst/>
          </a:prstGeom>
        </p:spPr>
        <p:txBody>
          <a:bodyPr/>
          <a:lstStyle/>
          <a:p>
            <a:pPr/>
            <a:r>
              <a:t> </a:t>
            </a:r>
          </a:p>
        </p:txBody>
      </p:sp>
      <p:sp>
        <p:nvSpPr>
          <p:cNvPr id="1293" name="Shape 1021"/>
          <p:cNvSpPr txBox="1"/>
          <p:nvPr/>
        </p:nvSpPr>
        <p:spPr>
          <a:xfrm>
            <a:off x="784746" y="1516996"/>
            <a:ext cx="8834513" cy="180618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spAutoFit/>
          </a:bodyPr>
          <a:lstStyle/>
          <a:p>
            <a:pPr>
              <a:lnSpc>
                <a:spcPct val="120000"/>
              </a:lnSpc>
            </a:pPr>
            <a:r>
              <a:t>为类BinarySearchTree 增加方法:</a:t>
            </a:r>
          </a:p>
          <a:p>
            <a:pPr indent="0">
              <a:lnSpc>
                <a:spcPct val="120000"/>
              </a:lnSpc>
            </a:pPr>
            <a:r>
              <a:rPr>
                <a:solidFill>
                  <a:srgbClr val="7F0055"/>
                </a:solidFill>
              </a:rPr>
              <a:t>public</a:t>
            </a:r>
            <a:r>
              <a:t> K[] keysToArray(K[] </a:t>
            </a:r>
            <a:r>
              <a:rPr>
                <a:solidFill>
                  <a:srgbClr val="6A3E3E"/>
                </a:solidFill>
              </a:rPr>
              <a:t>a</a:t>
            </a:r>
            <a:r>
              <a:t>) </a:t>
            </a:r>
          </a:p>
          <a:p>
            <a:pPr indent="0">
              <a:lnSpc>
                <a:spcPct val="120000"/>
              </a:lnSpc>
            </a:pPr>
            <a:r>
              <a:t>将二叉搜索树的key按照从大到小的次序存放到数组a</a:t>
            </a:r>
          </a:p>
        </p:txBody>
      </p:sp>
      <p:sp>
        <p:nvSpPr>
          <p:cNvPr id="1294" name="作业"/>
          <p:cNvSpPr txBox="1"/>
          <p:nvPr/>
        </p:nvSpPr>
        <p:spPr>
          <a:xfrm>
            <a:off x="1598788" y="138288"/>
            <a:ext cx="9398001" cy="1003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marR="57798" algn="ctr" defTabSz="1295400">
              <a:defRPr sz="4800">
                <a:uFill>
                  <a:solidFill>
                    <a:srgbClr val="000000"/>
                  </a:solidFill>
                </a:uFill>
                <a:latin typeface="Arial Black"/>
                <a:ea typeface="Arial Black"/>
                <a:cs typeface="Arial Black"/>
                <a:sym typeface="Arial Black"/>
              </a:defRPr>
            </a:lvl1pPr>
          </a:lstStyle>
          <a:p>
            <a:pPr/>
            <a:r>
              <a:t>作业</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95CC4"/>
      </a:accent1>
      <a:accent2>
        <a:srgbClr val="1B8518"/>
      </a:accent2>
      <a:accent3>
        <a:srgbClr val="D3B21C"/>
      </a:accent3>
      <a:accent4>
        <a:srgbClr val="D45510"/>
      </a:accent4>
      <a:accent5>
        <a:srgbClr val="BA120A"/>
      </a:accent5>
      <a:accent6>
        <a:srgbClr val="62298A"/>
      </a:accent6>
      <a:hlink>
        <a:srgbClr val="0000FF"/>
      </a:hlink>
      <a:folHlink>
        <a:srgbClr val="FF00FF"/>
      </a:folHlink>
    </a:clrScheme>
    <a:fontScheme name="White">
      <a:majorFont>
        <a:latin typeface="Avenir Roman"/>
        <a:ea typeface="Avenir Roman"/>
        <a:cs typeface="Avenir Roman"/>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57798" indent="57798" algn="l" defTabSz="1295400" rtl="0" fontAlgn="auto" latinLnBrk="0" hangingPunct="0">
          <a:lnSpc>
            <a:spcPct val="100000"/>
          </a:lnSpc>
          <a:spcBef>
            <a:spcPts val="1900"/>
          </a:spcBef>
          <a:spcAft>
            <a:spcPts val="0"/>
          </a:spcAft>
          <a:buClrTx/>
          <a:buSzTx/>
          <a:buFontTx/>
          <a:buNone/>
          <a:tabLst/>
          <a:defRPr b="0" baseline="0" cap="none" i="0" spc="0" strike="noStrike" sz="2400" u="none" kumimoji="0" normalizeH="0">
            <a:ln>
              <a:noFill/>
            </a:ln>
            <a:solidFill>
              <a:srgbClr val="000000"/>
            </a:solidFill>
            <a:effectLst/>
            <a:uFill>
              <a:solidFill>
                <a:srgbClr val="000000"/>
              </a:solidFill>
            </a:uFill>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95CC4"/>
      </a:accent1>
      <a:accent2>
        <a:srgbClr val="1B8518"/>
      </a:accent2>
      <a:accent3>
        <a:srgbClr val="D3B21C"/>
      </a:accent3>
      <a:accent4>
        <a:srgbClr val="D45510"/>
      </a:accent4>
      <a:accent5>
        <a:srgbClr val="BA120A"/>
      </a:accent5>
      <a:accent6>
        <a:srgbClr val="62298A"/>
      </a:accent6>
      <a:hlink>
        <a:srgbClr val="0000FF"/>
      </a:hlink>
      <a:folHlink>
        <a:srgbClr val="FF00FF"/>
      </a:folHlink>
    </a:clrScheme>
    <a:fontScheme name="White">
      <a:majorFont>
        <a:latin typeface="Avenir Roman"/>
        <a:ea typeface="Avenir Roman"/>
        <a:cs typeface="Avenir Roman"/>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57798" indent="57798" algn="l" defTabSz="1295400" rtl="0" fontAlgn="auto" latinLnBrk="0" hangingPunct="0">
          <a:lnSpc>
            <a:spcPct val="100000"/>
          </a:lnSpc>
          <a:spcBef>
            <a:spcPts val="1900"/>
          </a:spcBef>
          <a:spcAft>
            <a:spcPts val="0"/>
          </a:spcAft>
          <a:buClrTx/>
          <a:buSzTx/>
          <a:buFontTx/>
          <a:buNone/>
          <a:tabLst/>
          <a:defRPr b="0" baseline="0" cap="none" i="0" spc="0" strike="noStrike" sz="2400" u="none" kumimoji="0" normalizeH="0">
            <a:ln>
              <a:noFill/>
            </a:ln>
            <a:solidFill>
              <a:srgbClr val="000000"/>
            </a:solidFill>
            <a:effectLst/>
            <a:uFill>
              <a:solidFill>
                <a:srgbClr val="000000"/>
              </a:solidFill>
            </a:uFill>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57798" algn="l" defTabSz="457200" rtl="0" fontAlgn="auto" latinLnBrk="0" hangingPunct="0">
          <a:lnSpc>
            <a:spcPct val="100000"/>
          </a:lnSpc>
          <a:spcBef>
            <a:spcPts val="0"/>
          </a:spcBef>
          <a:spcAft>
            <a:spcPts val="0"/>
          </a:spcAft>
          <a:buClrTx/>
          <a:buSzTx/>
          <a:buFontTx/>
          <a:buNone/>
          <a:tabLst/>
          <a:defRPr b="0" baseline="0" cap="none" i="0" spc="0" strike="noStrike" sz="3000" u="none" kumimoji="0" normalizeH="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