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comments/comment1.xml" ContentType="application/vnd.openxmlformats-officedocument.presentationml.comment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comments/comment2.xml" ContentType="application/vnd.openxmlformats-officedocument.presentationml.comment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comments/comment3.xml" ContentType="application/vnd.openxmlformats-officedocument.presentationml.comments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comments/comment4.xml" ContentType="application/vnd.openxmlformats-officedocument.presentationml.comment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comments/comment5.xml" ContentType="application/vnd.openxmlformats-officedocument.presentationml.comments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10"/>
    <p:sldId id="258" r:id="rId11"/>
    <p:sldId id="259" r:id="rId13"/>
    <p:sldId id="260" r:id="rId14"/>
    <p:sldId id="261" r:id="rId16"/>
    <p:sldId id="262" r:id="rId17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7"/>
    <p:sldId id="281" r:id="rId38"/>
    <p:sldId id="282" r:id="rId39"/>
    <p:sldId id="283" r:id="rId40"/>
    <p:sldId id="284" r:id="rId41"/>
    <p:sldId id="285" r:id="rId42"/>
    <p:sldId id="286" r:id="rId43"/>
    <p:sldId id="287" r:id="rId44"/>
    <p:sldId id="288" r:id="rId45"/>
    <p:sldId id="289" r:id="rId46"/>
    <p:sldId id="290" r:id="rId47"/>
    <p:sldId id="291" r:id="rId48"/>
    <p:sldId id="292" r:id="rId49"/>
    <p:sldId id="293" r:id="rId50"/>
    <p:sldId id="294" r:id="rId51"/>
    <p:sldId id="295" r:id="rId52"/>
    <p:sldId id="296" r:id="rId53"/>
    <p:sldId id="297" r:id="rId54"/>
    <p:sldId id="298" r:id="rId55"/>
    <p:sldId id="299" r:id="rId56"/>
    <p:sldId id="300" r:id="rId57"/>
    <p:sldId id="301" r:id="rId58"/>
    <p:sldId id="302" r:id="rId59"/>
    <p:sldId id="303" r:id="rId60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57798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1pPr>
    <a:lvl2pPr marL="0" marR="0" indent="57798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2pPr>
    <a:lvl3pPr marL="0" marR="0" indent="57798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3pPr>
    <a:lvl4pPr marL="0" marR="0" indent="57798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4pPr>
    <a:lvl5pPr marL="0" marR="0" indent="57798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5pPr>
    <a:lvl6pPr marL="0" marR="0" indent="57798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6pPr>
    <a:lvl7pPr marL="0" marR="0" indent="57798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7pPr>
    <a:lvl8pPr marL="0" marR="0" indent="57798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8pPr>
    <a:lvl9pPr marL="0" marR="0" indent="57798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Author id="0" name="李盛恩" initials="李" lastIdx="5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B8BBBD">
              <a:alpha val="30000"/>
            </a:srgbClr>
          </a:solidFill>
        </a:fill>
      </a:tcStyle>
    </a:band2H>
    <a:firstCol>
      <a:tcTxStyle b="off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28575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000000">
              <a:alpha val="25000"/>
            </a:srgbClr>
          </a:solidFill>
        </a:fill>
      </a:tcStyle>
    </a:firstCol>
    <a:lastRow>
      <a:tcTxStyle b="off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28575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000000">
              <a:alpha val="25000"/>
            </a:srgbClr>
          </a:solidFill>
        </a:fill>
      </a:tcStyle>
    </a:lastRow>
    <a:firstRow>
      <a:tcTxStyle b="off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8575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000000">
              <a:alpha val="25000"/>
            </a:srgbClr>
          </a:solidFill>
        </a:fill>
      </a:tcStyle>
    </a:firstRow>
  </a:tblStyle>
  <a:tblStyle styleId="{C7B018BB-80A7-4F77-B60F-C8B233D01FF8}" styleName="">
    <a:tblBg/>
    <a:wholeTbl>
      <a:tcTxStyle b="on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2E8"/>
          </a:solidFill>
        </a:fill>
      </a:tcStyle>
    </a:wholeTbl>
    <a:band2H>
      <a:tcTxStyle b="def" i="def"/>
      <a:tcStyle>
        <a:tcBdr/>
        <a:fill>
          <a:solidFill>
            <a:srgbClr val="E6EAF4"/>
          </a:solidFill>
        </a:fill>
      </a:tcStyle>
    </a:band2H>
    <a:firstCol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n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2E7CB"/>
          </a:solidFill>
        </a:fill>
      </a:tcStyle>
    </a:wholeTbl>
    <a:band2H>
      <a:tcTxStyle b="def" i="def"/>
      <a:tcStyle>
        <a:tcBdr/>
        <a:fill>
          <a:solidFill>
            <a:srgbClr val="F8F4E7"/>
          </a:solidFill>
        </a:fill>
      </a:tcStyle>
    </a:band2H>
    <a:firstCol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n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5CDDE"/>
          </a:solidFill>
        </a:fill>
      </a:tcStyle>
    </a:wholeTbl>
    <a:band2H>
      <a:tcTxStyle b="def" i="def"/>
      <a:tcStyle>
        <a:tcBdr/>
        <a:fill>
          <a:solidFill>
            <a:srgbClr val="EBE8EF"/>
          </a:solidFill>
        </a:fill>
      </a:tcStyle>
    </a:band2H>
    <a:firstCol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n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n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comments" Target="comments/comment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comments" Target="comments/comment2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comments" Target="comments/comment3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comments" Target="comments/comment4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comments" Target="comments/comment5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slide" Target="slides/slide27.xml"/><Relationship Id="rId40" Type="http://schemas.openxmlformats.org/officeDocument/2006/relationships/slide" Target="slides/slide28.xml"/><Relationship Id="rId41" Type="http://schemas.openxmlformats.org/officeDocument/2006/relationships/slide" Target="slides/slide29.xml"/><Relationship Id="rId42" Type="http://schemas.openxmlformats.org/officeDocument/2006/relationships/slide" Target="slides/slide30.xml"/><Relationship Id="rId43" Type="http://schemas.openxmlformats.org/officeDocument/2006/relationships/slide" Target="slides/slide31.xml"/><Relationship Id="rId44" Type="http://schemas.openxmlformats.org/officeDocument/2006/relationships/slide" Target="slides/slide32.xml"/><Relationship Id="rId45" Type="http://schemas.openxmlformats.org/officeDocument/2006/relationships/slide" Target="slides/slide33.xml"/><Relationship Id="rId46" Type="http://schemas.openxmlformats.org/officeDocument/2006/relationships/slide" Target="slides/slide34.xml"/><Relationship Id="rId47" Type="http://schemas.openxmlformats.org/officeDocument/2006/relationships/slide" Target="slides/slide35.xml"/><Relationship Id="rId48" Type="http://schemas.openxmlformats.org/officeDocument/2006/relationships/slide" Target="slides/slide36.xml"/><Relationship Id="rId49" Type="http://schemas.openxmlformats.org/officeDocument/2006/relationships/slide" Target="slides/slide37.xml"/><Relationship Id="rId50" Type="http://schemas.openxmlformats.org/officeDocument/2006/relationships/slide" Target="slides/slide38.xml"/><Relationship Id="rId51" Type="http://schemas.openxmlformats.org/officeDocument/2006/relationships/slide" Target="slides/slide39.xml"/><Relationship Id="rId52" Type="http://schemas.openxmlformats.org/officeDocument/2006/relationships/slide" Target="slides/slide40.xml"/><Relationship Id="rId53" Type="http://schemas.openxmlformats.org/officeDocument/2006/relationships/slide" Target="slides/slide41.xml"/><Relationship Id="rId54" Type="http://schemas.openxmlformats.org/officeDocument/2006/relationships/slide" Target="slides/slide42.xml"/><Relationship Id="rId55" Type="http://schemas.openxmlformats.org/officeDocument/2006/relationships/slide" Target="slides/slide43.xml"/><Relationship Id="rId56" Type="http://schemas.openxmlformats.org/officeDocument/2006/relationships/slide" Target="slides/slide44.xml"/><Relationship Id="rId57" Type="http://schemas.openxmlformats.org/officeDocument/2006/relationships/slide" Target="slides/slide45.xml"/><Relationship Id="rId58" Type="http://schemas.openxmlformats.org/officeDocument/2006/relationships/slide" Target="slides/slide46.xml"/><Relationship Id="rId59" Type="http://schemas.openxmlformats.org/officeDocument/2006/relationships/slide" Target="slides/slide47.xml"/><Relationship Id="rId60" Type="http://schemas.openxmlformats.org/officeDocument/2006/relationships/slide" Target="slides/slide48.xml"/></Relationships>
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 authorId="0" dt="2021-12-02T11:31:41.314" idx="1">
    <p:pos x="4387" y="4455"/>
    <p:text>注意：有回路的情况
图引自Cormen的算法分析，并将数字编号改成了字母
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 authorId="0" dt="2021-12-06T08:18:52.796" idx="2">
    <p:pos x="2682" y="4171"/>
    <p:text>DAG算法还可以用于求关键路径。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 authorId="0" dt="2020-05-15T07:44:21.135" idx="3">
    <p:pos x="2979" y="4587"/>
    <p:text>可以给出数学证明，直觉是对的。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 authorId="0" dt="2021-12-02T09:51:26.589" idx="4">
    <p:pos x="4192" y="3740"/>
    <p:text>这个图例来自严蔚敏老师的书，我改了编号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 authorId="0" dt="2020-05-14T16:15:44.577" idx="5">
    <p:pos x="570" y="3297"/>
    <p:text>f(1)、f(2)、f(3)、f(4)是问题f(5)的子问题
而是有些是重复出现</p:text>
    <p:extLst>
      <p:ext uri="{C676402C-5697-4E1C-873F-D02D1690AC5C}">
        <p15:threadingInfo xmlns:p15="http://schemas.microsoft.com/office/powerpoint/2012/main" timeZoneBias="-480"/>
      </p:ext>
    </p:extLst>
  </p:cm>
</p:cmLst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2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8" name="Shape 2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400">
        <a:latin typeface="+mn-lt"/>
        <a:ea typeface="+mn-ea"/>
        <a:cs typeface="+mn-cs"/>
        <a:sym typeface="Lucida Grande"/>
      </a:defRPr>
    </a:lvl1pPr>
    <a:lvl2pPr indent="228600" defTabSz="457200" latinLnBrk="0">
      <a:defRPr sz="1400">
        <a:latin typeface="+mn-lt"/>
        <a:ea typeface="+mn-ea"/>
        <a:cs typeface="+mn-cs"/>
        <a:sym typeface="Lucida Grande"/>
      </a:defRPr>
    </a:lvl2pPr>
    <a:lvl3pPr indent="457200" defTabSz="457200" latinLnBrk="0">
      <a:defRPr sz="1400">
        <a:latin typeface="+mn-lt"/>
        <a:ea typeface="+mn-ea"/>
        <a:cs typeface="+mn-cs"/>
        <a:sym typeface="Lucida Grande"/>
      </a:defRPr>
    </a:lvl3pPr>
    <a:lvl4pPr indent="685800" defTabSz="457200" latinLnBrk="0">
      <a:defRPr sz="1400">
        <a:latin typeface="+mn-lt"/>
        <a:ea typeface="+mn-ea"/>
        <a:cs typeface="+mn-cs"/>
        <a:sym typeface="Lucida Grande"/>
      </a:defRPr>
    </a:lvl4pPr>
    <a:lvl5pPr indent="914400" defTabSz="457200" latinLnBrk="0">
      <a:defRPr sz="1400">
        <a:latin typeface="+mn-lt"/>
        <a:ea typeface="+mn-ea"/>
        <a:cs typeface="+mn-cs"/>
        <a:sym typeface="Lucida Grande"/>
      </a:defRPr>
    </a:lvl5pPr>
    <a:lvl6pPr indent="1143000" defTabSz="457200" latinLnBrk="0">
      <a:defRPr sz="1400">
        <a:latin typeface="+mn-lt"/>
        <a:ea typeface="+mn-ea"/>
        <a:cs typeface="+mn-cs"/>
        <a:sym typeface="Lucida Grande"/>
      </a:defRPr>
    </a:lvl6pPr>
    <a:lvl7pPr indent="1371600" defTabSz="457200" latinLnBrk="0">
      <a:defRPr sz="1400">
        <a:latin typeface="+mn-lt"/>
        <a:ea typeface="+mn-ea"/>
        <a:cs typeface="+mn-cs"/>
        <a:sym typeface="Lucida Grande"/>
      </a:defRPr>
    </a:lvl7pPr>
    <a:lvl8pPr indent="1600200" defTabSz="457200" latinLnBrk="0">
      <a:defRPr sz="1400">
        <a:latin typeface="+mn-lt"/>
        <a:ea typeface="+mn-ea"/>
        <a:cs typeface="+mn-cs"/>
        <a:sym typeface="Lucida Grande"/>
      </a:defRPr>
    </a:lvl8pPr>
    <a:lvl9pPr indent="1828800" defTabSz="457200" latinLnBrk="0">
      <a:defRPr sz="1400">
        <a:latin typeface="+mn-lt"/>
        <a:ea typeface="+mn-ea"/>
        <a:cs typeface="+mn-cs"/>
        <a:sym typeface="Lucida Grand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1_Blen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文本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2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1143000" y="320604"/>
            <a:ext cx="467360" cy="675078"/>
          </a:xfrm>
          <a:prstGeom prst="rect">
            <a:avLst/>
          </a:prstGeom>
          <a:gradFill>
            <a:gsLst>
              <a:gs pos="0">
                <a:srgbClr val="F81F08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800">
                <a:solidFill>
                  <a:schemeClr val="accent1">
                    <a:satOff val="-36923"/>
                    <a:lumOff val="15441"/>
                  </a:schemeClr>
                </a:solidFill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7" name="Group 7"/>
          <p:cNvGrpSpPr/>
          <p:nvPr/>
        </p:nvGrpSpPr>
        <p:grpSpPr>
          <a:xfrm>
            <a:off x="165099" y="320603"/>
            <a:ext cx="1435101" cy="1041403"/>
            <a:chOff x="0" y="0"/>
            <a:chExt cx="1435099" cy="1041401"/>
          </a:xfrm>
        </p:grpSpPr>
        <p:sp>
          <p:nvSpPr>
            <p:cNvPr id="3" name="Shape 3"/>
            <p:cNvSpPr/>
            <p:nvPr/>
          </p:nvSpPr>
          <p:spPr>
            <a:xfrm>
              <a:off x="364273" y="-1"/>
              <a:ext cx="545671" cy="548565"/>
            </a:xfrm>
            <a:prstGeom prst="rect">
              <a:avLst/>
            </a:prstGeom>
            <a:solidFill>
              <a:srgbClr val="F81F08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" name="Shape 4"/>
            <p:cNvSpPr/>
            <p:nvPr/>
          </p:nvSpPr>
          <p:spPr>
            <a:xfrm>
              <a:off x="518483" y="492836"/>
              <a:ext cx="525900" cy="548566"/>
            </a:xfrm>
            <a:prstGeom prst="rect">
              <a:avLst/>
            </a:prstGeom>
            <a:solidFill>
              <a:srgbClr val="3333CC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" name="Shape 5"/>
            <p:cNvSpPr/>
            <p:nvPr/>
          </p:nvSpPr>
          <p:spPr>
            <a:xfrm>
              <a:off x="979138" y="492836"/>
              <a:ext cx="455962" cy="548566"/>
            </a:xfrm>
            <a:prstGeom prst="rect">
              <a:avLst/>
            </a:prstGeom>
            <a:gradFill flip="none" rotWithShape="1">
              <a:gsLst>
                <a:gs pos="0">
                  <a:srgbClr val="3333CC"/>
                </a:gs>
                <a:gs pos="100000">
                  <a:srgbClr val="FEE8F7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" name="Shape 6"/>
            <p:cNvSpPr/>
            <p:nvPr/>
          </p:nvSpPr>
          <p:spPr>
            <a:xfrm>
              <a:off x="-1" y="403625"/>
              <a:ext cx="697904" cy="488022"/>
            </a:xfrm>
            <a:prstGeom prst="rect">
              <a:avLst/>
            </a:prstGeom>
            <a:gradFill flip="none" rotWithShape="1">
              <a:gsLst>
                <a:gs pos="0">
                  <a:srgbClr val="FEE8F7"/>
                </a:gs>
                <a:gs pos="100000">
                  <a:srgbClr val="FF0000"/>
                </a:gs>
              </a:gsLst>
              <a:lin ang="189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8" name="Shape 8"/>
          <p:cNvSpPr/>
          <p:nvPr/>
        </p:nvSpPr>
        <p:spPr>
          <a:xfrm>
            <a:off x="1087402" y="26528"/>
            <a:ext cx="45157" cy="1496908"/>
          </a:xfrm>
          <a:prstGeom prst="rect">
            <a:avLst/>
          </a:prstGeom>
          <a:solidFill>
            <a:srgbClr val="1C1C1C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800">
                <a:solidFill>
                  <a:schemeClr val="accent1">
                    <a:satOff val="-36923"/>
                    <a:lumOff val="15441"/>
                  </a:schemeClr>
                </a:solidFill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9" name="Shape 9"/>
          <p:cNvSpPr/>
          <p:nvPr/>
        </p:nvSpPr>
        <p:spPr>
          <a:xfrm>
            <a:off x="629919" y="1088248"/>
            <a:ext cx="11699807" cy="45158"/>
          </a:xfrm>
          <a:prstGeom prst="rect">
            <a:avLst/>
          </a:prstGeom>
          <a:gradFill>
            <a:gsLst>
              <a:gs pos="0">
                <a:srgbClr val="1C1C1C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800">
                <a:solidFill>
                  <a:schemeClr val="accent1">
                    <a:satOff val="-36923"/>
                    <a:lumOff val="15441"/>
                  </a:schemeClr>
                </a:solidFill>
                <a:uFill>
                  <a:solidFill>
                    <a:srgbClr val="000000"/>
                  </a:solidFill>
                </a:uFill>
              </a:defRPr>
            </a:pPr>
          </a:p>
        </p:txBody>
      </p:sp>
      <p:pic>
        <p:nvPicPr>
          <p:cNvPr id="10" name="tb.png" descr="tb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135924" y="206304"/>
            <a:ext cx="800102" cy="762002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标题文本"/>
          <p:cNvSpPr txBox="1"/>
          <p:nvPr>
            <p:ph type="title"/>
          </p:nvPr>
        </p:nvSpPr>
        <p:spPr>
          <a:xfrm>
            <a:off x="1611487" y="125587"/>
            <a:ext cx="9448802" cy="9525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标题文本</a:t>
            </a:r>
          </a:p>
        </p:txBody>
      </p:sp>
      <p:sp>
        <p:nvSpPr>
          <p:cNvPr id="12" name="正文级别 1…"/>
          <p:cNvSpPr txBox="1"/>
          <p:nvPr>
            <p:ph type="body" idx="1"/>
          </p:nvPr>
        </p:nvSpPr>
        <p:spPr>
          <a:xfrm>
            <a:off x="7258755" y="3467946"/>
            <a:ext cx="5093548" cy="62856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3" name="幻灯片编号"/>
          <p:cNvSpPr txBox="1"/>
          <p:nvPr>
            <p:ph type="sldNum" sz="quarter" idx="2"/>
          </p:nvPr>
        </p:nvSpPr>
        <p:spPr>
          <a:xfrm>
            <a:off x="6259830" y="9080500"/>
            <a:ext cx="469901" cy="49289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indent="0" algn="ctr" defTabSz="825500">
              <a:defRPr b="1"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</p:sldLayoutIdLst>
  <p:transition xmlns:p14="http://schemas.microsoft.com/office/powerpoint/2010/main" spd="med" advClick="1"/>
  <p:txStyles>
    <p:titleStyle>
      <a:lvl1pPr marL="0" marR="57798" indent="57798" algn="ctr" defTabSz="1295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1pPr>
      <a:lvl2pPr marL="0" marR="57798" indent="57798" algn="ctr" defTabSz="1295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2pPr>
      <a:lvl3pPr marL="0" marR="57798" indent="57798" algn="ctr" defTabSz="1295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3pPr>
      <a:lvl4pPr marL="0" marR="57798" indent="57798" algn="ctr" defTabSz="1295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4pPr>
      <a:lvl5pPr marL="0" marR="57798" indent="57798" algn="ctr" defTabSz="1295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5pPr>
      <a:lvl6pPr marL="0" marR="57798" indent="57798" algn="ctr" defTabSz="1295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6pPr>
      <a:lvl7pPr marL="0" marR="57798" indent="57798" algn="ctr" defTabSz="1295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7pPr>
      <a:lvl8pPr marL="0" marR="57798" indent="57798" algn="ctr" defTabSz="1295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8pPr>
      <a:lvl9pPr marL="0" marR="57798" indent="57798" algn="ctr" defTabSz="1295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9pPr>
    </p:titleStyle>
    <p:bodyStyle>
      <a:lvl1pPr marL="383538" marR="57798" indent="-342899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60000"/>
        <a:buFontTx/>
        <a:buChar char="■"/>
        <a:tabLst/>
        <a:defRPr b="0" baseline="0" cap="none" i="0" spc="0" strike="noStrike" sz="38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1pPr>
      <a:lvl2pPr marL="817207" marR="57798" indent="-319367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5000"/>
        <a:buFontTx/>
        <a:buChar char="■"/>
        <a:tabLst/>
        <a:defRPr b="0" baseline="0" cap="none" i="0" spc="0" strike="noStrike" sz="38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2pPr>
      <a:lvl3pPr marL="1265281" marR="57798" indent="-310242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■"/>
        <a:tabLst/>
        <a:defRPr b="0" baseline="0" cap="none" i="0" spc="0" strike="noStrike" sz="38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3pPr>
      <a:lvl4pPr marL="1807093" marR="57798" indent="-394854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5000"/>
        <a:buFontTx/>
        <a:buChar char="■"/>
        <a:tabLst/>
        <a:defRPr b="0" baseline="0" cap="none" i="0" spc="0" strike="noStrike" sz="38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4pPr>
      <a:lvl5pPr marL="2264293" marR="57798" indent="-394854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■"/>
        <a:tabLst/>
        <a:defRPr b="0" baseline="0" cap="none" i="0" spc="0" strike="noStrike" sz="38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5pPr>
      <a:lvl6pPr marL="2264293" marR="57798" indent="-394853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■"/>
        <a:tabLst/>
        <a:defRPr b="0" baseline="0" cap="none" i="0" spc="0" strike="noStrike" sz="38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6pPr>
      <a:lvl7pPr marL="2264293" marR="57798" indent="-394853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■"/>
        <a:tabLst/>
        <a:defRPr b="0" baseline="0" cap="none" i="0" spc="0" strike="noStrike" sz="38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7pPr>
      <a:lvl8pPr marL="2264293" marR="57798" indent="-394853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■"/>
        <a:tabLst/>
        <a:defRPr b="0" baseline="0" cap="none" i="0" spc="0" strike="noStrike" sz="38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8pPr>
      <a:lvl9pPr marL="2264293" marR="57798" indent="-394853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■"/>
        <a:tabLst/>
        <a:defRPr b="0" baseline="0" cap="none" i="0" spc="0" strike="noStrike" sz="38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1pPr>
      <a:lvl2pPr marL="0" marR="0" indent="57798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2pPr>
      <a:lvl3pPr marL="0" marR="0" indent="57798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3pPr>
      <a:lvl4pPr marL="0" marR="0" indent="57798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4pPr>
      <a:lvl5pPr marL="0" marR="0" indent="57798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5pPr>
      <a:lvl6pPr marL="0" marR="0" indent="57798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6pPr>
      <a:lvl7pPr marL="0" marR="0" indent="57798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7pPr>
      <a:lvl8pPr marL="0" marR="0" indent="57798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8pPr>
      <a:lvl9pPr marL="0" marR="0" indent="57798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2.xml"/><Relationship Id="rId3" Type="http://schemas.openxmlformats.org/officeDocument/2006/relationships/image" Target="../media/image2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3.xml"/><Relationship Id="rId3" Type="http://schemas.openxmlformats.org/officeDocument/2006/relationships/image" Target="../media/image2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4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5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55"/>
          <p:cNvSpPr txBox="1"/>
          <p:nvPr>
            <p:ph type="title"/>
          </p:nvPr>
        </p:nvSpPr>
        <p:spPr>
          <a:xfrm>
            <a:off x="2812485" y="152400"/>
            <a:ext cx="7632701" cy="876300"/>
          </a:xfrm>
          <a:prstGeom prst="rect">
            <a:avLst/>
          </a:prstGeom>
        </p:spPr>
        <p:txBody>
          <a:bodyPr/>
          <a:lstStyle>
            <a:lvl1pPr marR="52597" indent="52597" defTabSz="1178813">
              <a:lnSpc>
                <a:spcPct val="115000"/>
              </a:lnSpc>
              <a:defRPr sz="4300"/>
            </a:lvl1pPr>
          </a:lstStyle>
          <a:p>
            <a:pPr/>
            <a:r>
              <a:t>带权有向图的最短路径</a:t>
            </a:r>
          </a:p>
        </p:txBody>
      </p:sp>
      <p:grpSp>
        <p:nvGrpSpPr>
          <p:cNvPr id="61" name="成组"/>
          <p:cNvGrpSpPr/>
          <p:nvPr/>
        </p:nvGrpSpPr>
        <p:grpSpPr>
          <a:xfrm>
            <a:off x="5321441" y="2122468"/>
            <a:ext cx="7605594" cy="4467264"/>
            <a:chOff x="0" y="0"/>
            <a:chExt cx="7605593" cy="4467262"/>
          </a:xfrm>
        </p:grpSpPr>
        <p:sp>
          <p:nvSpPr>
            <p:cNvPr id="31" name="b"/>
            <p:cNvSpPr/>
            <p:nvPr/>
          </p:nvSpPr>
          <p:spPr>
            <a:xfrm>
              <a:off x="2171499" y="24738"/>
              <a:ext cx="902395" cy="850901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R="57798" algn="ctr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32" name="c"/>
            <p:cNvSpPr/>
            <p:nvPr/>
          </p:nvSpPr>
          <p:spPr>
            <a:xfrm>
              <a:off x="2171499" y="1456733"/>
              <a:ext cx="902395" cy="850901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R="57798" algn="ctr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33" name="d"/>
            <p:cNvSpPr/>
            <p:nvPr/>
          </p:nvSpPr>
          <p:spPr>
            <a:xfrm>
              <a:off x="2171499" y="3066528"/>
              <a:ext cx="902395" cy="850901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R="57798" algn="ctr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  <p:sp>
          <p:nvSpPr>
            <p:cNvPr id="34" name="e"/>
            <p:cNvSpPr/>
            <p:nvPr/>
          </p:nvSpPr>
          <p:spPr>
            <a:xfrm>
              <a:off x="4780437" y="24738"/>
              <a:ext cx="902396" cy="850901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R="57798" algn="ctr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  <p:sp>
          <p:nvSpPr>
            <p:cNvPr id="35" name="f"/>
            <p:cNvSpPr/>
            <p:nvPr/>
          </p:nvSpPr>
          <p:spPr>
            <a:xfrm>
              <a:off x="4780437" y="1456733"/>
              <a:ext cx="902396" cy="850901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R="57798" algn="ctr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f</a:t>
              </a:r>
            </a:p>
          </p:txBody>
        </p:sp>
        <p:sp>
          <p:nvSpPr>
            <p:cNvPr id="36" name="g"/>
            <p:cNvSpPr/>
            <p:nvPr/>
          </p:nvSpPr>
          <p:spPr>
            <a:xfrm>
              <a:off x="4780437" y="3066528"/>
              <a:ext cx="902396" cy="850901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R="57798" algn="ctr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g</a:t>
              </a:r>
            </a:p>
          </p:txBody>
        </p:sp>
        <p:sp>
          <p:nvSpPr>
            <p:cNvPr id="37" name="a"/>
            <p:cNvSpPr/>
            <p:nvPr/>
          </p:nvSpPr>
          <p:spPr>
            <a:xfrm>
              <a:off x="0" y="1456733"/>
              <a:ext cx="902395" cy="850901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R="57798" algn="ctr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38" name="h"/>
            <p:cNvSpPr/>
            <p:nvPr/>
          </p:nvSpPr>
          <p:spPr>
            <a:xfrm>
              <a:off x="6703198" y="1456733"/>
              <a:ext cx="902396" cy="850901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R="57798" algn="ctr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h</a:t>
              </a:r>
            </a:p>
          </p:txBody>
        </p:sp>
        <p:cxnSp>
          <p:nvCxnSpPr>
            <p:cNvPr id="39" name="连接线"/>
            <p:cNvCxnSpPr>
              <a:stCxn id="32" idx="0"/>
              <a:endCxn id="35" idx="0"/>
            </p:cNvCxnSpPr>
            <p:nvPr/>
          </p:nvCxnSpPr>
          <p:spPr>
            <a:xfrm>
              <a:off x="2622696" y="1882183"/>
              <a:ext cx="2608939" cy="1"/>
            </a:xfrm>
            <a:prstGeom prst="straightConnector1">
              <a:avLst/>
            </a:prstGeom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</p:cxnSp>
        <p:cxnSp>
          <p:nvCxnSpPr>
            <p:cNvPr id="40" name="连接线"/>
            <p:cNvCxnSpPr>
              <a:stCxn id="33" idx="0"/>
              <a:endCxn id="36" idx="0"/>
            </p:cNvCxnSpPr>
            <p:nvPr/>
          </p:nvCxnSpPr>
          <p:spPr>
            <a:xfrm>
              <a:off x="2622696" y="3491978"/>
              <a:ext cx="2608939" cy="1"/>
            </a:xfrm>
            <a:prstGeom prst="straightConnector1">
              <a:avLst/>
            </a:prstGeom>
            <a:ln w="25400" cap="flat">
              <a:solidFill>
                <a:schemeClr val="accent5"/>
              </a:solidFill>
              <a:prstDash val="solid"/>
              <a:round/>
              <a:tailEnd type="triangle" w="med" len="med"/>
            </a:ln>
            <a:effectLst/>
          </p:spPr>
        </p:cxnSp>
        <p:cxnSp>
          <p:nvCxnSpPr>
            <p:cNvPr id="41" name="连接线"/>
            <p:cNvCxnSpPr>
              <a:stCxn id="36" idx="0"/>
              <a:endCxn id="33" idx="0"/>
            </p:cNvCxnSpPr>
            <p:nvPr/>
          </p:nvCxnSpPr>
          <p:spPr>
            <a:xfrm flipH="1">
              <a:off x="2622696" y="3491978"/>
              <a:ext cx="2608939" cy="1"/>
            </a:xfrm>
            <a:prstGeom prst="straightConnector1">
              <a:avLst/>
            </a:prstGeom>
            <a:ln w="25400" cap="flat">
              <a:solidFill>
                <a:schemeClr val="accent5"/>
              </a:solidFill>
              <a:prstDash val="solid"/>
              <a:round/>
              <a:tailEnd type="triangle" w="med" len="med"/>
            </a:ln>
            <a:effectLst/>
          </p:spPr>
        </p:cxnSp>
        <p:cxnSp>
          <p:nvCxnSpPr>
            <p:cNvPr id="42" name="连接线"/>
            <p:cNvCxnSpPr>
              <a:stCxn id="35" idx="0"/>
              <a:endCxn id="32" idx="0"/>
            </p:cNvCxnSpPr>
            <p:nvPr/>
          </p:nvCxnSpPr>
          <p:spPr>
            <a:xfrm flipH="1">
              <a:off x="2622696" y="1882183"/>
              <a:ext cx="2608939" cy="1"/>
            </a:xfrm>
            <a:prstGeom prst="straightConnector1">
              <a:avLst/>
            </a:prstGeom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</p:cxnSp>
        <p:sp>
          <p:nvSpPr>
            <p:cNvPr id="43" name="线条"/>
            <p:cNvSpPr/>
            <p:nvPr/>
          </p:nvSpPr>
          <p:spPr>
            <a:xfrm>
              <a:off x="886824" y="1870166"/>
              <a:ext cx="1274673" cy="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4" name="线条"/>
            <p:cNvSpPr/>
            <p:nvPr/>
          </p:nvSpPr>
          <p:spPr>
            <a:xfrm>
              <a:off x="796592" y="2185865"/>
              <a:ext cx="1462616" cy="1069237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5" name="线条"/>
            <p:cNvSpPr/>
            <p:nvPr/>
          </p:nvSpPr>
          <p:spPr>
            <a:xfrm flipV="1">
              <a:off x="791796" y="625527"/>
              <a:ext cx="1428364" cy="954435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6" name="线条"/>
            <p:cNvSpPr/>
            <p:nvPr/>
          </p:nvSpPr>
          <p:spPr>
            <a:xfrm>
              <a:off x="3060255" y="429968"/>
              <a:ext cx="1701376" cy="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7" name="线条"/>
            <p:cNvSpPr/>
            <p:nvPr/>
          </p:nvSpPr>
          <p:spPr>
            <a:xfrm>
              <a:off x="5580529" y="732388"/>
              <a:ext cx="1267944" cy="865530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8" name="线条"/>
            <p:cNvSpPr/>
            <p:nvPr/>
          </p:nvSpPr>
          <p:spPr>
            <a:xfrm flipV="1">
              <a:off x="5533130" y="2201012"/>
              <a:ext cx="1363830" cy="1019034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9" name="线条"/>
            <p:cNvSpPr/>
            <p:nvPr/>
          </p:nvSpPr>
          <p:spPr>
            <a:xfrm>
              <a:off x="5674407" y="1899215"/>
              <a:ext cx="1073028" cy="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0" name="2"/>
            <p:cNvSpPr txBox="1"/>
            <p:nvPr/>
          </p:nvSpPr>
          <p:spPr>
            <a:xfrm>
              <a:off x="1098900" y="2585936"/>
              <a:ext cx="330850" cy="4437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500"/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51" name="5"/>
            <p:cNvSpPr txBox="1"/>
            <p:nvPr/>
          </p:nvSpPr>
          <p:spPr>
            <a:xfrm>
              <a:off x="1098900" y="1432759"/>
              <a:ext cx="330850" cy="4437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500"/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52" name="3"/>
            <p:cNvSpPr txBox="1"/>
            <p:nvPr/>
          </p:nvSpPr>
          <p:spPr>
            <a:xfrm>
              <a:off x="1098900" y="715307"/>
              <a:ext cx="330850" cy="4437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500"/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53" name="-4"/>
            <p:cNvSpPr txBox="1"/>
            <p:nvPr/>
          </p:nvSpPr>
          <p:spPr>
            <a:xfrm>
              <a:off x="3682018" y="-1"/>
              <a:ext cx="436580" cy="4437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500"/>
              </a:lvl1pPr>
            </a:lstStyle>
            <a:p>
              <a:pPr/>
              <a:r>
                <a:t>-4</a:t>
              </a:r>
            </a:p>
          </p:txBody>
        </p:sp>
        <p:sp>
          <p:nvSpPr>
            <p:cNvPr id="54" name="6"/>
            <p:cNvSpPr txBox="1"/>
            <p:nvPr/>
          </p:nvSpPr>
          <p:spPr>
            <a:xfrm>
              <a:off x="3682018" y="938052"/>
              <a:ext cx="330850" cy="4437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500"/>
              </a:lvl1pPr>
            </a:lstStyle>
            <a:p>
              <a:pPr/>
              <a:r>
                <a:t>6</a:t>
              </a:r>
            </a:p>
          </p:txBody>
        </p:sp>
        <p:sp>
          <p:nvSpPr>
            <p:cNvPr id="55" name="-3"/>
            <p:cNvSpPr txBox="1"/>
            <p:nvPr/>
          </p:nvSpPr>
          <p:spPr>
            <a:xfrm>
              <a:off x="3682018" y="1945683"/>
              <a:ext cx="436580" cy="4437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500"/>
              </a:lvl1pPr>
            </a:lstStyle>
            <a:p>
              <a:pPr/>
              <a:r>
                <a:t>-3</a:t>
              </a:r>
            </a:p>
          </p:txBody>
        </p:sp>
        <p:sp>
          <p:nvSpPr>
            <p:cNvPr id="56" name="3"/>
            <p:cNvSpPr txBox="1"/>
            <p:nvPr/>
          </p:nvSpPr>
          <p:spPr>
            <a:xfrm>
              <a:off x="3682018" y="2531600"/>
              <a:ext cx="330850" cy="4437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500"/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57" name="-6"/>
            <p:cNvSpPr txBox="1"/>
            <p:nvPr/>
          </p:nvSpPr>
          <p:spPr>
            <a:xfrm>
              <a:off x="3682018" y="4023549"/>
              <a:ext cx="436580" cy="4437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500"/>
              </a:lvl1pPr>
            </a:lstStyle>
            <a:p>
              <a:pPr/>
              <a:r>
                <a:t>-6</a:t>
              </a:r>
            </a:p>
          </p:txBody>
        </p:sp>
        <p:sp>
          <p:nvSpPr>
            <p:cNvPr id="58" name="4"/>
            <p:cNvSpPr txBox="1"/>
            <p:nvPr/>
          </p:nvSpPr>
          <p:spPr>
            <a:xfrm>
              <a:off x="6187240" y="732269"/>
              <a:ext cx="330850" cy="4437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500"/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59" name="8"/>
            <p:cNvSpPr txBox="1"/>
            <p:nvPr/>
          </p:nvSpPr>
          <p:spPr>
            <a:xfrm>
              <a:off x="6187240" y="1481220"/>
              <a:ext cx="330850" cy="4437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500"/>
              </a:lvl1pPr>
            </a:lstStyle>
            <a:p>
              <a:pPr/>
              <a:r>
                <a:t>8</a:t>
              </a:r>
            </a:p>
          </p:txBody>
        </p:sp>
        <p:sp>
          <p:nvSpPr>
            <p:cNvPr id="60" name="7"/>
            <p:cNvSpPr txBox="1"/>
            <p:nvPr/>
          </p:nvSpPr>
          <p:spPr>
            <a:xfrm>
              <a:off x="6187240" y="2544300"/>
              <a:ext cx="330850" cy="4437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500"/>
              </a:lvl1pPr>
            </a:lstStyle>
            <a:p>
              <a:pPr/>
              <a:r>
                <a:t>7</a:t>
              </a:r>
            </a:p>
          </p:txBody>
        </p:sp>
      </p:grpSp>
      <p:sp>
        <p:nvSpPr>
          <p:cNvPr id="62" name="路径长度：边的权重之和…"/>
          <p:cNvSpPr txBox="1"/>
          <p:nvPr/>
        </p:nvSpPr>
        <p:spPr>
          <a:xfrm>
            <a:off x="43876" y="1410395"/>
            <a:ext cx="7137610" cy="1247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20000"/>
              </a:lnSpc>
              <a:defRPr sz="2900"/>
            </a:pPr>
            <a:r>
              <a:rPr>
                <a:solidFill>
                  <a:schemeClr val="accent1"/>
                </a:solidFill>
              </a:rPr>
              <a:t>路径长度</a:t>
            </a:r>
            <a:r>
              <a:t>：边的权重之和</a:t>
            </a:r>
          </a:p>
          <a:p>
            <a:pPr>
              <a:lnSpc>
                <a:spcPct val="120000"/>
              </a:lnSpc>
              <a:defRPr sz="2900"/>
            </a:pPr>
            <a:r>
              <a:t>                    例如，a→b→e→h = 3 - 4 + 4 = 3</a:t>
            </a:r>
          </a:p>
        </p:txBody>
      </p:sp>
      <p:sp>
        <p:nvSpPr>
          <p:cNvPr id="63" name="两点间的最短路径：…"/>
          <p:cNvSpPr txBox="1"/>
          <p:nvPr/>
        </p:nvSpPr>
        <p:spPr>
          <a:xfrm>
            <a:off x="43876" y="2670504"/>
            <a:ext cx="4960000" cy="1914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20000"/>
              </a:lnSpc>
              <a:defRPr sz="2900"/>
            </a:pPr>
            <a:r>
              <a:rPr>
                <a:solidFill>
                  <a:schemeClr val="accent1"/>
                </a:solidFill>
              </a:rPr>
              <a:t>两点间的最短路径</a:t>
            </a:r>
            <a:r>
              <a:t>：</a:t>
            </a:r>
          </a:p>
          <a:p>
            <a:pPr>
              <a:lnSpc>
                <a:spcPct val="120000"/>
              </a:lnSpc>
              <a:defRPr sz="2900"/>
            </a:pPr>
            <a:r>
              <a:t>两点间路径长度最短的路径。</a:t>
            </a:r>
          </a:p>
          <a:p>
            <a:pPr>
              <a:lnSpc>
                <a:spcPct val="120000"/>
              </a:lnSpc>
              <a:defRPr sz="2900"/>
            </a:pPr>
            <a:r>
              <a:t>例如，𝜹(a, e)=-1, 𝜹(a, f)=11</a:t>
            </a:r>
          </a:p>
        </p:txBody>
      </p:sp>
      <p:sp>
        <p:nvSpPr>
          <p:cNvPr id="64" name="负权环：环中边的权重之和为负数…"/>
          <p:cNvSpPr txBox="1"/>
          <p:nvPr/>
        </p:nvSpPr>
        <p:spPr>
          <a:xfrm>
            <a:off x="43876" y="4766880"/>
            <a:ext cx="6373954" cy="263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20000"/>
              </a:lnSpc>
            </a:pPr>
            <a:r>
              <a:rPr>
                <a:solidFill>
                  <a:schemeClr val="accent5"/>
                </a:solidFill>
              </a:rPr>
              <a:t>负权环</a:t>
            </a:r>
            <a:r>
              <a:t>：环中边的权重之和为负数</a:t>
            </a:r>
          </a:p>
          <a:p>
            <a:pPr>
              <a:lnSpc>
                <a:spcPct val="120000"/>
              </a:lnSpc>
            </a:pPr>
            <a:r>
              <a:t>                例如，d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«︎</a:t>
            </a:r>
            <a:r>
              <a:t>g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 = 3 -6 = -3</a:t>
            </a:r>
            <a:endParaRPr>
              <a:latin typeface="Symbol"/>
              <a:ea typeface="Symbol"/>
              <a:cs typeface="Symbol"/>
              <a:sym typeface="Symbol"/>
            </a:endParaRPr>
          </a:p>
          <a:p>
            <a:pPr>
              <a:lnSpc>
                <a:spcPct val="120000"/>
              </a:lnSpc>
            </a:pPr>
            <a:r>
              <a:rPr>
                <a:solidFill>
                  <a:schemeClr val="accent1"/>
                </a:solidFill>
              </a:rPr>
              <a:t>负权环使得两点间的最短路径无定义:</a:t>
            </a:r>
            <a:endParaRPr>
              <a:solidFill>
                <a:schemeClr val="accent1"/>
              </a:solidFill>
            </a:endParaRPr>
          </a:p>
          <a:p>
            <a:pPr>
              <a:lnSpc>
                <a:spcPct val="120000"/>
              </a:lnSpc>
            </a:pPr>
            <a:r>
              <a:rPr>
                <a:solidFill>
                  <a:schemeClr val="accent1"/>
                </a:solidFill>
              </a:rPr>
              <a:t>                </a:t>
            </a:r>
            <a:r>
              <a:t>例如，𝜹(a, h)=-∞  𝜹(a, g)=-∞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355"/>
          <p:cNvSpPr txBox="1"/>
          <p:nvPr>
            <p:ph type="title"/>
          </p:nvPr>
        </p:nvSpPr>
        <p:spPr>
          <a:xfrm>
            <a:off x="2812485" y="241300"/>
            <a:ext cx="7632701" cy="876300"/>
          </a:xfrm>
          <a:prstGeom prst="rect">
            <a:avLst/>
          </a:prstGeom>
        </p:spPr>
        <p:txBody>
          <a:bodyPr/>
          <a:lstStyle>
            <a:lvl1pPr marR="52597" indent="52597" defTabSz="1178813">
              <a:lnSpc>
                <a:spcPct val="115000"/>
              </a:lnSpc>
              <a:defRPr sz="4300"/>
            </a:lvl1pPr>
          </a:lstStyle>
          <a:p>
            <a:pPr/>
            <a:r>
              <a:t>最短路径的性质</a:t>
            </a:r>
          </a:p>
        </p:txBody>
      </p:sp>
      <p:sp>
        <p:nvSpPr>
          <p:cNvPr id="67" name="最短路径具有最优子结构，即最短路径的子路径是最短路径：…"/>
          <p:cNvSpPr txBox="1"/>
          <p:nvPr/>
        </p:nvSpPr>
        <p:spPr>
          <a:xfrm>
            <a:off x="390801" y="1380087"/>
            <a:ext cx="13024500" cy="20606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50000"/>
              </a:lnSpc>
              <a:defRPr sz="2700"/>
            </a:pPr>
            <a:r>
              <a:t>最短路径具有</a:t>
            </a:r>
            <a:r>
              <a:rPr>
                <a:solidFill>
                  <a:schemeClr val="accent1"/>
                </a:solidFill>
              </a:rPr>
              <a:t>最优子结构</a:t>
            </a:r>
            <a:r>
              <a:t>，即</a:t>
            </a:r>
            <a:r>
              <a:rPr>
                <a:solidFill>
                  <a:schemeClr val="accent1"/>
                </a:solidFill>
              </a:rPr>
              <a:t>最短路径的子路径是最短路径</a:t>
            </a:r>
            <a:r>
              <a:t>：</a:t>
            </a:r>
          </a:p>
          <a:p>
            <a:pPr>
              <a:lnSpc>
                <a:spcPct val="150000"/>
              </a:lnSpc>
              <a:defRPr sz="2700"/>
            </a:pPr>
            <a:r>
              <a:t>     设</a:t>
            </a:r>
            <a:r>
              <a:rPr i="1"/>
              <a:t>p</a:t>
            </a:r>
            <a:r>
              <a:t> = ≺v</a:t>
            </a:r>
            <a:r>
              <a:rPr baseline="-5999"/>
              <a:t>1</a:t>
            </a:r>
            <a:r>
              <a:t>, v</a:t>
            </a:r>
            <a:r>
              <a:rPr baseline="-5999"/>
              <a:t>2</a:t>
            </a:r>
            <a:r>
              <a:t>, ..., v</a:t>
            </a:r>
            <a:r>
              <a:rPr baseline="-5999"/>
              <a:t>k</a:t>
            </a:r>
            <a:r>
              <a:t>≻是从v</a:t>
            </a:r>
            <a:r>
              <a:rPr baseline="-5999"/>
              <a:t>1</a:t>
            </a:r>
            <a:r>
              <a:t>到v</a:t>
            </a:r>
            <a:r>
              <a:rPr baseline="-5999"/>
              <a:t>k</a:t>
            </a:r>
            <a:r>
              <a:t>的最短路径，对于任意的i,  j，其中，1≤i≤j≤k，</a:t>
            </a:r>
          </a:p>
          <a:p>
            <a:pPr>
              <a:lnSpc>
                <a:spcPct val="150000"/>
              </a:lnSpc>
              <a:defRPr sz="2700"/>
            </a:pPr>
            <a:r>
              <a:t>     设</a:t>
            </a:r>
            <a:r>
              <a:rPr i="1"/>
              <a:t>p</a:t>
            </a:r>
            <a:r>
              <a:rPr baseline="-5999"/>
              <a:t>ij</a:t>
            </a:r>
            <a:r>
              <a:t>=≺v</a:t>
            </a:r>
            <a:r>
              <a:rPr baseline="-5999"/>
              <a:t>i</a:t>
            </a:r>
            <a:r>
              <a:t>, v</a:t>
            </a:r>
            <a:r>
              <a:rPr baseline="-5999"/>
              <a:t>i+1</a:t>
            </a:r>
            <a:r>
              <a:t>, ..., v</a:t>
            </a:r>
            <a:r>
              <a:rPr baseline="-5999"/>
              <a:t>j</a:t>
            </a:r>
            <a:r>
              <a:t>≻为</a:t>
            </a:r>
            <a:r>
              <a:rPr i="1"/>
              <a:t>p</a:t>
            </a:r>
            <a:r>
              <a:t>中从顶点v</a:t>
            </a:r>
            <a:r>
              <a:rPr baseline="-5999"/>
              <a:t>i</a:t>
            </a:r>
            <a:r>
              <a:t>到顶点v</a:t>
            </a:r>
            <a:r>
              <a:rPr baseline="-5999"/>
              <a:t>j</a:t>
            </a:r>
            <a:r>
              <a:t>的子路径。</a:t>
            </a:r>
            <a:r>
              <a:rPr i="1"/>
              <a:t>那么p</a:t>
            </a:r>
            <a:r>
              <a:rPr baseline="-5999"/>
              <a:t>ij</a:t>
            </a:r>
            <a:r>
              <a:t>是从v</a:t>
            </a:r>
            <a:r>
              <a:rPr baseline="-5999"/>
              <a:t>i</a:t>
            </a:r>
            <a:r>
              <a:t>到v</a:t>
            </a:r>
            <a:r>
              <a:rPr baseline="-5999"/>
              <a:t>j</a:t>
            </a:r>
            <a:r>
              <a:t>的最短路径。</a:t>
            </a:r>
          </a:p>
        </p:txBody>
      </p:sp>
      <p:sp>
        <p:nvSpPr>
          <p:cNvPr id="68" name="证明：如果将路径p 分解为 v1 ⤳ vi  ⤳ vj ⤳ vk，则有w(p) = w(p1i) + w(pij) + w(pjk)。…"/>
          <p:cNvSpPr txBox="1"/>
          <p:nvPr/>
        </p:nvSpPr>
        <p:spPr>
          <a:xfrm>
            <a:off x="-7534" y="4087648"/>
            <a:ext cx="13004675" cy="21202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50000"/>
              </a:lnSpc>
              <a:defRPr sz="2700"/>
            </a:pPr>
            <a:r>
              <a:t>证明：如果将路径</a:t>
            </a:r>
            <a:r>
              <a:rPr i="1"/>
              <a:t>p</a:t>
            </a:r>
            <a:r>
              <a:t> 分解为 v</a:t>
            </a:r>
            <a:r>
              <a:rPr baseline="-5999"/>
              <a:t>1 </a:t>
            </a:r>
            <a:r>
              <a:t>⤳ v</a:t>
            </a:r>
            <a:r>
              <a:rPr baseline="-5999"/>
              <a:t>i</a:t>
            </a:r>
            <a:r>
              <a:t>  ⤳ v</a:t>
            </a:r>
            <a:r>
              <a:rPr baseline="-5999"/>
              <a:t>j</a:t>
            </a:r>
            <a:r>
              <a:t> ⤳ v</a:t>
            </a:r>
            <a:r>
              <a:rPr baseline="-5999"/>
              <a:t>k</a:t>
            </a:r>
            <a:r>
              <a:t>，则有</a:t>
            </a:r>
            <a:r>
              <a:rPr i="1"/>
              <a:t>w</a:t>
            </a:r>
            <a:r>
              <a:t>(</a:t>
            </a:r>
            <a:r>
              <a:rPr i="1"/>
              <a:t>p</a:t>
            </a:r>
            <a:r>
              <a:t>) = </a:t>
            </a:r>
            <a:r>
              <a:rPr i="1"/>
              <a:t>w</a:t>
            </a:r>
            <a:r>
              <a:t>(</a:t>
            </a:r>
            <a:r>
              <a:rPr i="1"/>
              <a:t>p</a:t>
            </a:r>
            <a:r>
              <a:rPr baseline="-5999"/>
              <a:t>1i</a:t>
            </a:r>
            <a:r>
              <a:t>) + </a:t>
            </a:r>
            <a:r>
              <a:rPr i="1"/>
              <a:t>w</a:t>
            </a:r>
            <a:r>
              <a:t>(</a:t>
            </a:r>
            <a:r>
              <a:rPr i="1"/>
              <a:t>p</a:t>
            </a:r>
            <a:r>
              <a:rPr baseline="-5999"/>
              <a:t>ij</a:t>
            </a:r>
            <a:r>
              <a:t>) + </a:t>
            </a:r>
            <a:r>
              <a:rPr i="1"/>
              <a:t>w</a:t>
            </a:r>
            <a:r>
              <a:t>(</a:t>
            </a:r>
            <a:r>
              <a:rPr i="1"/>
              <a:t>p</a:t>
            </a:r>
            <a:r>
              <a:rPr baseline="-5999"/>
              <a:t>jk</a:t>
            </a:r>
            <a:r>
              <a:t>)。</a:t>
            </a:r>
          </a:p>
          <a:p>
            <a:pPr>
              <a:lnSpc>
                <a:spcPct val="150000"/>
              </a:lnSpc>
              <a:defRPr sz="2700"/>
            </a:pPr>
            <a:r>
              <a:t>            假设</a:t>
            </a:r>
            <a:r>
              <a:rPr i="1"/>
              <a:t>p</a:t>
            </a:r>
            <a:r>
              <a:rPr baseline="-5999"/>
              <a:t>ij</a:t>
            </a:r>
            <a:r>
              <a:t>不是从v</a:t>
            </a:r>
            <a:r>
              <a:rPr baseline="-5999"/>
              <a:t>i</a:t>
            </a:r>
            <a:r>
              <a:t>到v</a:t>
            </a:r>
            <a:r>
              <a:rPr baseline="-5999"/>
              <a:t>j</a:t>
            </a:r>
            <a:r>
              <a:t>的最短路径，则存在路径</a:t>
            </a:r>
            <a:r>
              <a:rPr i="1"/>
              <a:t>p'</a:t>
            </a:r>
            <a:r>
              <a:rPr baseline="-5999"/>
              <a:t>ij</a:t>
            </a:r>
            <a:r>
              <a:t>，</a:t>
            </a:r>
            <a:r>
              <a:rPr i="1"/>
              <a:t>w</a:t>
            </a:r>
            <a:r>
              <a:t>(</a:t>
            </a:r>
            <a:r>
              <a:rPr i="1"/>
              <a:t>p'</a:t>
            </a:r>
            <a:r>
              <a:rPr baseline="-5999"/>
              <a:t>ij</a:t>
            </a:r>
            <a:r>
              <a:t>) &lt; </a:t>
            </a:r>
            <a:r>
              <a:rPr i="1"/>
              <a:t>w</a:t>
            </a:r>
            <a:r>
              <a:t>(</a:t>
            </a:r>
            <a:r>
              <a:rPr i="1"/>
              <a:t>p</a:t>
            </a:r>
            <a:r>
              <a:rPr baseline="-5999"/>
              <a:t>ij</a:t>
            </a:r>
            <a:r>
              <a:t>)，使用</a:t>
            </a:r>
            <a:r>
              <a:rPr i="1"/>
              <a:t>p'</a:t>
            </a:r>
            <a:r>
              <a:rPr baseline="-5999"/>
              <a:t>ij</a:t>
            </a:r>
            <a:r>
              <a:t>替换 </a:t>
            </a:r>
            <a:r>
              <a:rPr i="1"/>
              <a:t>p</a:t>
            </a:r>
            <a:r>
              <a:rPr baseline="-5999"/>
              <a:t>ij</a:t>
            </a:r>
          </a:p>
          <a:p>
            <a:pPr>
              <a:lnSpc>
                <a:spcPct val="150000"/>
              </a:lnSpc>
              <a:defRPr sz="2700"/>
            </a:pPr>
            <a:r>
              <a:t>            得到另外一条v</a:t>
            </a:r>
            <a:r>
              <a:rPr baseline="-5999"/>
              <a:t>1</a:t>
            </a:r>
            <a:r>
              <a:t>到v</a:t>
            </a:r>
            <a:r>
              <a:rPr baseline="-5999"/>
              <a:t>k</a:t>
            </a:r>
            <a:r>
              <a:t>的路径</a:t>
            </a:r>
            <a:r>
              <a:rPr i="1"/>
              <a:t>p</a:t>
            </a:r>
            <a:r>
              <a:t>'，有</a:t>
            </a:r>
            <a:r>
              <a:rPr i="1"/>
              <a:t>w</a:t>
            </a:r>
            <a:r>
              <a:t>(</a:t>
            </a:r>
            <a:r>
              <a:rPr i="1"/>
              <a:t>p</a:t>
            </a:r>
            <a:r>
              <a:t>') &lt; </a:t>
            </a:r>
            <a:r>
              <a:rPr i="1"/>
              <a:t>w</a:t>
            </a:r>
            <a:r>
              <a:t>(</a:t>
            </a:r>
            <a:r>
              <a:rPr i="1"/>
              <a:t>p</a:t>
            </a:r>
            <a:r>
              <a:t>)，与</a:t>
            </a:r>
            <a:r>
              <a:rPr i="1"/>
              <a:t>p</a:t>
            </a:r>
            <a:r>
              <a:t>是v</a:t>
            </a:r>
            <a:r>
              <a:rPr baseline="-5999"/>
              <a:t>1</a:t>
            </a:r>
            <a:r>
              <a:t>到v</a:t>
            </a:r>
            <a:r>
              <a:rPr baseline="-5999"/>
              <a:t>k</a:t>
            </a:r>
            <a:r>
              <a:t>的最短路径相矛盾。</a:t>
            </a:r>
          </a:p>
        </p:txBody>
      </p:sp>
      <p:sp>
        <p:nvSpPr>
          <p:cNvPr id="69" name="p1i"/>
          <p:cNvSpPr txBox="1"/>
          <p:nvPr/>
        </p:nvSpPr>
        <p:spPr>
          <a:xfrm>
            <a:off x="4205561" y="3377453"/>
            <a:ext cx="800102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lnSpc>
                <a:spcPct val="120000"/>
              </a:lnSpc>
              <a:defRPr sz="2800"/>
            </a:pPr>
            <a:r>
              <a:rPr i="1"/>
              <a:t>p</a:t>
            </a:r>
            <a:r>
              <a:rPr baseline="-5999"/>
              <a:t>1i</a:t>
            </a:r>
          </a:p>
        </p:txBody>
      </p:sp>
      <p:sp>
        <p:nvSpPr>
          <p:cNvPr id="70" name="pij"/>
          <p:cNvSpPr txBox="1"/>
          <p:nvPr/>
        </p:nvSpPr>
        <p:spPr>
          <a:xfrm>
            <a:off x="5173302" y="3377453"/>
            <a:ext cx="567409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lnSpc>
                <a:spcPct val="120000"/>
              </a:lnSpc>
              <a:defRPr sz="2800"/>
            </a:pPr>
            <a:r>
              <a:rPr i="1"/>
              <a:t>p</a:t>
            </a:r>
            <a:r>
              <a:rPr baseline="-5999"/>
              <a:t>ij</a:t>
            </a:r>
          </a:p>
        </p:txBody>
      </p:sp>
      <p:sp>
        <p:nvSpPr>
          <p:cNvPr id="71" name="pjk"/>
          <p:cNvSpPr txBox="1"/>
          <p:nvPr/>
        </p:nvSpPr>
        <p:spPr>
          <a:xfrm>
            <a:off x="5908350" y="3390153"/>
            <a:ext cx="534298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20000"/>
              </a:lnSpc>
              <a:defRPr sz="2800"/>
            </a:pPr>
            <a:r>
              <a:rPr i="1"/>
              <a:t>p</a:t>
            </a:r>
            <a:r>
              <a:rPr baseline="-5999"/>
              <a:t>jk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68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355"/>
          <p:cNvSpPr txBox="1"/>
          <p:nvPr>
            <p:ph type="title"/>
          </p:nvPr>
        </p:nvSpPr>
        <p:spPr>
          <a:xfrm>
            <a:off x="2812485" y="241300"/>
            <a:ext cx="7632701" cy="876300"/>
          </a:xfrm>
          <a:prstGeom prst="rect">
            <a:avLst/>
          </a:prstGeom>
        </p:spPr>
        <p:txBody>
          <a:bodyPr/>
          <a:lstStyle>
            <a:lvl1pPr marR="47337" indent="47337" defTabSz="1060931">
              <a:lnSpc>
                <a:spcPct val="115000"/>
              </a:lnSpc>
              <a:defRPr sz="3870"/>
            </a:lvl1pPr>
          </a:lstStyle>
          <a:p>
            <a:pPr/>
            <a:r>
              <a:t>单源点到所有其它顶点的最短路径</a:t>
            </a:r>
          </a:p>
        </p:txBody>
      </p:sp>
      <p:sp>
        <p:nvSpPr>
          <p:cNvPr id="74" name="Shape 391"/>
          <p:cNvSpPr txBox="1"/>
          <p:nvPr/>
        </p:nvSpPr>
        <p:spPr>
          <a:xfrm>
            <a:off x="440744" y="2406150"/>
            <a:ext cx="12172983" cy="24301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L="350921" marR="57798" indent="-350921" defTabSz="1295400">
              <a:lnSpc>
                <a:spcPct val="120000"/>
              </a:lnSpc>
              <a:spcBef>
                <a:spcPts val="1900"/>
              </a:spcBef>
              <a:buSzPct val="60000"/>
              <a:buBlip>
                <a:blip r:embed="rId3"/>
              </a:buBlip>
              <a:defRPr>
                <a:uFill>
                  <a:solidFill>
                    <a:srgbClr val="000000"/>
                  </a:solidFill>
                </a:uFill>
              </a:defRPr>
            </a:pPr>
            <a:r>
              <a:t>Bellman-Ford 算法: O(|V| × |E|)</a:t>
            </a:r>
          </a:p>
          <a:p>
            <a:pPr marL="350921" marR="57798" indent="-350921" defTabSz="1295400">
              <a:lnSpc>
                <a:spcPct val="120000"/>
              </a:lnSpc>
              <a:spcBef>
                <a:spcPts val="1900"/>
              </a:spcBef>
              <a:buSzPct val="60000"/>
              <a:buBlip>
                <a:blip r:embed="rId3"/>
              </a:buBlip>
              <a:defRPr>
                <a:uFill>
                  <a:solidFill>
                    <a:srgbClr val="000000"/>
                  </a:solidFill>
                </a:uFill>
              </a:defRPr>
            </a:pPr>
            <a:r>
              <a:t>Dijkstra算法 : </a:t>
            </a:r>
            <a:r>
              <a:rPr>
                <a:solidFill>
                  <a:schemeClr val="accent1"/>
                </a:solidFill>
              </a:rPr>
              <a:t>无负权重的边</a:t>
            </a:r>
            <a:r>
              <a:t>，时间复杂度取决于优先队列的实现技术</a:t>
            </a:r>
          </a:p>
          <a:p>
            <a:pPr marL="350921" marR="57798" indent="-350921" defTabSz="1295400">
              <a:lnSpc>
                <a:spcPct val="120000"/>
              </a:lnSpc>
              <a:spcBef>
                <a:spcPts val="1900"/>
              </a:spcBef>
              <a:buSzPct val="60000"/>
              <a:buBlip>
                <a:blip r:embed="rId3"/>
              </a:buBlip>
              <a:defRPr>
                <a:uFill>
                  <a:solidFill>
                    <a:srgbClr val="000000"/>
                  </a:solidFill>
                </a:uFill>
              </a:defRPr>
            </a:pPr>
            <a:r>
              <a:t>DAG(有向无环图)的算法：O(|V| + |E|)</a:t>
            </a:r>
          </a:p>
        </p:txBody>
      </p:sp>
      <p:sp>
        <p:nvSpPr>
          <p:cNvPr id="75" name="v0是无负权环的有向图G的一个顶点，求v0到G中所有其它顶点的最短路径："/>
          <p:cNvSpPr txBox="1"/>
          <p:nvPr/>
        </p:nvSpPr>
        <p:spPr>
          <a:xfrm>
            <a:off x="290374" y="1506815"/>
            <a:ext cx="12787392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v</a:t>
            </a:r>
            <a:r>
              <a:rPr baseline="-5999"/>
              <a:t>0</a:t>
            </a:r>
            <a:r>
              <a:t>是</a:t>
            </a:r>
            <a:r>
              <a:rPr>
                <a:solidFill>
                  <a:schemeClr val="accent1"/>
                </a:solidFill>
              </a:rPr>
              <a:t>无负权环</a:t>
            </a:r>
            <a:r>
              <a:t>的有向图G的一个顶点，求v</a:t>
            </a:r>
            <a:r>
              <a:rPr baseline="-5999"/>
              <a:t>0</a:t>
            </a:r>
            <a:r>
              <a:t>到G中所有其它顶点的最短路径：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393"/>
          <p:cNvSpPr txBox="1"/>
          <p:nvPr/>
        </p:nvSpPr>
        <p:spPr>
          <a:xfrm>
            <a:off x="2812485" y="237348"/>
            <a:ext cx="7632701" cy="876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 marR="52597" indent="52597" algn="ctr" defTabSz="1178813">
              <a:lnSpc>
                <a:spcPct val="115000"/>
              </a:lnSpc>
              <a:defRPr b="1" sz="4300">
                <a:uFill>
                  <a:solidFill>
                    <a:srgbClr val="000000"/>
                  </a:solidFill>
                </a:uFill>
              </a:defRPr>
            </a:pPr>
            <a:r>
              <a:t>Dijkstra</a:t>
            </a:r>
            <a:r>
              <a:rPr b="0">
                <a:latin typeface="Arial Black"/>
                <a:ea typeface="Arial Black"/>
                <a:cs typeface="Arial Black"/>
                <a:sym typeface="Arial Black"/>
              </a:rPr>
              <a:t>算法</a:t>
            </a:r>
          </a:p>
        </p:txBody>
      </p:sp>
      <p:sp>
        <p:nvSpPr>
          <p:cNvPr id="78" name="Shape 394"/>
          <p:cNvSpPr txBox="1"/>
          <p:nvPr/>
        </p:nvSpPr>
        <p:spPr>
          <a:xfrm>
            <a:off x="3144830" y="1162050"/>
            <a:ext cx="9830983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8" defTabSz="1295400">
              <a:spcBef>
                <a:spcPts val="1900"/>
              </a:spcBef>
              <a:defRPr sz="29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荷兰计算机科学家Dijkstra（1930年5月11日~2002年8月6日）</a:t>
            </a:r>
          </a:p>
        </p:txBody>
      </p:sp>
      <p:pic>
        <p:nvPicPr>
          <p:cNvPr id="79" name="b8014a90f603738d03766552b31bb051f819ec86.jpg" descr="b8014a90f603738d03766552b31bb051f819ec86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3738" y="1628414"/>
            <a:ext cx="2682764" cy="3237819"/>
          </a:xfrm>
          <a:prstGeom prst="rect">
            <a:avLst/>
          </a:prstGeom>
          <a:ln w="12700">
            <a:miter lim="400000"/>
          </a:ln>
        </p:spPr>
      </p:pic>
      <p:sp>
        <p:nvSpPr>
          <p:cNvPr id="80" name="Shape 396"/>
          <p:cNvSpPr txBox="1"/>
          <p:nvPr/>
        </p:nvSpPr>
        <p:spPr>
          <a:xfrm>
            <a:off x="3144830" y="1749494"/>
            <a:ext cx="9300518" cy="5607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20000"/>
              </a:lnSpc>
              <a:defRPr sz="2800">
                <a:solidFill>
                  <a:srgbClr val="323333"/>
                </a:solidFill>
              </a:defRPr>
            </a:pPr>
            <a:r>
              <a:t>1972年获得素有计算机科学界的诺贝尔奖之称的图灵奖</a:t>
            </a:r>
          </a:p>
          <a:p>
            <a:pPr indent="0">
              <a:lnSpc>
                <a:spcPct val="120000"/>
              </a:lnSpc>
              <a:defRPr sz="2800">
                <a:solidFill>
                  <a:srgbClr val="323333"/>
                </a:solidFill>
              </a:defRPr>
            </a:pPr>
            <a:r>
              <a:t>1 提出“goto有害论”;</a:t>
            </a:r>
          </a:p>
          <a:p>
            <a:pPr indent="0">
              <a:lnSpc>
                <a:spcPct val="120000"/>
              </a:lnSpc>
              <a:defRPr sz="2800">
                <a:solidFill>
                  <a:srgbClr val="323333"/>
                </a:solidFill>
              </a:defRPr>
            </a:pPr>
            <a:r>
              <a:t>2 提出信号量和DV原语;</a:t>
            </a:r>
          </a:p>
          <a:p>
            <a:pPr indent="0">
              <a:lnSpc>
                <a:spcPct val="120000"/>
              </a:lnSpc>
              <a:defRPr sz="2800">
                <a:solidFill>
                  <a:srgbClr val="323333"/>
                </a:solidFill>
              </a:defRPr>
            </a:pPr>
            <a:r>
              <a:t>3 解决了“哲学家聚餐”问题;</a:t>
            </a:r>
          </a:p>
          <a:p>
            <a:pPr indent="0">
              <a:lnSpc>
                <a:spcPct val="120000"/>
              </a:lnSpc>
              <a:defRPr sz="2800">
                <a:solidFill>
                  <a:srgbClr val="323333"/>
                </a:solidFill>
              </a:defRPr>
            </a:pPr>
            <a:r>
              <a:t>4 最短路径算法(SDF)和银行家算法的创造者;</a:t>
            </a:r>
          </a:p>
          <a:p>
            <a:pPr indent="0">
              <a:lnSpc>
                <a:spcPct val="120000"/>
              </a:lnSpc>
              <a:defRPr sz="2800">
                <a:solidFill>
                  <a:srgbClr val="323333"/>
                </a:solidFill>
              </a:defRPr>
            </a:pPr>
            <a:r>
              <a:t>5 第一个Algol 60编译器的设计者和实现者;</a:t>
            </a:r>
          </a:p>
          <a:p>
            <a:pPr indent="0">
              <a:lnSpc>
                <a:spcPct val="120000"/>
              </a:lnSpc>
              <a:defRPr sz="2800">
                <a:solidFill>
                  <a:srgbClr val="323333"/>
                </a:solidFill>
              </a:defRPr>
            </a:pPr>
            <a:r>
              <a:t>6 THE操作系统的设计者和开发者;</a:t>
            </a:r>
          </a:p>
          <a:p>
            <a:pPr indent="0">
              <a:lnSpc>
                <a:spcPct val="120000"/>
              </a:lnSpc>
              <a:defRPr sz="2800">
                <a:solidFill>
                  <a:srgbClr val="323333"/>
                </a:solidFill>
              </a:defRPr>
            </a:pPr>
            <a:r>
              <a:t>与D. E. Knuth并称为我们这个时代最伟大的计算机科学家。</a:t>
            </a:r>
          </a:p>
          <a:p>
            <a:pPr indent="0">
              <a:lnSpc>
                <a:spcPct val="120000"/>
              </a:lnSpc>
              <a:defRPr sz="2800">
                <a:solidFill>
                  <a:schemeClr val="accent1"/>
                </a:solidFill>
              </a:defRPr>
            </a:pPr>
            <a:r>
              <a:t>摘自：百度百科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1069"/>
          <p:cNvSpPr txBox="1"/>
          <p:nvPr/>
        </p:nvSpPr>
        <p:spPr>
          <a:xfrm>
            <a:off x="2812485" y="237348"/>
            <a:ext cx="7632701" cy="876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 marR="52597" indent="52597" algn="ctr" defTabSz="1178813">
              <a:lnSpc>
                <a:spcPct val="115000"/>
              </a:lnSpc>
              <a:defRPr b="1" sz="4300">
                <a:uFill>
                  <a:solidFill>
                    <a:srgbClr val="000000"/>
                  </a:solidFill>
                </a:uFill>
              </a:defRPr>
            </a:pPr>
            <a:r>
              <a:t>Dijkstra</a:t>
            </a:r>
            <a:r>
              <a:rPr b="0">
                <a:latin typeface="Arial Black"/>
                <a:ea typeface="Arial Black"/>
                <a:cs typeface="Arial Black"/>
                <a:sym typeface="Arial Black"/>
              </a:rPr>
              <a:t>算法</a:t>
            </a:r>
          </a:p>
        </p:txBody>
      </p:sp>
      <p:sp>
        <p:nvSpPr>
          <p:cNvPr id="83" name="假设v0到vk的最短路径为：v0 ⤳ vj → vk…"/>
          <p:cNvSpPr txBox="1"/>
          <p:nvPr/>
        </p:nvSpPr>
        <p:spPr>
          <a:xfrm>
            <a:off x="874302" y="1587728"/>
            <a:ext cx="11161095" cy="52848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20000"/>
              </a:lnSpc>
              <a:defRPr sz="2900"/>
            </a:pPr>
            <a:r>
              <a:t>假设v</a:t>
            </a:r>
            <a:r>
              <a:rPr baseline="-5999"/>
              <a:t>0</a:t>
            </a:r>
            <a:r>
              <a:t>到v</a:t>
            </a:r>
            <a:r>
              <a:rPr baseline="-5999"/>
              <a:t>k</a:t>
            </a:r>
            <a:r>
              <a:t>的最短路径为：v</a:t>
            </a:r>
            <a:r>
              <a:rPr baseline="-5999"/>
              <a:t>0 </a:t>
            </a:r>
            <a:r>
              <a:t>⤳ v</a:t>
            </a:r>
            <a:r>
              <a:rPr baseline="-5999"/>
              <a:t>j</a:t>
            </a:r>
            <a:r>
              <a:t> → v</a:t>
            </a:r>
            <a:r>
              <a:rPr baseline="-5999"/>
              <a:t>k</a:t>
            </a:r>
            <a:endParaRPr baseline="-5999"/>
          </a:p>
          <a:p>
            <a:pPr>
              <a:lnSpc>
                <a:spcPct val="120000"/>
              </a:lnSpc>
              <a:defRPr sz="2900"/>
            </a:pPr>
            <a:r>
              <a:rPr baseline="-5999"/>
              <a:t>            </a:t>
            </a:r>
            <a:r>
              <a:t>根据最优子结构，v</a:t>
            </a:r>
            <a:r>
              <a:rPr baseline="-5999"/>
              <a:t>0 </a:t>
            </a:r>
            <a:r>
              <a:t>⤳ v</a:t>
            </a:r>
            <a:r>
              <a:rPr baseline="-5999"/>
              <a:t>j</a:t>
            </a:r>
            <a:r>
              <a:t> 一定是v</a:t>
            </a:r>
            <a:r>
              <a:rPr baseline="-5999"/>
              <a:t>0</a:t>
            </a:r>
            <a:r>
              <a:t>到v</a:t>
            </a:r>
            <a:r>
              <a:rPr baseline="-5999"/>
              <a:t>j</a:t>
            </a:r>
            <a:r>
              <a:t>的最短路径；</a:t>
            </a:r>
          </a:p>
          <a:p>
            <a:pPr>
              <a:lnSpc>
                <a:spcPct val="120000"/>
              </a:lnSpc>
              <a:defRPr sz="2900"/>
            </a:pPr>
            <a:r>
              <a:t>        由于边的权重 ≥ 0，v</a:t>
            </a:r>
            <a:r>
              <a:rPr baseline="-5999"/>
              <a:t>0 </a:t>
            </a:r>
            <a:r>
              <a:t>⤳ v</a:t>
            </a:r>
            <a:r>
              <a:rPr baseline="-5999"/>
              <a:t>j</a:t>
            </a:r>
            <a:r>
              <a:t> 一定不比v</a:t>
            </a:r>
            <a:r>
              <a:rPr baseline="-5999"/>
              <a:t>0 </a:t>
            </a:r>
            <a:r>
              <a:t>⤳ v</a:t>
            </a:r>
            <a:r>
              <a:rPr baseline="-5999"/>
              <a:t>k</a:t>
            </a:r>
            <a:r>
              <a:t> 长</a:t>
            </a:r>
          </a:p>
          <a:p>
            <a:pPr>
              <a:lnSpc>
                <a:spcPct val="120000"/>
              </a:lnSpc>
              <a:defRPr sz="2900"/>
            </a:pPr>
            <a:r>
              <a:t>直觉上：</a:t>
            </a:r>
          </a:p>
          <a:p>
            <a:pPr lvl="1" marL="691815" indent="-310815">
              <a:lnSpc>
                <a:spcPct val="120000"/>
              </a:lnSpc>
              <a:buSzPct val="60000"/>
              <a:buBlip>
                <a:blip r:embed="rId3"/>
              </a:buBlip>
              <a:defRPr sz="2900"/>
            </a:pPr>
            <a:r>
              <a:t>按照由短到长的次序求v</a:t>
            </a:r>
            <a:r>
              <a:rPr baseline="-5999"/>
              <a:t>0</a:t>
            </a:r>
            <a:r>
              <a:t>到其它顶点的最短路径</a:t>
            </a:r>
          </a:p>
          <a:p>
            <a:pPr lvl="1" marL="691815" indent="-310815">
              <a:lnSpc>
                <a:spcPct val="120000"/>
              </a:lnSpc>
              <a:buSzPct val="60000"/>
              <a:buBlip>
                <a:blip r:embed="rId3"/>
              </a:buBlip>
              <a:defRPr sz="2900"/>
            </a:pPr>
            <a:r>
              <a:t>如果已经求出了v</a:t>
            </a:r>
            <a:r>
              <a:rPr baseline="-5999"/>
              <a:t>0</a:t>
            </a:r>
            <a:r>
              <a:t>到 v</a:t>
            </a:r>
            <a:r>
              <a:rPr baseline="-5999"/>
              <a:t>1</a:t>
            </a:r>
            <a:r>
              <a:t>、v</a:t>
            </a:r>
            <a:r>
              <a:rPr baseline="-5999"/>
              <a:t>2</a:t>
            </a:r>
            <a:r>
              <a:t>、...、v</a:t>
            </a:r>
            <a:r>
              <a:rPr baseline="-5999"/>
              <a:t>j</a:t>
            </a:r>
            <a:r>
              <a:t>的最短路径，</a:t>
            </a:r>
          </a:p>
          <a:p>
            <a:pPr lvl="1" indent="228600">
              <a:lnSpc>
                <a:spcPct val="120000"/>
              </a:lnSpc>
              <a:defRPr sz="2900"/>
            </a:pPr>
            <a:r>
              <a:t>     则下一条最短路径按以下的方式产生：</a:t>
            </a:r>
          </a:p>
          <a:p>
            <a:pPr lvl="1" indent="228600">
              <a:lnSpc>
                <a:spcPct val="120000"/>
              </a:lnSpc>
              <a:defRPr sz="2900"/>
            </a:pPr>
            <a:r>
              <a:t>                    v</a:t>
            </a:r>
            <a:r>
              <a:rPr baseline="-5999"/>
              <a:t>0 </a:t>
            </a:r>
            <a:r>
              <a:t>⤳ v</a:t>
            </a:r>
            <a:r>
              <a:rPr baseline="-5999"/>
              <a:t>k</a:t>
            </a:r>
            <a:r>
              <a:t> = min{ v</a:t>
            </a:r>
            <a:r>
              <a:rPr baseline="-5999"/>
              <a:t>0 </a:t>
            </a:r>
            <a:r>
              <a:t>⤳ v</a:t>
            </a:r>
            <a:r>
              <a:rPr baseline="-5999"/>
              <a:t>i</a:t>
            </a:r>
            <a:r>
              <a:t> → v</a:t>
            </a:r>
            <a:r>
              <a:rPr baseline="-5999"/>
              <a:t>k</a:t>
            </a:r>
            <a:r>
              <a:t> ，i = 1, 2, ..., j，&lt;v</a:t>
            </a:r>
            <a:r>
              <a:rPr baseline="-5999"/>
              <a:t>i</a:t>
            </a:r>
            <a:r>
              <a:t>, v</a:t>
            </a:r>
            <a:r>
              <a:rPr baseline="-5999"/>
              <a:t>k</a:t>
            </a:r>
            <a:r>
              <a:t>&gt; ∈ E 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1065"/>
          <p:cNvSpPr txBox="1"/>
          <p:nvPr/>
        </p:nvSpPr>
        <p:spPr>
          <a:xfrm>
            <a:off x="278851" y="1442700"/>
            <a:ext cx="10591528" cy="21283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>
              <a:lnSpc>
                <a:spcPct val="120000"/>
              </a:lnSpc>
              <a:defRPr sz="2500"/>
            </a:pPr>
            <a:r>
              <a:t>d[]：源点v</a:t>
            </a:r>
            <a:r>
              <a:rPr baseline="-5999"/>
              <a:t>0</a:t>
            </a:r>
            <a:r>
              <a:t>到顶点的距离</a:t>
            </a:r>
          </a:p>
          <a:p>
            <a:pPr>
              <a:lnSpc>
                <a:spcPct val="120000"/>
              </a:lnSpc>
              <a:defRPr sz="2500"/>
            </a:pPr>
            <a:r>
              <a:t>p[]：使得d[]变短的顶点</a:t>
            </a:r>
          </a:p>
          <a:p>
            <a:pPr>
              <a:lnSpc>
                <a:spcPct val="120000"/>
              </a:lnSpc>
              <a:defRPr sz="2500"/>
            </a:pPr>
            <a:r>
              <a:t>S：已经求出最短路径的顶点集合</a:t>
            </a:r>
          </a:p>
          <a:p>
            <a:pPr>
              <a:lnSpc>
                <a:spcPct val="120000"/>
              </a:lnSpc>
              <a:defRPr sz="2500"/>
            </a:pPr>
            <a:r>
              <a:t>Q: 存放顶点的最小优先队列，按照d[]比较大小</a:t>
            </a:r>
          </a:p>
        </p:txBody>
      </p:sp>
      <p:sp>
        <p:nvSpPr>
          <p:cNvPr id="86" name="Shape 1069"/>
          <p:cNvSpPr txBox="1"/>
          <p:nvPr/>
        </p:nvSpPr>
        <p:spPr>
          <a:xfrm>
            <a:off x="2812485" y="161148"/>
            <a:ext cx="7632701" cy="876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 marR="52597" indent="52597" algn="ctr" defTabSz="1178813">
              <a:lnSpc>
                <a:spcPct val="115000"/>
              </a:lnSpc>
              <a:defRPr b="1" sz="4300">
                <a:uFill>
                  <a:solidFill>
                    <a:srgbClr val="000000"/>
                  </a:solidFill>
                </a:uFill>
              </a:defRPr>
            </a:pPr>
            <a:r>
              <a:t>Dijkstra</a:t>
            </a:r>
            <a:r>
              <a:rPr b="0">
                <a:latin typeface="Arial Black"/>
                <a:ea typeface="Arial Black"/>
                <a:cs typeface="Arial Black"/>
                <a:sym typeface="Arial Black"/>
              </a:rPr>
              <a:t>算法</a:t>
            </a:r>
          </a:p>
        </p:txBody>
      </p:sp>
      <p:sp>
        <p:nvSpPr>
          <p:cNvPr id="87" name="Shape 1065"/>
          <p:cNvSpPr txBox="1"/>
          <p:nvPr/>
        </p:nvSpPr>
        <p:spPr>
          <a:xfrm>
            <a:off x="264827" y="3938757"/>
            <a:ext cx="12448617" cy="3646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lvl="3">
              <a:lnSpc>
                <a:spcPct val="120000"/>
              </a:lnSpc>
              <a:defRPr sz="2500"/>
            </a:pPr>
            <a:r>
              <a:t>1、初始化: d[v</a:t>
            </a:r>
            <a:r>
              <a:rPr baseline="-5999"/>
              <a:t>0</a:t>
            </a:r>
            <a:r>
              <a:t>]=0，d[v</a:t>
            </a:r>
            <a:r>
              <a:rPr baseline="-5999"/>
              <a:t>i</a:t>
            </a:r>
            <a:r>
              <a:t>]=∞; p[i]=-1; S=∅；Q=V</a:t>
            </a:r>
          </a:p>
          <a:p>
            <a:pPr lvl="3">
              <a:lnSpc>
                <a:spcPct val="120000"/>
              </a:lnSpc>
              <a:defRPr sz="2500"/>
            </a:pPr>
            <a:r>
              <a:t>2、while Q ≠ ∅{</a:t>
            </a:r>
          </a:p>
          <a:p>
            <a:pPr lvl="3">
              <a:lnSpc>
                <a:spcPct val="120000"/>
              </a:lnSpc>
              <a:defRPr sz="2500"/>
            </a:pPr>
            <a:r>
              <a:t>3、      从Q中取出顶点u，</a:t>
            </a:r>
            <a:r>
              <a:rPr>
                <a:solidFill>
                  <a:schemeClr val="accent1"/>
                </a:solidFill>
              </a:rPr>
              <a:t>u的d[u]最小</a:t>
            </a:r>
          </a:p>
          <a:p>
            <a:pPr lvl="3">
              <a:lnSpc>
                <a:spcPct val="120000"/>
              </a:lnSpc>
              <a:defRPr sz="2500"/>
            </a:pPr>
            <a:r>
              <a:t>4、      S = S ∪ {u}</a:t>
            </a:r>
          </a:p>
          <a:p>
            <a:pPr lvl="3">
              <a:lnSpc>
                <a:spcPct val="120000"/>
              </a:lnSpc>
              <a:defRPr sz="2500"/>
            </a:pPr>
            <a:r>
              <a:t>5、     for u的邻接点v，且v ∉ S ，</a:t>
            </a:r>
          </a:p>
          <a:p>
            <a:pPr lvl="3">
              <a:lnSpc>
                <a:spcPct val="120000"/>
              </a:lnSpc>
              <a:defRPr sz="2500"/>
            </a:pPr>
            <a:r>
              <a:t>6、          </a:t>
            </a:r>
            <a:r>
              <a:rPr>
                <a:solidFill>
                  <a:schemeClr val="accent1"/>
                </a:solidFill>
              </a:rPr>
              <a:t>if d[v] &gt; d[u] + </a:t>
            </a:r>
            <a:r>
              <a:rPr i="1">
                <a:solidFill>
                  <a:schemeClr val="accent1"/>
                </a:solidFill>
              </a:rPr>
              <a:t>w</a:t>
            </a:r>
            <a:r>
              <a:rPr>
                <a:solidFill>
                  <a:schemeClr val="accent1"/>
                </a:solidFill>
              </a:rPr>
              <a:t>(u, v) then d[v] = d[u] + </a:t>
            </a:r>
            <a:r>
              <a:rPr i="1">
                <a:solidFill>
                  <a:schemeClr val="accent1"/>
                </a:solidFill>
              </a:rPr>
              <a:t>w</a:t>
            </a:r>
            <a:r>
              <a:rPr>
                <a:solidFill>
                  <a:schemeClr val="accent1"/>
                </a:solidFill>
              </a:rPr>
              <a:t>(u, v)，p[v] = u;    ⊳Relax</a:t>
            </a:r>
          </a:p>
          <a:p>
            <a:pPr lvl="3">
              <a:lnSpc>
                <a:spcPct val="120000"/>
              </a:lnSpc>
              <a:defRPr sz="2500"/>
            </a:pPr>
            <a:r>
              <a:t>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1069"/>
          <p:cNvSpPr txBox="1"/>
          <p:nvPr/>
        </p:nvSpPr>
        <p:spPr>
          <a:xfrm>
            <a:off x="2812485" y="237348"/>
            <a:ext cx="7632701" cy="876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 marR="52597" indent="52597" algn="ctr" defTabSz="1178813">
              <a:lnSpc>
                <a:spcPct val="115000"/>
              </a:lnSpc>
              <a:defRPr b="1" sz="4300">
                <a:uFill>
                  <a:solidFill>
                    <a:srgbClr val="000000"/>
                  </a:solidFill>
                </a:uFill>
              </a:defRPr>
            </a:pPr>
            <a:r>
              <a:t>Dijkstra</a:t>
            </a:r>
            <a:r>
              <a:rPr b="0">
                <a:latin typeface="Arial Black"/>
                <a:ea typeface="Arial Black"/>
                <a:cs typeface="Arial Black"/>
                <a:sym typeface="Arial Black"/>
              </a:rPr>
              <a:t>算法</a:t>
            </a:r>
          </a:p>
        </p:txBody>
      </p:sp>
      <p:grpSp>
        <p:nvGrpSpPr>
          <p:cNvPr id="124" name="成组"/>
          <p:cNvGrpSpPr/>
          <p:nvPr/>
        </p:nvGrpSpPr>
        <p:grpSpPr>
          <a:xfrm>
            <a:off x="6551506" y="1215248"/>
            <a:ext cx="6293127" cy="4042836"/>
            <a:chOff x="0" y="0"/>
            <a:chExt cx="6293125" cy="4042835"/>
          </a:xfrm>
        </p:grpSpPr>
        <p:grpSp>
          <p:nvGrpSpPr>
            <p:cNvPr id="92" name="Group 721"/>
            <p:cNvGrpSpPr/>
            <p:nvPr/>
          </p:nvGrpSpPr>
          <p:grpSpPr>
            <a:xfrm>
              <a:off x="0" y="1000567"/>
              <a:ext cx="969373" cy="798549"/>
              <a:chOff x="0" y="0"/>
              <a:chExt cx="969372" cy="798548"/>
            </a:xfrm>
          </p:grpSpPr>
          <p:sp>
            <p:nvSpPr>
              <p:cNvPr id="90" name="Shape 719"/>
              <p:cNvSpPr/>
              <p:nvPr/>
            </p:nvSpPr>
            <p:spPr>
              <a:xfrm>
                <a:off x="-1" y="0"/>
                <a:ext cx="969374" cy="798549"/>
              </a:xfrm>
              <a:prstGeom prst="ellipse">
                <a:avLst/>
              </a:prstGeom>
              <a:solidFill>
                <a:srgbClr val="99CCFF"/>
              </a:solidFill>
              <a:ln w="25400" cap="sq">
                <a:solidFill>
                  <a:srgbClr val="00008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1" name="Shape 720"/>
              <p:cNvSpPr txBox="1"/>
              <p:nvPr/>
            </p:nvSpPr>
            <p:spPr>
              <a:xfrm>
                <a:off x="210743" y="57253"/>
                <a:ext cx="547884" cy="68206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/>
              <a:p>
                <a:pPr marR="56816" indent="56816" algn="ctr" defTabSz="1295400">
                  <a:defRPr sz="38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pPr>
                <a:r>
                  <a:t>v</a:t>
                </a:r>
                <a:r>
                  <a:rPr baseline="-20000"/>
                  <a:t>1</a:t>
                </a:r>
              </a:p>
            </p:txBody>
          </p:sp>
        </p:grpSp>
        <p:sp>
          <p:nvSpPr>
            <p:cNvPr id="93" name="Shape 722"/>
            <p:cNvSpPr/>
            <p:nvPr/>
          </p:nvSpPr>
          <p:spPr>
            <a:xfrm flipV="1">
              <a:off x="982067" y="455218"/>
              <a:ext cx="1818099" cy="899827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4" name="Shape 723"/>
            <p:cNvSpPr/>
            <p:nvPr/>
          </p:nvSpPr>
          <p:spPr>
            <a:xfrm>
              <a:off x="969369" y="1499171"/>
              <a:ext cx="1818098" cy="1898984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5" name="Shape 724"/>
            <p:cNvSpPr/>
            <p:nvPr/>
          </p:nvSpPr>
          <p:spPr>
            <a:xfrm flipH="1" flipV="1">
              <a:off x="3513434" y="700625"/>
              <a:ext cx="1818099" cy="1998315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6" name="Shape 725"/>
            <p:cNvSpPr/>
            <p:nvPr/>
          </p:nvSpPr>
          <p:spPr>
            <a:xfrm>
              <a:off x="5695573" y="1721206"/>
              <a:ext cx="2260" cy="884245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7" name="Shape 726"/>
            <p:cNvSpPr/>
            <p:nvPr/>
          </p:nvSpPr>
          <p:spPr>
            <a:xfrm flipV="1">
              <a:off x="3636193" y="3098212"/>
              <a:ext cx="1574698" cy="498606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8" name="Shape 727"/>
            <p:cNvSpPr/>
            <p:nvPr/>
          </p:nvSpPr>
          <p:spPr>
            <a:xfrm flipH="1" flipV="1">
              <a:off x="3756835" y="500015"/>
              <a:ext cx="1695340" cy="500554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9" name="Shape 728"/>
            <p:cNvSpPr/>
            <p:nvPr/>
          </p:nvSpPr>
          <p:spPr>
            <a:xfrm>
              <a:off x="1333411" y="3098211"/>
              <a:ext cx="1333414" cy="498607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0" name="Shape 729"/>
            <p:cNvSpPr txBox="1"/>
            <p:nvPr/>
          </p:nvSpPr>
          <p:spPr>
            <a:xfrm rot="19860000">
              <a:off x="1105574" y="454500"/>
              <a:ext cx="857900" cy="6155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3600"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100</a:t>
              </a:r>
            </a:p>
          </p:txBody>
        </p:sp>
        <p:sp>
          <p:nvSpPr>
            <p:cNvPr id="101" name="Shape 730"/>
            <p:cNvSpPr txBox="1"/>
            <p:nvPr/>
          </p:nvSpPr>
          <p:spPr>
            <a:xfrm>
              <a:off x="1691105" y="1878968"/>
              <a:ext cx="629300" cy="6155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3600"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10</a:t>
              </a:r>
            </a:p>
          </p:txBody>
        </p:sp>
        <p:sp>
          <p:nvSpPr>
            <p:cNvPr id="102" name="Shape 731"/>
            <p:cNvSpPr txBox="1"/>
            <p:nvPr/>
          </p:nvSpPr>
          <p:spPr>
            <a:xfrm>
              <a:off x="3991770" y="1672514"/>
              <a:ext cx="629300" cy="6155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3600"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10</a:t>
              </a:r>
            </a:p>
          </p:txBody>
        </p:sp>
        <p:sp>
          <p:nvSpPr>
            <p:cNvPr id="103" name="Shape 732"/>
            <p:cNvSpPr txBox="1"/>
            <p:nvPr/>
          </p:nvSpPr>
          <p:spPr>
            <a:xfrm rot="1440000">
              <a:off x="1446511" y="3208492"/>
              <a:ext cx="400700" cy="6155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3600"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104" name="Shape 733"/>
            <p:cNvSpPr txBox="1"/>
            <p:nvPr/>
          </p:nvSpPr>
          <p:spPr>
            <a:xfrm rot="20400000">
              <a:off x="3885439" y="2853479"/>
              <a:ext cx="629300" cy="6155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3600"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50</a:t>
              </a:r>
            </a:p>
          </p:txBody>
        </p:sp>
        <p:grpSp>
          <p:nvGrpSpPr>
            <p:cNvPr id="107" name="Group 736"/>
            <p:cNvGrpSpPr/>
            <p:nvPr/>
          </p:nvGrpSpPr>
          <p:grpSpPr>
            <a:xfrm>
              <a:off x="393673" y="2514599"/>
              <a:ext cx="969373" cy="798551"/>
              <a:chOff x="0" y="0"/>
              <a:chExt cx="969372" cy="798549"/>
            </a:xfrm>
          </p:grpSpPr>
          <p:sp>
            <p:nvSpPr>
              <p:cNvPr id="105" name="Shape 734"/>
              <p:cNvSpPr/>
              <p:nvPr/>
            </p:nvSpPr>
            <p:spPr>
              <a:xfrm>
                <a:off x="-1" y="-1"/>
                <a:ext cx="969374" cy="798551"/>
              </a:xfrm>
              <a:prstGeom prst="ellipse">
                <a:avLst/>
              </a:prstGeom>
              <a:solidFill>
                <a:srgbClr val="FFFF99"/>
              </a:solidFill>
              <a:ln w="25400" cap="sq">
                <a:solidFill>
                  <a:srgbClr val="8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06" name="Shape 735"/>
              <p:cNvSpPr txBox="1"/>
              <p:nvPr/>
            </p:nvSpPr>
            <p:spPr>
              <a:xfrm>
                <a:off x="198043" y="54616"/>
                <a:ext cx="547884" cy="68206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/>
              <a:p>
                <a:pPr marR="56816" indent="56816" algn="ctr" defTabSz="1295400">
                  <a:defRPr sz="38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pPr>
                <a:r>
                  <a:t>v</a:t>
                </a:r>
                <a:r>
                  <a:rPr baseline="-20000"/>
                  <a:t>0</a:t>
                </a:r>
              </a:p>
            </p:txBody>
          </p:sp>
        </p:grpSp>
        <p:grpSp>
          <p:nvGrpSpPr>
            <p:cNvPr id="110" name="Group 739"/>
            <p:cNvGrpSpPr/>
            <p:nvPr/>
          </p:nvGrpSpPr>
          <p:grpSpPr>
            <a:xfrm>
              <a:off x="2622376" y="3242339"/>
              <a:ext cx="969373" cy="800497"/>
              <a:chOff x="0" y="0"/>
              <a:chExt cx="969372" cy="800496"/>
            </a:xfrm>
          </p:grpSpPr>
          <p:sp>
            <p:nvSpPr>
              <p:cNvPr id="108" name="Shape 737"/>
              <p:cNvSpPr/>
              <p:nvPr/>
            </p:nvSpPr>
            <p:spPr>
              <a:xfrm>
                <a:off x="-1" y="0"/>
                <a:ext cx="969374" cy="800497"/>
              </a:xfrm>
              <a:prstGeom prst="ellipse">
                <a:avLst/>
              </a:prstGeom>
              <a:solidFill>
                <a:srgbClr val="FFFF99"/>
              </a:solidFill>
              <a:ln w="25400" cap="sq">
                <a:solidFill>
                  <a:srgbClr val="8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09" name="Shape 738"/>
              <p:cNvSpPr txBox="1"/>
              <p:nvPr/>
            </p:nvSpPr>
            <p:spPr>
              <a:xfrm>
                <a:off x="210743" y="58228"/>
                <a:ext cx="547884" cy="68206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/>
              <a:p>
                <a:pPr marR="56816" indent="56816" algn="ctr" defTabSz="1295400">
                  <a:defRPr sz="38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pPr>
                <a:r>
                  <a:t>v</a:t>
                </a:r>
                <a:r>
                  <a:rPr baseline="-20000"/>
                  <a:t>2</a:t>
                </a:r>
              </a:p>
            </p:txBody>
          </p:sp>
        </p:grpSp>
        <p:grpSp>
          <p:nvGrpSpPr>
            <p:cNvPr id="113" name="Group 742"/>
            <p:cNvGrpSpPr/>
            <p:nvPr/>
          </p:nvGrpSpPr>
          <p:grpSpPr>
            <a:xfrm>
              <a:off x="2787465" y="0"/>
              <a:ext cx="969373" cy="798549"/>
              <a:chOff x="0" y="0"/>
              <a:chExt cx="969372" cy="798548"/>
            </a:xfrm>
          </p:grpSpPr>
          <p:sp>
            <p:nvSpPr>
              <p:cNvPr id="111" name="Shape 740"/>
              <p:cNvSpPr/>
              <p:nvPr/>
            </p:nvSpPr>
            <p:spPr>
              <a:xfrm>
                <a:off x="-1" y="0"/>
                <a:ext cx="969374" cy="798549"/>
              </a:xfrm>
              <a:prstGeom prst="ellipse">
                <a:avLst/>
              </a:prstGeom>
              <a:solidFill>
                <a:srgbClr val="FFFF99"/>
              </a:solidFill>
              <a:ln w="25400" cap="sq">
                <a:solidFill>
                  <a:srgbClr val="8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2" name="Shape 741"/>
              <p:cNvSpPr txBox="1"/>
              <p:nvPr/>
            </p:nvSpPr>
            <p:spPr>
              <a:xfrm>
                <a:off x="210743" y="58664"/>
                <a:ext cx="547884" cy="68206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/>
              <a:p>
                <a:pPr marR="56816" indent="56816" algn="ctr" defTabSz="1295400">
                  <a:defRPr sz="38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pPr>
                <a:r>
                  <a:t>v</a:t>
                </a:r>
                <a:r>
                  <a:rPr baseline="-20000"/>
                  <a:t>5</a:t>
                </a:r>
              </a:p>
            </p:txBody>
          </p:sp>
        </p:grpSp>
        <p:grpSp>
          <p:nvGrpSpPr>
            <p:cNvPr id="116" name="Group 745"/>
            <p:cNvGrpSpPr/>
            <p:nvPr/>
          </p:nvGrpSpPr>
          <p:grpSpPr>
            <a:xfrm>
              <a:off x="5284968" y="918765"/>
              <a:ext cx="969373" cy="798549"/>
              <a:chOff x="0" y="0"/>
              <a:chExt cx="969372" cy="798548"/>
            </a:xfrm>
          </p:grpSpPr>
          <p:sp>
            <p:nvSpPr>
              <p:cNvPr id="114" name="Shape 743"/>
              <p:cNvSpPr/>
              <p:nvPr/>
            </p:nvSpPr>
            <p:spPr>
              <a:xfrm>
                <a:off x="-1" y="0"/>
                <a:ext cx="969374" cy="798549"/>
              </a:xfrm>
              <a:prstGeom prst="ellipse">
                <a:avLst/>
              </a:prstGeom>
              <a:solidFill>
                <a:srgbClr val="FFFF99"/>
              </a:solidFill>
              <a:ln w="25400" cap="sq">
                <a:solidFill>
                  <a:srgbClr val="8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5" name="Shape 744"/>
              <p:cNvSpPr txBox="1"/>
              <p:nvPr/>
            </p:nvSpPr>
            <p:spPr>
              <a:xfrm>
                <a:off x="210743" y="57253"/>
                <a:ext cx="547884" cy="68206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/>
              <a:p>
                <a:pPr marR="56816" indent="56816" algn="ctr" defTabSz="1295400">
                  <a:defRPr sz="38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pPr>
                <a:r>
                  <a:t>v</a:t>
                </a:r>
                <a:r>
                  <a:rPr baseline="-20000"/>
                  <a:t>4</a:t>
                </a:r>
              </a:p>
            </p:txBody>
          </p:sp>
        </p:grpSp>
        <p:sp>
          <p:nvSpPr>
            <p:cNvPr id="117" name="Shape 746"/>
            <p:cNvSpPr txBox="1"/>
            <p:nvPr/>
          </p:nvSpPr>
          <p:spPr>
            <a:xfrm rot="780000">
              <a:off x="4475637" y="259828"/>
              <a:ext cx="629300" cy="6155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3600"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60</a:t>
              </a:r>
            </a:p>
          </p:txBody>
        </p:sp>
        <p:grpSp>
          <p:nvGrpSpPr>
            <p:cNvPr id="120" name="Group 749"/>
            <p:cNvGrpSpPr/>
            <p:nvPr/>
          </p:nvGrpSpPr>
          <p:grpSpPr>
            <a:xfrm>
              <a:off x="5166442" y="2566497"/>
              <a:ext cx="969373" cy="798549"/>
              <a:chOff x="0" y="0"/>
              <a:chExt cx="969372" cy="798548"/>
            </a:xfrm>
          </p:grpSpPr>
          <p:sp>
            <p:nvSpPr>
              <p:cNvPr id="118" name="Shape 747"/>
              <p:cNvSpPr/>
              <p:nvPr/>
            </p:nvSpPr>
            <p:spPr>
              <a:xfrm>
                <a:off x="-1" y="0"/>
                <a:ext cx="969374" cy="798549"/>
              </a:xfrm>
              <a:prstGeom prst="ellipse">
                <a:avLst/>
              </a:prstGeom>
              <a:solidFill>
                <a:srgbClr val="FFFF99"/>
              </a:solidFill>
              <a:ln w="25400" cap="sq">
                <a:solidFill>
                  <a:srgbClr val="8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9" name="Shape 748"/>
              <p:cNvSpPr txBox="1"/>
              <p:nvPr/>
            </p:nvSpPr>
            <p:spPr>
              <a:xfrm>
                <a:off x="210743" y="57253"/>
                <a:ext cx="547884" cy="68206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/>
              <a:p>
                <a:pPr marR="56816" indent="56816" algn="ctr" defTabSz="1295400">
                  <a:defRPr sz="38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pPr>
                <a:r>
                  <a:t>v</a:t>
                </a:r>
                <a:r>
                  <a:rPr baseline="-20000"/>
                  <a:t>3</a:t>
                </a:r>
              </a:p>
            </p:txBody>
          </p:sp>
        </p:grpSp>
        <p:sp>
          <p:nvSpPr>
            <p:cNvPr id="121" name="Shape 750"/>
            <p:cNvSpPr txBox="1"/>
            <p:nvPr/>
          </p:nvSpPr>
          <p:spPr>
            <a:xfrm>
              <a:off x="5663826" y="1822485"/>
              <a:ext cx="629300" cy="6155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3600"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20</a:t>
              </a:r>
            </a:p>
          </p:txBody>
        </p:sp>
        <p:sp>
          <p:nvSpPr>
            <p:cNvPr id="122" name="Shape 751"/>
            <p:cNvSpPr/>
            <p:nvPr/>
          </p:nvSpPr>
          <p:spPr>
            <a:xfrm flipV="1">
              <a:off x="969369" y="1399840"/>
              <a:ext cx="4362163" cy="50642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3" name="Shape 752"/>
            <p:cNvSpPr txBox="1"/>
            <p:nvPr/>
          </p:nvSpPr>
          <p:spPr>
            <a:xfrm>
              <a:off x="2423423" y="940189"/>
              <a:ext cx="629300" cy="6155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3600"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30</a:t>
              </a:r>
            </a:p>
          </p:txBody>
        </p:sp>
      </p:grpSp>
      <p:grpSp>
        <p:nvGrpSpPr>
          <p:cNvPr id="147" name="成组"/>
          <p:cNvGrpSpPr/>
          <p:nvPr/>
        </p:nvGrpSpPr>
        <p:grpSpPr>
          <a:xfrm>
            <a:off x="122269" y="1516943"/>
            <a:ext cx="6197602" cy="3645214"/>
            <a:chOff x="25400" y="0"/>
            <a:chExt cx="6197601" cy="3645212"/>
          </a:xfrm>
        </p:grpSpPr>
        <p:grpSp>
          <p:nvGrpSpPr>
            <p:cNvPr id="145" name="成组"/>
            <p:cNvGrpSpPr/>
            <p:nvPr/>
          </p:nvGrpSpPr>
          <p:grpSpPr>
            <a:xfrm>
              <a:off x="25400" y="0"/>
              <a:ext cx="6197602" cy="2996953"/>
              <a:chOff x="25400" y="0"/>
              <a:chExt cx="6197601" cy="2996952"/>
            </a:xfrm>
          </p:grpSpPr>
          <p:graphicFrame>
            <p:nvGraphicFramePr>
              <p:cNvPr id="125" name="Table 698"/>
              <p:cNvGraphicFramePr/>
              <p:nvPr/>
            </p:nvGraphicFramePr>
            <p:xfrm>
              <a:off x="50800" y="467867"/>
              <a:ext cx="6172202" cy="685802"/>
            </p:xfrm>
            <a:graphic xmlns:a="http://schemas.openxmlformats.org/drawingml/2006/main">
              <a:graphicData uri="http://schemas.openxmlformats.org/drawingml/2006/table">
                <a:tbl>
                  <a:tblPr firstCol="0" firstRow="0" lastCol="0" lastRow="0" bandCol="0" bandRow="0" rtl="0">
                    <a:tableStyleId>{4C3C2611-4C71-4FC5-86AE-919BDF0F9419}</a:tableStyleId>
                  </a:tblPr>
                  <a:tblGrid>
                    <a:gridCol w="1028700"/>
                    <a:gridCol w="1028700"/>
                    <a:gridCol w="1028700"/>
                    <a:gridCol w="1028700"/>
                    <a:gridCol w="1028700"/>
                    <a:gridCol w="1028700"/>
                  </a:tblGrid>
                  <a:tr h="685800"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-1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-1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-1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-1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-1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-1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</a:tr>
                </a:tbl>
              </a:graphicData>
            </a:graphic>
          </p:graphicFrame>
          <p:graphicFrame>
            <p:nvGraphicFramePr>
              <p:cNvPr id="126" name="Table 699"/>
              <p:cNvGraphicFramePr/>
              <p:nvPr/>
            </p:nvGraphicFramePr>
            <p:xfrm>
              <a:off x="25400" y="1864867"/>
              <a:ext cx="6172202" cy="685802"/>
            </p:xfrm>
            <a:graphic xmlns:a="http://schemas.openxmlformats.org/drawingml/2006/main">
              <a:graphicData uri="http://schemas.openxmlformats.org/drawingml/2006/table">
                <a:tbl>
                  <a:tblPr firstCol="0" firstRow="0" lastCol="0" lastRow="0" bandCol="0" bandRow="0" rtl="0">
                    <a:tableStyleId>{4C3C2611-4C71-4FC5-86AE-919BDF0F9419}</a:tableStyleId>
                  </a:tblPr>
                  <a:tblGrid>
                    <a:gridCol w="1028700"/>
                    <a:gridCol w="1028700"/>
                    <a:gridCol w="1028700"/>
                    <a:gridCol w="1028700"/>
                    <a:gridCol w="1028700"/>
                    <a:gridCol w="1028700"/>
                  </a:tblGrid>
                  <a:tr h="685800"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>
                              <a:latin typeface="Abadi MT Condensed Extra Bold"/>
                              <a:ea typeface="Abadi MT Condensed Extra Bold"/>
                              <a:cs typeface="Abadi MT Condensed Extra Bold"/>
                              <a:sym typeface="Abadi MT Condensed Extra Bold"/>
                            </a:rPr>
                            <a:t>∞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0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>
                              <a:latin typeface="Abadi MT Condensed Extra Bold"/>
                              <a:ea typeface="Abadi MT Condensed Extra Bold"/>
                              <a:cs typeface="Abadi MT Condensed Extra Bold"/>
                              <a:sym typeface="Abadi MT Condensed Extra Bold"/>
                            </a:rPr>
                            <a:t>∞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>
                              <a:latin typeface="Abadi MT Condensed Extra Bold"/>
                              <a:ea typeface="Abadi MT Condensed Extra Bold"/>
                              <a:cs typeface="Abadi MT Condensed Extra Bold"/>
                              <a:sym typeface="Abadi MT Condensed Extra Bold"/>
                            </a:rPr>
                            <a:t>∞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>
                              <a:latin typeface="Abadi MT Condensed Extra Bold"/>
                              <a:ea typeface="Abadi MT Condensed Extra Bold"/>
                              <a:cs typeface="Abadi MT Condensed Extra Bold"/>
                              <a:sym typeface="Abadi MT Condensed Extra Bold"/>
                            </a:rPr>
                            <a:t>∞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>
                              <a:latin typeface="Abadi MT Condensed Extra Bold"/>
                              <a:ea typeface="Abadi MT Condensed Extra Bold"/>
                              <a:cs typeface="Abadi MT Condensed Extra Bold"/>
                              <a:sym typeface="Abadi MT Condensed Extra Bold"/>
                            </a:rPr>
                            <a:t>∞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</a:tr>
                </a:tbl>
              </a:graphicData>
            </a:graphic>
          </p:graphicFrame>
          <p:sp>
            <p:nvSpPr>
              <p:cNvPr id="127" name="Shape 700"/>
              <p:cNvSpPr txBox="1"/>
              <p:nvPr/>
            </p:nvSpPr>
            <p:spPr>
              <a:xfrm>
                <a:off x="152399" y="2565400"/>
                <a:ext cx="679902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d[0]</a:t>
                </a:r>
              </a:p>
            </p:txBody>
          </p:sp>
          <p:sp>
            <p:nvSpPr>
              <p:cNvPr id="128" name="Shape 701"/>
              <p:cNvSpPr txBox="1"/>
              <p:nvPr/>
            </p:nvSpPr>
            <p:spPr>
              <a:xfrm>
                <a:off x="1155700" y="2565400"/>
                <a:ext cx="679901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d[1]</a:t>
                </a:r>
              </a:p>
            </p:txBody>
          </p:sp>
          <p:sp>
            <p:nvSpPr>
              <p:cNvPr id="129" name="Shape 702"/>
              <p:cNvSpPr txBox="1"/>
              <p:nvPr/>
            </p:nvSpPr>
            <p:spPr>
              <a:xfrm>
                <a:off x="2209800" y="2565400"/>
                <a:ext cx="679901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d[2]</a:t>
                </a:r>
              </a:p>
            </p:txBody>
          </p:sp>
          <p:sp>
            <p:nvSpPr>
              <p:cNvPr id="130" name="Shape 703"/>
              <p:cNvSpPr txBox="1"/>
              <p:nvPr/>
            </p:nvSpPr>
            <p:spPr>
              <a:xfrm>
                <a:off x="3263900" y="2565400"/>
                <a:ext cx="679902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d[3]</a:t>
                </a:r>
              </a:p>
            </p:txBody>
          </p:sp>
          <p:sp>
            <p:nvSpPr>
              <p:cNvPr id="131" name="Shape 704"/>
              <p:cNvSpPr txBox="1"/>
              <p:nvPr/>
            </p:nvSpPr>
            <p:spPr>
              <a:xfrm>
                <a:off x="4279900" y="2565400"/>
                <a:ext cx="679902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d[4]</a:t>
                </a:r>
              </a:p>
            </p:txBody>
          </p:sp>
          <p:sp>
            <p:nvSpPr>
              <p:cNvPr id="132" name="Shape 705"/>
              <p:cNvSpPr txBox="1"/>
              <p:nvPr/>
            </p:nvSpPr>
            <p:spPr>
              <a:xfrm>
                <a:off x="5308601" y="2565400"/>
                <a:ext cx="679901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d[5]</a:t>
                </a:r>
              </a:p>
            </p:txBody>
          </p:sp>
          <p:sp>
            <p:nvSpPr>
              <p:cNvPr id="133" name="Shape 706"/>
              <p:cNvSpPr txBox="1"/>
              <p:nvPr/>
            </p:nvSpPr>
            <p:spPr>
              <a:xfrm>
                <a:off x="342900" y="0"/>
                <a:ext cx="426100" cy="4315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/>
              <a:p>
                <a: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v</a:t>
                </a:r>
                <a:r>
                  <a:rPr baseline="-5998"/>
                  <a:t>0</a:t>
                </a:r>
              </a:p>
            </p:txBody>
          </p:sp>
          <p:sp>
            <p:nvSpPr>
              <p:cNvPr id="134" name="Shape 707"/>
              <p:cNvSpPr txBox="1"/>
              <p:nvPr/>
            </p:nvSpPr>
            <p:spPr>
              <a:xfrm>
                <a:off x="1371600" y="0"/>
                <a:ext cx="426100" cy="4315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/>
              <a:p>
                <a: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v</a:t>
                </a:r>
                <a:r>
                  <a:rPr baseline="-5998"/>
                  <a:t>1</a:t>
                </a:r>
              </a:p>
            </p:txBody>
          </p:sp>
          <p:sp>
            <p:nvSpPr>
              <p:cNvPr id="135" name="Shape 708"/>
              <p:cNvSpPr txBox="1"/>
              <p:nvPr/>
            </p:nvSpPr>
            <p:spPr>
              <a:xfrm>
                <a:off x="2413000" y="0"/>
                <a:ext cx="426100" cy="4315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/>
              <a:p>
                <a: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v</a:t>
                </a:r>
                <a:r>
                  <a:rPr baseline="-5998"/>
                  <a:t>2</a:t>
                </a:r>
              </a:p>
            </p:txBody>
          </p:sp>
          <p:sp>
            <p:nvSpPr>
              <p:cNvPr id="136" name="Shape 709"/>
              <p:cNvSpPr txBox="1"/>
              <p:nvPr/>
            </p:nvSpPr>
            <p:spPr>
              <a:xfrm>
                <a:off x="3416300" y="0"/>
                <a:ext cx="426100" cy="4315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/>
              <a:p>
                <a: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v</a:t>
                </a:r>
                <a:r>
                  <a:rPr baseline="-5998"/>
                  <a:t>3</a:t>
                </a:r>
              </a:p>
            </p:txBody>
          </p:sp>
          <p:sp>
            <p:nvSpPr>
              <p:cNvPr id="137" name="Shape 710"/>
              <p:cNvSpPr txBox="1"/>
              <p:nvPr/>
            </p:nvSpPr>
            <p:spPr>
              <a:xfrm>
                <a:off x="4445000" y="0"/>
                <a:ext cx="426100" cy="4315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/>
              <a:p>
                <a: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v</a:t>
                </a:r>
                <a:r>
                  <a:rPr baseline="-5998"/>
                  <a:t>4</a:t>
                </a:r>
              </a:p>
            </p:txBody>
          </p:sp>
          <p:sp>
            <p:nvSpPr>
              <p:cNvPr id="138" name="Shape 711"/>
              <p:cNvSpPr txBox="1"/>
              <p:nvPr/>
            </p:nvSpPr>
            <p:spPr>
              <a:xfrm>
                <a:off x="5422901" y="0"/>
                <a:ext cx="426100" cy="4315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/>
              <a:p>
                <a: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v</a:t>
                </a:r>
                <a:r>
                  <a:rPr baseline="-5998"/>
                  <a:t>5</a:t>
                </a:r>
              </a:p>
            </p:txBody>
          </p:sp>
          <p:sp>
            <p:nvSpPr>
              <p:cNvPr id="139" name="Shape 712"/>
              <p:cNvSpPr txBox="1"/>
              <p:nvPr/>
            </p:nvSpPr>
            <p:spPr>
              <a:xfrm>
                <a:off x="215900" y="1168400"/>
                <a:ext cx="679901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p[0]</a:t>
                </a:r>
              </a:p>
            </p:txBody>
          </p:sp>
          <p:sp>
            <p:nvSpPr>
              <p:cNvPr id="140" name="Shape 713"/>
              <p:cNvSpPr txBox="1"/>
              <p:nvPr/>
            </p:nvSpPr>
            <p:spPr>
              <a:xfrm>
                <a:off x="1219200" y="1168400"/>
                <a:ext cx="679901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p[1]</a:t>
                </a:r>
              </a:p>
            </p:txBody>
          </p:sp>
          <p:sp>
            <p:nvSpPr>
              <p:cNvPr id="141" name="Shape 714"/>
              <p:cNvSpPr txBox="1"/>
              <p:nvPr/>
            </p:nvSpPr>
            <p:spPr>
              <a:xfrm>
                <a:off x="2273300" y="1168400"/>
                <a:ext cx="679901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p[2]</a:t>
                </a:r>
              </a:p>
            </p:txBody>
          </p:sp>
          <p:sp>
            <p:nvSpPr>
              <p:cNvPr id="142" name="Shape 715"/>
              <p:cNvSpPr txBox="1"/>
              <p:nvPr/>
            </p:nvSpPr>
            <p:spPr>
              <a:xfrm>
                <a:off x="3327400" y="1168400"/>
                <a:ext cx="679902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p[3]</a:t>
                </a:r>
              </a:p>
            </p:txBody>
          </p:sp>
          <p:sp>
            <p:nvSpPr>
              <p:cNvPr id="143" name="Shape 716"/>
              <p:cNvSpPr txBox="1"/>
              <p:nvPr/>
            </p:nvSpPr>
            <p:spPr>
              <a:xfrm>
                <a:off x="4343400" y="1168400"/>
                <a:ext cx="679902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p[4]</a:t>
                </a:r>
              </a:p>
            </p:txBody>
          </p:sp>
          <p:sp>
            <p:nvSpPr>
              <p:cNvPr id="144" name="Shape 717"/>
              <p:cNvSpPr txBox="1"/>
              <p:nvPr/>
            </p:nvSpPr>
            <p:spPr>
              <a:xfrm>
                <a:off x="5372101" y="1168400"/>
                <a:ext cx="679901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p[5]</a:t>
                </a:r>
              </a:p>
            </p:txBody>
          </p:sp>
        </p:grpSp>
        <p:sp>
          <p:nvSpPr>
            <p:cNvPr id="146" name="S = {}         Q = {v0, v1, v2, v3, v4, v5}"/>
            <p:cNvSpPr txBox="1"/>
            <p:nvPr/>
          </p:nvSpPr>
          <p:spPr>
            <a:xfrm>
              <a:off x="382230" y="3201499"/>
              <a:ext cx="4958785" cy="4437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2500"/>
              </a:pPr>
              <a:r>
                <a:t>S = {}         Q = {v</a:t>
              </a:r>
              <a:r>
                <a:rPr baseline="-5999"/>
                <a:t>0</a:t>
              </a:r>
              <a:r>
                <a:t>, v</a:t>
              </a:r>
              <a:r>
                <a:rPr baseline="-5999"/>
                <a:t>1</a:t>
              </a:r>
              <a:r>
                <a:t>, v</a:t>
              </a:r>
              <a:r>
                <a:rPr baseline="-5999"/>
                <a:t>2</a:t>
              </a:r>
              <a:r>
                <a:t>, v</a:t>
              </a:r>
              <a:r>
                <a:rPr baseline="-5999"/>
                <a:t>3</a:t>
              </a:r>
              <a:r>
                <a:t>, v</a:t>
              </a:r>
              <a:r>
                <a:rPr baseline="-5999"/>
                <a:t>4</a:t>
              </a:r>
              <a:r>
                <a:t>, v</a:t>
              </a:r>
              <a:r>
                <a:rPr baseline="-5999"/>
                <a:t>5</a:t>
              </a:r>
              <a:r>
                <a:t>}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Shape 1069"/>
          <p:cNvSpPr txBox="1"/>
          <p:nvPr/>
        </p:nvSpPr>
        <p:spPr>
          <a:xfrm>
            <a:off x="2812485" y="237348"/>
            <a:ext cx="7632701" cy="876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 marR="52597" indent="52597" algn="ctr" defTabSz="1178813">
              <a:lnSpc>
                <a:spcPct val="115000"/>
              </a:lnSpc>
              <a:defRPr b="1" sz="4300">
                <a:uFill>
                  <a:solidFill>
                    <a:srgbClr val="000000"/>
                  </a:solidFill>
                </a:uFill>
              </a:defRPr>
            </a:pPr>
            <a:r>
              <a:t>Dijkstra</a:t>
            </a:r>
            <a:r>
              <a:rPr b="0">
                <a:latin typeface="Arial Black"/>
                <a:ea typeface="Arial Black"/>
                <a:cs typeface="Arial Black"/>
                <a:sym typeface="Arial Black"/>
              </a:rPr>
              <a:t>算法</a:t>
            </a:r>
          </a:p>
        </p:txBody>
      </p:sp>
      <p:sp>
        <p:nvSpPr>
          <p:cNvPr id="150" name="v1出队： Relax(v1, v2)、Relax(v1, v4)、Relax(v1, v5)"/>
          <p:cNvSpPr txBox="1"/>
          <p:nvPr/>
        </p:nvSpPr>
        <p:spPr>
          <a:xfrm>
            <a:off x="5912524" y="4991474"/>
            <a:ext cx="7023413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500"/>
            </a:pPr>
            <a:r>
              <a:t>v</a:t>
            </a:r>
            <a:r>
              <a:rPr baseline="-5999"/>
              <a:t>1</a:t>
            </a:r>
            <a:r>
              <a:t>出队： Relax(v</a:t>
            </a:r>
            <a:r>
              <a:rPr baseline="-5999"/>
              <a:t>1</a:t>
            </a:r>
            <a:r>
              <a:t>, v</a:t>
            </a:r>
            <a:r>
              <a:rPr baseline="-5999"/>
              <a:t>2</a:t>
            </a:r>
            <a:r>
              <a:t>)、Relax(v</a:t>
            </a:r>
            <a:r>
              <a:rPr baseline="-5999"/>
              <a:t>1</a:t>
            </a:r>
            <a:r>
              <a:t>, v</a:t>
            </a:r>
            <a:r>
              <a:rPr baseline="-5999"/>
              <a:t>4</a:t>
            </a:r>
            <a:r>
              <a:t>)、Relax(v</a:t>
            </a:r>
            <a:r>
              <a:rPr baseline="-5999"/>
              <a:t>1</a:t>
            </a:r>
            <a:r>
              <a:t>, v</a:t>
            </a:r>
            <a:r>
              <a:rPr baseline="-5999"/>
              <a:t>5</a:t>
            </a:r>
            <a:r>
              <a:t>)</a:t>
            </a:r>
          </a:p>
        </p:txBody>
      </p:sp>
      <p:grpSp>
        <p:nvGrpSpPr>
          <p:cNvPr id="173" name="成组"/>
          <p:cNvGrpSpPr/>
          <p:nvPr/>
        </p:nvGrpSpPr>
        <p:grpSpPr>
          <a:xfrm>
            <a:off x="122269" y="1250243"/>
            <a:ext cx="6197602" cy="3645214"/>
            <a:chOff x="25400" y="0"/>
            <a:chExt cx="6197601" cy="3645212"/>
          </a:xfrm>
        </p:grpSpPr>
        <p:grpSp>
          <p:nvGrpSpPr>
            <p:cNvPr id="171" name="成组"/>
            <p:cNvGrpSpPr/>
            <p:nvPr/>
          </p:nvGrpSpPr>
          <p:grpSpPr>
            <a:xfrm>
              <a:off x="25400" y="0"/>
              <a:ext cx="6197602" cy="2996953"/>
              <a:chOff x="25400" y="0"/>
              <a:chExt cx="6197601" cy="2996952"/>
            </a:xfrm>
          </p:grpSpPr>
          <p:graphicFrame>
            <p:nvGraphicFramePr>
              <p:cNvPr id="151" name="Table 698"/>
              <p:cNvGraphicFramePr/>
              <p:nvPr/>
            </p:nvGraphicFramePr>
            <p:xfrm>
              <a:off x="50800" y="467867"/>
              <a:ext cx="6172202" cy="685802"/>
            </p:xfrm>
            <a:graphic xmlns:a="http://schemas.openxmlformats.org/drawingml/2006/main">
              <a:graphicData uri="http://schemas.openxmlformats.org/drawingml/2006/table">
                <a:tbl>
                  <a:tblPr firstCol="0" firstRow="0" lastCol="0" lastRow="0" bandCol="0" bandRow="0" rtl="0">
                    <a:tableStyleId>{4C3C2611-4C71-4FC5-86AE-919BDF0F9419}</a:tableStyleId>
                  </a:tblPr>
                  <a:tblGrid>
                    <a:gridCol w="1028700"/>
                    <a:gridCol w="1028700"/>
                    <a:gridCol w="1028700"/>
                    <a:gridCol w="1028700"/>
                    <a:gridCol w="1028700"/>
                    <a:gridCol w="1028700"/>
                  </a:tblGrid>
                  <a:tr h="685800"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-1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-1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-1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-1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-1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-1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</a:tr>
                </a:tbl>
              </a:graphicData>
            </a:graphic>
          </p:graphicFrame>
          <p:graphicFrame>
            <p:nvGraphicFramePr>
              <p:cNvPr id="152" name="Table 699"/>
              <p:cNvGraphicFramePr/>
              <p:nvPr/>
            </p:nvGraphicFramePr>
            <p:xfrm>
              <a:off x="25400" y="1864867"/>
              <a:ext cx="6172202" cy="685802"/>
            </p:xfrm>
            <a:graphic xmlns:a="http://schemas.openxmlformats.org/drawingml/2006/main">
              <a:graphicData uri="http://schemas.openxmlformats.org/drawingml/2006/table">
                <a:tbl>
                  <a:tblPr firstCol="0" firstRow="0" lastCol="0" lastRow="0" bandCol="0" bandRow="0" rtl="0">
                    <a:tableStyleId>{4C3C2611-4C71-4FC5-86AE-919BDF0F9419}</a:tableStyleId>
                  </a:tblPr>
                  <a:tblGrid>
                    <a:gridCol w="1028700"/>
                    <a:gridCol w="1028700"/>
                    <a:gridCol w="1028700"/>
                    <a:gridCol w="1028700"/>
                    <a:gridCol w="1028700"/>
                    <a:gridCol w="1028700"/>
                  </a:tblGrid>
                  <a:tr h="685800"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>
                              <a:latin typeface="Abadi MT Condensed Extra Bold"/>
                              <a:ea typeface="Abadi MT Condensed Extra Bold"/>
                              <a:cs typeface="Abadi MT Condensed Extra Bold"/>
                              <a:sym typeface="Abadi MT Condensed Extra Bold"/>
                            </a:rPr>
                            <a:t>∞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0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>
                              <a:latin typeface="Abadi MT Condensed Extra Bold"/>
                              <a:ea typeface="Abadi MT Condensed Extra Bold"/>
                              <a:cs typeface="Abadi MT Condensed Extra Bold"/>
                              <a:sym typeface="Abadi MT Condensed Extra Bold"/>
                            </a:rPr>
                            <a:t>∞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>
                              <a:latin typeface="Abadi MT Condensed Extra Bold"/>
                              <a:ea typeface="Abadi MT Condensed Extra Bold"/>
                              <a:cs typeface="Abadi MT Condensed Extra Bold"/>
                              <a:sym typeface="Abadi MT Condensed Extra Bold"/>
                            </a:rPr>
                            <a:t>∞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>
                              <a:latin typeface="Abadi MT Condensed Extra Bold"/>
                              <a:ea typeface="Abadi MT Condensed Extra Bold"/>
                              <a:cs typeface="Abadi MT Condensed Extra Bold"/>
                              <a:sym typeface="Abadi MT Condensed Extra Bold"/>
                            </a:rPr>
                            <a:t>∞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>
                              <a:latin typeface="Abadi MT Condensed Extra Bold"/>
                              <a:ea typeface="Abadi MT Condensed Extra Bold"/>
                              <a:cs typeface="Abadi MT Condensed Extra Bold"/>
                              <a:sym typeface="Abadi MT Condensed Extra Bold"/>
                            </a:rPr>
                            <a:t>∞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</a:tr>
                </a:tbl>
              </a:graphicData>
            </a:graphic>
          </p:graphicFrame>
          <p:sp>
            <p:nvSpPr>
              <p:cNvPr id="153" name="Shape 700"/>
              <p:cNvSpPr txBox="1"/>
              <p:nvPr/>
            </p:nvSpPr>
            <p:spPr>
              <a:xfrm>
                <a:off x="152399" y="2565400"/>
                <a:ext cx="679902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d[0]</a:t>
                </a:r>
              </a:p>
            </p:txBody>
          </p:sp>
          <p:sp>
            <p:nvSpPr>
              <p:cNvPr id="154" name="Shape 701"/>
              <p:cNvSpPr txBox="1"/>
              <p:nvPr/>
            </p:nvSpPr>
            <p:spPr>
              <a:xfrm>
                <a:off x="1155700" y="2565400"/>
                <a:ext cx="679901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d[1]</a:t>
                </a:r>
              </a:p>
            </p:txBody>
          </p:sp>
          <p:sp>
            <p:nvSpPr>
              <p:cNvPr id="155" name="Shape 702"/>
              <p:cNvSpPr txBox="1"/>
              <p:nvPr/>
            </p:nvSpPr>
            <p:spPr>
              <a:xfrm>
                <a:off x="2209800" y="2565400"/>
                <a:ext cx="679901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d[2]</a:t>
                </a:r>
              </a:p>
            </p:txBody>
          </p:sp>
          <p:sp>
            <p:nvSpPr>
              <p:cNvPr id="156" name="Shape 703"/>
              <p:cNvSpPr txBox="1"/>
              <p:nvPr/>
            </p:nvSpPr>
            <p:spPr>
              <a:xfrm>
                <a:off x="3263900" y="2565400"/>
                <a:ext cx="679902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d[3]</a:t>
                </a:r>
              </a:p>
            </p:txBody>
          </p:sp>
          <p:sp>
            <p:nvSpPr>
              <p:cNvPr id="157" name="Shape 704"/>
              <p:cNvSpPr txBox="1"/>
              <p:nvPr/>
            </p:nvSpPr>
            <p:spPr>
              <a:xfrm>
                <a:off x="4279900" y="2565400"/>
                <a:ext cx="679902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d[4]</a:t>
                </a:r>
              </a:p>
            </p:txBody>
          </p:sp>
          <p:sp>
            <p:nvSpPr>
              <p:cNvPr id="158" name="Shape 705"/>
              <p:cNvSpPr txBox="1"/>
              <p:nvPr/>
            </p:nvSpPr>
            <p:spPr>
              <a:xfrm>
                <a:off x="5308601" y="2565400"/>
                <a:ext cx="679901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d[5]</a:t>
                </a:r>
              </a:p>
            </p:txBody>
          </p:sp>
          <p:sp>
            <p:nvSpPr>
              <p:cNvPr id="159" name="Shape 706"/>
              <p:cNvSpPr txBox="1"/>
              <p:nvPr/>
            </p:nvSpPr>
            <p:spPr>
              <a:xfrm>
                <a:off x="342900" y="0"/>
                <a:ext cx="426100" cy="4315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/>
              <a:p>
                <a: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v</a:t>
                </a:r>
                <a:r>
                  <a:rPr baseline="-5998"/>
                  <a:t>0</a:t>
                </a:r>
              </a:p>
            </p:txBody>
          </p:sp>
          <p:sp>
            <p:nvSpPr>
              <p:cNvPr id="160" name="Shape 707"/>
              <p:cNvSpPr txBox="1"/>
              <p:nvPr/>
            </p:nvSpPr>
            <p:spPr>
              <a:xfrm>
                <a:off x="1371600" y="0"/>
                <a:ext cx="426100" cy="4315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/>
              <a:p>
                <a: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v</a:t>
                </a:r>
                <a:r>
                  <a:rPr baseline="-5998"/>
                  <a:t>1</a:t>
                </a:r>
              </a:p>
            </p:txBody>
          </p:sp>
          <p:sp>
            <p:nvSpPr>
              <p:cNvPr id="161" name="Shape 708"/>
              <p:cNvSpPr txBox="1"/>
              <p:nvPr/>
            </p:nvSpPr>
            <p:spPr>
              <a:xfrm>
                <a:off x="2413000" y="0"/>
                <a:ext cx="426100" cy="4315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/>
              <a:p>
                <a: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v</a:t>
                </a:r>
                <a:r>
                  <a:rPr baseline="-5998"/>
                  <a:t>2</a:t>
                </a:r>
              </a:p>
            </p:txBody>
          </p:sp>
          <p:sp>
            <p:nvSpPr>
              <p:cNvPr id="162" name="Shape 709"/>
              <p:cNvSpPr txBox="1"/>
              <p:nvPr/>
            </p:nvSpPr>
            <p:spPr>
              <a:xfrm>
                <a:off x="3416300" y="0"/>
                <a:ext cx="426100" cy="4315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/>
              <a:p>
                <a: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v</a:t>
                </a:r>
                <a:r>
                  <a:rPr baseline="-5998"/>
                  <a:t>3</a:t>
                </a:r>
              </a:p>
            </p:txBody>
          </p:sp>
          <p:sp>
            <p:nvSpPr>
              <p:cNvPr id="163" name="Shape 710"/>
              <p:cNvSpPr txBox="1"/>
              <p:nvPr/>
            </p:nvSpPr>
            <p:spPr>
              <a:xfrm>
                <a:off x="4445000" y="0"/>
                <a:ext cx="426100" cy="4315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/>
              <a:p>
                <a: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v</a:t>
                </a:r>
                <a:r>
                  <a:rPr baseline="-5998"/>
                  <a:t>4</a:t>
                </a:r>
              </a:p>
            </p:txBody>
          </p:sp>
          <p:sp>
            <p:nvSpPr>
              <p:cNvPr id="164" name="Shape 711"/>
              <p:cNvSpPr txBox="1"/>
              <p:nvPr/>
            </p:nvSpPr>
            <p:spPr>
              <a:xfrm>
                <a:off x="5422901" y="0"/>
                <a:ext cx="426100" cy="4315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/>
              <a:p>
                <a: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v</a:t>
                </a:r>
                <a:r>
                  <a:rPr baseline="-5998"/>
                  <a:t>5</a:t>
                </a:r>
              </a:p>
            </p:txBody>
          </p:sp>
          <p:sp>
            <p:nvSpPr>
              <p:cNvPr id="165" name="Shape 712"/>
              <p:cNvSpPr txBox="1"/>
              <p:nvPr/>
            </p:nvSpPr>
            <p:spPr>
              <a:xfrm>
                <a:off x="215900" y="1168400"/>
                <a:ext cx="679901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p[0]</a:t>
                </a:r>
              </a:p>
            </p:txBody>
          </p:sp>
          <p:sp>
            <p:nvSpPr>
              <p:cNvPr id="166" name="Shape 713"/>
              <p:cNvSpPr txBox="1"/>
              <p:nvPr/>
            </p:nvSpPr>
            <p:spPr>
              <a:xfrm>
                <a:off x="1219200" y="1168400"/>
                <a:ext cx="679901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p[1]</a:t>
                </a:r>
              </a:p>
            </p:txBody>
          </p:sp>
          <p:sp>
            <p:nvSpPr>
              <p:cNvPr id="167" name="Shape 714"/>
              <p:cNvSpPr txBox="1"/>
              <p:nvPr/>
            </p:nvSpPr>
            <p:spPr>
              <a:xfrm>
                <a:off x="2273300" y="1168400"/>
                <a:ext cx="679901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p[2]</a:t>
                </a:r>
              </a:p>
            </p:txBody>
          </p:sp>
          <p:sp>
            <p:nvSpPr>
              <p:cNvPr id="168" name="Shape 715"/>
              <p:cNvSpPr txBox="1"/>
              <p:nvPr/>
            </p:nvSpPr>
            <p:spPr>
              <a:xfrm>
                <a:off x="3327400" y="1168400"/>
                <a:ext cx="679902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p[3]</a:t>
                </a:r>
              </a:p>
            </p:txBody>
          </p:sp>
          <p:sp>
            <p:nvSpPr>
              <p:cNvPr id="169" name="Shape 716"/>
              <p:cNvSpPr txBox="1"/>
              <p:nvPr/>
            </p:nvSpPr>
            <p:spPr>
              <a:xfrm>
                <a:off x="4343400" y="1168400"/>
                <a:ext cx="679902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p[4]</a:t>
                </a:r>
              </a:p>
            </p:txBody>
          </p:sp>
          <p:sp>
            <p:nvSpPr>
              <p:cNvPr id="170" name="Shape 717"/>
              <p:cNvSpPr txBox="1"/>
              <p:nvPr/>
            </p:nvSpPr>
            <p:spPr>
              <a:xfrm>
                <a:off x="5372101" y="1168400"/>
                <a:ext cx="679901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p[5]</a:t>
                </a:r>
              </a:p>
            </p:txBody>
          </p:sp>
        </p:grpSp>
        <p:sp>
          <p:nvSpPr>
            <p:cNvPr id="172" name="S = {}         Q = {v0, v1, v2, v3, v4, v5}"/>
            <p:cNvSpPr txBox="1"/>
            <p:nvPr/>
          </p:nvSpPr>
          <p:spPr>
            <a:xfrm>
              <a:off x="382230" y="3201499"/>
              <a:ext cx="4958785" cy="4437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2500"/>
              </a:pPr>
              <a:r>
                <a:t>S = {}         Q = {v</a:t>
              </a:r>
              <a:r>
                <a:rPr baseline="-5999"/>
                <a:t>0</a:t>
              </a:r>
              <a:r>
                <a:t>, v</a:t>
              </a:r>
              <a:r>
                <a:rPr baseline="-5999"/>
                <a:t>1</a:t>
              </a:r>
              <a:r>
                <a:t>, v</a:t>
              </a:r>
              <a:r>
                <a:rPr baseline="-5999"/>
                <a:t>2</a:t>
              </a:r>
              <a:r>
                <a:t>, v</a:t>
              </a:r>
              <a:r>
                <a:rPr baseline="-5999"/>
                <a:t>3</a:t>
              </a:r>
              <a:r>
                <a:t>, v</a:t>
              </a:r>
              <a:r>
                <a:rPr baseline="-5999"/>
                <a:t>4</a:t>
              </a:r>
              <a:r>
                <a:t>, v</a:t>
              </a:r>
              <a:r>
                <a:rPr baseline="-5999"/>
                <a:t>5</a:t>
              </a:r>
              <a:r>
                <a:t>}</a:t>
              </a:r>
            </a:p>
          </p:txBody>
        </p:sp>
      </p:grpSp>
      <p:grpSp>
        <p:nvGrpSpPr>
          <p:cNvPr id="196" name="成组"/>
          <p:cNvGrpSpPr/>
          <p:nvPr/>
        </p:nvGrpSpPr>
        <p:grpSpPr>
          <a:xfrm>
            <a:off x="6587238" y="1250243"/>
            <a:ext cx="6197602" cy="3645214"/>
            <a:chOff x="25400" y="0"/>
            <a:chExt cx="6197601" cy="3645212"/>
          </a:xfrm>
        </p:grpSpPr>
        <p:grpSp>
          <p:nvGrpSpPr>
            <p:cNvPr id="194" name="成组"/>
            <p:cNvGrpSpPr/>
            <p:nvPr/>
          </p:nvGrpSpPr>
          <p:grpSpPr>
            <a:xfrm>
              <a:off x="25400" y="0"/>
              <a:ext cx="6197602" cy="2996953"/>
              <a:chOff x="25400" y="0"/>
              <a:chExt cx="6197601" cy="2996952"/>
            </a:xfrm>
          </p:grpSpPr>
          <p:graphicFrame>
            <p:nvGraphicFramePr>
              <p:cNvPr id="174" name="Table 698"/>
              <p:cNvGraphicFramePr/>
              <p:nvPr/>
            </p:nvGraphicFramePr>
            <p:xfrm>
              <a:off x="50800" y="467867"/>
              <a:ext cx="6172202" cy="685802"/>
            </p:xfrm>
            <a:graphic xmlns:a="http://schemas.openxmlformats.org/drawingml/2006/main">
              <a:graphicData uri="http://schemas.openxmlformats.org/drawingml/2006/table">
                <a:tbl>
                  <a:tblPr firstCol="0" firstRow="0" lastCol="0" lastRow="0" bandCol="0" bandRow="0" rtl="0">
                    <a:tableStyleId>{4C3C2611-4C71-4FC5-86AE-919BDF0F9419}</a:tableStyleId>
                  </a:tblPr>
                  <a:tblGrid>
                    <a:gridCol w="1028700"/>
                    <a:gridCol w="1028700"/>
                    <a:gridCol w="1028700"/>
                    <a:gridCol w="1028700"/>
                    <a:gridCol w="1028700"/>
                    <a:gridCol w="1028700"/>
                  </a:tblGrid>
                  <a:tr h="685800"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-1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-1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>
                              <a:solidFill>
                                <a:schemeClr val="accent1"/>
                              </a:solidFill>
                            </a:rPr>
                            <a:t>1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-1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>
                              <a:solidFill>
                                <a:schemeClr val="accent1"/>
                              </a:solidFill>
                            </a:rPr>
                            <a:t>1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>
                              <a:solidFill>
                                <a:schemeClr val="accent1"/>
                              </a:solidFill>
                            </a:rPr>
                            <a:t>1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</a:tr>
                </a:tbl>
              </a:graphicData>
            </a:graphic>
          </p:graphicFrame>
          <p:graphicFrame>
            <p:nvGraphicFramePr>
              <p:cNvPr id="175" name="Table 699"/>
              <p:cNvGraphicFramePr/>
              <p:nvPr/>
            </p:nvGraphicFramePr>
            <p:xfrm>
              <a:off x="25400" y="1864867"/>
              <a:ext cx="6172202" cy="685802"/>
            </p:xfrm>
            <a:graphic xmlns:a="http://schemas.openxmlformats.org/drawingml/2006/main">
              <a:graphicData uri="http://schemas.openxmlformats.org/drawingml/2006/table">
                <a:tbl>
                  <a:tblPr firstCol="0" firstRow="0" lastCol="0" lastRow="0" bandCol="0" bandRow="0" rtl="0">
                    <a:tableStyleId>{4C3C2611-4C71-4FC5-86AE-919BDF0F9419}</a:tableStyleId>
                  </a:tblPr>
                  <a:tblGrid>
                    <a:gridCol w="1028700"/>
                    <a:gridCol w="1028700"/>
                    <a:gridCol w="1028700"/>
                    <a:gridCol w="1028700"/>
                    <a:gridCol w="1028700"/>
                    <a:gridCol w="1028700"/>
                  </a:tblGrid>
                  <a:tr h="685800"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>
                              <a:latin typeface="Abadi MT Condensed Extra Bold"/>
                              <a:ea typeface="Abadi MT Condensed Extra Bold"/>
                              <a:cs typeface="Abadi MT Condensed Extra Bold"/>
                              <a:sym typeface="Abadi MT Condensed Extra Bold"/>
                            </a:rPr>
                            <a:t>∞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0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>
                              <a:solidFill>
                                <a:schemeClr val="accent1"/>
                              </a:solidFill>
                            </a:rPr>
                            <a:t>10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∞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>
                              <a:solidFill>
                                <a:schemeClr val="accent1">
                                  <a:satOff val="-36923"/>
                                  <a:lumOff val="15441"/>
                                </a:schemeClr>
                              </a:solidFill>
                            </a:rPr>
                            <a:t>30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>
                              <a:solidFill>
                                <a:schemeClr val="accent1"/>
                              </a:solidFill>
                            </a:rPr>
                            <a:t>100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</a:tr>
                </a:tbl>
              </a:graphicData>
            </a:graphic>
          </p:graphicFrame>
          <p:sp>
            <p:nvSpPr>
              <p:cNvPr id="176" name="Shape 700"/>
              <p:cNvSpPr txBox="1"/>
              <p:nvPr/>
            </p:nvSpPr>
            <p:spPr>
              <a:xfrm>
                <a:off x="152399" y="2565400"/>
                <a:ext cx="679902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d[0]</a:t>
                </a:r>
              </a:p>
            </p:txBody>
          </p:sp>
          <p:sp>
            <p:nvSpPr>
              <p:cNvPr id="177" name="Shape 701"/>
              <p:cNvSpPr txBox="1"/>
              <p:nvPr/>
            </p:nvSpPr>
            <p:spPr>
              <a:xfrm>
                <a:off x="1155700" y="2565400"/>
                <a:ext cx="679901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d[1]</a:t>
                </a:r>
              </a:p>
            </p:txBody>
          </p:sp>
          <p:sp>
            <p:nvSpPr>
              <p:cNvPr id="178" name="Shape 702"/>
              <p:cNvSpPr txBox="1"/>
              <p:nvPr/>
            </p:nvSpPr>
            <p:spPr>
              <a:xfrm>
                <a:off x="2209800" y="2565400"/>
                <a:ext cx="679901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d[2]</a:t>
                </a:r>
              </a:p>
            </p:txBody>
          </p:sp>
          <p:sp>
            <p:nvSpPr>
              <p:cNvPr id="179" name="Shape 703"/>
              <p:cNvSpPr txBox="1"/>
              <p:nvPr/>
            </p:nvSpPr>
            <p:spPr>
              <a:xfrm>
                <a:off x="3263900" y="2565400"/>
                <a:ext cx="679902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d[3]</a:t>
                </a:r>
              </a:p>
            </p:txBody>
          </p:sp>
          <p:sp>
            <p:nvSpPr>
              <p:cNvPr id="180" name="Shape 704"/>
              <p:cNvSpPr txBox="1"/>
              <p:nvPr/>
            </p:nvSpPr>
            <p:spPr>
              <a:xfrm>
                <a:off x="4279900" y="2565400"/>
                <a:ext cx="679902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d[4]</a:t>
                </a:r>
              </a:p>
            </p:txBody>
          </p:sp>
          <p:sp>
            <p:nvSpPr>
              <p:cNvPr id="181" name="Shape 705"/>
              <p:cNvSpPr txBox="1"/>
              <p:nvPr/>
            </p:nvSpPr>
            <p:spPr>
              <a:xfrm>
                <a:off x="5308601" y="2565400"/>
                <a:ext cx="679901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d[5]</a:t>
                </a:r>
              </a:p>
            </p:txBody>
          </p:sp>
          <p:sp>
            <p:nvSpPr>
              <p:cNvPr id="182" name="Shape 706"/>
              <p:cNvSpPr txBox="1"/>
              <p:nvPr/>
            </p:nvSpPr>
            <p:spPr>
              <a:xfrm>
                <a:off x="342900" y="0"/>
                <a:ext cx="426100" cy="4315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/>
              <a:p>
                <a: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v</a:t>
                </a:r>
                <a:r>
                  <a:rPr baseline="-5998"/>
                  <a:t>0</a:t>
                </a:r>
              </a:p>
            </p:txBody>
          </p:sp>
          <p:sp>
            <p:nvSpPr>
              <p:cNvPr id="183" name="Shape 707"/>
              <p:cNvSpPr txBox="1"/>
              <p:nvPr/>
            </p:nvSpPr>
            <p:spPr>
              <a:xfrm>
                <a:off x="1371600" y="0"/>
                <a:ext cx="426100" cy="4315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/>
              <a:p>
                <a: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v</a:t>
                </a:r>
                <a:r>
                  <a:rPr baseline="-5998"/>
                  <a:t>1</a:t>
                </a:r>
              </a:p>
            </p:txBody>
          </p:sp>
          <p:sp>
            <p:nvSpPr>
              <p:cNvPr id="184" name="Shape 708"/>
              <p:cNvSpPr txBox="1"/>
              <p:nvPr/>
            </p:nvSpPr>
            <p:spPr>
              <a:xfrm>
                <a:off x="2413000" y="0"/>
                <a:ext cx="426100" cy="4315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/>
              <a:p>
                <a: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v</a:t>
                </a:r>
                <a:r>
                  <a:rPr baseline="-5998"/>
                  <a:t>2</a:t>
                </a:r>
              </a:p>
            </p:txBody>
          </p:sp>
          <p:sp>
            <p:nvSpPr>
              <p:cNvPr id="185" name="Shape 709"/>
              <p:cNvSpPr txBox="1"/>
              <p:nvPr/>
            </p:nvSpPr>
            <p:spPr>
              <a:xfrm>
                <a:off x="3416300" y="0"/>
                <a:ext cx="426100" cy="4315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/>
              <a:p>
                <a: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v</a:t>
                </a:r>
                <a:r>
                  <a:rPr baseline="-5998"/>
                  <a:t>3</a:t>
                </a:r>
              </a:p>
            </p:txBody>
          </p:sp>
          <p:sp>
            <p:nvSpPr>
              <p:cNvPr id="186" name="Shape 710"/>
              <p:cNvSpPr txBox="1"/>
              <p:nvPr/>
            </p:nvSpPr>
            <p:spPr>
              <a:xfrm>
                <a:off x="4445000" y="0"/>
                <a:ext cx="426100" cy="4315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/>
              <a:p>
                <a: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v</a:t>
                </a:r>
                <a:r>
                  <a:rPr baseline="-5998"/>
                  <a:t>4</a:t>
                </a:r>
              </a:p>
            </p:txBody>
          </p:sp>
          <p:sp>
            <p:nvSpPr>
              <p:cNvPr id="187" name="Shape 711"/>
              <p:cNvSpPr txBox="1"/>
              <p:nvPr/>
            </p:nvSpPr>
            <p:spPr>
              <a:xfrm>
                <a:off x="5422901" y="0"/>
                <a:ext cx="426100" cy="4315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/>
              <a:p>
                <a: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v</a:t>
                </a:r>
                <a:r>
                  <a:rPr baseline="-5998"/>
                  <a:t>5</a:t>
                </a:r>
              </a:p>
            </p:txBody>
          </p:sp>
          <p:sp>
            <p:nvSpPr>
              <p:cNvPr id="188" name="Shape 712"/>
              <p:cNvSpPr txBox="1"/>
              <p:nvPr/>
            </p:nvSpPr>
            <p:spPr>
              <a:xfrm>
                <a:off x="215900" y="1168400"/>
                <a:ext cx="679901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p[0]</a:t>
                </a:r>
              </a:p>
            </p:txBody>
          </p:sp>
          <p:sp>
            <p:nvSpPr>
              <p:cNvPr id="189" name="Shape 713"/>
              <p:cNvSpPr txBox="1"/>
              <p:nvPr/>
            </p:nvSpPr>
            <p:spPr>
              <a:xfrm>
                <a:off x="1219200" y="1168400"/>
                <a:ext cx="679901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p[1]</a:t>
                </a:r>
              </a:p>
            </p:txBody>
          </p:sp>
          <p:sp>
            <p:nvSpPr>
              <p:cNvPr id="190" name="Shape 714"/>
              <p:cNvSpPr txBox="1"/>
              <p:nvPr/>
            </p:nvSpPr>
            <p:spPr>
              <a:xfrm>
                <a:off x="2273300" y="1168400"/>
                <a:ext cx="679901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p[2]</a:t>
                </a:r>
              </a:p>
            </p:txBody>
          </p:sp>
          <p:sp>
            <p:nvSpPr>
              <p:cNvPr id="191" name="Shape 715"/>
              <p:cNvSpPr txBox="1"/>
              <p:nvPr/>
            </p:nvSpPr>
            <p:spPr>
              <a:xfrm>
                <a:off x="3327400" y="1168400"/>
                <a:ext cx="679902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p[3]</a:t>
                </a:r>
              </a:p>
            </p:txBody>
          </p:sp>
          <p:sp>
            <p:nvSpPr>
              <p:cNvPr id="192" name="Shape 716"/>
              <p:cNvSpPr txBox="1"/>
              <p:nvPr/>
            </p:nvSpPr>
            <p:spPr>
              <a:xfrm>
                <a:off x="4343400" y="1168400"/>
                <a:ext cx="679902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p[4]</a:t>
                </a:r>
              </a:p>
            </p:txBody>
          </p:sp>
          <p:sp>
            <p:nvSpPr>
              <p:cNvPr id="193" name="Shape 717"/>
              <p:cNvSpPr txBox="1"/>
              <p:nvPr/>
            </p:nvSpPr>
            <p:spPr>
              <a:xfrm>
                <a:off x="5372101" y="1168400"/>
                <a:ext cx="679901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p[5]</a:t>
                </a:r>
              </a:p>
            </p:txBody>
          </p:sp>
        </p:grpSp>
        <p:sp>
          <p:nvSpPr>
            <p:cNvPr id="195" name="S = {v1}         Q = {v0, v2, v3, v4, v5}"/>
            <p:cNvSpPr txBox="1"/>
            <p:nvPr/>
          </p:nvSpPr>
          <p:spPr>
            <a:xfrm>
              <a:off x="382230" y="3201499"/>
              <a:ext cx="4800035" cy="4437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2500"/>
              </a:pPr>
              <a:r>
                <a:t>S = {v</a:t>
              </a:r>
              <a:r>
                <a:rPr baseline="-5999"/>
                <a:t>1</a:t>
              </a:r>
              <a:r>
                <a:t>}         Q = {v</a:t>
              </a:r>
              <a:r>
                <a:rPr baseline="-5999"/>
                <a:t>0</a:t>
              </a:r>
              <a:r>
                <a:t>, v</a:t>
              </a:r>
              <a:r>
                <a:rPr baseline="-5999"/>
                <a:t>2</a:t>
              </a:r>
              <a:r>
                <a:t>, v</a:t>
              </a:r>
              <a:r>
                <a:rPr baseline="-5999"/>
                <a:t>3</a:t>
              </a:r>
              <a:r>
                <a:t>, v</a:t>
              </a:r>
              <a:r>
                <a:rPr baseline="-5999"/>
                <a:t>4</a:t>
              </a:r>
              <a:r>
                <a:t>, v</a:t>
              </a:r>
              <a:r>
                <a:rPr baseline="-5999"/>
                <a:t>5</a:t>
              </a:r>
              <a:r>
                <a:t>}</a:t>
              </a:r>
            </a:p>
          </p:txBody>
        </p:sp>
      </p:grpSp>
      <p:grpSp>
        <p:nvGrpSpPr>
          <p:cNvPr id="231" name="成组"/>
          <p:cNvGrpSpPr/>
          <p:nvPr/>
        </p:nvGrpSpPr>
        <p:grpSpPr>
          <a:xfrm>
            <a:off x="344232" y="4911397"/>
            <a:ext cx="6293127" cy="4042837"/>
            <a:chOff x="0" y="0"/>
            <a:chExt cx="6293125" cy="4042835"/>
          </a:xfrm>
        </p:grpSpPr>
        <p:grpSp>
          <p:nvGrpSpPr>
            <p:cNvPr id="199" name="Group 721"/>
            <p:cNvGrpSpPr/>
            <p:nvPr/>
          </p:nvGrpSpPr>
          <p:grpSpPr>
            <a:xfrm>
              <a:off x="0" y="1000567"/>
              <a:ext cx="969373" cy="798549"/>
              <a:chOff x="0" y="0"/>
              <a:chExt cx="969372" cy="798548"/>
            </a:xfrm>
          </p:grpSpPr>
          <p:sp>
            <p:nvSpPr>
              <p:cNvPr id="197" name="Shape 719"/>
              <p:cNvSpPr/>
              <p:nvPr/>
            </p:nvSpPr>
            <p:spPr>
              <a:xfrm>
                <a:off x="-1" y="0"/>
                <a:ext cx="969374" cy="798549"/>
              </a:xfrm>
              <a:prstGeom prst="ellipse">
                <a:avLst/>
              </a:prstGeom>
              <a:solidFill>
                <a:srgbClr val="99CCFF"/>
              </a:solidFill>
              <a:ln w="25400" cap="sq">
                <a:solidFill>
                  <a:srgbClr val="00008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98" name="Shape 720"/>
              <p:cNvSpPr txBox="1"/>
              <p:nvPr/>
            </p:nvSpPr>
            <p:spPr>
              <a:xfrm>
                <a:off x="210743" y="57253"/>
                <a:ext cx="547884" cy="68206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/>
              <a:p>
                <a:pPr marR="56816" indent="56816" algn="ctr" defTabSz="1295400">
                  <a:defRPr sz="38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pPr>
                <a:r>
                  <a:t>v</a:t>
                </a:r>
                <a:r>
                  <a:rPr baseline="-20000"/>
                  <a:t>1</a:t>
                </a:r>
              </a:p>
            </p:txBody>
          </p:sp>
        </p:grpSp>
        <p:sp>
          <p:nvSpPr>
            <p:cNvPr id="200" name="Shape 722"/>
            <p:cNvSpPr/>
            <p:nvPr/>
          </p:nvSpPr>
          <p:spPr>
            <a:xfrm flipV="1">
              <a:off x="982067" y="455218"/>
              <a:ext cx="1818099" cy="899827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01" name="Shape 723"/>
            <p:cNvSpPr/>
            <p:nvPr/>
          </p:nvSpPr>
          <p:spPr>
            <a:xfrm>
              <a:off x="969369" y="1499171"/>
              <a:ext cx="1818098" cy="1898984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02" name="Shape 724"/>
            <p:cNvSpPr/>
            <p:nvPr/>
          </p:nvSpPr>
          <p:spPr>
            <a:xfrm flipH="1" flipV="1">
              <a:off x="3513434" y="700625"/>
              <a:ext cx="1818099" cy="1998315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03" name="Shape 725"/>
            <p:cNvSpPr/>
            <p:nvPr/>
          </p:nvSpPr>
          <p:spPr>
            <a:xfrm>
              <a:off x="5695573" y="1721206"/>
              <a:ext cx="2260" cy="884245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04" name="Shape 726"/>
            <p:cNvSpPr/>
            <p:nvPr/>
          </p:nvSpPr>
          <p:spPr>
            <a:xfrm flipV="1">
              <a:off x="3636193" y="3098212"/>
              <a:ext cx="1574698" cy="498606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05" name="Shape 727"/>
            <p:cNvSpPr/>
            <p:nvPr/>
          </p:nvSpPr>
          <p:spPr>
            <a:xfrm flipH="1" flipV="1">
              <a:off x="3756835" y="500015"/>
              <a:ext cx="1695340" cy="500554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06" name="Shape 728"/>
            <p:cNvSpPr/>
            <p:nvPr/>
          </p:nvSpPr>
          <p:spPr>
            <a:xfrm>
              <a:off x="1333411" y="3098211"/>
              <a:ext cx="1333414" cy="498607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07" name="Shape 729"/>
            <p:cNvSpPr txBox="1"/>
            <p:nvPr/>
          </p:nvSpPr>
          <p:spPr>
            <a:xfrm rot="19860000">
              <a:off x="1105574" y="454500"/>
              <a:ext cx="857900" cy="6155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3600"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100</a:t>
              </a:r>
            </a:p>
          </p:txBody>
        </p:sp>
        <p:sp>
          <p:nvSpPr>
            <p:cNvPr id="208" name="Shape 730"/>
            <p:cNvSpPr txBox="1"/>
            <p:nvPr/>
          </p:nvSpPr>
          <p:spPr>
            <a:xfrm>
              <a:off x="1691105" y="1878968"/>
              <a:ext cx="629300" cy="6155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3600"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10</a:t>
              </a:r>
            </a:p>
          </p:txBody>
        </p:sp>
        <p:sp>
          <p:nvSpPr>
            <p:cNvPr id="209" name="Shape 731"/>
            <p:cNvSpPr txBox="1"/>
            <p:nvPr/>
          </p:nvSpPr>
          <p:spPr>
            <a:xfrm>
              <a:off x="3991770" y="1672514"/>
              <a:ext cx="629300" cy="6155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3600"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10</a:t>
              </a:r>
            </a:p>
          </p:txBody>
        </p:sp>
        <p:sp>
          <p:nvSpPr>
            <p:cNvPr id="210" name="Shape 732"/>
            <p:cNvSpPr txBox="1"/>
            <p:nvPr/>
          </p:nvSpPr>
          <p:spPr>
            <a:xfrm rot="1440000">
              <a:off x="1446511" y="3208492"/>
              <a:ext cx="400700" cy="6155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3600"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211" name="Shape 733"/>
            <p:cNvSpPr txBox="1"/>
            <p:nvPr/>
          </p:nvSpPr>
          <p:spPr>
            <a:xfrm rot="20400000">
              <a:off x="3885439" y="2853479"/>
              <a:ext cx="629300" cy="6155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3600"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50</a:t>
              </a:r>
            </a:p>
          </p:txBody>
        </p:sp>
        <p:grpSp>
          <p:nvGrpSpPr>
            <p:cNvPr id="214" name="Group 736"/>
            <p:cNvGrpSpPr/>
            <p:nvPr/>
          </p:nvGrpSpPr>
          <p:grpSpPr>
            <a:xfrm>
              <a:off x="393673" y="2514599"/>
              <a:ext cx="969373" cy="798551"/>
              <a:chOff x="0" y="0"/>
              <a:chExt cx="969372" cy="798549"/>
            </a:xfrm>
          </p:grpSpPr>
          <p:sp>
            <p:nvSpPr>
              <p:cNvPr id="212" name="Shape 734"/>
              <p:cNvSpPr/>
              <p:nvPr/>
            </p:nvSpPr>
            <p:spPr>
              <a:xfrm>
                <a:off x="-1" y="-1"/>
                <a:ext cx="969374" cy="798551"/>
              </a:xfrm>
              <a:prstGeom prst="ellipse">
                <a:avLst/>
              </a:prstGeom>
              <a:solidFill>
                <a:srgbClr val="FFFF99"/>
              </a:solidFill>
              <a:ln w="25400" cap="sq">
                <a:solidFill>
                  <a:srgbClr val="8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13" name="Shape 735"/>
              <p:cNvSpPr txBox="1"/>
              <p:nvPr/>
            </p:nvSpPr>
            <p:spPr>
              <a:xfrm>
                <a:off x="198043" y="54616"/>
                <a:ext cx="547884" cy="68206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/>
              <a:p>
                <a:pPr marR="56816" indent="56816" algn="ctr" defTabSz="1295400">
                  <a:defRPr sz="38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pPr>
                <a:r>
                  <a:t>v</a:t>
                </a:r>
                <a:r>
                  <a:rPr baseline="-20000"/>
                  <a:t>0</a:t>
                </a:r>
              </a:p>
            </p:txBody>
          </p:sp>
        </p:grpSp>
        <p:grpSp>
          <p:nvGrpSpPr>
            <p:cNvPr id="217" name="Group 739"/>
            <p:cNvGrpSpPr/>
            <p:nvPr/>
          </p:nvGrpSpPr>
          <p:grpSpPr>
            <a:xfrm>
              <a:off x="2622376" y="3242339"/>
              <a:ext cx="969373" cy="800497"/>
              <a:chOff x="0" y="0"/>
              <a:chExt cx="969372" cy="800496"/>
            </a:xfrm>
          </p:grpSpPr>
          <p:sp>
            <p:nvSpPr>
              <p:cNvPr id="215" name="Shape 737"/>
              <p:cNvSpPr/>
              <p:nvPr/>
            </p:nvSpPr>
            <p:spPr>
              <a:xfrm>
                <a:off x="-1" y="0"/>
                <a:ext cx="969374" cy="800497"/>
              </a:xfrm>
              <a:prstGeom prst="ellipse">
                <a:avLst/>
              </a:prstGeom>
              <a:solidFill>
                <a:srgbClr val="FFFF99"/>
              </a:solidFill>
              <a:ln w="25400" cap="sq">
                <a:solidFill>
                  <a:srgbClr val="8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16" name="Shape 738"/>
              <p:cNvSpPr txBox="1"/>
              <p:nvPr/>
            </p:nvSpPr>
            <p:spPr>
              <a:xfrm>
                <a:off x="210743" y="58228"/>
                <a:ext cx="547884" cy="68206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/>
              <a:p>
                <a:pPr marR="56816" indent="56816" algn="ctr" defTabSz="1295400">
                  <a:defRPr sz="38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pPr>
                <a:r>
                  <a:t>v</a:t>
                </a:r>
                <a:r>
                  <a:rPr baseline="-20000"/>
                  <a:t>2</a:t>
                </a:r>
              </a:p>
            </p:txBody>
          </p:sp>
        </p:grpSp>
        <p:grpSp>
          <p:nvGrpSpPr>
            <p:cNvPr id="220" name="Group 742"/>
            <p:cNvGrpSpPr/>
            <p:nvPr/>
          </p:nvGrpSpPr>
          <p:grpSpPr>
            <a:xfrm>
              <a:off x="2787465" y="0"/>
              <a:ext cx="969373" cy="798549"/>
              <a:chOff x="0" y="0"/>
              <a:chExt cx="969372" cy="798548"/>
            </a:xfrm>
          </p:grpSpPr>
          <p:sp>
            <p:nvSpPr>
              <p:cNvPr id="218" name="Shape 740"/>
              <p:cNvSpPr/>
              <p:nvPr/>
            </p:nvSpPr>
            <p:spPr>
              <a:xfrm>
                <a:off x="-1" y="0"/>
                <a:ext cx="969374" cy="798549"/>
              </a:xfrm>
              <a:prstGeom prst="ellipse">
                <a:avLst/>
              </a:prstGeom>
              <a:solidFill>
                <a:srgbClr val="FFFF99"/>
              </a:solidFill>
              <a:ln w="25400" cap="sq">
                <a:solidFill>
                  <a:srgbClr val="8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19" name="Shape 741"/>
              <p:cNvSpPr txBox="1"/>
              <p:nvPr/>
            </p:nvSpPr>
            <p:spPr>
              <a:xfrm>
                <a:off x="210743" y="58664"/>
                <a:ext cx="547884" cy="68206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/>
              <a:p>
                <a:pPr marR="56816" indent="56816" algn="ctr" defTabSz="1295400">
                  <a:defRPr sz="38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pPr>
                <a:r>
                  <a:t>v</a:t>
                </a:r>
                <a:r>
                  <a:rPr baseline="-20000"/>
                  <a:t>5</a:t>
                </a:r>
              </a:p>
            </p:txBody>
          </p:sp>
        </p:grpSp>
        <p:grpSp>
          <p:nvGrpSpPr>
            <p:cNvPr id="223" name="Group 745"/>
            <p:cNvGrpSpPr/>
            <p:nvPr/>
          </p:nvGrpSpPr>
          <p:grpSpPr>
            <a:xfrm>
              <a:off x="5284968" y="918765"/>
              <a:ext cx="969373" cy="798549"/>
              <a:chOff x="0" y="0"/>
              <a:chExt cx="969372" cy="798548"/>
            </a:xfrm>
          </p:grpSpPr>
          <p:sp>
            <p:nvSpPr>
              <p:cNvPr id="221" name="Shape 743"/>
              <p:cNvSpPr/>
              <p:nvPr/>
            </p:nvSpPr>
            <p:spPr>
              <a:xfrm>
                <a:off x="-1" y="0"/>
                <a:ext cx="969374" cy="798549"/>
              </a:xfrm>
              <a:prstGeom prst="ellipse">
                <a:avLst/>
              </a:prstGeom>
              <a:solidFill>
                <a:srgbClr val="FFFF99"/>
              </a:solidFill>
              <a:ln w="25400" cap="sq">
                <a:solidFill>
                  <a:srgbClr val="8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22" name="Shape 744"/>
              <p:cNvSpPr txBox="1"/>
              <p:nvPr/>
            </p:nvSpPr>
            <p:spPr>
              <a:xfrm>
                <a:off x="210743" y="57253"/>
                <a:ext cx="547884" cy="68206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/>
              <a:p>
                <a:pPr marR="56816" indent="56816" algn="ctr" defTabSz="1295400">
                  <a:defRPr sz="38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pPr>
                <a:r>
                  <a:t>v</a:t>
                </a:r>
                <a:r>
                  <a:rPr baseline="-20000"/>
                  <a:t>4</a:t>
                </a:r>
              </a:p>
            </p:txBody>
          </p:sp>
        </p:grpSp>
        <p:sp>
          <p:nvSpPr>
            <p:cNvPr id="224" name="Shape 746"/>
            <p:cNvSpPr txBox="1"/>
            <p:nvPr/>
          </p:nvSpPr>
          <p:spPr>
            <a:xfrm rot="780000">
              <a:off x="4475637" y="259828"/>
              <a:ext cx="629300" cy="6155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3600"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60</a:t>
              </a:r>
            </a:p>
          </p:txBody>
        </p:sp>
        <p:grpSp>
          <p:nvGrpSpPr>
            <p:cNvPr id="227" name="Group 749"/>
            <p:cNvGrpSpPr/>
            <p:nvPr/>
          </p:nvGrpSpPr>
          <p:grpSpPr>
            <a:xfrm>
              <a:off x="5166442" y="2566497"/>
              <a:ext cx="969373" cy="798549"/>
              <a:chOff x="0" y="0"/>
              <a:chExt cx="969372" cy="798548"/>
            </a:xfrm>
          </p:grpSpPr>
          <p:sp>
            <p:nvSpPr>
              <p:cNvPr id="225" name="Shape 747"/>
              <p:cNvSpPr/>
              <p:nvPr/>
            </p:nvSpPr>
            <p:spPr>
              <a:xfrm>
                <a:off x="-1" y="0"/>
                <a:ext cx="969374" cy="798549"/>
              </a:xfrm>
              <a:prstGeom prst="ellipse">
                <a:avLst/>
              </a:prstGeom>
              <a:solidFill>
                <a:srgbClr val="FFFF99"/>
              </a:solidFill>
              <a:ln w="25400" cap="sq">
                <a:solidFill>
                  <a:srgbClr val="8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26" name="Shape 748"/>
              <p:cNvSpPr txBox="1"/>
              <p:nvPr/>
            </p:nvSpPr>
            <p:spPr>
              <a:xfrm>
                <a:off x="210743" y="57253"/>
                <a:ext cx="547884" cy="68206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/>
              <a:p>
                <a:pPr marR="56816" indent="56816" algn="ctr" defTabSz="1295400">
                  <a:defRPr sz="38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pPr>
                <a:r>
                  <a:t>v</a:t>
                </a:r>
                <a:r>
                  <a:rPr baseline="-20000"/>
                  <a:t>3</a:t>
                </a:r>
              </a:p>
            </p:txBody>
          </p:sp>
        </p:grpSp>
        <p:sp>
          <p:nvSpPr>
            <p:cNvPr id="228" name="Shape 750"/>
            <p:cNvSpPr txBox="1"/>
            <p:nvPr/>
          </p:nvSpPr>
          <p:spPr>
            <a:xfrm>
              <a:off x="5663826" y="1822485"/>
              <a:ext cx="629300" cy="6155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3600"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20</a:t>
              </a:r>
            </a:p>
          </p:txBody>
        </p:sp>
        <p:sp>
          <p:nvSpPr>
            <p:cNvPr id="229" name="Shape 751"/>
            <p:cNvSpPr/>
            <p:nvPr/>
          </p:nvSpPr>
          <p:spPr>
            <a:xfrm flipV="1">
              <a:off x="969369" y="1399840"/>
              <a:ext cx="4362163" cy="50642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30" name="Shape 752"/>
            <p:cNvSpPr txBox="1"/>
            <p:nvPr/>
          </p:nvSpPr>
          <p:spPr>
            <a:xfrm>
              <a:off x="2423423" y="940189"/>
              <a:ext cx="629300" cy="6155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3600"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Shape 1069"/>
          <p:cNvSpPr txBox="1"/>
          <p:nvPr/>
        </p:nvSpPr>
        <p:spPr>
          <a:xfrm>
            <a:off x="2812485" y="237348"/>
            <a:ext cx="7632701" cy="876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 marR="52597" indent="52597" algn="ctr" defTabSz="1178813">
              <a:lnSpc>
                <a:spcPct val="115000"/>
              </a:lnSpc>
              <a:defRPr b="1" sz="4300">
                <a:uFill>
                  <a:solidFill>
                    <a:srgbClr val="000000"/>
                  </a:solidFill>
                </a:uFill>
              </a:defRPr>
            </a:pPr>
            <a:r>
              <a:t>Dijkstra</a:t>
            </a:r>
            <a:r>
              <a:rPr b="0">
                <a:latin typeface="Arial Black"/>
                <a:ea typeface="Arial Black"/>
                <a:cs typeface="Arial Black"/>
                <a:sym typeface="Arial Black"/>
              </a:rPr>
              <a:t>算法</a:t>
            </a:r>
          </a:p>
        </p:txBody>
      </p:sp>
      <p:sp>
        <p:nvSpPr>
          <p:cNvPr id="234" name="v2出队： Relax(v2, v3)"/>
          <p:cNvSpPr txBox="1"/>
          <p:nvPr/>
        </p:nvSpPr>
        <p:spPr>
          <a:xfrm>
            <a:off x="7278563" y="5118100"/>
            <a:ext cx="310851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500"/>
            </a:pPr>
            <a:r>
              <a:t>v</a:t>
            </a:r>
            <a:r>
              <a:rPr baseline="-5999"/>
              <a:t>2</a:t>
            </a:r>
            <a:r>
              <a:t>出队： Relax(v</a:t>
            </a:r>
            <a:r>
              <a:rPr baseline="-5999"/>
              <a:t>2</a:t>
            </a:r>
            <a:r>
              <a:t>, v</a:t>
            </a:r>
            <a:r>
              <a:rPr baseline="-5999"/>
              <a:t>3</a:t>
            </a:r>
            <a:r>
              <a:t>)</a:t>
            </a:r>
          </a:p>
        </p:txBody>
      </p:sp>
      <p:grpSp>
        <p:nvGrpSpPr>
          <p:cNvPr id="257" name="成组"/>
          <p:cNvGrpSpPr/>
          <p:nvPr/>
        </p:nvGrpSpPr>
        <p:grpSpPr>
          <a:xfrm>
            <a:off x="255382" y="1333642"/>
            <a:ext cx="6197602" cy="3645213"/>
            <a:chOff x="25400" y="0"/>
            <a:chExt cx="6197601" cy="3645212"/>
          </a:xfrm>
        </p:grpSpPr>
        <p:grpSp>
          <p:nvGrpSpPr>
            <p:cNvPr id="255" name="成组"/>
            <p:cNvGrpSpPr/>
            <p:nvPr/>
          </p:nvGrpSpPr>
          <p:grpSpPr>
            <a:xfrm>
              <a:off x="25400" y="0"/>
              <a:ext cx="6197602" cy="2996953"/>
              <a:chOff x="25400" y="0"/>
              <a:chExt cx="6197601" cy="2996952"/>
            </a:xfrm>
          </p:grpSpPr>
          <p:graphicFrame>
            <p:nvGraphicFramePr>
              <p:cNvPr id="235" name="Table 698"/>
              <p:cNvGraphicFramePr/>
              <p:nvPr/>
            </p:nvGraphicFramePr>
            <p:xfrm>
              <a:off x="50800" y="467867"/>
              <a:ext cx="6172202" cy="685802"/>
            </p:xfrm>
            <a:graphic xmlns:a="http://schemas.openxmlformats.org/drawingml/2006/main">
              <a:graphicData uri="http://schemas.openxmlformats.org/drawingml/2006/table">
                <a:tbl>
                  <a:tblPr firstCol="0" firstRow="0" lastCol="0" lastRow="0" bandCol="0" bandRow="0" rtl="0">
                    <a:tableStyleId>{4C3C2611-4C71-4FC5-86AE-919BDF0F9419}</a:tableStyleId>
                  </a:tblPr>
                  <a:tblGrid>
                    <a:gridCol w="1028700"/>
                    <a:gridCol w="1028700"/>
                    <a:gridCol w="1028700"/>
                    <a:gridCol w="1028700"/>
                    <a:gridCol w="1028700"/>
                    <a:gridCol w="1028700"/>
                  </a:tblGrid>
                  <a:tr h="685800"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-1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-1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1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-1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1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1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</a:tr>
                </a:tbl>
              </a:graphicData>
            </a:graphic>
          </p:graphicFrame>
          <p:graphicFrame>
            <p:nvGraphicFramePr>
              <p:cNvPr id="236" name="Table 699"/>
              <p:cNvGraphicFramePr/>
              <p:nvPr/>
            </p:nvGraphicFramePr>
            <p:xfrm>
              <a:off x="25400" y="1864867"/>
              <a:ext cx="6172202" cy="685802"/>
            </p:xfrm>
            <a:graphic xmlns:a="http://schemas.openxmlformats.org/drawingml/2006/main">
              <a:graphicData uri="http://schemas.openxmlformats.org/drawingml/2006/table">
                <a:tbl>
                  <a:tblPr firstCol="0" firstRow="0" lastCol="0" lastRow="0" bandCol="0" bandRow="0" rtl="0">
                    <a:tableStyleId>{4C3C2611-4C71-4FC5-86AE-919BDF0F9419}</a:tableStyleId>
                  </a:tblPr>
                  <a:tblGrid>
                    <a:gridCol w="1028700"/>
                    <a:gridCol w="1028700"/>
                    <a:gridCol w="1028700"/>
                    <a:gridCol w="1028700"/>
                    <a:gridCol w="1028700"/>
                    <a:gridCol w="1028700"/>
                  </a:tblGrid>
                  <a:tr h="685800"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>
                              <a:latin typeface="Abadi MT Condensed Extra Bold"/>
                              <a:ea typeface="Abadi MT Condensed Extra Bold"/>
                              <a:cs typeface="Abadi MT Condensed Extra Bold"/>
                              <a:sym typeface="Abadi MT Condensed Extra Bold"/>
                            </a:rPr>
                            <a:t>∞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0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10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∞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30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100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</a:tr>
                </a:tbl>
              </a:graphicData>
            </a:graphic>
          </p:graphicFrame>
          <p:sp>
            <p:nvSpPr>
              <p:cNvPr id="237" name="Shape 700"/>
              <p:cNvSpPr txBox="1"/>
              <p:nvPr/>
            </p:nvSpPr>
            <p:spPr>
              <a:xfrm>
                <a:off x="152399" y="2565400"/>
                <a:ext cx="679902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d[0]</a:t>
                </a:r>
              </a:p>
            </p:txBody>
          </p:sp>
          <p:sp>
            <p:nvSpPr>
              <p:cNvPr id="238" name="Shape 701"/>
              <p:cNvSpPr txBox="1"/>
              <p:nvPr/>
            </p:nvSpPr>
            <p:spPr>
              <a:xfrm>
                <a:off x="1155700" y="2565400"/>
                <a:ext cx="679901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d[1]</a:t>
                </a:r>
              </a:p>
            </p:txBody>
          </p:sp>
          <p:sp>
            <p:nvSpPr>
              <p:cNvPr id="239" name="Shape 702"/>
              <p:cNvSpPr txBox="1"/>
              <p:nvPr/>
            </p:nvSpPr>
            <p:spPr>
              <a:xfrm>
                <a:off x="2209800" y="2565400"/>
                <a:ext cx="679901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d[2]</a:t>
                </a:r>
              </a:p>
            </p:txBody>
          </p:sp>
          <p:sp>
            <p:nvSpPr>
              <p:cNvPr id="240" name="Shape 703"/>
              <p:cNvSpPr txBox="1"/>
              <p:nvPr/>
            </p:nvSpPr>
            <p:spPr>
              <a:xfrm>
                <a:off x="3263900" y="2565400"/>
                <a:ext cx="679902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d[3]</a:t>
                </a:r>
              </a:p>
            </p:txBody>
          </p:sp>
          <p:sp>
            <p:nvSpPr>
              <p:cNvPr id="241" name="Shape 704"/>
              <p:cNvSpPr txBox="1"/>
              <p:nvPr/>
            </p:nvSpPr>
            <p:spPr>
              <a:xfrm>
                <a:off x="4279900" y="2565400"/>
                <a:ext cx="679902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d[4]</a:t>
                </a:r>
              </a:p>
            </p:txBody>
          </p:sp>
          <p:sp>
            <p:nvSpPr>
              <p:cNvPr id="242" name="Shape 705"/>
              <p:cNvSpPr txBox="1"/>
              <p:nvPr/>
            </p:nvSpPr>
            <p:spPr>
              <a:xfrm>
                <a:off x="5308601" y="2565400"/>
                <a:ext cx="679901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d[5]</a:t>
                </a:r>
              </a:p>
            </p:txBody>
          </p:sp>
          <p:sp>
            <p:nvSpPr>
              <p:cNvPr id="243" name="Shape 706"/>
              <p:cNvSpPr txBox="1"/>
              <p:nvPr/>
            </p:nvSpPr>
            <p:spPr>
              <a:xfrm>
                <a:off x="342900" y="0"/>
                <a:ext cx="426100" cy="4315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/>
              <a:p>
                <a: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v</a:t>
                </a:r>
                <a:r>
                  <a:rPr baseline="-5998"/>
                  <a:t>0</a:t>
                </a:r>
              </a:p>
            </p:txBody>
          </p:sp>
          <p:sp>
            <p:nvSpPr>
              <p:cNvPr id="244" name="Shape 707"/>
              <p:cNvSpPr txBox="1"/>
              <p:nvPr/>
            </p:nvSpPr>
            <p:spPr>
              <a:xfrm>
                <a:off x="1371600" y="0"/>
                <a:ext cx="426100" cy="4315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/>
              <a:p>
                <a: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v</a:t>
                </a:r>
                <a:r>
                  <a:rPr baseline="-5998"/>
                  <a:t>1</a:t>
                </a:r>
              </a:p>
            </p:txBody>
          </p:sp>
          <p:sp>
            <p:nvSpPr>
              <p:cNvPr id="245" name="Shape 708"/>
              <p:cNvSpPr txBox="1"/>
              <p:nvPr/>
            </p:nvSpPr>
            <p:spPr>
              <a:xfrm>
                <a:off x="2413000" y="0"/>
                <a:ext cx="426100" cy="4315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/>
              <a:p>
                <a: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v</a:t>
                </a:r>
                <a:r>
                  <a:rPr baseline="-5998"/>
                  <a:t>2</a:t>
                </a:r>
              </a:p>
            </p:txBody>
          </p:sp>
          <p:sp>
            <p:nvSpPr>
              <p:cNvPr id="246" name="Shape 709"/>
              <p:cNvSpPr txBox="1"/>
              <p:nvPr/>
            </p:nvSpPr>
            <p:spPr>
              <a:xfrm>
                <a:off x="3416300" y="0"/>
                <a:ext cx="426100" cy="4315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/>
              <a:p>
                <a: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v</a:t>
                </a:r>
                <a:r>
                  <a:rPr baseline="-5998"/>
                  <a:t>3</a:t>
                </a:r>
              </a:p>
            </p:txBody>
          </p:sp>
          <p:sp>
            <p:nvSpPr>
              <p:cNvPr id="247" name="Shape 710"/>
              <p:cNvSpPr txBox="1"/>
              <p:nvPr/>
            </p:nvSpPr>
            <p:spPr>
              <a:xfrm>
                <a:off x="4445000" y="0"/>
                <a:ext cx="426100" cy="4315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/>
              <a:p>
                <a: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v</a:t>
                </a:r>
                <a:r>
                  <a:rPr baseline="-5998"/>
                  <a:t>4</a:t>
                </a:r>
              </a:p>
            </p:txBody>
          </p:sp>
          <p:sp>
            <p:nvSpPr>
              <p:cNvPr id="248" name="Shape 711"/>
              <p:cNvSpPr txBox="1"/>
              <p:nvPr/>
            </p:nvSpPr>
            <p:spPr>
              <a:xfrm>
                <a:off x="5422901" y="0"/>
                <a:ext cx="426100" cy="4315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/>
              <a:p>
                <a: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v</a:t>
                </a:r>
                <a:r>
                  <a:rPr baseline="-5998"/>
                  <a:t>5</a:t>
                </a:r>
              </a:p>
            </p:txBody>
          </p:sp>
          <p:sp>
            <p:nvSpPr>
              <p:cNvPr id="249" name="Shape 712"/>
              <p:cNvSpPr txBox="1"/>
              <p:nvPr/>
            </p:nvSpPr>
            <p:spPr>
              <a:xfrm>
                <a:off x="215900" y="1168400"/>
                <a:ext cx="679901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p[0]</a:t>
                </a:r>
              </a:p>
            </p:txBody>
          </p:sp>
          <p:sp>
            <p:nvSpPr>
              <p:cNvPr id="250" name="Shape 713"/>
              <p:cNvSpPr txBox="1"/>
              <p:nvPr/>
            </p:nvSpPr>
            <p:spPr>
              <a:xfrm>
                <a:off x="1219200" y="1168400"/>
                <a:ext cx="679901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p[1]</a:t>
                </a:r>
              </a:p>
            </p:txBody>
          </p:sp>
          <p:sp>
            <p:nvSpPr>
              <p:cNvPr id="251" name="Shape 714"/>
              <p:cNvSpPr txBox="1"/>
              <p:nvPr/>
            </p:nvSpPr>
            <p:spPr>
              <a:xfrm>
                <a:off x="2273300" y="1168400"/>
                <a:ext cx="679901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p[2]</a:t>
                </a:r>
              </a:p>
            </p:txBody>
          </p:sp>
          <p:sp>
            <p:nvSpPr>
              <p:cNvPr id="252" name="Shape 715"/>
              <p:cNvSpPr txBox="1"/>
              <p:nvPr/>
            </p:nvSpPr>
            <p:spPr>
              <a:xfrm>
                <a:off x="3327400" y="1168400"/>
                <a:ext cx="679902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p[3]</a:t>
                </a:r>
              </a:p>
            </p:txBody>
          </p:sp>
          <p:sp>
            <p:nvSpPr>
              <p:cNvPr id="253" name="Shape 716"/>
              <p:cNvSpPr txBox="1"/>
              <p:nvPr/>
            </p:nvSpPr>
            <p:spPr>
              <a:xfrm>
                <a:off x="4343400" y="1168400"/>
                <a:ext cx="679902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p[4]</a:t>
                </a:r>
              </a:p>
            </p:txBody>
          </p:sp>
          <p:sp>
            <p:nvSpPr>
              <p:cNvPr id="254" name="Shape 717"/>
              <p:cNvSpPr txBox="1"/>
              <p:nvPr/>
            </p:nvSpPr>
            <p:spPr>
              <a:xfrm>
                <a:off x="5372101" y="1168400"/>
                <a:ext cx="679901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p[5]</a:t>
                </a:r>
              </a:p>
            </p:txBody>
          </p:sp>
        </p:grpSp>
        <p:sp>
          <p:nvSpPr>
            <p:cNvPr id="256" name="S = {v1}         Q = {v0, v2, v3, v4, v5}"/>
            <p:cNvSpPr txBox="1"/>
            <p:nvPr/>
          </p:nvSpPr>
          <p:spPr>
            <a:xfrm>
              <a:off x="382230" y="3201499"/>
              <a:ext cx="4800035" cy="4437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2500"/>
              </a:pPr>
              <a:r>
                <a:t>S = {v</a:t>
              </a:r>
              <a:r>
                <a:rPr baseline="-5999"/>
                <a:t>1</a:t>
              </a:r>
              <a:r>
                <a:t>}         Q = {v</a:t>
              </a:r>
              <a:r>
                <a:rPr baseline="-5999"/>
                <a:t>0</a:t>
              </a:r>
              <a:r>
                <a:t>, v</a:t>
              </a:r>
              <a:r>
                <a:rPr baseline="-5999"/>
                <a:t>2</a:t>
              </a:r>
              <a:r>
                <a:t>, v</a:t>
              </a:r>
              <a:r>
                <a:rPr baseline="-5999"/>
                <a:t>3</a:t>
              </a:r>
              <a:r>
                <a:t>, v</a:t>
              </a:r>
              <a:r>
                <a:rPr baseline="-5999"/>
                <a:t>4</a:t>
              </a:r>
              <a:r>
                <a:t>, v</a:t>
              </a:r>
              <a:r>
                <a:rPr baseline="-5999"/>
                <a:t>5</a:t>
              </a:r>
              <a:r>
                <a:t>}</a:t>
              </a:r>
            </a:p>
          </p:txBody>
        </p:sp>
      </p:grpSp>
      <p:grpSp>
        <p:nvGrpSpPr>
          <p:cNvPr id="280" name="成组"/>
          <p:cNvGrpSpPr/>
          <p:nvPr/>
        </p:nvGrpSpPr>
        <p:grpSpPr>
          <a:xfrm>
            <a:off x="6664365" y="1333642"/>
            <a:ext cx="6197602" cy="3645213"/>
            <a:chOff x="25400" y="0"/>
            <a:chExt cx="6197601" cy="3645212"/>
          </a:xfrm>
        </p:grpSpPr>
        <p:grpSp>
          <p:nvGrpSpPr>
            <p:cNvPr id="278" name="成组"/>
            <p:cNvGrpSpPr/>
            <p:nvPr/>
          </p:nvGrpSpPr>
          <p:grpSpPr>
            <a:xfrm>
              <a:off x="25400" y="0"/>
              <a:ext cx="6197602" cy="2996953"/>
              <a:chOff x="25400" y="0"/>
              <a:chExt cx="6197601" cy="2996952"/>
            </a:xfrm>
          </p:grpSpPr>
          <p:graphicFrame>
            <p:nvGraphicFramePr>
              <p:cNvPr id="258" name="Table 698"/>
              <p:cNvGraphicFramePr/>
              <p:nvPr/>
            </p:nvGraphicFramePr>
            <p:xfrm>
              <a:off x="50800" y="467867"/>
              <a:ext cx="6172202" cy="685802"/>
            </p:xfrm>
            <a:graphic xmlns:a="http://schemas.openxmlformats.org/drawingml/2006/main">
              <a:graphicData uri="http://schemas.openxmlformats.org/drawingml/2006/table">
                <a:tbl>
                  <a:tblPr firstCol="0" firstRow="0" lastCol="0" lastRow="0" bandCol="0" bandRow="0" rtl="0">
                    <a:tableStyleId>{4C3C2611-4C71-4FC5-86AE-919BDF0F9419}</a:tableStyleId>
                  </a:tblPr>
                  <a:tblGrid>
                    <a:gridCol w="1028700"/>
                    <a:gridCol w="1028700"/>
                    <a:gridCol w="1028700"/>
                    <a:gridCol w="1028700"/>
                    <a:gridCol w="1028700"/>
                    <a:gridCol w="1028700"/>
                  </a:tblGrid>
                  <a:tr h="685800"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-1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-1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1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>
                              <a:solidFill>
                                <a:schemeClr val="accent1"/>
                              </a:solidFill>
                            </a:rPr>
                            <a:t>2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1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1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</a:tr>
                </a:tbl>
              </a:graphicData>
            </a:graphic>
          </p:graphicFrame>
          <p:graphicFrame>
            <p:nvGraphicFramePr>
              <p:cNvPr id="259" name="Table 699"/>
              <p:cNvGraphicFramePr/>
              <p:nvPr/>
            </p:nvGraphicFramePr>
            <p:xfrm>
              <a:off x="25400" y="1864867"/>
              <a:ext cx="6172202" cy="685802"/>
            </p:xfrm>
            <a:graphic xmlns:a="http://schemas.openxmlformats.org/drawingml/2006/main">
              <a:graphicData uri="http://schemas.openxmlformats.org/drawingml/2006/table">
                <a:tbl>
                  <a:tblPr firstCol="0" firstRow="0" lastCol="0" lastRow="0" bandCol="0" bandRow="0" rtl="0">
                    <a:tableStyleId>{4C3C2611-4C71-4FC5-86AE-919BDF0F9419}</a:tableStyleId>
                  </a:tblPr>
                  <a:tblGrid>
                    <a:gridCol w="1028700"/>
                    <a:gridCol w="1028700"/>
                    <a:gridCol w="1028700"/>
                    <a:gridCol w="1028700"/>
                    <a:gridCol w="1028700"/>
                    <a:gridCol w="1028700"/>
                  </a:tblGrid>
                  <a:tr h="685800"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>
                              <a:latin typeface="Abadi MT Condensed Extra Bold"/>
                              <a:ea typeface="Abadi MT Condensed Extra Bold"/>
                              <a:cs typeface="Abadi MT Condensed Extra Bold"/>
                              <a:sym typeface="Abadi MT Condensed Extra Bold"/>
                            </a:rPr>
                            <a:t>∞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0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10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>
                              <a:solidFill>
                                <a:schemeClr val="accent1"/>
                              </a:solidFill>
                            </a:rPr>
                            <a:t>60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30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100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</a:tr>
                </a:tbl>
              </a:graphicData>
            </a:graphic>
          </p:graphicFrame>
          <p:sp>
            <p:nvSpPr>
              <p:cNvPr id="260" name="Shape 700"/>
              <p:cNvSpPr txBox="1"/>
              <p:nvPr/>
            </p:nvSpPr>
            <p:spPr>
              <a:xfrm>
                <a:off x="152399" y="2565400"/>
                <a:ext cx="679902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d[0]</a:t>
                </a:r>
              </a:p>
            </p:txBody>
          </p:sp>
          <p:sp>
            <p:nvSpPr>
              <p:cNvPr id="261" name="Shape 701"/>
              <p:cNvSpPr txBox="1"/>
              <p:nvPr/>
            </p:nvSpPr>
            <p:spPr>
              <a:xfrm>
                <a:off x="1155700" y="2565400"/>
                <a:ext cx="679901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d[1]</a:t>
                </a:r>
              </a:p>
            </p:txBody>
          </p:sp>
          <p:sp>
            <p:nvSpPr>
              <p:cNvPr id="262" name="Shape 702"/>
              <p:cNvSpPr txBox="1"/>
              <p:nvPr/>
            </p:nvSpPr>
            <p:spPr>
              <a:xfrm>
                <a:off x="2209800" y="2565400"/>
                <a:ext cx="679901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d[2]</a:t>
                </a:r>
              </a:p>
            </p:txBody>
          </p:sp>
          <p:sp>
            <p:nvSpPr>
              <p:cNvPr id="263" name="Shape 703"/>
              <p:cNvSpPr txBox="1"/>
              <p:nvPr/>
            </p:nvSpPr>
            <p:spPr>
              <a:xfrm>
                <a:off x="3263900" y="2565400"/>
                <a:ext cx="679902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d[3]</a:t>
                </a:r>
              </a:p>
            </p:txBody>
          </p:sp>
          <p:sp>
            <p:nvSpPr>
              <p:cNvPr id="264" name="Shape 704"/>
              <p:cNvSpPr txBox="1"/>
              <p:nvPr/>
            </p:nvSpPr>
            <p:spPr>
              <a:xfrm>
                <a:off x="4279900" y="2565400"/>
                <a:ext cx="679902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d[4]</a:t>
                </a:r>
              </a:p>
            </p:txBody>
          </p:sp>
          <p:sp>
            <p:nvSpPr>
              <p:cNvPr id="265" name="Shape 705"/>
              <p:cNvSpPr txBox="1"/>
              <p:nvPr/>
            </p:nvSpPr>
            <p:spPr>
              <a:xfrm>
                <a:off x="5308601" y="2565400"/>
                <a:ext cx="679901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d[5]</a:t>
                </a:r>
              </a:p>
            </p:txBody>
          </p:sp>
          <p:sp>
            <p:nvSpPr>
              <p:cNvPr id="266" name="Shape 706"/>
              <p:cNvSpPr txBox="1"/>
              <p:nvPr/>
            </p:nvSpPr>
            <p:spPr>
              <a:xfrm>
                <a:off x="342900" y="0"/>
                <a:ext cx="426100" cy="4315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/>
              <a:p>
                <a: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v</a:t>
                </a:r>
                <a:r>
                  <a:rPr baseline="-5998"/>
                  <a:t>0</a:t>
                </a:r>
              </a:p>
            </p:txBody>
          </p:sp>
          <p:sp>
            <p:nvSpPr>
              <p:cNvPr id="267" name="Shape 707"/>
              <p:cNvSpPr txBox="1"/>
              <p:nvPr/>
            </p:nvSpPr>
            <p:spPr>
              <a:xfrm>
                <a:off x="1371600" y="0"/>
                <a:ext cx="426100" cy="4315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/>
              <a:p>
                <a: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v</a:t>
                </a:r>
                <a:r>
                  <a:rPr baseline="-5998"/>
                  <a:t>1</a:t>
                </a:r>
              </a:p>
            </p:txBody>
          </p:sp>
          <p:sp>
            <p:nvSpPr>
              <p:cNvPr id="268" name="Shape 708"/>
              <p:cNvSpPr txBox="1"/>
              <p:nvPr/>
            </p:nvSpPr>
            <p:spPr>
              <a:xfrm>
                <a:off x="2413000" y="0"/>
                <a:ext cx="426100" cy="4315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/>
              <a:p>
                <a: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v</a:t>
                </a:r>
                <a:r>
                  <a:rPr baseline="-5998"/>
                  <a:t>2</a:t>
                </a:r>
              </a:p>
            </p:txBody>
          </p:sp>
          <p:sp>
            <p:nvSpPr>
              <p:cNvPr id="269" name="Shape 709"/>
              <p:cNvSpPr txBox="1"/>
              <p:nvPr/>
            </p:nvSpPr>
            <p:spPr>
              <a:xfrm>
                <a:off x="3416300" y="0"/>
                <a:ext cx="426100" cy="4315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/>
              <a:p>
                <a: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v</a:t>
                </a:r>
                <a:r>
                  <a:rPr baseline="-5998"/>
                  <a:t>3</a:t>
                </a:r>
              </a:p>
            </p:txBody>
          </p:sp>
          <p:sp>
            <p:nvSpPr>
              <p:cNvPr id="270" name="Shape 710"/>
              <p:cNvSpPr txBox="1"/>
              <p:nvPr/>
            </p:nvSpPr>
            <p:spPr>
              <a:xfrm>
                <a:off x="4445000" y="0"/>
                <a:ext cx="426100" cy="4315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/>
              <a:p>
                <a: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v</a:t>
                </a:r>
                <a:r>
                  <a:rPr baseline="-5998"/>
                  <a:t>4</a:t>
                </a:r>
              </a:p>
            </p:txBody>
          </p:sp>
          <p:sp>
            <p:nvSpPr>
              <p:cNvPr id="271" name="Shape 711"/>
              <p:cNvSpPr txBox="1"/>
              <p:nvPr/>
            </p:nvSpPr>
            <p:spPr>
              <a:xfrm>
                <a:off x="5422901" y="0"/>
                <a:ext cx="426100" cy="4315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/>
              <a:p>
                <a: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v</a:t>
                </a:r>
                <a:r>
                  <a:rPr baseline="-5998"/>
                  <a:t>5</a:t>
                </a:r>
              </a:p>
            </p:txBody>
          </p:sp>
          <p:sp>
            <p:nvSpPr>
              <p:cNvPr id="272" name="Shape 712"/>
              <p:cNvSpPr txBox="1"/>
              <p:nvPr/>
            </p:nvSpPr>
            <p:spPr>
              <a:xfrm>
                <a:off x="215900" y="1168400"/>
                <a:ext cx="679901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p[0]</a:t>
                </a:r>
              </a:p>
            </p:txBody>
          </p:sp>
          <p:sp>
            <p:nvSpPr>
              <p:cNvPr id="273" name="Shape 713"/>
              <p:cNvSpPr txBox="1"/>
              <p:nvPr/>
            </p:nvSpPr>
            <p:spPr>
              <a:xfrm>
                <a:off x="1219200" y="1168400"/>
                <a:ext cx="679901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p[1]</a:t>
                </a:r>
              </a:p>
            </p:txBody>
          </p:sp>
          <p:sp>
            <p:nvSpPr>
              <p:cNvPr id="274" name="Shape 714"/>
              <p:cNvSpPr txBox="1"/>
              <p:nvPr/>
            </p:nvSpPr>
            <p:spPr>
              <a:xfrm>
                <a:off x="2273300" y="1168400"/>
                <a:ext cx="679901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p[2]</a:t>
                </a:r>
              </a:p>
            </p:txBody>
          </p:sp>
          <p:sp>
            <p:nvSpPr>
              <p:cNvPr id="275" name="Shape 715"/>
              <p:cNvSpPr txBox="1"/>
              <p:nvPr/>
            </p:nvSpPr>
            <p:spPr>
              <a:xfrm>
                <a:off x="3327400" y="1168400"/>
                <a:ext cx="679902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p[3]</a:t>
                </a:r>
              </a:p>
            </p:txBody>
          </p:sp>
          <p:sp>
            <p:nvSpPr>
              <p:cNvPr id="276" name="Shape 716"/>
              <p:cNvSpPr txBox="1"/>
              <p:nvPr/>
            </p:nvSpPr>
            <p:spPr>
              <a:xfrm>
                <a:off x="4343400" y="1168400"/>
                <a:ext cx="679902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p[4]</a:t>
                </a:r>
              </a:p>
            </p:txBody>
          </p:sp>
          <p:sp>
            <p:nvSpPr>
              <p:cNvPr id="277" name="Shape 717"/>
              <p:cNvSpPr txBox="1"/>
              <p:nvPr/>
            </p:nvSpPr>
            <p:spPr>
              <a:xfrm>
                <a:off x="5372101" y="1168400"/>
                <a:ext cx="679901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p[5]</a:t>
                </a:r>
              </a:p>
            </p:txBody>
          </p:sp>
        </p:grpSp>
        <p:sp>
          <p:nvSpPr>
            <p:cNvPr id="279" name="S = {v1, v2}        Q = {v0, v3, v4, v5}"/>
            <p:cNvSpPr txBox="1"/>
            <p:nvPr/>
          </p:nvSpPr>
          <p:spPr>
            <a:xfrm>
              <a:off x="382230" y="3201499"/>
              <a:ext cx="4720660" cy="4437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2500"/>
              </a:pPr>
              <a:r>
                <a:t>S = {v</a:t>
              </a:r>
              <a:r>
                <a:rPr baseline="-5999"/>
                <a:t>1</a:t>
              </a:r>
              <a:r>
                <a:t>, v</a:t>
              </a:r>
              <a:r>
                <a:rPr baseline="-5999"/>
                <a:t>2</a:t>
              </a:r>
              <a:r>
                <a:t>}        Q = {v</a:t>
              </a:r>
              <a:r>
                <a:rPr baseline="-5999"/>
                <a:t>0</a:t>
              </a:r>
              <a:r>
                <a:t>, v</a:t>
              </a:r>
              <a:r>
                <a:rPr baseline="-5999"/>
                <a:t>3</a:t>
              </a:r>
              <a:r>
                <a:t>, v</a:t>
              </a:r>
              <a:r>
                <a:rPr baseline="-5999"/>
                <a:t>4</a:t>
              </a:r>
              <a:r>
                <a:t>, v</a:t>
              </a:r>
              <a:r>
                <a:rPr baseline="-5999"/>
                <a:t>5</a:t>
              </a:r>
              <a:r>
                <a:t>}</a:t>
              </a:r>
            </a:p>
          </p:txBody>
        </p:sp>
      </p:grpSp>
      <p:grpSp>
        <p:nvGrpSpPr>
          <p:cNvPr id="315" name="成组"/>
          <p:cNvGrpSpPr/>
          <p:nvPr/>
        </p:nvGrpSpPr>
        <p:grpSpPr>
          <a:xfrm>
            <a:off x="541736" y="4953720"/>
            <a:ext cx="6293127" cy="4042836"/>
            <a:chOff x="0" y="0"/>
            <a:chExt cx="6293125" cy="4042835"/>
          </a:xfrm>
        </p:grpSpPr>
        <p:grpSp>
          <p:nvGrpSpPr>
            <p:cNvPr id="283" name="Group 721"/>
            <p:cNvGrpSpPr/>
            <p:nvPr/>
          </p:nvGrpSpPr>
          <p:grpSpPr>
            <a:xfrm>
              <a:off x="0" y="1000567"/>
              <a:ext cx="969373" cy="798549"/>
              <a:chOff x="0" y="0"/>
              <a:chExt cx="969372" cy="798548"/>
            </a:xfrm>
          </p:grpSpPr>
          <p:sp>
            <p:nvSpPr>
              <p:cNvPr id="281" name="Shape 719"/>
              <p:cNvSpPr/>
              <p:nvPr/>
            </p:nvSpPr>
            <p:spPr>
              <a:xfrm>
                <a:off x="-1" y="0"/>
                <a:ext cx="969374" cy="798549"/>
              </a:xfrm>
              <a:prstGeom prst="ellipse">
                <a:avLst/>
              </a:prstGeom>
              <a:solidFill>
                <a:srgbClr val="99CCFF"/>
              </a:solidFill>
              <a:ln w="25400" cap="sq">
                <a:solidFill>
                  <a:srgbClr val="00008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82" name="Shape 720"/>
              <p:cNvSpPr txBox="1"/>
              <p:nvPr/>
            </p:nvSpPr>
            <p:spPr>
              <a:xfrm>
                <a:off x="210743" y="57253"/>
                <a:ext cx="547884" cy="68206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/>
              <a:p>
                <a:pPr marR="56816" indent="56816" algn="ctr" defTabSz="1295400">
                  <a:defRPr sz="38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pPr>
                <a:r>
                  <a:t>v</a:t>
                </a:r>
                <a:r>
                  <a:rPr baseline="-20000"/>
                  <a:t>1</a:t>
                </a:r>
              </a:p>
            </p:txBody>
          </p:sp>
        </p:grpSp>
        <p:sp>
          <p:nvSpPr>
            <p:cNvPr id="284" name="Shape 722"/>
            <p:cNvSpPr/>
            <p:nvPr/>
          </p:nvSpPr>
          <p:spPr>
            <a:xfrm flipV="1">
              <a:off x="982067" y="455218"/>
              <a:ext cx="1818099" cy="899827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85" name="Shape 723"/>
            <p:cNvSpPr/>
            <p:nvPr/>
          </p:nvSpPr>
          <p:spPr>
            <a:xfrm>
              <a:off x="969369" y="1499171"/>
              <a:ext cx="1818098" cy="1898984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86" name="Shape 724"/>
            <p:cNvSpPr/>
            <p:nvPr/>
          </p:nvSpPr>
          <p:spPr>
            <a:xfrm flipH="1" flipV="1">
              <a:off x="3513434" y="700625"/>
              <a:ext cx="1818099" cy="1998315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87" name="Shape 725"/>
            <p:cNvSpPr/>
            <p:nvPr/>
          </p:nvSpPr>
          <p:spPr>
            <a:xfrm>
              <a:off x="5695573" y="1721206"/>
              <a:ext cx="2260" cy="884245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88" name="Shape 726"/>
            <p:cNvSpPr/>
            <p:nvPr/>
          </p:nvSpPr>
          <p:spPr>
            <a:xfrm flipV="1">
              <a:off x="3636193" y="3098212"/>
              <a:ext cx="1574698" cy="498606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89" name="Shape 727"/>
            <p:cNvSpPr/>
            <p:nvPr/>
          </p:nvSpPr>
          <p:spPr>
            <a:xfrm flipH="1" flipV="1">
              <a:off x="3756835" y="500015"/>
              <a:ext cx="1695340" cy="500554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90" name="Shape 728"/>
            <p:cNvSpPr/>
            <p:nvPr/>
          </p:nvSpPr>
          <p:spPr>
            <a:xfrm>
              <a:off x="1333411" y="3098211"/>
              <a:ext cx="1333414" cy="498607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91" name="Shape 729"/>
            <p:cNvSpPr txBox="1"/>
            <p:nvPr/>
          </p:nvSpPr>
          <p:spPr>
            <a:xfrm rot="19860000">
              <a:off x="1105574" y="454500"/>
              <a:ext cx="857900" cy="6155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3600"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100</a:t>
              </a:r>
            </a:p>
          </p:txBody>
        </p:sp>
        <p:sp>
          <p:nvSpPr>
            <p:cNvPr id="292" name="Shape 730"/>
            <p:cNvSpPr txBox="1"/>
            <p:nvPr/>
          </p:nvSpPr>
          <p:spPr>
            <a:xfrm>
              <a:off x="1691105" y="1878968"/>
              <a:ext cx="629300" cy="6155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3600"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10</a:t>
              </a:r>
            </a:p>
          </p:txBody>
        </p:sp>
        <p:sp>
          <p:nvSpPr>
            <p:cNvPr id="293" name="Shape 731"/>
            <p:cNvSpPr txBox="1"/>
            <p:nvPr/>
          </p:nvSpPr>
          <p:spPr>
            <a:xfrm>
              <a:off x="3991770" y="1672514"/>
              <a:ext cx="629300" cy="6155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3600"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10</a:t>
              </a:r>
            </a:p>
          </p:txBody>
        </p:sp>
        <p:sp>
          <p:nvSpPr>
            <p:cNvPr id="294" name="Shape 732"/>
            <p:cNvSpPr txBox="1"/>
            <p:nvPr/>
          </p:nvSpPr>
          <p:spPr>
            <a:xfrm rot="1440000">
              <a:off x="1446511" y="3208492"/>
              <a:ext cx="400700" cy="6155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3600"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295" name="Shape 733"/>
            <p:cNvSpPr txBox="1"/>
            <p:nvPr/>
          </p:nvSpPr>
          <p:spPr>
            <a:xfrm rot="20400000">
              <a:off x="3885439" y="2853479"/>
              <a:ext cx="629300" cy="6155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3600"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50</a:t>
              </a:r>
            </a:p>
          </p:txBody>
        </p:sp>
        <p:grpSp>
          <p:nvGrpSpPr>
            <p:cNvPr id="298" name="Group 736"/>
            <p:cNvGrpSpPr/>
            <p:nvPr/>
          </p:nvGrpSpPr>
          <p:grpSpPr>
            <a:xfrm>
              <a:off x="393673" y="2514599"/>
              <a:ext cx="969373" cy="798551"/>
              <a:chOff x="0" y="0"/>
              <a:chExt cx="969372" cy="798549"/>
            </a:xfrm>
          </p:grpSpPr>
          <p:sp>
            <p:nvSpPr>
              <p:cNvPr id="296" name="Shape 734"/>
              <p:cNvSpPr/>
              <p:nvPr/>
            </p:nvSpPr>
            <p:spPr>
              <a:xfrm>
                <a:off x="-1" y="-1"/>
                <a:ext cx="969374" cy="798551"/>
              </a:xfrm>
              <a:prstGeom prst="ellipse">
                <a:avLst/>
              </a:prstGeom>
              <a:solidFill>
                <a:srgbClr val="FFFF99"/>
              </a:solidFill>
              <a:ln w="25400" cap="sq">
                <a:solidFill>
                  <a:srgbClr val="8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97" name="Shape 735"/>
              <p:cNvSpPr txBox="1"/>
              <p:nvPr/>
            </p:nvSpPr>
            <p:spPr>
              <a:xfrm>
                <a:off x="198043" y="54616"/>
                <a:ext cx="547884" cy="68206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/>
              <a:p>
                <a:pPr marR="56816" indent="56816" algn="ctr" defTabSz="1295400">
                  <a:defRPr sz="38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pPr>
                <a:r>
                  <a:t>v</a:t>
                </a:r>
                <a:r>
                  <a:rPr baseline="-20000"/>
                  <a:t>0</a:t>
                </a:r>
              </a:p>
            </p:txBody>
          </p:sp>
        </p:grpSp>
        <p:grpSp>
          <p:nvGrpSpPr>
            <p:cNvPr id="301" name="Group 739"/>
            <p:cNvGrpSpPr/>
            <p:nvPr/>
          </p:nvGrpSpPr>
          <p:grpSpPr>
            <a:xfrm>
              <a:off x="2622376" y="3242339"/>
              <a:ext cx="969373" cy="800497"/>
              <a:chOff x="0" y="0"/>
              <a:chExt cx="969372" cy="800496"/>
            </a:xfrm>
          </p:grpSpPr>
          <p:sp>
            <p:nvSpPr>
              <p:cNvPr id="299" name="Shape 737"/>
              <p:cNvSpPr/>
              <p:nvPr/>
            </p:nvSpPr>
            <p:spPr>
              <a:xfrm>
                <a:off x="-1" y="0"/>
                <a:ext cx="969374" cy="800497"/>
              </a:xfrm>
              <a:prstGeom prst="ellipse">
                <a:avLst/>
              </a:prstGeom>
              <a:solidFill>
                <a:srgbClr val="FFFF99"/>
              </a:solidFill>
              <a:ln w="25400" cap="sq">
                <a:solidFill>
                  <a:srgbClr val="8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00" name="Shape 738"/>
              <p:cNvSpPr txBox="1"/>
              <p:nvPr/>
            </p:nvSpPr>
            <p:spPr>
              <a:xfrm>
                <a:off x="210743" y="58228"/>
                <a:ext cx="547884" cy="68206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/>
              <a:p>
                <a:pPr marR="56816" indent="56816" algn="ctr" defTabSz="1295400">
                  <a:defRPr sz="38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pPr>
                <a:r>
                  <a:t>v</a:t>
                </a:r>
                <a:r>
                  <a:rPr baseline="-20000"/>
                  <a:t>2</a:t>
                </a:r>
              </a:p>
            </p:txBody>
          </p:sp>
        </p:grpSp>
        <p:grpSp>
          <p:nvGrpSpPr>
            <p:cNvPr id="304" name="Group 742"/>
            <p:cNvGrpSpPr/>
            <p:nvPr/>
          </p:nvGrpSpPr>
          <p:grpSpPr>
            <a:xfrm>
              <a:off x="2787465" y="0"/>
              <a:ext cx="969373" cy="798549"/>
              <a:chOff x="0" y="0"/>
              <a:chExt cx="969372" cy="798548"/>
            </a:xfrm>
          </p:grpSpPr>
          <p:sp>
            <p:nvSpPr>
              <p:cNvPr id="302" name="Shape 740"/>
              <p:cNvSpPr/>
              <p:nvPr/>
            </p:nvSpPr>
            <p:spPr>
              <a:xfrm>
                <a:off x="-1" y="0"/>
                <a:ext cx="969374" cy="798549"/>
              </a:xfrm>
              <a:prstGeom prst="ellipse">
                <a:avLst/>
              </a:prstGeom>
              <a:solidFill>
                <a:srgbClr val="FFFF99"/>
              </a:solidFill>
              <a:ln w="25400" cap="sq">
                <a:solidFill>
                  <a:srgbClr val="8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03" name="Shape 741"/>
              <p:cNvSpPr txBox="1"/>
              <p:nvPr/>
            </p:nvSpPr>
            <p:spPr>
              <a:xfrm>
                <a:off x="210743" y="58664"/>
                <a:ext cx="547884" cy="68206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/>
              <a:p>
                <a:pPr marR="56816" indent="56816" algn="ctr" defTabSz="1295400">
                  <a:defRPr sz="38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pPr>
                <a:r>
                  <a:t>v</a:t>
                </a:r>
                <a:r>
                  <a:rPr baseline="-20000"/>
                  <a:t>5</a:t>
                </a:r>
              </a:p>
            </p:txBody>
          </p:sp>
        </p:grpSp>
        <p:grpSp>
          <p:nvGrpSpPr>
            <p:cNvPr id="307" name="Group 745"/>
            <p:cNvGrpSpPr/>
            <p:nvPr/>
          </p:nvGrpSpPr>
          <p:grpSpPr>
            <a:xfrm>
              <a:off x="5284968" y="918765"/>
              <a:ext cx="969373" cy="798549"/>
              <a:chOff x="0" y="0"/>
              <a:chExt cx="969372" cy="798548"/>
            </a:xfrm>
          </p:grpSpPr>
          <p:sp>
            <p:nvSpPr>
              <p:cNvPr id="305" name="Shape 743"/>
              <p:cNvSpPr/>
              <p:nvPr/>
            </p:nvSpPr>
            <p:spPr>
              <a:xfrm>
                <a:off x="-1" y="0"/>
                <a:ext cx="969374" cy="798549"/>
              </a:xfrm>
              <a:prstGeom prst="ellipse">
                <a:avLst/>
              </a:prstGeom>
              <a:solidFill>
                <a:srgbClr val="FFFF99"/>
              </a:solidFill>
              <a:ln w="25400" cap="sq">
                <a:solidFill>
                  <a:srgbClr val="8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06" name="Shape 744"/>
              <p:cNvSpPr txBox="1"/>
              <p:nvPr/>
            </p:nvSpPr>
            <p:spPr>
              <a:xfrm>
                <a:off x="210743" y="57253"/>
                <a:ext cx="547884" cy="68206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/>
              <a:p>
                <a:pPr marR="56816" indent="56816" algn="ctr" defTabSz="1295400">
                  <a:defRPr sz="38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pPr>
                <a:r>
                  <a:t>v</a:t>
                </a:r>
                <a:r>
                  <a:rPr baseline="-20000"/>
                  <a:t>4</a:t>
                </a:r>
              </a:p>
            </p:txBody>
          </p:sp>
        </p:grpSp>
        <p:sp>
          <p:nvSpPr>
            <p:cNvPr id="308" name="Shape 746"/>
            <p:cNvSpPr txBox="1"/>
            <p:nvPr/>
          </p:nvSpPr>
          <p:spPr>
            <a:xfrm rot="780000">
              <a:off x="4475637" y="259828"/>
              <a:ext cx="629300" cy="6155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3600"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60</a:t>
              </a:r>
            </a:p>
          </p:txBody>
        </p:sp>
        <p:grpSp>
          <p:nvGrpSpPr>
            <p:cNvPr id="311" name="Group 749"/>
            <p:cNvGrpSpPr/>
            <p:nvPr/>
          </p:nvGrpSpPr>
          <p:grpSpPr>
            <a:xfrm>
              <a:off x="5166442" y="2566497"/>
              <a:ext cx="969373" cy="798549"/>
              <a:chOff x="0" y="0"/>
              <a:chExt cx="969372" cy="798548"/>
            </a:xfrm>
          </p:grpSpPr>
          <p:sp>
            <p:nvSpPr>
              <p:cNvPr id="309" name="Shape 747"/>
              <p:cNvSpPr/>
              <p:nvPr/>
            </p:nvSpPr>
            <p:spPr>
              <a:xfrm>
                <a:off x="-1" y="0"/>
                <a:ext cx="969374" cy="798549"/>
              </a:xfrm>
              <a:prstGeom prst="ellipse">
                <a:avLst/>
              </a:prstGeom>
              <a:solidFill>
                <a:srgbClr val="FFFF99"/>
              </a:solidFill>
              <a:ln w="25400" cap="sq">
                <a:solidFill>
                  <a:srgbClr val="8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10" name="Shape 748"/>
              <p:cNvSpPr txBox="1"/>
              <p:nvPr/>
            </p:nvSpPr>
            <p:spPr>
              <a:xfrm>
                <a:off x="210743" y="57253"/>
                <a:ext cx="547884" cy="68206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/>
              <a:p>
                <a:pPr marR="56816" indent="56816" algn="ctr" defTabSz="1295400">
                  <a:defRPr sz="38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pPr>
                <a:r>
                  <a:t>v</a:t>
                </a:r>
                <a:r>
                  <a:rPr baseline="-20000"/>
                  <a:t>3</a:t>
                </a:r>
              </a:p>
            </p:txBody>
          </p:sp>
        </p:grpSp>
        <p:sp>
          <p:nvSpPr>
            <p:cNvPr id="312" name="Shape 750"/>
            <p:cNvSpPr txBox="1"/>
            <p:nvPr/>
          </p:nvSpPr>
          <p:spPr>
            <a:xfrm>
              <a:off x="5663826" y="1822485"/>
              <a:ext cx="629300" cy="6155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3600"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20</a:t>
              </a:r>
            </a:p>
          </p:txBody>
        </p:sp>
        <p:sp>
          <p:nvSpPr>
            <p:cNvPr id="313" name="Shape 751"/>
            <p:cNvSpPr/>
            <p:nvPr/>
          </p:nvSpPr>
          <p:spPr>
            <a:xfrm flipV="1">
              <a:off x="969369" y="1399840"/>
              <a:ext cx="4362163" cy="50642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14" name="Shape 752"/>
            <p:cNvSpPr txBox="1"/>
            <p:nvPr/>
          </p:nvSpPr>
          <p:spPr>
            <a:xfrm>
              <a:off x="2423423" y="940189"/>
              <a:ext cx="629300" cy="6155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3600"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Shape 1069"/>
          <p:cNvSpPr txBox="1"/>
          <p:nvPr/>
        </p:nvSpPr>
        <p:spPr>
          <a:xfrm>
            <a:off x="2812485" y="237348"/>
            <a:ext cx="7632701" cy="876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 marR="52597" indent="52597" algn="ctr" defTabSz="1178813">
              <a:lnSpc>
                <a:spcPct val="115000"/>
              </a:lnSpc>
              <a:defRPr b="1" sz="4300">
                <a:uFill>
                  <a:solidFill>
                    <a:srgbClr val="000000"/>
                  </a:solidFill>
                </a:uFill>
              </a:defRPr>
            </a:pPr>
            <a:r>
              <a:t>Dijkstra</a:t>
            </a:r>
            <a:r>
              <a:rPr b="0">
                <a:latin typeface="Arial Black"/>
                <a:ea typeface="Arial Black"/>
                <a:cs typeface="Arial Black"/>
                <a:sym typeface="Arial Black"/>
              </a:rPr>
              <a:t>算法</a:t>
            </a:r>
          </a:p>
        </p:txBody>
      </p:sp>
      <p:sp>
        <p:nvSpPr>
          <p:cNvPr id="318" name="v4出队： Relax(v4, v3)、Relax(v4, v5)"/>
          <p:cNvSpPr txBox="1"/>
          <p:nvPr/>
        </p:nvSpPr>
        <p:spPr>
          <a:xfrm>
            <a:off x="7278563" y="5054600"/>
            <a:ext cx="5065961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500"/>
            </a:pPr>
            <a:r>
              <a:t>v</a:t>
            </a:r>
            <a:r>
              <a:rPr baseline="-5999"/>
              <a:t>4</a:t>
            </a:r>
            <a:r>
              <a:t>出队： Relax(v</a:t>
            </a:r>
            <a:r>
              <a:rPr baseline="-5999"/>
              <a:t>4</a:t>
            </a:r>
            <a:r>
              <a:t>, v</a:t>
            </a:r>
            <a:r>
              <a:rPr baseline="-5999"/>
              <a:t>3</a:t>
            </a:r>
            <a:r>
              <a:t>)、Relax(v</a:t>
            </a:r>
            <a:r>
              <a:rPr baseline="-5999"/>
              <a:t>4</a:t>
            </a:r>
            <a:r>
              <a:t>, v</a:t>
            </a:r>
            <a:r>
              <a:rPr baseline="-5999"/>
              <a:t>5</a:t>
            </a:r>
            <a:r>
              <a:t>)</a:t>
            </a:r>
          </a:p>
        </p:txBody>
      </p:sp>
      <p:grpSp>
        <p:nvGrpSpPr>
          <p:cNvPr id="341" name="成组"/>
          <p:cNvGrpSpPr/>
          <p:nvPr/>
        </p:nvGrpSpPr>
        <p:grpSpPr>
          <a:xfrm>
            <a:off x="6700043" y="1284096"/>
            <a:ext cx="6197602" cy="3645213"/>
            <a:chOff x="25400" y="0"/>
            <a:chExt cx="6197601" cy="3645212"/>
          </a:xfrm>
        </p:grpSpPr>
        <p:grpSp>
          <p:nvGrpSpPr>
            <p:cNvPr id="339" name="成组"/>
            <p:cNvGrpSpPr/>
            <p:nvPr/>
          </p:nvGrpSpPr>
          <p:grpSpPr>
            <a:xfrm>
              <a:off x="25400" y="0"/>
              <a:ext cx="6197602" cy="2996953"/>
              <a:chOff x="25400" y="0"/>
              <a:chExt cx="6197601" cy="2996952"/>
            </a:xfrm>
          </p:grpSpPr>
          <p:graphicFrame>
            <p:nvGraphicFramePr>
              <p:cNvPr id="319" name="Table 698"/>
              <p:cNvGraphicFramePr/>
              <p:nvPr/>
            </p:nvGraphicFramePr>
            <p:xfrm>
              <a:off x="50800" y="467867"/>
              <a:ext cx="6172202" cy="685802"/>
            </p:xfrm>
            <a:graphic xmlns:a="http://schemas.openxmlformats.org/drawingml/2006/main">
              <a:graphicData uri="http://schemas.openxmlformats.org/drawingml/2006/table">
                <a:tbl>
                  <a:tblPr firstCol="0" firstRow="0" lastCol="0" lastRow="0" bandCol="0" bandRow="0" rtl="0">
                    <a:tableStyleId>{4C3C2611-4C71-4FC5-86AE-919BDF0F9419}</a:tableStyleId>
                  </a:tblPr>
                  <a:tblGrid>
                    <a:gridCol w="1028700"/>
                    <a:gridCol w="1028700"/>
                    <a:gridCol w="1028700"/>
                    <a:gridCol w="1028700"/>
                    <a:gridCol w="1028700"/>
                    <a:gridCol w="1028700"/>
                  </a:tblGrid>
                  <a:tr h="685800"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-1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-1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1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>
                              <a:solidFill>
                                <a:schemeClr val="accent1"/>
                              </a:solidFill>
                            </a:rPr>
                            <a:t>4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1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>
                              <a:solidFill>
                                <a:schemeClr val="accent1"/>
                              </a:solidFill>
                            </a:rPr>
                            <a:t>4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</a:tr>
                </a:tbl>
              </a:graphicData>
            </a:graphic>
          </p:graphicFrame>
          <p:graphicFrame>
            <p:nvGraphicFramePr>
              <p:cNvPr id="320" name="Table 699"/>
              <p:cNvGraphicFramePr/>
              <p:nvPr/>
            </p:nvGraphicFramePr>
            <p:xfrm>
              <a:off x="25400" y="1864867"/>
              <a:ext cx="6172202" cy="685802"/>
            </p:xfrm>
            <a:graphic xmlns:a="http://schemas.openxmlformats.org/drawingml/2006/main">
              <a:graphicData uri="http://schemas.openxmlformats.org/drawingml/2006/table">
                <a:tbl>
                  <a:tblPr firstCol="0" firstRow="0" lastCol="0" lastRow="0" bandCol="0" bandRow="0" rtl="0">
                    <a:tableStyleId>{4C3C2611-4C71-4FC5-86AE-919BDF0F9419}</a:tableStyleId>
                  </a:tblPr>
                  <a:tblGrid>
                    <a:gridCol w="1028700"/>
                    <a:gridCol w="1028700"/>
                    <a:gridCol w="1028700"/>
                    <a:gridCol w="1028700"/>
                    <a:gridCol w="1028700"/>
                    <a:gridCol w="1028700"/>
                  </a:tblGrid>
                  <a:tr h="685800"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>
                              <a:latin typeface="Abadi MT Condensed Extra Bold"/>
                              <a:ea typeface="Abadi MT Condensed Extra Bold"/>
                              <a:cs typeface="Abadi MT Condensed Extra Bold"/>
                              <a:sym typeface="Abadi MT Condensed Extra Bold"/>
                            </a:rPr>
                            <a:t>∞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0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10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>
                              <a:solidFill>
                                <a:schemeClr val="accent1"/>
                              </a:solidFill>
                            </a:rPr>
                            <a:t>50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30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>
                              <a:solidFill>
                                <a:schemeClr val="accent1"/>
                              </a:solidFill>
                            </a:rPr>
                            <a:t>90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</a:tr>
                </a:tbl>
              </a:graphicData>
            </a:graphic>
          </p:graphicFrame>
          <p:sp>
            <p:nvSpPr>
              <p:cNvPr id="321" name="Shape 700"/>
              <p:cNvSpPr txBox="1"/>
              <p:nvPr/>
            </p:nvSpPr>
            <p:spPr>
              <a:xfrm>
                <a:off x="152399" y="2565400"/>
                <a:ext cx="679902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d[0]</a:t>
                </a:r>
              </a:p>
            </p:txBody>
          </p:sp>
          <p:sp>
            <p:nvSpPr>
              <p:cNvPr id="322" name="Shape 701"/>
              <p:cNvSpPr txBox="1"/>
              <p:nvPr/>
            </p:nvSpPr>
            <p:spPr>
              <a:xfrm>
                <a:off x="1155700" y="2565400"/>
                <a:ext cx="679901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d[1]</a:t>
                </a:r>
              </a:p>
            </p:txBody>
          </p:sp>
          <p:sp>
            <p:nvSpPr>
              <p:cNvPr id="323" name="Shape 702"/>
              <p:cNvSpPr txBox="1"/>
              <p:nvPr/>
            </p:nvSpPr>
            <p:spPr>
              <a:xfrm>
                <a:off x="2209800" y="2565400"/>
                <a:ext cx="679901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d[2]</a:t>
                </a:r>
              </a:p>
            </p:txBody>
          </p:sp>
          <p:sp>
            <p:nvSpPr>
              <p:cNvPr id="324" name="Shape 703"/>
              <p:cNvSpPr txBox="1"/>
              <p:nvPr/>
            </p:nvSpPr>
            <p:spPr>
              <a:xfrm>
                <a:off x="3263900" y="2565400"/>
                <a:ext cx="679902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d[3]</a:t>
                </a:r>
              </a:p>
            </p:txBody>
          </p:sp>
          <p:sp>
            <p:nvSpPr>
              <p:cNvPr id="325" name="Shape 704"/>
              <p:cNvSpPr txBox="1"/>
              <p:nvPr/>
            </p:nvSpPr>
            <p:spPr>
              <a:xfrm>
                <a:off x="4279900" y="2565400"/>
                <a:ext cx="679902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d[4]</a:t>
                </a:r>
              </a:p>
            </p:txBody>
          </p:sp>
          <p:sp>
            <p:nvSpPr>
              <p:cNvPr id="326" name="Shape 705"/>
              <p:cNvSpPr txBox="1"/>
              <p:nvPr/>
            </p:nvSpPr>
            <p:spPr>
              <a:xfrm>
                <a:off x="5308601" y="2565400"/>
                <a:ext cx="679901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d[5]</a:t>
                </a:r>
              </a:p>
            </p:txBody>
          </p:sp>
          <p:sp>
            <p:nvSpPr>
              <p:cNvPr id="327" name="Shape 706"/>
              <p:cNvSpPr txBox="1"/>
              <p:nvPr/>
            </p:nvSpPr>
            <p:spPr>
              <a:xfrm>
                <a:off x="342900" y="0"/>
                <a:ext cx="426100" cy="4315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/>
              <a:p>
                <a: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v</a:t>
                </a:r>
                <a:r>
                  <a:rPr baseline="-5998"/>
                  <a:t>0</a:t>
                </a:r>
              </a:p>
            </p:txBody>
          </p:sp>
          <p:sp>
            <p:nvSpPr>
              <p:cNvPr id="328" name="Shape 707"/>
              <p:cNvSpPr txBox="1"/>
              <p:nvPr/>
            </p:nvSpPr>
            <p:spPr>
              <a:xfrm>
                <a:off x="1371600" y="0"/>
                <a:ext cx="426100" cy="4315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/>
              <a:p>
                <a: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v</a:t>
                </a:r>
                <a:r>
                  <a:rPr baseline="-5998"/>
                  <a:t>1</a:t>
                </a:r>
              </a:p>
            </p:txBody>
          </p:sp>
          <p:sp>
            <p:nvSpPr>
              <p:cNvPr id="329" name="Shape 708"/>
              <p:cNvSpPr txBox="1"/>
              <p:nvPr/>
            </p:nvSpPr>
            <p:spPr>
              <a:xfrm>
                <a:off x="2413000" y="0"/>
                <a:ext cx="426100" cy="4315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/>
              <a:p>
                <a: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v</a:t>
                </a:r>
                <a:r>
                  <a:rPr baseline="-5998"/>
                  <a:t>2</a:t>
                </a:r>
              </a:p>
            </p:txBody>
          </p:sp>
          <p:sp>
            <p:nvSpPr>
              <p:cNvPr id="330" name="Shape 709"/>
              <p:cNvSpPr txBox="1"/>
              <p:nvPr/>
            </p:nvSpPr>
            <p:spPr>
              <a:xfrm>
                <a:off x="3416300" y="0"/>
                <a:ext cx="426100" cy="4315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/>
              <a:p>
                <a: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v</a:t>
                </a:r>
                <a:r>
                  <a:rPr baseline="-5998"/>
                  <a:t>3</a:t>
                </a:r>
              </a:p>
            </p:txBody>
          </p:sp>
          <p:sp>
            <p:nvSpPr>
              <p:cNvPr id="331" name="Shape 710"/>
              <p:cNvSpPr txBox="1"/>
              <p:nvPr/>
            </p:nvSpPr>
            <p:spPr>
              <a:xfrm>
                <a:off x="4445000" y="0"/>
                <a:ext cx="426100" cy="4315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/>
              <a:p>
                <a: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v</a:t>
                </a:r>
                <a:r>
                  <a:rPr baseline="-5998"/>
                  <a:t>4</a:t>
                </a:r>
              </a:p>
            </p:txBody>
          </p:sp>
          <p:sp>
            <p:nvSpPr>
              <p:cNvPr id="332" name="Shape 711"/>
              <p:cNvSpPr txBox="1"/>
              <p:nvPr/>
            </p:nvSpPr>
            <p:spPr>
              <a:xfrm>
                <a:off x="5422901" y="0"/>
                <a:ext cx="426100" cy="4315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/>
              <a:p>
                <a: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v</a:t>
                </a:r>
                <a:r>
                  <a:rPr baseline="-5998"/>
                  <a:t>5</a:t>
                </a:r>
              </a:p>
            </p:txBody>
          </p:sp>
          <p:sp>
            <p:nvSpPr>
              <p:cNvPr id="333" name="Shape 712"/>
              <p:cNvSpPr txBox="1"/>
              <p:nvPr/>
            </p:nvSpPr>
            <p:spPr>
              <a:xfrm>
                <a:off x="215900" y="1168400"/>
                <a:ext cx="679901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p[0]</a:t>
                </a:r>
              </a:p>
            </p:txBody>
          </p:sp>
          <p:sp>
            <p:nvSpPr>
              <p:cNvPr id="334" name="Shape 713"/>
              <p:cNvSpPr txBox="1"/>
              <p:nvPr/>
            </p:nvSpPr>
            <p:spPr>
              <a:xfrm>
                <a:off x="1219200" y="1168400"/>
                <a:ext cx="679901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p[1]</a:t>
                </a:r>
              </a:p>
            </p:txBody>
          </p:sp>
          <p:sp>
            <p:nvSpPr>
              <p:cNvPr id="335" name="Shape 714"/>
              <p:cNvSpPr txBox="1"/>
              <p:nvPr/>
            </p:nvSpPr>
            <p:spPr>
              <a:xfrm>
                <a:off x="2273300" y="1168400"/>
                <a:ext cx="679901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p[2]</a:t>
                </a:r>
              </a:p>
            </p:txBody>
          </p:sp>
          <p:sp>
            <p:nvSpPr>
              <p:cNvPr id="336" name="Shape 715"/>
              <p:cNvSpPr txBox="1"/>
              <p:nvPr/>
            </p:nvSpPr>
            <p:spPr>
              <a:xfrm>
                <a:off x="3327400" y="1168400"/>
                <a:ext cx="679902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p[3]</a:t>
                </a:r>
              </a:p>
            </p:txBody>
          </p:sp>
          <p:sp>
            <p:nvSpPr>
              <p:cNvPr id="337" name="Shape 716"/>
              <p:cNvSpPr txBox="1"/>
              <p:nvPr/>
            </p:nvSpPr>
            <p:spPr>
              <a:xfrm>
                <a:off x="4343400" y="1168400"/>
                <a:ext cx="679902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p[4]</a:t>
                </a:r>
              </a:p>
            </p:txBody>
          </p:sp>
          <p:sp>
            <p:nvSpPr>
              <p:cNvPr id="338" name="Shape 717"/>
              <p:cNvSpPr txBox="1"/>
              <p:nvPr/>
            </p:nvSpPr>
            <p:spPr>
              <a:xfrm>
                <a:off x="5372101" y="1168400"/>
                <a:ext cx="679901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p[5]</a:t>
                </a:r>
              </a:p>
            </p:txBody>
          </p:sp>
        </p:grpSp>
        <p:sp>
          <p:nvSpPr>
            <p:cNvPr id="340" name="S = {v1, v2, v4}       Q = {v0, v3, v5}"/>
            <p:cNvSpPr txBox="1"/>
            <p:nvPr/>
          </p:nvSpPr>
          <p:spPr>
            <a:xfrm>
              <a:off x="382230" y="3201499"/>
              <a:ext cx="4641285" cy="4437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2500"/>
              </a:pPr>
              <a:r>
                <a:t>S = {v</a:t>
              </a:r>
              <a:r>
                <a:rPr baseline="-5999"/>
                <a:t>1</a:t>
              </a:r>
              <a:r>
                <a:t>, v</a:t>
              </a:r>
              <a:r>
                <a:rPr baseline="-5999"/>
                <a:t>2</a:t>
              </a:r>
              <a:r>
                <a:t>, v</a:t>
              </a:r>
              <a:r>
                <a:rPr baseline="-5999"/>
                <a:t>4</a:t>
              </a:r>
              <a:r>
                <a:t>}       Q = {v</a:t>
              </a:r>
              <a:r>
                <a:rPr baseline="-5999"/>
                <a:t>0</a:t>
              </a:r>
              <a:r>
                <a:t>, v</a:t>
              </a:r>
              <a:r>
                <a:rPr baseline="-5999"/>
                <a:t>3</a:t>
              </a:r>
              <a:r>
                <a:t>, v</a:t>
              </a:r>
              <a:r>
                <a:rPr baseline="-5999"/>
                <a:t>5</a:t>
              </a:r>
              <a:r>
                <a:t>}</a:t>
              </a:r>
            </a:p>
          </p:txBody>
        </p:sp>
      </p:grpSp>
      <p:grpSp>
        <p:nvGrpSpPr>
          <p:cNvPr id="364" name="成组"/>
          <p:cNvGrpSpPr/>
          <p:nvPr/>
        </p:nvGrpSpPr>
        <p:grpSpPr>
          <a:xfrm>
            <a:off x="349844" y="1284096"/>
            <a:ext cx="6197602" cy="3645213"/>
            <a:chOff x="25400" y="0"/>
            <a:chExt cx="6197601" cy="3645212"/>
          </a:xfrm>
        </p:grpSpPr>
        <p:grpSp>
          <p:nvGrpSpPr>
            <p:cNvPr id="362" name="成组"/>
            <p:cNvGrpSpPr/>
            <p:nvPr/>
          </p:nvGrpSpPr>
          <p:grpSpPr>
            <a:xfrm>
              <a:off x="25400" y="0"/>
              <a:ext cx="6197602" cy="2996953"/>
              <a:chOff x="25400" y="0"/>
              <a:chExt cx="6197601" cy="2996952"/>
            </a:xfrm>
          </p:grpSpPr>
          <p:graphicFrame>
            <p:nvGraphicFramePr>
              <p:cNvPr id="342" name="Table 698"/>
              <p:cNvGraphicFramePr/>
              <p:nvPr/>
            </p:nvGraphicFramePr>
            <p:xfrm>
              <a:off x="50800" y="467867"/>
              <a:ext cx="6172202" cy="685802"/>
            </p:xfrm>
            <a:graphic xmlns:a="http://schemas.openxmlformats.org/drawingml/2006/main">
              <a:graphicData uri="http://schemas.openxmlformats.org/drawingml/2006/table">
                <a:tbl>
                  <a:tblPr firstCol="0" firstRow="0" lastCol="0" lastRow="0" bandCol="0" bandRow="0" rtl="0">
                    <a:tableStyleId>{4C3C2611-4C71-4FC5-86AE-919BDF0F9419}</a:tableStyleId>
                  </a:tblPr>
                  <a:tblGrid>
                    <a:gridCol w="1028700"/>
                    <a:gridCol w="1028700"/>
                    <a:gridCol w="1028700"/>
                    <a:gridCol w="1028700"/>
                    <a:gridCol w="1028700"/>
                    <a:gridCol w="1028700"/>
                  </a:tblGrid>
                  <a:tr h="685800"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-1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-1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1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2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1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1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</a:tr>
                </a:tbl>
              </a:graphicData>
            </a:graphic>
          </p:graphicFrame>
          <p:graphicFrame>
            <p:nvGraphicFramePr>
              <p:cNvPr id="343" name="Table 699"/>
              <p:cNvGraphicFramePr/>
              <p:nvPr/>
            </p:nvGraphicFramePr>
            <p:xfrm>
              <a:off x="25400" y="1864867"/>
              <a:ext cx="6172202" cy="685802"/>
            </p:xfrm>
            <a:graphic xmlns:a="http://schemas.openxmlformats.org/drawingml/2006/main">
              <a:graphicData uri="http://schemas.openxmlformats.org/drawingml/2006/table">
                <a:tbl>
                  <a:tblPr firstCol="0" firstRow="0" lastCol="0" lastRow="0" bandCol="0" bandRow="0" rtl="0">
                    <a:tableStyleId>{4C3C2611-4C71-4FC5-86AE-919BDF0F9419}</a:tableStyleId>
                  </a:tblPr>
                  <a:tblGrid>
                    <a:gridCol w="1028700"/>
                    <a:gridCol w="1028700"/>
                    <a:gridCol w="1028700"/>
                    <a:gridCol w="1028700"/>
                    <a:gridCol w="1028700"/>
                    <a:gridCol w="1028700"/>
                  </a:tblGrid>
                  <a:tr h="685800"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>
                              <a:latin typeface="Abadi MT Condensed Extra Bold"/>
                              <a:ea typeface="Abadi MT Condensed Extra Bold"/>
                              <a:cs typeface="Abadi MT Condensed Extra Bold"/>
                              <a:sym typeface="Abadi MT Condensed Extra Bold"/>
                            </a:rPr>
                            <a:t>∞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0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10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60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30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100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</a:tr>
                </a:tbl>
              </a:graphicData>
            </a:graphic>
          </p:graphicFrame>
          <p:sp>
            <p:nvSpPr>
              <p:cNvPr id="344" name="Shape 700"/>
              <p:cNvSpPr txBox="1"/>
              <p:nvPr/>
            </p:nvSpPr>
            <p:spPr>
              <a:xfrm>
                <a:off x="152399" y="2565400"/>
                <a:ext cx="679902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d[0]</a:t>
                </a:r>
              </a:p>
            </p:txBody>
          </p:sp>
          <p:sp>
            <p:nvSpPr>
              <p:cNvPr id="345" name="Shape 701"/>
              <p:cNvSpPr txBox="1"/>
              <p:nvPr/>
            </p:nvSpPr>
            <p:spPr>
              <a:xfrm>
                <a:off x="1155700" y="2565400"/>
                <a:ext cx="679901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d[1]</a:t>
                </a:r>
              </a:p>
            </p:txBody>
          </p:sp>
          <p:sp>
            <p:nvSpPr>
              <p:cNvPr id="346" name="Shape 702"/>
              <p:cNvSpPr txBox="1"/>
              <p:nvPr/>
            </p:nvSpPr>
            <p:spPr>
              <a:xfrm>
                <a:off x="2209800" y="2565400"/>
                <a:ext cx="679901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d[2]</a:t>
                </a:r>
              </a:p>
            </p:txBody>
          </p:sp>
          <p:sp>
            <p:nvSpPr>
              <p:cNvPr id="347" name="Shape 703"/>
              <p:cNvSpPr txBox="1"/>
              <p:nvPr/>
            </p:nvSpPr>
            <p:spPr>
              <a:xfrm>
                <a:off x="3263900" y="2565400"/>
                <a:ext cx="679902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d[3]</a:t>
                </a:r>
              </a:p>
            </p:txBody>
          </p:sp>
          <p:sp>
            <p:nvSpPr>
              <p:cNvPr id="348" name="Shape 704"/>
              <p:cNvSpPr txBox="1"/>
              <p:nvPr/>
            </p:nvSpPr>
            <p:spPr>
              <a:xfrm>
                <a:off x="4279900" y="2565400"/>
                <a:ext cx="679902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d[4]</a:t>
                </a:r>
              </a:p>
            </p:txBody>
          </p:sp>
          <p:sp>
            <p:nvSpPr>
              <p:cNvPr id="349" name="Shape 705"/>
              <p:cNvSpPr txBox="1"/>
              <p:nvPr/>
            </p:nvSpPr>
            <p:spPr>
              <a:xfrm>
                <a:off x="5308601" y="2565400"/>
                <a:ext cx="679901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d[5]</a:t>
                </a:r>
              </a:p>
            </p:txBody>
          </p:sp>
          <p:sp>
            <p:nvSpPr>
              <p:cNvPr id="350" name="Shape 706"/>
              <p:cNvSpPr txBox="1"/>
              <p:nvPr/>
            </p:nvSpPr>
            <p:spPr>
              <a:xfrm>
                <a:off x="342900" y="0"/>
                <a:ext cx="426100" cy="4315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/>
              <a:p>
                <a: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v</a:t>
                </a:r>
                <a:r>
                  <a:rPr baseline="-5998"/>
                  <a:t>0</a:t>
                </a:r>
              </a:p>
            </p:txBody>
          </p:sp>
          <p:sp>
            <p:nvSpPr>
              <p:cNvPr id="351" name="Shape 707"/>
              <p:cNvSpPr txBox="1"/>
              <p:nvPr/>
            </p:nvSpPr>
            <p:spPr>
              <a:xfrm>
                <a:off x="1371600" y="0"/>
                <a:ext cx="426100" cy="4315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/>
              <a:p>
                <a: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v</a:t>
                </a:r>
                <a:r>
                  <a:rPr baseline="-5998"/>
                  <a:t>1</a:t>
                </a:r>
              </a:p>
            </p:txBody>
          </p:sp>
          <p:sp>
            <p:nvSpPr>
              <p:cNvPr id="352" name="Shape 708"/>
              <p:cNvSpPr txBox="1"/>
              <p:nvPr/>
            </p:nvSpPr>
            <p:spPr>
              <a:xfrm>
                <a:off x="2413000" y="0"/>
                <a:ext cx="426100" cy="4315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/>
              <a:p>
                <a: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v</a:t>
                </a:r>
                <a:r>
                  <a:rPr baseline="-5998"/>
                  <a:t>2</a:t>
                </a:r>
              </a:p>
            </p:txBody>
          </p:sp>
          <p:sp>
            <p:nvSpPr>
              <p:cNvPr id="353" name="Shape 709"/>
              <p:cNvSpPr txBox="1"/>
              <p:nvPr/>
            </p:nvSpPr>
            <p:spPr>
              <a:xfrm>
                <a:off x="3416300" y="0"/>
                <a:ext cx="426100" cy="4315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/>
              <a:p>
                <a: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v</a:t>
                </a:r>
                <a:r>
                  <a:rPr baseline="-5998"/>
                  <a:t>3</a:t>
                </a:r>
              </a:p>
            </p:txBody>
          </p:sp>
          <p:sp>
            <p:nvSpPr>
              <p:cNvPr id="354" name="Shape 710"/>
              <p:cNvSpPr txBox="1"/>
              <p:nvPr/>
            </p:nvSpPr>
            <p:spPr>
              <a:xfrm>
                <a:off x="4445000" y="0"/>
                <a:ext cx="426100" cy="4315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/>
              <a:p>
                <a: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v</a:t>
                </a:r>
                <a:r>
                  <a:rPr baseline="-5998"/>
                  <a:t>4</a:t>
                </a:r>
              </a:p>
            </p:txBody>
          </p:sp>
          <p:sp>
            <p:nvSpPr>
              <p:cNvPr id="355" name="Shape 711"/>
              <p:cNvSpPr txBox="1"/>
              <p:nvPr/>
            </p:nvSpPr>
            <p:spPr>
              <a:xfrm>
                <a:off x="5422901" y="0"/>
                <a:ext cx="426100" cy="4315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/>
              <a:p>
                <a: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v</a:t>
                </a:r>
                <a:r>
                  <a:rPr baseline="-5998"/>
                  <a:t>5</a:t>
                </a:r>
              </a:p>
            </p:txBody>
          </p:sp>
          <p:sp>
            <p:nvSpPr>
              <p:cNvPr id="356" name="Shape 712"/>
              <p:cNvSpPr txBox="1"/>
              <p:nvPr/>
            </p:nvSpPr>
            <p:spPr>
              <a:xfrm>
                <a:off x="215900" y="1168400"/>
                <a:ext cx="679901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p[0]</a:t>
                </a:r>
              </a:p>
            </p:txBody>
          </p:sp>
          <p:sp>
            <p:nvSpPr>
              <p:cNvPr id="357" name="Shape 713"/>
              <p:cNvSpPr txBox="1"/>
              <p:nvPr/>
            </p:nvSpPr>
            <p:spPr>
              <a:xfrm>
                <a:off x="1219200" y="1168400"/>
                <a:ext cx="679901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p[1]</a:t>
                </a:r>
              </a:p>
            </p:txBody>
          </p:sp>
          <p:sp>
            <p:nvSpPr>
              <p:cNvPr id="358" name="Shape 714"/>
              <p:cNvSpPr txBox="1"/>
              <p:nvPr/>
            </p:nvSpPr>
            <p:spPr>
              <a:xfrm>
                <a:off x="2273300" y="1168400"/>
                <a:ext cx="679901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p[2]</a:t>
                </a:r>
              </a:p>
            </p:txBody>
          </p:sp>
          <p:sp>
            <p:nvSpPr>
              <p:cNvPr id="359" name="Shape 715"/>
              <p:cNvSpPr txBox="1"/>
              <p:nvPr/>
            </p:nvSpPr>
            <p:spPr>
              <a:xfrm>
                <a:off x="3327400" y="1168400"/>
                <a:ext cx="679902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p[3]</a:t>
                </a:r>
              </a:p>
            </p:txBody>
          </p:sp>
          <p:sp>
            <p:nvSpPr>
              <p:cNvPr id="360" name="Shape 716"/>
              <p:cNvSpPr txBox="1"/>
              <p:nvPr/>
            </p:nvSpPr>
            <p:spPr>
              <a:xfrm>
                <a:off x="4343400" y="1168400"/>
                <a:ext cx="679902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p[4]</a:t>
                </a:r>
              </a:p>
            </p:txBody>
          </p:sp>
          <p:sp>
            <p:nvSpPr>
              <p:cNvPr id="361" name="Shape 717"/>
              <p:cNvSpPr txBox="1"/>
              <p:nvPr/>
            </p:nvSpPr>
            <p:spPr>
              <a:xfrm>
                <a:off x="5372101" y="1168400"/>
                <a:ext cx="679901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p[5]</a:t>
                </a:r>
              </a:p>
            </p:txBody>
          </p:sp>
        </p:grpSp>
        <p:sp>
          <p:nvSpPr>
            <p:cNvPr id="363" name="S = {v1, v2}        Q = {v0, v3, v4, v5}"/>
            <p:cNvSpPr txBox="1"/>
            <p:nvPr/>
          </p:nvSpPr>
          <p:spPr>
            <a:xfrm>
              <a:off x="382230" y="3201499"/>
              <a:ext cx="4720660" cy="4437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2500"/>
              </a:pPr>
              <a:r>
                <a:t>S = {v</a:t>
              </a:r>
              <a:r>
                <a:rPr baseline="-5999"/>
                <a:t>1</a:t>
              </a:r>
              <a:r>
                <a:t>, v</a:t>
              </a:r>
              <a:r>
                <a:rPr baseline="-5999"/>
                <a:t>2</a:t>
              </a:r>
              <a:r>
                <a:t>}        Q = {v</a:t>
              </a:r>
              <a:r>
                <a:rPr baseline="-5999"/>
                <a:t>0</a:t>
              </a:r>
              <a:r>
                <a:t>, v</a:t>
              </a:r>
              <a:r>
                <a:rPr baseline="-5999"/>
                <a:t>3</a:t>
              </a:r>
              <a:r>
                <a:t>, v</a:t>
              </a:r>
              <a:r>
                <a:rPr baseline="-5999"/>
                <a:t>4</a:t>
              </a:r>
              <a:r>
                <a:t>, v</a:t>
              </a:r>
              <a:r>
                <a:rPr baseline="-5999"/>
                <a:t>5</a:t>
              </a:r>
              <a:r>
                <a:t>}</a:t>
              </a:r>
            </a:p>
          </p:txBody>
        </p:sp>
      </p:grpSp>
      <p:grpSp>
        <p:nvGrpSpPr>
          <p:cNvPr id="399" name="成组"/>
          <p:cNvGrpSpPr/>
          <p:nvPr/>
        </p:nvGrpSpPr>
        <p:grpSpPr>
          <a:xfrm>
            <a:off x="541736" y="4953720"/>
            <a:ext cx="6293127" cy="4042836"/>
            <a:chOff x="0" y="0"/>
            <a:chExt cx="6293125" cy="4042835"/>
          </a:xfrm>
        </p:grpSpPr>
        <p:grpSp>
          <p:nvGrpSpPr>
            <p:cNvPr id="367" name="Group 721"/>
            <p:cNvGrpSpPr/>
            <p:nvPr/>
          </p:nvGrpSpPr>
          <p:grpSpPr>
            <a:xfrm>
              <a:off x="0" y="1000567"/>
              <a:ext cx="969373" cy="798549"/>
              <a:chOff x="0" y="0"/>
              <a:chExt cx="969372" cy="798548"/>
            </a:xfrm>
          </p:grpSpPr>
          <p:sp>
            <p:nvSpPr>
              <p:cNvPr id="365" name="Shape 719"/>
              <p:cNvSpPr/>
              <p:nvPr/>
            </p:nvSpPr>
            <p:spPr>
              <a:xfrm>
                <a:off x="-1" y="0"/>
                <a:ext cx="969374" cy="798549"/>
              </a:xfrm>
              <a:prstGeom prst="ellipse">
                <a:avLst/>
              </a:prstGeom>
              <a:solidFill>
                <a:srgbClr val="99CCFF"/>
              </a:solidFill>
              <a:ln w="25400" cap="sq">
                <a:solidFill>
                  <a:srgbClr val="00008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66" name="Shape 720"/>
              <p:cNvSpPr txBox="1"/>
              <p:nvPr/>
            </p:nvSpPr>
            <p:spPr>
              <a:xfrm>
                <a:off x="210743" y="57253"/>
                <a:ext cx="547884" cy="68206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/>
              <a:p>
                <a:pPr marR="56816" indent="56816" algn="ctr" defTabSz="1295400">
                  <a:defRPr sz="38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pPr>
                <a:r>
                  <a:t>v</a:t>
                </a:r>
                <a:r>
                  <a:rPr baseline="-20000"/>
                  <a:t>1</a:t>
                </a:r>
              </a:p>
            </p:txBody>
          </p:sp>
        </p:grpSp>
        <p:sp>
          <p:nvSpPr>
            <p:cNvPr id="368" name="Shape 722"/>
            <p:cNvSpPr/>
            <p:nvPr/>
          </p:nvSpPr>
          <p:spPr>
            <a:xfrm flipV="1">
              <a:off x="982067" y="455218"/>
              <a:ext cx="1818099" cy="899827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69" name="Shape 723"/>
            <p:cNvSpPr/>
            <p:nvPr/>
          </p:nvSpPr>
          <p:spPr>
            <a:xfrm>
              <a:off x="969369" y="1499171"/>
              <a:ext cx="1818098" cy="1898984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70" name="Shape 724"/>
            <p:cNvSpPr/>
            <p:nvPr/>
          </p:nvSpPr>
          <p:spPr>
            <a:xfrm flipH="1" flipV="1">
              <a:off x="3513434" y="700625"/>
              <a:ext cx="1818099" cy="1998315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71" name="Shape 725"/>
            <p:cNvSpPr/>
            <p:nvPr/>
          </p:nvSpPr>
          <p:spPr>
            <a:xfrm>
              <a:off x="5695573" y="1721206"/>
              <a:ext cx="2260" cy="884245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72" name="Shape 726"/>
            <p:cNvSpPr/>
            <p:nvPr/>
          </p:nvSpPr>
          <p:spPr>
            <a:xfrm flipV="1">
              <a:off x="3636193" y="3098212"/>
              <a:ext cx="1574698" cy="498606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73" name="Shape 727"/>
            <p:cNvSpPr/>
            <p:nvPr/>
          </p:nvSpPr>
          <p:spPr>
            <a:xfrm flipH="1" flipV="1">
              <a:off x="3756835" y="500015"/>
              <a:ext cx="1695340" cy="500554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74" name="Shape 728"/>
            <p:cNvSpPr/>
            <p:nvPr/>
          </p:nvSpPr>
          <p:spPr>
            <a:xfrm>
              <a:off x="1333411" y="3098211"/>
              <a:ext cx="1333414" cy="498607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75" name="Shape 729"/>
            <p:cNvSpPr txBox="1"/>
            <p:nvPr/>
          </p:nvSpPr>
          <p:spPr>
            <a:xfrm rot="19860000">
              <a:off x="1105574" y="454500"/>
              <a:ext cx="857900" cy="6155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3600"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100</a:t>
              </a:r>
            </a:p>
          </p:txBody>
        </p:sp>
        <p:sp>
          <p:nvSpPr>
            <p:cNvPr id="376" name="Shape 730"/>
            <p:cNvSpPr txBox="1"/>
            <p:nvPr/>
          </p:nvSpPr>
          <p:spPr>
            <a:xfrm>
              <a:off x="1691105" y="1878968"/>
              <a:ext cx="629300" cy="6155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3600"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10</a:t>
              </a:r>
            </a:p>
          </p:txBody>
        </p:sp>
        <p:sp>
          <p:nvSpPr>
            <p:cNvPr id="377" name="Shape 731"/>
            <p:cNvSpPr txBox="1"/>
            <p:nvPr/>
          </p:nvSpPr>
          <p:spPr>
            <a:xfrm>
              <a:off x="3991770" y="1672514"/>
              <a:ext cx="629300" cy="6155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3600"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10</a:t>
              </a:r>
            </a:p>
          </p:txBody>
        </p:sp>
        <p:sp>
          <p:nvSpPr>
            <p:cNvPr id="378" name="Shape 732"/>
            <p:cNvSpPr txBox="1"/>
            <p:nvPr/>
          </p:nvSpPr>
          <p:spPr>
            <a:xfrm rot="1440000">
              <a:off x="1446511" y="3208492"/>
              <a:ext cx="400700" cy="6155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3600"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379" name="Shape 733"/>
            <p:cNvSpPr txBox="1"/>
            <p:nvPr/>
          </p:nvSpPr>
          <p:spPr>
            <a:xfrm rot="20400000">
              <a:off x="3885439" y="2853479"/>
              <a:ext cx="629300" cy="6155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3600"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50</a:t>
              </a:r>
            </a:p>
          </p:txBody>
        </p:sp>
        <p:grpSp>
          <p:nvGrpSpPr>
            <p:cNvPr id="382" name="Group 736"/>
            <p:cNvGrpSpPr/>
            <p:nvPr/>
          </p:nvGrpSpPr>
          <p:grpSpPr>
            <a:xfrm>
              <a:off x="393673" y="2514599"/>
              <a:ext cx="969373" cy="798551"/>
              <a:chOff x="0" y="0"/>
              <a:chExt cx="969372" cy="798549"/>
            </a:xfrm>
          </p:grpSpPr>
          <p:sp>
            <p:nvSpPr>
              <p:cNvPr id="380" name="Shape 734"/>
              <p:cNvSpPr/>
              <p:nvPr/>
            </p:nvSpPr>
            <p:spPr>
              <a:xfrm>
                <a:off x="-1" y="-1"/>
                <a:ext cx="969374" cy="798551"/>
              </a:xfrm>
              <a:prstGeom prst="ellipse">
                <a:avLst/>
              </a:prstGeom>
              <a:solidFill>
                <a:srgbClr val="FFFF99"/>
              </a:solidFill>
              <a:ln w="25400" cap="sq">
                <a:solidFill>
                  <a:srgbClr val="8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81" name="Shape 735"/>
              <p:cNvSpPr txBox="1"/>
              <p:nvPr/>
            </p:nvSpPr>
            <p:spPr>
              <a:xfrm>
                <a:off x="198043" y="54616"/>
                <a:ext cx="547884" cy="68206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/>
              <a:p>
                <a:pPr marR="56816" indent="56816" algn="ctr" defTabSz="1295400">
                  <a:defRPr sz="38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pPr>
                <a:r>
                  <a:t>v</a:t>
                </a:r>
                <a:r>
                  <a:rPr baseline="-20000"/>
                  <a:t>0</a:t>
                </a:r>
              </a:p>
            </p:txBody>
          </p:sp>
        </p:grpSp>
        <p:grpSp>
          <p:nvGrpSpPr>
            <p:cNvPr id="385" name="Group 739"/>
            <p:cNvGrpSpPr/>
            <p:nvPr/>
          </p:nvGrpSpPr>
          <p:grpSpPr>
            <a:xfrm>
              <a:off x="2622376" y="3242339"/>
              <a:ext cx="969373" cy="800497"/>
              <a:chOff x="0" y="0"/>
              <a:chExt cx="969372" cy="800496"/>
            </a:xfrm>
          </p:grpSpPr>
          <p:sp>
            <p:nvSpPr>
              <p:cNvPr id="383" name="Shape 737"/>
              <p:cNvSpPr/>
              <p:nvPr/>
            </p:nvSpPr>
            <p:spPr>
              <a:xfrm>
                <a:off x="-1" y="0"/>
                <a:ext cx="969374" cy="800497"/>
              </a:xfrm>
              <a:prstGeom prst="ellipse">
                <a:avLst/>
              </a:prstGeom>
              <a:solidFill>
                <a:srgbClr val="FFFF99"/>
              </a:solidFill>
              <a:ln w="25400" cap="sq">
                <a:solidFill>
                  <a:srgbClr val="8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84" name="Shape 738"/>
              <p:cNvSpPr txBox="1"/>
              <p:nvPr/>
            </p:nvSpPr>
            <p:spPr>
              <a:xfrm>
                <a:off x="210743" y="58228"/>
                <a:ext cx="547884" cy="68206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/>
              <a:p>
                <a:pPr marR="56816" indent="56816" algn="ctr" defTabSz="1295400">
                  <a:defRPr sz="38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pPr>
                <a:r>
                  <a:t>v</a:t>
                </a:r>
                <a:r>
                  <a:rPr baseline="-20000"/>
                  <a:t>2</a:t>
                </a:r>
              </a:p>
            </p:txBody>
          </p:sp>
        </p:grpSp>
        <p:grpSp>
          <p:nvGrpSpPr>
            <p:cNvPr id="388" name="Group 742"/>
            <p:cNvGrpSpPr/>
            <p:nvPr/>
          </p:nvGrpSpPr>
          <p:grpSpPr>
            <a:xfrm>
              <a:off x="2787465" y="0"/>
              <a:ext cx="969373" cy="798549"/>
              <a:chOff x="0" y="0"/>
              <a:chExt cx="969372" cy="798548"/>
            </a:xfrm>
          </p:grpSpPr>
          <p:sp>
            <p:nvSpPr>
              <p:cNvPr id="386" name="Shape 740"/>
              <p:cNvSpPr/>
              <p:nvPr/>
            </p:nvSpPr>
            <p:spPr>
              <a:xfrm>
                <a:off x="-1" y="0"/>
                <a:ext cx="969374" cy="798549"/>
              </a:xfrm>
              <a:prstGeom prst="ellipse">
                <a:avLst/>
              </a:prstGeom>
              <a:solidFill>
                <a:srgbClr val="FFFF99"/>
              </a:solidFill>
              <a:ln w="25400" cap="sq">
                <a:solidFill>
                  <a:srgbClr val="8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87" name="Shape 741"/>
              <p:cNvSpPr txBox="1"/>
              <p:nvPr/>
            </p:nvSpPr>
            <p:spPr>
              <a:xfrm>
                <a:off x="210743" y="58664"/>
                <a:ext cx="547884" cy="68206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/>
              <a:p>
                <a:pPr marR="56816" indent="56816" algn="ctr" defTabSz="1295400">
                  <a:defRPr sz="38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pPr>
                <a:r>
                  <a:t>v</a:t>
                </a:r>
                <a:r>
                  <a:rPr baseline="-20000"/>
                  <a:t>5</a:t>
                </a:r>
              </a:p>
            </p:txBody>
          </p:sp>
        </p:grpSp>
        <p:grpSp>
          <p:nvGrpSpPr>
            <p:cNvPr id="391" name="Group 745"/>
            <p:cNvGrpSpPr/>
            <p:nvPr/>
          </p:nvGrpSpPr>
          <p:grpSpPr>
            <a:xfrm>
              <a:off x="5284968" y="918765"/>
              <a:ext cx="969373" cy="798549"/>
              <a:chOff x="0" y="0"/>
              <a:chExt cx="969372" cy="798548"/>
            </a:xfrm>
          </p:grpSpPr>
          <p:sp>
            <p:nvSpPr>
              <p:cNvPr id="389" name="Shape 743"/>
              <p:cNvSpPr/>
              <p:nvPr/>
            </p:nvSpPr>
            <p:spPr>
              <a:xfrm>
                <a:off x="-1" y="0"/>
                <a:ext cx="969374" cy="798549"/>
              </a:xfrm>
              <a:prstGeom prst="ellipse">
                <a:avLst/>
              </a:prstGeom>
              <a:solidFill>
                <a:srgbClr val="FFFF99"/>
              </a:solidFill>
              <a:ln w="25400" cap="sq">
                <a:solidFill>
                  <a:srgbClr val="8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90" name="Shape 744"/>
              <p:cNvSpPr txBox="1"/>
              <p:nvPr/>
            </p:nvSpPr>
            <p:spPr>
              <a:xfrm>
                <a:off x="210743" y="57253"/>
                <a:ext cx="547884" cy="68206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/>
              <a:p>
                <a:pPr marR="56816" indent="56816" algn="ctr" defTabSz="1295400">
                  <a:defRPr sz="38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pPr>
                <a:r>
                  <a:t>v</a:t>
                </a:r>
                <a:r>
                  <a:rPr baseline="-20000"/>
                  <a:t>4</a:t>
                </a:r>
              </a:p>
            </p:txBody>
          </p:sp>
        </p:grpSp>
        <p:sp>
          <p:nvSpPr>
            <p:cNvPr id="392" name="Shape 746"/>
            <p:cNvSpPr txBox="1"/>
            <p:nvPr/>
          </p:nvSpPr>
          <p:spPr>
            <a:xfrm rot="780000">
              <a:off x="4475637" y="259828"/>
              <a:ext cx="629300" cy="6155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3600"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60</a:t>
              </a:r>
            </a:p>
          </p:txBody>
        </p:sp>
        <p:grpSp>
          <p:nvGrpSpPr>
            <p:cNvPr id="395" name="Group 749"/>
            <p:cNvGrpSpPr/>
            <p:nvPr/>
          </p:nvGrpSpPr>
          <p:grpSpPr>
            <a:xfrm>
              <a:off x="5166442" y="2566497"/>
              <a:ext cx="969373" cy="798549"/>
              <a:chOff x="0" y="0"/>
              <a:chExt cx="969372" cy="798548"/>
            </a:xfrm>
          </p:grpSpPr>
          <p:sp>
            <p:nvSpPr>
              <p:cNvPr id="393" name="Shape 747"/>
              <p:cNvSpPr/>
              <p:nvPr/>
            </p:nvSpPr>
            <p:spPr>
              <a:xfrm>
                <a:off x="-1" y="0"/>
                <a:ext cx="969374" cy="798549"/>
              </a:xfrm>
              <a:prstGeom prst="ellipse">
                <a:avLst/>
              </a:prstGeom>
              <a:solidFill>
                <a:srgbClr val="FFFF99"/>
              </a:solidFill>
              <a:ln w="25400" cap="sq">
                <a:solidFill>
                  <a:srgbClr val="8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94" name="Shape 748"/>
              <p:cNvSpPr txBox="1"/>
              <p:nvPr/>
            </p:nvSpPr>
            <p:spPr>
              <a:xfrm>
                <a:off x="210743" y="57253"/>
                <a:ext cx="547884" cy="68206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/>
              <a:p>
                <a:pPr marR="56816" indent="56816" algn="ctr" defTabSz="1295400">
                  <a:defRPr sz="38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pPr>
                <a:r>
                  <a:t>v</a:t>
                </a:r>
                <a:r>
                  <a:rPr baseline="-20000"/>
                  <a:t>3</a:t>
                </a:r>
              </a:p>
            </p:txBody>
          </p:sp>
        </p:grpSp>
        <p:sp>
          <p:nvSpPr>
            <p:cNvPr id="396" name="Shape 750"/>
            <p:cNvSpPr txBox="1"/>
            <p:nvPr/>
          </p:nvSpPr>
          <p:spPr>
            <a:xfrm>
              <a:off x="5663826" y="1822485"/>
              <a:ext cx="629300" cy="6155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3600"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20</a:t>
              </a:r>
            </a:p>
          </p:txBody>
        </p:sp>
        <p:sp>
          <p:nvSpPr>
            <p:cNvPr id="397" name="Shape 751"/>
            <p:cNvSpPr/>
            <p:nvPr/>
          </p:nvSpPr>
          <p:spPr>
            <a:xfrm flipV="1">
              <a:off x="969369" y="1399840"/>
              <a:ext cx="4362163" cy="50642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98" name="Shape 752"/>
            <p:cNvSpPr txBox="1"/>
            <p:nvPr/>
          </p:nvSpPr>
          <p:spPr>
            <a:xfrm>
              <a:off x="2423423" y="940189"/>
              <a:ext cx="629300" cy="6155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3600"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Shape 1069"/>
          <p:cNvSpPr txBox="1"/>
          <p:nvPr/>
        </p:nvSpPr>
        <p:spPr>
          <a:xfrm>
            <a:off x="2812485" y="237348"/>
            <a:ext cx="7632701" cy="876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 marR="52597" indent="52597" algn="ctr" defTabSz="1178813">
              <a:lnSpc>
                <a:spcPct val="115000"/>
              </a:lnSpc>
              <a:defRPr b="1" sz="4300">
                <a:uFill>
                  <a:solidFill>
                    <a:srgbClr val="000000"/>
                  </a:solidFill>
                </a:uFill>
              </a:defRPr>
            </a:pPr>
            <a:r>
              <a:t>Dijkstra</a:t>
            </a:r>
            <a:r>
              <a:rPr b="0">
                <a:latin typeface="Arial Black"/>
                <a:ea typeface="Arial Black"/>
                <a:cs typeface="Arial Black"/>
                <a:sym typeface="Arial Black"/>
              </a:rPr>
              <a:t>算法</a:t>
            </a:r>
          </a:p>
        </p:txBody>
      </p:sp>
      <p:sp>
        <p:nvSpPr>
          <p:cNvPr id="402" name="v3出队： Relax(v3, v5)"/>
          <p:cNvSpPr txBox="1"/>
          <p:nvPr/>
        </p:nvSpPr>
        <p:spPr>
          <a:xfrm>
            <a:off x="7405563" y="5029200"/>
            <a:ext cx="310851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500"/>
            </a:pPr>
            <a:r>
              <a:t>v</a:t>
            </a:r>
            <a:r>
              <a:rPr baseline="-5999"/>
              <a:t>3</a:t>
            </a:r>
            <a:r>
              <a:t>出队： Relax(v</a:t>
            </a:r>
            <a:r>
              <a:rPr baseline="-5999"/>
              <a:t>3</a:t>
            </a:r>
            <a:r>
              <a:t>, v</a:t>
            </a:r>
            <a:r>
              <a:rPr baseline="-5999"/>
              <a:t>5</a:t>
            </a:r>
            <a:r>
              <a:t>)</a:t>
            </a:r>
          </a:p>
        </p:txBody>
      </p:sp>
      <p:grpSp>
        <p:nvGrpSpPr>
          <p:cNvPr id="425" name="成组"/>
          <p:cNvGrpSpPr/>
          <p:nvPr/>
        </p:nvGrpSpPr>
        <p:grpSpPr>
          <a:xfrm>
            <a:off x="226634" y="1286865"/>
            <a:ext cx="6197602" cy="3645213"/>
            <a:chOff x="25400" y="0"/>
            <a:chExt cx="6197601" cy="3645212"/>
          </a:xfrm>
        </p:grpSpPr>
        <p:grpSp>
          <p:nvGrpSpPr>
            <p:cNvPr id="423" name="成组"/>
            <p:cNvGrpSpPr/>
            <p:nvPr/>
          </p:nvGrpSpPr>
          <p:grpSpPr>
            <a:xfrm>
              <a:off x="25400" y="0"/>
              <a:ext cx="6197602" cy="2996953"/>
              <a:chOff x="25400" y="0"/>
              <a:chExt cx="6197601" cy="2996952"/>
            </a:xfrm>
          </p:grpSpPr>
          <p:graphicFrame>
            <p:nvGraphicFramePr>
              <p:cNvPr id="403" name="Table 698"/>
              <p:cNvGraphicFramePr/>
              <p:nvPr/>
            </p:nvGraphicFramePr>
            <p:xfrm>
              <a:off x="50800" y="467867"/>
              <a:ext cx="6172202" cy="685802"/>
            </p:xfrm>
            <a:graphic xmlns:a="http://schemas.openxmlformats.org/drawingml/2006/main">
              <a:graphicData uri="http://schemas.openxmlformats.org/drawingml/2006/table">
                <a:tbl>
                  <a:tblPr firstCol="0" firstRow="0" lastCol="0" lastRow="0" bandCol="0" bandRow="0" rtl="0">
                    <a:tableStyleId>{4C3C2611-4C71-4FC5-86AE-919BDF0F9419}</a:tableStyleId>
                  </a:tblPr>
                  <a:tblGrid>
                    <a:gridCol w="1028700"/>
                    <a:gridCol w="1028700"/>
                    <a:gridCol w="1028700"/>
                    <a:gridCol w="1028700"/>
                    <a:gridCol w="1028700"/>
                    <a:gridCol w="1028700"/>
                  </a:tblGrid>
                  <a:tr h="685800"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-1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-1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1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4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1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4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</a:tr>
                </a:tbl>
              </a:graphicData>
            </a:graphic>
          </p:graphicFrame>
          <p:graphicFrame>
            <p:nvGraphicFramePr>
              <p:cNvPr id="404" name="Table 699"/>
              <p:cNvGraphicFramePr/>
              <p:nvPr/>
            </p:nvGraphicFramePr>
            <p:xfrm>
              <a:off x="25400" y="1864867"/>
              <a:ext cx="6172202" cy="685802"/>
            </p:xfrm>
            <a:graphic xmlns:a="http://schemas.openxmlformats.org/drawingml/2006/main">
              <a:graphicData uri="http://schemas.openxmlformats.org/drawingml/2006/table">
                <a:tbl>
                  <a:tblPr firstCol="0" firstRow="0" lastCol="0" lastRow="0" bandCol="0" bandRow="0" rtl="0">
                    <a:tableStyleId>{4C3C2611-4C71-4FC5-86AE-919BDF0F9419}</a:tableStyleId>
                  </a:tblPr>
                  <a:tblGrid>
                    <a:gridCol w="1028700"/>
                    <a:gridCol w="1028700"/>
                    <a:gridCol w="1028700"/>
                    <a:gridCol w="1028700"/>
                    <a:gridCol w="1028700"/>
                    <a:gridCol w="1028700"/>
                  </a:tblGrid>
                  <a:tr h="685800"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>
                              <a:latin typeface="Abadi MT Condensed Extra Bold"/>
                              <a:ea typeface="Abadi MT Condensed Extra Bold"/>
                              <a:cs typeface="Abadi MT Condensed Extra Bold"/>
                              <a:sym typeface="Abadi MT Condensed Extra Bold"/>
                            </a:rPr>
                            <a:t>∞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0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10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50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30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90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</a:tr>
                </a:tbl>
              </a:graphicData>
            </a:graphic>
          </p:graphicFrame>
          <p:sp>
            <p:nvSpPr>
              <p:cNvPr id="405" name="Shape 700"/>
              <p:cNvSpPr txBox="1"/>
              <p:nvPr/>
            </p:nvSpPr>
            <p:spPr>
              <a:xfrm>
                <a:off x="152399" y="2565400"/>
                <a:ext cx="679902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d[0]</a:t>
                </a:r>
              </a:p>
            </p:txBody>
          </p:sp>
          <p:sp>
            <p:nvSpPr>
              <p:cNvPr id="406" name="Shape 701"/>
              <p:cNvSpPr txBox="1"/>
              <p:nvPr/>
            </p:nvSpPr>
            <p:spPr>
              <a:xfrm>
                <a:off x="1155700" y="2565400"/>
                <a:ext cx="679901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d[1]</a:t>
                </a:r>
              </a:p>
            </p:txBody>
          </p:sp>
          <p:sp>
            <p:nvSpPr>
              <p:cNvPr id="407" name="Shape 702"/>
              <p:cNvSpPr txBox="1"/>
              <p:nvPr/>
            </p:nvSpPr>
            <p:spPr>
              <a:xfrm>
                <a:off x="2209800" y="2565400"/>
                <a:ext cx="679901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d[2]</a:t>
                </a:r>
              </a:p>
            </p:txBody>
          </p:sp>
          <p:sp>
            <p:nvSpPr>
              <p:cNvPr id="408" name="Shape 703"/>
              <p:cNvSpPr txBox="1"/>
              <p:nvPr/>
            </p:nvSpPr>
            <p:spPr>
              <a:xfrm>
                <a:off x="3263900" y="2565400"/>
                <a:ext cx="679902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d[3]</a:t>
                </a:r>
              </a:p>
            </p:txBody>
          </p:sp>
          <p:sp>
            <p:nvSpPr>
              <p:cNvPr id="409" name="Shape 704"/>
              <p:cNvSpPr txBox="1"/>
              <p:nvPr/>
            </p:nvSpPr>
            <p:spPr>
              <a:xfrm>
                <a:off x="4279900" y="2565400"/>
                <a:ext cx="679902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d[4]</a:t>
                </a:r>
              </a:p>
            </p:txBody>
          </p:sp>
          <p:sp>
            <p:nvSpPr>
              <p:cNvPr id="410" name="Shape 705"/>
              <p:cNvSpPr txBox="1"/>
              <p:nvPr/>
            </p:nvSpPr>
            <p:spPr>
              <a:xfrm>
                <a:off x="5308601" y="2565400"/>
                <a:ext cx="679901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d[5]</a:t>
                </a:r>
              </a:p>
            </p:txBody>
          </p:sp>
          <p:sp>
            <p:nvSpPr>
              <p:cNvPr id="411" name="Shape 706"/>
              <p:cNvSpPr txBox="1"/>
              <p:nvPr/>
            </p:nvSpPr>
            <p:spPr>
              <a:xfrm>
                <a:off x="342900" y="0"/>
                <a:ext cx="426100" cy="4315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/>
              <a:p>
                <a: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v</a:t>
                </a:r>
                <a:r>
                  <a:rPr baseline="-5998"/>
                  <a:t>0</a:t>
                </a:r>
              </a:p>
            </p:txBody>
          </p:sp>
          <p:sp>
            <p:nvSpPr>
              <p:cNvPr id="412" name="Shape 707"/>
              <p:cNvSpPr txBox="1"/>
              <p:nvPr/>
            </p:nvSpPr>
            <p:spPr>
              <a:xfrm>
                <a:off x="1371600" y="0"/>
                <a:ext cx="426100" cy="4315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/>
              <a:p>
                <a: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v</a:t>
                </a:r>
                <a:r>
                  <a:rPr baseline="-5998"/>
                  <a:t>1</a:t>
                </a:r>
              </a:p>
            </p:txBody>
          </p:sp>
          <p:sp>
            <p:nvSpPr>
              <p:cNvPr id="413" name="Shape 708"/>
              <p:cNvSpPr txBox="1"/>
              <p:nvPr/>
            </p:nvSpPr>
            <p:spPr>
              <a:xfrm>
                <a:off x="2413000" y="0"/>
                <a:ext cx="426100" cy="4315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/>
              <a:p>
                <a: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v</a:t>
                </a:r>
                <a:r>
                  <a:rPr baseline="-5998"/>
                  <a:t>2</a:t>
                </a:r>
              </a:p>
            </p:txBody>
          </p:sp>
          <p:sp>
            <p:nvSpPr>
              <p:cNvPr id="414" name="Shape 709"/>
              <p:cNvSpPr txBox="1"/>
              <p:nvPr/>
            </p:nvSpPr>
            <p:spPr>
              <a:xfrm>
                <a:off x="3416300" y="0"/>
                <a:ext cx="426100" cy="4315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/>
              <a:p>
                <a: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v</a:t>
                </a:r>
                <a:r>
                  <a:rPr baseline="-5998"/>
                  <a:t>3</a:t>
                </a:r>
              </a:p>
            </p:txBody>
          </p:sp>
          <p:sp>
            <p:nvSpPr>
              <p:cNvPr id="415" name="Shape 710"/>
              <p:cNvSpPr txBox="1"/>
              <p:nvPr/>
            </p:nvSpPr>
            <p:spPr>
              <a:xfrm>
                <a:off x="4445000" y="0"/>
                <a:ext cx="426100" cy="4315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/>
              <a:p>
                <a: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v</a:t>
                </a:r>
                <a:r>
                  <a:rPr baseline="-5998"/>
                  <a:t>4</a:t>
                </a:r>
              </a:p>
            </p:txBody>
          </p:sp>
          <p:sp>
            <p:nvSpPr>
              <p:cNvPr id="416" name="Shape 711"/>
              <p:cNvSpPr txBox="1"/>
              <p:nvPr/>
            </p:nvSpPr>
            <p:spPr>
              <a:xfrm>
                <a:off x="5422901" y="0"/>
                <a:ext cx="426100" cy="4315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/>
              <a:p>
                <a: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v</a:t>
                </a:r>
                <a:r>
                  <a:rPr baseline="-5998"/>
                  <a:t>5</a:t>
                </a:r>
              </a:p>
            </p:txBody>
          </p:sp>
          <p:sp>
            <p:nvSpPr>
              <p:cNvPr id="417" name="Shape 712"/>
              <p:cNvSpPr txBox="1"/>
              <p:nvPr/>
            </p:nvSpPr>
            <p:spPr>
              <a:xfrm>
                <a:off x="215900" y="1168400"/>
                <a:ext cx="679901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p[0]</a:t>
                </a:r>
              </a:p>
            </p:txBody>
          </p:sp>
          <p:sp>
            <p:nvSpPr>
              <p:cNvPr id="418" name="Shape 713"/>
              <p:cNvSpPr txBox="1"/>
              <p:nvPr/>
            </p:nvSpPr>
            <p:spPr>
              <a:xfrm>
                <a:off x="1219200" y="1168400"/>
                <a:ext cx="679901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p[1]</a:t>
                </a:r>
              </a:p>
            </p:txBody>
          </p:sp>
          <p:sp>
            <p:nvSpPr>
              <p:cNvPr id="419" name="Shape 714"/>
              <p:cNvSpPr txBox="1"/>
              <p:nvPr/>
            </p:nvSpPr>
            <p:spPr>
              <a:xfrm>
                <a:off x="2273300" y="1168400"/>
                <a:ext cx="679901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p[2]</a:t>
                </a:r>
              </a:p>
            </p:txBody>
          </p:sp>
          <p:sp>
            <p:nvSpPr>
              <p:cNvPr id="420" name="Shape 715"/>
              <p:cNvSpPr txBox="1"/>
              <p:nvPr/>
            </p:nvSpPr>
            <p:spPr>
              <a:xfrm>
                <a:off x="3327400" y="1168400"/>
                <a:ext cx="679902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p[3]</a:t>
                </a:r>
              </a:p>
            </p:txBody>
          </p:sp>
          <p:sp>
            <p:nvSpPr>
              <p:cNvPr id="421" name="Shape 716"/>
              <p:cNvSpPr txBox="1"/>
              <p:nvPr/>
            </p:nvSpPr>
            <p:spPr>
              <a:xfrm>
                <a:off x="4343400" y="1168400"/>
                <a:ext cx="679902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p[4]</a:t>
                </a:r>
              </a:p>
            </p:txBody>
          </p:sp>
          <p:sp>
            <p:nvSpPr>
              <p:cNvPr id="422" name="Shape 717"/>
              <p:cNvSpPr txBox="1"/>
              <p:nvPr/>
            </p:nvSpPr>
            <p:spPr>
              <a:xfrm>
                <a:off x="5372101" y="1168400"/>
                <a:ext cx="679901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p[5]</a:t>
                </a:r>
              </a:p>
            </p:txBody>
          </p:sp>
        </p:grpSp>
        <p:sp>
          <p:nvSpPr>
            <p:cNvPr id="424" name="S = {v1, v2, v4}       Q = {v0, v3, v5}"/>
            <p:cNvSpPr txBox="1"/>
            <p:nvPr/>
          </p:nvSpPr>
          <p:spPr>
            <a:xfrm>
              <a:off x="382230" y="3201499"/>
              <a:ext cx="4641285" cy="4437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2500"/>
              </a:pPr>
              <a:r>
                <a:t>S = {v</a:t>
              </a:r>
              <a:r>
                <a:rPr baseline="-5999"/>
                <a:t>1</a:t>
              </a:r>
              <a:r>
                <a:t>, v</a:t>
              </a:r>
              <a:r>
                <a:rPr baseline="-5999"/>
                <a:t>2</a:t>
              </a:r>
              <a:r>
                <a:t>, v</a:t>
              </a:r>
              <a:r>
                <a:rPr baseline="-5999"/>
                <a:t>4</a:t>
              </a:r>
              <a:r>
                <a:t>}       Q = {v</a:t>
              </a:r>
              <a:r>
                <a:rPr baseline="-5999"/>
                <a:t>0</a:t>
              </a:r>
              <a:r>
                <a:t>, v</a:t>
              </a:r>
              <a:r>
                <a:rPr baseline="-5999"/>
                <a:t>3</a:t>
              </a:r>
              <a:r>
                <a:t>, v</a:t>
              </a:r>
              <a:r>
                <a:rPr baseline="-5999"/>
                <a:t>5</a:t>
              </a:r>
              <a:r>
                <a:t>}</a:t>
              </a:r>
            </a:p>
          </p:txBody>
        </p:sp>
      </p:grpSp>
      <p:grpSp>
        <p:nvGrpSpPr>
          <p:cNvPr id="448" name="成组"/>
          <p:cNvGrpSpPr/>
          <p:nvPr/>
        </p:nvGrpSpPr>
        <p:grpSpPr>
          <a:xfrm>
            <a:off x="6507078" y="1286865"/>
            <a:ext cx="6197602" cy="3645213"/>
            <a:chOff x="25400" y="0"/>
            <a:chExt cx="6197601" cy="3645212"/>
          </a:xfrm>
        </p:grpSpPr>
        <p:grpSp>
          <p:nvGrpSpPr>
            <p:cNvPr id="446" name="成组"/>
            <p:cNvGrpSpPr/>
            <p:nvPr/>
          </p:nvGrpSpPr>
          <p:grpSpPr>
            <a:xfrm>
              <a:off x="25400" y="0"/>
              <a:ext cx="6197602" cy="2996953"/>
              <a:chOff x="25400" y="0"/>
              <a:chExt cx="6197601" cy="2996952"/>
            </a:xfrm>
          </p:grpSpPr>
          <p:graphicFrame>
            <p:nvGraphicFramePr>
              <p:cNvPr id="426" name="Table 698"/>
              <p:cNvGraphicFramePr/>
              <p:nvPr/>
            </p:nvGraphicFramePr>
            <p:xfrm>
              <a:off x="50800" y="467867"/>
              <a:ext cx="6172202" cy="685802"/>
            </p:xfrm>
            <a:graphic xmlns:a="http://schemas.openxmlformats.org/drawingml/2006/main">
              <a:graphicData uri="http://schemas.openxmlformats.org/drawingml/2006/table">
                <a:tbl>
                  <a:tblPr firstCol="0" firstRow="0" lastCol="0" lastRow="0" bandCol="0" bandRow="0" rtl="0">
                    <a:tableStyleId>{4C3C2611-4C71-4FC5-86AE-919BDF0F9419}</a:tableStyleId>
                  </a:tblPr>
                  <a:tblGrid>
                    <a:gridCol w="1028700"/>
                    <a:gridCol w="1028700"/>
                    <a:gridCol w="1028700"/>
                    <a:gridCol w="1028700"/>
                    <a:gridCol w="1028700"/>
                    <a:gridCol w="1028700"/>
                  </a:tblGrid>
                  <a:tr h="685800"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-1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-1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1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4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1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>
                              <a:solidFill>
                                <a:schemeClr val="accent1"/>
                              </a:solidFill>
                            </a:rPr>
                            <a:t>3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</a:tr>
                </a:tbl>
              </a:graphicData>
            </a:graphic>
          </p:graphicFrame>
          <p:graphicFrame>
            <p:nvGraphicFramePr>
              <p:cNvPr id="427" name="Table 699"/>
              <p:cNvGraphicFramePr/>
              <p:nvPr/>
            </p:nvGraphicFramePr>
            <p:xfrm>
              <a:off x="25400" y="1864867"/>
              <a:ext cx="6172202" cy="685802"/>
            </p:xfrm>
            <a:graphic xmlns:a="http://schemas.openxmlformats.org/drawingml/2006/main">
              <a:graphicData uri="http://schemas.openxmlformats.org/drawingml/2006/table">
                <a:tbl>
                  <a:tblPr firstCol="0" firstRow="0" lastCol="0" lastRow="0" bandCol="0" bandRow="0" rtl="0">
                    <a:tableStyleId>{4C3C2611-4C71-4FC5-86AE-919BDF0F9419}</a:tableStyleId>
                  </a:tblPr>
                  <a:tblGrid>
                    <a:gridCol w="1028700"/>
                    <a:gridCol w="1028700"/>
                    <a:gridCol w="1028700"/>
                    <a:gridCol w="1028700"/>
                    <a:gridCol w="1028700"/>
                    <a:gridCol w="1028700"/>
                  </a:tblGrid>
                  <a:tr h="685800"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>
                              <a:latin typeface="Abadi MT Condensed Extra Bold"/>
                              <a:ea typeface="Abadi MT Condensed Extra Bold"/>
                              <a:cs typeface="Abadi MT Condensed Extra Bold"/>
                              <a:sym typeface="Abadi MT Condensed Extra Bold"/>
                            </a:rPr>
                            <a:t>∞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0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10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50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30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>
                              <a:solidFill>
                                <a:schemeClr val="accent1"/>
                              </a:solidFill>
                            </a:rPr>
                            <a:t>60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</a:tr>
                </a:tbl>
              </a:graphicData>
            </a:graphic>
          </p:graphicFrame>
          <p:sp>
            <p:nvSpPr>
              <p:cNvPr id="428" name="Shape 700"/>
              <p:cNvSpPr txBox="1"/>
              <p:nvPr/>
            </p:nvSpPr>
            <p:spPr>
              <a:xfrm>
                <a:off x="152399" y="2565400"/>
                <a:ext cx="679902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d[0]</a:t>
                </a:r>
              </a:p>
            </p:txBody>
          </p:sp>
          <p:sp>
            <p:nvSpPr>
              <p:cNvPr id="429" name="Shape 701"/>
              <p:cNvSpPr txBox="1"/>
              <p:nvPr/>
            </p:nvSpPr>
            <p:spPr>
              <a:xfrm>
                <a:off x="1155700" y="2565400"/>
                <a:ext cx="679901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d[1]</a:t>
                </a:r>
              </a:p>
            </p:txBody>
          </p:sp>
          <p:sp>
            <p:nvSpPr>
              <p:cNvPr id="430" name="Shape 702"/>
              <p:cNvSpPr txBox="1"/>
              <p:nvPr/>
            </p:nvSpPr>
            <p:spPr>
              <a:xfrm>
                <a:off x="2209800" y="2565400"/>
                <a:ext cx="679901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d[2]</a:t>
                </a:r>
              </a:p>
            </p:txBody>
          </p:sp>
          <p:sp>
            <p:nvSpPr>
              <p:cNvPr id="431" name="Shape 703"/>
              <p:cNvSpPr txBox="1"/>
              <p:nvPr/>
            </p:nvSpPr>
            <p:spPr>
              <a:xfrm>
                <a:off x="3263900" y="2565400"/>
                <a:ext cx="679902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d[3]</a:t>
                </a:r>
              </a:p>
            </p:txBody>
          </p:sp>
          <p:sp>
            <p:nvSpPr>
              <p:cNvPr id="432" name="Shape 704"/>
              <p:cNvSpPr txBox="1"/>
              <p:nvPr/>
            </p:nvSpPr>
            <p:spPr>
              <a:xfrm>
                <a:off x="4279900" y="2565400"/>
                <a:ext cx="679902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d[4]</a:t>
                </a:r>
              </a:p>
            </p:txBody>
          </p:sp>
          <p:sp>
            <p:nvSpPr>
              <p:cNvPr id="433" name="Shape 705"/>
              <p:cNvSpPr txBox="1"/>
              <p:nvPr/>
            </p:nvSpPr>
            <p:spPr>
              <a:xfrm>
                <a:off x="5308601" y="2565400"/>
                <a:ext cx="679901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d[5]</a:t>
                </a:r>
              </a:p>
            </p:txBody>
          </p:sp>
          <p:sp>
            <p:nvSpPr>
              <p:cNvPr id="434" name="Shape 706"/>
              <p:cNvSpPr txBox="1"/>
              <p:nvPr/>
            </p:nvSpPr>
            <p:spPr>
              <a:xfrm>
                <a:off x="342900" y="0"/>
                <a:ext cx="426100" cy="4315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/>
              <a:p>
                <a: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v</a:t>
                </a:r>
                <a:r>
                  <a:rPr baseline="-5998"/>
                  <a:t>0</a:t>
                </a:r>
              </a:p>
            </p:txBody>
          </p:sp>
          <p:sp>
            <p:nvSpPr>
              <p:cNvPr id="435" name="Shape 707"/>
              <p:cNvSpPr txBox="1"/>
              <p:nvPr/>
            </p:nvSpPr>
            <p:spPr>
              <a:xfrm>
                <a:off x="1371600" y="0"/>
                <a:ext cx="426100" cy="4315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/>
              <a:p>
                <a: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v</a:t>
                </a:r>
                <a:r>
                  <a:rPr baseline="-5998"/>
                  <a:t>1</a:t>
                </a:r>
              </a:p>
            </p:txBody>
          </p:sp>
          <p:sp>
            <p:nvSpPr>
              <p:cNvPr id="436" name="Shape 708"/>
              <p:cNvSpPr txBox="1"/>
              <p:nvPr/>
            </p:nvSpPr>
            <p:spPr>
              <a:xfrm>
                <a:off x="2413000" y="0"/>
                <a:ext cx="426100" cy="4315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/>
              <a:p>
                <a: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v</a:t>
                </a:r>
                <a:r>
                  <a:rPr baseline="-5998"/>
                  <a:t>2</a:t>
                </a:r>
              </a:p>
            </p:txBody>
          </p:sp>
          <p:sp>
            <p:nvSpPr>
              <p:cNvPr id="437" name="Shape 709"/>
              <p:cNvSpPr txBox="1"/>
              <p:nvPr/>
            </p:nvSpPr>
            <p:spPr>
              <a:xfrm>
                <a:off x="3416300" y="0"/>
                <a:ext cx="426100" cy="4315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/>
              <a:p>
                <a: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v</a:t>
                </a:r>
                <a:r>
                  <a:rPr baseline="-5998"/>
                  <a:t>3</a:t>
                </a:r>
              </a:p>
            </p:txBody>
          </p:sp>
          <p:sp>
            <p:nvSpPr>
              <p:cNvPr id="438" name="Shape 710"/>
              <p:cNvSpPr txBox="1"/>
              <p:nvPr/>
            </p:nvSpPr>
            <p:spPr>
              <a:xfrm>
                <a:off x="4445000" y="0"/>
                <a:ext cx="426100" cy="4315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/>
              <a:p>
                <a: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v</a:t>
                </a:r>
                <a:r>
                  <a:rPr baseline="-5998"/>
                  <a:t>4</a:t>
                </a:r>
              </a:p>
            </p:txBody>
          </p:sp>
          <p:sp>
            <p:nvSpPr>
              <p:cNvPr id="439" name="Shape 711"/>
              <p:cNvSpPr txBox="1"/>
              <p:nvPr/>
            </p:nvSpPr>
            <p:spPr>
              <a:xfrm>
                <a:off x="5422901" y="0"/>
                <a:ext cx="426100" cy="4315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/>
              <a:p>
                <a: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v</a:t>
                </a:r>
                <a:r>
                  <a:rPr baseline="-5998"/>
                  <a:t>5</a:t>
                </a:r>
              </a:p>
            </p:txBody>
          </p:sp>
          <p:sp>
            <p:nvSpPr>
              <p:cNvPr id="440" name="Shape 712"/>
              <p:cNvSpPr txBox="1"/>
              <p:nvPr/>
            </p:nvSpPr>
            <p:spPr>
              <a:xfrm>
                <a:off x="215900" y="1168400"/>
                <a:ext cx="679901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p[0]</a:t>
                </a:r>
              </a:p>
            </p:txBody>
          </p:sp>
          <p:sp>
            <p:nvSpPr>
              <p:cNvPr id="441" name="Shape 713"/>
              <p:cNvSpPr txBox="1"/>
              <p:nvPr/>
            </p:nvSpPr>
            <p:spPr>
              <a:xfrm>
                <a:off x="1219200" y="1168400"/>
                <a:ext cx="679901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p[1]</a:t>
                </a:r>
              </a:p>
            </p:txBody>
          </p:sp>
          <p:sp>
            <p:nvSpPr>
              <p:cNvPr id="442" name="Shape 714"/>
              <p:cNvSpPr txBox="1"/>
              <p:nvPr/>
            </p:nvSpPr>
            <p:spPr>
              <a:xfrm>
                <a:off x="2273300" y="1168400"/>
                <a:ext cx="679901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p[2]</a:t>
                </a:r>
              </a:p>
            </p:txBody>
          </p:sp>
          <p:sp>
            <p:nvSpPr>
              <p:cNvPr id="443" name="Shape 715"/>
              <p:cNvSpPr txBox="1"/>
              <p:nvPr/>
            </p:nvSpPr>
            <p:spPr>
              <a:xfrm>
                <a:off x="3327400" y="1168400"/>
                <a:ext cx="679902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p[3]</a:t>
                </a:r>
              </a:p>
            </p:txBody>
          </p:sp>
          <p:sp>
            <p:nvSpPr>
              <p:cNvPr id="444" name="Shape 716"/>
              <p:cNvSpPr txBox="1"/>
              <p:nvPr/>
            </p:nvSpPr>
            <p:spPr>
              <a:xfrm>
                <a:off x="4343400" y="1168400"/>
                <a:ext cx="679902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p[4]</a:t>
                </a:r>
              </a:p>
            </p:txBody>
          </p:sp>
          <p:sp>
            <p:nvSpPr>
              <p:cNvPr id="445" name="Shape 717"/>
              <p:cNvSpPr txBox="1"/>
              <p:nvPr/>
            </p:nvSpPr>
            <p:spPr>
              <a:xfrm>
                <a:off x="5372101" y="1168400"/>
                <a:ext cx="679901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p[5]</a:t>
                </a:r>
              </a:p>
            </p:txBody>
          </p:sp>
        </p:grpSp>
        <p:sp>
          <p:nvSpPr>
            <p:cNvPr id="447" name="S = {v1, v2, v4, v3}      Q = {v0, v5}"/>
            <p:cNvSpPr txBox="1"/>
            <p:nvPr/>
          </p:nvSpPr>
          <p:spPr>
            <a:xfrm>
              <a:off x="382230" y="3201499"/>
              <a:ext cx="4561910" cy="4437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2500"/>
              </a:pPr>
              <a:r>
                <a:t>S = {v</a:t>
              </a:r>
              <a:r>
                <a:rPr baseline="-5999"/>
                <a:t>1</a:t>
              </a:r>
              <a:r>
                <a:t>, v</a:t>
              </a:r>
              <a:r>
                <a:rPr baseline="-5999"/>
                <a:t>2</a:t>
              </a:r>
              <a:r>
                <a:t>, v</a:t>
              </a:r>
              <a:r>
                <a:rPr baseline="-5999"/>
                <a:t>4</a:t>
              </a:r>
              <a:r>
                <a:t>, v</a:t>
              </a:r>
              <a:r>
                <a:rPr baseline="-5999"/>
                <a:t>3</a:t>
              </a:r>
              <a:r>
                <a:t>}      Q = {v</a:t>
              </a:r>
              <a:r>
                <a:rPr baseline="-5999"/>
                <a:t>0</a:t>
              </a:r>
              <a:r>
                <a:t>, v</a:t>
              </a:r>
              <a:r>
                <a:rPr baseline="-5999"/>
                <a:t>5</a:t>
              </a:r>
              <a:r>
                <a:t>}</a:t>
              </a:r>
            </a:p>
          </p:txBody>
        </p:sp>
      </p:grpSp>
      <p:grpSp>
        <p:nvGrpSpPr>
          <p:cNvPr id="483" name="成组"/>
          <p:cNvGrpSpPr/>
          <p:nvPr/>
        </p:nvGrpSpPr>
        <p:grpSpPr>
          <a:xfrm>
            <a:off x="541736" y="4953720"/>
            <a:ext cx="6293127" cy="4042836"/>
            <a:chOff x="0" y="0"/>
            <a:chExt cx="6293125" cy="4042835"/>
          </a:xfrm>
        </p:grpSpPr>
        <p:grpSp>
          <p:nvGrpSpPr>
            <p:cNvPr id="451" name="Group 721"/>
            <p:cNvGrpSpPr/>
            <p:nvPr/>
          </p:nvGrpSpPr>
          <p:grpSpPr>
            <a:xfrm>
              <a:off x="0" y="1000567"/>
              <a:ext cx="969373" cy="798549"/>
              <a:chOff x="0" y="0"/>
              <a:chExt cx="969372" cy="798548"/>
            </a:xfrm>
          </p:grpSpPr>
          <p:sp>
            <p:nvSpPr>
              <p:cNvPr id="449" name="Shape 719"/>
              <p:cNvSpPr/>
              <p:nvPr/>
            </p:nvSpPr>
            <p:spPr>
              <a:xfrm>
                <a:off x="-1" y="0"/>
                <a:ext cx="969374" cy="798549"/>
              </a:xfrm>
              <a:prstGeom prst="ellipse">
                <a:avLst/>
              </a:prstGeom>
              <a:solidFill>
                <a:srgbClr val="99CCFF"/>
              </a:solidFill>
              <a:ln w="25400" cap="sq">
                <a:solidFill>
                  <a:srgbClr val="00008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50" name="Shape 720"/>
              <p:cNvSpPr txBox="1"/>
              <p:nvPr/>
            </p:nvSpPr>
            <p:spPr>
              <a:xfrm>
                <a:off x="210743" y="57253"/>
                <a:ext cx="547884" cy="68206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/>
              <a:p>
                <a:pPr marR="56816" indent="56816" algn="ctr" defTabSz="1295400">
                  <a:defRPr sz="38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pPr>
                <a:r>
                  <a:t>v</a:t>
                </a:r>
                <a:r>
                  <a:rPr baseline="-20000"/>
                  <a:t>1</a:t>
                </a:r>
              </a:p>
            </p:txBody>
          </p:sp>
        </p:grpSp>
        <p:sp>
          <p:nvSpPr>
            <p:cNvPr id="452" name="Shape 722"/>
            <p:cNvSpPr/>
            <p:nvPr/>
          </p:nvSpPr>
          <p:spPr>
            <a:xfrm flipV="1">
              <a:off x="982067" y="455218"/>
              <a:ext cx="1818099" cy="899827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53" name="Shape 723"/>
            <p:cNvSpPr/>
            <p:nvPr/>
          </p:nvSpPr>
          <p:spPr>
            <a:xfrm>
              <a:off x="969369" y="1499171"/>
              <a:ext cx="1818098" cy="1898984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54" name="Shape 724"/>
            <p:cNvSpPr/>
            <p:nvPr/>
          </p:nvSpPr>
          <p:spPr>
            <a:xfrm flipH="1" flipV="1">
              <a:off x="3513434" y="700625"/>
              <a:ext cx="1818099" cy="1998315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55" name="Shape 725"/>
            <p:cNvSpPr/>
            <p:nvPr/>
          </p:nvSpPr>
          <p:spPr>
            <a:xfrm>
              <a:off x="5695573" y="1721206"/>
              <a:ext cx="2260" cy="884245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56" name="Shape 726"/>
            <p:cNvSpPr/>
            <p:nvPr/>
          </p:nvSpPr>
          <p:spPr>
            <a:xfrm flipV="1">
              <a:off x="3636193" y="3098212"/>
              <a:ext cx="1574698" cy="498606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57" name="Shape 727"/>
            <p:cNvSpPr/>
            <p:nvPr/>
          </p:nvSpPr>
          <p:spPr>
            <a:xfrm flipH="1" flipV="1">
              <a:off x="3756835" y="500015"/>
              <a:ext cx="1695340" cy="500554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58" name="Shape 728"/>
            <p:cNvSpPr/>
            <p:nvPr/>
          </p:nvSpPr>
          <p:spPr>
            <a:xfrm>
              <a:off x="1333411" y="3098211"/>
              <a:ext cx="1333414" cy="498607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59" name="Shape 729"/>
            <p:cNvSpPr txBox="1"/>
            <p:nvPr/>
          </p:nvSpPr>
          <p:spPr>
            <a:xfrm rot="19860000">
              <a:off x="1105574" y="454500"/>
              <a:ext cx="857900" cy="6155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3600"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100</a:t>
              </a:r>
            </a:p>
          </p:txBody>
        </p:sp>
        <p:sp>
          <p:nvSpPr>
            <p:cNvPr id="460" name="Shape 730"/>
            <p:cNvSpPr txBox="1"/>
            <p:nvPr/>
          </p:nvSpPr>
          <p:spPr>
            <a:xfrm>
              <a:off x="1691105" y="1878968"/>
              <a:ext cx="629300" cy="6155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3600"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10</a:t>
              </a:r>
            </a:p>
          </p:txBody>
        </p:sp>
        <p:sp>
          <p:nvSpPr>
            <p:cNvPr id="461" name="Shape 731"/>
            <p:cNvSpPr txBox="1"/>
            <p:nvPr/>
          </p:nvSpPr>
          <p:spPr>
            <a:xfrm>
              <a:off x="3991770" y="1672514"/>
              <a:ext cx="629300" cy="6155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3600"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10</a:t>
              </a:r>
            </a:p>
          </p:txBody>
        </p:sp>
        <p:sp>
          <p:nvSpPr>
            <p:cNvPr id="462" name="Shape 732"/>
            <p:cNvSpPr txBox="1"/>
            <p:nvPr/>
          </p:nvSpPr>
          <p:spPr>
            <a:xfrm rot="1440000">
              <a:off x="1446511" y="3208492"/>
              <a:ext cx="400700" cy="6155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3600"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463" name="Shape 733"/>
            <p:cNvSpPr txBox="1"/>
            <p:nvPr/>
          </p:nvSpPr>
          <p:spPr>
            <a:xfrm rot="20400000">
              <a:off x="3885439" y="2853479"/>
              <a:ext cx="629300" cy="6155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3600"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50</a:t>
              </a:r>
            </a:p>
          </p:txBody>
        </p:sp>
        <p:grpSp>
          <p:nvGrpSpPr>
            <p:cNvPr id="466" name="Group 736"/>
            <p:cNvGrpSpPr/>
            <p:nvPr/>
          </p:nvGrpSpPr>
          <p:grpSpPr>
            <a:xfrm>
              <a:off x="393673" y="2514599"/>
              <a:ext cx="969373" cy="798551"/>
              <a:chOff x="0" y="0"/>
              <a:chExt cx="969372" cy="798549"/>
            </a:xfrm>
          </p:grpSpPr>
          <p:sp>
            <p:nvSpPr>
              <p:cNvPr id="464" name="Shape 734"/>
              <p:cNvSpPr/>
              <p:nvPr/>
            </p:nvSpPr>
            <p:spPr>
              <a:xfrm>
                <a:off x="-1" y="-1"/>
                <a:ext cx="969374" cy="798551"/>
              </a:xfrm>
              <a:prstGeom prst="ellipse">
                <a:avLst/>
              </a:prstGeom>
              <a:solidFill>
                <a:srgbClr val="FFFF99"/>
              </a:solidFill>
              <a:ln w="25400" cap="sq">
                <a:solidFill>
                  <a:srgbClr val="8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65" name="Shape 735"/>
              <p:cNvSpPr txBox="1"/>
              <p:nvPr/>
            </p:nvSpPr>
            <p:spPr>
              <a:xfrm>
                <a:off x="198043" y="54616"/>
                <a:ext cx="547884" cy="68206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/>
              <a:p>
                <a:pPr marR="56816" indent="56816" algn="ctr" defTabSz="1295400">
                  <a:defRPr sz="38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pPr>
                <a:r>
                  <a:t>v</a:t>
                </a:r>
                <a:r>
                  <a:rPr baseline="-20000"/>
                  <a:t>0</a:t>
                </a:r>
              </a:p>
            </p:txBody>
          </p:sp>
        </p:grpSp>
        <p:grpSp>
          <p:nvGrpSpPr>
            <p:cNvPr id="469" name="Group 739"/>
            <p:cNvGrpSpPr/>
            <p:nvPr/>
          </p:nvGrpSpPr>
          <p:grpSpPr>
            <a:xfrm>
              <a:off x="2622376" y="3242339"/>
              <a:ext cx="969373" cy="800497"/>
              <a:chOff x="0" y="0"/>
              <a:chExt cx="969372" cy="800496"/>
            </a:xfrm>
          </p:grpSpPr>
          <p:sp>
            <p:nvSpPr>
              <p:cNvPr id="467" name="Shape 737"/>
              <p:cNvSpPr/>
              <p:nvPr/>
            </p:nvSpPr>
            <p:spPr>
              <a:xfrm>
                <a:off x="-1" y="0"/>
                <a:ext cx="969374" cy="800497"/>
              </a:xfrm>
              <a:prstGeom prst="ellipse">
                <a:avLst/>
              </a:prstGeom>
              <a:solidFill>
                <a:srgbClr val="FFFF99"/>
              </a:solidFill>
              <a:ln w="25400" cap="sq">
                <a:solidFill>
                  <a:srgbClr val="8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68" name="Shape 738"/>
              <p:cNvSpPr txBox="1"/>
              <p:nvPr/>
            </p:nvSpPr>
            <p:spPr>
              <a:xfrm>
                <a:off x="210743" y="58228"/>
                <a:ext cx="547884" cy="68206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/>
              <a:p>
                <a:pPr marR="56816" indent="56816" algn="ctr" defTabSz="1295400">
                  <a:defRPr sz="38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pPr>
                <a:r>
                  <a:t>v</a:t>
                </a:r>
                <a:r>
                  <a:rPr baseline="-20000"/>
                  <a:t>2</a:t>
                </a:r>
              </a:p>
            </p:txBody>
          </p:sp>
        </p:grpSp>
        <p:grpSp>
          <p:nvGrpSpPr>
            <p:cNvPr id="472" name="Group 742"/>
            <p:cNvGrpSpPr/>
            <p:nvPr/>
          </p:nvGrpSpPr>
          <p:grpSpPr>
            <a:xfrm>
              <a:off x="2787465" y="0"/>
              <a:ext cx="969373" cy="798549"/>
              <a:chOff x="0" y="0"/>
              <a:chExt cx="969372" cy="798548"/>
            </a:xfrm>
          </p:grpSpPr>
          <p:sp>
            <p:nvSpPr>
              <p:cNvPr id="470" name="Shape 740"/>
              <p:cNvSpPr/>
              <p:nvPr/>
            </p:nvSpPr>
            <p:spPr>
              <a:xfrm>
                <a:off x="-1" y="0"/>
                <a:ext cx="969374" cy="798549"/>
              </a:xfrm>
              <a:prstGeom prst="ellipse">
                <a:avLst/>
              </a:prstGeom>
              <a:solidFill>
                <a:srgbClr val="FFFF99"/>
              </a:solidFill>
              <a:ln w="25400" cap="sq">
                <a:solidFill>
                  <a:srgbClr val="8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71" name="Shape 741"/>
              <p:cNvSpPr txBox="1"/>
              <p:nvPr/>
            </p:nvSpPr>
            <p:spPr>
              <a:xfrm>
                <a:off x="210743" y="58664"/>
                <a:ext cx="547884" cy="68206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/>
              <a:p>
                <a:pPr marR="56816" indent="56816" algn="ctr" defTabSz="1295400">
                  <a:defRPr sz="38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pPr>
                <a:r>
                  <a:t>v</a:t>
                </a:r>
                <a:r>
                  <a:rPr baseline="-20000"/>
                  <a:t>5</a:t>
                </a:r>
              </a:p>
            </p:txBody>
          </p:sp>
        </p:grpSp>
        <p:grpSp>
          <p:nvGrpSpPr>
            <p:cNvPr id="475" name="Group 745"/>
            <p:cNvGrpSpPr/>
            <p:nvPr/>
          </p:nvGrpSpPr>
          <p:grpSpPr>
            <a:xfrm>
              <a:off x="5284968" y="918765"/>
              <a:ext cx="969373" cy="798549"/>
              <a:chOff x="0" y="0"/>
              <a:chExt cx="969372" cy="798548"/>
            </a:xfrm>
          </p:grpSpPr>
          <p:sp>
            <p:nvSpPr>
              <p:cNvPr id="473" name="Shape 743"/>
              <p:cNvSpPr/>
              <p:nvPr/>
            </p:nvSpPr>
            <p:spPr>
              <a:xfrm>
                <a:off x="-1" y="0"/>
                <a:ext cx="969374" cy="798549"/>
              </a:xfrm>
              <a:prstGeom prst="ellipse">
                <a:avLst/>
              </a:prstGeom>
              <a:solidFill>
                <a:srgbClr val="FFFF99"/>
              </a:solidFill>
              <a:ln w="25400" cap="sq">
                <a:solidFill>
                  <a:srgbClr val="8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74" name="Shape 744"/>
              <p:cNvSpPr txBox="1"/>
              <p:nvPr/>
            </p:nvSpPr>
            <p:spPr>
              <a:xfrm>
                <a:off x="210743" y="57253"/>
                <a:ext cx="547884" cy="68206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/>
              <a:p>
                <a:pPr marR="56816" indent="56816" algn="ctr" defTabSz="1295400">
                  <a:defRPr sz="38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pPr>
                <a:r>
                  <a:t>v</a:t>
                </a:r>
                <a:r>
                  <a:rPr baseline="-20000"/>
                  <a:t>4</a:t>
                </a:r>
              </a:p>
            </p:txBody>
          </p:sp>
        </p:grpSp>
        <p:sp>
          <p:nvSpPr>
            <p:cNvPr id="476" name="Shape 746"/>
            <p:cNvSpPr txBox="1"/>
            <p:nvPr/>
          </p:nvSpPr>
          <p:spPr>
            <a:xfrm rot="780000">
              <a:off x="4475637" y="259828"/>
              <a:ext cx="629300" cy="6155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3600"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60</a:t>
              </a:r>
            </a:p>
          </p:txBody>
        </p:sp>
        <p:grpSp>
          <p:nvGrpSpPr>
            <p:cNvPr id="479" name="Group 749"/>
            <p:cNvGrpSpPr/>
            <p:nvPr/>
          </p:nvGrpSpPr>
          <p:grpSpPr>
            <a:xfrm>
              <a:off x="5166442" y="2566497"/>
              <a:ext cx="969373" cy="798549"/>
              <a:chOff x="0" y="0"/>
              <a:chExt cx="969372" cy="798548"/>
            </a:xfrm>
          </p:grpSpPr>
          <p:sp>
            <p:nvSpPr>
              <p:cNvPr id="477" name="Shape 747"/>
              <p:cNvSpPr/>
              <p:nvPr/>
            </p:nvSpPr>
            <p:spPr>
              <a:xfrm>
                <a:off x="-1" y="0"/>
                <a:ext cx="969374" cy="798549"/>
              </a:xfrm>
              <a:prstGeom prst="ellipse">
                <a:avLst/>
              </a:prstGeom>
              <a:solidFill>
                <a:srgbClr val="FFFF99"/>
              </a:solidFill>
              <a:ln w="25400" cap="sq">
                <a:solidFill>
                  <a:srgbClr val="8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78" name="Shape 748"/>
              <p:cNvSpPr txBox="1"/>
              <p:nvPr/>
            </p:nvSpPr>
            <p:spPr>
              <a:xfrm>
                <a:off x="210743" y="57253"/>
                <a:ext cx="547884" cy="68206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/>
              <a:p>
                <a:pPr marR="56816" indent="56816" algn="ctr" defTabSz="1295400">
                  <a:defRPr sz="38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pPr>
                <a:r>
                  <a:t>v</a:t>
                </a:r>
                <a:r>
                  <a:rPr baseline="-20000"/>
                  <a:t>3</a:t>
                </a:r>
              </a:p>
            </p:txBody>
          </p:sp>
        </p:grpSp>
        <p:sp>
          <p:nvSpPr>
            <p:cNvPr id="480" name="Shape 750"/>
            <p:cNvSpPr txBox="1"/>
            <p:nvPr/>
          </p:nvSpPr>
          <p:spPr>
            <a:xfrm>
              <a:off x="5663826" y="1822485"/>
              <a:ext cx="629300" cy="6155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3600"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20</a:t>
              </a:r>
            </a:p>
          </p:txBody>
        </p:sp>
        <p:sp>
          <p:nvSpPr>
            <p:cNvPr id="481" name="Shape 751"/>
            <p:cNvSpPr/>
            <p:nvPr/>
          </p:nvSpPr>
          <p:spPr>
            <a:xfrm flipV="1">
              <a:off x="969369" y="1399840"/>
              <a:ext cx="4362163" cy="50642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82" name="Shape 752"/>
            <p:cNvSpPr txBox="1"/>
            <p:nvPr/>
          </p:nvSpPr>
          <p:spPr>
            <a:xfrm>
              <a:off x="2423423" y="940189"/>
              <a:ext cx="629300" cy="6155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3600"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Shape 1069"/>
          <p:cNvSpPr txBox="1"/>
          <p:nvPr/>
        </p:nvSpPr>
        <p:spPr>
          <a:xfrm>
            <a:off x="2812485" y="237348"/>
            <a:ext cx="7632701" cy="876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 marR="52597" indent="52597" algn="ctr" defTabSz="1178813">
              <a:lnSpc>
                <a:spcPct val="115000"/>
              </a:lnSpc>
              <a:defRPr b="1" sz="4300">
                <a:uFill>
                  <a:solidFill>
                    <a:srgbClr val="000000"/>
                  </a:solidFill>
                </a:uFill>
              </a:defRPr>
            </a:pPr>
            <a:r>
              <a:t>Dijkstra</a:t>
            </a:r>
            <a:r>
              <a:rPr b="0">
                <a:latin typeface="Arial Black"/>
                <a:ea typeface="Arial Black"/>
                <a:cs typeface="Arial Black"/>
                <a:sym typeface="Arial Black"/>
              </a:rPr>
              <a:t>算法</a:t>
            </a:r>
          </a:p>
        </p:txBody>
      </p:sp>
      <p:sp>
        <p:nvSpPr>
          <p:cNvPr id="486" name="v5出队"/>
          <p:cNvSpPr txBox="1"/>
          <p:nvPr/>
        </p:nvSpPr>
        <p:spPr>
          <a:xfrm>
            <a:off x="6869757" y="5064793"/>
            <a:ext cx="1071683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500"/>
            </a:pPr>
            <a:r>
              <a:t>v</a:t>
            </a:r>
            <a:r>
              <a:rPr baseline="-5999"/>
              <a:t>5</a:t>
            </a:r>
            <a:r>
              <a:t>出队</a:t>
            </a:r>
          </a:p>
        </p:txBody>
      </p:sp>
      <p:sp>
        <p:nvSpPr>
          <p:cNvPr id="487" name="v0出队"/>
          <p:cNvSpPr txBox="1"/>
          <p:nvPr/>
        </p:nvSpPr>
        <p:spPr>
          <a:xfrm>
            <a:off x="6989619" y="6124732"/>
            <a:ext cx="1071683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500"/>
            </a:pPr>
            <a:r>
              <a:t>v</a:t>
            </a:r>
            <a:r>
              <a:rPr baseline="-5999"/>
              <a:t>0</a:t>
            </a:r>
            <a:r>
              <a:t>出队</a:t>
            </a:r>
          </a:p>
        </p:txBody>
      </p:sp>
      <p:grpSp>
        <p:nvGrpSpPr>
          <p:cNvPr id="510" name="成组"/>
          <p:cNvGrpSpPr/>
          <p:nvPr/>
        </p:nvGrpSpPr>
        <p:grpSpPr>
          <a:xfrm>
            <a:off x="345884" y="1315474"/>
            <a:ext cx="6197602" cy="3645214"/>
            <a:chOff x="25400" y="0"/>
            <a:chExt cx="6197601" cy="3645212"/>
          </a:xfrm>
        </p:grpSpPr>
        <p:grpSp>
          <p:nvGrpSpPr>
            <p:cNvPr id="508" name="成组"/>
            <p:cNvGrpSpPr/>
            <p:nvPr/>
          </p:nvGrpSpPr>
          <p:grpSpPr>
            <a:xfrm>
              <a:off x="25400" y="0"/>
              <a:ext cx="6197602" cy="2996953"/>
              <a:chOff x="25400" y="0"/>
              <a:chExt cx="6197601" cy="2996952"/>
            </a:xfrm>
          </p:grpSpPr>
          <p:graphicFrame>
            <p:nvGraphicFramePr>
              <p:cNvPr id="488" name="Table 698"/>
              <p:cNvGraphicFramePr/>
              <p:nvPr/>
            </p:nvGraphicFramePr>
            <p:xfrm>
              <a:off x="50800" y="467867"/>
              <a:ext cx="6172202" cy="685802"/>
            </p:xfrm>
            <a:graphic xmlns:a="http://schemas.openxmlformats.org/drawingml/2006/main">
              <a:graphicData uri="http://schemas.openxmlformats.org/drawingml/2006/table">
                <a:tbl>
                  <a:tblPr firstCol="0" firstRow="0" lastCol="0" lastRow="0" bandCol="0" bandRow="0" rtl="0">
                    <a:tableStyleId>{4C3C2611-4C71-4FC5-86AE-919BDF0F9419}</a:tableStyleId>
                  </a:tblPr>
                  <a:tblGrid>
                    <a:gridCol w="1028700"/>
                    <a:gridCol w="1028700"/>
                    <a:gridCol w="1028700"/>
                    <a:gridCol w="1028700"/>
                    <a:gridCol w="1028700"/>
                    <a:gridCol w="1028700"/>
                  </a:tblGrid>
                  <a:tr h="685800"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-1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-1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1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4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1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3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</a:tr>
                </a:tbl>
              </a:graphicData>
            </a:graphic>
          </p:graphicFrame>
          <p:graphicFrame>
            <p:nvGraphicFramePr>
              <p:cNvPr id="489" name="Table 699"/>
              <p:cNvGraphicFramePr/>
              <p:nvPr/>
            </p:nvGraphicFramePr>
            <p:xfrm>
              <a:off x="25400" y="1864867"/>
              <a:ext cx="6172202" cy="685802"/>
            </p:xfrm>
            <a:graphic xmlns:a="http://schemas.openxmlformats.org/drawingml/2006/main">
              <a:graphicData uri="http://schemas.openxmlformats.org/drawingml/2006/table">
                <a:tbl>
                  <a:tblPr firstCol="0" firstRow="0" lastCol="0" lastRow="0" bandCol="0" bandRow="0" rtl="0">
                    <a:tableStyleId>{4C3C2611-4C71-4FC5-86AE-919BDF0F9419}</a:tableStyleId>
                  </a:tblPr>
                  <a:tblGrid>
                    <a:gridCol w="1028700"/>
                    <a:gridCol w="1028700"/>
                    <a:gridCol w="1028700"/>
                    <a:gridCol w="1028700"/>
                    <a:gridCol w="1028700"/>
                    <a:gridCol w="1028700"/>
                  </a:tblGrid>
                  <a:tr h="685800"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>
                              <a:latin typeface="Abadi MT Condensed Extra Bold"/>
                              <a:ea typeface="Abadi MT Condensed Extra Bold"/>
                              <a:cs typeface="Abadi MT Condensed Extra Bold"/>
                              <a:sym typeface="Abadi MT Condensed Extra Bold"/>
                            </a:rPr>
                            <a:t>∞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0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10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50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30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60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</a:tr>
                </a:tbl>
              </a:graphicData>
            </a:graphic>
          </p:graphicFrame>
          <p:sp>
            <p:nvSpPr>
              <p:cNvPr id="490" name="Shape 700"/>
              <p:cNvSpPr txBox="1"/>
              <p:nvPr/>
            </p:nvSpPr>
            <p:spPr>
              <a:xfrm>
                <a:off x="152399" y="2565400"/>
                <a:ext cx="679902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d[0]</a:t>
                </a:r>
              </a:p>
            </p:txBody>
          </p:sp>
          <p:sp>
            <p:nvSpPr>
              <p:cNvPr id="491" name="Shape 701"/>
              <p:cNvSpPr txBox="1"/>
              <p:nvPr/>
            </p:nvSpPr>
            <p:spPr>
              <a:xfrm>
                <a:off x="1155700" y="2565400"/>
                <a:ext cx="679901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d[1]</a:t>
                </a:r>
              </a:p>
            </p:txBody>
          </p:sp>
          <p:sp>
            <p:nvSpPr>
              <p:cNvPr id="492" name="Shape 702"/>
              <p:cNvSpPr txBox="1"/>
              <p:nvPr/>
            </p:nvSpPr>
            <p:spPr>
              <a:xfrm>
                <a:off x="2209800" y="2565400"/>
                <a:ext cx="679901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d[2]</a:t>
                </a:r>
              </a:p>
            </p:txBody>
          </p:sp>
          <p:sp>
            <p:nvSpPr>
              <p:cNvPr id="493" name="Shape 703"/>
              <p:cNvSpPr txBox="1"/>
              <p:nvPr/>
            </p:nvSpPr>
            <p:spPr>
              <a:xfrm>
                <a:off x="3263900" y="2565400"/>
                <a:ext cx="679902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d[3]</a:t>
                </a:r>
              </a:p>
            </p:txBody>
          </p:sp>
          <p:sp>
            <p:nvSpPr>
              <p:cNvPr id="494" name="Shape 704"/>
              <p:cNvSpPr txBox="1"/>
              <p:nvPr/>
            </p:nvSpPr>
            <p:spPr>
              <a:xfrm>
                <a:off x="4279900" y="2565400"/>
                <a:ext cx="679902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d[4]</a:t>
                </a:r>
              </a:p>
            </p:txBody>
          </p:sp>
          <p:sp>
            <p:nvSpPr>
              <p:cNvPr id="495" name="Shape 705"/>
              <p:cNvSpPr txBox="1"/>
              <p:nvPr/>
            </p:nvSpPr>
            <p:spPr>
              <a:xfrm>
                <a:off x="5308601" y="2565400"/>
                <a:ext cx="679901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d[5]</a:t>
                </a:r>
              </a:p>
            </p:txBody>
          </p:sp>
          <p:sp>
            <p:nvSpPr>
              <p:cNvPr id="496" name="Shape 706"/>
              <p:cNvSpPr txBox="1"/>
              <p:nvPr/>
            </p:nvSpPr>
            <p:spPr>
              <a:xfrm>
                <a:off x="342900" y="0"/>
                <a:ext cx="426100" cy="4315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/>
              <a:p>
                <a: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v</a:t>
                </a:r>
                <a:r>
                  <a:rPr baseline="-5998"/>
                  <a:t>0</a:t>
                </a:r>
              </a:p>
            </p:txBody>
          </p:sp>
          <p:sp>
            <p:nvSpPr>
              <p:cNvPr id="497" name="Shape 707"/>
              <p:cNvSpPr txBox="1"/>
              <p:nvPr/>
            </p:nvSpPr>
            <p:spPr>
              <a:xfrm>
                <a:off x="1371600" y="0"/>
                <a:ext cx="426100" cy="4315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/>
              <a:p>
                <a: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v</a:t>
                </a:r>
                <a:r>
                  <a:rPr baseline="-5998"/>
                  <a:t>1</a:t>
                </a:r>
              </a:p>
            </p:txBody>
          </p:sp>
          <p:sp>
            <p:nvSpPr>
              <p:cNvPr id="498" name="Shape 708"/>
              <p:cNvSpPr txBox="1"/>
              <p:nvPr/>
            </p:nvSpPr>
            <p:spPr>
              <a:xfrm>
                <a:off x="2413000" y="0"/>
                <a:ext cx="426100" cy="4315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/>
              <a:p>
                <a: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v</a:t>
                </a:r>
                <a:r>
                  <a:rPr baseline="-5998"/>
                  <a:t>2</a:t>
                </a:r>
              </a:p>
            </p:txBody>
          </p:sp>
          <p:sp>
            <p:nvSpPr>
              <p:cNvPr id="499" name="Shape 709"/>
              <p:cNvSpPr txBox="1"/>
              <p:nvPr/>
            </p:nvSpPr>
            <p:spPr>
              <a:xfrm>
                <a:off x="3416300" y="0"/>
                <a:ext cx="426100" cy="4315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/>
              <a:p>
                <a: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v</a:t>
                </a:r>
                <a:r>
                  <a:rPr baseline="-5998"/>
                  <a:t>3</a:t>
                </a:r>
              </a:p>
            </p:txBody>
          </p:sp>
          <p:sp>
            <p:nvSpPr>
              <p:cNvPr id="500" name="Shape 710"/>
              <p:cNvSpPr txBox="1"/>
              <p:nvPr/>
            </p:nvSpPr>
            <p:spPr>
              <a:xfrm>
                <a:off x="4445000" y="0"/>
                <a:ext cx="426100" cy="4315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/>
              <a:p>
                <a: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v</a:t>
                </a:r>
                <a:r>
                  <a:rPr baseline="-5998"/>
                  <a:t>4</a:t>
                </a:r>
              </a:p>
            </p:txBody>
          </p:sp>
          <p:sp>
            <p:nvSpPr>
              <p:cNvPr id="501" name="Shape 711"/>
              <p:cNvSpPr txBox="1"/>
              <p:nvPr/>
            </p:nvSpPr>
            <p:spPr>
              <a:xfrm>
                <a:off x="5422901" y="0"/>
                <a:ext cx="426100" cy="4315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/>
              <a:p>
                <a: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v</a:t>
                </a:r>
                <a:r>
                  <a:rPr baseline="-5998"/>
                  <a:t>5</a:t>
                </a:r>
              </a:p>
            </p:txBody>
          </p:sp>
          <p:sp>
            <p:nvSpPr>
              <p:cNvPr id="502" name="Shape 712"/>
              <p:cNvSpPr txBox="1"/>
              <p:nvPr/>
            </p:nvSpPr>
            <p:spPr>
              <a:xfrm>
                <a:off x="215900" y="1168400"/>
                <a:ext cx="679901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p[0]</a:t>
                </a:r>
              </a:p>
            </p:txBody>
          </p:sp>
          <p:sp>
            <p:nvSpPr>
              <p:cNvPr id="503" name="Shape 713"/>
              <p:cNvSpPr txBox="1"/>
              <p:nvPr/>
            </p:nvSpPr>
            <p:spPr>
              <a:xfrm>
                <a:off x="1219200" y="1168400"/>
                <a:ext cx="679901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p[1]</a:t>
                </a:r>
              </a:p>
            </p:txBody>
          </p:sp>
          <p:sp>
            <p:nvSpPr>
              <p:cNvPr id="504" name="Shape 714"/>
              <p:cNvSpPr txBox="1"/>
              <p:nvPr/>
            </p:nvSpPr>
            <p:spPr>
              <a:xfrm>
                <a:off x="2273300" y="1168400"/>
                <a:ext cx="679901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p[2]</a:t>
                </a:r>
              </a:p>
            </p:txBody>
          </p:sp>
          <p:sp>
            <p:nvSpPr>
              <p:cNvPr id="505" name="Shape 715"/>
              <p:cNvSpPr txBox="1"/>
              <p:nvPr/>
            </p:nvSpPr>
            <p:spPr>
              <a:xfrm>
                <a:off x="3327400" y="1168400"/>
                <a:ext cx="679902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p[3]</a:t>
                </a:r>
              </a:p>
            </p:txBody>
          </p:sp>
          <p:sp>
            <p:nvSpPr>
              <p:cNvPr id="506" name="Shape 716"/>
              <p:cNvSpPr txBox="1"/>
              <p:nvPr/>
            </p:nvSpPr>
            <p:spPr>
              <a:xfrm>
                <a:off x="4343400" y="1168400"/>
                <a:ext cx="679902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p[4]</a:t>
                </a:r>
              </a:p>
            </p:txBody>
          </p:sp>
          <p:sp>
            <p:nvSpPr>
              <p:cNvPr id="507" name="Shape 717"/>
              <p:cNvSpPr txBox="1"/>
              <p:nvPr/>
            </p:nvSpPr>
            <p:spPr>
              <a:xfrm>
                <a:off x="5372101" y="1168400"/>
                <a:ext cx="679901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p[5]</a:t>
                </a:r>
              </a:p>
            </p:txBody>
          </p:sp>
        </p:grpSp>
        <p:sp>
          <p:nvSpPr>
            <p:cNvPr id="509" name="S = {v1, v2, v4, v3}      Q = {v0, v5}"/>
            <p:cNvSpPr txBox="1"/>
            <p:nvPr/>
          </p:nvSpPr>
          <p:spPr>
            <a:xfrm>
              <a:off x="382230" y="3201499"/>
              <a:ext cx="4561910" cy="4437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2500"/>
              </a:pPr>
              <a:r>
                <a:t>S = {v</a:t>
              </a:r>
              <a:r>
                <a:rPr baseline="-5999"/>
                <a:t>1</a:t>
              </a:r>
              <a:r>
                <a:t>, v</a:t>
              </a:r>
              <a:r>
                <a:rPr baseline="-5999"/>
                <a:t>2</a:t>
              </a:r>
              <a:r>
                <a:t>, v</a:t>
              </a:r>
              <a:r>
                <a:rPr baseline="-5999"/>
                <a:t>4</a:t>
              </a:r>
              <a:r>
                <a:t>, v</a:t>
              </a:r>
              <a:r>
                <a:rPr baseline="-5999"/>
                <a:t>3</a:t>
              </a:r>
              <a:r>
                <a:t>}      Q = {v</a:t>
              </a:r>
              <a:r>
                <a:rPr baseline="-5999"/>
                <a:t>0</a:t>
              </a:r>
              <a:r>
                <a:t>, v</a:t>
              </a:r>
              <a:r>
                <a:rPr baseline="-5999"/>
                <a:t>5</a:t>
              </a:r>
              <a:r>
                <a:t>}</a:t>
              </a:r>
            </a:p>
          </p:txBody>
        </p:sp>
      </p:grpSp>
      <p:grpSp>
        <p:nvGrpSpPr>
          <p:cNvPr id="533" name="成组"/>
          <p:cNvGrpSpPr/>
          <p:nvPr/>
        </p:nvGrpSpPr>
        <p:grpSpPr>
          <a:xfrm>
            <a:off x="6564090" y="1315474"/>
            <a:ext cx="6197602" cy="3645214"/>
            <a:chOff x="25400" y="0"/>
            <a:chExt cx="6197601" cy="3645212"/>
          </a:xfrm>
        </p:grpSpPr>
        <p:grpSp>
          <p:nvGrpSpPr>
            <p:cNvPr id="531" name="成组"/>
            <p:cNvGrpSpPr/>
            <p:nvPr/>
          </p:nvGrpSpPr>
          <p:grpSpPr>
            <a:xfrm>
              <a:off x="25400" y="0"/>
              <a:ext cx="6197602" cy="2996953"/>
              <a:chOff x="25400" y="0"/>
              <a:chExt cx="6197601" cy="2996952"/>
            </a:xfrm>
          </p:grpSpPr>
          <p:graphicFrame>
            <p:nvGraphicFramePr>
              <p:cNvPr id="511" name="Table 698"/>
              <p:cNvGraphicFramePr/>
              <p:nvPr/>
            </p:nvGraphicFramePr>
            <p:xfrm>
              <a:off x="50800" y="467867"/>
              <a:ext cx="6172202" cy="685802"/>
            </p:xfrm>
            <a:graphic xmlns:a="http://schemas.openxmlformats.org/drawingml/2006/main">
              <a:graphicData uri="http://schemas.openxmlformats.org/drawingml/2006/table">
                <a:tbl>
                  <a:tblPr firstCol="0" firstRow="0" lastCol="0" lastRow="0" bandCol="0" bandRow="0" rtl="0">
                    <a:tableStyleId>{4C3C2611-4C71-4FC5-86AE-919BDF0F9419}</a:tableStyleId>
                  </a:tblPr>
                  <a:tblGrid>
                    <a:gridCol w="1028700"/>
                    <a:gridCol w="1028700"/>
                    <a:gridCol w="1028700"/>
                    <a:gridCol w="1028700"/>
                    <a:gridCol w="1028700"/>
                    <a:gridCol w="1028700"/>
                  </a:tblGrid>
                  <a:tr h="685800"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-1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-1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1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4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1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3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</a:tr>
                </a:tbl>
              </a:graphicData>
            </a:graphic>
          </p:graphicFrame>
          <p:graphicFrame>
            <p:nvGraphicFramePr>
              <p:cNvPr id="512" name="Table 699"/>
              <p:cNvGraphicFramePr/>
              <p:nvPr/>
            </p:nvGraphicFramePr>
            <p:xfrm>
              <a:off x="25400" y="1864867"/>
              <a:ext cx="6172202" cy="685802"/>
            </p:xfrm>
            <a:graphic xmlns:a="http://schemas.openxmlformats.org/drawingml/2006/main">
              <a:graphicData uri="http://schemas.openxmlformats.org/drawingml/2006/table">
                <a:tbl>
                  <a:tblPr firstCol="0" firstRow="0" lastCol="0" lastRow="0" bandCol="0" bandRow="0" rtl="0">
                    <a:tableStyleId>{4C3C2611-4C71-4FC5-86AE-919BDF0F9419}</a:tableStyleId>
                  </a:tblPr>
                  <a:tblGrid>
                    <a:gridCol w="1028700"/>
                    <a:gridCol w="1028700"/>
                    <a:gridCol w="1028700"/>
                    <a:gridCol w="1028700"/>
                    <a:gridCol w="1028700"/>
                    <a:gridCol w="1028700"/>
                  </a:tblGrid>
                  <a:tr h="685800"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>
                              <a:latin typeface="Abadi MT Condensed Extra Bold"/>
                              <a:ea typeface="Abadi MT Condensed Extra Bold"/>
                              <a:cs typeface="Abadi MT Condensed Extra Bold"/>
                              <a:sym typeface="Abadi MT Condensed Extra Bold"/>
                            </a:rPr>
                            <a:t>∞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0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10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50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30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spcBef>
                              <a:spcPts val="900"/>
                            </a:spcBef>
                            <a:tabLst>
                              <a:tab pos="1295400" algn="l"/>
                            </a:tabLst>
                            <a:defRPr sz="1800"/>
                          </a:pPr>
                          <a:r>
                            <a:rPr sz="2400"/>
                            <a:t>60</a:t>
                          </a:r>
                        </a:p>
                      </a:txBody>
                      <a:tcPr marL="50800" marR="50800" marT="50800" marB="50800" anchor="ctr" anchorCtr="0" horzOverflow="overflow"/>
                    </a:tc>
                  </a:tr>
                </a:tbl>
              </a:graphicData>
            </a:graphic>
          </p:graphicFrame>
          <p:sp>
            <p:nvSpPr>
              <p:cNvPr id="513" name="Shape 700"/>
              <p:cNvSpPr txBox="1"/>
              <p:nvPr/>
            </p:nvSpPr>
            <p:spPr>
              <a:xfrm>
                <a:off x="152399" y="2565400"/>
                <a:ext cx="679902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d[0]</a:t>
                </a:r>
              </a:p>
            </p:txBody>
          </p:sp>
          <p:sp>
            <p:nvSpPr>
              <p:cNvPr id="514" name="Shape 701"/>
              <p:cNvSpPr txBox="1"/>
              <p:nvPr/>
            </p:nvSpPr>
            <p:spPr>
              <a:xfrm>
                <a:off x="1155700" y="2565400"/>
                <a:ext cx="679901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d[1]</a:t>
                </a:r>
              </a:p>
            </p:txBody>
          </p:sp>
          <p:sp>
            <p:nvSpPr>
              <p:cNvPr id="515" name="Shape 702"/>
              <p:cNvSpPr txBox="1"/>
              <p:nvPr/>
            </p:nvSpPr>
            <p:spPr>
              <a:xfrm>
                <a:off x="2209800" y="2565400"/>
                <a:ext cx="679901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d[2]</a:t>
                </a:r>
              </a:p>
            </p:txBody>
          </p:sp>
          <p:sp>
            <p:nvSpPr>
              <p:cNvPr id="516" name="Shape 703"/>
              <p:cNvSpPr txBox="1"/>
              <p:nvPr/>
            </p:nvSpPr>
            <p:spPr>
              <a:xfrm>
                <a:off x="3263900" y="2565400"/>
                <a:ext cx="679902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d[3]</a:t>
                </a:r>
              </a:p>
            </p:txBody>
          </p:sp>
          <p:sp>
            <p:nvSpPr>
              <p:cNvPr id="517" name="Shape 704"/>
              <p:cNvSpPr txBox="1"/>
              <p:nvPr/>
            </p:nvSpPr>
            <p:spPr>
              <a:xfrm>
                <a:off x="4279900" y="2565400"/>
                <a:ext cx="679902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d[4]</a:t>
                </a:r>
              </a:p>
            </p:txBody>
          </p:sp>
          <p:sp>
            <p:nvSpPr>
              <p:cNvPr id="518" name="Shape 705"/>
              <p:cNvSpPr txBox="1"/>
              <p:nvPr/>
            </p:nvSpPr>
            <p:spPr>
              <a:xfrm>
                <a:off x="5308601" y="2565400"/>
                <a:ext cx="679901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d[5]</a:t>
                </a:r>
              </a:p>
            </p:txBody>
          </p:sp>
          <p:sp>
            <p:nvSpPr>
              <p:cNvPr id="519" name="Shape 706"/>
              <p:cNvSpPr txBox="1"/>
              <p:nvPr/>
            </p:nvSpPr>
            <p:spPr>
              <a:xfrm>
                <a:off x="342900" y="0"/>
                <a:ext cx="426100" cy="4315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/>
              <a:p>
                <a: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v</a:t>
                </a:r>
                <a:r>
                  <a:rPr baseline="-5998"/>
                  <a:t>0</a:t>
                </a:r>
              </a:p>
            </p:txBody>
          </p:sp>
          <p:sp>
            <p:nvSpPr>
              <p:cNvPr id="520" name="Shape 707"/>
              <p:cNvSpPr txBox="1"/>
              <p:nvPr/>
            </p:nvSpPr>
            <p:spPr>
              <a:xfrm>
                <a:off x="1371600" y="0"/>
                <a:ext cx="426100" cy="4315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/>
              <a:p>
                <a: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v</a:t>
                </a:r>
                <a:r>
                  <a:rPr baseline="-5998"/>
                  <a:t>1</a:t>
                </a:r>
              </a:p>
            </p:txBody>
          </p:sp>
          <p:sp>
            <p:nvSpPr>
              <p:cNvPr id="521" name="Shape 708"/>
              <p:cNvSpPr txBox="1"/>
              <p:nvPr/>
            </p:nvSpPr>
            <p:spPr>
              <a:xfrm>
                <a:off x="2413000" y="0"/>
                <a:ext cx="426100" cy="4315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/>
              <a:p>
                <a: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v</a:t>
                </a:r>
                <a:r>
                  <a:rPr baseline="-5998"/>
                  <a:t>2</a:t>
                </a:r>
              </a:p>
            </p:txBody>
          </p:sp>
          <p:sp>
            <p:nvSpPr>
              <p:cNvPr id="522" name="Shape 709"/>
              <p:cNvSpPr txBox="1"/>
              <p:nvPr/>
            </p:nvSpPr>
            <p:spPr>
              <a:xfrm>
                <a:off x="3416300" y="0"/>
                <a:ext cx="426100" cy="4315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/>
              <a:p>
                <a: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v</a:t>
                </a:r>
                <a:r>
                  <a:rPr baseline="-5998"/>
                  <a:t>3</a:t>
                </a:r>
              </a:p>
            </p:txBody>
          </p:sp>
          <p:sp>
            <p:nvSpPr>
              <p:cNvPr id="523" name="Shape 710"/>
              <p:cNvSpPr txBox="1"/>
              <p:nvPr/>
            </p:nvSpPr>
            <p:spPr>
              <a:xfrm>
                <a:off x="4445000" y="0"/>
                <a:ext cx="426100" cy="4315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/>
              <a:p>
                <a: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v</a:t>
                </a:r>
                <a:r>
                  <a:rPr baseline="-5998"/>
                  <a:t>4</a:t>
                </a:r>
              </a:p>
            </p:txBody>
          </p:sp>
          <p:sp>
            <p:nvSpPr>
              <p:cNvPr id="524" name="Shape 711"/>
              <p:cNvSpPr txBox="1"/>
              <p:nvPr/>
            </p:nvSpPr>
            <p:spPr>
              <a:xfrm>
                <a:off x="5422901" y="0"/>
                <a:ext cx="426100" cy="4315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/>
              <a:p>
                <a: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v</a:t>
                </a:r>
                <a:r>
                  <a:rPr baseline="-5998"/>
                  <a:t>5</a:t>
                </a:r>
              </a:p>
            </p:txBody>
          </p:sp>
          <p:sp>
            <p:nvSpPr>
              <p:cNvPr id="525" name="Shape 712"/>
              <p:cNvSpPr txBox="1"/>
              <p:nvPr/>
            </p:nvSpPr>
            <p:spPr>
              <a:xfrm>
                <a:off x="215900" y="1168400"/>
                <a:ext cx="679901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p[0]</a:t>
                </a:r>
              </a:p>
            </p:txBody>
          </p:sp>
          <p:sp>
            <p:nvSpPr>
              <p:cNvPr id="526" name="Shape 713"/>
              <p:cNvSpPr txBox="1"/>
              <p:nvPr/>
            </p:nvSpPr>
            <p:spPr>
              <a:xfrm>
                <a:off x="1219200" y="1168400"/>
                <a:ext cx="679901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p[1]</a:t>
                </a:r>
              </a:p>
            </p:txBody>
          </p:sp>
          <p:sp>
            <p:nvSpPr>
              <p:cNvPr id="527" name="Shape 714"/>
              <p:cNvSpPr txBox="1"/>
              <p:nvPr/>
            </p:nvSpPr>
            <p:spPr>
              <a:xfrm>
                <a:off x="2273300" y="1168400"/>
                <a:ext cx="679901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p[2]</a:t>
                </a:r>
              </a:p>
            </p:txBody>
          </p:sp>
          <p:sp>
            <p:nvSpPr>
              <p:cNvPr id="528" name="Shape 715"/>
              <p:cNvSpPr txBox="1"/>
              <p:nvPr/>
            </p:nvSpPr>
            <p:spPr>
              <a:xfrm>
                <a:off x="3327400" y="1168400"/>
                <a:ext cx="679902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p[3]</a:t>
                </a:r>
              </a:p>
            </p:txBody>
          </p:sp>
          <p:sp>
            <p:nvSpPr>
              <p:cNvPr id="529" name="Shape 716"/>
              <p:cNvSpPr txBox="1"/>
              <p:nvPr/>
            </p:nvSpPr>
            <p:spPr>
              <a:xfrm>
                <a:off x="4343400" y="1168400"/>
                <a:ext cx="679902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p[4]</a:t>
                </a:r>
              </a:p>
            </p:txBody>
          </p:sp>
          <p:sp>
            <p:nvSpPr>
              <p:cNvPr id="530" name="Shape 717"/>
              <p:cNvSpPr txBox="1"/>
              <p:nvPr/>
            </p:nvSpPr>
            <p:spPr>
              <a:xfrm>
                <a:off x="5372101" y="1168400"/>
                <a:ext cx="679901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p[5]</a:t>
                </a:r>
              </a:p>
            </p:txBody>
          </p:sp>
        </p:grpSp>
        <p:sp>
          <p:nvSpPr>
            <p:cNvPr id="532" name="S = {v1, v2, v4, v3, v5}      Q = {v0}"/>
            <p:cNvSpPr txBox="1"/>
            <p:nvPr/>
          </p:nvSpPr>
          <p:spPr>
            <a:xfrm>
              <a:off x="382230" y="3201499"/>
              <a:ext cx="4561910" cy="4437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2500"/>
              </a:pPr>
              <a:r>
                <a:t>S = {v</a:t>
              </a:r>
              <a:r>
                <a:rPr baseline="-5999"/>
                <a:t>1</a:t>
              </a:r>
              <a:r>
                <a:t>, v</a:t>
              </a:r>
              <a:r>
                <a:rPr baseline="-5999"/>
                <a:t>2</a:t>
              </a:r>
              <a:r>
                <a:t>, v</a:t>
              </a:r>
              <a:r>
                <a:rPr baseline="-5999"/>
                <a:t>4</a:t>
              </a:r>
              <a:r>
                <a:t>, v</a:t>
              </a:r>
              <a:r>
                <a:rPr baseline="-5999"/>
                <a:t>3</a:t>
              </a:r>
              <a:r>
                <a:t>, v</a:t>
              </a:r>
              <a:r>
                <a:rPr baseline="-5999"/>
                <a:t>5</a:t>
              </a:r>
              <a:r>
                <a:t>}      Q = {v</a:t>
              </a:r>
              <a:r>
                <a:rPr baseline="-5999"/>
                <a:t>0</a:t>
              </a:r>
              <a:r>
                <a:t>}</a:t>
              </a:r>
            </a:p>
          </p:txBody>
        </p:sp>
      </p:grpSp>
      <p:sp>
        <p:nvSpPr>
          <p:cNvPr id="534" name="S = {v0,v1, v2, v4, v3, v5}      Q = {}"/>
          <p:cNvSpPr txBox="1"/>
          <p:nvPr/>
        </p:nvSpPr>
        <p:spPr>
          <a:xfrm>
            <a:off x="8129727" y="6156876"/>
            <a:ext cx="4641285" cy="4437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500"/>
            </a:pPr>
            <a:r>
              <a:t>S = {v</a:t>
            </a:r>
            <a:r>
              <a:rPr baseline="-5999"/>
              <a:t>0</a:t>
            </a:r>
            <a:r>
              <a:t>,v</a:t>
            </a:r>
            <a:r>
              <a:rPr baseline="-5999"/>
              <a:t>1</a:t>
            </a:r>
            <a:r>
              <a:t>, v</a:t>
            </a:r>
            <a:r>
              <a:rPr baseline="-5999"/>
              <a:t>2</a:t>
            </a:r>
            <a:r>
              <a:t>, v</a:t>
            </a:r>
            <a:r>
              <a:rPr baseline="-5999"/>
              <a:t>4</a:t>
            </a:r>
            <a:r>
              <a:t>, v</a:t>
            </a:r>
            <a:r>
              <a:rPr baseline="-5999"/>
              <a:t>3</a:t>
            </a:r>
            <a:r>
              <a:t>, v</a:t>
            </a:r>
            <a:r>
              <a:rPr baseline="-5999"/>
              <a:t>5</a:t>
            </a:r>
            <a:r>
              <a:t>}      Q = {}</a:t>
            </a:r>
          </a:p>
        </p:txBody>
      </p:sp>
      <p:grpSp>
        <p:nvGrpSpPr>
          <p:cNvPr id="569" name="成组"/>
          <p:cNvGrpSpPr/>
          <p:nvPr/>
        </p:nvGrpSpPr>
        <p:grpSpPr>
          <a:xfrm>
            <a:off x="541736" y="4953720"/>
            <a:ext cx="6293127" cy="4042836"/>
            <a:chOff x="0" y="0"/>
            <a:chExt cx="6293125" cy="4042835"/>
          </a:xfrm>
        </p:grpSpPr>
        <p:grpSp>
          <p:nvGrpSpPr>
            <p:cNvPr id="537" name="Group 721"/>
            <p:cNvGrpSpPr/>
            <p:nvPr/>
          </p:nvGrpSpPr>
          <p:grpSpPr>
            <a:xfrm>
              <a:off x="0" y="1000567"/>
              <a:ext cx="969373" cy="798549"/>
              <a:chOff x="0" y="0"/>
              <a:chExt cx="969372" cy="798548"/>
            </a:xfrm>
          </p:grpSpPr>
          <p:sp>
            <p:nvSpPr>
              <p:cNvPr id="535" name="Shape 719"/>
              <p:cNvSpPr/>
              <p:nvPr/>
            </p:nvSpPr>
            <p:spPr>
              <a:xfrm>
                <a:off x="-1" y="0"/>
                <a:ext cx="969374" cy="798549"/>
              </a:xfrm>
              <a:prstGeom prst="ellipse">
                <a:avLst/>
              </a:prstGeom>
              <a:solidFill>
                <a:srgbClr val="99CCFF"/>
              </a:solidFill>
              <a:ln w="25400" cap="sq">
                <a:solidFill>
                  <a:srgbClr val="00008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36" name="Shape 720"/>
              <p:cNvSpPr txBox="1"/>
              <p:nvPr/>
            </p:nvSpPr>
            <p:spPr>
              <a:xfrm>
                <a:off x="210743" y="57253"/>
                <a:ext cx="547884" cy="68206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/>
              <a:p>
                <a:pPr marR="56816" indent="56816" algn="ctr" defTabSz="1295400">
                  <a:defRPr sz="38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pPr>
                <a:r>
                  <a:t>v</a:t>
                </a:r>
                <a:r>
                  <a:rPr baseline="-20000"/>
                  <a:t>1</a:t>
                </a:r>
              </a:p>
            </p:txBody>
          </p:sp>
        </p:grpSp>
        <p:sp>
          <p:nvSpPr>
            <p:cNvPr id="538" name="Shape 722"/>
            <p:cNvSpPr/>
            <p:nvPr/>
          </p:nvSpPr>
          <p:spPr>
            <a:xfrm flipV="1">
              <a:off x="982067" y="455218"/>
              <a:ext cx="1818099" cy="899827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39" name="Shape 723"/>
            <p:cNvSpPr/>
            <p:nvPr/>
          </p:nvSpPr>
          <p:spPr>
            <a:xfrm>
              <a:off x="969369" y="1499171"/>
              <a:ext cx="1818098" cy="1898984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40" name="Shape 724"/>
            <p:cNvSpPr/>
            <p:nvPr/>
          </p:nvSpPr>
          <p:spPr>
            <a:xfrm flipH="1" flipV="1">
              <a:off x="3513434" y="700625"/>
              <a:ext cx="1818099" cy="1998315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41" name="Shape 725"/>
            <p:cNvSpPr/>
            <p:nvPr/>
          </p:nvSpPr>
          <p:spPr>
            <a:xfrm>
              <a:off x="5695573" y="1721206"/>
              <a:ext cx="2260" cy="884245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42" name="Shape 726"/>
            <p:cNvSpPr/>
            <p:nvPr/>
          </p:nvSpPr>
          <p:spPr>
            <a:xfrm flipV="1">
              <a:off x="3636193" y="3098212"/>
              <a:ext cx="1574698" cy="498606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43" name="Shape 727"/>
            <p:cNvSpPr/>
            <p:nvPr/>
          </p:nvSpPr>
          <p:spPr>
            <a:xfrm flipH="1" flipV="1">
              <a:off x="3756835" y="500015"/>
              <a:ext cx="1695340" cy="500554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44" name="Shape 728"/>
            <p:cNvSpPr/>
            <p:nvPr/>
          </p:nvSpPr>
          <p:spPr>
            <a:xfrm>
              <a:off x="1333411" y="3098211"/>
              <a:ext cx="1333414" cy="498607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45" name="Shape 729"/>
            <p:cNvSpPr txBox="1"/>
            <p:nvPr/>
          </p:nvSpPr>
          <p:spPr>
            <a:xfrm rot="19860000">
              <a:off x="1105574" y="454500"/>
              <a:ext cx="857900" cy="6155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3600"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100</a:t>
              </a:r>
            </a:p>
          </p:txBody>
        </p:sp>
        <p:sp>
          <p:nvSpPr>
            <p:cNvPr id="546" name="Shape 730"/>
            <p:cNvSpPr txBox="1"/>
            <p:nvPr/>
          </p:nvSpPr>
          <p:spPr>
            <a:xfrm>
              <a:off x="1691105" y="1878968"/>
              <a:ext cx="629300" cy="6155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3600"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10</a:t>
              </a:r>
            </a:p>
          </p:txBody>
        </p:sp>
        <p:sp>
          <p:nvSpPr>
            <p:cNvPr id="547" name="Shape 731"/>
            <p:cNvSpPr txBox="1"/>
            <p:nvPr/>
          </p:nvSpPr>
          <p:spPr>
            <a:xfrm>
              <a:off x="3991770" y="1672514"/>
              <a:ext cx="629300" cy="6155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3600"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10</a:t>
              </a:r>
            </a:p>
          </p:txBody>
        </p:sp>
        <p:sp>
          <p:nvSpPr>
            <p:cNvPr id="548" name="Shape 732"/>
            <p:cNvSpPr txBox="1"/>
            <p:nvPr/>
          </p:nvSpPr>
          <p:spPr>
            <a:xfrm rot="1440000">
              <a:off x="1446511" y="3208492"/>
              <a:ext cx="400700" cy="6155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3600"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549" name="Shape 733"/>
            <p:cNvSpPr txBox="1"/>
            <p:nvPr/>
          </p:nvSpPr>
          <p:spPr>
            <a:xfrm rot="20400000">
              <a:off x="3885439" y="2853479"/>
              <a:ext cx="629300" cy="6155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3600"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50</a:t>
              </a:r>
            </a:p>
          </p:txBody>
        </p:sp>
        <p:grpSp>
          <p:nvGrpSpPr>
            <p:cNvPr id="552" name="Group 736"/>
            <p:cNvGrpSpPr/>
            <p:nvPr/>
          </p:nvGrpSpPr>
          <p:grpSpPr>
            <a:xfrm>
              <a:off x="393673" y="2514599"/>
              <a:ext cx="969373" cy="798551"/>
              <a:chOff x="0" y="0"/>
              <a:chExt cx="969372" cy="798549"/>
            </a:xfrm>
          </p:grpSpPr>
          <p:sp>
            <p:nvSpPr>
              <p:cNvPr id="550" name="Shape 734"/>
              <p:cNvSpPr/>
              <p:nvPr/>
            </p:nvSpPr>
            <p:spPr>
              <a:xfrm>
                <a:off x="-1" y="-1"/>
                <a:ext cx="969374" cy="798551"/>
              </a:xfrm>
              <a:prstGeom prst="ellipse">
                <a:avLst/>
              </a:prstGeom>
              <a:solidFill>
                <a:srgbClr val="FFFF99"/>
              </a:solidFill>
              <a:ln w="25400" cap="sq">
                <a:solidFill>
                  <a:srgbClr val="8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51" name="Shape 735"/>
              <p:cNvSpPr txBox="1"/>
              <p:nvPr/>
            </p:nvSpPr>
            <p:spPr>
              <a:xfrm>
                <a:off x="198043" y="54616"/>
                <a:ext cx="547884" cy="68206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/>
              <a:p>
                <a:pPr marR="56816" indent="56816" algn="ctr" defTabSz="1295400">
                  <a:defRPr sz="38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pPr>
                <a:r>
                  <a:t>v</a:t>
                </a:r>
                <a:r>
                  <a:rPr baseline="-20000"/>
                  <a:t>0</a:t>
                </a:r>
              </a:p>
            </p:txBody>
          </p:sp>
        </p:grpSp>
        <p:grpSp>
          <p:nvGrpSpPr>
            <p:cNvPr id="555" name="Group 739"/>
            <p:cNvGrpSpPr/>
            <p:nvPr/>
          </p:nvGrpSpPr>
          <p:grpSpPr>
            <a:xfrm>
              <a:off x="2622376" y="3242339"/>
              <a:ext cx="969373" cy="800497"/>
              <a:chOff x="0" y="0"/>
              <a:chExt cx="969372" cy="800496"/>
            </a:xfrm>
          </p:grpSpPr>
          <p:sp>
            <p:nvSpPr>
              <p:cNvPr id="553" name="Shape 737"/>
              <p:cNvSpPr/>
              <p:nvPr/>
            </p:nvSpPr>
            <p:spPr>
              <a:xfrm>
                <a:off x="-1" y="0"/>
                <a:ext cx="969374" cy="800497"/>
              </a:xfrm>
              <a:prstGeom prst="ellipse">
                <a:avLst/>
              </a:prstGeom>
              <a:solidFill>
                <a:srgbClr val="FFFF99"/>
              </a:solidFill>
              <a:ln w="25400" cap="sq">
                <a:solidFill>
                  <a:srgbClr val="8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54" name="Shape 738"/>
              <p:cNvSpPr txBox="1"/>
              <p:nvPr/>
            </p:nvSpPr>
            <p:spPr>
              <a:xfrm>
                <a:off x="210743" y="58228"/>
                <a:ext cx="547884" cy="68206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/>
              <a:p>
                <a:pPr marR="56816" indent="56816" algn="ctr" defTabSz="1295400">
                  <a:defRPr sz="38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pPr>
                <a:r>
                  <a:t>v</a:t>
                </a:r>
                <a:r>
                  <a:rPr baseline="-20000"/>
                  <a:t>2</a:t>
                </a:r>
              </a:p>
            </p:txBody>
          </p:sp>
        </p:grpSp>
        <p:grpSp>
          <p:nvGrpSpPr>
            <p:cNvPr id="558" name="Group 742"/>
            <p:cNvGrpSpPr/>
            <p:nvPr/>
          </p:nvGrpSpPr>
          <p:grpSpPr>
            <a:xfrm>
              <a:off x="2787465" y="0"/>
              <a:ext cx="969373" cy="798549"/>
              <a:chOff x="0" y="0"/>
              <a:chExt cx="969372" cy="798548"/>
            </a:xfrm>
          </p:grpSpPr>
          <p:sp>
            <p:nvSpPr>
              <p:cNvPr id="556" name="Shape 740"/>
              <p:cNvSpPr/>
              <p:nvPr/>
            </p:nvSpPr>
            <p:spPr>
              <a:xfrm>
                <a:off x="-1" y="0"/>
                <a:ext cx="969374" cy="798549"/>
              </a:xfrm>
              <a:prstGeom prst="ellipse">
                <a:avLst/>
              </a:prstGeom>
              <a:solidFill>
                <a:srgbClr val="FFFF99"/>
              </a:solidFill>
              <a:ln w="25400" cap="sq">
                <a:solidFill>
                  <a:srgbClr val="8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57" name="Shape 741"/>
              <p:cNvSpPr txBox="1"/>
              <p:nvPr/>
            </p:nvSpPr>
            <p:spPr>
              <a:xfrm>
                <a:off x="210743" y="58664"/>
                <a:ext cx="547884" cy="68206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/>
              <a:p>
                <a:pPr marR="56816" indent="56816" algn="ctr" defTabSz="1295400">
                  <a:defRPr sz="38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pPr>
                <a:r>
                  <a:t>v</a:t>
                </a:r>
                <a:r>
                  <a:rPr baseline="-20000"/>
                  <a:t>5</a:t>
                </a:r>
              </a:p>
            </p:txBody>
          </p:sp>
        </p:grpSp>
        <p:grpSp>
          <p:nvGrpSpPr>
            <p:cNvPr id="561" name="Group 745"/>
            <p:cNvGrpSpPr/>
            <p:nvPr/>
          </p:nvGrpSpPr>
          <p:grpSpPr>
            <a:xfrm>
              <a:off x="5284968" y="918765"/>
              <a:ext cx="969373" cy="798549"/>
              <a:chOff x="0" y="0"/>
              <a:chExt cx="969372" cy="798548"/>
            </a:xfrm>
          </p:grpSpPr>
          <p:sp>
            <p:nvSpPr>
              <p:cNvPr id="559" name="Shape 743"/>
              <p:cNvSpPr/>
              <p:nvPr/>
            </p:nvSpPr>
            <p:spPr>
              <a:xfrm>
                <a:off x="-1" y="0"/>
                <a:ext cx="969374" cy="798549"/>
              </a:xfrm>
              <a:prstGeom prst="ellipse">
                <a:avLst/>
              </a:prstGeom>
              <a:solidFill>
                <a:srgbClr val="FFFF99"/>
              </a:solidFill>
              <a:ln w="25400" cap="sq">
                <a:solidFill>
                  <a:srgbClr val="8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60" name="Shape 744"/>
              <p:cNvSpPr txBox="1"/>
              <p:nvPr/>
            </p:nvSpPr>
            <p:spPr>
              <a:xfrm>
                <a:off x="210743" y="57253"/>
                <a:ext cx="547884" cy="68206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/>
              <a:p>
                <a:pPr marR="56816" indent="56816" algn="ctr" defTabSz="1295400">
                  <a:defRPr sz="38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pPr>
                <a:r>
                  <a:t>v</a:t>
                </a:r>
                <a:r>
                  <a:rPr baseline="-20000"/>
                  <a:t>4</a:t>
                </a:r>
              </a:p>
            </p:txBody>
          </p:sp>
        </p:grpSp>
        <p:sp>
          <p:nvSpPr>
            <p:cNvPr id="562" name="Shape 746"/>
            <p:cNvSpPr txBox="1"/>
            <p:nvPr/>
          </p:nvSpPr>
          <p:spPr>
            <a:xfrm rot="780000">
              <a:off x="4475637" y="259828"/>
              <a:ext cx="629300" cy="6155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3600"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60</a:t>
              </a:r>
            </a:p>
          </p:txBody>
        </p:sp>
        <p:grpSp>
          <p:nvGrpSpPr>
            <p:cNvPr id="565" name="Group 749"/>
            <p:cNvGrpSpPr/>
            <p:nvPr/>
          </p:nvGrpSpPr>
          <p:grpSpPr>
            <a:xfrm>
              <a:off x="5166442" y="2566497"/>
              <a:ext cx="969373" cy="798549"/>
              <a:chOff x="0" y="0"/>
              <a:chExt cx="969372" cy="798548"/>
            </a:xfrm>
          </p:grpSpPr>
          <p:sp>
            <p:nvSpPr>
              <p:cNvPr id="563" name="Shape 747"/>
              <p:cNvSpPr/>
              <p:nvPr/>
            </p:nvSpPr>
            <p:spPr>
              <a:xfrm>
                <a:off x="-1" y="0"/>
                <a:ext cx="969374" cy="798549"/>
              </a:xfrm>
              <a:prstGeom prst="ellipse">
                <a:avLst/>
              </a:prstGeom>
              <a:solidFill>
                <a:srgbClr val="FFFF99"/>
              </a:solidFill>
              <a:ln w="25400" cap="sq">
                <a:solidFill>
                  <a:srgbClr val="8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64" name="Shape 748"/>
              <p:cNvSpPr txBox="1"/>
              <p:nvPr/>
            </p:nvSpPr>
            <p:spPr>
              <a:xfrm>
                <a:off x="210743" y="57253"/>
                <a:ext cx="547884" cy="68206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/>
              <a:p>
                <a:pPr marR="56816" indent="56816" algn="ctr" defTabSz="1295400">
                  <a:defRPr sz="38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pPr>
                <a:r>
                  <a:t>v</a:t>
                </a:r>
                <a:r>
                  <a:rPr baseline="-20000"/>
                  <a:t>3</a:t>
                </a:r>
              </a:p>
            </p:txBody>
          </p:sp>
        </p:grpSp>
        <p:sp>
          <p:nvSpPr>
            <p:cNvPr id="566" name="Shape 750"/>
            <p:cNvSpPr txBox="1"/>
            <p:nvPr/>
          </p:nvSpPr>
          <p:spPr>
            <a:xfrm>
              <a:off x="5663826" y="1822485"/>
              <a:ext cx="629300" cy="6155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3600"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20</a:t>
              </a:r>
            </a:p>
          </p:txBody>
        </p:sp>
        <p:sp>
          <p:nvSpPr>
            <p:cNvPr id="567" name="Shape 751"/>
            <p:cNvSpPr/>
            <p:nvPr/>
          </p:nvSpPr>
          <p:spPr>
            <a:xfrm flipV="1">
              <a:off x="969369" y="1399840"/>
              <a:ext cx="4362163" cy="50642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68" name="Shape 752"/>
            <p:cNvSpPr txBox="1"/>
            <p:nvPr/>
          </p:nvSpPr>
          <p:spPr>
            <a:xfrm>
              <a:off x="2423423" y="940189"/>
              <a:ext cx="629300" cy="6155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3600"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Shape 1082"/>
          <p:cNvSpPr txBox="1"/>
          <p:nvPr>
            <p:ph type="title"/>
          </p:nvPr>
        </p:nvSpPr>
        <p:spPr>
          <a:xfrm>
            <a:off x="2676736" y="38100"/>
            <a:ext cx="7632702" cy="990600"/>
          </a:xfrm>
          <a:prstGeom prst="rect">
            <a:avLst/>
          </a:prstGeom>
        </p:spPr>
        <p:txBody>
          <a:bodyPr/>
          <a:lstStyle>
            <a:lvl1pPr>
              <a:lnSpc>
                <a:spcPct val="115000"/>
              </a:lnSpc>
              <a:defRPr sz="48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课堂练习</a:t>
            </a:r>
          </a:p>
        </p:txBody>
      </p:sp>
      <p:grpSp>
        <p:nvGrpSpPr>
          <p:cNvPr id="601" name="成组"/>
          <p:cNvGrpSpPr/>
          <p:nvPr/>
        </p:nvGrpSpPr>
        <p:grpSpPr>
          <a:xfrm>
            <a:off x="3985712" y="1142446"/>
            <a:ext cx="6034857" cy="4747991"/>
            <a:chOff x="0" y="0"/>
            <a:chExt cx="6034856" cy="4747989"/>
          </a:xfrm>
        </p:grpSpPr>
        <p:sp>
          <p:nvSpPr>
            <p:cNvPr id="572" name="Shape 1083"/>
            <p:cNvSpPr/>
            <p:nvPr/>
          </p:nvSpPr>
          <p:spPr>
            <a:xfrm>
              <a:off x="1097884" y="1739134"/>
              <a:ext cx="1422400" cy="1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73" name="Shape 1084"/>
            <p:cNvSpPr/>
            <p:nvPr/>
          </p:nvSpPr>
          <p:spPr>
            <a:xfrm>
              <a:off x="531716" y="2126556"/>
              <a:ext cx="2" cy="1673857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74" name="Shape 1085"/>
            <p:cNvSpPr/>
            <p:nvPr/>
          </p:nvSpPr>
          <p:spPr>
            <a:xfrm>
              <a:off x="1066027" y="4345555"/>
              <a:ext cx="1422400" cy="3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75" name="Shape 1086"/>
            <p:cNvSpPr/>
            <p:nvPr/>
          </p:nvSpPr>
          <p:spPr>
            <a:xfrm>
              <a:off x="3575458" y="1967522"/>
              <a:ext cx="1417573" cy="899314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76" name="Shape 1087"/>
            <p:cNvSpPr txBox="1"/>
            <p:nvPr/>
          </p:nvSpPr>
          <p:spPr>
            <a:xfrm rot="1440000">
              <a:off x="4463258" y="1842539"/>
              <a:ext cx="400700" cy="6155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3600"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577" name="Shape 1088"/>
            <p:cNvSpPr txBox="1"/>
            <p:nvPr/>
          </p:nvSpPr>
          <p:spPr>
            <a:xfrm rot="20400000">
              <a:off x="4355850" y="3734793"/>
              <a:ext cx="400700" cy="6155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3600"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grpSp>
          <p:nvGrpSpPr>
            <p:cNvPr id="580" name="Group 1091"/>
            <p:cNvGrpSpPr/>
            <p:nvPr/>
          </p:nvGrpSpPr>
          <p:grpSpPr>
            <a:xfrm>
              <a:off x="32022" y="3831146"/>
              <a:ext cx="1112971" cy="916844"/>
              <a:chOff x="0" y="0"/>
              <a:chExt cx="1112969" cy="916843"/>
            </a:xfrm>
          </p:grpSpPr>
          <p:sp>
            <p:nvSpPr>
              <p:cNvPr id="578" name="Shape 1089"/>
              <p:cNvSpPr/>
              <p:nvPr/>
            </p:nvSpPr>
            <p:spPr>
              <a:xfrm>
                <a:off x="0" y="0"/>
                <a:ext cx="1112970" cy="916844"/>
              </a:xfrm>
              <a:prstGeom prst="ellipse">
                <a:avLst/>
              </a:prstGeom>
              <a:solidFill>
                <a:srgbClr val="FFFF99"/>
              </a:solidFill>
              <a:ln w="25400" cap="sq">
                <a:solidFill>
                  <a:srgbClr val="8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79" name="Shape 1090"/>
              <p:cNvSpPr txBox="1"/>
              <p:nvPr/>
            </p:nvSpPr>
            <p:spPr>
              <a:xfrm>
                <a:off x="165830" y="147008"/>
                <a:ext cx="752148" cy="6145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38100" tIns="38100" rIns="38100" bIns="38100" numCol="1" anchor="ctr">
                <a:spAutoFit/>
              </a:bodyPr>
              <a:lstStyle>
                <a:lvl1pPr marR="56816" indent="56816" algn="ctr" defTabSz="1295400">
                  <a:defRPr sz="38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3</a:t>
                </a:r>
              </a:p>
            </p:txBody>
          </p:sp>
        </p:grpSp>
        <p:sp>
          <p:nvSpPr>
            <p:cNvPr id="581" name="Shape 1092"/>
            <p:cNvSpPr/>
            <p:nvPr/>
          </p:nvSpPr>
          <p:spPr>
            <a:xfrm flipV="1">
              <a:off x="3579716" y="3373947"/>
              <a:ext cx="1408518" cy="755494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82" name="Shape 1093"/>
            <p:cNvSpPr txBox="1"/>
            <p:nvPr/>
          </p:nvSpPr>
          <p:spPr>
            <a:xfrm>
              <a:off x="1530755" y="1041400"/>
              <a:ext cx="400700" cy="61557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3600"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grpSp>
          <p:nvGrpSpPr>
            <p:cNvPr id="585" name="Group 1096"/>
            <p:cNvGrpSpPr/>
            <p:nvPr/>
          </p:nvGrpSpPr>
          <p:grpSpPr>
            <a:xfrm>
              <a:off x="2545820" y="1272808"/>
              <a:ext cx="1112971" cy="916845"/>
              <a:chOff x="0" y="0"/>
              <a:chExt cx="1112970" cy="916843"/>
            </a:xfrm>
          </p:grpSpPr>
          <p:sp>
            <p:nvSpPr>
              <p:cNvPr id="583" name="Shape 1094"/>
              <p:cNvSpPr/>
              <p:nvPr/>
            </p:nvSpPr>
            <p:spPr>
              <a:xfrm>
                <a:off x="-1" y="0"/>
                <a:ext cx="1112972" cy="916844"/>
              </a:xfrm>
              <a:prstGeom prst="ellipse">
                <a:avLst/>
              </a:prstGeom>
              <a:solidFill>
                <a:srgbClr val="FFFF99"/>
              </a:solidFill>
              <a:ln w="25400" cap="sq">
                <a:solidFill>
                  <a:srgbClr val="8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84" name="Shape 1095"/>
              <p:cNvSpPr txBox="1"/>
              <p:nvPr/>
            </p:nvSpPr>
            <p:spPr>
              <a:xfrm>
                <a:off x="165830" y="147008"/>
                <a:ext cx="752149" cy="6145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38100" tIns="38100" rIns="38100" bIns="38100" numCol="1" anchor="ctr">
                <a:spAutoFit/>
              </a:bodyPr>
              <a:lstStyle>
                <a:lvl1pPr marR="56816" indent="56816" algn="ctr" defTabSz="1295400">
                  <a:defRPr sz="38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2</a:t>
                </a:r>
              </a:p>
            </p:txBody>
          </p:sp>
        </p:grpSp>
        <p:grpSp>
          <p:nvGrpSpPr>
            <p:cNvPr id="588" name="Group 1099"/>
            <p:cNvGrpSpPr/>
            <p:nvPr/>
          </p:nvGrpSpPr>
          <p:grpSpPr>
            <a:xfrm>
              <a:off x="2545820" y="3815342"/>
              <a:ext cx="1112971" cy="916845"/>
              <a:chOff x="0" y="0"/>
              <a:chExt cx="1112970" cy="916843"/>
            </a:xfrm>
          </p:grpSpPr>
          <p:sp>
            <p:nvSpPr>
              <p:cNvPr id="586" name="Shape 1097"/>
              <p:cNvSpPr/>
              <p:nvPr/>
            </p:nvSpPr>
            <p:spPr>
              <a:xfrm>
                <a:off x="-1" y="0"/>
                <a:ext cx="1112972" cy="916844"/>
              </a:xfrm>
              <a:prstGeom prst="ellipse">
                <a:avLst/>
              </a:prstGeom>
              <a:solidFill>
                <a:srgbClr val="FFFF99"/>
              </a:solidFill>
              <a:ln w="25400" cap="sq">
                <a:solidFill>
                  <a:srgbClr val="8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87" name="Shape 1098"/>
              <p:cNvSpPr txBox="1"/>
              <p:nvPr/>
            </p:nvSpPr>
            <p:spPr>
              <a:xfrm>
                <a:off x="165830" y="147008"/>
                <a:ext cx="752149" cy="6145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38100" tIns="38100" rIns="38100" bIns="38100" numCol="1" anchor="ctr">
                <a:spAutoFit/>
              </a:bodyPr>
              <a:lstStyle>
                <a:lvl1pPr marR="56816" indent="56816" algn="ctr" defTabSz="1295400">
                  <a:defRPr sz="38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4</a:t>
                </a:r>
              </a:p>
            </p:txBody>
          </p:sp>
        </p:grpSp>
        <p:grpSp>
          <p:nvGrpSpPr>
            <p:cNvPr id="591" name="Group 1102"/>
            <p:cNvGrpSpPr/>
            <p:nvPr/>
          </p:nvGrpSpPr>
          <p:grpSpPr>
            <a:xfrm>
              <a:off x="4921886" y="2608842"/>
              <a:ext cx="1112971" cy="916845"/>
              <a:chOff x="0" y="0"/>
              <a:chExt cx="1112970" cy="916843"/>
            </a:xfrm>
          </p:grpSpPr>
          <p:sp>
            <p:nvSpPr>
              <p:cNvPr id="589" name="Shape 1100"/>
              <p:cNvSpPr/>
              <p:nvPr/>
            </p:nvSpPr>
            <p:spPr>
              <a:xfrm>
                <a:off x="-1" y="0"/>
                <a:ext cx="1112972" cy="916844"/>
              </a:xfrm>
              <a:prstGeom prst="ellipse">
                <a:avLst/>
              </a:prstGeom>
              <a:solidFill>
                <a:srgbClr val="FFFF99"/>
              </a:solidFill>
              <a:ln w="25400" cap="sq">
                <a:solidFill>
                  <a:srgbClr val="8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90" name="Shape 1101"/>
              <p:cNvSpPr txBox="1"/>
              <p:nvPr/>
            </p:nvSpPr>
            <p:spPr>
              <a:xfrm>
                <a:off x="165830" y="147008"/>
                <a:ext cx="752149" cy="6145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38100" tIns="38100" rIns="38100" bIns="38100" numCol="1" anchor="ctr">
                <a:spAutoFit/>
              </a:bodyPr>
              <a:lstStyle>
                <a:lvl1pPr marR="56816" indent="56816" algn="ctr" defTabSz="1295400">
                  <a:defRPr sz="38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5</a:t>
                </a:r>
              </a:p>
            </p:txBody>
          </p:sp>
        </p:grpSp>
        <p:sp>
          <p:nvSpPr>
            <p:cNvPr id="592" name="Shape 1103"/>
            <p:cNvSpPr txBox="1"/>
            <p:nvPr/>
          </p:nvSpPr>
          <p:spPr>
            <a:xfrm>
              <a:off x="654455" y="2649343"/>
              <a:ext cx="400700" cy="6155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3600"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593" name="Shape 1104"/>
            <p:cNvSpPr txBox="1"/>
            <p:nvPr/>
          </p:nvSpPr>
          <p:spPr>
            <a:xfrm>
              <a:off x="1456227" y="3695700"/>
              <a:ext cx="400700" cy="61557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3600"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594" name="Shape 1105"/>
            <p:cNvSpPr/>
            <p:nvPr/>
          </p:nvSpPr>
          <p:spPr>
            <a:xfrm flipH="1">
              <a:off x="3102821" y="2204577"/>
              <a:ext cx="1" cy="1595835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95" name="Shape 1106"/>
            <p:cNvSpPr txBox="1"/>
            <p:nvPr/>
          </p:nvSpPr>
          <p:spPr>
            <a:xfrm>
              <a:off x="2433996" y="2649343"/>
              <a:ext cx="400700" cy="6155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3600"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596" name="Shape 1112"/>
            <p:cNvSpPr/>
            <p:nvPr/>
          </p:nvSpPr>
          <p:spPr>
            <a:xfrm>
              <a:off x="714493" y="634763"/>
              <a:ext cx="4590315" cy="19835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941" fill="norm" stroke="1" extrusionOk="0">
                  <a:moveTo>
                    <a:pt x="0" y="5731"/>
                  </a:moveTo>
                  <a:cubicBezTo>
                    <a:pt x="10188" y="-4659"/>
                    <a:pt x="17388" y="-922"/>
                    <a:pt x="21600" y="16941"/>
                  </a:cubicBezTo>
                </a:path>
              </a:pathLst>
            </a:custGeom>
            <a:noFill/>
            <a:ln w="25400" cap="flat">
              <a:solidFill>
                <a:schemeClr val="accent6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97" name="Shape 1108"/>
            <p:cNvSpPr txBox="1"/>
            <p:nvPr/>
          </p:nvSpPr>
          <p:spPr>
            <a:xfrm>
              <a:off x="2953155" y="0"/>
              <a:ext cx="400700" cy="61557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3600"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8</a:t>
              </a:r>
            </a:p>
          </p:txBody>
        </p:sp>
        <p:grpSp>
          <p:nvGrpSpPr>
            <p:cNvPr id="600" name="Group 1111"/>
            <p:cNvGrpSpPr/>
            <p:nvPr/>
          </p:nvGrpSpPr>
          <p:grpSpPr>
            <a:xfrm>
              <a:off x="0" y="1267879"/>
              <a:ext cx="1114236" cy="916843"/>
              <a:chOff x="0" y="0"/>
              <a:chExt cx="1114235" cy="916842"/>
            </a:xfrm>
          </p:grpSpPr>
          <p:sp>
            <p:nvSpPr>
              <p:cNvPr id="598" name="Shape 1109"/>
              <p:cNvSpPr/>
              <p:nvPr/>
            </p:nvSpPr>
            <p:spPr>
              <a:xfrm>
                <a:off x="0" y="0"/>
                <a:ext cx="1114236" cy="916843"/>
              </a:xfrm>
              <a:prstGeom prst="ellipse">
                <a:avLst/>
              </a:prstGeom>
              <a:solidFill>
                <a:srgbClr val="99CCFF"/>
              </a:solidFill>
              <a:ln w="25400" cap="sq">
                <a:solidFill>
                  <a:srgbClr val="00008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99" name="Shape 1110"/>
              <p:cNvSpPr txBox="1"/>
              <p:nvPr/>
            </p:nvSpPr>
            <p:spPr>
              <a:xfrm>
                <a:off x="334510" y="150034"/>
                <a:ext cx="445215" cy="6145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38100" tIns="38100" rIns="38100" bIns="38100" numCol="1" anchor="ctr">
                <a:spAutoFit/>
              </a:bodyPr>
              <a:lstStyle>
                <a:lvl1pPr marR="56816" indent="56816" algn="ctr" defTabSz="1295400">
                  <a:defRPr sz="38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1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Shape 1078"/>
          <p:cNvSpPr txBox="1"/>
          <p:nvPr/>
        </p:nvSpPr>
        <p:spPr>
          <a:xfrm>
            <a:off x="881124" y="2220582"/>
            <a:ext cx="11220277" cy="1855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>
              <a:lnSpc>
                <a:spcPct val="150000"/>
              </a:lnSpc>
              <a:defRPr sz="2500"/>
            </a:pPr>
            <a:r>
              <a:t>出队操作|V|次，Relax操作|E|次</a:t>
            </a:r>
          </a:p>
          <a:p>
            <a:pPr lvl="1" marL="509336" indent="-128336">
              <a:lnSpc>
                <a:spcPct val="150000"/>
              </a:lnSpc>
              <a:buSzPct val="60000"/>
              <a:buBlip>
                <a:blip r:embed="rId2"/>
              </a:buBlip>
              <a:defRPr sz="2500"/>
            </a:pPr>
            <a:r>
              <a:t>如果采用线性表实现优先队列，则出队操作O(|V|)，O(|V|</a:t>
            </a:r>
            <a:r>
              <a:rPr baseline="31999"/>
              <a:t>2</a:t>
            </a:r>
            <a:r>
              <a:t> + |E|) =&gt; O(|V|</a:t>
            </a:r>
            <a:r>
              <a:rPr baseline="31999"/>
              <a:t>2</a:t>
            </a:r>
            <a:r>
              <a:t>)</a:t>
            </a:r>
          </a:p>
          <a:p>
            <a:pPr lvl="1" marL="509336" indent="-128336">
              <a:lnSpc>
                <a:spcPct val="150000"/>
              </a:lnSpc>
              <a:buSzPct val="60000"/>
              <a:buBlip>
                <a:blip r:embed="rId2"/>
              </a:buBlip>
              <a:defRPr sz="2500"/>
            </a:pPr>
            <a:r>
              <a:t>如果采用</a:t>
            </a:r>
            <a:r>
              <a:rPr>
                <a:solidFill>
                  <a:schemeClr val="accent1"/>
                </a:solidFill>
              </a:rPr>
              <a:t>二叉堆</a:t>
            </a:r>
            <a:r>
              <a:t>，O((|V| + |E|)log|V|)</a:t>
            </a:r>
          </a:p>
        </p:txBody>
      </p:sp>
      <p:sp>
        <p:nvSpPr>
          <p:cNvPr id="604" name="Shape 930"/>
          <p:cNvSpPr txBox="1"/>
          <p:nvPr/>
        </p:nvSpPr>
        <p:spPr>
          <a:xfrm>
            <a:off x="2812485" y="237348"/>
            <a:ext cx="7632701" cy="876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 marR="52597" indent="52597" algn="ctr" defTabSz="1178813">
              <a:lnSpc>
                <a:spcPct val="115000"/>
              </a:lnSpc>
              <a:defRPr b="1" sz="4300">
                <a:uFill>
                  <a:solidFill>
                    <a:srgbClr val="000000"/>
                  </a:solidFill>
                </a:uFill>
              </a:defRPr>
            </a:pPr>
            <a:r>
              <a:t>Dijkstra</a:t>
            </a:r>
            <a:r>
              <a:rPr b="0">
                <a:latin typeface="Arial Black"/>
                <a:ea typeface="Arial Black"/>
                <a:cs typeface="Arial Black"/>
                <a:sym typeface="Arial Black"/>
              </a:rPr>
              <a:t>算法</a:t>
            </a:r>
          </a:p>
        </p:txBody>
      </p:sp>
      <p:sp>
        <p:nvSpPr>
          <p:cNvPr id="605" name="数据结构对算法的影响？"/>
          <p:cNvSpPr txBox="1"/>
          <p:nvPr/>
        </p:nvSpPr>
        <p:spPr>
          <a:xfrm>
            <a:off x="381239" y="1446559"/>
            <a:ext cx="4363100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/>
            <a:r>
              <a:t>数据结构对算法的影响？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Shape 930"/>
          <p:cNvSpPr txBox="1"/>
          <p:nvPr/>
        </p:nvSpPr>
        <p:spPr>
          <a:xfrm>
            <a:off x="2812485" y="237348"/>
            <a:ext cx="7632701" cy="876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 marR="52597" indent="52597" algn="ctr" defTabSz="1178813">
              <a:lnSpc>
                <a:spcPct val="115000"/>
              </a:lnSpc>
              <a:defRPr b="1" sz="4300">
                <a:uFill>
                  <a:solidFill>
                    <a:srgbClr val="000000"/>
                  </a:solidFill>
                </a:uFill>
              </a:defRPr>
            </a:pPr>
            <a:r>
              <a:t>Dijkstra</a:t>
            </a:r>
            <a:r>
              <a:rPr b="0">
                <a:latin typeface="Arial Black"/>
                <a:ea typeface="Arial Black"/>
                <a:cs typeface="Arial Black"/>
                <a:sym typeface="Arial Black"/>
              </a:rPr>
              <a:t>算法</a:t>
            </a:r>
          </a:p>
        </p:txBody>
      </p:sp>
      <p:sp>
        <p:nvSpPr>
          <p:cNvPr id="608" name="public static void main(String[] args) {…"/>
          <p:cNvSpPr txBox="1"/>
          <p:nvPr/>
        </p:nvSpPr>
        <p:spPr>
          <a:xfrm>
            <a:off x="481903" y="1545656"/>
            <a:ext cx="12277652" cy="71892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2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main(String[] </a:t>
            </a:r>
            <a:r>
              <a:rPr>
                <a:solidFill>
                  <a:srgbClr val="7E504F"/>
                </a:solidFill>
              </a:rPr>
              <a:t>args</a:t>
            </a:r>
            <a:r>
              <a:t>) {</a:t>
            </a:r>
          </a:p>
          <a:p>
            <a:pPr indent="0">
              <a:lnSpc>
                <a:spcPct val="12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Character[] </a:t>
            </a:r>
            <a:r>
              <a:rPr>
                <a:solidFill>
                  <a:srgbClr val="7E504F"/>
                </a:solidFill>
              </a:rPr>
              <a:t>weightedData</a:t>
            </a:r>
            <a:r>
              <a:t> = { </a:t>
            </a:r>
            <a:r>
              <a:rPr>
                <a:solidFill>
                  <a:srgbClr val="3933FF"/>
                </a:solidFill>
              </a:rPr>
              <a:t>'0'</a:t>
            </a:r>
            <a:r>
              <a:t>, </a:t>
            </a:r>
            <a:r>
              <a:rPr>
                <a:solidFill>
                  <a:srgbClr val="3933FF"/>
                </a:solidFill>
              </a:rPr>
              <a:t>'1'</a:t>
            </a:r>
            <a:r>
              <a:t>, </a:t>
            </a:r>
            <a:r>
              <a:rPr>
                <a:solidFill>
                  <a:srgbClr val="3933FF"/>
                </a:solidFill>
              </a:rPr>
              <a:t>'2'</a:t>
            </a:r>
            <a:r>
              <a:t>, </a:t>
            </a:r>
            <a:r>
              <a:rPr>
                <a:solidFill>
                  <a:srgbClr val="3933FF"/>
                </a:solidFill>
              </a:rPr>
              <a:t>'3'</a:t>
            </a:r>
            <a:r>
              <a:t>, </a:t>
            </a:r>
            <a:r>
              <a:rPr>
                <a:solidFill>
                  <a:srgbClr val="3933FF"/>
                </a:solidFill>
              </a:rPr>
              <a:t>'4'</a:t>
            </a:r>
            <a:r>
              <a:t>, </a:t>
            </a:r>
            <a:r>
              <a:rPr>
                <a:solidFill>
                  <a:srgbClr val="3933FF"/>
                </a:solidFill>
              </a:rPr>
              <a:t>'5'</a:t>
            </a:r>
            <a:r>
              <a:t> };</a:t>
            </a:r>
          </a:p>
          <a:p>
            <a:pPr indent="0">
              <a:lnSpc>
                <a:spcPct val="12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	IGraph&lt;Character&gt; </a:t>
            </a:r>
            <a:r>
              <a:rPr>
                <a:solidFill>
                  <a:srgbClr val="7E504F"/>
                </a:solidFill>
              </a:rPr>
              <a:t>weightedGraph</a:t>
            </a:r>
            <a:r>
              <a:t> = </a:t>
            </a:r>
          </a:p>
          <a:p>
            <a:pPr indent="0">
              <a:lnSpc>
                <a:spcPct val="12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              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LinkedListWeightedDirectGraph&lt;&gt;(</a:t>
            </a:r>
            <a:r>
              <a:rPr>
                <a:solidFill>
                  <a:srgbClr val="7E504F"/>
                </a:solidFill>
              </a:rPr>
              <a:t>weightedData</a:t>
            </a:r>
            <a:r>
              <a:t>);</a:t>
            </a:r>
          </a:p>
          <a:p>
            <a:pPr indent="0">
              <a:lnSpc>
                <a:spcPct val="12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</a:p>
          <a:p>
            <a:pPr indent="0">
              <a:lnSpc>
                <a:spcPct val="12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weightedGraph</a:t>
            </a:r>
            <a:r>
              <a:t>.addWeightedEdge(0, 2, 5.0);</a:t>
            </a:r>
          </a:p>
          <a:p>
            <a:pPr indent="0">
              <a:lnSpc>
                <a:spcPct val="12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weightedGraph</a:t>
            </a:r>
            <a:r>
              <a:t>.addWeightedEdge(1, 2, 10.0);</a:t>
            </a:r>
          </a:p>
          <a:p>
            <a:pPr indent="0">
              <a:lnSpc>
                <a:spcPct val="12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weightedGraph</a:t>
            </a:r>
            <a:r>
              <a:t>.addWeightedEdge(1, 4, 30.0);</a:t>
            </a:r>
          </a:p>
          <a:p>
            <a:pPr indent="0">
              <a:lnSpc>
                <a:spcPct val="12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weightedGraph</a:t>
            </a:r>
            <a:r>
              <a:t>.addWeightedEdge(1, 5, 100.0);</a:t>
            </a:r>
          </a:p>
          <a:p>
            <a:pPr indent="0">
              <a:lnSpc>
                <a:spcPct val="12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weightedGraph</a:t>
            </a:r>
            <a:r>
              <a:t>.addWeightedEdge(2, 3, 50.0);</a:t>
            </a:r>
          </a:p>
          <a:p>
            <a:pPr indent="0">
              <a:lnSpc>
                <a:spcPct val="12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weightedGraph</a:t>
            </a:r>
            <a:r>
              <a:t>.addWeightedEdge(3, 5, 10.0);</a:t>
            </a:r>
          </a:p>
          <a:p>
            <a:pPr indent="0">
              <a:lnSpc>
                <a:spcPct val="12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weightedGraph</a:t>
            </a:r>
            <a:r>
              <a:t>.addWeightedEdge(4, 3, 20.0);</a:t>
            </a:r>
          </a:p>
          <a:p>
            <a:pPr indent="0">
              <a:lnSpc>
                <a:spcPct val="12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weightedGraph</a:t>
            </a:r>
            <a:r>
              <a:t>.addWeightedEdge(4, 5, 60.0);</a:t>
            </a:r>
          </a:p>
          <a:p>
            <a:pPr indent="0">
              <a:lnSpc>
                <a:spcPct val="12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</a:p>
          <a:p>
            <a:pPr indent="0">
              <a:lnSpc>
                <a:spcPct val="12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GraphAlgorithms&lt;Character&gt; </a:t>
            </a:r>
            <a:r>
              <a:rPr>
                <a:solidFill>
                  <a:srgbClr val="7E504F"/>
                </a:solidFill>
              </a:rPr>
              <a:t>weightedPathAlg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GraphAlgorithms&lt;&gt;(</a:t>
            </a:r>
            <a:r>
              <a:rPr>
                <a:solidFill>
                  <a:srgbClr val="7E504F"/>
                </a:solidFill>
              </a:rPr>
              <a:t>weightedGraph</a:t>
            </a:r>
            <a:r>
              <a:t>);</a:t>
            </a:r>
          </a:p>
          <a:p>
            <a:pPr indent="0">
              <a:lnSpc>
                <a:spcPct val="12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</a:p>
          <a:p>
            <a:pPr indent="0">
              <a:lnSpc>
                <a:spcPct val="120000"/>
              </a:lnSpc>
              <a:defRPr sz="18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weightedPathAlg</a:t>
            </a:r>
            <a:r>
              <a:rPr>
                <a:solidFill>
                  <a:srgbClr val="000000"/>
                </a:solidFill>
              </a:rPr>
              <a:t>.dijkstra(1);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2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Shape 930"/>
          <p:cNvSpPr txBox="1"/>
          <p:nvPr/>
        </p:nvSpPr>
        <p:spPr>
          <a:xfrm>
            <a:off x="2812485" y="237348"/>
            <a:ext cx="7632701" cy="876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 marR="52597" indent="52597" algn="ctr" defTabSz="1178813">
              <a:lnSpc>
                <a:spcPct val="115000"/>
              </a:lnSpc>
              <a:defRPr b="1" sz="4300">
                <a:uFill>
                  <a:solidFill>
                    <a:srgbClr val="000000"/>
                  </a:solidFill>
                </a:uFill>
              </a:defRPr>
            </a:pPr>
            <a:r>
              <a:t>Dijkstra</a:t>
            </a:r>
            <a:r>
              <a:rPr b="0">
                <a:latin typeface="Arial Black"/>
                <a:ea typeface="Arial Black"/>
                <a:cs typeface="Arial Black"/>
                <a:sym typeface="Arial Black"/>
              </a:rPr>
              <a:t>算法</a:t>
            </a:r>
          </a:p>
        </p:txBody>
      </p:sp>
      <p:sp>
        <p:nvSpPr>
          <p:cNvPr id="611" name="public void dijkstra(int source) {…"/>
          <p:cNvSpPr txBox="1"/>
          <p:nvPr/>
        </p:nvSpPr>
        <p:spPr>
          <a:xfrm>
            <a:off x="494426" y="1310885"/>
            <a:ext cx="11088738" cy="8180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2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dijkstra(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source</a:t>
            </a:r>
            <a:r>
              <a:t>) {</a:t>
            </a:r>
          </a:p>
          <a:p>
            <a:pPr indent="0">
              <a:lnSpc>
                <a:spcPct val="12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0326CC"/>
                </a:solidFill>
              </a:rPr>
              <a:t>graph</a:t>
            </a:r>
            <a:r>
              <a:t>.getGraphKind() != GraphKind.</a:t>
            </a:r>
            <a:r>
              <a:rPr>
                <a:solidFill>
                  <a:srgbClr val="0326CC"/>
                </a:solidFill>
              </a:rPr>
              <a:t>WeightedDirectGraph</a:t>
            </a:r>
            <a:r>
              <a:t>)</a:t>
            </a:r>
          </a:p>
          <a:p>
            <a:pPr indent="0">
              <a:lnSpc>
                <a:spcPct val="120000"/>
              </a:lnSpc>
              <a:defRPr sz="20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;</a:t>
            </a:r>
          </a:p>
          <a:p>
            <a:pPr indent="0">
              <a:lnSpc>
                <a:spcPct val="120000"/>
              </a:lnSpc>
              <a:defRPr sz="20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double</a:t>
            </a:r>
            <a:r>
              <a:rPr>
                <a:solidFill>
                  <a:srgbClr val="000000"/>
                </a:solidFill>
              </a:rPr>
              <a:t>[] </a:t>
            </a:r>
            <a:r>
              <a:t>distance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double</a:t>
            </a:r>
            <a:r>
              <a:rPr>
                <a:solidFill>
                  <a:srgbClr val="000000"/>
                </a:solidFill>
              </a:rPr>
              <a:t>[</a:t>
            </a:r>
            <a:r>
              <a:rPr>
                <a:solidFill>
                  <a:srgbClr val="0326CC"/>
                </a:solidFill>
              </a:rPr>
              <a:t>n</a:t>
            </a:r>
            <a:r>
              <a:rPr>
                <a:solidFill>
                  <a:srgbClr val="000000"/>
                </a:solidFill>
              </a:rPr>
              <a:t>];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20000"/>
              </a:lnSpc>
              <a:defRPr sz="20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[] </a:t>
            </a:r>
            <a:r>
              <a:t>path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[</a:t>
            </a:r>
            <a:r>
              <a:rPr>
                <a:solidFill>
                  <a:srgbClr val="0326CC"/>
                </a:solidFill>
              </a:rPr>
              <a:t>n</a:t>
            </a:r>
            <a:r>
              <a:rPr>
                <a:solidFill>
                  <a:srgbClr val="000000"/>
                </a:solidFill>
              </a:rPr>
              <a:t>];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20000"/>
              </a:lnSpc>
              <a:defRPr sz="20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//dijkstraWithArray(source, distance, path);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2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dijkstraWithPriorityQueueWithDecreaseKey(</a:t>
            </a:r>
            <a:r>
              <a:rPr>
                <a:solidFill>
                  <a:srgbClr val="7E504F"/>
                </a:solidFill>
              </a:rPr>
              <a:t>source</a:t>
            </a:r>
            <a:r>
              <a:t>, </a:t>
            </a:r>
            <a:r>
              <a:rPr>
                <a:solidFill>
                  <a:srgbClr val="7E504F"/>
                </a:solidFill>
              </a:rPr>
              <a:t>distance</a:t>
            </a:r>
            <a:r>
              <a:t>, </a:t>
            </a:r>
            <a:r>
              <a:rPr>
                <a:solidFill>
                  <a:srgbClr val="7E504F"/>
                </a:solidFill>
              </a:rPr>
              <a:t>path</a:t>
            </a:r>
            <a:r>
              <a:t>) ;</a:t>
            </a:r>
          </a:p>
          <a:p>
            <a:pPr indent="0">
              <a:lnSpc>
                <a:spcPct val="120000"/>
              </a:lnSpc>
              <a:defRPr sz="2000">
                <a:solidFill>
                  <a:srgbClr val="4E9072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// 以下求源点到各点的路径上的点</a:t>
            </a:r>
          </a:p>
          <a:p>
            <a:pPr indent="0">
              <a:lnSpc>
                <a:spcPct val="120000"/>
              </a:lnSpc>
              <a:defRPr sz="20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int</a:t>
            </a:r>
            <a:r>
              <a:rPr>
                <a:solidFill>
                  <a:srgbClr val="000000"/>
                </a:solidFill>
              </a:rPr>
              <a:t>[] </a:t>
            </a:r>
            <a:r>
              <a:rPr>
                <a:solidFill>
                  <a:srgbClr val="7E504F"/>
                </a:solidFill>
              </a:rPr>
              <a:t>tmp</a:t>
            </a:r>
            <a:r>
              <a:rPr>
                <a:solidFill>
                  <a:srgbClr val="000000"/>
                </a:solidFill>
              </a:rPr>
              <a:t> = </a:t>
            </a:r>
            <a:r>
              <a:t>new</a:t>
            </a:r>
            <a:r>
              <a:rPr>
                <a:solidFill>
                  <a:srgbClr val="000000"/>
                </a:solidFill>
              </a:rPr>
              <a:t> </a:t>
            </a:r>
            <a:r>
              <a:t>int</a:t>
            </a:r>
            <a:r>
              <a:rPr>
                <a:solidFill>
                  <a:srgbClr val="000000"/>
                </a:solidFill>
              </a:rPr>
              <a:t>[</a:t>
            </a:r>
            <a:r>
              <a:rPr>
                <a:solidFill>
                  <a:srgbClr val="0326CC"/>
                </a:solidFill>
              </a:rPr>
              <a:t>n</a:t>
            </a:r>
            <a:r>
              <a:rPr>
                <a:solidFill>
                  <a:srgbClr val="000000"/>
                </a:solidFill>
              </a:rPr>
              <a:t>];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2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t> = 0; </a:t>
            </a:r>
            <a:r>
              <a:rPr>
                <a:solidFill>
                  <a:srgbClr val="7E504F"/>
                </a:solidFill>
              </a:rPr>
              <a:t>i</a:t>
            </a:r>
            <a:r>
              <a:t> &lt; </a:t>
            </a:r>
            <a:r>
              <a:rPr>
                <a:solidFill>
                  <a:srgbClr val="0326CC"/>
                </a:solidFill>
              </a:rPr>
              <a:t>n</a:t>
            </a:r>
            <a:r>
              <a:t>;</a:t>
            </a:r>
            <a:r>
              <a:rPr>
                <a:solidFill>
                  <a:srgbClr val="7E504F"/>
                </a:solidFill>
              </a:rPr>
              <a:t>i</a:t>
            </a:r>
            <a:r>
              <a:t>++) {</a:t>
            </a:r>
          </a:p>
          <a:p>
            <a:pPr indent="0">
              <a:lnSpc>
                <a:spcPct val="12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count</a:t>
            </a:r>
            <a:r>
              <a:t> = 0;</a:t>
            </a:r>
          </a:p>
          <a:p>
            <a:pPr indent="0">
              <a:lnSpc>
                <a:spcPct val="120000"/>
              </a:lnSpc>
              <a:defRPr sz="20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t>back</a:t>
            </a:r>
            <a:r>
              <a:rPr>
                <a:solidFill>
                  <a:srgbClr val="000000"/>
                </a:solidFill>
              </a:rPr>
              <a:t> = </a:t>
            </a:r>
            <a:r>
              <a:t>i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2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while</a:t>
            </a:r>
            <a:r>
              <a:t>(</a:t>
            </a:r>
            <a:r>
              <a:rPr>
                <a:solidFill>
                  <a:srgbClr val="7E504F"/>
                </a:solidFill>
              </a:rPr>
              <a:t>path</a:t>
            </a:r>
            <a:r>
              <a:t>[</a:t>
            </a:r>
            <a:r>
              <a:rPr>
                <a:solidFill>
                  <a:srgbClr val="7E504F"/>
                </a:solidFill>
              </a:rPr>
              <a:t>back</a:t>
            </a:r>
            <a:r>
              <a:t>] != -1) </a:t>
            </a:r>
          </a:p>
          <a:p>
            <a:pPr indent="0">
              <a:lnSpc>
                <a:spcPct val="12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7E504F"/>
                </a:solidFill>
              </a:rPr>
              <a:t>tmp</a:t>
            </a:r>
            <a:r>
              <a:t>[</a:t>
            </a:r>
            <a:r>
              <a:rPr>
                <a:solidFill>
                  <a:srgbClr val="7E504F"/>
                </a:solidFill>
              </a:rPr>
              <a:t>count</a:t>
            </a:r>
            <a:r>
              <a:t>++] = </a:t>
            </a:r>
            <a:r>
              <a:rPr>
                <a:solidFill>
                  <a:srgbClr val="7E504F"/>
                </a:solidFill>
              </a:rPr>
              <a:t>back</a:t>
            </a:r>
            <a:r>
              <a:t> = </a:t>
            </a:r>
            <a:r>
              <a:rPr>
                <a:solidFill>
                  <a:srgbClr val="7E504F"/>
                </a:solidFill>
              </a:rPr>
              <a:t>path</a:t>
            </a:r>
            <a:r>
              <a:t>[</a:t>
            </a:r>
            <a:r>
              <a:rPr>
                <a:solidFill>
                  <a:srgbClr val="7E504F"/>
                </a:solidFill>
              </a:rPr>
              <a:t>back</a:t>
            </a:r>
            <a:r>
              <a:t>];</a:t>
            </a:r>
          </a:p>
          <a:p>
            <a:pPr indent="0">
              <a:lnSpc>
                <a:spcPct val="12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t>.print(</a:t>
            </a:r>
            <a:r>
              <a:rPr>
                <a:solidFill>
                  <a:srgbClr val="7E504F"/>
                </a:solidFill>
              </a:rPr>
              <a:t>source</a:t>
            </a:r>
            <a:r>
              <a:t>);</a:t>
            </a:r>
          </a:p>
          <a:p>
            <a:pPr indent="0">
              <a:lnSpc>
                <a:spcPct val="12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j</a:t>
            </a:r>
            <a:r>
              <a:t> = </a:t>
            </a:r>
            <a:r>
              <a:rPr>
                <a:solidFill>
                  <a:srgbClr val="7E504F"/>
                </a:solidFill>
              </a:rPr>
              <a:t>count</a:t>
            </a:r>
            <a:r>
              <a:t> - 2; </a:t>
            </a:r>
            <a:r>
              <a:rPr>
                <a:solidFill>
                  <a:srgbClr val="7E504F"/>
                </a:solidFill>
              </a:rPr>
              <a:t>j</a:t>
            </a:r>
            <a:r>
              <a:t> &gt;=0; </a:t>
            </a:r>
            <a:r>
              <a:rPr>
                <a:solidFill>
                  <a:srgbClr val="7E504F"/>
                </a:solidFill>
              </a:rPr>
              <a:t>j</a:t>
            </a:r>
            <a:r>
              <a:t>--)</a:t>
            </a:r>
          </a:p>
          <a:p>
            <a:pPr indent="0">
              <a:lnSpc>
                <a:spcPct val="12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t>.print(</a:t>
            </a:r>
            <a:r>
              <a:rPr>
                <a:solidFill>
                  <a:srgbClr val="3933FF"/>
                </a:solidFill>
              </a:rPr>
              <a:t>"-&gt;"</a:t>
            </a:r>
            <a:r>
              <a:t> + </a:t>
            </a:r>
            <a:r>
              <a:rPr>
                <a:solidFill>
                  <a:srgbClr val="7E504F"/>
                </a:solidFill>
              </a:rPr>
              <a:t>tmp</a:t>
            </a:r>
            <a:r>
              <a:t>[</a:t>
            </a:r>
            <a:r>
              <a:rPr>
                <a:solidFill>
                  <a:srgbClr val="7E504F"/>
                </a:solidFill>
              </a:rPr>
              <a:t>j</a:t>
            </a:r>
            <a:r>
              <a:t>]);</a:t>
            </a:r>
          </a:p>
          <a:p>
            <a:pPr indent="0">
              <a:lnSpc>
                <a:spcPct val="12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t>.println(</a:t>
            </a:r>
            <a:r>
              <a:rPr>
                <a:solidFill>
                  <a:srgbClr val="3933FF"/>
                </a:solidFill>
              </a:rPr>
              <a:t>"-&gt;"</a:t>
            </a:r>
            <a:r>
              <a:t> + </a:t>
            </a:r>
            <a:r>
              <a:rPr>
                <a:solidFill>
                  <a:srgbClr val="7E504F"/>
                </a:solidFill>
              </a:rPr>
              <a:t>i</a:t>
            </a:r>
            <a:r>
              <a:t> + </a:t>
            </a:r>
            <a:r>
              <a:rPr>
                <a:solidFill>
                  <a:srgbClr val="3933FF"/>
                </a:solidFill>
              </a:rPr>
              <a:t>"   "</a:t>
            </a:r>
            <a:r>
              <a:t> + </a:t>
            </a:r>
            <a:r>
              <a:rPr>
                <a:solidFill>
                  <a:srgbClr val="7E504F"/>
                </a:solidFill>
              </a:rPr>
              <a:t>distance</a:t>
            </a:r>
            <a:r>
              <a:t>[</a:t>
            </a:r>
            <a:r>
              <a:rPr>
                <a:solidFill>
                  <a:srgbClr val="7E504F"/>
                </a:solidFill>
              </a:rPr>
              <a:t>i</a:t>
            </a:r>
            <a:r>
              <a:t>]);		</a:t>
            </a:r>
          </a:p>
          <a:p>
            <a:pPr indent="0">
              <a:lnSpc>
                <a:spcPct val="12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}	</a:t>
            </a:r>
          </a:p>
          <a:p>
            <a:pPr indent="0">
              <a:lnSpc>
                <a:spcPct val="12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sp>
        <p:nvSpPr>
          <p:cNvPr id="612" name="1-&gt;0   Infinity…"/>
          <p:cNvSpPr txBox="1"/>
          <p:nvPr/>
        </p:nvSpPr>
        <p:spPr>
          <a:xfrm>
            <a:off x="10183213" y="5432729"/>
            <a:ext cx="2705523" cy="24806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1-&gt;0   Infinity</a:t>
            </a: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1-&gt;1   0.0</a:t>
            </a: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1-&gt;2   10.0</a:t>
            </a: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1-&gt;4-&gt;3   50.0</a:t>
            </a: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1-&gt;4   30.0</a:t>
            </a: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1-&gt;4-&gt;3-&gt;5   60.0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Shape 930"/>
          <p:cNvSpPr txBox="1"/>
          <p:nvPr/>
        </p:nvSpPr>
        <p:spPr>
          <a:xfrm>
            <a:off x="2723585" y="148448"/>
            <a:ext cx="7632701" cy="876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 marR="51545" indent="51545" algn="ctr" defTabSz="1155236">
              <a:lnSpc>
                <a:spcPct val="115000"/>
              </a:lnSpc>
              <a:defRPr b="1" sz="4214">
                <a:uFill>
                  <a:solidFill>
                    <a:srgbClr val="000000"/>
                  </a:solidFill>
                </a:uFill>
              </a:defRPr>
            </a:pPr>
            <a:r>
              <a:t>Dijkstra</a:t>
            </a:r>
            <a:r>
              <a:rPr b="0">
                <a:latin typeface="Arial Black"/>
                <a:ea typeface="Arial Black"/>
                <a:cs typeface="Arial Black"/>
                <a:sym typeface="Arial Black"/>
              </a:rPr>
              <a:t>算法-</a:t>
            </a:r>
            <a:r>
              <a:rPr b="0">
                <a:latin typeface="Arial Black"/>
                <a:ea typeface="Arial Black"/>
                <a:cs typeface="Arial Black"/>
                <a:sym typeface="Arial Black"/>
              </a:rPr>
              <a:t>数组实现</a:t>
            </a:r>
          </a:p>
        </p:txBody>
      </p:sp>
      <p:sp>
        <p:nvSpPr>
          <p:cNvPr id="615" name="private void dijkstraWithArray(int source, double[] distance, int[] path) {…"/>
          <p:cNvSpPr txBox="1"/>
          <p:nvPr/>
        </p:nvSpPr>
        <p:spPr>
          <a:xfrm>
            <a:off x="402289" y="1629825"/>
            <a:ext cx="12155067" cy="79570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2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dijkstraWithArray(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source</a:t>
            </a:r>
            <a:r>
              <a:t>, </a:t>
            </a:r>
            <a:r>
              <a:rPr>
                <a:solidFill>
                  <a:srgbClr val="931A68"/>
                </a:solidFill>
              </a:rPr>
              <a:t>double</a:t>
            </a:r>
            <a:r>
              <a:t>[] </a:t>
            </a:r>
            <a:r>
              <a:rPr>
                <a:solidFill>
                  <a:srgbClr val="7E504F"/>
                </a:solidFill>
              </a:rPr>
              <a:t>distance</a:t>
            </a:r>
            <a:r>
              <a:t>,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[] </a:t>
            </a:r>
            <a:r>
              <a:rPr>
                <a:solidFill>
                  <a:srgbClr val="7E504F"/>
                </a:solidFill>
              </a:rPr>
              <a:t>path</a:t>
            </a:r>
            <a:r>
              <a:t>) {</a:t>
            </a:r>
          </a:p>
          <a:p>
            <a:pPr indent="0">
              <a:lnSpc>
                <a:spcPct val="120000"/>
              </a:lnSpc>
              <a:defRPr sz="20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[] </a:t>
            </a:r>
            <a:r>
              <a:rPr>
                <a:solidFill>
                  <a:srgbClr val="7E504F"/>
                </a:solidFill>
              </a:rPr>
              <a:t>S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[</a:t>
            </a:r>
            <a:r>
              <a:rPr>
                <a:solidFill>
                  <a:srgbClr val="0326CC"/>
                </a:solidFill>
              </a:rPr>
              <a:t>n</a:t>
            </a:r>
            <a:r>
              <a:rPr>
                <a:solidFill>
                  <a:srgbClr val="000000"/>
                </a:solidFill>
              </a:rPr>
              <a:t>];</a:t>
            </a:r>
            <a:r>
              <a:t>//S[i] = 0，表示还没有求出结点source到结点i的最短距离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2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t> = 0; </a:t>
            </a:r>
            <a:r>
              <a:rPr>
                <a:solidFill>
                  <a:srgbClr val="7E504F"/>
                </a:solidFill>
              </a:rPr>
              <a:t>i</a:t>
            </a:r>
            <a:r>
              <a:t> &lt; </a:t>
            </a:r>
            <a:r>
              <a:rPr>
                <a:solidFill>
                  <a:srgbClr val="7E504F"/>
                </a:solidFill>
              </a:rPr>
              <a:t>S</a:t>
            </a:r>
            <a:r>
              <a:t>.</a:t>
            </a:r>
            <a:r>
              <a:rPr>
                <a:solidFill>
                  <a:srgbClr val="0326CC"/>
                </a:solidFill>
              </a:rPr>
              <a:t>length</a:t>
            </a:r>
            <a:r>
              <a:t>; </a:t>
            </a:r>
            <a:r>
              <a:rPr>
                <a:solidFill>
                  <a:srgbClr val="7E504F"/>
                </a:solidFill>
              </a:rPr>
              <a:t>i</a:t>
            </a:r>
            <a:r>
              <a:t>++) {</a:t>
            </a:r>
          </a:p>
          <a:p>
            <a:pPr indent="0">
              <a:lnSpc>
                <a:spcPct val="12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7E504F"/>
                </a:solidFill>
              </a:rPr>
              <a:t>path</a:t>
            </a:r>
            <a:r>
              <a:t>[</a:t>
            </a:r>
            <a:r>
              <a:rPr>
                <a:solidFill>
                  <a:srgbClr val="7E504F"/>
                </a:solidFill>
              </a:rPr>
              <a:t>i</a:t>
            </a:r>
            <a:r>
              <a:t>] = -1;</a:t>
            </a:r>
          </a:p>
          <a:p>
            <a:pPr indent="0">
              <a:lnSpc>
                <a:spcPct val="120000"/>
              </a:lnSpc>
              <a:defRPr sz="20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7E504F"/>
                </a:solidFill>
              </a:rPr>
              <a:t>distance</a:t>
            </a:r>
            <a:r>
              <a:rPr>
                <a:solidFill>
                  <a:srgbClr val="000000"/>
                </a:solidFill>
              </a:rPr>
              <a:t>[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] = Double.</a:t>
            </a:r>
            <a:r>
              <a:t>POSITIVE_INFINITY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2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indent="0">
              <a:lnSpc>
                <a:spcPct val="12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distance</a:t>
            </a:r>
            <a:r>
              <a:t>[</a:t>
            </a:r>
            <a:r>
              <a:rPr>
                <a:solidFill>
                  <a:srgbClr val="7E504F"/>
                </a:solidFill>
              </a:rPr>
              <a:t>source</a:t>
            </a:r>
            <a:r>
              <a:t>] = 0.0;//？？？</a:t>
            </a:r>
          </a:p>
          <a:p>
            <a:pPr indent="0">
              <a:lnSpc>
                <a:spcPct val="120000"/>
              </a:lnSpc>
              <a:defRPr sz="20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t>count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0326CC"/>
                </a:solidFill>
              </a:rPr>
              <a:t>n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2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while</a:t>
            </a:r>
            <a:r>
              <a:t> (</a:t>
            </a:r>
            <a:r>
              <a:rPr>
                <a:solidFill>
                  <a:srgbClr val="7E504F"/>
                </a:solidFill>
              </a:rPr>
              <a:t>count</a:t>
            </a:r>
            <a:r>
              <a:t>-- != 0) {</a:t>
            </a:r>
          </a:p>
          <a:p>
            <a:pPr indent="0">
              <a:lnSpc>
                <a:spcPct val="12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u</a:t>
            </a:r>
            <a:r>
              <a:t> = Integer.</a:t>
            </a:r>
            <a:r>
              <a:rPr>
                <a:solidFill>
                  <a:srgbClr val="0326CC"/>
                </a:solidFill>
              </a:rPr>
              <a:t>MAX_VALUE</a:t>
            </a:r>
            <a:r>
              <a:t>;</a:t>
            </a:r>
            <a:r>
              <a:rPr>
                <a:solidFill>
                  <a:srgbClr val="4E9072"/>
                </a:solidFill>
              </a:rPr>
              <a:t>// 任意值</a:t>
            </a:r>
          </a:p>
          <a:p>
            <a:pPr indent="0">
              <a:lnSpc>
                <a:spcPct val="120000"/>
              </a:lnSpc>
              <a:defRPr sz="20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931A68"/>
                </a:solidFill>
              </a:rPr>
              <a:t>double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min</a:t>
            </a:r>
            <a:r>
              <a:rPr>
                <a:solidFill>
                  <a:srgbClr val="000000"/>
                </a:solidFill>
              </a:rPr>
              <a:t> = Double.</a:t>
            </a:r>
            <a:r>
              <a:t>POSITIVE_INFINITY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20000"/>
              </a:lnSpc>
              <a:defRPr sz="20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// 查找目前的最短路径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2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t> = 0; </a:t>
            </a:r>
            <a:r>
              <a:rPr>
                <a:solidFill>
                  <a:srgbClr val="7E504F"/>
                </a:solidFill>
              </a:rPr>
              <a:t>i</a:t>
            </a:r>
            <a:r>
              <a:t> &lt; </a:t>
            </a:r>
            <a:r>
              <a:rPr>
                <a:solidFill>
                  <a:srgbClr val="0326CC"/>
                </a:solidFill>
              </a:rPr>
              <a:t>n</a:t>
            </a:r>
            <a:r>
              <a:t>; </a:t>
            </a:r>
            <a:r>
              <a:rPr>
                <a:solidFill>
                  <a:srgbClr val="7E504F"/>
                </a:solidFill>
              </a:rPr>
              <a:t>i</a:t>
            </a:r>
            <a:r>
              <a:t>++) {</a:t>
            </a:r>
          </a:p>
          <a:p>
            <a:pPr indent="0">
              <a:lnSpc>
                <a:spcPct val="120000"/>
              </a:lnSpc>
              <a:defRPr sz="20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</a:t>
            </a:r>
            <a:r>
              <a:rPr>
                <a:solidFill>
                  <a:srgbClr val="931A68"/>
                </a:solidFill>
              </a:rPr>
              <a:t>if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7E504F"/>
                </a:solidFill>
              </a:rPr>
              <a:t>S</a:t>
            </a:r>
            <a:r>
              <a:rPr>
                <a:solidFill>
                  <a:srgbClr val="000000"/>
                </a:solidFill>
              </a:rPr>
              <a:t>[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] == 0 &amp;&amp; </a:t>
            </a:r>
            <a:r>
              <a:rPr>
                <a:solidFill>
                  <a:srgbClr val="7E504F"/>
                </a:solidFill>
              </a:rPr>
              <a:t>distance</a:t>
            </a:r>
            <a:r>
              <a:rPr>
                <a:solidFill>
                  <a:srgbClr val="000000"/>
                </a:solidFill>
              </a:rPr>
              <a:t>[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] &lt;= </a:t>
            </a:r>
            <a:r>
              <a:rPr>
                <a:solidFill>
                  <a:srgbClr val="7E504F"/>
                </a:solidFill>
              </a:rPr>
              <a:t>min</a:t>
            </a:r>
            <a:r>
              <a:rPr>
                <a:solidFill>
                  <a:srgbClr val="000000"/>
                </a:solidFill>
              </a:rPr>
              <a:t>) {</a:t>
            </a:r>
            <a:r>
              <a:t>// 必须 &lt;=，因为min的初值是无穷大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2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		</a:t>
            </a:r>
            <a:r>
              <a:rPr>
                <a:solidFill>
                  <a:srgbClr val="7E504F"/>
                </a:solidFill>
              </a:rPr>
              <a:t>u</a:t>
            </a:r>
            <a:r>
              <a:t> = </a:t>
            </a:r>
            <a:r>
              <a:rPr>
                <a:solidFill>
                  <a:srgbClr val="7E504F"/>
                </a:solidFill>
              </a:rPr>
              <a:t>i</a:t>
            </a:r>
            <a:r>
              <a:t>;</a:t>
            </a:r>
          </a:p>
          <a:p>
            <a:pPr indent="0">
              <a:lnSpc>
                <a:spcPct val="120000"/>
              </a:lnSpc>
              <a:defRPr sz="20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	</a:t>
            </a:r>
            <a:r>
              <a:t>min</a:t>
            </a:r>
            <a:r>
              <a:rPr>
                <a:solidFill>
                  <a:srgbClr val="000000"/>
                </a:solidFill>
              </a:rPr>
              <a:t> = </a:t>
            </a:r>
            <a:r>
              <a:t>distance</a:t>
            </a:r>
            <a:r>
              <a:rPr>
                <a:solidFill>
                  <a:srgbClr val="000000"/>
                </a:solidFill>
              </a:rPr>
              <a:t>[</a:t>
            </a:r>
            <a:r>
              <a:t>i</a:t>
            </a:r>
            <a:r>
              <a:rPr>
                <a:solidFill>
                  <a:srgbClr val="000000"/>
                </a:solidFill>
              </a:rPr>
              <a:t>];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2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	}</a:t>
            </a:r>
          </a:p>
          <a:p>
            <a:pPr indent="0">
              <a:lnSpc>
                <a:spcPct val="12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}</a:t>
            </a:r>
          </a:p>
          <a:p>
            <a:pPr indent="0">
              <a:lnSpc>
                <a:spcPct val="12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7E504F"/>
                </a:solidFill>
              </a:rPr>
              <a:t>S</a:t>
            </a:r>
            <a:r>
              <a:t>[</a:t>
            </a:r>
            <a:r>
              <a:rPr>
                <a:solidFill>
                  <a:srgbClr val="7E504F"/>
                </a:solidFill>
              </a:rPr>
              <a:t>u</a:t>
            </a:r>
            <a:r>
              <a:t>] = 1;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Shape 930"/>
          <p:cNvSpPr txBox="1"/>
          <p:nvPr/>
        </p:nvSpPr>
        <p:spPr>
          <a:xfrm>
            <a:off x="2723585" y="148448"/>
            <a:ext cx="7632701" cy="876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 marR="51545" indent="51545" algn="ctr" defTabSz="1155236">
              <a:lnSpc>
                <a:spcPct val="115000"/>
              </a:lnSpc>
              <a:defRPr b="1" sz="4214">
                <a:uFill>
                  <a:solidFill>
                    <a:srgbClr val="000000"/>
                  </a:solidFill>
                </a:uFill>
              </a:defRPr>
            </a:pPr>
            <a:r>
              <a:t>Dijkstra</a:t>
            </a:r>
            <a:r>
              <a:rPr b="0">
                <a:latin typeface="Arial Black"/>
                <a:ea typeface="Arial Black"/>
                <a:cs typeface="Arial Black"/>
                <a:sym typeface="Arial Black"/>
              </a:rPr>
              <a:t>算法-</a:t>
            </a:r>
            <a:r>
              <a:rPr b="0">
                <a:latin typeface="Arial Black"/>
                <a:ea typeface="Arial Black"/>
                <a:cs typeface="Arial Black"/>
                <a:sym typeface="Arial Black"/>
              </a:rPr>
              <a:t>数组实现</a:t>
            </a:r>
          </a:p>
        </p:txBody>
      </p:sp>
      <p:sp>
        <p:nvSpPr>
          <p:cNvPr id="618" name="// 扩展找到的这条最短路径…"/>
          <p:cNvSpPr txBox="1"/>
          <p:nvPr/>
        </p:nvSpPr>
        <p:spPr>
          <a:xfrm>
            <a:off x="840263" y="1854039"/>
            <a:ext cx="11279120" cy="6045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20000"/>
              </a:lnSpc>
              <a:defRPr sz="25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// 扩展找到的这条最短路径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2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	Iterator&lt;Integer&gt; </a:t>
            </a:r>
            <a:r>
              <a:rPr>
                <a:solidFill>
                  <a:srgbClr val="7E504F"/>
                </a:solidFill>
              </a:rPr>
              <a:t>it</a:t>
            </a:r>
            <a:r>
              <a:t> = </a:t>
            </a:r>
            <a:r>
              <a:rPr>
                <a:solidFill>
                  <a:srgbClr val="0326CC"/>
                </a:solidFill>
              </a:rPr>
              <a:t>graph</a:t>
            </a:r>
            <a:r>
              <a:t>.iterator(</a:t>
            </a:r>
            <a:r>
              <a:rPr>
                <a:solidFill>
                  <a:srgbClr val="7E504F"/>
                </a:solidFill>
              </a:rPr>
              <a:t>u</a:t>
            </a:r>
            <a:r>
              <a:t>);</a:t>
            </a:r>
          </a:p>
          <a:p>
            <a:pPr indent="0">
              <a:lnSpc>
                <a:spcPct val="12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while</a:t>
            </a:r>
            <a:r>
              <a:t> (</a:t>
            </a:r>
            <a:r>
              <a:rPr>
                <a:solidFill>
                  <a:srgbClr val="7E504F"/>
                </a:solidFill>
              </a:rPr>
              <a:t>it</a:t>
            </a:r>
            <a:r>
              <a:t>.hasNext()) {</a:t>
            </a:r>
          </a:p>
          <a:p>
            <a:pPr indent="0">
              <a:lnSpc>
                <a:spcPct val="12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v</a:t>
            </a:r>
            <a:r>
              <a:t> = </a:t>
            </a:r>
            <a:r>
              <a:rPr>
                <a:solidFill>
                  <a:srgbClr val="7E504F"/>
                </a:solidFill>
              </a:rPr>
              <a:t>it</a:t>
            </a:r>
            <a:r>
              <a:t>.next();</a:t>
            </a:r>
          </a:p>
          <a:p>
            <a:pPr indent="0">
              <a:lnSpc>
                <a:spcPct val="12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931A68"/>
                </a:solidFill>
              </a:rPr>
              <a:t>double</a:t>
            </a:r>
            <a:r>
              <a:t> </a:t>
            </a:r>
            <a:r>
              <a:rPr>
                <a:solidFill>
                  <a:srgbClr val="7E504F"/>
                </a:solidFill>
              </a:rPr>
              <a:t>sum</a:t>
            </a:r>
            <a:r>
              <a:t> = </a:t>
            </a:r>
            <a:r>
              <a:rPr>
                <a:solidFill>
                  <a:srgbClr val="7E504F"/>
                </a:solidFill>
              </a:rPr>
              <a:t>distance</a:t>
            </a:r>
            <a:r>
              <a:t>[</a:t>
            </a:r>
            <a:r>
              <a:rPr>
                <a:solidFill>
                  <a:srgbClr val="7E504F"/>
                </a:solidFill>
              </a:rPr>
              <a:t>u</a:t>
            </a:r>
            <a:r>
              <a:t>] + </a:t>
            </a:r>
            <a:r>
              <a:rPr>
                <a:solidFill>
                  <a:srgbClr val="0326CC"/>
                </a:solidFill>
              </a:rPr>
              <a:t>graph</a:t>
            </a:r>
            <a:r>
              <a:t>.getWeight(</a:t>
            </a:r>
            <a:r>
              <a:rPr>
                <a:solidFill>
                  <a:srgbClr val="7E504F"/>
                </a:solidFill>
              </a:rPr>
              <a:t>u</a:t>
            </a:r>
            <a:r>
              <a:t>, </a:t>
            </a:r>
            <a:r>
              <a:rPr>
                <a:solidFill>
                  <a:srgbClr val="7E504F"/>
                </a:solidFill>
              </a:rPr>
              <a:t>v</a:t>
            </a:r>
            <a:r>
              <a:t>);</a:t>
            </a:r>
          </a:p>
          <a:p>
            <a:pPr indent="0">
              <a:lnSpc>
                <a:spcPct val="12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S</a:t>
            </a:r>
            <a:r>
              <a:t>[</a:t>
            </a:r>
            <a:r>
              <a:rPr>
                <a:solidFill>
                  <a:srgbClr val="7E504F"/>
                </a:solidFill>
              </a:rPr>
              <a:t>v</a:t>
            </a:r>
            <a:r>
              <a:t>] == 0 &amp;&amp; </a:t>
            </a:r>
            <a:r>
              <a:rPr>
                <a:solidFill>
                  <a:srgbClr val="7E504F"/>
                </a:solidFill>
              </a:rPr>
              <a:t>distance</a:t>
            </a:r>
            <a:r>
              <a:t>[</a:t>
            </a:r>
            <a:r>
              <a:rPr>
                <a:solidFill>
                  <a:srgbClr val="7E504F"/>
                </a:solidFill>
              </a:rPr>
              <a:t>v</a:t>
            </a:r>
            <a:r>
              <a:t>] &gt; </a:t>
            </a:r>
            <a:r>
              <a:rPr>
                <a:solidFill>
                  <a:srgbClr val="7E504F"/>
                </a:solidFill>
              </a:rPr>
              <a:t>sum</a:t>
            </a:r>
            <a:r>
              <a:t>) {</a:t>
            </a:r>
          </a:p>
          <a:p>
            <a:pPr indent="0">
              <a:lnSpc>
                <a:spcPct val="120000"/>
              </a:lnSpc>
              <a:defRPr sz="25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	</a:t>
            </a:r>
            <a:r>
              <a:t>distance</a:t>
            </a:r>
            <a:r>
              <a:rPr>
                <a:solidFill>
                  <a:srgbClr val="000000"/>
                </a:solidFill>
              </a:rPr>
              <a:t>[</a:t>
            </a:r>
            <a:r>
              <a:t>v</a:t>
            </a:r>
            <a:r>
              <a:rPr>
                <a:solidFill>
                  <a:srgbClr val="000000"/>
                </a:solidFill>
              </a:rPr>
              <a:t>] = </a:t>
            </a:r>
            <a:r>
              <a:t>sum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2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			</a:t>
            </a:r>
            <a:r>
              <a:rPr>
                <a:solidFill>
                  <a:srgbClr val="7E504F"/>
                </a:solidFill>
              </a:rPr>
              <a:t>path</a:t>
            </a:r>
            <a:r>
              <a:t>[</a:t>
            </a:r>
            <a:r>
              <a:rPr>
                <a:solidFill>
                  <a:srgbClr val="7E504F"/>
                </a:solidFill>
              </a:rPr>
              <a:t>v</a:t>
            </a:r>
            <a:r>
              <a:t>] = </a:t>
            </a:r>
            <a:r>
              <a:rPr>
                <a:solidFill>
                  <a:srgbClr val="7E504F"/>
                </a:solidFill>
              </a:rPr>
              <a:t>u</a:t>
            </a:r>
            <a:r>
              <a:t>;</a:t>
            </a:r>
          </a:p>
          <a:p>
            <a:pPr indent="0">
              <a:lnSpc>
                <a:spcPct val="12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		}</a:t>
            </a:r>
          </a:p>
          <a:p>
            <a:pPr indent="0">
              <a:lnSpc>
                <a:spcPct val="12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	}</a:t>
            </a:r>
          </a:p>
          <a:p>
            <a:pPr indent="0">
              <a:lnSpc>
                <a:spcPct val="12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indent="0">
              <a:lnSpc>
                <a:spcPct val="12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Shape 930"/>
          <p:cNvSpPr txBox="1"/>
          <p:nvPr/>
        </p:nvSpPr>
        <p:spPr>
          <a:xfrm>
            <a:off x="2812485" y="123048"/>
            <a:ext cx="7632701" cy="876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 marR="51545" indent="51545" algn="ctr" defTabSz="1155236">
              <a:lnSpc>
                <a:spcPct val="115000"/>
              </a:lnSpc>
              <a:defRPr b="1" sz="4214">
                <a:uFill>
                  <a:solidFill>
                    <a:srgbClr val="000000"/>
                  </a:solidFill>
                </a:uFill>
              </a:defRPr>
            </a:pPr>
            <a:r>
              <a:t>Dijkstra</a:t>
            </a:r>
            <a:r>
              <a:rPr b="0">
                <a:latin typeface="Arial Black"/>
                <a:ea typeface="Arial Black"/>
                <a:cs typeface="Arial Black"/>
                <a:sym typeface="Arial Black"/>
              </a:rPr>
              <a:t>算法-</a:t>
            </a:r>
            <a:r>
              <a:rPr b="0">
                <a:latin typeface="Arial Black"/>
                <a:ea typeface="Arial Black"/>
                <a:cs typeface="Arial Black"/>
                <a:sym typeface="Arial Black"/>
              </a:rPr>
              <a:t>优先队列实现</a:t>
            </a:r>
          </a:p>
        </p:txBody>
      </p:sp>
      <p:sp>
        <p:nvSpPr>
          <p:cNvPr id="621" name="private void dijkstraWithPriorityQueue…"/>
          <p:cNvSpPr txBox="1"/>
          <p:nvPr/>
        </p:nvSpPr>
        <p:spPr>
          <a:xfrm>
            <a:off x="1339019" y="1561650"/>
            <a:ext cx="10326762" cy="53256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dijkstraWithPriorityQueue</a:t>
            </a: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              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source</a:t>
            </a:r>
            <a:r>
              <a:t>, </a:t>
            </a:r>
            <a:r>
              <a:rPr>
                <a:solidFill>
                  <a:srgbClr val="931A68"/>
                </a:solidFill>
              </a:rPr>
              <a:t>double</a:t>
            </a:r>
            <a:r>
              <a:t>[] </a:t>
            </a:r>
            <a:r>
              <a:rPr>
                <a:solidFill>
                  <a:srgbClr val="7E504F"/>
                </a:solidFill>
              </a:rPr>
              <a:t>distance</a:t>
            </a:r>
            <a:r>
              <a:t>,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[] </a:t>
            </a:r>
            <a:r>
              <a:rPr>
                <a:solidFill>
                  <a:srgbClr val="7E504F"/>
                </a:solidFill>
              </a:rPr>
              <a:t>path</a:t>
            </a:r>
            <a:r>
              <a:t>) {</a:t>
            </a: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class</a:t>
            </a:r>
            <a:r>
              <a:t> Vertex </a:t>
            </a:r>
            <a:r>
              <a:rPr>
                <a:solidFill>
                  <a:srgbClr val="931A68"/>
                </a:solidFill>
              </a:rPr>
              <a:t>implements</a:t>
            </a:r>
            <a:r>
              <a:t> Comparable&lt;Vertex&gt; {</a:t>
            </a:r>
          </a:p>
          <a:p>
            <a:pPr indent="0">
              <a:defRPr sz="20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0326CC"/>
                </a:solidFill>
              </a:rPr>
              <a:t>id</a:t>
            </a:r>
            <a:r>
              <a:rPr>
                <a:solidFill>
                  <a:srgbClr val="000000"/>
                </a:solidFill>
              </a:rPr>
              <a:t>;</a:t>
            </a:r>
            <a:r>
              <a:t>// 顶点编号</a:t>
            </a:r>
            <a:endParaRPr>
              <a:solidFill>
                <a:srgbClr val="000000"/>
              </a:solidFill>
            </a:endParaRPr>
          </a:p>
          <a:p>
            <a:pPr indent="0">
              <a:defRPr sz="20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double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0326CC"/>
                </a:solidFill>
              </a:rPr>
              <a:t>d</a:t>
            </a:r>
            <a:r>
              <a:rPr>
                <a:solidFill>
                  <a:srgbClr val="000000"/>
                </a:solidFill>
              </a:rPr>
              <a:t>;</a:t>
            </a:r>
            <a:r>
              <a:rPr>
                <a:solidFill>
                  <a:srgbClr val="4E9072"/>
                </a:solidFill>
              </a:rPr>
              <a:t>// d值</a:t>
            </a:r>
            <a:endParaRPr>
              <a:solidFill>
                <a:srgbClr val="000000"/>
              </a:solidFill>
            </a:endParaRP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Vertex(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v</a:t>
            </a:r>
            <a:r>
              <a:t>, </a:t>
            </a:r>
            <a:r>
              <a:rPr>
                <a:solidFill>
                  <a:srgbClr val="931A68"/>
                </a:solidFill>
              </a:rPr>
              <a:t>double</a:t>
            </a:r>
            <a:r>
              <a:t> </a:t>
            </a:r>
            <a:r>
              <a:rPr>
                <a:solidFill>
                  <a:srgbClr val="7E504F"/>
                </a:solidFill>
              </a:rPr>
              <a:t>d</a:t>
            </a:r>
            <a:r>
              <a:t>) {</a:t>
            </a: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0326CC"/>
                </a:solidFill>
              </a:rPr>
              <a:t>id</a:t>
            </a:r>
            <a:r>
              <a:t> = </a:t>
            </a:r>
            <a:r>
              <a:rPr>
                <a:solidFill>
                  <a:srgbClr val="7E504F"/>
                </a:solidFill>
              </a:rPr>
              <a:t>v</a:t>
            </a:r>
            <a:r>
              <a:t>;</a:t>
            </a: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931A68"/>
                </a:solidFill>
              </a:rPr>
              <a:t>this</a:t>
            </a:r>
            <a:r>
              <a:t>.</a:t>
            </a:r>
            <a:r>
              <a:rPr>
                <a:solidFill>
                  <a:srgbClr val="0326CC"/>
                </a:solidFill>
              </a:rPr>
              <a:t>d</a:t>
            </a:r>
            <a:r>
              <a:t> = </a:t>
            </a:r>
            <a:r>
              <a:rPr>
                <a:solidFill>
                  <a:srgbClr val="7E504F"/>
                </a:solidFill>
              </a:rPr>
              <a:t>d</a:t>
            </a:r>
            <a:r>
              <a:t>;</a:t>
            </a: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}</a:t>
            </a: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compareTo(Vertex </a:t>
            </a:r>
            <a:r>
              <a:rPr>
                <a:solidFill>
                  <a:srgbClr val="7E504F"/>
                </a:solidFill>
              </a:rPr>
              <a:t>rhd</a:t>
            </a:r>
            <a:r>
              <a:t>) {</a:t>
            </a:r>
            <a:r>
              <a:rPr>
                <a:solidFill>
                  <a:srgbClr val="4E9072"/>
                </a:solidFill>
              </a:rPr>
              <a:t>// 顶点的大小由d值决定</a:t>
            </a: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Double.compare(</a:t>
            </a:r>
            <a:r>
              <a:rPr>
                <a:solidFill>
                  <a:srgbClr val="0326CC"/>
                </a:solidFill>
              </a:rPr>
              <a:t>d</a:t>
            </a:r>
            <a:r>
              <a:t>, </a:t>
            </a:r>
            <a:r>
              <a:rPr>
                <a:solidFill>
                  <a:srgbClr val="7E504F"/>
                </a:solidFill>
              </a:rPr>
              <a:t>rhd</a:t>
            </a:r>
            <a:r>
              <a:t>.</a:t>
            </a:r>
            <a:r>
              <a:rPr>
                <a:solidFill>
                  <a:srgbClr val="0326CC"/>
                </a:solidFill>
              </a:rPr>
              <a:t>d</a:t>
            </a:r>
            <a:r>
              <a:t>);</a:t>
            </a: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}</a:t>
            </a:r>
          </a:p>
          <a:p>
            <a:pPr lvl="3" indent="68580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Shape 930"/>
          <p:cNvSpPr txBox="1"/>
          <p:nvPr/>
        </p:nvSpPr>
        <p:spPr>
          <a:xfrm>
            <a:off x="2812485" y="123048"/>
            <a:ext cx="7632701" cy="876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 marR="51545" indent="51545" algn="ctr" defTabSz="1155236">
              <a:lnSpc>
                <a:spcPct val="115000"/>
              </a:lnSpc>
              <a:defRPr b="1" sz="4214">
                <a:uFill>
                  <a:solidFill>
                    <a:srgbClr val="000000"/>
                  </a:solidFill>
                </a:uFill>
              </a:defRPr>
            </a:pPr>
            <a:r>
              <a:t>Dijkstra</a:t>
            </a:r>
            <a:r>
              <a:rPr b="0">
                <a:latin typeface="Arial Black"/>
                <a:ea typeface="Arial Black"/>
                <a:cs typeface="Arial Black"/>
                <a:sym typeface="Arial Black"/>
              </a:rPr>
              <a:t>算法-</a:t>
            </a:r>
            <a:r>
              <a:rPr b="0">
                <a:latin typeface="Arial Black"/>
                <a:ea typeface="Arial Black"/>
                <a:cs typeface="Arial Black"/>
                <a:sym typeface="Arial Black"/>
              </a:rPr>
              <a:t>优先队列实现</a:t>
            </a:r>
          </a:p>
        </p:txBody>
      </p:sp>
      <p:sp>
        <p:nvSpPr>
          <p:cNvPr id="624" name="// queue ppt中的Q…"/>
          <p:cNvSpPr txBox="1"/>
          <p:nvPr/>
        </p:nvSpPr>
        <p:spPr>
          <a:xfrm>
            <a:off x="97117" y="1539104"/>
            <a:ext cx="12765411" cy="60022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20000"/>
              </a:lnSpc>
              <a:defRPr sz="20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// queue </a:t>
            </a:r>
            <a:r>
              <a:rPr u="sng"/>
              <a:t>ppt</a:t>
            </a:r>
            <a:r>
              <a:t>中的Q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2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PriorityQueueWithDecrease&lt;Vertex&gt; </a:t>
            </a:r>
            <a:r>
              <a:rPr>
                <a:solidFill>
                  <a:srgbClr val="7E504F"/>
                </a:solidFill>
              </a:rPr>
              <a:t>queue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PriorityQueueWithDecrease&lt;&gt;(</a:t>
            </a:r>
            <a:r>
              <a:rPr>
                <a:solidFill>
                  <a:srgbClr val="0326CC"/>
                </a:solidFill>
              </a:rPr>
              <a:t>n</a:t>
            </a:r>
            <a:r>
              <a:t>);</a:t>
            </a:r>
          </a:p>
          <a:p>
            <a:pPr indent="0">
              <a:lnSpc>
                <a:spcPct val="120000"/>
              </a:lnSpc>
              <a:defRPr sz="2000">
                <a:solidFill>
                  <a:srgbClr val="777777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@SuppressWarnings</a:t>
            </a:r>
            <a:r>
              <a:rPr>
                <a:solidFill>
                  <a:srgbClr val="000000"/>
                </a:solidFill>
              </a:rPr>
              <a:t>(</a:t>
            </a:r>
            <a:r>
              <a:rPr>
                <a:solidFill>
                  <a:srgbClr val="3933FF"/>
                </a:solidFill>
              </a:rPr>
              <a:t>"unchecked"</a:t>
            </a:r>
            <a:r>
              <a:rPr>
                <a:solidFill>
                  <a:srgbClr val="000000"/>
                </a:solidFill>
              </a:rPr>
              <a:t>)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2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Entry&lt;Vertex&gt;[] </a:t>
            </a:r>
            <a:r>
              <a:rPr>
                <a:solidFill>
                  <a:srgbClr val="7E504F"/>
                </a:solidFill>
              </a:rPr>
              <a:t>data</a:t>
            </a:r>
            <a:r>
              <a:t> = (Entry&lt;Vertex&gt;[])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Entry&lt;?&gt;[</a:t>
            </a:r>
            <a:r>
              <a:rPr>
                <a:solidFill>
                  <a:srgbClr val="0326CC"/>
                </a:solidFill>
              </a:rPr>
              <a:t>n</a:t>
            </a:r>
            <a:r>
              <a:t>];</a:t>
            </a:r>
            <a:r>
              <a:rPr>
                <a:solidFill>
                  <a:srgbClr val="4E9072"/>
                </a:solidFill>
              </a:rPr>
              <a:t>// 引用所有的顶点</a:t>
            </a:r>
          </a:p>
          <a:p>
            <a:pPr indent="0">
              <a:lnSpc>
                <a:spcPct val="120000"/>
              </a:lnSpc>
              <a:defRPr sz="20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// 初始化部分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20000"/>
              </a:lnSpc>
              <a:defRPr sz="20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[] </a:t>
            </a:r>
            <a:r>
              <a:rPr>
                <a:solidFill>
                  <a:srgbClr val="7E504F"/>
                </a:solidFill>
              </a:rPr>
              <a:t>S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[</a:t>
            </a:r>
            <a:r>
              <a:rPr>
                <a:solidFill>
                  <a:srgbClr val="0326CC"/>
                </a:solidFill>
              </a:rPr>
              <a:t>n</a:t>
            </a:r>
            <a:r>
              <a:rPr>
                <a:solidFill>
                  <a:srgbClr val="000000"/>
                </a:solidFill>
              </a:rPr>
              <a:t>];</a:t>
            </a:r>
            <a:r>
              <a:t>// 初始化S，S为空集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20000"/>
              </a:lnSpc>
              <a:defRPr sz="20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 = 0; 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 &lt; </a:t>
            </a:r>
            <a:r>
              <a:rPr>
                <a:solidFill>
                  <a:srgbClr val="0326CC"/>
                </a:solidFill>
              </a:rPr>
              <a:t>n</a:t>
            </a:r>
            <a:r>
              <a:rPr>
                <a:solidFill>
                  <a:srgbClr val="000000"/>
                </a:solidFill>
              </a:rPr>
              <a:t>; ++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) {</a:t>
            </a:r>
            <a:r>
              <a:t>// 初始化队列Q，包含所有的顶点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2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7E504F"/>
                </a:solidFill>
              </a:rPr>
              <a:t>path</a:t>
            </a:r>
            <a:r>
              <a:t>[</a:t>
            </a:r>
            <a:r>
              <a:rPr>
                <a:solidFill>
                  <a:srgbClr val="7E504F"/>
                </a:solidFill>
              </a:rPr>
              <a:t>i</a:t>
            </a:r>
            <a:r>
              <a:t>] = -1;</a:t>
            </a:r>
          </a:p>
          <a:p>
            <a:pPr indent="0">
              <a:lnSpc>
                <a:spcPct val="120000"/>
              </a:lnSpc>
              <a:defRPr sz="20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931A68"/>
                </a:solidFill>
              </a:rPr>
              <a:t>if</a:t>
            </a:r>
            <a:r>
              <a:rPr>
                <a:solidFill>
                  <a:srgbClr val="000000"/>
                </a:solidFill>
              </a:rPr>
              <a:t> (</a:t>
            </a:r>
            <a:r>
              <a:t>i</a:t>
            </a:r>
            <a:r>
              <a:rPr>
                <a:solidFill>
                  <a:srgbClr val="000000"/>
                </a:solidFill>
              </a:rPr>
              <a:t> != </a:t>
            </a:r>
            <a:r>
              <a:t>source</a:t>
            </a:r>
            <a:r>
              <a:rPr>
                <a:solidFill>
                  <a:srgbClr val="000000"/>
                </a:solidFill>
              </a:rPr>
              <a:t>)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20000"/>
              </a:lnSpc>
              <a:defRPr sz="20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</a:t>
            </a:r>
            <a:r>
              <a:rPr>
                <a:solidFill>
                  <a:srgbClr val="7E504F"/>
                </a:solidFill>
              </a:rPr>
              <a:t>data</a:t>
            </a:r>
            <a:r>
              <a:rPr>
                <a:solidFill>
                  <a:srgbClr val="000000"/>
                </a:solidFill>
              </a:rPr>
              <a:t>[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]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rPr>
                <a:solidFill>
                  <a:srgbClr val="000000"/>
                </a:solidFill>
              </a:rPr>
              <a:t> Entry&lt;&gt;(</a:t>
            </a:r>
            <a:r>
              <a:rPr>
                <a:solidFill>
                  <a:srgbClr val="931A68"/>
                </a:solidFill>
              </a:rPr>
              <a:t>new</a:t>
            </a:r>
            <a:r>
              <a:rPr>
                <a:solidFill>
                  <a:srgbClr val="000000"/>
                </a:solidFill>
              </a:rPr>
              <a:t> Vertex(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, Double.</a:t>
            </a:r>
            <a:r>
              <a:t>POSITIVE_INFINITY</a:t>
            </a:r>
            <a:r>
              <a:rPr>
                <a:solidFill>
                  <a:srgbClr val="000000"/>
                </a:solidFill>
              </a:rPr>
              <a:t>));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20000"/>
              </a:lnSpc>
              <a:defRPr sz="20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else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20000"/>
              </a:lnSpc>
              <a:defRPr sz="20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</a:t>
            </a:r>
            <a:r>
              <a:rPr>
                <a:solidFill>
                  <a:srgbClr val="7E504F"/>
                </a:solidFill>
              </a:rPr>
              <a:t>data</a:t>
            </a:r>
            <a:r>
              <a:rPr>
                <a:solidFill>
                  <a:srgbClr val="000000"/>
                </a:solidFill>
              </a:rPr>
              <a:t>[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]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rPr>
                <a:solidFill>
                  <a:srgbClr val="000000"/>
                </a:solidFill>
              </a:rPr>
              <a:t> Entry&lt;&gt;(</a:t>
            </a:r>
            <a:r>
              <a:rPr>
                <a:solidFill>
                  <a:srgbClr val="931A68"/>
                </a:solidFill>
              </a:rPr>
              <a:t>new</a:t>
            </a:r>
            <a:r>
              <a:rPr>
                <a:solidFill>
                  <a:srgbClr val="000000"/>
                </a:solidFill>
              </a:rPr>
              <a:t> Vertex(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, 0.0));</a:t>
            </a:r>
            <a:r>
              <a:t>// 源点，d值=0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2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7E504F"/>
                </a:solidFill>
              </a:rPr>
              <a:t>queue</a:t>
            </a:r>
            <a:r>
              <a:t>.offer(</a:t>
            </a:r>
            <a:r>
              <a:rPr>
                <a:solidFill>
                  <a:srgbClr val="7E504F"/>
                </a:solidFill>
              </a:rPr>
              <a:t>data</a:t>
            </a:r>
            <a:r>
              <a:t>[</a:t>
            </a:r>
            <a:r>
              <a:rPr>
                <a:solidFill>
                  <a:srgbClr val="7E504F"/>
                </a:solidFill>
              </a:rPr>
              <a:t>i</a:t>
            </a:r>
            <a:r>
              <a:t>]);</a:t>
            </a:r>
            <a:r>
              <a:rPr>
                <a:solidFill>
                  <a:srgbClr val="4E9072"/>
                </a:solidFill>
              </a:rPr>
              <a:t>// 顶点入队</a:t>
            </a:r>
          </a:p>
          <a:p>
            <a:pPr indent="0">
              <a:lnSpc>
                <a:spcPct val="12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Shape 930"/>
          <p:cNvSpPr txBox="1"/>
          <p:nvPr/>
        </p:nvSpPr>
        <p:spPr>
          <a:xfrm>
            <a:off x="2812485" y="123048"/>
            <a:ext cx="7632701" cy="876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 marR="51545" indent="51545" algn="ctr" defTabSz="1155236">
              <a:lnSpc>
                <a:spcPct val="115000"/>
              </a:lnSpc>
              <a:defRPr b="1" sz="4214">
                <a:uFill>
                  <a:solidFill>
                    <a:srgbClr val="000000"/>
                  </a:solidFill>
                </a:uFill>
              </a:defRPr>
            </a:pPr>
            <a:r>
              <a:t>Dijkstra</a:t>
            </a:r>
            <a:r>
              <a:rPr b="0">
                <a:latin typeface="Arial Black"/>
                <a:ea typeface="Arial Black"/>
                <a:cs typeface="Arial Black"/>
                <a:sym typeface="Arial Black"/>
              </a:rPr>
              <a:t>算法-</a:t>
            </a:r>
            <a:r>
              <a:rPr b="0">
                <a:latin typeface="Arial Black"/>
                <a:ea typeface="Arial Black"/>
                <a:cs typeface="Arial Black"/>
                <a:sym typeface="Arial Black"/>
              </a:rPr>
              <a:t>优先队列实现</a:t>
            </a:r>
          </a:p>
        </p:txBody>
      </p:sp>
      <p:sp>
        <p:nvSpPr>
          <p:cNvPr id="627" name="while (queue.size() != 0) {…"/>
          <p:cNvSpPr txBox="1"/>
          <p:nvPr/>
        </p:nvSpPr>
        <p:spPr>
          <a:xfrm>
            <a:off x="421233" y="1014442"/>
            <a:ext cx="11850639" cy="8323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2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while</a:t>
            </a:r>
            <a:r>
              <a:t> (</a:t>
            </a:r>
            <a:r>
              <a:rPr>
                <a:solidFill>
                  <a:srgbClr val="7E504F"/>
                </a:solidFill>
              </a:rPr>
              <a:t>queue</a:t>
            </a:r>
            <a:r>
              <a:t>.size() != 0) {</a:t>
            </a:r>
          </a:p>
          <a:p>
            <a:pPr indent="0">
              <a:lnSpc>
                <a:spcPct val="120000"/>
              </a:lnSpc>
              <a:defRPr sz="20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u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queue</a:t>
            </a:r>
            <a:r>
              <a:rPr>
                <a:solidFill>
                  <a:srgbClr val="000000"/>
                </a:solidFill>
              </a:rPr>
              <a:t>.poll().</a:t>
            </a:r>
            <a:r>
              <a:rPr>
                <a:solidFill>
                  <a:srgbClr val="0326CC"/>
                </a:solidFill>
              </a:rPr>
              <a:t>id</a:t>
            </a:r>
            <a:r>
              <a:rPr>
                <a:solidFill>
                  <a:srgbClr val="000000"/>
                </a:solidFill>
              </a:rPr>
              <a:t>;</a:t>
            </a:r>
            <a:r>
              <a:t>// 具有最小d值的顶点u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20000"/>
              </a:lnSpc>
              <a:defRPr sz="20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7E504F"/>
                </a:solidFill>
              </a:rPr>
              <a:t>S</a:t>
            </a:r>
            <a:r>
              <a:rPr>
                <a:solidFill>
                  <a:srgbClr val="000000"/>
                </a:solidFill>
              </a:rPr>
              <a:t>[</a:t>
            </a:r>
            <a:r>
              <a:rPr>
                <a:solidFill>
                  <a:srgbClr val="7E504F"/>
                </a:solidFill>
              </a:rPr>
              <a:t>u</a:t>
            </a:r>
            <a:r>
              <a:rPr>
                <a:solidFill>
                  <a:srgbClr val="000000"/>
                </a:solidFill>
              </a:rPr>
              <a:t>] = 1;</a:t>
            </a:r>
            <a:r>
              <a:t>// S = S ∪ {u}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2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Iterator&lt;Integer&gt; </a:t>
            </a:r>
            <a:r>
              <a:rPr>
                <a:solidFill>
                  <a:srgbClr val="7E504F"/>
                </a:solidFill>
              </a:rPr>
              <a:t>it</a:t>
            </a:r>
            <a:r>
              <a:t> = </a:t>
            </a:r>
            <a:r>
              <a:rPr>
                <a:solidFill>
                  <a:srgbClr val="0326CC"/>
                </a:solidFill>
              </a:rPr>
              <a:t>graph</a:t>
            </a:r>
            <a:r>
              <a:t>.iterator(</a:t>
            </a:r>
            <a:r>
              <a:rPr>
                <a:solidFill>
                  <a:srgbClr val="7E504F"/>
                </a:solidFill>
              </a:rPr>
              <a:t>u</a:t>
            </a:r>
            <a:r>
              <a:t>);</a:t>
            </a:r>
          </a:p>
          <a:p>
            <a:pPr indent="0">
              <a:lnSpc>
                <a:spcPct val="12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while</a:t>
            </a:r>
            <a:r>
              <a:t> (</a:t>
            </a:r>
            <a:r>
              <a:rPr>
                <a:solidFill>
                  <a:srgbClr val="7E504F"/>
                </a:solidFill>
              </a:rPr>
              <a:t>it</a:t>
            </a:r>
            <a:r>
              <a:t>.hasNext()) {</a:t>
            </a:r>
          </a:p>
          <a:p>
            <a:pPr indent="0">
              <a:lnSpc>
                <a:spcPct val="12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v</a:t>
            </a:r>
            <a:r>
              <a:t> = </a:t>
            </a:r>
            <a:r>
              <a:rPr>
                <a:solidFill>
                  <a:srgbClr val="7E504F"/>
                </a:solidFill>
              </a:rPr>
              <a:t>it</a:t>
            </a:r>
            <a:r>
              <a:t>.next();</a:t>
            </a:r>
            <a:r>
              <a:rPr>
                <a:solidFill>
                  <a:srgbClr val="4E9072"/>
                </a:solidFill>
              </a:rPr>
              <a:t>// u→v的弧</a:t>
            </a:r>
          </a:p>
          <a:p>
            <a:pPr indent="0">
              <a:lnSpc>
                <a:spcPct val="12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S</a:t>
            </a:r>
            <a:r>
              <a:t>[</a:t>
            </a:r>
            <a:r>
              <a:rPr>
                <a:solidFill>
                  <a:srgbClr val="7E504F"/>
                </a:solidFill>
              </a:rPr>
              <a:t>v</a:t>
            </a:r>
            <a:r>
              <a:t>] == 0) {</a:t>
            </a:r>
          </a:p>
          <a:p>
            <a:pPr indent="0">
              <a:lnSpc>
                <a:spcPct val="120000"/>
              </a:lnSpc>
              <a:defRPr sz="20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	</a:t>
            </a:r>
            <a:r>
              <a:t>// Relax(u, v </a:t>
            </a:r>
            <a:r>
              <a:rPr u="sng"/>
              <a:t>wuv</a:t>
            </a:r>
            <a:r>
              <a:t>)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20000"/>
              </a:lnSpc>
              <a:defRPr sz="20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	</a:t>
            </a:r>
            <a:r>
              <a:rPr>
                <a:solidFill>
                  <a:srgbClr val="931A68"/>
                </a:solidFill>
              </a:rPr>
              <a:t>if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7E504F"/>
                </a:solidFill>
              </a:rPr>
              <a:t>data</a:t>
            </a:r>
            <a:r>
              <a:rPr>
                <a:solidFill>
                  <a:srgbClr val="000000"/>
                </a:solidFill>
              </a:rPr>
              <a:t>[</a:t>
            </a:r>
            <a:r>
              <a:rPr>
                <a:solidFill>
                  <a:srgbClr val="7E504F"/>
                </a:solidFill>
              </a:rPr>
              <a:t>v</a:t>
            </a:r>
            <a:r>
              <a:rPr>
                <a:solidFill>
                  <a:srgbClr val="000000"/>
                </a:solidFill>
              </a:rPr>
              <a:t>].</a:t>
            </a:r>
            <a:r>
              <a:rPr>
                <a:solidFill>
                  <a:srgbClr val="0326CC"/>
                </a:solidFill>
              </a:rPr>
              <a:t>data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d</a:t>
            </a:r>
            <a:r>
              <a:rPr>
                <a:solidFill>
                  <a:srgbClr val="000000"/>
                </a:solidFill>
              </a:rPr>
              <a:t> &gt; </a:t>
            </a:r>
            <a:r>
              <a:rPr>
                <a:solidFill>
                  <a:srgbClr val="7E504F"/>
                </a:solidFill>
              </a:rPr>
              <a:t>data</a:t>
            </a:r>
            <a:r>
              <a:rPr>
                <a:solidFill>
                  <a:srgbClr val="000000"/>
                </a:solidFill>
              </a:rPr>
              <a:t>[</a:t>
            </a:r>
            <a:r>
              <a:rPr>
                <a:solidFill>
                  <a:srgbClr val="7E504F"/>
                </a:solidFill>
              </a:rPr>
              <a:t>u</a:t>
            </a:r>
            <a:r>
              <a:rPr>
                <a:solidFill>
                  <a:srgbClr val="000000"/>
                </a:solidFill>
              </a:rPr>
              <a:t>].</a:t>
            </a:r>
            <a:r>
              <a:rPr>
                <a:solidFill>
                  <a:srgbClr val="0326CC"/>
                </a:solidFill>
              </a:rPr>
              <a:t>data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d</a:t>
            </a:r>
            <a:r>
              <a:rPr>
                <a:solidFill>
                  <a:srgbClr val="000000"/>
                </a:solidFill>
              </a:rPr>
              <a:t> + </a:t>
            </a:r>
            <a:r>
              <a:rPr>
                <a:solidFill>
                  <a:srgbClr val="0326CC"/>
                </a:solidFill>
              </a:rPr>
              <a:t>graph</a:t>
            </a:r>
            <a:r>
              <a:rPr>
                <a:solidFill>
                  <a:srgbClr val="000000"/>
                </a:solidFill>
              </a:rPr>
              <a:t>.getWeight(</a:t>
            </a:r>
            <a:r>
              <a:rPr>
                <a:solidFill>
                  <a:srgbClr val="7E504F"/>
                </a:solidFill>
              </a:rPr>
              <a:t>u</a:t>
            </a:r>
            <a:r>
              <a:rPr>
                <a:solidFill>
                  <a:srgbClr val="000000"/>
                </a:solidFill>
              </a:rPr>
              <a:t>, </a:t>
            </a:r>
            <a:r>
              <a:rPr>
                <a:solidFill>
                  <a:srgbClr val="7E504F"/>
                </a:solidFill>
              </a:rPr>
              <a:t>v</a:t>
            </a:r>
            <a:r>
              <a:rPr>
                <a:solidFill>
                  <a:srgbClr val="000000"/>
                </a:solidFill>
              </a:rPr>
              <a:t>)) {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2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			</a:t>
            </a:r>
            <a:r>
              <a:rPr>
                <a:solidFill>
                  <a:srgbClr val="7E504F"/>
                </a:solidFill>
              </a:rPr>
              <a:t>data</a:t>
            </a:r>
            <a:r>
              <a:t>[</a:t>
            </a:r>
            <a:r>
              <a:rPr>
                <a:solidFill>
                  <a:srgbClr val="7E504F"/>
                </a:solidFill>
              </a:rPr>
              <a:t>v</a:t>
            </a:r>
            <a:r>
              <a:t>].</a:t>
            </a:r>
            <a:r>
              <a:rPr>
                <a:solidFill>
                  <a:srgbClr val="0326CC"/>
                </a:solidFill>
              </a:rPr>
              <a:t>data</a:t>
            </a:r>
            <a:r>
              <a:t>.</a:t>
            </a:r>
            <a:r>
              <a:rPr>
                <a:solidFill>
                  <a:srgbClr val="0326CC"/>
                </a:solidFill>
              </a:rPr>
              <a:t>d</a:t>
            </a:r>
            <a:r>
              <a:t> = </a:t>
            </a:r>
            <a:r>
              <a:rPr>
                <a:solidFill>
                  <a:srgbClr val="7E504F"/>
                </a:solidFill>
              </a:rPr>
              <a:t>data</a:t>
            </a:r>
            <a:r>
              <a:t>[</a:t>
            </a:r>
            <a:r>
              <a:rPr>
                <a:solidFill>
                  <a:srgbClr val="7E504F"/>
                </a:solidFill>
              </a:rPr>
              <a:t>u</a:t>
            </a:r>
            <a:r>
              <a:t>].</a:t>
            </a:r>
            <a:r>
              <a:rPr>
                <a:solidFill>
                  <a:srgbClr val="0326CC"/>
                </a:solidFill>
              </a:rPr>
              <a:t>data</a:t>
            </a:r>
            <a:r>
              <a:t>.</a:t>
            </a:r>
            <a:r>
              <a:rPr>
                <a:solidFill>
                  <a:srgbClr val="0326CC"/>
                </a:solidFill>
              </a:rPr>
              <a:t>d</a:t>
            </a:r>
            <a:r>
              <a:t> + </a:t>
            </a:r>
            <a:r>
              <a:rPr>
                <a:solidFill>
                  <a:srgbClr val="0326CC"/>
                </a:solidFill>
              </a:rPr>
              <a:t>graph</a:t>
            </a:r>
            <a:r>
              <a:t>.getWeight(</a:t>
            </a:r>
            <a:r>
              <a:rPr>
                <a:solidFill>
                  <a:srgbClr val="7E504F"/>
                </a:solidFill>
              </a:rPr>
              <a:t>u</a:t>
            </a:r>
            <a:r>
              <a:t>, </a:t>
            </a:r>
            <a:r>
              <a:rPr>
                <a:solidFill>
                  <a:srgbClr val="7E504F"/>
                </a:solidFill>
              </a:rPr>
              <a:t>v</a:t>
            </a:r>
            <a:r>
              <a:t>);</a:t>
            </a:r>
          </a:p>
          <a:p>
            <a:pPr indent="0">
              <a:lnSpc>
                <a:spcPct val="12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			</a:t>
            </a:r>
            <a:r>
              <a:rPr>
                <a:solidFill>
                  <a:srgbClr val="7E504F"/>
                </a:solidFill>
              </a:rPr>
              <a:t>queue</a:t>
            </a:r>
            <a:r>
              <a:t>.decrease(</a:t>
            </a:r>
            <a:r>
              <a:rPr>
                <a:solidFill>
                  <a:srgbClr val="7E504F"/>
                </a:solidFill>
              </a:rPr>
              <a:t>data</a:t>
            </a:r>
            <a:r>
              <a:t>[</a:t>
            </a:r>
            <a:r>
              <a:rPr>
                <a:solidFill>
                  <a:srgbClr val="7E504F"/>
                </a:solidFill>
              </a:rPr>
              <a:t>v</a:t>
            </a:r>
            <a:r>
              <a:t>]);</a:t>
            </a:r>
          </a:p>
          <a:p>
            <a:pPr indent="0">
              <a:lnSpc>
                <a:spcPct val="120000"/>
              </a:lnSpc>
              <a:defRPr sz="20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		</a:t>
            </a:r>
            <a:r>
              <a:rPr>
                <a:solidFill>
                  <a:srgbClr val="7E504F"/>
                </a:solidFill>
              </a:rPr>
              <a:t>path</a:t>
            </a:r>
            <a:r>
              <a:rPr>
                <a:solidFill>
                  <a:srgbClr val="000000"/>
                </a:solidFill>
              </a:rPr>
              <a:t>[</a:t>
            </a:r>
            <a:r>
              <a:rPr>
                <a:solidFill>
                  <a:srgbClr val="7E504F"/>
                </a:solidFill>
              </a:rPr>
              <a:t>v</a:t>
            </a:r>
            <a:r>
              <a:rPr>
                <a:solidFill>
                  <a:srgbClr val="000000"/>
                </a:solidFill>
              </a:rPr>
              <a:t>] = </a:t>
            </a:r>
            <a:r>
              <a:rPr>
                <a:solidFill>
                  <a:srgbClr val="7E504F"/>
                </a:solidFill>
              </a:rPr>
              <a:t>u</a:t>
            </a:r>
            <a:r>
              <a:rPr>
                <a:solidFill>
                  <a:srgbClr val="000000"/>
                </a:solidFill>
              </a:rPr>
              <a:t>;</a:t>
            </a:r>
            <a:r>
              <a:t>// 在源点到v的最短路径上，u是v的前驱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2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		}</a:t>
            </a:r>
          </a:p>
          <a:p>
            <a:pPr indent="0">
              <a:lnSpc>
                <a:spcPct val="12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	}</a:t>
            </a:r>
          </a:p>
          <a:p>
            <a:pPr indent="0">
              <a:lnSpc>
                <a:spcPct val="12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}</a:t>
            </a:r>
          </a:p>
          <a:p>
            <a:pPr indent="0">
              <a:lnSpc>
                <a:spcPct val="12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indent="0">
              <a:lnSpc>
                <a:spcPct val="120000"/>
              </a:lnSpc>
              <a:defRPr sz="20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 = 0; 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 &lt; </a:t>
            </a:r>
            <a:r>
              <a:rPr>
                <a:solidFill>
                  <a:srgbClr val="0326CC"/>
                </a:solidFill>
              </a:rPr>
              <a:t>n</a:t>
            </a:r>
            <a:r>
              <a:rPr>
                <a:solidFill>
                  <a:srgbClr val="000000"/>
                </a:solidFill>
              </a:rPr>
              <a:t>; ++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)</a:t>
            </a:r>
            <a:r>
              <a:t>// 获取各顶点的d值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20000"/>
              </a:lnSpc>
              <a:defRPr sz="20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distance</a:t>
            </a:r>
            <a:r>
              <a:rPr>
                <a:solidFill>
                  <a:srgbClr val="000000"/>
                </a:solidFill>
              </a:rPr>
              <a:t>[</a:t>
            </a:r>
            <a:r>
              <a:t>i</a:t>
            </a:r>
            <a:r>
              <a:rPr>
                <a:solidFill>
                  <a:srgbClr val="000000"/>
                </a:solidFill>
              </a:rPr>
              <a:t>] = </a:t>
            </a:r>
            <a:r>
              <a:t>data</a:t>
            </a:r>
            <a:r>
              <a:rPr>
                <a:solidFill>
                  <a:srgbClr val="000000"/>
                </a:solidFill>
              </a:rPr>
              <a:t>[</a:t>
            </a:r>
            <a:r>
              <a:t>i</a:t>
            </a:r>
            <a:r>
              <a:rPr>
                <a:solidFill>
                  <a:srgbClr val="000000"/>
                </a:solidFill>
              </a:rPr>
              <a:t>].</a:t>
            </a:r>
            <a:r>
              <a:rPr>
                <a:solidFill>
                  <a:srgbClr val="0326CC"/>
                </a:solidFill>
              </a:rPr>
              <a:t>data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d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2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Shape 1114"/>
          <p:cNvSpPr txBox="1"/>
          <p:nvPr/>
        </p:nvSpPr>
        <p:spPr>
          <a:xfrm>
            <a:off x="1731433" y="161289"/>
            <a:ext cx="9537702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marR="57798" algn="ctr" defTabSz="1295400">
              <a:lnSpc>
                <a:spcPct val="115000"/>
              </a:lnSpc>
              <a:defRPr sz="4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动态规划</a:t>
            </a:r>
          </a:p>
        </p:txBody>
      </p:sp>
      <p:sp>
        <p:nvSpPr>
          <p:cNvPr id="630" name="通过组合子问题的解而解决整个问题。…"/>
          <p:cNvSpPr txBox="1"/>
          <p:nvPr/>
        </p:nvSpPr>
        <p:spPr>
          <a:xfrm>
            <a:off x="925577" y="1872987"/>
            <a:ext cx="11083091" cy="143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300789" indent="-300789">
              <a:lnSpc>
                <a:spcPct val="150000"/>
              </a:lnSpc>
              <a:buSzPct val="60000"/>
              <a:buBlip>
                <a:blip r:embed="rId2"/>
              </a:buBlip>
            </a:pPr>
            <a:r>
              <a:t>通过</a:t>
            </a:r>
            <a:r>
              <a:rPr>
                <a:solidFill>
                  <a:schemeClr val="accent1"/>
                </a:solidFill>
              </a:rPr>
              <a:t>组合子问题</a:t>
            </a:r>
            <a:r>
              <a:t>的解而解决整个问题。</a:t>
            </a:r>
          </a:p>
          <a:p>
            <a:pPr marL="300789" indent="-300789">
              <a:lnSpc>
                <a:spcPct val="150000"/>
              </a:lnSpc>
              <a:buSzPct val="60000"/>
              <a:buBlip>
                <a:blip r:embed="rId2"/>
              </a:buBlip>
            </a:pPr>
            <a:r>
              <a:t>通过</a:t>
            </a:r>
            <a:r>
              <a:rPr>
                <a:solidFill>
                  <a:schemeClr val="accent1"/>
                </a:solidFill>
              </a:rPr>
              <a:t>记录重复子问题的解</a:t>
            </a:r>
            <a:r>
              <a:t>，避免重复计算，从而减少时间复杂度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Shape 1114"/>
          <p:cNvSpPr txBox="1"/>
          <p:nvPr/>
        </p:nvSpPr>
        <p:spPr>
          <a:xfrm>
            <a:off x="1731433" y="161289"/>
            <a:ext cx="9537702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marR="57798" algn="ctr" defTabSz="1295400">
              <a:lnSpc>
                <a:spcPct val="115000"/>
              </a:lnSpc>
              <a:defRPr sz="4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动态规划</a:t>
            </a:r>
          </a:p>
        </p:txBody>
      </p:sp>
      <p:sp>
        <p:nvSpPr>
          <p:cNvPr id="633" name="Fibonacci数列：1, 1, 2, 3, 5, 8, ..."/>
          <p:cNvSpPr txBox="1"/>
          <p:nvPr/>
        </p:nvSpPr>
        <p:spPr>
          <a:xfrm>
            <a:off x="1112563" y="1340223"/>
            <a:ext cx="5389270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Fibonacci数列：1, 1, 2, 3, 5, 8, ...</a:t>
            </a:r>
          </a:p>
        </p:txBody>
      </p:sp>
      <p:sp>
        <p:nvSpPr>
          <p:cNvPr id="634" name="fibonacci(n) ="/>
          <p:cNvSpPr txBox="1"/>
          <p:nvPr/>
        </p:nvSpPr>
        <p:spPr>
          <a:xfrm>
            <a:off x="1909863" y="2850272"/>
            <a:ext cx="2439124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fibonacci(n) = </a:t>
            </a:r>
          </a:p>
        </p:txBody>
      </p:sp>
      <p:sp>
        <p:nvSpPr>
          <p:cNvPr id="635" name="线条"/>
          <p:cNvSpPr/>
          <p:nvPr/>
        </p:nvSpPr>
        <p:spPr>
          <a:xfrm>
            <a:off x="4338327" y="2309608"/>
            <a:ext cx="252413" cy="15477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cubicBezTo>
                  <a:pt x="15635" y="0"/>
                  <a:pt x="10800" y="806"/>
                  <a:pt x="10800" y="1800"/>
                </a:cubicBezTo>
                <a:lnTo>
                  <a:pt x="10800" y="9000"/>
                </a:lnTo>
                <a:cubicBezTo>
                  <a:pt x="10800" y="9994"/>
                  <a:pt x="5965" y="10800"/>
                  <a:pt x="0" y="10800"/>
                </a:cubicBezTo>
                <a:cubicBezTo>
                  <a:pt x="5965" y="10800"/>
                  <a:pt x="10800" y="11606"/>
                  <a:pt x="10800" y="12600"/>
                </a:cubicBezTo>
                <a:lnTo>
                  <a:pt x="10800" y="19800"/>
                </a:lnTo>
                <a:cubicBezTo>
                  <a:pt x="10800" y="20794"/>
                  <a:pt x="15635" y="21600"/>
                  <a:pt x="21600" y="21600"/>
                </a:cubicBezTo>
              </a:path>
            </a:pathLst>
          </a:custGeom>
          <a:ln w="38100">
            <a:solidFill>
              <a:srgbClr val="000000"/>
            </a:solidFill>
          </a:ln>
        </p:spPr>
        <p:txBody>
          <a:bodyPr lIns="45719" rIns="45719" anchor="ctr"/>
          <a:lstStyle/>
          <a:p>
            <a:pPr marR="40639" indent="0" defTabSz="914400">
              <a:defRPr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636" name="1     n = 1或n = 2"/>
          <p:cNvSpPr txBox="1"/>
          <p:nvPr/>
        </p:nvSpPr>
        <p:spPr>
          <a:xfrm>
            <a:off x="4828411" y="2180066"/>
            <a:ext cx="2792591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1     n = 1或n = 2</a:t>
            </a:r>
          </a:p>
        </p:txBody>
      </p:sp>
      <p:sp>
        <p:nvSpPr>
          <p:cNvPr id="637" name="fibonacci(n - 1)  + fibonacci(n - 2)     n &gt; 2"/>
          <p:cNvSpPr txBox="1"/>
          <p:nvPr/>
        </p:nvSpPr>
        <p:spPr>
          <a:xfrm>
            <a:off x="4828411" y="3274022"/>
            <a:ext cx="6674401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fibonacci(n - 1)  + fibonacci(n - 2)     n &gt; 2</a:t>
            </a:r>
          </a:p>
        </p:txBody>
      </p:sp>
      <p:sp>
        <p:nvSpPr>
          <p:cNvPr id="638" name="public int fibonacci(int n) {…"/>
          <p:cNvSpPr txBox="1"/>
          <p:nvPr/>
        </p:nvSpPr>
        <p:spPr>
          <a:xfrm>
            <a:off x="1764325" y="4293323"/>
            <a:ext cx="9678734" cy="25896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fibonacci(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n</a:t>
            </a:r>
            <a:r>
              <a:t>) {</a:t>
            </a:r>
          </a:p>
          <a:p>
            <a:pPr indent="0"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(</a:t>
            </a:r>
            <a:r>
              <a:rPr>
                <a:solidFill>
                  <a:srgbClr val="7E504F"/>
                </a:solidFill>
              </a:rPr>
              <a:t>n</a:t>
            </a:r>
            <a:r>
              <a:t> == 1 || </a:t>
            </a:r>
            <a:r>
              <a:rPr>
                <a:solidFill>
                  <a:srgbClr val="7E504F"/>
                </a:solidFill>
              </a:rPr>
              <a:t>n</a:t>
            </a:r>
            <a:r>
              <a:t> == 2)</a:t>
            </a:r>
          </a:p>
          <a:p>
            <a:pPr indent="0">
              <a:defRPr sz="25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1;</a:t>
            </a:r>
            <a:endParaRPr>
              <a:solidFill>
                <a:srgbClr val="000000"/>
              </a:solidFill>
            </a:endParaRPr>
          </a:p>
          <a:p>
            <a:pPr indent="0">
              <a:defRPr sz="25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else</a:t>
            </a:r>
            <a:endParaRPr>
              <a:solidFill>
                <a:srgbClr val="000000"/>
              </a:solidFill>
            </a:endParaRPr>
          </a:p>
          <a:p>
            <a:pPr indent="0"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fibonacci(</a:t>
            </a:r>
            <a:r>
              <a:rPr>
                <a:solidFill>
                  <a:srgbClr val="7E504F"/>
                </a:solidFill>
              </a:rPr>
              <a:t>n</a:t>
            </a:r>
            <a:r>
              <a:t> - 1) + fibonacci(</a:t>
            </a:r>
            <a:r>
              <a:rPr>
                <a:solidFill>
                  <a:srgbClr val="7E504F"/>
                </a:solidFill>
              </a:rPr>
              <a:t>n</a:t>
            </a:r>
            <a:r>
              <a:t> - 2);</a:t>
            </a:r>
          </a:p>
          <a:p>
            <a:pPr indent="0"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Shape 1129"/>
          <p:cNvSpPr txBox="1"/>
          <p:nvPr/>
        </p:nvSpPr>
        <p:spPr>
          <a:xfrm>
            <a:off x="1731433" y="161289"/>
            <a:ext cx="9537702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marR="57798" algn="ctr" defTabSz="1295400">
              <a:lnSpc>
                <a:spcPct val="115000"/>
              </a:lnSpc>
              <a:defRPr sz="4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动态规划</a:t>
            </a:r>
          </a:p>
        </p:txBody>
      </p:sp>
      <p:grpSp>
        <p:nvGrpSpPr>
          <p:cNvPr id="658" name="成组"/>
          <p:cNvGrpSpPr/>
          <p:nvPr/>
        </p:nvGrpSpPr>
        <p:grpSpPr>
          <a:xfrm>
            <a:off x="4818511" y="1454601"/>
            <a:ext cx="6435294" cy="3962801"/>
            <a:chOff x="0" y="0"/>
            <a:chExt cx="6435293" cy="3962799"/>
          </a:xfrm>
        </p:grpSpPr>
        <p:sp>
          <p:nvSpPr>
            <p:cNvPr id="641" name="f(5)"/>
            <p:cNvSpPr txBox="1"/>
            <p:nvPr/>
          </p:nvSpPr>
          <p:spPr>
            <a:xfrm>
              <a:off x="2297900" y="0"/>
              <a:ext cx="743228" cy="5172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/>
              <a:r>
                <a:t>f(5)</a:t>
              </a:r>
            </a:p>
          </p:txBody>
        </p:sp>
        <p:sp>
          <p:nvSpPr>
            <p:cNvPr id="642" name="f(3)"/>
            <p:cNvSpPr txBox="1"/>
            <p:nvPr/>
          </p:nvSpPr>
          <p:spPr>
            <a:xfrm>
              <a:off x="1071188" y="1071807"/>
              <a:ext cx="743228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/>
              <a:r>
                <a:t>f(3)</a:t>
              </a:r>
            </a:p>
          </p:txBody>
        </p:sp>
        <p:sp>
          <p:nvSpPr>
            <p:cNvPr id="643" name="f(4)"/>
            <p:cNvSpPr txBox="1"/>
            <p:nvPr/>
          </p:nvSpPr>
          <p:spPr>
            <a:xfrm>
              <a:off x="3549482" y="1071807"/>
              <a:ext cx="743228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/>
              <a:r>
                <a:t>f(4)</a:t>
              </a:r>
            </a:p>
          </p:txBody>
        </p:sp>
        <p:sp>
          <p:nvSpPr>
            <p:cNvPr id="644" name="f(1)"/>
            <p:cNvSpPr txBox="1"/>
            <p:nvPr/>
          </p:nvSpPr>
          <p:spPr>
            <a:xfrm>
              <a:off x="0" y="2240324"/>
              <a:ext cx="743227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/>
              <a:r>
                <a:t>f(1)</a:t>
              </a:r>
            </a:p>
          </p:txBody>
        </p:sp>
        <p:sp>
          <p:nvSpPr>
            <p:cNvPr id="645" name="f(2)"/>
            <p:cNvSpPr txBox="1"/>
            <p:nvPr/>
          </p:nvSpPr>
          <p:spPr>
            <a:xfrm>
              <a:off x="2058251" y="2240324"/>
              <a:ext cx="743228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/>
              <a:r>
                <a:t>f(2)</a:t>
              </a:r>
            </a:p>
          </p:txBody>
        </p:sp>
        <p:sp>
          <p:nvSpPr>
            <p:cNvPr id="646" name="f(3)"/>
            <p:cNvSpPr txBox="1"/>
            <p:nvPr/>
          </p:nvSpPr>
          <p:spPr>
            <a:xfrm>
              <a:off x="4616102" y="2240324"/>
              <a:ext cx="743228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/>
              <a:r>
                <a:t>f(3)</a:t>
              </a:r>
            </a:p>
          </p:txBody>
        </p:sp>
        <p:sp>
          <p:nvSpPr>
            <p:cNvPr id="647" name="f(1)"/>
            <p:cNvSpPr txBox="1"/>
            <p:nvPr/>
          </p:nvSpPr>
          <p:spPr>
            <a:xfrm>
              <a:off x="3583014" y="3445585"/>
              <a:ext cx="743228" cy="5172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/>
              <a:r>
                <a:t>f(1)</a:t>
              </a:r>
            </a:p>
          </p:txBody>
        </p:sp>
        <p:sp>
          <p:nvSpPr>
            <p:cNvPr id="648" name="f(2)"/>
            <p:cNvSpPr txBox="1"/>
            <p:nvPr/>
          </p:nvSpPr>
          <p:spPr>
            <a:xfrm>
              <a:off x="5692066" y="3445585"/>
              <a:ext cx="743228" cy="5172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/>
              <a:r>
                <a:t>f(2)</a:t>
              </a:r>
            </a:p>
          </p:txBody>
        </p:sp>
        <p:sp>
          <p:nvSpPr>
            <p:cNvPr id="649" name="f(2)"/>
            <p:cNvSpPr txBox="1"/>
            <p:nvPr/>
          </p:nvSpPr>
          <p:spPr>
            <a:xfrm>
              <a:off x="2616019" y="2240324"/>
              <a:ext cx="743228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/>
              <a:r>
                <a:t>f(2)</a:t>
              </a:r>
            </a:p>
          </p:txBody>
        </p:sp>
        <p:sp>
          <p:nvSpPr>
            <p:cNvPr id="650" name="线条"/>
            <p:cNvSpPr/>
            <p:nvPr/>
          </p:nvSpPr>
          <p:spPr>
            <a:xfrm flipH="1">
              <a:off x="2955298" y="1570392"/>
              <a:ext cx="916570" cy="769093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51" name="线条"/>
            <p:cNvSpPr/>
            <p:nvPr/>
          </p:nvSpPr>
          <p:spPr>
            <a:xfrm>
              <a:off x="4185340" y="1570392"/>
              <a:ext cx="916569" cy="769093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52" name="线条"/>
            <p:cNvSpPr/>
            <p:nvPr/>
          </p:nvSpPr>
          <p:spPr>
            <a:xfrm flipH="1">
              <a:off x="1684653" y="452518"/>
              <a:ext cx="916569" cy="769093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53" name="线条"/>
            <p:cNvSpPr/>
            <p:nvPr/>
          </p:nvSpPr>
          <p:spPr>
            <a:xfrm>
              <a:off x="2914694" y="452518"/>
              <a:ext cx="916569" cy="769093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54" name="线条"/>
            <p:cNvSpPr/>
            <p:nvPr/>
          </p:nvSpPr>
          <p:spPr>
            <a:xfrm flipH="1">
              <a:off x="432997" y="1536818"/>
              <a:ext cx="916569" cy="769093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55" name="线条"/>
            <p:cNvSpPr/>
            <p:nvPr/>
          </p:nvSpPr>
          <p:spPr>
            <a:xfrm>
              <a:off x="1663038" y="1536818"/>
              <a:ext cx="916570" cy="769093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56" name="线条"/>
            <p:cNvSpPr/>
            <p:nvPr/>
          </p:nvSpPr>
          <p:spPr>
            <a:xfrm flipH="1">
              <a:off x="4016010" y="2703725"/>
              <a:ext cx="916570" cy="769094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57" name="线条"/>
            <p:cNvSpPr/>
            <p:nvPr/>
          </p:nvSpPr>
          <p:spPr>
            <a:xfrm>
              <a:off x="5246052" y="2703725"/>
              <a:ext cx="916570" cy="769094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659" name="有多个重复子问题"/>
          <p:cNvSpPr txBox="1"/>
          <p:nvPr/>
        </p:nvSpPr>
        <p:spPr>
          <a:xfrm>
            <a:off x="1464420" y="1167906"/>
            <a:ext cx="3220100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有多个重复子问题</a:t>
            </a:r>
          </a:p>
        </p:txBody>
      </p:sp>
      <p:sp>
        <p:nvSpPr>
          <p:cNvPr id="660" name="线条"/>
          <p:cNvSpPr/>
          <p:nvPr/>
        </p:nvSpPr>
        <p:spPr>
          <a:xfrm flipH="1">
            <a:off x="4011003" y="1793977"/>
            <a:ext cx="1" cy="3284049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b="1" sz="2800">
                <a:solidFill>
                  <a:schemeClr val="accent1">
                    <a:satOff val="-36923"/>
                    <a:lumOff val="15441"/>
                  </a:schemeClr>
                </a:solidFill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661" name="线条"/>
          <p:cNvSpPr/>
          <p:nvPr/>
        </p:nvSpPr>
        <p:spPr>
          <a:xfrm flipV="1">
            <a:off x="11739484" y="1793977"/>
            <a:ext cx="1" cy="3284049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b="1" sz="2800">
                <a:solidFill>
                  <a:schemeClr val="accent1">
                    <a:satOff val="-36923"/>
                    <a:lumOff val="15441"/>
                  </a:schemeClr>
                </a:solidFill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662" name="自…"/>
          <p:cNvSpPr txBox="1"/>
          <p:nvPr/>
        </p:nvSpPr>
        <p:spPr>
          <a:xfrm>
            <a:off x="3096590" y="2104108"/>
            <a:ext cx="553100" cy="223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自</a:t>
            </a:r>
          </a:p>
          <a:p>
            <a:pPr/>
            <a:r>
              <a:t>顶</a:t>
            </a:r>
          </a:p>
          <a:p>
            <a:pPr/>
            <a:r>
              <a:t>向</a:t>
            </a:r>
          </a:p>
          <a:p>
            <a:pPr/>
            <a:r>
              <a:t>下</a:t>
            </a:r>
          </a:p>
        </p:txBody>
      </p:sp>
      <p:sp>
        <p:nvSpPr>
          <p:cNvPr id="663" name="自…"/>
          <p:cNvSpPr txBox="1"/>
          <p:nvPr/>
        </p:nvSpPr>
        <p:spPr>
          <a:xfrm>
            <a:off x="12225163" y="2104108"/>
            <a:ext cx="553100" cy="223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自</a:t>
            </a:r>
          </a:p>
          <a:p>
            <a:pPr/>
            <a:r>
              <a:t>底</a:t>
            </a:r>
          </a:p>
          <a:p>
            <a:pPr/>
            <a:r>
              <a:t>向</a:t>
            </a:r>
          </a:p>
          <a:p>
            <a:pPr/>
            <a:r>
              <a:t>上</a:t>
            </a:r>
          </a:p>
        </p:txBody>
      </p:sp>
      <p:sp>
        <p:nvSpPr>
          <p:cNvPr id="664" name="public static int fibonacci(int n) {…"/>
          <p:cNvSpPr txBox="1"/>
          <p:nvPr/>
        </p:nvSpPr>
        <p:spPr>
          <a:xfrm>
            <a:off x="4724848" y="5545358"/>
            <a:ext cx="7018921" cy="3627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2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t>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fibonacci(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n</a:t>
            </a:r>
            <a:r>
              <a:t>) {</a:t>
            </a:r>
          </a:p>
          <a:p>
            <a:pPr indent="0">
              <a:lnSpc>
                <a:spcPct val="12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(</a:t>
            </a:r>
            <a:r>
              <a:rPr>
                <a:solidFill>
                  <a:srgbClr val="7E504F"/>
                </a:solidFill>
              </a:rPr>
              <a:t>n</a:t>
            </a:r>
            <a:r>
              <a:t> == 1 || </a:t>
            </a:r>
            <a:r>
              <a:rPr>
                <a:solidFill>
                  <a:srgbClr val="7E504F"/>
                </a:solidFill>
              </a:rPr>
              <a:t>n</a:t>
            </a:r>
            <a:r>
              <a:t> ==2) 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1;</a:t>
            </a:r>
          </a:p>
          <a:p>
            <a:pPr indent="0">
              <a:lnSpc>
                <a:spcPct val="12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[] </a:t>
            </a:r>
            <a:r>
              <a:rPr>
                <a:solidFill>
                  <a:srgbClr val="7E504F"/>
                </a:solidFill>
              </a:rPr>
              <a:t>fib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[</a:t>
            </a:r>
            <a:r>
              <a:rPr>
                <a:solidFill>
                  <a:srgbClr val="7E504F"/>
                </a:solidFill>
              </a:rPr>
              <a:t>n</a:t>
            </a:r>
            <a:r>
              <a:t> + 1];</a:t>
            </a:r>
          </a:p>
          <a:p>
            <a:pPr indent="0">
              <a:lnSpc>
                <a:spcPct val="12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fib</a:t>
            </a:r>
            <a:r>
              <a:t>[1] = </a:t>
            </a:r>
            <a:r>
              <a:rPr>
                <a:solidFill>
                  <a:srgbClr val="7E504F"/>
                </a:solidFill>
              </a:rPr>
              <a:t>fib</a:t>
            </a:r>
            <a:r>
              <a:t>[2] = 1;</a:t>
            </a:r>
          </a:p>
          <a:p>
            <a:pPr indent="0">
              <a:lnSpc>
                <a:spcPct val="12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t> = 3; </a:t>
            </a:r>
            <a:r>
              <a:rPr>
                <a:solidFill>
                  <a:srgbClr val="7E504F"/>
                </a:solidFill>
              </a:rPr>
              <a:t>i</a:t>
            </a:r>
            <a:r>
              <a:t> &lt;=</a:t>
            </a:r>
            <a:r>
              <a:rPr>
                <a:solidFill>
                  <a:srgbClr val="7E504F"/>
                </a:solidFill>
              </a:rPr>
              <a:t>n</a:t>
            </a:r>
            <a:r>
              <a:t>; </a:t>
            </a:r>
            <a:r>
              <a:rPr>
                <a:solidFill>
                  <a:srgbClr val="7E504F"/>
                </a:solidFill>
              </a:rPr>
              <a:t>i</a:t>
            </a:r>
            <a:r>
              <a:t>++)</a:t>
            </a:r>
          </a:p>
          <a:p>
            <a:pPr indent="0">
              <a:lnSpc>
                <a:spcPct val="12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7E504F"/>
                </a:solidFill>
              </a:rPr>
              <a:t>fib</a:t>
            </a:r>
            <a:r>
              <a:t>[</a:t>
            </a:r>
            <a:r>
              <a:rPr>
                <a:solidFill>
                  <a:srgbClr val="7E504F"/>
                </a:solidFill>
              </a:rPr>
              <a:t>i</a:t>
            </a:r>
            <a:r>
              <a:t>] = </a:t>
            </a:r>
            <a:r>
              <a:rPr>
                <a:solidFill>
                  <a:srgbClr val="7E504F"/>
                </a:solidFill>
              </a:rPr>
              <a:t>fib</a:t>
            </a:r>
            <a:r>
              <a:t>[</a:t>
            </a:r>
            <a:r>
              <a:rPr>
                <a:solidFill>
                  <a:srgbClr val="7E504F"/>
                </a:solidFill>
              </a:rPr>
              <a:t>i</a:t>
            </a:r>
            <a:r>
              <a:t> - 1] + </a:t>
            </a:r>
            <a:r>
              <a:rPr>
                <a:solidFill>
                  <a:srgbClr val="7E504F"/>
                </a:solidFill>
              </a:rPr>
              <a:t>fib</a:t>
            </a:r>
            <a:r>
              <a:t>[</a:t>
            </a:r>
            <a:r>
              <a:rPr>
                <a:solidFill>
                  <a:srgbClr val="7E504F"/>
                </a:solidFill>
              </a:rPr>
              <a:t>i </a:t>
            </a:r>
            <a:r>
              <a:t>- 2];</a:t>
            </a:r>
          </a:p>
          <a:p>
            <a:pPr indent="0">
              <a:lnSpc>
                <a:spcPct val="120000"/>
              </a:lnSpc>
              <a:defRPr sz="22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fib</a:t>
            </a:r>
            <a:r>
              <a:rPr>
                <a:solidFill>
                  <a:srgbClr val="000000"/>
                </a:solidFill>
              </a:rPr>
              <a:t>[</a:t>
            </a:r>
            <a:r>
              <a:rPr>
                <a:solidFill>
                  <a:srgbClr val="7E504F"/>
                </a:solidFill>
              </a:rPr>
              <a:t>n</a:t>
            </a:r>
            <a:r>
              <a:rPr>
                <a:solidFill>
                  <a:srgbClr val="000000"/>
                </a:solidFill>
              </a:rPr>
              <a:t>];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2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Shape 1391"/>
          <p:cNvSpPr txBox="1"/>
          <p:nvPr/>
        </p:nvSpPr>
        <p:spPr>
          <a:xfrm>
            <a:off x="1731433" y="161289"/>
            <a:ext cx="9537702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marR="57798" algn="ctr" defTabSz="1295400">
              <a:lnSpc>
                <a:spcPct val="115000"/>
              </a:lnSpc>
              <a:defRPr sz="4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每对顶点之间的最短路径</a:t>
            </a:r>
          </a:p>
        </p:txBody>
      </p:sp>
      <p:grpSp>
        <p:nvGrpSpPr>
          <p:cNvPr id="686" name="Group 1584"/>
          <p:cNvGrpSpPr/>
          <p:nvPr/>
        </p:nvGrpSpPr>
        <p:grpSpPr>
          <a:xfrm>
            <a:off x="6504185" y="2219916"/>
            <a:ext cx="3151860" cy="2830741"/>
            <a:chOff x="0" y="0"/>
            <a:chExt cx="3151859" cy="2830739"/>
          </a:xfrm>
        </p:grpSpPr>
        <p:grpSp>
          <p:nvGrpSpPr>
            <p:cNvPr id="669" name="Group 1567"/>
            <p:cNvGrpSpPr/>
            <p:nvPr/>
          </p:nvGrpSpPr>
          <p:grpSpPr>
            <a:xfrm>
              <a:off x="0" y="673049"/>
              <a:ext cx="695399" cy="614500"/>
              <a:chOff x="0" y="0"/>
              <a:chExt cx="695398" cy="614498"/>
            </a:xfrm>
          </p:grpSpPr>
          <p:sp>
            <p:nvSpPr>
              <p:cNvPr id="667" name="Shape 1565"/>
              <p:cNvSpPr/>
              <p:nvPr/>
            </p:nvSpPr>
            <p:spPr>
              <a:xfrm>
                <a:off x="-1" y="11057"/>
                <a:ext cx="695399" cy="598315"/>
              </a:xfrm>
              <a:prstGeom prst="ellipse">
                <a:avLst/>
              </a:prstGeom>
              <a:solidFill>
                <a:srgbClr val="FFFF99"/>
              </a:solidFill>
              <a:ln w="25400" cap="sq">
                <a:solidFill>
                  <a:srgbClr val="8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68" name="Shape 1566"/>
              <p:cNvSpPr txBox="1"/>
              <p:nvPr/>
            </p:nvSpPr>
            <p:spPr>
              <a:xfrm>
                <a:off x="154189" y="0"/>
                <a:ext cx="387017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sz="38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1</a:t>
                </a:r>
              </a:p>
            </p:txBody>
          </p:sp>
        </p:grpSp>
        <p:grpSp>
          <p:nvGrpSpPr>
            <p:cNvPr id="672" name="Group 1570"/>
            <p:cNvGrpSpPr/>
            <p:nvPr/>
          </p:nvGrpSpPr>
          <p:grpSpPr>
            <a:xfrm>
              <a:off x="1176866" y="2216240"/>
              <a:ext cx="695399" cy="614500"/>
              <a:chOff x="0" y="0"/>
              <a:chExt cx="695398" cy="614498"/>
            </a:xfrm>
          </p:grpSpPr>
          <p:sp>
            <p:nvSpPr>
              <p:cNvPr id="670" name="Shape 1568"/>
              <p:cNvSpPr/>
              <p:nvPr/>
            </p:nvSpPr>
            <p:spPr>
              <a:xfrm>
                <a:off x="-1" y="12186"/>
                <a:ext cx="695399" cy="596905"/>
              </a:xfrm>
              <a:prstGeom prst="ellipse">
                <a:avLst/>
              </a:prstGeom>
              <a:solidFill>
                <a:srgbClr val="FFFF99"/>
              </a:solidFill>
              <a:ln w="25400" cap="sq">
                <a:solidFill>
                  <a:srgbClr val="8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71" name="Shape 1569"/>
              <p:cNvSpPr txBox="1"/>
              <p:nvPr/>
            </p:nvSpPr>
            <p:spPr>
              <a:xfrm>
                <a:off x="149109" y="0"/>
                <a:ext cx="387017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sz="38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3</a:t>
                </a:r>
              </a:p>
            </p:txBody>
          </p:sp>
        </p:grpSp>
        <p:grpSp>
          <p:nvGrpSpPr>
            <p:cNvPr id="675" name="Group 1573"/>
            <p:cNvGrpSpPr/>
            <p:nvPr/>
          </p:nvGrpSpPr>
          <p:grpSpPr>
            <a:xfrm>
              <a:off x="2456461" y="680951"/>
              <a:ext cx="695399" cy="614500"/>
              <a:chOff x="0" y="0"/>
              <a:chExt cx="695398" cy="614498"/>
            </a:xfrm>
          </p:grpSpPr>
          <p:sp>
            <p:nvSpPr>
              <p:cNvPr id="673" name="Shape 1571"/>
              <p:cNvSpPr/>
              <p:nvPr/>
            </p:nvSpPr>
            <p:spPr>
              <a:xfrm>
                <a:off x="-1" y="12186"/>
                <a:ext cx="695399" cy="596905"/>
              </a:xfrm>
              <a:prstGeom prst="ellipse">
                <a:avLst/>
              </a:prstGeom>
              <a:solidFill>
                <a:srgbClr val="FFFF99"/>
              </a:solidFill>
              <a:ln w="25400" cap="sq">
                <a:solidFill>
                  <a:srgbClr val="8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74" name="Shape 1572"/>
              <p:cNvSpPr txBox="1"/>
              <p:nvPr/>
            </p:nvSpPr>
            <p:spPr>
              <a:xfrm>
                <a:off x="154189" y="0"/>
                <a:ext cx="387017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sz="38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2</a:t>
                </a:r>
              </a:p>
            </p:txBody>
          </p:sp>
        </p:grpSp>
        <p:sp>
          <p:nvSpPr>
            <p:cNvPr id="676" name="Shape 1574"/>
            <p:cNvSpPr txBox="1"/>
            <p:nvPr/>
          </p:nvSpPr>
          <p:spPr>
            <a:xfrm>
              <a:off x="302541" y="1810737"/>
              <a:ext cx="520702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defRPr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677" name="Shape 1575"/>
            <p:cNvSpPr txBox="1"/>
            <p:nvPr/>
          </p:nvSpPr>
          <p:spPr>
            <a:xfrm>
              <a:off x="2352604" y="1929553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678" name="Shape 1576"/>
            <p:cNvSpPr txBox="1"/>
            <p:nvPr/>
          </p:nvSpPr>
          <p:spPr>
            <a:xfrm>
              <a:off x="1381759" y="-1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6</a:t>
              </a:r>
            </a:p>
          </p:txBody>
        </p:sp>
        <p:sp>
          <p:nvSpPr>
            <p:cNvPr id="679" name="Shape 1577"/>
            <p:cNvSpPr txBox="1"/>
            <p:nvPr/>
          </p:nvSpPr>
          <p:spPr>
            <a:xfrm>
              <a:off x="1329830" y="787964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680" name="Shape 1578"/>
            <p:cNvSpPr/>
            <p:nvPr/>
          </p:nvSpPr>
          <p:spPr>
            <a:xfrm>
              <a:off x="708941" y="1110826"/>
              <a:ext cx="1841502" cy="2103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529" fill="norm" stroke="1" extrusionOk="0">
                  <a:moveTo>
                    <a:pt x="21600" y="6900"/>
                  </a:moveTo>
                  <a:cubicBezTo>
                    <a:pt x="17711" y="14250"/>
                    <a:pt x="13823" y="21600"/>
                    <a:pt x="10236" y="20400"/>
                  </a:cubicBezTo>
                  <a:cubicBezTo>
                    <a:pt x="6648" y="19200"/>
                    <a:pt x="3311" y="9600"/>
                    <a:pt x="0" y="0"/>
                  </a:cubicBezTo>
                </a:path>
              </a:pathLst>
            </a:custGeom>
            <a:noFill/>
            <a:ln w="25400" cap="sq">
              <a:solidFill>
                <a:srgbClr val="8000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81" name="Shape 1579"/>
            <p:cNvSpPr/>
            <p:nvPr/>
          </p:nvSpPr>
          <p:spPr>
            <a:xfrm rot="10680000">
              <a:off x="582141" y="534721"/>
              <a:ext cx="1943948" cy="2553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529" fill="norm" stroke="1" extrusionOk="0">
                  <a:moveTo>
                    <a:pt x="21600" y="6900"/>
                  </a:moveTo>
                  <a:cubicBezTo>
                    <a:pt x="17711" y="14250"/>
                    <a:pt x="13823" y="21600"/>
                    <a:pt x="10236" y="20400"/>
                  </a:cubicBezTo>
                  <a:cubicBezTo>
                    <a:pt x="6648" y="19200"/>
                    <a:pt x="3311" y="9600"/>
                    <a:pt x="0" y="0"/>
                  </a:cubicBezTo>
                </a:path>
              </a:pathLst>
            </a:custGeom>
            <a:noFill/>
            <a:ln w="25400" cap="sq">
              <a:solidFill>
                <a:srgbClr val="8000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82" name="Shape 1580"/>
            <p:cNvSpPr/>
            <p:nvPr/>
          </p:nvSpPr>
          <p:spPr>
            <a:xfrm flipH="1" rot="14280000">
              <a:off x="361464" y="1622539"/>
              <a:ext cx="1332092" cy="1931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529" fill="norm" stroke="1" extrusionOk="0">
                  <a:moveTo>
                    <a:pt x="21600" y="6900"/>
                  </a:moveTo>
                  <a:cubicBezTo>
                    <a:pt x="17711" y="14250"/>
                    <a:pt x="13823" y="21600"/>
                    <a:pt x="10236" y="20400"/>
                  </a:cubicBezTo>
                  <a:cubicBezTo>
                    <a:pt x="6648" y="19200"/>
                    <a:pt x="3311" y="9600"/>
                    <a:pt x="0" y="0"/>
                  </a:cubicBezTo>
                </a:path>
              </a:pathLst>
            </a:custGeom>
            <a:noFill/>
            <a:ln w="25400" cap="sq">
              <a:solidFill>
                <a:srgbClr val="8000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83" name="Shape 1581"/>
            <p:cNvSpPr/>
            <p:nvPr/>
          </p:nvSpPr>
          <p:spPr>
            <a:xfrm flipH="1" rot="3300000">
              <a:off x="57157" y="1792804"/>
              <a:ext cx="1332091" cy="1931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529" fill="norm" stroke="1" extrusionOk="0">
                  <a:moveTo>
                    <a:pt x="21600" y="6900"/>
                  </a:moveTo>
                  <a:cubicBezTo>
                    <a:pt x="17711" y="14250"/>
                    <a:pt x="13823" y="21600"/>
                    <a:pt x="10236" y="20400"/>
                  </a:cubicBezTo>
                  <a:cubicBezTo>
                    <a:pt x="6648" y="19200"/>
                    <a:pt x="3311" y="9600"/>
                    <a:pt x="0" y="0"/>
                  </a:cubicBezTo>
                </a:path>
              </a:pathLst>
            </a:custGeom>
            <a:noFill/>
            <a:ln w="25400" cap="sq">
              <a:solidFill>
                <a:srgbClr val="8000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84" name="Shape 1582"/>
            <p:cNvSpPr/>
            <p:nvPr/>
          </p:nvSpPr>
          <p:spPr>
            <a:xfrm flipH="1" rot="18540000">
              <a:off x="1635432" y="1811054"/>
              <a:ext cx="1433691" cy="1931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529" fill="norm" stroke="1" extrusionOk="0">
                  <a:moveTo>
                    <a:pt x="21600" y="6900"/>
                  </a:moveTo>
                  <a:cubicBezTo>
                    <a:pt x="17711" y="14250"/>
                    <a:pt x="13823" y="21600"/>
                    <a:pt x="10236" y="20400"/>
                  </a:cubicBezTo>
                  <a:cubicBezTo>
                    <a:pt x="6648" y="19200"/>
                    <a:pt x="3311" y="9600"/>
                    <a:pt x="0" y="0"/>
                  </a:cubicBezTo>
                </a:path>
              </a:pathLst>
            </a:custGeom>
            <a:noFill/>
            <a:ln w="25400" cap="sq">
              <a:solidFill>
                <a:srgbClr val="8000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85" name="Shape 1583"/>
            <p:cNvSpPr txBox="1"/>
            <p:nvPr/>
          </p:nvSpPr>
          <p:spPr>
            <a:xfrm>
              <a:off x="1086273" y="1406595"/>
              <a:ext cx="538961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11</a:t>
              </a:r>
            </a:p>
          </p:txBody>
        </p:sp>
      </p:grpSp>
      <p:sp>
        <p:nvSpPr>
          <p:cNvPr id="687" name="求无负权环的有向图G(权值可以为负)的每对顶点之间的最短路径："/>
          <p:cNvSpPr txBox="1"/>
          <p:nvPr/>
        </p:nvSpPr>
        <p:spPr>
          <a:xfrm>
            <a:off x="195456" y="1554176"/>
            <a:ext cx="11368998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求</a:t>
            </a:r>
            <a:r>
              <a:rPr>
                <a:solidFill>
                  <a:schemeClr val="accent1"/>
                </a:solidFill>
              </a:rPr>
              <a:t>无负权环</a:t>
            </a:r>
            <a:r>
              <a:t>的有向图G(</a:t>
            </a:r>
            <a:r>
              <a:rPr>
                <a:solidFill>
                  <a:schemeClr val="accent1"/>
                </a:solidFill>
              </a:rPr>
              <a:t>权值可以为负</a:t>
            </a:r>
            <a:r>
              <a:t>)的每对顶点之间的最短路径：</a:t>
            </a:r>
          </a:p>
        </p:txBody>
      </p:sp>
      <p:sp>
        <p:nvSpPr>
          <p:cNvPr id="688" name="𝜹(1, 1)、𝜹(1, 2)、𝜹(1, 3)…"/>
          <p:cNvSpPr txBox="1"/>
          <p:nvPr/>
        </p:nvSpPr>
        <p:spPr>
          <a:xfrm>
            <a:off x="1610279" y="2488823"/>
            <a:ext cx="3896366" cy="20472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20000"/>
              </a:lnSpc>
              <a:defRPr sz="2900"/>
            </a:pPr>
            <a:r>
              <a:t>𝜹(1, 1)、𝜹(1, 2)、𝜹(1, 3)</a:t>
            </a:r>
          </a:p>
          <a:p>
            <a:pPr>
              <a:lnSpc>
                <a:spcPct val="120000"/>
              </a:lnSpc>
              <a:defRPr sz="2900"/>
            </a:pPr>
            <a:r>
              <a:t>𝜹(2, 1)、𝜹(2, 2)、𝜹(2, 3)</a:t>
            </a:r>
          </a:p>
          <a:p>
            <a:pPr>
              <a:lnSpc>
                <a:spcPct val="120000"/>
              </a:lnSpc>
              <a:defRPr sz="2900"/>
            </a:pPr>
            <a:r>
              <a:t>𝜹(3, 1)、𝜹(3, 2)、𝜹(3, 3)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Shape 1391"/>
          <p:cNvSpPr txBox="1"/>
          <p:nvPr/>
        </p:nvSpPr>
        <p:spPr>
          <a:xfrm>
            <a:off x="1731433" y="171644"/>
            <a:ext cx="9537702" cy="931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marR="57798" algn="ctr" defTabSz="1295400">
              <a:lnSpc>
                <a:spcPct val="115000"/>
              </a:lnSpc>
              <a:defRPr sz="45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Floyd-Warshall算法</a:t>
            </a:r>
          </a:p>
        </p:txBody>
      </p:sp>
      <p:sp>
        <p:nvSpPr>
          <p:cNvPr id="691" name="将有向带权图的顶点任意编号为: 1、2、...、n"/>
          <p:cNvSpPr txBox="1"/>
          <p:nvPr/>
        </p:nvSpPr>
        <p:spPr>
          <a:xfrm>
            <a:off x="212692" y="1597760"/>
            <a:ext cx="7707454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将有向带权图的顶点任意编号为: 1、2、...、n</a:t>
            </a:r>
          </a:p>
        </p:txBody>
      </p:sp>
      <p:sp>
        <p:nvSpPr>
          <p:cNvPr id="692" name="设pij=≺vi, vi1, vi2, ... , vik..., vj≻为从顶点vi到顶点vj的最短路径…"/>
          <p:cNvSpPr txBox="1"/>
          <p:nvPr/>
        </p:nvSpPr>
        <p:spPr>
          <a:xfrm>
            <a:off x="946929" y="2397215"/>
            <a:ext cx="10973947" cy="2680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20000"/>
              </a:lnSpc>
            </a:pPr>
            <a:r>
              <a:t>设</a:t>
            </a:r>
            <a:r>
              <a:rPr i="1"/>
              <a:t>p</a:t>
            </a:r>
            <a:r>
              <a:rPr baseline="-5999"/>
              <a:t>ij</a:t>
            </a:r>
            <a:r>
              <a:t>=≺v</a:t>
            </a:r>
            <a:r>
              <a:rPr baseline="-5999"/>
              <a:t>i</a:t>
            </a:r>
            <a:r>
              <a:t>, v</a:t>
            </a:r>
            <a:r>
              <a:rPr baseline="-5999"/>
              <a:t>i1</a:t>
            </a:r>
            <a:r>
              <a:t>, v</a:t>
            </a:r>
            <a:r>
              <a:rPr baseline="-5999"/>
              <a:t>i2</a:t>
            </a:r>
            <a:r>
              <a:t>, ... , v</a:t>
            </a:r>
            <a:r>
              <a:rPr baseline="-5999"/>
              <a:t>ik</a:t>
            </a:r>
            <a:r>
              <a:t>..., v</a:t>
            </a:r>
            <a:r>
              <a:rPr baseline="-5999"/>
              <a:t>j</a:t>
            </a:r>
            <a:r>
              <a:t>≻为从顶点v</a:t>
            </a:r>
            <a:r>
              <a:rPr baseline="-5999"/>
              <a:t>i</a:t>
            </a:r>
            <a:r>
              <a:t>到顶点v</a:t>
            </a:r>
            <a:r>
              <a:rPr baseline="-5999"/>
              <a:t>j</a:t>
            </a:r>
            <a:r>
              <a:t>的最短路径</a:t>
            </a:r>
          </a:p>
          <a:p>
            <a:pPr>
              <a:lnSpc>
                <a:spcPct val="120000"/>
              </a:lnSpc>
            </a:pPr>
            <a:r>
              <a:t>设k是中间顶点(除i和j)中的最大编号，</a:t>
            </a:r>
            <a:r>
              <a:rPr>
                <a:solidFill>
                  <a:schemeClr val="accent1"/>
                </a:solidFill>
              </a:rPr>
              <a:t>则</a:t>
            </a:r>
            <a:r>
              <a:rPr i="1">
                <a:solidFill>
                  <a:schemeClr val="accent1"/>
                </a:solidFill>
              </a:rPr>
              <a:t>p</a:t>
            </a:r>
            <a:r>
              <a:rPr baseline="-5999">
                <a:solidFill>
                  <a:schemeClr val="accent1"/>
                </a:solidFill>
              </a:rPr>
              <a:t>ij</a:t>
            </a:r>
            <a:r>
              <a:rPr>
                <a:solidFill>
                  <a:schemeClr val="accent1"/>
                </a:solidFill>
              </a:rPr>
              <a:t>可以改写为 </a:t>
            </a:r>
            <a:r>
              <a:rPr i="1">
                <a:solidFill>
                  <a:schemeClr val="accent1"/>
                </a:solidFill>
              </a:rPr>
              <a:t>p</a:t>
            </a:r>
            <a:r>
              <a:rPr baseline="-5999">
                <a:solidFill>
                  <a:schemeClr val="accent1"/>
                </a:solidFill>
              </a:rPr>
              <a:t>ik</a:t>
            </a:r>
            <a:r>
              <a:rPr i="1">
                <a:solidFill>
                  <a:schemeClr val="accent1"/>
                </a:solidFill>
              </a:rPr>
              <a:t>p</a:t>
            </a:r>
            <a:r>
              <a:rPr baseline="-5999">
                <a:solidFill>
                  <a:schemeClr val="accent1"/>
                </a:solidFill>
              </a:rPr>
              <a:t>kj</a:t>
            </a:r>
          </a:p>
          <a:p>
            <a:pPr>
              <a:lnSpc>
                <a:spcPct val="120000"/>
              </a:lnSpc>
            </a:pPr>
            <a:r>
              <a:t>由于最短路径具有最优子结构的性质，所以𝜹(i, j) = 𝜹(i, k) + 𝜹(k, j)</a:t>
            </a:r>
            <a:endParaRPr baseline="-5999"/>
          </a:p>
          <a:p>
            <a:pPr>
              <a:lnSpc>
                <a:spcPct val="120000"/>
              </a:lnSpc>
            </a:pPr>
            <a:r>
              <a:rPr>
                <a:solidFill>
                  <a:schemeClr val="accent1"/>
                </a:solidFill>
              </a:rPr>
              <a:t>同理，可以改写</a:t>
            </a:r>
            <a:r>
              <a:rPr i="1">
                <a:solidFill>
                  <a:schemeClr val="accent1"/>
                </a:solidFill>
              </a:rPr>
              <a:t>p</a:t>
            </a:r>
            <a:r>
              <a:rPr baseline="-5999">
                <a:solidFill>
                  <a:schemeClr val="accent1"/>
                </a:solidFill>
              </a:rPr>
              <a:t>ik</a:t>
            </a:r>
            <a:r>
              <a:rPr>
                <a:solidFill>
                  <a:schemeClr val="accent1"/>
                </a:solidFill>
              </a:rPr>
              <a:t>和</a:t>
            </a:r>
            <a:r>
              <a:rPr i="1">
                <a:solidFill>
                  <a:schemeClr val="accent1"/>
                </a:solidFill>
              </a:rPr>
              <a:t>p</a:t>
            </a:r>
            <a:r>
              <a:rPr baseline="-5999">
                <a:solidFill>
                  <a:schemeClr val="accent1"/>
                </a:solidFill>
              </a:rPr>
              <a:t>kj </a:t>
            </a:r>
            <a:r>
              <a:rPr>
                <a:solidFill>
                  <a:schemeClr val="accent1"/>
                </a:solidFill>
              </a:rPr>
              <a:t>...</a:t>
            </a:r>
            <a:r>
              <a:t>。</a:t>
            </a:r>
          </a:p>
        </p:txBody>
      </p:sp>
      <p:grpSp>
        <p:nvGrpSpPr>
          <p:cNvPr id="695" name="成组"/>
          <p:cNvGrpSpPr/>
          <p:nvPr/>
        </p:nvGrpSpPr>
        <p:grpSpPr>
          <a:xfrm>
            <a:off x="3421660" y="5414079"/>
            <a:ext cx="819577" cy="819577"/>
            <a:chOff x="0" y="0"/>
            <a:chExt cx="819576" cy="819576"/>
          </a:xfrm>
        </p:grpSpPr>
        <p:sp>
          <p:nvSpPr>
            <p:cNvPr id="693" name="Shape 1537"/>
            <p:cNvSpPr/>
            <p:nvPr/>
          </p:nvSpPr>
          <p:spPr>
            <a:xfrm>
              <a:off x="0" y="0"/>
              <a:ext cx="819577" cy="819577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94" name="Shape 1538"/>
            <p:cNvSpPr txBox="1"/>
            <p:nvPr/>
          </p:nvSpPr>
          <p:spPr>
            <a:xfrm>
              <a:off x="157719" y="174085"/>
              <a:ext cx="498489" cy="4640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/>
            <a:p>
              <a:pPr marR="56816" indent="56816" algn="ctr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  <a:r>
                <a:t>V</a:t>
              </a:r>
              <a:r>
                <a:rPr baseline="-25000"/>
                <a:t>i</a:t>
              </a:r>
              <a:r>
                <a:t> </a:t>
              </a:r>
            </a:p>
          </p:txBody>
        </p:sp>
      </p:grpSp>
      <p:grpSp>
        <p:nvGrpSpPr>
          <p:cNvPr id="698" name="成组"/>
          <p:cNvGrpSpPr/>
          <p:nvPr/>
        </p:nvGrpSpPr>
        <p:grpSpPr>
          <a:xfrm>
            <a:off x="8591408" y="5460646"/>
            <a:ext cx="819577" cy="819577"/>
            <a:chOff x="0" y="0"/>
            <a:chExt cx="819576" cy="819576"/>
          </a:xfrm>
        </p:grpSpPr>
        <p:sp>
          <p:nvSpPr>
            <p:cNvPr id="696" name="Shape 1540"/>
            <p:cNvSpPr/>
            <p:nvPr/>
          </p:nvSpPr>
          <p:spPr>
            <a:xfrm>
              <a:off x="0" y="0"/>
              <a:ext cx="819577" cy="819577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97" name="Shape 1541"/>
            <p:cNvSpPr txBox="1"/>
            <p:nvPr/>
          </p:nvSpPr>
          <p:spPr>
            <a:xfrm>
              <a:off x="160542" y="177190"/>
              <a:ext cx="498489" cy="4640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/>
            <a:p>
              <a:pPr marR="56816" indent="56816" algn="ctr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  <a:r>
                <a:t>V</a:t>
              </a:r>
              <a:r>
                <a:rPr baseline="-25000"/>
                <a:t>j</a:t>
              </a:r>
              <a:r>
                <a:t> </a:t>
              </a:r>
            </a:p>
          </p:txBody>
        </p:sp>
      </p:grpSp>
      <p:grpSp>
        <p:nvGrpSpPr>
          <p:cNvPr id="701" name="成组"/>
          <p:cNvGrpSpPr/>
          <p:nvPr/>
        </p:nvGrpSpPr>
        <p:grpSpPr>
          <a:xfrm>
            <a:off x="6031086" y="5460646"/>
            <a:ext cx="819577" cy="819577"/>
            <a:chOff x="0" y="0"/>
            <a:chExt cx="819576" cy="819576"/>
          </a:xfrm>
        </p:grpSpPr>
        <p:sp>
          <p:nvSpPr>
            <p:cNvPr id="699" name="Shape 1543"/>
            <p:cNvSpPr/>
            <p:nvPr/>
          </p:nvSpPr>
          <p:spPr>
            <a:xfrm>
              <a:off x="0" y="0"/>
              <a:ext cx="819577" cy="819577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00" name="Shape 1544"/>
            <p:cNvSpPr txBox="1"/>
            <p:nvPr/>
          </p:nvSpPr>
          <p:spPr>
            <a:xfrm>
              <a:off x="137969" y="177190"/>
              <a:ext cx="543634" cy="4640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/>
            <a:p>
              <a:pPr marR="56816" indent="56816" algn="ctr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  <a:r>
                <a:t>V</a:t>
              </a:r>
              <a:r>
                <a:rPr baseline="-25000"/>
                <a:t>k</a:t>
              </a:r>
              <a:r>
                <a:t> </a:t>
              </a:r>
            </a:p>
          </p:txBody>
        </p:sp>
      </p:grpSp>
      <p:sp>
        <p:nvSpPr>
          <p:cNvPr id="702" name="Shape 1547"/>
          <p:cNvSpPr/>
          <p:nvPr/>
        </p:nvSpPr>
        <p:spPr>
          <a:xfrm>
            <a:off x="4242926" y="5571277"/>
            <a:ext cx="1785440" cy="3025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282" fill="norm" stroke="1" extrusionOk="0">
                <a:moveTo>
                  <a:pt x="0" y="21282"/>
                </a:moveTo>
                <a:cubicBezTo>
                  <a:pt x="763" y="16994"/>
                  <a:pt x="1444" y="16518"/>
                  <a:pt x="2370" y="13818"/>
                </a:cubicBezTo>
                <a:cubicBezTo>
                  <a:pt x="2642" y="9053"/>
                  <a:pt x="3568" y="4129"/>
                  <a:pt x="4304" y="1271"/>
                </a:cubicBezTo>
                <a:cubicBezTo>
                  <a:pt x="5720" y="6988"/>
                  <a:pt x="4930" y="16200"/>
                  <a:pt x="6864" y="20171"/>
                </a:cubicBezTo>
                <a:cubicBezTo>
                  <a:pt x="7736" y="18424"/>
                  <a:pt x="8417" y="15088"/>
                  <a:pt x="9234" y="12547"/>
                </a:cubicBezTo>
                <a:cubicBezTo>
                  <a:pt x="9697" y="8576"/>
                  <a:pt x="10705" y="2700"/>
                  <a:pt x="11386" y="0"/>
                </a:cubicBezTo>
                <a:cubicBezTo>
                  <a:pt x="12339" y="3653"/>
                  <a:pt x="12829" y="9053"/>
                  <a:pt x="13755" y="12547"/>
                </a:cubicBezTo>
                <a:cubicBezTo>
                  <a:pt x="13892" y="13818"/>
                  <a:pt x="14001" y="15406"/>
                  <a:pt x="14191" y="16359"/>
                </a:cubicBezTo>
                <a:cubicBezTo>
                  <a:pt x="15281" y="21600"/>
                  <a:pt x="15744" y="9688"/>
                  <a:pt x="16125" y="6353"/>
                </a:cubicBezTo>
                <a:cubicBezTo>
                  <a:pt x="16479" y="3176"/>
                  <a:pt x="16888" y="2065"/>
                  <a:pt x="17405" y="0"/>
                </a:cubicBezTo>
                <a:cubicBezTo>
                  <a:pt x="17896" y="476"/>
                  <a:pt x="18413" y="635"/>
                  <a:pt x="18903" y="1271"/>
                </a:cubicBezTo>
                <a:cubicBezTo>
                  <a:pt x="19339" y="1906"/>
                  <a:pt x="20211" y="3812"/>
                  <a:pt x="20211" y="3812"/>
                </a:cubicBezTo>
                <a:cubicBezTo>
                  <a:pt x="20810" y="6194"/>
                  <a:pt x="20919" y="6035"/>
                  <a:pt x="21273" y="10006"/>
                </a:cubicBezTo>
                <a:cubicBezTo>
                  <a:pt x="21382" y="11276"/>
                  <a:pt x="21328" y="12865"/>
                  <a:pt x="21491" y="13818"/>
                </a:cubicBezTo>
                <a:cubicBezTo>
                  <a:pt x="21600" y="14453"/>
                  <a:pt x="21491" y="12071"/>
                  <a:pt x="21491" y="11276"/>
                </a:cubicBezTo>
              </a:path>
            </a:pathLst>
          </a:custGeom>
          <a:ln w="25400">
            <a:solidFill>
              <a:srgbClr val="000000"/>
            </a:solidFill>
            <a:tailEnd type="stealth"/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703" name="Shape 1548"/>
          <p:cNvSpPr/>
          <p:nvPr/>
        </p:nvSpPr>
        <p:spPr>
          <a:xfrm>
            <a:off x="6843886" y="5553215"/>
            <a:ext cx="1745266" cy="3747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cubicBezTo>
                  <a:pt x="2403" y="14964"/>
                  <a:pt x="1397" y="16786"/>
                  <a:pt x="2878" y="14443"/>
                </a:cubicBezTo>
                <a:cubicBezTo>
                  <a:pt x="3465" y="10149"/>
                  <a:pt x="3633" y="5725"/>
                  <a:pt x="3968" y="1041"/>
                </a:cubicBezTo>
                <a:cubicBezTo>
                  <a:pt x="5561" y="3513"/>
                  <a:pt x="5477" y="4684"/>
                  <a:pt x="6846" y="9239"/>
                </a:cubicBezTo>
                <a:cubicBezTo>
                  <a:pt x="7098" y="13402"/>
                  <a:pt x="7377" y="15094"/>
                  <a:pt x="8159" y="17566"/>
                </a:cubicBezTo>
                <a:cubicBezTo>
                  <a:pt x="9109" y="14183"/>
                  <a:pt x="10087" y="9889"/>
                  <a:pt x="11233" y="8328"/>
                </a:cubicBezTo>
                <a:cubicBezTo>
                  <a:pt x="11988" y="5725"/>
                  <a:pt x="12351" y="2472"/>
                  <a:pt x="13217" y="1041"/>
                </a:cubicBezTo>
                <a:cubicBezTo>
                  <a:pt x="13916" y="4294"/>
                  <a:pt x="14530" y="5075"/>
                  <a:pt x="15201" y="8328"/>
                </a:cubicBezTo>
                <a:cubicBezTo>
                  <a:pt x="15285" y="9369"/>
                  <a:pt x="15257" y="10540"/>
                  <a:pt x="15425" y="11320"/>
                </a:cubicBezTo>
                <a:cubicBezTo>
                  <a:pt x="16319" y="15354"/>
                  <a:pt x="16291" y="8198"/>
                  <a:pt x="16766" y="6246"/>
                </a:cubicBezTo>
                <a:cubicBezTo>
                  <a:pt x="17157" y="4684"/>
                  <a:pt x="17632" y="3513"/>
                  <a:pt x="18079" y="2082"/>
                </a:cubicBezTo>
                <a:cubicBezTo>
                  <a:pt x="18470" y="911"/>
                  <a:pt x="19392" y="0"/>
                  <a:pt x="19392" y="0"/>
                </a:cubicBezTo>
                <a:cubicBezTo>
                  <a:pt x="19616" y="390"/>
                  <a:pt x="19868" y="390"/>
                  <a:pt x="20063" y="1041"/>
                </a:cubicBezTo>
                <a:cubicBezTo>
                  <a:pt x="20510" y="2733"/>
                  <a:pt x="20734" y="11320"/>
                  <a:pt x="21600" y="7287"/>
                </a:cubicBezTo>
              </a:path>
            </a:pathLst>
          </a:custGeom>
          <a:ln w="25400">
            <a:solidFill>
              <a:srgbClr val="000000"/>
            </a:solidFill>
            <a:tailEnd type="stealth"/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800">
                <a:uFill>
                  <a:solidFill>
                    <a:srgbClr val="000000"/>
                  </a:solidFill>
                </a:u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xit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xit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702" grpId="1"/>
      <p:bldP build="whole" bldLvl="1" animBg="1" rev="0" advAuto="0" spid="703" grpId="2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Shape 1391"/>
          <p:cNvSpPr txBox="1"/>
          <p:nvPr/>
        </p:nvSpPr>
        <p:spPr>
          <a:xfrm>
            <a:off x="1731433" y="171644"/>
            <a:ext cx="9537702" cy="931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marR="57798" algn="ctr" defTabSz="1295400">
              <a:lnSpc>
                <a:spcPct val="115000"/>
              </a:lnSpc>
              <a:defRPr sz="45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Floyd-Warshall算法</a:t>
            </a:r>
          </a:p>
        </p:txBody>
      </p:sp>
      <p:sp>
        <p:nvSpPr>
          <p:cNvPr id="706" name="这提示我们可以按这样的次序计算子问题:…"/>
          <p:cNvSpPr txBox="1"/>
          <p:nvPr/>
        </p:nvSpPr>
        <p:spPr>
          <a:xfrm>
            <a:off x="1666456" y="1637640"/>
            <a:ext cx="7135954" cy="3118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20000"/>
              </a:lnSpc>
            </a:pPr>
            <a:r>
              <a:t>这提示我们可以按这样的次序计算子问题:</a:t>
            </a:r>
          </a:p>
          <a:p>
            <a:pPr lvl="2" marL="1062789" indent="-300789">
              <a:lnSpc>
                <a:spcPct val="120000"/>
              </a:lnSpc>
              <a:buSzPct val="60000"/>
              <a:buBlip>
                <a:blip r:embed="rId2"/>
              </a:buBlip>
            </a:pPr>
            <a:r>
              <a:t>中间顶点最大编号1的最短路径</a:t>
            </a:r>
          </a:p>
          <a:p>
            <a:pPr lvl="2" marL="1062789" indent="-300789">
              <a:lnSpc>
                <a:spcPct val="120000"/>
              </a:lnSpc>
              <a:buSzPct val="60000"/>
              <a:buBlip>
                <a:blip r:embed="rId2"/>
              </a:buBlip>
            </a:pPr>
            <a:r>
              <a:t>中间顶点最大编号2的最短路径</a:t>
            </a:r>
          </a:p>
          <a:p>
            <a:pPr lvl="2" marL="1062789" indent="-300789">
              <a:lnSpc>
                <a:spcPct val="120000"/>
              </a:lnSpc>
              <a:buSzPct val="60000"/>
              <a:buBlip>
                <a:blip r:embed="rId2"/>
              </a:buBlip>
            </a:pPr>
            <a:r>
              <a:t>...</a:t>
            </a:r>
          </a:p>
          <a:p>
            <a:pPr lvl="2" marL="1062789" indent="-300789">
              <a:lnSpc>
                <a:spcPct val="120000"/>
              </a:lnSpc>
              <a:buSzPct val="60000"/>
              <a:buBlip>
                <a:blip r:embed="rId2"/>
              </a:buBlip>
            </a:pPr>
            <a:r>
              <a:t>中间顶点最大编号n的最短路径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Shape 1503"/>
          <p:cNvSpPr txBox="1"/>
          <p:nvPr/>
        </p:nvSpPr>
        <p:spPr>
          <a:xfrm>
            <a:off x="666307" y="2575609"/>
            <a:ext cx="2879930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lnSpc>
                <a:spcPct val="120000"/>
              </a:lnSpc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1、初始化：</a:t>
            </a:r>
          </a:p>
        </p:txBody>
      </p:sp>
      <p:sp>
        <p:nvSpPr>
          <p:cNvPr id="709" name="Shape 1505"/>
          <p:cNvSpPr txBox="1"/>
          <p:nvPr/>
        </p:nvSpPr>
        <p:spPr>
          <a:xfrm>
            <a:off x="643116" y="3679154"/>
            <a:ext cx="8497470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lnSpc>
                <a:spcPct val="150000"/>
              </a:lnSpc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2、求出           后，求</a:t>
            </a:r>
          </a:p>
        </p:txBody>
      </p:sp>
      <p:sp>
        <p:nvSpPr>
          <p:cNvPr id="710" name=":顶点i和顶点j之间，中间顶点最大编号为k的最短路径"/>
          <p:cNvSpPr txBox="1"/>
          <p:nvPr/>
        </p:nvSpPr>
        <p:spPr>
          <a:xfrm>
            <a:off x="1027906" y="1610666"/>
            <a:ext cx="9062162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:顶点i和顶点j之间，中间顶点最大编号为k的最短路径</a:t>
            </a:r>
          </a:p>
        </p:txBody>
      </p:sp>
      <p:sp>
        <p:nvSpPr>
          <p:cNvPr id="711" name="Shape 1503"/>
          <p:cNvSpPr txBox="1"/>
          <p:nvPr/>
        </p:nvSpPr>
        <p:spPr>
          <a:xfrm>
            <a:off x="3565289" y="2575436"/>
            <a:ext cx="2879930" cy="63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R="57798" defTabSz="1295400">
              <a:lnSpc>
                <a:spcPct val="120000"/>
              </a:lnSpc>
              <a:spcBef>
                <a:spcPts val="1900"/>
              </a:spcBef>
              <a:defRPr sz="3800">
                <a:uFill>
                  <a:solidFill>
                    <a:srgbClr val="000000"/>
                  </a:solidFill>
                </a:uFill>
              </a:defRPr>
            </a:pPr>
            <a:r>
              <a:t>= </a:t>
            </a:r>
            <a:r>
              <a:rPr i="1"/>
              <a:t>w</a:t>
            </a:r>
            <a:r>
              <a:t>(i, j)</a:t>
            </a:r>
          </a:p>
        </p:txBody>
      </p:sp>
      <p:sp>
        <p:nvSpPr>
          <p:cNvPr id="712" name="Shape 1553"/>
          <p:cNvSpPr txBox="1"/>
          <p:nvPr/>
        </p:nvSpPr>
        <p:spPr>
          <a:xfrm>
            <a:off x="2639722" y="4614713"/>
            <a:ext cx="8659018" cy="7742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R="57798" defTabSz="1295400">
              <a:spcBef>
                <a:spcPts val="1900"/>
              </a:spcBef>
              <a:defRPr sz="4800">
                <a:uFill>
                  <a:solidFill>
                    <a:srgbClr val="000000"/>
                  </a:solidFill>
                </a:uFill>
              </a:defRPr>
            </a:pPr>
            <a:r>
              <a:t>= min(</a:t>
            </a:r>
            <a:r>
              <a:rPr sz="2400"/>
              <a:t>      </a:t>
            </a:r>
            <a:r>
              <a:t>      ,                        )</a:t>
            </a:r>
          </a:p>
        </p:txBody>
      </p:sp>
      <p:sp>
        <p:nvSpPr>
          <p:cNvPr id="713" name="Shape 1556"/>
          <p:cNvSpPr txBox="1"/>
          <p:nvPr/>
        </p:nvSpPr>
        <p:spPr>
          <a:xfrm>
            <a:off x="7651229" y="4550869"/>
            <a:ext cx="774702" cy="7742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4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+</a:t>
            </a:r>
          </a:p>
        </p:txBody>
      </p:sp>
      <p:pic>
        <p:nvPicPr>
          <p:cNvPr id="714" name="图像" descr="图像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92009" y="4492035"/>
            <a:ext cx="756559" cy="766574"/>
          </a:xfrm>
          <a:prstGeom prst="rect">
            <a:avLst/>
          </a:prstGeom>
          <a:ln w="12700">
            <a:miter lim="400000"/>
          </a:ln>
        </p:spPr>
      </p:pic>
      <p:sp>
        <p:nvSpPr>
          <p:cNvPr id="715" name="Shape 1560"/>
          <p:cNvSpPr txBox="1"/>
          <p:nvPr/>
        </p:nvSpPr>
        <p:spPr>
          <a:xfrm>
            <a:off x="700119" y="5794809"/>
            <a:ext cx="12114802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/>
            <a:r>
              <a:t>3、当k=n时，       就是i和j之间的最短路径</a:t>
            </a:r>
          </a:p>
        </p:txBody>
      </p:sp>
      <p:sp>
        <p:nvSpPr>
          <p:cNvPr id="716" name="Shape 1391"/>
          <p:cNvSpPr txBox="1"/>
          <p:nvPr/>
        </p:nvSpPr>
        <p:spPr>
          <a:xfrm>
            <a:off x="1731433" y="171644"/>
            <a:ext cx="9537702" cy="931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marR="57798" algn="ctr" defTabSz="1295400">
              <a:lnSpc>
                <a:spcPct val="115000"/>
              </a:lnSpc>
              <a:defRPr sz="45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Floyd-Warshall算法</a:t>
            </a:r>
          </a:p>
        </p:txBody>
      </p:sp>
      <p:sp>
        <p:nvSpPr>
          <p:cNvPr id="717" name="文本"/>
          <p:cNvSpPr txBox="1"/>
          <p:nvPr/>
        </p:nvSpPr>
        <p:spPr>
          <a:xfrm>
            <a:off x="6438900" y="4550869"/>
            <a:ext cx="127000" cy="375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R="673100" indent="0" algn="just" defTabSz="266700">
              <a:defRPr sz="1050"/>
            </a:pPr>
          </a:p>
        </p:txBody>
      </p:sp>
      <p:pic>
        <p:nvPicPr>
          <p:cNvPr id="718" name="MathTypeImage.pdf" descr="MathTypeImage.pdf"/>
          <p:cNvPicPr>
            <a:picLocks noChangeAspect="0"/>
          </p:cNvPicPr>
          <p:nvPr/>
        </p:nvPicPr>
        <p:blipFill>
          <a:blip r:embed="rId3">
            <a:extLst/>
          </a:blip>
          <a:srcRect l="0" t="5035" r="0" b="5035"/>
          <a:stretch>
            <a:fillRect/>
          </a:stretch>
        </p:blipFill>
        <p:spPr>
          <a:xfrm>
            <a:off x="3030410" y="5648758"/>
            <a:ext cx="756559" cy="762002"/>
          </a:xfrm>
          <a:prstGeom prst="rect">
            <a:avLst/>
          </a:prstGeom>
          <a:ln w="12700">
            <a:miter lim="400000"/>
          </a:ln>
        </p:spPr>
      </p:pic>
      <p:pic>
        <p:nvPicPr>
          <p:cNvPr id="719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01500" y="1512054"/>
            <a:ext cx="680360" cy="762002"/>
          </a:xfrm>
          <a:prstGeom prst="rect">
            <a:avLst/>
          </a:prstGeom>
          <a:ln w="12700">
            <a:miter lim="400000"/>
          </a:ln>
        </p:spPr>
      </p:pic>
      <p:pic>
        <p:nvPicPr>
          <p:cNvPr id="720" name="图像" descr="图像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892878" y="2354441"/>
            <a:ext cx="740771" cy="829663"/>
          </a:xfrm>
          <a:prstGeom prst="rect">
            <a:avLst/>
          </a:prstGeom>
          <a:ln w="12700">
            <a:miter lim="400000"/>
          </a:ln>
        </p:spPr>
      </p:pic>
      <p:pic>
        <p:nvPicPr>
          <p:cNvPr id="721" name="图像" descr="图像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312520" y="3464224"/>
            <a:ext cx="948186" cy="829663"/>
          </a:xfrm>
          <a:prstGeom prst="rect">
            <a:avLst/>
          </a:prstGeom>
          <a:ln w="12700">
            <a:miter lim="400000"/>
          </a:ln>
        </p:spPr>
      </p:pic>
      <p:pic>
        <p:nvPicPr>
          <p:cNvPr id="722" name="图像" descr="图像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617901" y="3521763"/>
            <a:ext cx="756559" cy="762002"/>
          </a:xfrm>
          <a:prstGeom prst="rect">
            <a:avLst/>
          </a:prstGeom>
          <a:ln w="12700">
            <a:miter lim="400000"/>
          </a:ln>
        </p:spPr>
      </p:pic>
      <p:pic>
        <p:nvPicPr>
          <p:cNvPr id="723" name="MathTypeImage.pdf" descr="MathTypeImage.pdf"/>
          <p:cNvPicPr>
            <a:picLocks noChangeAspect="0"/>
          </p:cNvPicPr>
          <p:nvPr/>
        </p:nvPicPr>
        <p:blipFill>
          <a:blip r:embed="rId6">
            <a:extLst/>
          </a:blip>
          <a:srcRect l="0" t="0" r="0" b="0"/>
          <a:stretch>
            <a:fillRect/>
          </a:stretch>
        </p:blipFill>
        <p:spPr>
          <a:xfrm>
            <a:off x="6366437" y="4492035"/>
            <a:ext cx="876084" cy="711818"/>
          </a:xfrm>
          <a:prstGeom prst="rect">
            <a:avLst/>
          </a:prstGeom>
          <a:ln w="12700">
            <a:miter lim="400000"/>
          </a:ln>
        </p:spPr>
      </p:pic>
      <p:pic>
        <p:nvPicPr>
          <p:cNvPr id="724" name="图像" descr="图像"/>
          <p:cNvPicPr>
            <a:picLocks noChangeAspect="0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8665029" y="4492035"/>
            <a:ext cx="756559" cy="766574"/>
          </a:xfrm>
          <a:prstGeom prst="rect">
            <a:avLst/>
          </a:prstGeom>
          <a:ln w="12700">
            <a:miter lim="400000"/>
          </a:ln>
        </p:spPr>
      </p:pic>
      <p:pic>
        <p:nvPicPr>
          <p:cNvPr id="725" name="图像" descr="图像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4725806" y="4492035"/>
            <a:ext cx="948185" cy="82966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Shape 1511"/>
          <p:cNvSpPr txBox="1"/>
          <p:nvPr/>
        </p:nvSpPr>
        <p:spPr>
          <a:xfrm>
            <a:off x="9245386" y="2325946"/>
            <a:ext cx="807715" cy="5217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/>
          <a:lstStyle>
            <a:lvl1pPr marR="57798" defTabSz="1295400">
              <a:spcBef>
                <a:spcPts val="1900"/>
              </a:spcBef>
              <a:defRPr sz="35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=</a:t>
            </a:r>
          </a:p>
        </p:txBody>
      </p:sp>
      <p:sp>
        <p:nvSpPr>
          <p:cNvPr id="728" name="Shape 1514"/>
          <p:cNvSpPr txBox="1"/>
          <p:nvPr/>
        </p:nvSpPr>
        <p:spPr>
          <a:xfrm>
            <a:off x="11458503" y="2426363"/>
            <a:ext cx="1130801" cy="4733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/>
          <a:lstStyle>
            <a:lvl1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(1)</a:t>
            </a:r>
          </a:p>
        </p:txBody>
      </p:sp>
      <p:grpSp>
        <p:nvGrpSpPr>
          <p:cNvPr id="731" name="Group 1518"/>
          <p:cNvGrpSpPr/>
          <p:nvPr/>
        </p:nvGrpSpPr>
        <p:grpSpPr>
          <a:xfrm>
            <a:off x="98777" y="2212621"/>
            <a:ext cx="819577" cy="819577"/>
            <a:chOff x="0" y="0"/>
            <a:chExt cx="819576" cy="819576"/>
          </a:xfrm>
        </p:grpSpPr>
        <p:sp>
          <p:nvSpPr>
            <p:cNvPr id="729" name="Shape 1516"/>
            <p:cNvSpPr/>
            <p:nvPr/>
          </p:nvSpPr>
          <p:spPr>
            <a:xfrm>
              <a:off x="-1" y="-1"/>
              <a:ext cx="819577" cy="819578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30" name="Shape 1517"/>
            <p:cNvSpPr txBox="1"/>
            <p:nvPr/>
          </p:nvSpPr>
          <p:spPr>
            <a:xfrm>
              <a:off x="160542" y="177190"/>
              <a:ext cx="498489" cy="4640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/>
            <a:p>
              <a:pPr marR="56816" indent="56816" algn="ctr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  <a:r>
                <a:t>V</a:t>
              </a:r>
              <a:r>
                <a:rPr baseline="-25000"/>
                <a:t>i</a:t>
              </a:r>
              <a:r>
                <a:t> </a:t>
              </a:r>
            </a:p>
          </p:txBody>
        </p:sp>
      </p:grpSp>
      <p:grpSp>
        <p:nvGrpSpPr>
          <p:cNvPr id="734" name="Group 1521"/>
          <p:cNvGrpSpPr/>
          <p:nvPr/>
        </p:nvGrpSpPr>
        <p:grpSpPr>
          <a:xfrm>
            <a:off x="5271347" y="2262292"/>
            <a:ext cx="819577" cy="819577"/>
            <a:chOff x="0" y="0"/>
            <a:chExt cx="819576" cy="819576"/>
          </a:xfrm>
        </p:grpSpPr>
        <p:sp>
          <p:nvSpPr>
            <p:cNvPr id="732" name="Shape 1519"/>
            <p:cNvSpPr/>
            <p:nvPr/>
          </p:nvSpPr>
          <p:spPr>
            <a:xfrm>
              <a:off x="-1" y="-1"/>
              <a:ext cx="819577" cy="819578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33" name="Shape 1520"/>
            <p:cNvSpPr txBox="1"/>
            <p:nvPr/>
          </p:nvSpPr>
          <p:spPr>
            <a:xfrm>
              <a:off x="160542" y="177190"/>
              <a:ext cx="498489" cy="4640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/>
            <a:p>
              <a:pPr marR="56816" indent="56816" algn="ctr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  <a:r>
                <a:t>V</a:t>
              </a:r>
              <a:r>
                <a:rPr baseline="-25000"/>
                <a:t>j</a:t>
              </a:r>
              <a:r>
                <a:t> </a:t>
              </a:r>
            </a:p>
          </p:txBody>
        </p:sp>
      </p:grpSp>
      <p:grpSp>
        <p:nvGrpSpPr>
          <p:cNvPr id="737" name="Group 1524"/>
          <p:cNvGrpSpPr/>
          <p:nvPr/>
        </p:nvGrpSpPr>
        <p:grpSpPr>
          <a:xfrm>
            <a:off x="2864554" y="2878666"/>
            <a:ext cx="819577" cy="819577"/>
            <a:chOff x="0" y="0"/>
            <a:chExt cx="819576" cy="819576"/>
          </a:xfrm>
        </p:grpSpPr>
        <p:sp>
          <p:nvSpPr>
            <p:cNvPr id="735" name="Shape 1522"/>
            <p:cNvSpPr/>
            <p:nvPr/>
          </p:nvSpPr>
          <p:spPr>
            <a:xfrm>
              <a:off x="-1" y="-1"/>
              <a:ext cx="819577" cy="819578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36" name="Shape 1523"/>
            <p:cNvSpPr txBox="1"/>
            <p:nvPr/>
          </p:nvSpPr>
          <p:spPr>
            <a:xfrm>
              <a:off x="137969" y="177190"/>
              <a:ext cx="543634" cy="4640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/>
            <a:p>
              <a:pPr marR="56816" indent="56816" algn="ctr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  <a:r>
                <a:t>V</a:t>
              </a:r>
              <a:r>
                <a:rPr baseline="-25000"/>
                <a:t>k</a:t>
              </a:r>
              <a:r>
                <a:t> </a:t>
              </a:r>
            </a:p>
          </p:txBody>
        </p:sp>
      </p:grpSp>
      <p:sp>
        <p:nvSpPr>
          <p:cNvPr id="738" name="Shape 1525"/>
          <p:cNvSpPr/>
          <p:nvPr/>
        </p:nvSpPr>
        <p:spPr>
          <a:xfrm>
            <a:off x="907060" y="2181012"/>
            <a:ext cx="4349164" cy="4086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8" h="21600" fill="norm" stroke="1" extrusionOk="0">
                <a:moveTo>
                  <a:pt x="0" y="21600"/>
                </a:moveTo>
                <a:cubicBezTo>
                  <a:pt x="347" y="18975"/>
                  <a:pt x="593" y="18378"/>
                  <a:pt x="973" y="16946"/>
                </a:cubicBezTo>
                <a:cubicBezTo>
                  <a:pt x="1029" y="15991"/>
                  <a:pt x="1074" y="14798"/>
                  <a:pt x="1152" y="14082"/>
                </a:cubicBezTo>
                <a:cubicBezTo>
                  <a:pt x="1309" y="12650"/>
                  <a:pt x="1678" y="10382"/>
                  <a:pt x="1678" y="10382"/>
                </a:cubicBezTo>
                <a:cubicBezTo>
                  <a:pt x="1734" y="9428"/>
                  <a:pt x="1756" y="7996"/>
                  <a:pt x="1857" y="7518"/>
                </a:cubicBezTo>
                <a:cubicBezTo>
                  <a:pt x="2092" y="6564"/>
                  <a:pt x="2226" y="10144"/>
                  <a:pt x="2304" y="11218"/>
                </a:cubicBezTo>
                <a:cubicBezTo>
                  <a:pt x="2584" y="14917"/>
                  <a:pt x="2942" y="17304"/>
                  <a:pt x="3356" y="18855"/>
                </a:cubicBezTo>
                <a:cubicBezTo>
                  <a:pt x="3613" y="14798"/>
                  <a:pt x="3814" y="14082"/>
                  <a:pt x="4239" y="12172"/>
                </a:cubicBezTo>
                <a:cubicBezTo>
                  <a:pt x="4329" y="11218"/>
                  <a:pt x="4441" y="10502"/>
                  <a:pt x="4508" y="9428"/>
                </a:cubicBezTo>
                <a:cubicBezTo>
                  <a:pt x="4564" y="8592"/>
                  <a:pt x="4530" y="7280"/>
                  <a:pt x="4597" y="6564"/>
                </a:cubicBezTo>
                <a:cubicBezTo>
                  <a:pt x="4743" y="4893"/>
                  <a:pt x="5123" y="2745"/>
                  <a:pt x="5123" y="2745"/>
                </a:cubicBezTo>
                <a:cubicBezTo>
                  <a:pt x="5839" y="4654"/>
                  <a:pt x="6320" y="9547"/>
                  <a:pt x="6891" y="14082"/>
                </a:cubicBezTo>
                <a:cubicBezTo>
                  <a:pt x="7383" y="13008"/>
                  <a:pt x="7797" y="10621"/>
                  <a:pt x="8210" y="7518"/>
                </a:cubicBezTo>
                <a:cubicBezTo>
                  <a:pt x="8278" y="6444"/>
                  <a:pt x="8524" y="2029"/>
                  <a:pt x="8658" y="1909"/>
                </a:cubicBezTo>
                <a:cubicBezTo>
                  <a:pt x="8837" y="1671"/>
                  <a:pt x="9184" y="3699"/>
                  <a:pt x="9184" y="3699"/>
                </a:cubicBezTo>
                <a:cubicBezTo>
                  <a:pt x="9463" y="8234"/>
                  <a:pt x="9295" y="6325"/>
                  <a:pt x="9888" y="10382"/>
                </a:cubicBezTo>
                <a:cubicBezTo>
                  <a:pt x="10067" y="11576"/>
                  <a:pt x="10246" y="12769"/>
                  <a:pt x="10425" y="14082"/>
                </a:cubicBezTo>
                <a:cubicBezTo>
                  <a:pt x="10515" y="14678"/>
                  <a:pt x="10683" y="15991"/>
                  <a:pt x="10683" y="15991"/>
                </a:cubicBezTo>
                <a:cubicBezTo>
                  <a:pt x="11052" y="14678"/>
                  <a:pt x="11410" y="12530"/>
                  <a:pt x="11745" y="10382"/>
                </a:cubicBezTo>
                <a:cubicBezTo>
                  <a:pt x="11924" y="9189"/>
                  <a:pt x="12271" y="6564"/>
                  <a:pt x="12271" y="6564"/>
                </a:cubicBezTo>
                <a:cubicBezTo>
                  <a:pt x="12785" y="8354"/>
                  <a:pt x="12450" y="7041"/>
                  <a:pt x="13244" y="11218"/>
                </a:cubicBezTo>
                <a:cubicBezTo>
                  <a:pt x="13434" y="12172"/>
                  <a:pt x="13591" y="13724"/>
                  <a:pt x="13770" y="15036"/>
                </a:cubicBezTo>
                <a:cubicBezTo>
                  <a:pt x="13859" y="15633"/>
                  <a:pt x="14038" y="16946"/>
                  <a:pt x="14038" y="16946"/>
                </a:cubicBezTo>
                <a:cubicBezTo>
                  <a:pt x="14620" y="14917"/>
                  <a:pt x="13982" y="17662"/>
                  <a:pt x="14564" y="13127"/>
                </a:cubicBezTo>
                <a:cubicBezTo>
                  <a:pt x="14833" y="11098"/>
                  <a:pt x="15168" y="9547"/>
                  <a:pt x="15448" y="7518"/>
                </a:cubicBezTo>
                <a:cubicBezTo>
                  <a:pt x="15481" y="6444"/>
                  <a:pt x="15537" y="2267"/>
                  <a:pt x="15806" y="3699"/>
                </a:cubicBezTo>
                <a:cubicBezTo>
                  <a:pt x="15895" y="4177"/>
                  <a:pt x="15839" y="5728"/>
                  <a:pt x="15895" y="6564"/>
                </a:cubicBezTo>
                <a:cubicBezTo>
                  <a:pt x="16029" y="8473"/>
                  <a:pt x="16242" y="9666"/>
                  <a:pt x="16421" y="11218"/>
                </a:cubicBezTo>
                <a:cubicBezTo>
                  <a:pt x="16645" y="13127"/>
                  <a:pt x="17215" y="15036"/>
                  <a:pt x="17215" y="15036"/>
                </a:cubicBezTo>
                <a:cubicBezTo>
                  <a:pt x="17394" y="13127"/>
                  <a:pt x="17663" y="11934"/>
                  <a:pt x="17741" y="9428"/>
                </a:cubicBezTo>
                <a:cubicBezTo>
                  <a:pt x="17774" y="8473"/>
                  <a:pt x="17774" y="7399"/>
                  <a:pt x="17830" y="6564"/>
                </a:cubicBezTo>
                <a:cubicBezTo>
                  <a:pt x="17897" y="5609"/>
                  <a:pt x="18009" y="5251"/>
                  <a:pt x="18099" y="4654"/>
                </a:cubicBezTo>
                <a:cubicBezTo>
                  <a:pt x="18155" y="2864"/>
                  <a:pt x="18188" y="0"/>
                  <a:pt x="18457" y="0"/>
                </a:cubicBezTo>
                <a:cubicBezTo>
                  <a:pt x="18669" y="0"/>
                  <a:pt x="18792" y="2745"/>
                  <a:pt x="18982" y="3699"/>
                </a:cubicBezTo>
                <a:cubicBezTo>
                  <a:pt x="19665" y="6802"/>
                  <a:pt x="19933" y="7638"/>
                  <a:pt x="20750" y="8473"/>
                </a:cubicBezTo>
                <a:cubicBezTo>
                  <a:pt x="20996" y="10263"/>
                  <a:pt x="21041" y="10144"/>
                  <a:pt x="21186" y="13127"/>
                </a:cubicBezTo>
                <a:cubicBezTo>
                  <a:pt x="21231" y="14082"/>
                  <a:pt x="21208" y="15275"/>
                  <a:pt x="21276" y="15991"/>
                </a:cubicBezTo>
                <a:cubicBezTo>
                  <a:pt x="21600" y="19452"/>
                  <a:pt x="21544" y="14440"/>
                  <a:pt x="21544" y="18855"/>
                </a:cubicBezTo>
              </a:path>
            </a:pathLst>
          </a:custGeom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739" name="Shape 1526"/>
          <p:cNvSpPr txBox="1"/>
          <p:nvPr/>
        </p:nvSpPr>
        <p:spPr>
          <a:xfrm>
            <a:off x="1737923" y="1494648"/>
            <a:ext cx="2730502" cy="4315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1……k-1</a:t>
            </a:r>
          </a:p>
        </p:txBody>
      </p:sp>
      <p:sp>
        <p:nvSpPr>
          <p:cNvPr id="740" name="Shape 1530"/>
          <p:cNvSpPr txBox="1"/>
          <p:nvPr/>
        </p:nvSpPr>
        <p:spPr>
          <a:xfrm>
            <a:off x="8128734" y="5047851"/>
            <a:ext cx="796467" cy="6750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/>
          <a:lstStyle>
            <a:lvl1pPr marR="57798" defTabSz="1295400">
              <a:spcBef>
                <a:spcPts val="1900"/>
              </a:spcBef>
              <a:defRPr sz="35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=</a:t>
            </a:r>
          </a:p>
        </p:txBody>
      </p:sp>
      <p:sp>
        <p:nvSpPr>
          <p:cNvPr id="741" name="Shape 1532"/>
          <p:cNvSpPr txBox="1"/>
          <p:nvPr/>
        </p:nvSpPr>
        <p:spPr>
          <a:xfrm>
            <a:off x="10054410" y="4981100"/>
            <a:ext cx="659930" cy="5257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/>
          <a:lstStyle>
            <a:lvl1pPr marR="57798" defTabSz="1295400">
              <a:spcBef>
                <a:spcPts val="1900"/>
              </a:spcBef>
              <a:defRPr sz="35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742" name="Shape 1535"/>
          <p:cNvSpPr txBox="1"/>
          <p:nvPr/>
        </p:nvSpPr>
        <p:spPr>
          <a:xfrm>
            <a:off x="12041305" y="5107382"/>
            <a:ext cx="1115053" cy="5257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/>
          <a:lstStyle>
            <a:lvl1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(2)</a:t>
            </a:r>
          </a:p>
        </p:txBody>
      </p:sp>
      <p:grpSp>
        <p:nvGrpSpPr>
          <p:cNvPr id="756" name="Group 1550"/>
          <p:cNvGrpSpPr/>
          <p:nvPr/>
        </p:nvGrpSpPr>
        <p:grpSpPr>
          <a:xfrm>
            <a:off x="108512" y="4191563"/>
            <a:ext cx="5989324" cy="1587222"/>
            <a:chOff x="0" y="0"/>
            <a:chExt cx="5989323" cy="1587221"/>
          </a:xfrm>
        </p:grpSpPr>
        <p:grpSp>
          <p:nvGrpSpPr>
            <p:cNvPr id="745" name="Group 1539"/>
            <p:cNvGrpSpPr/>
            <p:nvPr/>
          </p:nvGrpSpPr>
          <p:grpSpPr>
            <a:xfrm>
              <a:off x="0" y="721077"/>
              <a:ext cx="819577" cy="819577"/>
              <a:chOff x="0" y="0"/>
              <a:chExt cx="819576" cy="819576"/>
            </a:xfrm>
          </p:grpSpPr>
          <p:sp>
            <p:nvSpPr>
              <p:cNvPr id="743" name="Shape 1537"/>
              <p:cNvSpPr/>
              <p:nvPr/>
            </p:nvSpPr>
            <p:spPr>
              <a:xfrm>
                <a:off x="-1" y="-1"/>
                <a:ext cx="819578" cy="819578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44" name="Shape 1538"/>
              <p:cNvSpPr txBox="1"/>
              <p:nvPr/>
            </p:nvSpPr>
            <p:spPr>
              <a:xfrm>
                <a:off x="157719" y="174085"/>
                <a:ext cx="498489" cy="46406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/>
              <a:p>
                <a:pPr marR="56816" indent="56816" algn="ctr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V</a:t>
                </a:r>
                <a:r>
                  <a:rPr baseline="-25000"/>
                  <a:t>i</a:t>
                </a:r>
                <a:r>
                  <a:t> </a:t>
                </a:r>
              </a:p>
            </p:txBody>
          </p:sp>
        </p:grpSp>
        <p:grpSp>
          <p:nvGrpSpPr>
            <p:cNvPr id="748" name="Group 1542"/>
            <p:cNvGrpSpPr/>
            <p:nvPr/>
          </p:nvGrpSpPr>
          <p:grpSpPr>
            <a:xfrm>
              <a:off x="5169747" y="767644"/>
              <a:ext cx="819577" cy="819577"/>
              <a:chOff x="0" y="0"/>
              <a:chExt cx="819576" cy="819576"/>
            </a:xfrm>
          </p:grpSpPr>
          <p:sp>
            <p:nvSpPr>
              <p:cNvPr id="746" name="Shape 1540"/>
              <p:cNvSpPr/>
              <p:nvPr/>
            </p:nvSpPr>
            <p:spPr>
              <a:xfrm>
                <a:off x="-1" y="-1"/>
                <a:ext cx="819578" cy="819578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47" name="Shape 1541"/>
              <p:cNvSpPr txBox="1"/>
              <p:nvPr/>
            </p:nvSpPr>
            <p:spPr>
              <a:xfrm>
                <a:off x="160542" y="177190"/>
                <a:ext cx="498489" cy="46406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/>
              <a:p>
                <a:pPr marR="56816" indent="56816" algn="ctr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V</a:t>
                </a:r>
                <a:r>
                  <a:rPr baseline="-25000"/>
                  <a:t>j</a:t>
                </a:r>
                <a:r>
                  <a:t> </a:t>
                </a:r>
              </a:p>
            </p:txBody>
          </p:sp>
        </p:grpSp>
        <p:grpSp>
          <p:nvGrpSpPr>
            <p:cNvPr id="751" name="Group 1545"/>
            <p:cNvGrpSpPr/>
            <p:nvPr/>
          </p:nvGrpSpPr>
          <p:grpSpPr>
            <a:xfrm>
              <a:off x="2609426" y="767644"/>
              <a:ext cx="819577" cy="819577"/>
              <a:chOff x="0" y="0"/>
              <a:chExt cx="819576" cy="819576"/>
            </a:xfrm>
          </p:grpSpPr>
          <p:sp>
            <p:nvSpPr>
              <p:cNvPr id="749" name="Shape 1543"/>
              <p:cNvSpPr/>
              <p:nvPr/>
            </p:nvSpPr>
            <p:spPr>
              <a:xfrm>
                <a:off x="-1" y="-1"/>
                <a:ext cx="819578" cy="819578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50" name="Shape 1544"/>
              <p:cNvSpPr txBox="1"/>
              <p:nvPr/>
            </p:nvSpPr>
            <p:spPr>
              <a:xfrm>
                <a:off x="137969" y="177190"/>
                <a:ext cx="543634" cy="46406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/>
              <a:p>
                <a:pPr marR="56816" indent="56816" algn="ctr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V</a:t>
                </a:r>
                <a:r>
                  <a:rPr baseline="-25000"/>
                  <a:t>k</a:t>
                </a:r>
                <a:r>
                  <a:t> </a:t>
                </a:r>
              </a:p>
            </p:txBody>
          </p:sp>
        </p:grpSp>
        <p:sp>
          <p:nvSpPr>
            <p:cNvPr id="752" name="Shape 1546"/>
            <p:cNvSpPr txBox="1"/>
            <p:nvPr/>
          </p:nvSpPr>
          <p:spPr>
            <a:xfrm>
              <a:off x="816751" y="-1"/>
              <a:ext cx="20193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1……k-1</a:t>
              </a:r>
            </a:p>
          </p:txBody>
        </p:sp>
        <p:sp>
          <p:nvSpPr>
            <p:cNvPr id="753" name="Shape 1547"/>
            <p:cNvSpPr/>
            <p:nvPr/>
          </p:nvSpPr>
          <p:spPr>
            <a:xfrm>
              <a:off x="821266" y="878276"/>
              <a:ext cx="1785440" cy="3025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39" h="21282" fill="norm" stroke="1" extrusionOk="0">
                  <a:moveTo>
                    <a:pt x="0" y="21282"/>
                  </a:moveTo>
                  <a:cubicBezTo>
                    <a:pt x="763" y="16994"/>
                    <a:pt x="1444" y="16518"/>
                    <a:pt x="2370" y="13818"/>
                  </a:cubicBezTo>
                  <a:cubicBezTo>
                    <a:pt x="2642" y="9053"/>
                    <a:pt x="3568" y="4129"/>
                    <a:pt x="4304" y="1271"/>
                  </a:cubicBezTo>
                  <a:cubicBezTo>
                    <a:pt x="5720" y="6988"/>
                    <a:pt x="4930" y="16200"/>
                    <a:pt x="6864" y="20171"/>
                  </a:cubicBezTo>
                  <a:cubicBezTo>
                    <a:pt x="7736" y="18424"/>
                    <a:pt x="8417" y="15088"/>
                    <a:pt x="9234" y="12547"/>
                  </a:cubicBezTo>
                  <a:cubicBezTo>
                    <a:pt x="9697" y="8576"/>
                    <a:pt x="10705" y="2700"/>
                    <a:pt x="11386" y="0"/>
                  </a:cubicBezTo>
                  <a:cubicBezTo>
                    <a:pt x="12339" y="3653"/>
                    <a:pt x="12829" y="9053"/>
                    <a:pt x="13755" y="12547"/>
                  </a:cubicBezTo>
                  <a:cubicBezTo>
                    <a:pt x="13892" y="13818"/>
                    <a:pt x="14001" y="15406"/>
                    <a:pt x="14191" y="16359"/>
                  </a:cubicBezTo>
                  <a:cubicBezTo>
                    <a:pt x="15281" y="21600"/>
                    <a:pt x="15744" y="9688"/>
                    <a:pt x="16125" y="6353"/>
                  </a:cubicBezTo>
                  <a:cubicBezTo>
                    <a:pt x="16479" y="3176"/>
                    <a:pt x="16888" y="2065"/>
                    <a:pt x="17405" y="0"/>
                  </a:cubicBezTo>
                  <a:cubicBezTo>
                    <a:pt x="17896" y="476"/>
                    <a:pt x="18413" y="635"/>
                    <a:pt x="18903" y="1271"/>
                  </a:cubicBezTo>
                  <a:cubicBezTo>
                    <a:pt x="19339" y="1906"/>
                    <a:pt x="20211" y="3812"/>
                    <a:pt x="20211" y="3812"/>
                  </a:cubicBezTo>
                  <a:cubicBezTo>
                    <a:pt x="20810" y="6194"/>
                    <a:pt x="20919" y="6035"/>
                    <a:pt x="21273" y="10006"/>
                  </a:cubicBezTo>
                  <a:cubicBezTo>
                    <a:pt x="21382" y="11276"/>
                    <a:pt x="21328" y="12865"/>
                    <a:pt x="21491" y="13818"/>
                  </a:cubicBezTo>
                  <a:cubicBezTo>
                    <a:pt x="21600" y="14453"/>
                    <a:pt x="21491" y="12071"/>
                    <a:pt x="21491" y="11276"/>
                  </a:cubicBez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54" name="Shape 1548"/>
            <p:cNvSpPr/>
            <p:nvPr/>
          </p:nvSpPr>
          <p:spPr>
            <a:xfrm>
              <a:off x="3422226" y="860214"/>
              <a:ext cx="1745265" cy="3747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2403" y="14964"/>
                    <a:pt x="1397" y="16786"/>
                    <a:pt x="2878" y="14443"/>
                  </a:cubicBezTo>
                  <a:cubicBezTo>
                    <a:pt x="3465" y="10149"/>
                    <a:pt x="3633" y="5725"/>
                    <a:pt x="3968" y="1041"/>
                  </a:cubicBezTo>
                  <a:cubicBezTo>
                    <a:pt x="5561" y="3513"/>
                    <a:pt x="5477" y="4684"/>
                    <a:pt x="6846" y="9239"/>
                  </a:cubicBezTo>
                  <a:cubicBezTo>
                    <a:pt x="7098" y="13402"/>
                    <a:pt x="7377" y="15094"/>
                    <a:pt x="8159" y="17566"/>
                  </a:cubicBezTo>
                  <a:cubicBezTo>
                    <a:pt x="9109" y="14183"/>
                    <a:pt x="10087" y="9889"/>
                    <a:pt x="11233" y="8328"/>
                  </a:cubicBezTo>
                  <a:cubicBezTo>
                    <a:pt x="11988" y="5725"/>
                    <a:pt x="12351" y="2472"/>
                    <a:pt x="13217" y="1041"/>
                  </a:cubicBezTo>
                  <a:cubicBezTo>
                    <a:pt x="13916" y="4294"/>
                    <a:pt x="14530" y="5075"/>
                    <a:pt x="15201" y="8328"/>
                  </a:cubicBezTo>
                  <a:cubicBezTo>
                    <a:pt x="15285" y="9369"/>
                    <a:pt x="15257" y="10540"/>
                    <a:pt x="15425" y="11320"/>
                  </a:cubicBezTo>
                  <a:cubicBezTo>
                    <a:pt x="16319" y="15354"/>
                    <a:pt x="16291" y="8198"/>
                    <a:pt x="16766" y="6246"/>
                  </a:cubicBezTo>
                  <a:cubicBezTo>
                    <a:pt x="17157" y="4684"/>
                    <a:pt x="17632" y="3513"/>
                    <a:pt x="18079" y="2082"/>
                  </a:cubicBezTo>
                  <a:cubicBezTo>
                    <a:pt x="18470" y="911"/>
                    <a:pt x="19392" y="0"/>
                    <a:pt x="19392" y="0"/>
                  </a:cubicBezTo>
                  <a:cubicBezTo>
                    <a:pt x="19616" y="390"/>
                    <a:pt x="19868" y="390"/>
                    <a:pt x="20063" y="1041"/>
                  </a:cubicBezTo>
                  <a:cubicBezTo>
                    <a:pt x="20510" y="2733"/>
                    <a:pt x="20734" y="11320"/>
                    <a:pt x="21600" y="7287"/>
                  </a:cubicBez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55" name="Shape 1549"/>
            <p:cNvSpPr txBox="1"/>
            <p:nvPr/>
          </p:nvSpPr>
          <p:spPr>
            <a:xfrm>
              <a:off x="3377071" y="-1"/>
              <a:ext cx="20193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1……k-1</a:t>
              </a:r>
            </a:p>
          </p:txBody>
        </p:sp>
      </p:grpSp>
      <p:sp>
        <p:nvSpPr>
          <p:cNvPr id="757" name="Shape 1391"/>
          <p:cNvSpPr txBox="1"/>
          <p:nvPr/>
        </p:nvSpPr>
        <p:spPr>
          <a:xfrm>
            <a:off x="1731433" y="171644"/>
            <a:ext cx="9537702" cy="931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marR="57798" algn="ctr" defTabSz="1295400">
              <a:lnSpc>
                <a:spcPct val="115000"/>
              </a:lnSpc>
              <a:defRPr sz="45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Floyd-Warshall算法</a:t>
            </a:r>
          </a:p>
        </p:txBody>
      </p:sp>
      <p:pic>
        <p:nvPicPr>
          <p:cNvPr id="758" name="图像" descr="图像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396434" y="2138705"/>
            <a:ext cx="756559" cy="766574"/>
          </a:xfrm>
          <a:prstGeom prst="rect">
            <a:avLst/>
          </a:prstGeom>
          <a:ln w="12700">
            <a:miter lim="400000"/>
          </a:ln>
        </p:spPr>
      </p:pic>
      <p:pic>
        <p:nvPicPr>
          <p:cNvPr id="759" name="图像" descr="图像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433285" y="4829230"/>
            <a:ext cx="756559" cy="766574"/>
          </a:xfrm>
          <a:prstGeom prst="rect">
            <a:avLst/>
          </a:prstGeom>
          <a:ln w="12700">
            <a:miter lim="400000"/>
          </a:ln>
        </p:spPr>
      </p:pic>
      <p:pic>
        <p:nvPicPr>
          <p:cNvPr id="760" name="MathTypeImage.pdf" descr="MathTypeImage.pdf"/>
          <p:cNvPicPr>
            <a:picLocks noChangeAspect="0"/>
          </p:cNvPicPr>
          <p:nvPr/>
        </p:nvPicPr>
        <p:blipFill>
          <a:blip r:embed="rId3">
            <a:extLst/>
          </a:blip>
          <a:srcRect l="0" t="0" r="0" b="0"/>
          <a:stretch>
            <a:fillRect/>
          </a:stretch>
        </p:blipFill>
        <p:spPr>
          <a:xfrm>
            <a:off x="8960284" y="4829230"/>
            <a:ext cx="876084" cy="711819"/>
          </a:xfrm>
          <a:prstGeom prst="rect">
            <a:avLst/>
          </a:prstGeom>
          <a:ln w="12700">
            <a:miter lim="400000"/>
          </a:ln>
        </p:spPr>
      </p:pic>
      <p:pic>
        <p:nvPicPr>
          <p:cNvPr id="761" name="图像" descr="图像"/>
          <p:cNvPicPr>
            <a:picLocks noChangeAspect="0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0777192" y="4829230"/>
            <a:ext cx="756559" cy="766574"/>
          </a:xfrm>
          <a:prstGeom prst="rect">
            <a:avLst/>
          </a:prstGeom>
          <a:ln w="12700">
            <a:miter lim="400000"/>
          </a:ln>
        </p:spPr>
      </p:pic>
      <p:pic>
        <p:nvPicPr>
          <p:cNvPr id="762" name="图像" descr="图像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9910282" y="2138705"/>
            <a:ext cx="948186" cy="82966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Shape 1903"/>
          <p:cNvSpPr txBox="1"/>
          <p:nvPr/>
        </p:nvSpPr>
        <p:spPr>
          <a:xfrm>
            <a:off x="142550" y="1409284"/>
            <a:ext cx="9978447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  <a:r>
              <a:t>程序实现时，需要的矩阵： D</a:t>
            </a:r>
            <a:r>
              <a:rPr baseline="-5999"/>
              <a:t>ij</a:t>
            </a:r>
            <a:r>
              <a:rPr baseline="31999"/>
              <a:t>(0)  </a:t>
            </a:r>
            <a:r>
              <a:t>D</a:t>
            </a:r>
            <a:r>
              <a:rPr baseline="-5999"/>
              <a:t>ij</a:t>
            </a:r>
            <a:r>
              <a:rPr baseline="31999"/>
              <a:t>(1)  </a:t>
            </a:r>
            <a:r>
              <a:t>D</a:t>
            </a:r>
            <a:r>
              <a:rPr baseline="-5999"/>
              <a:t>ij</a:t>
            </a:r>
            <a:r>
              <a:rPr baseline="31999"/>
              <a:t>(2)   ...... </a:t>
            </a:r>
            <a:r>
              <a:t>D</a:t>
            </a:r>
            <a:r>
              <a:rPr baseline="-5999"/>
              <a:t>ij</a:t>
            </a:r>
            <a:r>
              <a:rPr baseline="31999"/>
              <a:t>(k-1)  </a:t>
            </a:r>
            <a:r>
              <a:t>D</a:t>
            </a:r>
            <a:r>
              <a:rPr baseline="-5999"/>
              <a:t>ij</a:t>
            </a:r>
            <a:r>
              <a:rPr baseline="31999"/>
              <a:t>(k) </a:t>
            </a:r>
            <a:r>
              <a:t>...</a:t>
            </a:r>
          </a:p>
        </p:txBody>
      </p:sp>
      <p:sp>
        <p:nvSpPr>
          <p:cNvPr id="765" name="Shape 1913"/>
          <p:cNvSpPr txBox="1"/>
          <p:nvPr/>
        </p:nvSpPr>
        <p:spPr>
          <a:xfrm>
            <a:off x="142550" y="2377903"/>
            <a:ext cx="8442355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  <a:r>
              <a:t>因为：D</a:t>
            </a:r>
            <a:r>
              <a:rPr baseline="-5999"/>
              <a:t>kj</a:t>
            </a:r>
            <a:r>
              <a:rPr baseline="31999"/>
              <a:t>(k)  </a:t>
            </a:r>
            <a:r>
              <a:t>= min(D</a:t>
            </a:r>
            <a:r>
              <a:rPr baseline="-5999"/>
              <a:t>kj</a:t>
            </a:r>
            <a:r>
              <a:rPr baseline="31999"/>
              <a:t>(k-1)</a:t>
            </a:r>
            <a:r>
              <a:t>, D</a:t>
            </a:r>
            <a:r>
              <a:rPr baseline="-5999"/>
              <a:t>kk</a:t>
            </a:r>
            <a:r>
              <a:rPr baseline="31999"/>
              <a:t>(k-1)  </a:t>
            </a:r>
            <a:r>
              <a:t>+ D</a:t>
            </a:r>
            <a:r>
              <a:rPr baseline="-5999"/>
              <a:t>kj</a:t>
            </a:r>
            <a:r>
              <a:rPr baseline="31999"/>
              <a:t>(k-1) </a:t>
            </a:r>
            <a:r>
              <a:t>) = D</a:t>
            </a:r>
            <a:r>
              <a:rPr baseline="-5999"/>
              <a:t>kj</a:t>
            </a:r>
            <a:r>
              <a:rPr baseline="31999"/>
              <a:t>(k-1)</a:t>
            </a:r>
          </a:p>
        </p:txBody>
      </p:sp>
      <p:sp>
        <p:nvSpPr>
          <p:cNvPr id="766" name="Shape 1914"/>
          <p:cNvSpPr txBox="1"/>
          <p:nvPr/>
        </p:nvSpPr>
        <p:spPr>
          <a:xfrm>
            <a:off x="142550" y="3029022"/>
            <a:ext cx="12527253" cy="6350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  <a:r>
              <a:t>            D</a:t>
            </a:r>
            <a:r>
              <a:rPr baseline="-5999"/>
              <a:t>ik</a:t>
            </a:r>
            <a:r>
              <a:rPr baseline="31999"/>
              <a:t>(k)  </a:t>
            </a:r>
            <a:r>
              <a:t>= min(D</a:t>
            </a:r>
            <a:r>
              <a:rPr baseline="-5999"/>
              <a:t>ik</a:t>
            </a:r>
            <a:r>
              <a:rPr baseline="31999"/>
              <a:t>(k-1)</a:t>
            </a:r>
            <a:r>
              <a:t>, D</a:t>
            </a:r>
            <a:r>
              <a:rPr baseline="-5999"/>
              <a:t>ik</a:t>
            </a:r>
            <a:r>
              <a:rPr baseline="31999"/>
              <a:t>(k-1)  </a:t>
            </a:r>
            <a:r>
              <a:t>+ D</a:t>
            </a:r>
            <a:r>
              <a:rPr baseline="-5999"/>
              <a:t>kk</a:t>
            </a:r>
            <a:r>
              <a:rPr baseline="31999"/>
              <a:t>(k-1) </a:t>
            </a:r>
            <a:r>
              <a:t>) = D</a:t>
            </a:r>
            <a:r>
              <a:rPr baseline="-5999"/>
              <a:t>ik</a:t>
            </a:r>
            <a:r>
              <a:rPr baseline="31999"/>
              <a:t>(k-1)               </a:t>
            </a:r>
            <a:r>
              <a:t>注意D</a:t>
            </a:r>
            <a:r>
              <a:rPr baseline="-5999"/>
              <a:t>kk</a:t>
            </a:r>
            <a:r>
              <a:rPr baseline="31999"/>
              <a:t>(k-1)</a:t>
            </a:r>
            <a:r>
              <a:rPr baseline="0"/>
              <a:t>为0矩阵</a:t>
            </a:r>
          </a:p>
        </p:txBody>
      </p:sp>
      <p:sp>
        <p:nvSpPr>
          <p:cNvPr id="767" name="Shape 1915"/>
          <p:cNvSpPr txBox="1"/>
          <p:nvPr/>
        </p:nvSpPr>
        <p:spPr>
          <a:xfrm>
            <a:off x="142550" y="3689074"/>
            <a:ext cx="11291979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  <a:r>
              <a:t>所以：D</a:t>
            </a:r>
            <a:r>
              <a:rPr baseline="-5999"/>
              <a:t>ij</a:t>
            </a:r>
            <a:r>
              <a:rPr baseline="31999"/>
              <a:t>(k)  </a:t>
            </a:r>
            <a:r>
              <a:t>= min(D</a:t>
            </a:r>
            <a:r>
              <a:rPr baseline="-5999"/>
              <a:t>ij</a:t>
            </a:r>
            <a:r>
              <a:rPr baseline="31999"/>
              <a:t>(k-1)</a:t>
            </a:r>
            <a:r>
              <a:t>, D</a:t>
            </a:r>
            <a:r>
              <a:rPr baseline="-5999"/>
              <a:t>ik</a:t>
            </a:r>
            <a:r>
              <a:rPr baseline="31999"/>
              <a:t>(k-1)  </a:t>
            </a:r>
            <a:r>
              <a:t>+ D</a:t>
            </a:r>
            <a:r>
              <a:rPr baseline="-5999"/>
              <a:t>kj</a:t>
            </a:r>
            <a:r>
              <a:rPr baseline="31999"/>
              <a:t>(k-1) </a:t>
            </a:r>
            <a:r>
              <a:t>) = min(D</a:t>
            </a:r>
            <a:r>
              <a:rPr baseline="-5999"/>
              <a:t>ij</a:t>
            </a:r>
            <a:r>
              <a:rPr baseline="31999"/>
              <a:t>(k-1)</a:t>
            </a:r>
            <a:r>
              <a:t>, D</a:t>
            </a:r>
            <a:r>
              <a:rPr baseline="-5999"/>
              <a:t>ik</a:t>
            </a:r>
            <a:r>
              <a:rPr baseline="31999"/>
              <a:t>(k)  </a:t>
            </a:r>
            <a:r>
              <a:t>+ D</a:t>
            </a:r>
            <a:r>
              <a:rPr baseline="-5999"/>
              <a:t>kj</a:t>
            </a:r>
            <a:r>
              <a:rPr baseline="31999"/>
              <a:t>(k) </a:t>
            </a:r>
            <a:r>
              <a:t>)</a:t>
            </a:r>
          </a:p>
        </p:txBody>
      </p:sp>
      <p:sp>
        <p:nvSpPr>
          <p:cNvPr id="768" name="Shape 1916"/>
          <p:cNvSpPr txBox="1"/>
          <p:nvPr/>
        </p:nvSpPr>
        <p:spPr>
          <a:xfrm>
            <a:off x="891386" y="4495442"/>
            <a:ext cx="9031591" cy="1425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  <a:r>
              <a:t>            距离不变: D</a:t>
            </a:r>
            <a:r>
              <a:rPr baseline="-5999"/>
              <a:t>ij</a:t>
            </a:r>
            <a:r>
              <a:rPr baseline="31999"/>
              <a:t>(k)  </a:t>
            </a:r>
            <a:r>
              <a:t>= D</a:t>
            </a:r>
            <a:r>
              <a:rPr baseline="-5999"/>
              <a:t>ij</a:t>
            </a:r>
            <a:r>
              <a:rPr baseline="31999"/>
              <a:t>(k-1)  ⇒  </a:t>
            </a:r>
            <a:r>
              <a:t>D</a:t>
            </a:r>
            <a:r>
              <a:rPr baseline="-5999"/>
              <a:t>ij</a:t>
            </a:r>
            <a:r>
              <a:rPr baseline="31999"/>
              <a:t>(k) </a:t>
            </a:r>
            <a:r>
              <a:t>= D</a:t>
            </a:r>
            <a:r>
              <a:rPr baseline="-5999"/>
              <a:t>ij</a:t>
            </a:r>
            <a:r>
              <a:rPr baseline="31999"/>
              <a:t>(k)</a:t>
            </a:r>
          </a:p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  <a:r>
              <a:t>            距离改变: D</a:t>
            </a:r>
            <a:r>
              <a:rPr baseline="-5999"/>
              <a:t>ij</a:t>
            </a:r>
            <a:r>
              <a:rPr baseline="31999"/>
              <a:t>(k)  </a:t>
            </a:r>
            <a:r>
              <a:t>= D</a:t>
            </a:r>
            <a:r>
              <a:rPr baseline="-5999"/>
              <a:t>ik</a:t>
            </a:r>
            <a:r>
              <a:rPr baseline="31999"/>
              <a:t>(k-1)  </a:t>
            </a:r>
            <a:r>
              <a:t>+ D</a:t>
            </a:r>
            <a:r>
              <a:rPr baseline="-5999"/>
              <a:t>kj</a:t>
            </a:r>
            <a:r>
              <a:rPr baseline="31999"/>
              <a:t>(k-1)</a:t>
            </a:r>
            <a:r>
              <a:t> = D</a:t>
            </a:r>
            <a:r>
              <a:rPr baseline="-5999"/>
              <a:t>ik</a:t>
            </a:r>
            <a:r>
              <a:rPr baseline="31999"/>
              <a:t>(k)  </a:t>
            </a:r>
            <a:r>
              <a:t>+ D</a:t>
            </a:r>
            <a:r>
              <a:rPr baseline="-5999"/>
              <a:t>kj</a:t>
            </a:r>
            <a:r>
              <a:rPr baseline="31999"/>
              <a:t>(k) </a:t>
            </a:r>
          </a:p>
        </p:txBody>
      </p:sp>
      <p:sp>
        <p:nvSpPr>
          <p:cNvPr id="769" name="Shape 1917"/>
          <p:cNvSpPr txBox="1"/>
          <p:nvPr/>
        </p:nvSpPr>
        <p:spPr>
          <a:xfrm>
            <a:off x="105108" y="6000674"/>
            <a:ext cx="4744100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8" defTabSz="1295400">
              <a:spcBef>
                <a:spcPts val="1900"/>
              </a:spcBef>
              <a:defRPr>
                <a:solidFill>
                  <a:schemeClr val="accent1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结论：只用一个矩阵即可！</a:t>
            </a:r>
          </a:p>
        </p:txBody>
      </p:sp>
      <p:sp>
        <p:nvSpPr>
          <p:cNvPr id="770" name="Shape 1391"/>
          <p:cNvSpPr txBox="1"/>
          <p:nvPr/>
        </p:nvSpPr>
        <p:spPr>
          <a:xfrm>
            <a:off x="1731433" y="171644"/>
            <a:ext cx="9537702" cy="931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marR="57798" algn="ctr" defTabSz="1295400">
              <a:lnSpc>
                <a:spcPct val="115000"/>
              </a:lnSpc>
              <a:defRPr sz="45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Floyd-Warshall算法</a:t>
            </a:r>
          </a:p>
        </p:txBody>
      </p:sp>
      <p:pic>
        <p:nvPicPr>
          <p:cNvPr id="771" name="MathTypeEquation.pdf" descr="MathTypeEquation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2550" y="4921250"/>
            <a:ext cx="114301" cy="1651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3" dur="1000"/>
                                        <p:tgtEl>
                                          <p:spTgt spid="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766" grpId="2"/>
      <p:bldP build="whole" bldLvl="1" animBg="1" rev="0" advAuto="0" spid="768" grpId="4"/>
      <p:bldP build="whole" bldLvl="1" animBg="1" rev="0" advAuto="0" spid="765" grpId="1"/>
      <p:bldP build="whole" bldLvl="1" animBg="1" rev="0" advAuto="0" spid="767" grpId="3"/>
      <p:bldP build="whole" bldLvl="1" animBg="1" rev="0" advAuto="0" spid="769" grpId="5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Shape 1925"/>
          <p:cNvSpPr txBox="1"/>
          <p:nvPr/>
        </p:nvSpPr>
        <p:spPr>
          <a:xfrm>
            <a:off x="1645354" y="4822330"/>
            <a:ext cx="10414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240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774" name="Shape 1926"/>
          <p:cNvSpPr txBox="1"/>
          <p:nvPr/>
        </p:nvSpPr>
        <p:spPr>
          <a:xfrm>
            <a:off x="2641034" y="4822330"/>
            <a:ext cx="10414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240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775" name="Shape 1927"/>
          <p:cNvSpPr txBox="1"/>
          <p:nvPr/>
        </p:nvSpPr>
        <p:spPr>
          <a:xfrm>
            <a:off x="2641034" y="5518572"/>
            <a:ext cx="10414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240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776" name="Shape 1928"/>
          <p:cNvSpPr txBox="1"/>
          <p:nvPr/>
        </p:nvSpPr>
        <p:spPr>
          <a:xfrm>
            <a:off x="1645354" y="6243037"/>
            <a:ext cx="10414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240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777" name="Shape 1929"/>
          <p:cNvSpPr txBox="1"/>
          <p:nvPr/>
        </p:nvSpPr>
        <p:spPr>
          <a:xfrm>
            <a:off x="2641034" y="6243037"/>
            <a:ext cx="1041402" cy="4742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baseline="-20000" sz="240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defRPr>
            </a:lvl1pPr>
          </a:lstStyle>
          <a:p>
            <a:pPr/>
            <a:r>
              <a:t>∞</a:t>
            </a:r>
          </a:p>
        </p:txBody>
      </p:sp>
      <p:sp>
        <p:nvSpPr>
          <p:cNvPr id="778" name="Shape 1930"/>
          <p:cNvSpPr txBox="1"/>
          <p:nvPr/>
        </p:nvSpPr>
        <p:spPr>
          <a:xfrm>
            <a:off x="1968217" y="4435271"/>
            <a:ext cx="15494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D</a:t>
            </a:r>
          </a:p>
        </p:txBody>
      </p:sp>
      <p:sp>
        <p:nvSpPr>
          <p:cNvPr id="779" name="Shape 1931"/>
          <p:cNvSpPr txBox="1"/>
          <p:nvPr/>
        </p:nvSpPr>
        <p:spPr>
          <a:xfrm>
            <a:off x="3717995" y="4822330"/>
            <a:ext cx="10414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240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780" name="Shape 1932"/>
          <p:cNvSpPr txBox="1"/>
          <p:nvPr/>
        </p:nvSpPr>
        <p:spPr>
          <a:xfrm>
            <a:off x="1645354" y="5518572"/>
            <a:ext cx="10414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240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781" name="Shape 1933"/>
          <p:cNvSpPr txBox="1"/>
          <p:nvPr/>
        </p:nvSpPr>
        <p:spPr>
          <a:xfrm>
            <a:off x="3717995" y="5518572"/>
            <a:ext cx="10414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240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782" name="Shape 1934"/>
          <p:cNvSpPr txBox="1"/>
          <p:nvPr/>
        </p:nvSpPr>
        <p:spPr>
          <a:xfrm>
            <a:off x="3717995" y="6243037"/>
            <a:ext cx="10414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240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783" name="Shape 1935"/>
          <p:cNvSpPr txBox="1"/>
          <p:nvPr/>
        </p:nvSpPr>
        <p:spPr>
          <a:xfrm>
            <a:off x="6289885" y="4822330"/>
            <a:ext cx="10414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240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784" name="Shape 1936"/>
          <p:cNvSpPr txBox="1"/>
          <p:nvPr/>
        </p:nvSpPr>
        <p:spPr>
          <a:xfrm>
            <a:off x="7590366" y="4822330"/>
            <a:ext cx="10414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240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785" name="Shape 1937"/>
          <p:cNvSpPr txBox="1"/>
          <p:nvPr/>
        </p:nvSpPr>
        <p:spPr>
          <a:xfrm>
            <a:off x="7590366" y="5518572"/>
            <a:ext cx="10414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240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786" name="Shape 1938"/>
          <p:cNvSpPr txBox="1"/>
          <p:nvPr/>
        </p:nvSpPr>
        <p:spPr>
          <a:xfrm>
            <a:off x="6289885" y="6243037"/>
            <a:ext cx="10414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240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787" name="Shape 1939"/>
          <p:cNvSpPr txBox="1"/>
          <p:nvPr/>
        </p:nvSpPr>
        <p:spPr>
          <a:xfrm>
            <a:off x="8775134" y="4822330"/>
            <a:ext cx="10414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240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788" name="Shape 1940"/>
          <p:cNvSpPr txBox="1"/>
          <p:nvPr/>
        </p:nvSpPr>
        <p:spPr>
          <a:xfrm>
            <a:off x="6289885" y="5518572"/>
            <a:ext cx="10414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240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789" name="Shape 1941"/>
          <p:cNvSpPr txBox="1"/>
          <p:nvPr/>
        </p:nvSpPr>
        <p:spPr>
          <a:xfrm>
            <a:off x="8775134" y="5518572"/>
            <a:ext cx="10414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240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790" name="Shape 1942"/>
          <p:cNvSpPr txBox="1"/>
          <p:nvPr/>
        </p:nvSpPr>
        <p:spPr>
          <a:xfrm>
            <a:off x="8775134" y="6243037"/>
            <a:ext cx="10414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240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791" name="Shape 1944"/>
          <p:cNvSpPr txBox="1"/>
          <p:nvPr/>
        </p:nvSpPr>
        <p:spPr>
          <a:xfrm>
            <a:off x="7590366" y="6243037"/>
            <a:ext cx="10414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240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defRPr>
            </a:lvl1pPr>
          </a:lstStyle>
          <a:p>
            <a:pPr/>
            <a:r>
              <a:t>0</a:t>
            </a:r>
          </a:p>
        </p:txBody>
      </p:sp>
      <p:grpSp>
        <p:nvGrpSpPr>
          <p:cNvPr id="811" name="成组"/>
          <p:cNvGrpSpPr/>
          <p:nvPr/>
        </p:nvGrpSpPr>
        <p:grpSpPr>
          <a:xfrm>
            <a:off x="4807901" y="1225973"/>
            <a:ext cx="3151861" cy="2830740"/>
            <a:chOff x="0" y="0"/>
            <a:chExt cx="3151859" cy="2830739"/>
          </a:xfrm>
        </p:grpSpPr>
        <p:grpSp>
          <p:nvGrpSpPr>
            <p:cNvPr id="794" name="Group 1947"/>
            <p:cNvGrpSpPr/>
            <p:nvPr/>
          </p:nvGrpSpPr>
          <p:grpSpPr>
            <a:xfrm>
              <a:off x="0" y="673049"/>
              <a:ext cx="695399" cy="614500"/>
              <a:chOff x="0" y="0"/>
              <a:chExt cx="695398" cy="614498"/>
            </a:xfrm>
          </p:grpSpPr>
          <p:sp>
            <p:nvSpPr>
              <p:cNvPr id="792" name="Shape 1945"/>
              <p:cNvSpPr/>
              <p:nvPr/>
            </p:nvSpPr>
            <p:spPr>
              <a:xfrm>
                <a:off x="-1" y="11057"/>
                <a:ext cx="695399" cy="598315"/>
              </a:xfrm>
              <a:prstGeom prst="ellipse">
                <a:avLst/>
              </a:prstGeom>
              <a:solidFill>
                <a:srgbClr val="FFFF99"/>
              </a:solidFill>
              <a:ln w="25400" cap="sq">
                <a:solidFill>
                  <a:srgbClr val="8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93" name="Shape 1946"/>
              <p:cNvSpPr txBox="1"/>
              <p:nvPr/>
            </p:nvSpPr>
            <p:spPr>
              <a:xfrm>
                <a:off x="154189" y="0"/>
                <a:ext cx="387017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sz="38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1</a:t>
                </a:r>
              </a:p>
            </p:txBody>
          </p:sp>
        </p:grpSp>
        <p:grpSp>
          <p:nvGrpSpPr>
            <p:cNvPr id="797" name="Group 1950"/>
            <p:cNvGrpSpPr/>
            <p:nvPr/>
          </p:nvGrpSpPr>
          <p:grpSpPr>
            <a:xfrm>
              <a:off x="1176866" y="2216240"/>
              <a:ext cx="695399" cy="614500"/>
              <a:chOff x="0" y="0"/>
              <a:chExt cx="695398" cy="614498"/>
            </a:xfrm>
          </p:grpSpPr>
          <p:sp>
            <p:nvSpPr>
              <p:cNvPr id="795" name="Shape 1948"/>
              <p:cNvSpPr/>
              <p:nvPr/>
            </p:nvSpPr>
            <p:spPr>
              <a:xfrm>
                <a:off x="-1" y="12186"/>
                <a:ext cx="695399" cy="596905"/>
              </a:xfrm>
              <a:prstGeom prst="ellipse">
                <a:avLst/>
              </a:prstGeom>
              <a:solidFill>
                <a:srgbClr val="FFFF99"/>
              </a:solidFill>
              <a:ln w="25400" cap="sq">
                <a:solidFill>
                  <a:srgbClr val="8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96" name="Shape 1949"/>
              <p:cNvSpPr txBox="1"/>
              <p:nvPr/>
            </p:nvSpPr>
            <p:spPr>
              <a:xfrm>
                <a:off x="149109" y="0"/>
                <a:ext cx="387017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sz="38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3</a:t>
                </a:r>
              </a:p>
            </p:txBody>
          </p:sp>
        </p:grpSp>
        <p:grpSp>
          <p:nvGrpSpPr>
            <p:cNvPr id="800" name="Group 1953"/>
            <p:cNvGrpSpPr/>
            <p:nvPr/>
          </p:nvGrpSpPr>
          <p:grpSpPr>
            <a:xfrm>
              <a:off x="2456461" y="680951"/>
              <a:ext cx="695399" cy="614500"/>
              <a:chOff x="0" y="0"/>
              <a:chExt cx="695398" cy="614498"/>
            </a:xfrm>
          </p:grpSpPr>
          <p:sp>
            <p:nvSpPr>
              <p:cNvPr id="798" name="Shape 1951"/>
              <p:cNvSpPr/>
              <p:nvPr/>
            </p:nvSpPr>
            <p:spPr>
              <a:xfrm>
                <a:off x="-1" y="12186"/>
                <a:ext cx="695399" cy="596905"/>
              </a:xfrm>
              <a:prstGeom prst="ellipse">
                <a:avLst/>
              </a:prstGeom>
              <a:solidFill>
                <a:srgbClr val="FFFF99"/>
              </a:solidFill>
              <a:ln w="25400" cap="sq">
                <a:solidFill>
                  <a:srgbClr val="8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99" name="Shape 1952"/>
              <p:cNvSpPr txBox="1"/>
              <p:nvPr/>
            </p:nvSpPr>
            <p:spPr>
              <a:xfrm>
                <a:off x="154189" y="0"/>
                <a:ext cx="387017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sz="38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2</a:t>
                </a:r>
              </a:p>
            </p:txBody>
          </p:sp>
        </p:grpSp>
        <p:sp>
          <p:nvSpPr>
            <p:cNvPr id="801" name="Shape 1954"/>
            <p:cNvSpPr txBox="1"/>
            <p:nvPr/>
          </p:nvSpPr>
          <p:spPr>
            <a:xfrm>
              <a:off x="302541" y="1810737"/>
              <a:ext cx="520702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defRPr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802" name="Shape 1955"/>
            <p:cNvSpPr txBox="1"/>
            <p:nvPr/>
          </p:nvSpPr>
          <p:spPr>
            <a:xfrm>
              <a:off x="2352604" y="1929553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803" name="Shape 1956"/>
            <p:cNvSpPr txBox="1"/>
            <p:nvPr/>
          </p:nvSpPr>
          <p:spPr>
            <a:xfrm>
              <a:off x="1381759" y="0"/>
              <a:ext cx="362600" cy="5172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6</a:t>
              </a:r>
            </a:p>
          </p:txBody>
        </p:sp>
        <p:sp>
          <p:nvSpPr>
            <p:cNvPr id="804" name="Shape 1957"/>
            <p:cNvSpPr txBox="1"/>
            <p:nvPr/>
          </p:nvSpPr>
          <p:spPr>
            <a:xfrm>
              <a:off x="1329830" y="787964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805" name="Shape 1958"/>
            <p:cNvSpPr/>
            <p:nvPr/>
          </p:nvSpPr>
          <p:spPr>
            <a:xfrm>
              <a:off x="708941" y="1110826"/>
              <a:ext cx="1841502" cy="2103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529" fill="norm" stroke="1" extrusionOk="0">
                  <a:moveTo>
                    <a:pt x="21600" y="6900"/>
                  </a:moveTo>
                  <a:cubicBezTo>
                    <a:pt x="17711" y="14250"/>
                    <a:pt x="13823" y="21600"/>
                    <a:pt x="10236" y="20400"/>
                  </a:cubicBezTo>
                  <a:cubicBezTo>
                    <a:pt x="6648" y="19200"/>
                    <a:pt x="3311" y="9600"/>
                    <a:pt x="0" y="0"/>
                  </a:cubicBezTo>
                </a:path>
              </a:pathLst>
            </a:custGeom>
            <a:noFill/>
            <a:ln w="38100" cap="sq">
              <a:solidFill>
                <a:srgbClr val="8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06" name="Shape 1959"/>
            <p:cNvSpPr/>
            <p:nvPr/>
          </p:nvSpPr>
          <p:spPr>
            <a:xfrm rot="10680000">
              <a:off x="582141" y="534721"/>
              <a:ext cx="1943948" cy="2553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529" fill="norm" stroke="1" extrusionOk="0">
                  <a:moveTo>
                    <a:pt x="21600" y="6900"/>
                  </a:moveTo>
                  <a:cubicBezTo>
                    <a:pt x="17711" y="14250"/>
                    <a:pt x="13823" y="21600"/>
                    <a:pt x="10236" y="20400"/>
                  </a:cubicBezTo>
                  <a:cubicBezTo>
                    <a:pt x="6648" y="19200"/>
                    <a:pt x="3311" y="9600"/>
                    <a:pt x="0" y="0"/>
                  </a:cubicBezTo>
                </a:path>
              </a:pathLst>
            </a:custGeom>
            <a:noFill/>
            <a:ln w="38100" cap="sq">
              <a:solidFill>
                <a:srgbClr val="8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07" name="Shape 1960"/>
            <p:cNvSpPr/>
            <p:nvPr/>
          </p:nvSpPr>
          <p:spPr>
            <a:xfrm flipH="1" rot="14280000">
              <a:off x="361464" y="1622539"/>
              <a:ext cx="1332092" cy="1931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529" fill="norm" stroke="1" extrusionOk="0">
                  <a:moveTo>
                    <a:pt x="21600" y="6900"/>
                  </a:moveTo>
                  <a:cubicBezTo>
                    <a:pt x="17711" y="14250"/>
                    <a:pt x="13823" y="21600"/>
                    <a:pt x="10236" y="20400"/>
                  </a:cubicBezTo>
                  <a:cubicBezTo>
                    <a:pt x="6648" y="19200"/>
                    <a:pt x="3311" y="9600"/>
                    <a:pt x="0" y="0"/>
                  </a:cubicBezTo>
                </a:path>
              </a:pathLst>
            </a:custGeom>
            <a:noFill/>
            <a:ln w="38100" cap="sq">
              <a:solidFill>
                <a:srgbClr val="8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08" name="Shape 1961"/>
            <p:cNvSpPr/>
            <p:nvPr/>
          </p:nvSpPr>
          <p:spPr>
            <a:xfrm flipH="1" rot="3300000">
              <a:off x="57157" y="1792804"/>
              <a:ext cx="1332091" cy="1931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529" fill="norm" stroke="1" extrusionOk="0">
                  <a:moveTo>
                    <a:pt x="21600" y="6900"/>
                  </a:moveTo>
                  <a:cubicBezTo>
                    <a:pt x="17711" y="14250"/>
                    <a:pt x="13823" y="21600"/>
                    <a:pt x="10236" y="20400"/>
                  </a:cubicBezTo>
                  <a:cubicBezTo>
                    <a:pt x="6648" y="19200"/>
                    <a:pt x="3311" y="9600"/>
                    <a:pt x="0" y="0"/>
                  </a:cubicBezTo>
                </a:path>
              </a:pathLst>
            </a:custGeom>
            <a:noFill/>
            <a:ln w="38100" cap="sq">
              <a:solidFill>
                <a:srgbClr val="8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09" name="Shape 1962"/>
            <p:cNvSpPr/>
            <p:nvPr/>
          </p:nvSpPr>
          <p:spPr>
            <a:xfrm flipH="1" rot="18540000">
              <a:off x="1635432" y="1811054"/>
              <a:ext cx="1433691" cy="1931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529" fill="norm" stroke="1" extrusionOk="0">
                  <a:moveTo>
                    <a:pt x="21600" y="6900"/>
                  </a:moveTo>
                  <a:cubicBezTo>
                    <a:pt x="17711" y="14250"/>
                    <a:pt x="13823" y="21600"/>
                    <a:pt x="10236" y="20400"/>
                  </a:cubicBezTo>
                  <a:cubicBezTo>
                    <a:pt x="6648" y="19200"/>
                    <a:pt x="3311" y="9600"/>
                    <a:pt x="0" y="0"/>
                  </a:cubicBezTo>
                </a:path>
              </a:pathLst>
            </a:custGeom>
            <a:noFill/>
            <a:ln w="38100" cap="sq">
              <a:solidFill>
                <a:srgbClr val="8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10" name="Shape 1963"/>
            <p:cNvSpPr txBox="1"/>
            <p:nvPr/>
          </p:nvSpPr>
          <p:spPr>
            <a:xfrm>
              <a:off x="1086273" y="1406595"/>
              <a:ext cx="538961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11</a:t>
              </a:r>
            </a:p>
          </p:txBody>
        </p:sp>
      </p:grpSp>
      <p:sp>
        <p:nvSpPr>
          <p:cNvPr id="812" name="Shape 1965"/>
          <p:cNvSpPr txBox="1"/>
          <p:nvPr/>
        </p:nvSpPr>
        <p:spPr>
          <a:xfrm>
            <a:off x="6565617" y="4435271"/>
            <a:ext cx="15494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P</a:t>
            </a:r>
          </a:p>
        </p:txBody>
      </p:sp>
      <p:sp>
        <p:nvSpPr>
          <p:cNvPr id="813" name="Shape 1391"/>
          <p:cNvSpPr txBox="1"/>
          <p:nvPr/>
        </p:nvSpPr>
        <p:spPr>
          <a:xfrm>
            <a:off x="1731433" y="171644"/>
            <a:ext cx="9537702" cy="931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marR="57798" algn="ctr" defTabSz="1295400">
              <a:lnSpc>
                <a:spcPct val="115000"/>
              </a:lnSpc>
              <a:defRPr sz="45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Floyd-Warshall算法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5" name="成组"/>
          <p:cNvGrpSpPr/>
          <p:nvPr/>
        </p:nvGrpSpPr>
        <p:grpSpPr>
          <a:xfrm>
            <a:off x="4193993" y="1276771"/>
            <a:ext cx="3114042" cy="2418454"/>
            <a:chOff x="0" y="0"/>
            <a:chExt cx="3114041" cy="2418452"/>
          </a:xfrm>
        </p:grpSpPr>
        <p:sp>
          <p:nvSpPr>
            <p:cNvPr id="815" name="Shape 1925"/>
            <p:cNvSpPr txBox="1"/>
            <p:nvPr/>
          </p:nvSpPr>
          <p:spPr>
            <a:xfrm>
              <a:off x="0" y="417407"/>
              <a:ext cx="1041401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algn="ctr" defTabSz="1295400">
                <a:spcBef>
                  <a:spcPts val="1900"/>
                </a:spcBef>
                <a:defRPr sz="2400">
                  <a:solidFill>
                    <a:srgbClr val="990000"/>
                  </a:solidFill>
                  <a:uFill>
                    <a:solidFill>
                      <a:srgbClr val="99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816" name="Shape 1926"/>
            <p:cNvSpPr txBox="1"/>
            <p:nvPr/>
          </p:nvSpPr>
          <p:spPr>
            <a:xfrm>
              <a:off x="995679" y="417407"/>
              <a:ext cx="10414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algn="ctr" defTabSz="1295400">
                <a:spcBef>
                  <a:spcPts val="1900"/>
                </a:spcBef>
                <a:defRPr sz="2400">
                  <a:solidFill>
                    <a:srgbClr val="990000"/>
                  </a:solidFill>
                  <a:uFill>
                    <a:solidFill>
                      <a:srgbClr val="99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817" name="Shape 1927"/>
            <p:cNvSpPr txBox="1"/>
            <p:nvPr/>
          </p:nvSpPr>
          <p:spPr>
            <a:xfrm>
              <a:off x="995679" y="1164449"/>
              <a:ext cx="10414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algn="ctr" defTabSz="1295400">
                <a:spcBef>
                  <a:spcPts val="1900"/>
                </a:spcBef>
                <a:defRPr sz="2400">
                  <a:solidFill>
                    <a:srgbClr val="990000"/>
                  </a:solidFill>
                  <a:uFill>
                    <a:solidFill>
                      <a:srgbClr val="99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818" name="Shape 1928"/>
            <p:cNvSpPr txBox="1"/>
            <p:nvPr/>
          </p:nvSpPr>
          <p:spPr>
            <a:xfrm>
              <a:off x="0" y="1944229"/>
              <a:ext cx="1041401" cy="43155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algn="ctr" defTabSz="1295400">
                <a:spcBef>
                  <a:spcPts val="1900"/>
                </a:spcBef>
                <a:defRPr sz="2400">
                  <a:solidFill>
                    <a:srgbClr val="990000"/>
                  </a:solidFill>
                  <a:uFill>
                    <a:solidFill>
                      <a:srgbClr val="99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819" name="Shape 1929"/>
            <p:cNvSpPr txBox="1"/>
            <p:nvPr/>
          </p:nvSpPr>
          <p:spPr>
            <a:xfrm>
              <a:off x="995679" y="1944229"/>
              <a:ext cx="1041402" cy="4742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algn="ctr" defTabSz="1295400">
                <a:spcBef>
                  <a:spcPts val="1900"/>
                </a:spcBef>
                <a:defRPr baseline="-20000" sz="2400">
                  <a:solidFill>
                    <a:srgbClr val="990000"/>
                  </a:solidFill>
                  <a:uFill>
                    <a:solidFill>
                      <a:srgbClr val="990000"/>
                    </a:solidFill>
                  </a:uFill>
                </a:defRPr>
              </a:lvl1pPr>
            </a:lstStyle>
            <a:p>
              <a:pPr/>
              <a:r>
                <a:t>∞</a:t>
              </a:r>
            </a:p>
          </p:txBody>
        </p:sp>
        <p:sp>
          <p:nvSpPr>
            <p:cNvPr id="820" name="Shape 1930"/>
            <p:cNvSpPr txBox="1"/>
            <p:nvPr/>
          </p:nvSpPr>
          <p:spPr>
            <a:xfrm>
              <a:off x="348262" y="0"/>
              <a:ext cx="1549402" cy="43155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  <p:sp>
          <p:nvSpPr>
            <p:cNvPr id="821" name="Shape 1931"/>
            <p:cNvSpPr txBox="1"/>
            <p:nvPr/>
          </p:nvSpPr>
          <p:spPr>
            <a:xfrm>
              <a:off x="2072640" y="417407"/>
              <a:ext cx="10414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algn="ctr" defTabSz="1295400">
                <a:spcBef>
                  <a:spcPts val="1900"/>
                </a:spcBef>
                <a:defRPr sz="2400">
                  <a:solidFill>
                    <a:srgbClr val="990000"/>
                  </a:solidFill>
                  <a:uFill>
                    <a:solidFill>
                      <a:srgbClr val="990000"/>
                    </a:solidFill>
                  </a:uFill>
                </a:defRPr>
              </a:lvl1pPr>
            </a:lstStyle>
            <a:p>
              <a:pPr/>
              <a:r>
                <a:t>11</a:t>
              </a:r>
            </a:p>
          </p:txBody>
        </p:sp>
        <p:sp>
          <p:nvSpPr>
            <p:cNvPr id="822" name="Shape 1932"/>
            <p:cNvSpPr txBox="1"/>
            <p:nvPr/>
          </p:nvSpPr>
          <p:spPr>
            <a:xfrm>
              <a:off x="0" y="1164449"/>
              <a:ext cx="1041401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algn="ctr" defTabSz="1295400">
                <a:spcBef>
                  <a:spcPts val="1900"/>
                </a:spcBef>
                <a:defRPr sz="2400">
                  <a:solidFill>
                    <a:srgbClr val="990000"/>
                  </a:solidFill>
                  <a:uFill>
                    <a:solidFill>
                      <a:srgbClr val="990000"/>
                    </a:solidFill>
                  </a:uFill>
                </a:defRPr>
              </a:lvl1pPr>
            </a:lstStyle>
            <a:p>
              <a:pPr/>
              <a:r>
                <a:t>6</a:t>
              </a:r>
            </a:p>
          </p:txBody>
        </p:sp>
        <p:sp>
          <p:nvSpPr>
            <p:cNvPr id="823" name="Shape 1933"/>
            <p:cNvSpPr txBox="1"/>
            <p:nvPr/>
          </p:nvSpPr>
          <p:spPr>
            <a:xfrm>
              <a:off x="2072640" y="1164449"/>
              <a:ext cx="10414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algn="ctr" defTabSz="1295400">
                <a:spcBef>
                  <a:spcPts val="1900"/>
                </a:spcBef>
                <a:defRPr sz="2400">
                  <a:solidFill>
                    <a:srgbClr val="990000"/>
                  </a:solidFill>
                  <a:uFill>
                    <a:solidFill>
                      <a:srgbClr val="99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824" name="Shape 1934"/>
            <p:cNvSpPr txBox="1"/>
            <p:nvPr/>
          </p:nvSpPr>
          <p:spPr>
            <a:xfrm>
              <a:off x="2072640" y="1944229"/>
              <a:ext cx="1041402" cy="43155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algn="ctr" defTabSz="1295400">
                <a:spcBef>
                  <a:spcPts val="1900"/>
                </a:spcBef>
                <a:defRPr sz="2400">
                  <a:solidFill>
                    <a:srgbClr val="990000"/>
                  </a:solidFill>
                  <a:uFill>
                    <a:solidFill>
                      <a:srgbClr val="99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</p:grpSp>
      <p:sp>
        <p:nvSpPr>
          <p:cNvPr id="826" name="Shape 1990"/>
          <p:cNvSpPr txBox="1"/>
          <p:nvPr/>
        </p:nvSpPr>
        <p:spPr>
          <a:xfrm>
            <a:off x="1463350" y="1739900"/>
            <a:ext cx="1543700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加入顶点1</a:t>
            </a:r>
          </a:p>
        </p:txBody>
      </p:sp>
      <p:sp>
        <p:nvSpPr>
          <p:cNvPr id="827" name="D[1, 1] = min{D[1, 1], D[1,1] + D[1, 1]}=min{0, 0 + 0} = 0…"/>
          <p:cNvSpPr txBox="1"/>
          <p:nvPr/>
        </p:nvSpPr>
        <p:spPr>
          <a:xfrm>
            <a:off x="1681692" y="4103269"/>
            <a:ext cx="9903785" cy="15470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20000"/>
              </a:lnSpc>
            </a:pPr>
            <a:r>
              <a:t>D[1, 1] = min{D[1, 1], D[1,1] + D[1, 1]}=min{0, 0 + 0} = 0</a:t>
            </a:r>
          </a:p>
          <a:p>
            <a:pPr>
              <a:lnSpc>
                <a:spcPct val="120000"/>
              </a:lnSpc>
            </a:pPr>
            <a:r>
              <a:t>D[1, 2] = min{D[1, 2], D[1,1] + D[1, 2]}=min{4, 0 + 4} = 4</a:t>
            </a:r>
          </a:p>
          <a:p>
            <a:pPr>
              <a:lnSpc>
                <a:spcPct val="120000"/>
              </a:lnSpc>
            </a:pPr>
            <a:r>
              <a:t>D[1, 3] = min{D[1, 3], D[1,1] + D[1, 3]}=min{11, 0 + 11} = 11</a:t>
            </a:r>
          </a:p>
        </p:txBody>
      </p:sp>
      <p:sp>
        <p:nvSpPr>
          <p:cNvPr id="828" name="Shape 1391"/>
          <p:cNvSpPr txBox="1"/>
          <p:nvPr/>
        </p:nvSpPr>
        <p:spPr>
          <a:xfrm>
            <a:off x="1731433" y="171644"/>
            <a:ext cx="9537702" cy="931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marR="57798" algn="ctr" defTabSz="1295400">
              <a:lnSpc>
                <a:spcPct val="115000"/>
              </a:lnSpc>
              <a:defRPr sz="45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Floyd-Warshall算法</a:t>
            </a:r>
          </a:p>
        </p:txBody>
      </p:sp>
      <p:grpSp>
        <p:nvGrpSpPr>
          <p:cNvPr id="848" name="成组"/>
          <p:cNvGrpSpPr/>
          <p:nvPr/>
        </p:nvGrpSpPr>
        <p:grpSpPr>
          <a:xfrm>
            <a:off x="8694101" y="1149882"/>
            <a:ext cx="3151861" cy="2830741"/>
            <a:chOff x="0" y="0"/>
            <a:chExt cx="3151859" cy="2830739"/>
          </a:xfrm>
        </p:grpSpPr>
        <p:grpSp>
          <p:nvGrpSpPr>
            <p:cNvPr id="831" name="Group 1947"/>
            <p:cNvGrpSpPr/>
            <p:nvPr/>
          </p:nvGrpSpPr>
          <p:grpSpPr>
            <a:xfrm>
              <a:off x="0" y="673049"/>
              <a:ext cx="695399" cy="614500"/>
              <a:chOff x="0" y="0"/>
              <a:chExt cx="695398" cy="614498"/>
            </a:xfrm>
          </p:grpSpPr>
          <p:sp>
            <p:nvSpPr>
              <p:cNvPr id="829" name="Shape 1945"/>
              <p:cNvSpPr/>
              <p:nvPr/>
            </p:nvSpPr>
            <p:spPr>
              <a:xfrm>
                <a:off x="-1" y="11057"/>
                <a:ext cx="695399" cy="598315"/>
              </a:xfrm>
              <a:prstGeom prst="ellipse">
                <a:avLst/>
              </a:prstGeom>
              <a:solidFill>
                <a:srgbClr val="FFFF99"/>
              </a:solidFill>
              <a:ln w="25400" cap="sq">
                <a:solidFill>
                  <a:srgbClr val="8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30" name="Shape 1946"/>
              <p:cNvSpPr txBox="1"/>
              <p:nvPr/>
            </p:nvSpPr>
            <p:spPr>
              <a:xfrm>
                <a:off x="154189" y="0"/>
                <a:ext cx="387017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sz="38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1</a:t>
                </a:r>
              </a:p>
            </p:txBody>
          </p:sp>
        </p:grpSp>
        <p:grpSp>
          <p:nvGrpSpPr>
            <p:cNvPr id="834" name="Group 1950"/>
            <p:cNvGrpSpPr/>
            <p:nvPr/>
          </p:nvGrpSpPr>
          <p:grpSpPr>
            <a:xfrm>
              <a:off x="1176866" y="2216240"/>
              <a:ext cx="695399" cy="614500"/>
              <a:chOff x="0" y="0"/>
              <a:chExt cx="695398" cy="614498"/>
            </a:xfrm>
          </p:grpSpPr>
          <p:sp>
            <p:nvSpPr>
              <p:cNvPr id="832" name="Shape 1948"/>
              <p:cNvSpPr/>
              <p:nvPr/>
            </p:nvSpPr>
            <p:spPr>
              <a:xfrm>
                <a:off x="-1" y="12186"/>
                <a:ext cx="695399" cy="596905"/>
              </a:xfrm>
              <a:prstGeom prst="ellipse">
                <a:avLst/>
              </a:prstGeom>
              <a:solidFill>
                <a:srgbClr val="FFFF99"/>
              </a:solidFill>
              <a:ln w="25400" cap="sq">
                <a:solidFill>
                  <a:srgbClr val="8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33" name="Shape 1949"/>
              <p:cNvSpPr txBox="1"/>
              <p:nvPr/>
            </p:nvSpPr>
            <p:spPr>
              <a:xfrm>
                <a:off x="149109" y="0"/>
                <a:ext cx="387017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sz="38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3</a:t>
                </a:r>
              </a:p>
            </p:txBody>
          </p:sp>
        </p:grpSp>
        <p:grpSp>
          <p:nvGrpSpPr>
            <p:cNvPr id="837" name="Group 1953"/>
            <p:cNvGrpSpPr/>
            <p:nvPr/>
          </p:nvGrpSpPr>
          <p:grpSpPr>
            <a:xfrm>
              <a:off x="2456461" y="680951"/>
              <a:ext cx="695399" cy="614500"/>
              <a:chOff x="0" y="0"/>
              <a:chExt cx="695398" cy="614498"/>
            </a:xfrm>
          </p:grpSpPr>
          <p:sp>
            <p:nvSpPr>
              <p:cNvPr id="835" name="Shape 1951"/>
              <p:cNvSpPr/>
              <p:nvPr/>
            </p:nvSpPr>
            <p:spPr>
              <a:xfrm>
                <a:off x="-1" y="12186"/>
                <a:ext cx="695399" cy="596905"/>
              </a:xfrm>
              <a:prstGeom prst="ellipse">
                <a:avLst/>
              </a:prstGeom>
              <a:solidFill>
                <a:srgbClr val="FFFF99"/>
              </a:solidFill>
              <a:ln w="25400" cap="sq">
                <a:solidFill>
                  <a:srgbClr val="8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36" name="Shape 1952"/>
              <p:cNvSpPr txBox="1"/>
              <p:nvPr/>
            </p:nvSpPr>
            <p:spPr>
              <a:xfrm>
                <a:off x="154189" y="0"/>
                <a:ext cx="387017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sz="38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2</a:t>
                </a:r>
              </a:p>
            </p:txBody>
          </p:sp>
        </p:grpSp>
        <p:sp>
          <p:nvSpPr>
            <p:cNvPr id="838" name="Shape 1954"/>
            <p:cNvSpPr txBox="1"/>
            <p:nvPr/>
          </p:nvSpPr>
          <p:spPr>
            <a:xfrm>
              <a:off x="302541" y="1810737"/>
              <a:ext cx="520702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defRPr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839" name="Shape 1955"/>
            <p:cNvSpPr txBox="1"/>
            <p:nvPr/>
          </p:nvSpPr>
          <p:spPr>
            <a:xfrm>
              <a:off x="2352604" y="1929553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840" name="Shape 1956"/>
            <p:cNvSpPr txBox="1"/>
            <p:nvPr/>
          </p:nvSpPr>
          <p:spPr>
            <a:xfrm>
              <a:off x="1381759" y="0"/>
              <a:ext cx="362600" cy="5172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6</a:t>
              </a:r>
            </a:p>
          </p:txBody>
        </p:sp>
        <p:sp>
          <p:nvSpPr>
            <p:cNvPr id="841" name="Shape 1957"/>
            <p:cNvSpPr txBox="1"/>
            <p:nvPr/>
          </p:nvSpPr>
          <p:spPr>
            <a:xfrm>
              <a:off x="1329830" y="787964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842" name="Shape 1958"/>
            <p:cNvSpPr/>
            <p:nvPr/>
          </p:nvSpPr>
          <p:spPr>
            <a:xfrm>
              <a:off x="708941" y="1110826"/>
              <a:ext cx="1841502" cy="2103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529" fill="norm" stroke="1" extrusionOk="0">
                  <a:moveTo>
                    <a:pt x="21600" y="6900"/>
                  </a:moveTo>
                  <a:cubicBezTo>
                    <a:pt x="17711" y="14250"/>
                    <a:pt x="13823" y="21600"/>
                    <a:pt x="10236" y="20400"/>
                  </a:cubicBezTo>
                  <a:cubicBezTo>
                    <a:pt x="6648" y="19200"/>
                    <a:pt x="3311" y="9600"/>
                    <a:pt x="0" y="0"/>
                  </a:cubicBezTo>
                </a:path>
              </a:pathLst>
            </a:custGeom>
            <a:noFill/>
            <a:ln w="38100" cap="sq">
              <a:solidFill>
                <a:srgbClr val="8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43" name="Shape 1959"/>
            <p:cNvSpPr/>
            <p:nvPr/>
          </p:nvSpPr>
          <p:spPr>
            <a:xfrm rot="10680000">
              <a:off x="582141" y="534721"/>
              <a:ext cx="1943948" cy="2553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529" fill="norm" stroke="1" extrusionOk="0">
                  <a:moveTo>
                    <a:pt x="21600" y="6900"/>
                  </a:moveTo>
                  <a:cubicBezTo>
                    <a:pt x="17711" y="14250"/>
                    <a:pt x="13823" y="21600"/>
                    <a:pt x="10236" y="20400"/>
                  </a:cubicBezTo>
                  <a:cubicBezTo>
                    <a:pt x="6648" y="19200"/>
                    <a:pt x="3311" y="9600"/>
                    <a:pt x="0" y="0"/>
                  </a:cubicBezTo>
                </a:path>
              </a:pathLst>
            </a:custGeom>
            <a:noFill/>
            <a:ln w="38100" cap="sq">
              <a:solidFill>
                <a:srgbClr val="8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44" name="Shape 1960"/>
            <p:cNvSpPr/>
            <p:nvPr/>
          </p:nvSpPr>
          <p:spPr>
            <a:xfrm flipH="1" rot="14280000">
              <a:off x="361464" y="1622539"/>
              <a:ext cx="1332092" cy="1931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529" fill="norm" stroke="1" extrusionOk="0">
                  <a:moveTo>
                    <a:pt x="21600" y="6900"/>
                  </a:moveTo>
                  <a:cubicBezTo>
                    <a:pt x="17711" y="14250"/>
                    <a:pt x="13823" y="21600"/>
                    <a:pt x="10236" y="20400"/>
                  </a:cubicBezTo>
                  <a:cubicBezTo>
                    <a:pt x="6648" y="19200"/>
                    <a:pt x="3311" y="9600"/>
                    <a:pt x="0" y="0"/>
                  </a:cubicBezTo>
                </a:path>
              </a:pathLst>
            </a:custGeom>
            <a:noFill/>
            <a:ln w="38100" cap="sq">
              <a:solidFill>
                <a:srgbClr val="8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45" name="Shape 1961"/>
            <p:cNvSpPr/>
            <p:nvPr/>
          </p:nvSpPr>
          <p:spPr>
            <a:xfrm flipH="1" rot="3300000">
              <a:off x="57157" y="1792804"/>
              <a:ext cx="1332091" cy="1931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529" fill="norm" stroke="1" extrusionOk="0">
                  <a:moveTo>
                    <a:pt x="21600" y="6900"/>
                  </a:moveTo>
                  <a:cubicBezTo>
                    <a:pt x="17711" y="14250"/>
                    <a:pt x="13823" y="21600"/>
                    <a:pt x="10236" y="20400"/>
                  </a:cubicBezTo>
                  <a:cubicBezTo>
                    <a:pt x="6648" y="19200"/>
                    <a:pt x="3311" y="9600"/>
                    <a:pt x="0" y="0"/>
                  </a:cubicBezTo>
                </a:path>
              </a:pathLst>
            </a:custGeom>
            <a:noFill/>
            <a:ln w="38100" cap="sq">
              <a:solidFill>
                <a:srgbClr val="8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46" name="Shape 1962"/>
            <p:cNvSpPr/>
            <p:nvPr/>
          </p:nvSpPr>
          <p:spPr>
            <a:xfrm flipH="1" rot="18540000">
              <a:off x="1635432" y="1811054"/>
              <a:ext cx="1433691" cy="1931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529" fill="norm" stroke="1" extrusionOk="0">
                  <a:moveTo>
                    <a:pt x="21600" y="6900"/>
                  </a:moveTo>
                  <a:cubicBezTo>
                    <a:pt x="17711" y="14250"/>
                    <a:pt x="13823" y="21600"/>
                    <a:pt x="10236" y="20400"/>
                  </a:cubicBezTo>
                  <a:cubicBezTo>
                    <a:pt x="6648" y="19200"/>
                    <a:pt x="3311" y="9600"/>
                    <a:pt x="0" y="0"/>
                  </a:cubicBezTo>
                </a:path>
              </a:pathLst>
            </a:custGeom>
            <a:noFill/>
            <a:ln w="38100" cap="sq">
              <a:solidFill>
                <a:srgbClr val="8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47" name="Shape 1963"/>
            <p:cNvSpPr txBox="1"/>
            <p:nvPr/>
          </p:nvSpPr>
          <p:spPr>
            <a:xfrm>
              <a:off x="1086273" y="1406595"/>
              <a:ext cx="538961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0" name="成组"/>
          <p:cNvGrpSpPr/>
          <p:nvPr/>
        </p:nvGrpSpPr>
        <p:grpSpPr>
          <a:xfrm>
            <a:off x="4193993" y="1276771"/>
            <a:ext cx="3114042" cy="2418454"/>
            <a:chOff x="0" y="0"/>
            <a:chExt cx="3114041" cy="2418452"/>
          </a:xfrm>
        </p:grpSpPr>
        <p:sp>
          <p:nvSpPr>
            <p:cNvPr id="850" name="Shape 1925"/>
            <p:cNvSpPr txBox="1"/>
            <p:nvPr/>
          </p:nvSpPr>
          <p:spPr>
            <a:xfrm>
              <a:off x="0" y="417407"/>
              <a:ext cx="1041401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algn="ctr" defTabSz="1295400">
                <a:spcBef>
                  <a:spcPts val="1900"/>
                </a:spcBef>
                <a:defRPr sz="2400">
                  <a:solidFill>
                    <a:srgbClr val="990000"/>
                  </a:solidFill>
                  <a:uFill>
                    <a:solidFill>
                      <a:srgbClr val="99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851" name="Shape 1926"/>
            <p:cNvSpPr txBox="1"/>
            <p:nvPr/>
          </p:nvSpPr>
          <p:spPr>
            <a:xfrm>
              <a:off x="995679" y="417407"/>
              <a:ext cx="10414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algn="ctr" defTabSz="1295400">
                <a:spcBef>
                  <a:spcPts val="1900"/>
                </a:spcBef>
                <a:defRPr sz="2400">
                  <a:solidFill>
                    <a:srgbClr val="990000"/>
                  </a:solidFill>
                  <a:uFill>
                    <a:solidFill>
                      <a:srgbClr val="99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852" name="Shape 1927"/>
            <p:cNvSpPr txBox="1"/>
            <p:nvPr/>
          </p:nvSpPr>
          <p:spPr>
            <a:xfrm>
              <a:off x="995679" y="1164449"/>
              <a:ext cx="10414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algn="ctr" defTabSz="1295400">
                <a:spcBef>
                  <a:spcPts val="1900"/>
                </a:spcBef>
                <a:defRPr sz="2400">
                  <a:solidFill>
                    <a:srgbClr val="990000"/>
                  </a:solidFill>
                  <a:uFill>
                    <a:solidFill>
                      <a:srgbClr val="99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853" name="Shape 1928"/>
            <p:cNvSpPr txBox="1"/>
            <p:nvPr/>
          </p:nvSpPr>
          <p:spPr>
            <a:xfrm>
              <a:off x="0" y="1944229"/>
              <a:ext cx="1041401" cy="43155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algn="ctr" defTabSz="1295400">
                <a:spcBef>
                  <a:spcPts val="1900"/>
                </a:spcBef>
                <a:defRPr sz="2400">
                  <a:solidFill>
                    <a:srgbClr val="990000"/>
                  </a:solidFill>
                  <a:uFill>
                    <a:solidFill>
                      <a:srgbClr val="99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854" name="Shape 1929"/>
            <p:cNvSpPr txBox="1"/>
            <p:nvPr/>
          </p:nvSpPr>
          <p:spPr>
            <a:xfrm>
              <a:off x="995679" y="1944229"/>
              <a:ext cx="1041402" cy="4742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algn="ctr" defTabSz="1295400">
                <a:spcBef>
                  <a:spcPts val="1900"/>
                </a:spcBef>
                <a:defRPr baseline="-20000" sz="2400">
                  <a:solidFill>
                    <a:srgbClr val="990000"/>
                  </a:solidFill>
                  <a:uFill>
                    <a:solidFill>
                      <a:srgbClr val="990000"/>
                    </a:solidFill>
                  </a:uFill>
                </a:defRPr>
              </a:lvl1pPr>
            </a:lstStyle>
            <a:p>
              <a:pPr/>
              <a:r>
                <a:t>∞</a:t>
              </a:r>
            </a:p>
          </p:txBody>
        </p:sp>
        <p:sp>
          <p:nvSpPr>
            <p:cNvPr id="855" name="Shape 1930"/>
            <p:cNvSpPr txBox="1"/>
            <p:nvPr/>
          </p:nvSpPr>
          <p:spPr>
            <a:xfrm>
              <a:off x="348262" y="0"/>
              <a:ext cx="1549402" cy="43155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  <p:sp>
          <p:nvSpPr>
            <p:cNvPr id="856" name="Shape 1931"/>
            <p:cNvSpPr txBox="1"/>
            <p:nvPr/>
          </p:nvSpPr>
          <p:spPr>
            <a:xfrm>
              <a:off x="2072640" y="417407"/>
              <a:ext cx="10414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algn="ctr" defTabSz="1295400">
                <a:spcBef>
                  <a:spcPts val="1900"/>
                </a:spcBef>
                <a:defRPr sz="2400">
                  <a:solidFill>
                    <a:srgbClr val="990000"/>
                  </a:solidFill>
                  <a:uFill>
                    <a:solidFill>
                      <a:srgbClr val="990000"/>
                    </a:solidFill>
                  </a:uFill>
                </a:defRPr>
              </a:lvl1pPr>
            </a:lstStyle>
            <a:p>
              <a:pPr/>
              <a:r>
                <a:t>11</a:t>
              </a:r>
            </a:p>
          </p:txBody>
        </p:sp>
        <p:sp>
          <p:nvSpPr>
            <p:cNvPr id="857" name="Shape 1932"/>
            <p:cNvSpPr txBox="1"/>
            <p:nvPr/>
          </p:nvSpPr>
          <p:spPr>
            <a:xfrm>
              <a:off x="0" y="1164449"/>
              <a:ext cx="1041401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algn="ctr" defTabSz="1295400">
                <a:spcBef>
                  <a:spcPts val="1900"/>
                </a:spcBef>
                <a:defRPr sz="2400">
                  <a:solidFill>
                    <a:srgbClr val="990000"/>
                  </a:solidFill>
                  <a:uFill>
                    <a:solidFill>
                      <a:srgbClr val="990000"/>
                    </a:solidFill>
                  </a:uFill>
                </a:defRPr>
              </a:lvl1pPr>
            </a:lstStyle>
            <a:p>
              <a:pPr/>
              <a:r>
                <a:t>6</a:t>
              </a:r>
            </a:p>
          </p:txBody>
        </p:sp>
        <p:sp>
          <p:nvSpPr>
            <p:cNvPr id="858" name="Shape 1933"/>
            <p:cNvSpPr txBox="1"/>
            <p:nvPr/>
          </p:nvSpPr>
          <p:spPr>
            <a:xfrm>
              <a:off x="2072640" y="1164449"/>
              <a:ext cx="10414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algn="ctr" defTabSz="1295400">
                <a:spcBef>
                  <a:spcPts val="1900"/>
                </a:spcBef>
                <a:defRPr sz="2400">
                  <a:solidFill>
                    <a:srgbClr val="990000"/>
                  </a:solidFill>
                  <a:uFill>
                    <a:solidFill>
                      <a:srgbClr val="99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859" name="Shape 1934"/>
            <p:cNvSpPr txBox="1"/>
            <p:nvPr/>
          </p:nvSpPr>
          <p:spPr>
            <a:xfrm>
              <a:off x="2072640" y="1944229"/>
              <a:ext cx="1041402" cy="43155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algn="ctr" defTabSz="1295400">
                <a:spcBef>
                  <a:spcPts val="1900"/>
                </a:spcBef>
                <a:defRPr sz="2400">
                  <a:solidFill>
                    <a:srgbClr val="990000"/>
                  </a:solidFill>
                  <a:uFill>
                    <a:solidFill>
                      <a:srgbClr val="99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</p:grpSp>
      <p:sp>
        <p:nvSpPr>
          <p:cNvPr id="861" name="Shape 1990"/>
          <p:cNvSpPr txBox="1"/>
          <p:nvPr/>
        </p:nvSpPr>
        <p:spPr>
          <a:xfrm>
            <a:off x="1463350" y="1739900"/>
            <a:ext cx="1543700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加入顶点1</a:t>
            </a:r>
          </a:p>
        </p:txBody>
      </p:sp>
      <p:sp>
        <p:nvSpPr>
          <p:cNvPr id="862" name="D[2, 1] = min{D[2, 1], D[2,1] + D[1, 1]}=min{6, 6 + 0} = 6…"/>
          <p:cNvSpPr txBox="1"/>
          <p:nvPr/>
        </p:nvSpPr>
        <p:spPr>
          <a:xfrm>
            <a:off x="1606809" y="4010163"/>
            <a:ext cx="9551062" cy="15470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20000"/>
              </a:lnSpc>
            </a:pPr>
            <a:r>
              <a:t>D[2, 1] = min{D[2, 1], D[2,1] + D[1, 1]}=min{6, 6 + 0} = 6</a:t>
            </a:r>
          </a:p>
          <a:p>
            <a:pPr>
              <a:lnSpc>
                <a:spcPct val="120000"/>
              </a:lnSpc>
            </a:pPr>
            <a:r>
              <a:t>D[2, 2] = min{D[2, 2], D[2,1] + D[1, 2]}=min{0, 6 + 4} = 0</a:t>
            </a:r>
          </a:p>
          <a:p>
            <a:pPr>
              <a:lnSpc>
                <a:spcPct val="120000"/>
              </a:lnSpc>
            </a:pPr>
            <a:r>
              <a:t>D[2, 3] = min{D[2, 3], D[2,1] + D[1, 3]}=min{2, 6 + 11} = 2</a:t>
            </a:r>
          </a:p>
        </p:txBody>
      </p:sp>
      <p:grpSp>
        <p:nvGrpSpPr>
          <p:cNvPr id="882" name="成组"/>
          <p:cNvGrpSpPr/>
          <p:nvPr/>
        </p:nvGrpSpPr>
        <p:grpSpPr>
          <a:xfrm>
            <a:off x="8694101" y="1149882"/>
            <a:ext cx="3151861" cy="2830741"/>
            <a:chOff x="0" y="0"/>
            <a:chExt cx="3151859" cy="2830739"/>
          </a:xfrm>
        </p:grpSpPr>
        <p:grpSp>
          <p:nvGrpSpPr>
            <p:cNvPr id="865" name="Group 1947"/>
            <p:cNvGrpSpPr/>
            <p:nvPr/>
          </p:nvGrpSpPr>
          <p:grpSpPr>
            <a:xfrm>
              <a:off x="0" y="673049"/>
              <a:ext cx="695399" cy="614500"/>
              <a:chOff x="0" y="0"/>
              <a:chExt cx="695398" cy="614498"/>
            </a:xfrm>
          </p:grpSpPr>
          <p:sp>
            <p:nvSpPr>
              <p:cNvPr id="863" name="Shape 1945"/>
              <p:cNvSpPr/>
              <p:nvPr/>
            </p:nvSpPr>
            <p:spPr>
              <a:xfrm>
                <a:off x="-1" y="11057"/>
                <a:ext cx="695399" cy="598315"/>
              </a:xfrm>
              <a:prstGeom prst="ellipse">
                <a:avLst/>
              </a:prstGeom>
              <a:solidFill>
                <a:srgbClr val="FFFF99"/>
              </a:solidFill>
              <a:ln w="25400" cap="sq">
                <a:solidFill>
                  <a:srgbClr val="8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64" name="Shape 1946"/>
              <p:cNvSpPr txBox="1"/>
              <p:nvPr/>
            </p:nvSpPr>
            <p:spPr>
              <a:xfrm>
                <a:off x="154189" y="0"/>
                <a:ext cx="387017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sz="38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1</a:t>
                </a:r>
              </a:p>
            </p:txBody>
          </p:sp>
        </p:grpSp>
        <p:grpSp>
          <p:nvGrpSpPr>
            <p:cNvPr id="868" name="Group 1950"/>
            <p:cNvGrpSpPr/>
            <p:nvPr/>
          </p:nvGrpSpPr>
          <p:grpSpPr>
            <a:xfrm>
              <a:off x="1176866" y="2216240"/>
              <a:ext cx="695399" cy="614500"/>
              <a:chOff x="0" y="0"/>
              <a:chExt cx="695398" cy="614498"/>
            </a:xfrm>
          </p:grpSpPr>
          <p:sp>
            <p:nvSpPr>
              <p:cNvPr id="866" name="Shape 1948"/>
              <p:cNvSpPr/>
              <p:nvPr/>
            </p:nvSpPr>
            <p:spPr>
              <a:xfrm>
                <a:off x="-1" y="12186"/>
                <a:ext cx="695399" cy="596905"/>
              </a:xfrm>
              <a:prstGeom prst="ellipse">
                <a:avLst/>
              </a:prstGeom>
              <a:solidFill>
                <a:srgbClr val="FFFF99"/>
              </a:solidFill>
              <a:ln w="25400" cap="sq">
                <a:solidFill>
                  <a:srgbClr val="8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67" name="Shape 1949"/>
              <p:cNvSpPr txBox="1"/>
              <p:nvPr/>
            </p:nvSpPr>
            <p:spPr>
              <a:xfrm>
                <a:off x="149109" y="0"/>
                <a:ext cx="387017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sz="38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3</a:t>
                </a:r>
              </a:p>
            </p:txBody>
          </p:sp>
        </p:grpSp>
        <p:grpSp>
          <p:nvGrpSpPr>
            <p:cNvPr id="871" name="Group 1953"/>
            <p:cNvGrpSpPr/>
            <p:nvPr/>
          </p:nvGrpSpPr>
          <p:grpSpPr>
            <a:xfrm>
              <a:off x="2456461" y="680951"/>
              <a:ext cx="695399" cy="614500"/>
              <a:chOff x="0" y="0"/>
              <a:chExt cx="695398" cy="614498"/>
            </a:xfrm>
          </p:grpSpPr>
          <p:sp>
            <p:nvSpPr>
              <p:cNvPr id="869" name="Shape 1951"/>
              <p:cNvSpPr/>
              <p:nvPr/>
            </p:nvSpPr>
            <p:spPr>
              <a:xfrm>
                <a:off x="-1" y="12186"/>
                <a:ext cx="695399" cy="596905"/>
              </a:xfrm>
              <a:prstGeom prst="ellipse">
                <a:avLst/>
              </a:prstGeom>
              <a:solidFill>
                <a:srgbClr val="FFFF99"/>
              </a:solidFill>
              <a:ln w="25400" cap="sq">
                <a:solidFill>
                  <a:srgbClr val="8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70" name="Shape 1952"/>
              <p:cNvSpPr txBox="1"/>
              <p:nvPr/>
            </p:nvSpPr>
            <p:spPr>
              <a:xfrm>
                <a:off x="154189" y="0"/>
                <a:ext cx="387017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sz="38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2</a:t>
                </a:r>
              </a:p>
            </p:txBody>
          </p:sp>
        </p:grpSp>
        <p:sp>
          <p:nvSpPr>
            <p:cNvPr id="872" name="Shape 1954"/>
            <p:cNvSpPr txBox="1"/>
            <p:nvPr/>
          </p:nvSpPr>
          <p:spPr>
            <a:xfrm>
              <a:off x="302541" y="1810737"/>
              <a:ext cx="520702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defRPr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873" name="Shape 1955"/>
            <p:cNvSpPr txBox="1"/>
            <p:nvPr/>
          </p:nvSpPr>
          <p:spPr>
            <a:xfrm>
              <a:off x="2352604" y="1929553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874" name="Shape 1956"/>
            <p:cNvSpPr txBox="1"/>
            <p:nvPr/>
          </p:nvSpPr>
          <p:spPr>
            <a:xfrm>
              <a:off x="1381759" y="0"/>
              <a:ext cx="362600" cy="5172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6</a:t>
              </a:r>
            </a:p>
          </p:txBody>
        </p:sp>
        <p:sp>
          <p:nvSpPr>
            <p:cNvPr id="875" name="Shape 1957"/>
            <p:cNvSpPr txBox="1"/>
            <p:nvPr/>
          </p:nvSpPr>
          <p:spPr>
            <a:xfrm>
              <a:off x="1329830" y="787964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876" name="Shape 1958"/>
            <p:cNvSpPr/>
            <p:nvPr/>
          </p:nvSpPr>
          <p:spPr>
            <a:xfrm>
              <a:off x="708941" y="1110826"/>
              <a:ext cx="1841502" cy="2103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529" fill="norm" stroke="1" extrusionOk="0">
                  <a:moveTo>
                    <a:pt x="21600" y="6900"/>
                  </a:moveTo>
                  <a:cubicBezTo>
                    <a:pt x="17711" y="14250"/>
                    <a:pt x="13823" y="21600"/>
                    <a:pt x="10236" y="20400"/>
                  </a:cubicBezTo>
                  <a:cubicBezTo>
                    <a:pt x="6648" y="19200"/>
                    <a:pt x="3311" y="9600"/>
                    <a:pt x="0" y="0"/>
                  </a:cubicBezTo>
                </a:path>
              </a:pathLst>
            </a:custGeom>
            <a:noFill/>
            <a:ln w="38100" cap="sq">
              <a:solidFill>
                <a:srgbClr val="8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77" name="Shape 1959"/>
            <p:cNvSpPr/>
            <p:nvPr/>
          </p:nvSpPr>
          <p:spPr>
            <a:xfrm rot="10680000">
              <a:off x="582141" y="534721"/>
              <a:ext cx="1943948" cy="2553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529" fill="norm" stroke="1" extrusionOk="0">
                  <a:moveTo>
                    <a:pt x="21600" y="6900"/>
                  </a:moveTo>
                  <a:cubicBezTo>
                    <a:pt x="17711" y="14250"/>
                    <a:pt x="13823" y="21600"/>
                    <a:pt x="10236" y="20400"/>
                  </a:cubicBezTo>
                  <a:cubicBezTo>
                    <a:pt x="6648" y="19200"/>
                    <a:pt x="3311" y="9600"/>
                    <a:pt x="0" y="0"/>
                  </a:cubicBezTo>
                </a:path>
              </a:pathLst>
            </a:custGeom>
            <a:noFill/>
            <a:ln w="38100" cap="sq">
              <a:solidFill>
                <a:srgbClr val="8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78" name="Shape 1960"/>
            <p:cNvSpPr/>
            <p:nvPr/>
          </p:nvSpPr>
          <p:spPr>
            <a:xfrm flipH="1" rot="14280000">
              <a:off x="361464" y="1622539"/>
              <a:ext cx="1332092" cy="1931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529" fill="norm" stroke="1" extrusionOk="0">
                  <a:moveTo>
                    <a:pt x="21600" y="6900"/>
                  </a:moveTo>
                  <a:cubicBezTo>
                    <a:pt x="17711" y="14250"/>
                    <a:pt x="13823" y="21600"/>
                    <a:pt x="10236" y="20400"/>
                  </a:cubicBezTo>
                  <a:cubicBezTo>
                    <a:pt x="6648" y="19200"/>
                    <a:pt x="3311" y="9600"/>
                    <a:pt x="0" y="0"/>
                  </a:cubicBezTo>
                </a:path>
              </a:pathLst>
            </a:custGeom>
            <a:noFill/>
            <a:ln w="38100" cap="sq">
              <a:solidFill>
                <a:srgbClr val="8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79" name="Shape 1961"/>
            <p:cNvSpPr/>
            <p:nvPr/>
          </p:nvSpPr>
          <p:spPr>
            <a:xfrm flipH="1" rot="3300000">
              <a:off x="57157" y="1792804"/>
              <a:ext cx="1332091" cy="1931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529" fill="norm" stroke="1" extrusionOk="0">
                  <a:moveTo>
                    <a:pt x="21600" y="6900"/>
                  </a:moveTo>
                  <a:cubicBezTo>
                    <a:pt x="17711" y="14250"/>
                    <a:pt x="13823" y="21600"/>
                    <a:pt x="10236" y="20400"/>
                  </a:cubicBezTo>
                  <a:cubicBezTo>
                    <a:pt x="6648" y="19200"/>
                    <a:pt x="3311" y="9600"/>
                    <a:pt x="0" y="0"/>
                  </a:cubicBezTo>
                </a:path>
              </a:pathLst>
            </a:custGeom>
            <a:noFill/>
            <a:ln w="38100" cap="sq">
              <a:solidFill>
                <a:srgbClr val="8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80" name="Shape 1962"/>
            <p:cNvSpPr/>
            <p:nvPr/>
          </p:nvSpPr>
          <p:spPr>
            <a:xfrm flipH="1" rot="18540000">
              <a:off x="1635432" y="1811054"/>
              <a:ext cx="1433691" cy="1931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529" fill="norm" stroke="1" extrusionOk="0">
                  <a:moveTo>
                    <a:pt x="21600" y="6900"/>
                  </a:moveTo>
                  <a:cubicBezTo>
                    <a:pt x="17711" y="14250"/>
                    <a:pt x="13823" y="21600"/>
                    <a:pt x="10236" y="20400"/>
                  </a:cubicBezTo>
                  <a:cubicBezTo>
                    <a:pt x="6648" y="19200"/>
                    <a:pt x="3311" y="9600"/>
                    <a:pt x="0" y="0"/>
                  </a:cubicBezTo>
                </a:path>
              </a:pathLst>
            </a:custGeom>
            <a:noFill/>
            <a:ln w="38100" cap="sq">
              <a:solidFill>
                <a:srgbClr val="8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81" name="Shape 1963"/>
            <p:cNvSpPr txBox="1"/>
            <p:nvPr/>
          </p:nvSpPr>
          <p:spPr>
            <a:xfrm>
              <a:off x="1086273" y="1406595"/>
              <a:ext cx="538961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11</a:t>
              </a:r>
            </a:p>
          </p:txBody>
        </p:sp>
      </p:grpSp>
      <p:sp>
        <p:nvSpPr>
          <p:cNvPr id="883" name="Shape 1391"/>
          <p:cNvSpPr txBox="1"/>
          <p:nvPr/>
        </p:nvSpPr>
        <p:spPr>
          <a:xfrm>
            <a:off x="1731433" y="171644"/>
            <a:ext cx="9537702" cy="931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marR="57798" algn="ctr" defTabSz="1295400">
              <a:lnSpc>
                <a:spcPct val="115000"/>
              </a:lnSpc>
              <a:defRPr sz="45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Floyd-Warshall算法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5" name="成组"/>
          <p:cNvGrpSpPr/>
          <p:nvPr/>
        </p:nvGrpSpPr>
        <p:grpSpPr>
          <a:xfrm>
            <a:off x="4193993" y="1276771"/>
            <a:ext cx="3114042" cy="2418454"/>
            <a:chOff x="0" y="0"/>
            <a:chExt cx="3114041" cy="2418452"/>
          </a:xfrm>
        </p:grpSpPr>
        <p:sp>
          <p:nvSpPr>
            <p:cNvPr id="885" name="Shape 1925"/>
            <p:cNvSpPr txBox="1"/>
            <p:nvPr/>
          </p:nvSpPr>
          <p:spPr>
            <a:xfrm>
              <a:off x="0" y="417407"/>
              <a:ext cx="1041401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algn="ctr" defTabSz="1295400">
                <a:spcBef>
                  <a:spcPts val="1900"/>
                </a:spcBef>
                <a:defRPr sz="2400">
                  <a:solidFill>
                    <a:srgbClr val="990000"/>
                  </a:solidFill>
                  <a:uFill>
                    <a:solidFill>
                      <a:srgbClr val="99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886" name="Shape 1926"/>
            <p:cNvSpPr txBox="1"/>
            <p:nvPr/>
          </p:nvSpPr>
          <p:spPr>
            <a:xfrm>
              <a:off x="995679" y="417407"/>
              <a:ext cx="10414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algn="ctr" defTabSz="1295400">
                <a:spcBef>
                  <a:spcPts val="1900"/>
                </a:spcBef>
                <a:defRPr sz="2400">
                  <a:solidFill>
                    <a:srgbClr val="990000"/>
                  </a:solidFill>
                  <a:uFill>
                    <a:solidFill>
                      <a:srgbClr val="99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887" name="Shape 1927"/>
            <p:cNvSpPr txBox="1"/>
            <p:nvPr/>
          </p:nvSpPr>
          <p:spPr>
            <a:xfrm>
              <a:off x="995679" y="1164449"/>
              <a:ext cx="10414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algn="ctr" defTabSz="1295400">
                <a:spcBef>
                  <a:spcPts val="1900"/>
                </a:spcBef>
                <a:defRPr sz="2400">
                  <a:solidFill>
                    <a:srgbClr val="990000"/>
                  </a:solidFill>
                  <a:uFill>
                    <a:solidFill>
                      <a:srgbClr val="99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888" name="Shape 1928"/>
            <p:cNvSpPr txBox="1"/>
            <p:nvPr/>
          </p:nvSpPr>
          <p:spPr>
            <a:xfrm>
              <a:off x="0" y="1944229"/>
              <a:ext cx="1041401" cy="43155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algn="ctr" defTabSz="1295400">
                <a:spcBef>
                  <a:spcPts val="1900"/>
                </a:spcBef>
                <a:defRPr sz="2400">
                  <a:solidFill>
                    <a:srgbClr val="990000"/>
                  </a:solidFill>
                  <a:uFill>
                    <a:solidFill>
                      <a:srgbClr val="99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889" name="Shape 1929"/>
            <p:cNvSpPr txBox="1"/>
            <p:nvPr/>
          </p:nvSpPr>
          <p:spPr>
            <a:xfrm>
              <a:off x="995679" y="1944229"/>
              <a:ext cx="1041402" cy="4742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algn="ctr" defTabSz="1295400">
                <a:spcBef>
                  <a:spcPts val="1900"/>
                </a:spcBef>
                <a:defRPr baseline="-20000" sz="2400">
                  <a:solidFill>
                    <a:srgbClr val="990000"/>
                  </a:solidFill>
                  <a:uFill>
                    <a:solidFill>
                      <a:srgbClr val="990000"/>
                    </a:solidFill>
                  </a:uFill>
                </a:defRPr>
              </a:lvl1pPr>
            </a:lstStyle>
            <a:p>
              <a:pPr/>
              <a:r>
                <a:t>∞</a:t>
              </a:r>
            </a:p>
          </p:txBody>
        </p:sp>
        <p:sp>
          <p:nvSpPr>
            <p:cNvPr id="890" name="Shape 1930"/>
            <p:cNvSpPr txBox="1"/>
            <p:nvPr/>
          </p:nvSpPr>
          <p:spPr>
            <a:xfrm>
              <a:off x="348262" y="0"/>
              <a:ext cx="1549402" cy="43155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  <p:sp>
          <p:nvSpPr>
            <p:cNvPr id="891" name="Shape 1931"/>
            <p:cNvSpPr txBox="1"/>
            <p:nvPr/>
          </p:nvSpPr>
          <p:spPr>
            <a:xfrm>
              <a:off x="2072640" y="417407"/>
              <a:ext cx="10414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algn="ctr" defTabSz="1295400">
                <a:spcBef>
                  <a:spcPts val="1900"/>
                </a:spcBef>
                <a:defRPr sz="2400">
                  <a:solidFill>
                    <a:srgbClr val="990000"/>
                  </a:solidFill>
                  <a:uFill>
                    <a:solidFill>
                      <a:srgbClr val="990000"/>
                    </a:solidFill>
                  </a:uFill>
                </a:defRPr>
              </a:lvl1pPr>
            </a:lstStyle>
            <a:p>
              <a:pPr/>
              <a:r>
                <a:t>11</a:t>
              </a:r>
            </a:p>
          </p:txBody>
        </p:sp>
        <p:sp>
          <p:nvSpPr>
            <p:cNvPr id="892" name="Shape 1932"/>
            <p:cNvSpPr txBox="1"/>
            <p:nvPr/>
          </p:nvSpPr>
          <p:spPr>
            <a:xfrm>
              <a:off x="0" y="1164449"/>
              <a:ext cx="1041401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algn="ctr" defTabSz="1295400">
                <a:spcBef>
                  <a:spcPts val="1900"/>
                </a:spcBef>
                <a:defRPr sz="2400">
                  <a:solidFill>
                    <a:srgbClr val="990000"/>
                  </a:solidFill>
                  <a:uFill>
                    <a:solidFill>
                      <a:srgbClr val="990000"/>
                    </a:solidFill>
                  </a:uFill>
                </a:defRPr>
              </a:lvl1pPr>
            </a:lstStyle>
            <a:p>
              <a:pPr/>
              <a:r>
                <a:t>6</a:t>
              </a:r>
            </a:p>
          </p:txBody>
        </p:sp>
        <p:sp>
          <p:nvSpPr>
            <p:cNvPr id="893" name="Shape 1933"/>
            <p:cNvSpPr txBox="1"/>
            <p:nvPr/>
          </p:nvSpPr>
          <p:spPr>
            <a:xfrm>
              <a:off x="2072640" y="1164449"/>
              <a:ext cx="10414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algn="ctr" defTabSz="1295400">
                <a:spcBef>
                  <a:spcPts val="1900"/>
                </a:spcBef>
                <a:defRPr sz="2400">
                  <a:solidFill>
                    <a:srgbClr val="990000"/>
                  </a:solidFill>
                  <a:uFill>
                    <a:solidFill>
                      <a:srgbClr val="99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894" name="Shape 1934"/>
            <p:cNvSpPr txBox="1"/>
            <p:nvPr/>
          </p:nvSpPr>
          <p:spPr>
            <a:xfrm>
              <a:off x="2072640" y="1944229"/>
              <a:ext cx="1041402" cy="43155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algn="ctr" defTabSz="1295400">
                <a:spcBef>
                  <a:spcPts val="1900"/>
                </a:spcBef>
                <a:defRPr sz="2400">
                  <a:solidFill>
                    <a:srgbClr val="990000"/>
                  </a:solidFill>
                  <a:uFill>
                    <a:solidFill>
                      <a:srgbClr val="99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</p:grpSp>
      <p:sp>
        <p:nvSpPr>
          <p:cNvPr id="896" name="Shape 1990"/>
          <p:cNvSpPr txBox="1"/>
          <p:nvPr/>
        </p:nvSpPr>
        <p:spPr>
          <a:xfrm>
            <a:off x="1463350" y="1739900"/>
            <a:ext cx="1543700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加入顶点1</a:t>
            </a:r>
          </a:p>
        </p:txBody>
      </p:sp>
      <p:sp>
        <p:nvSpPr>
          <p:cNvPr id="897" name="D[3, 1] = min{D[3, 1], D[3,1] + D[1, 1]}=min{3, 3 + 0} = 3…"/>
          <p:cNvSpPr txBox="1"/>
          <p:nvPr/>
        </p:nvSpPr>
        <p:spPr>
          <a:xfrm>
            <a:off x="1519444" y="4103269"/>
            <a:ext cx="9551063" cy="15470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20000"/>
              </a:lnSpc>
            </a:pPr>
            <a:r>
              <a:t>D[3, 1] = min{D[3, 1], D[3,1] + D[1, 1]}=min{3, 3 + 0} = 3</a:t>
            </a:r>
          </a:p>
          <a:p>
            <a:pPr>
              <a:lnSpc>
                <a:spcPct val="120000"/>
              </a:lnSpc>
            </a:pPr>
            <a:r>
              <a:t>D[3, 2] = min{D[3, 2], D[3,1] + D[1, 2]}=min{∞, 3 + 4} = </a:t>
            </a:r>
            <a:r>
              <a:rPr>
                <a:solidFill>
                  <a:schemeClr val="accent1"/>
                </a:solidFill>
              </a:rPr>
              <a:t>7</a:t>
            </a:r>
          </a:p>
          <a:p>
            <a:pPr>
              <a:lnSpc>
                <a:spcPct val="120000"/>
              </a:lnSpc>
            </a:pPr>
            <a:r>
              <a:t>D[3, 3] = min{D[3, 3], D[3,1] + D[1, 3]}=min{0, 3 + 11} = 0</a:t>
            </a:r>
          </a:p>
        </p:txBody>
      </p:sp>
      <p:grpSp>
        <p:nvGrpSpPr>
          <p:cNvPr id="917" name="成组"/>
          <p:cNvGrpSpPr/>
          <p:nvPr/>
        </p:nvGrpSpPr>
        <p:grpSpPr>
          <a:xfrm>
            <a:off x="8694101" y="1149882"/>
            <a:ext cx="3151861" cy="2830741"/>
            <a:chOff x="0" y="0"/>
            <a:chExt cx="3151859" cy="2830739"/>
          </a:xfrm>
        </p:grpSpPr>
        <p:grpSp>
          <p:nvGrpSpPr>
            <p:cNvPr id="900" name="Group 1947"/>
            <p:cNvGrpSpPr/>
            <p:nvPr/>
          </p:nvGrpSpPr>
          <p:grpSpPr>
            <a:xfrm>
              <a:off x="0" y="673049"/>
              <a:ext cx="695399" cy="614500"/>
              <a:chOff x="0" y="0"/>
              <a:chExt cx="695398" cy="614498"/>
            </a:xfrm>
          </p:grpSpPr>
          <p:sp>
            <p:nvSpPr>
              <p:cNvPr id="898" name="Shape 1945"/>
              <p:cNvSpPr/>
              <p:nvPr/>
            </p:nvSpPr>
            <p:spPr>
              <a:xfrm>
                <a:off x="-1" y="11057"/>
                <a:ext cx="695399" cy="598315"/>
              </a:xfrm>
              <a:prstGeom prst="ellipse">
                <a:avLst/>
              </a:prstGeom>
              <a:solidFill>
                <a:srgbClr val="FFFF99"/>
              </a:solidFill>
              <a:ln w="25400" cap="sq">
                <a:solidFill>
                  <a:srgbClr val="8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99" name="Shape 1946"/>
              <p:cNvSpPr txBox="1"/>
              <p:nvPr/>
            </p:nvSpPr>
            <p:spPr>
              <a:xfrm>
                <a:off x="154189" y="0"/>
                <a:ext cx="387017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sz="38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1</a:t>
                </a:r>
              </a:p>
            </p:txBody>
          </p:sp>
        </p:grpSp>
        <p:grpSp>
          <p:nvGrpSpPr>
            <p:cNvPr id="903" name="Group 1950"/>
            <p:cNvGrpSpPr/>
            <p:nvPr/>
          </p:nvGrpSpPr>
          <p:grpSpPr>
            <a:xfrm>
              <a:off x="1176866" y="2216240"/>
              <a:ext cx="695399" cy="614500"/>
              <a:chOff x="0" y="0"/>
              <a:chExt cx="695398" cy="614498"/>
            </a:xfrm>
          </p:grpSpPr>
          <p:sp>
            <p:nvSpPr>
              <p:cNvPr id="901" name="Shape 1948"/>
              <p:cNvSpPr/>
              <p:nvPr/>
            </p:nvSpPr>
            <p:spPr>
              <a:xfrm>
                <a:off x="-1" y="12186"/>
                <a:ext cx="695399" cy="596905"/>
              </a:xfrm>
              <a:prstGeom prst="ellipse">
                <a:avLst/>
              </a:prstGeom>
              <a:solidFill>
                <a:srgbClr val="FFFF99"/>
              </a:solidFill>
              <a:ln w="25400" cap="sq">
                <a:solidFill>
                  <a:srgbClr val="8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02" name="Shape 1949"/>
              <p:cNvSpPr txBox="1"/>
              <p:nvPr/>
            </p:nvSpPr>
            <p:spPr>
              <a:xfrm>
                <a:off x="149109" y="0"/>
                <a:ext cx="387017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sz="38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3</a:t>
                </a:r>
              </a:p>
            </p:txBody>
          </p:sp>
        </p:grpSp>
        <p:grpSp>
          <p:nvGrpSpPr>
            <p:cNvPr id="906" name="Group 1953"/>
            <p:cNvGrpSpPr/>
            <p:nvPr/>
          </p:nvGrpSpPr>
          <p:grpSpPr>
            <a:xfrm>
              <a:off x="2456461" y="680951"/>
              <a:ext cx="695399" cy="614500"/>
              <a:chOff x="0" y="0"/>
              <a:chExt cx="695398" cy="614498"/>
            </a:xfrm>
          </p:grpSpPr>
          <p:sp>
            <p:nvSpPr>
              <p:cNvPr id="904" name="Shape 1951"/>
              <p:cNvSpPr/>
              <p:nvPr/>
            </p:nvSpPr>
            <p:spPr>
              <a:xfrm>
                <a:off x="-1" y="12186"/>
                <a:ext cx="695399" cy="596905"/>
              </a:xfrm>
              <a:prstGeom prst="ellipse">
                <a:avLst/>
              </a:prstGeom>
              <a:solidFill>
                <a:srgbClr val="FFFF99"/>
              </a:solidFill>
              <a:ln w="25400" cap="sq">
                <a:solidFill>
                  <a:srgbClr val="8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05" name="Shape 1952"/>
              <p:cNvSpPr txBox="1"/>
              <p:nvPr/>
            </p:nvSpPr>
            <p:spPr>
              <a:xfrm>
                <a:off x="154189" y="0"/>
                <a:ext cx="387017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sz="38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2</a:t>
                </a:r>
              </a:p>
            </p:txBody>
          </p:sp>
        </p:grpSp>
        <p:sp>
          <p:nvSpPr>
            <p:cNvPr id="907" name="Shape 1954"/>
            <p:cNvSpPr txBox="1"/>
            <p:nvPr/>
          </p:nvSpPr>
          <p:spPr>
            <a:xfrm>
              <a:off x="302541" y="1810737"/>
              <a:ext cx="520702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defRPr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908" name="Shape 1955"/>
            <p:cNvSpPr txBox="1"/>
            <p:nvPr/>
          </p:nvSpPr>
          <p:spPr>
            <a:xfrm>
              <a:off x="2352604" y="1929553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909" name="Shape 1956"/>
            <p:cNvSpPr txBox="1"/>
            <p:nvPr/>
          </p:nvSpPr>
          <p:spPr>
            <a:xfrm>
              <a:off x="1381759" y="0"/>
              <a:ext cx="362600" cy="5172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6</a:t>
              </a:r>
            </a:p>
          </p:txBody>
        </p:sp>
        <p:sp>
          <p:nvSpPr>
            <p:cNvPr id="910" name="Shape 1957"/>
            <p:cNvSpPr txBox="1"/>
            <p:nvPr/>
          </p:nvSpPr>
          <p:spPr>
            <a:xfrm>
              <a:off x="1329830" y="787964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911" name="Shape 1958"/>
            <p:cNvSpPr/>
            <p:nvPr/>
          </p:nvSpPr>
          <p:spPr>
            <a:xfrm>
              <a:off x="708941" y="1110826"/>
              <a:ext cx="1841502" cy="2103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529" fill="norm" stroke="1" extrusionOk="0">
                  <a:moveTo>
                    <a:pt x="21600" y="6900"/>
                  </a:moveTo>
                  <a:cubicBezTo>
                    <a:pt x="17711" y="14250"/>
                    <a:pt x="13823" y="21600"/>
                    <a:pt x="10236" y="20400"/>
                  </a:cubicBezTo>
                  <a:cubicBezTo>
                    <a:pt x="6648" y="19200"/>
                    <a:pt x="3311" y="9600"/>
                    <a:pt x="0" y="0"/>
                  </a:cubicBezTo>
                </a:path>
              </a:pathLst>
            </a:custGeom>
            <a:noFill/>
            <a:ln w="38100" cap="sq">
              <a:solidFill>
                <a:srgbClr val="8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12" name="Shape 1959"/>
            <p:cNvSpPr/>
            <p:nvPr/>
          </p:nvSpPr>
          <p:spPr>
            <a:xfrm rot="10680000">
              <a:off x="582141" y="534721"/>
              <a:ext cx="1943948" cy="2553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529" fill="norm" stroke="1" extrusionOk="0">
                  <a:moveTo>
                    <a:pt x="21600" y="6900"/>
                  </a:moveTo>
                  <a:cubicBezTo>
                    <a:pt x="17711" y="14250"/>
                    <a:pt x="13823" y="21600"/>
                    <a:pt x="10236" y="20400"/>
                  </a:cubicBezTo>
                  <a:cubicBezTo>
                    <a:pt x="6648" y="19200"/>
                    <a:pt x="3311" y="9600"/>
                    <a:pt x="0" y="0"/>
                  </a:cubicBezTo>
                </a:path>
              </a:pathLst>
            </a:custGeom>
            <a:noFill/>
            <a:ln w="38100" cap="sq">
              <a:solidFill>
                <a:srgbClr val="8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13" name="Shape 1960"/>
            <p:cNvSpPr/>
            <p:nvPr/>
          </p:nvSpPr>
          <p:spPr>
            <a:xfrm flipH="1" rot="14280000">
              <a:off x="361464" y="1622539"/>
              <a:ext cx="1332092" cy="1931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529" fill="norm" stroke="1" extrusionOk="0">
                  <a:moveTo>
                    <a:pt x="21600" y="6900"/>
                  </a:moveTo>
                  <a:cubicBezTo>
                    <a:pt x="17711" y="14250"/>
                    <a:pt x="13823" y="21600"/>
                    <a:pt x="10236" y="20400"/>
                  </a:cubicBezTo>
                  <a:cubicBezTo>
                    <a:pt x="6648" y="19200"/>
                    <a:pt x="3311" y="9600"/>
                    <a:pt x="0" y="0"/>
                  </a:cubicBezTo>
                </a:path>
              </a:pathLst>
            </a:custGeom>
            <a:noFill/>
            <a:ln w="38100" cap="sq">
              <a:solidFill>
                <a:srgbClr val="8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14" name="Shape 1961"/>
            <p:cNvSpPr/>
            <p:nvPr/>
          </p:nvSpPr>
          <p:spPr>
            <a:xfrm flipH="1" rot="3300000">
              <a:off x="57157" y="1792804"/>
              <a:ext cx="1332091" cy="1931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529" fill="norm" stroke="1" extrusionOk="0">
                  <a:moveTo>
                    <a:pt x="21600" y="6900"/>
                  </a:moveTo>
                  <a:cubicBezTo>
                    <a:pt x="17711" y="14250"/>
                    <a:pt x="13823" y="21600"/>
                    <a:pt x="10236" y="20400"/>
                  </a:cubicBezTo>
                  <a:cubicBezTo>
                    <a:pt x="6648" y="19200"/>
                    <a:pt x="3311" y="9600"/>
                    <a:pt x="0" y="0"/>
                  </a:cubicBezTo>
                </a:path>
              </a:pathLst>
            </a:custGeom>
            <a:noFill/>
            <a:ln w="38100" cap="sq">
              <a:solidFill>
                <a:srgbClr val="8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15" name="Shape 1962"/>
            <p:cNvSpPr/>
            <p:nvPr/>
          </p:nvSpPr>
          <p:spPr>
            <a:xfrm flipH="1" rot="18540000">
              <a:off x="1635432" y="1811054"/>
              <a:ext cx="1433691" cy="1931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529" fill="norm" stroke="1" extrusionOk="0">
                  <a:moveTo>
                    <a:pt x="21600" y="6900"/>
                  </a:moveTo>
                  <a:cubicBezTo>
                    <a:pt x="17711" y="14250"/>
                    <a:pt x="13823" y="21600"/>
                    <a:pt x="10236" y="20400"/>
                  </a:cubicBezTo>
                  <a:cubicBezTo>
                    <a:pt x="6648" y="19200"/>
                    <a:pt x="3311" y="9600"/>
                    <a:pt x="0" y="0"/>
                  </a:cubicBezTo>
                </a:path>
              </a:pathLst>
            </a:custGeom>
            <a:noFill/>
            <a:ln w="38100" cap="sq">
              <a:solidFill>
                <a:srgbClr val="8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16" name="Shape 1963"/>
            <p:cNvSpPr txBox="1"/>
            <p:nvPr/>
          </p:nvSpPr>
          <p:spPr>
            <a:xfrm>
              <a:off x="1086273" y="1406595"/>
              <a:ext cx="538961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11</a:t>
              </a:r>
            </a:p>
          </p:txBody>
        </p:sp>
      </p:grpSp>
      <p:sp>
        <p:nvSpPr>
          <p:cNvPr id="918" name="Shape 1391"/>
          <p:cNvSpPr txBox="1"/>
          <p:nvPr/>
        </p:nvSpPr>
        <p:spPr>
          <a:xfrm>
            <a:off x="1731433" y="171644"/>
            <a:ext cx="9537702" cy="931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marR="57798" algn="ctr" defTabSz="1295400">
              <a:lnSpc>
                <a:spcPct val="115000"/>
              </a:lnSpc>
              <a:defRPr sz="45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Floyd-Warshall算法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Shape 1967"/>
          <p:cNvSpPr txBox="1"/>
          <p:nvPr/>
        </p:nvSpPr>
        <p:spPr>
          <a:xfrm>
            <a:off x="292448" y="2806062"/>
            <a:ext cx="10414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240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921" name="Shape 1968"/>
          <p:cNvSpPr txBox="1"/>
          <p:nvPr/>
        </p:nvSpPr>
        <p:spPr>
          <a:xfrm>
            <a:off x="1365456" y="2814811"/>
            <a:ext cx="10414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240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922" name="Shape 1969"/>
          <p:cNvSpPr txBox="1"/>
          <p:nvPr/>
        </p:nvSpPr>
        <p:spPr>
          <a:xfrm>
            <a:off x="1491327" y="3604187"/>
            <a:ext cx="8509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240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923" name="Shape 1970"/>
          <p:cNvSpPr txBox="1"/>
          <p:nvPr/>
        </p:nvSpPr>
        <p:spPr>
          <a:xfrm>
            <a:off x="346635" y="4377757"/>
            <a:ext cx="10414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240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924" name="Shape 1971"/>
          <p:cNvSpPr txBox="1"/>
          <p:nvPr/>
        </p:nvSpPr>
        <p:spPr>
          <a:xfrm>
            <a:off x="1340056" y="4332320"/>
            <a:ext cx="1041402" cy="4742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baseline="-20000" sz="240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defRPr>
            </a:lvl1pPr>
          </a:lstStyle>
          <a:p>
            <a:pPr/>
            <a:r>
              <a:t>∞</a:t>
            </a:r>
          </a:p>
        </p:txBody>
      </p:sp>
      <p:sp>
        <p:nvSpPr>
          <p:cNvPr id="925" name="Shape 1972"/>
          <p:cNvSpPr txBox="1"/>
          <p:nvPr/>
        </p:nvSpPr>
        <p:spPr>
          <a:xfrm>
            <a:off x="2365088" y="2814811"/>
            <a:ext cx="10414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240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926" name="Shape 1973"/>
          <p:cNvSpPr txBox="1"/>
          <p:nvPr/>
        </p:nvSpPr>
        <p:spPr>
          <a:xfrm>
            <a:off x="317284" y="3587253"/>
            <a:ext cx="10414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240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927" name="Shape 1974"/>
          <p:cNvSpPr txBox="1"/>
          <p:nvPr/>
        </p:nvSpPr>
        <p:spPr>
          <a:xfrm>
            <a:off x="2387667" y="3625636"/>
            <a:ext cx="10414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240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928" name="Shape 1975"/>
          <p:cNvSpPr txBox="1"/>
          <p:nvPr/>
        </p:nvSpPr>
        <p:spPr>
          <a:xfrm>
            <a:off x="2396697" y="4375218"/>
            <a:ext cx="10414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240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929" name="Shape 1976"/>
          <p:cNvSpPr txBox="1"/>
          <p:nvPr/>
        </p:nvSpPr>
        <p:spPr>
          <a:xfrm>
            <a:off x="4635949" y="2946983"/>
            <a:ext cx="10414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240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930" name="Shape 1977"/>
          <p:cNvSpPr txBox="1"/>
          <p:nvPr/>
        </p:nvSpPr>
        <p:spPr>
          <a:xfrm>
            <a:off x="5936430" y="2946983"/>
            <a:ext cx="10414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240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931" name="Shape 1978"/>
          <p:cNvSpPr txBox="1"/>
          <p:nvPr/>
        </p:nvSpPr>
        <p:spPr>
          <a:xfrm>
            <a:off x="5936430" y="3668625"/>
            <a:ext cx="10414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240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932" name="Shape 1979"/>
          <p:cNvSpPr txBox="1"/>
          <p:nvPr/>
        </p:nvSpPr>
        <p:spPr>
          <a:xfrm>
            <a:off x="4635949" y="4456590"/>
            <a:ext cx="10414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240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933" name="Shape 1980"/>
          <p:cNvSpPr txBox="1"/>
          <p:nvPr/>
        </p:nvSpPr>
        <p:spPr>
          <a:xfrm>
            <a:off x="7126279" y="2946983"/>
            <a:ext cx="10414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240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934" name="Shape 1981"/>
          <p:cNvSpPr txBox="1"/>
          <p:nvPr/>
        </p:nvSpPr>
        <p:spPr>
          <a:xfrm>
            <a:off x="4635949" y="3668625"/>
            <a:ext cx="10414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240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defRPr>
            </a:lvl1pPr>
          </a:lstStyle>
          <a:p>
            <a:pPr/>
            <a:r>
              <a:t>-1</a:t>
            </a:r>
          </a:p>
        </p:txBody>
      </p:sp>
      <p:sp>
        <p:nvSpPr>
          <p:cNvPr id="935" name="Shape 1982"/>
          <p:cNvSpPr txBox="1"/>
          <p:nvPr/>
        </p:nvSpPr>
        <p:spPr>
          <a:xfrm>
            <a:off x="7126279" y="3668625"/>
            <a:ext cx="10414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240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936" name="Shape 1983"/>
          <p:cNvSpPr txBox="1"/>
          <p:nvPr/>
        </p:nvSpPr>
        <p:spPr>
          <a:xfrm>
            <a:off x="7126279" y="4456590"/>
            <a:ext cx="10414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240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937" name="Shape 1984"/>
          <p:cNvSpPr/>
          <p:nvPr/>
        </p:nvSpPr>
        <p:spPr>
          <a:xfrm>
            <a:off x="1364893" y="2828358"/>
            <a:ext cx="1041401" cy="431553"/>
          </a:xfrm>
          <a:prstGeom prst="rect">
            <a:avLst/>
          </a:prstGeom>
          <a:solidFill>
            <a:srgbClr val="99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2400">
                <a:solidFill>
                  <a:srgbClr val="FEE8F7"/>
                </a:solidFill>
                <a:uFill>
                  <a:solidFill>
                    <a:srgbClr val="FEE8F7"/>
                  </a:solidFill>
                </a:u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938" name="Shape 1985"/>
          <p:cNvSpPr/>
          <p:nvPr/>
        </p:nvSpPr>
        <p:spPr>
          <a:xfrm>
            <a:off x="360182" y="4363929"/>
            <a:ext cx="1041402" cy="431553"/>
          </a:xfrm>
          <a:prstGeom prst="rect">
            <a:avLst/>
          </a:prstGeom>
          <a:solidFill>
            <a:srgbClr val="99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2400">
                <a:solidFill>
                  <a:srgbClr val="FEE8F7"/>
                </a:solidFill>
                <a:uFill>
                  <a:solidFill>
                    <a:srgbClr val="FEE8F7"/>
                  </a:solidFill>
                </a:u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939" name="Shape 1986"/>
          <p:cNvSpPr/>
          <p:nvPr/>
        </p:nvSpPr>
        <p:spPr>
          <a:xfrm>
            <a:off x="1460000" y="4384248"/>
            <a:ext cx="838202" cy="43155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940" name="Shape 1987"/>
          <p:cNvSpPr/>
          <p:nvPr/>
        </p:nvSpPr>
        <p:spPr>
          <a:xfrm>
            <a:off x="5936430" y="4456590"/>
            <a:ext cx="1041402" cy="43155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2400">
                <a:solidFill>
                  <a:srgbClr val="EC5C57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941" name="Shape 1989"/>
          <p:cNvSpPr txBox="1"/>
          <p:nvPr/>
        </p:nvSpPr>
        <p:spPr>
          <a:xfrm>
            <a:off x="5936430" y="4443890"/>
            <a:ext cx="10414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240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942" name="Shape 1990"/>
          <p:cNvSpPr txBox="1"/>
          <p:nvPr/>
        </p:nvSpPr>
        <p:spPr>
          <a:xfrm>
            <a:off x="110799" y="1422010"/>
            <a:ext cx="1543700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加入顶点1</a:t>
            </a:r>
          </a:p>
        </p:txBody>
      </p:sp>
      <p:sp>
        <p:nvSpPr>
          <p:cNvPr id="943" name="Shape 2011"/>
          <p:cNvSpPr txBox="1"/>
          <p:nvPr/>
        </p:nvSpPr>
        <p:spPr>
          <a:xfrm>
            <a:off x="577210" y="2231316"/>
            <a:ext cx="15494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D</a:t>
            </a:r>
          </a:p>
        </p:txBody>
      </p:sp>
      <p:sp>
        <p:nvSpPr>
          <p:cNvPr id="944" name="Shape 2012"/>
          <p:cNvSpPr txBox="1"/>
          <p:nvPr/>
        </p:nvSpPr>
        <p:spPr>
          <a:xfrm>
            <a:off x="4987881" y="2357968"/>
            <a:ext cx="15494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P</a:t>
            </a:r>
          </a:p>
        </p:txBody>
      </p:sp>
      <p:sp>
        <p:nvSpPr>
          <p:cNvPr id="945" name="3-&gt;1 , 1-&gt;2, 更改了 3-&gt;2"/>
          <p:cNvSpPr txBox="1"/>
          <p:nvPr/>
        </p:nvSpPr>
        <p:spPr>
          <a:xfrm>
            <a:off x="186643" y="5286090"/>
            <a:ext cx="3278292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3-&gt;1 , 1-&gt;2, 更改了 3-&gt;2</a:t>
            </a:r>
          </a:p>
        </p:txBody>
      </p:sp>
      <p:grpSp>
        <p:nvGrpSpPr>
          <p:cNvPr id="965" name="成组"/>
          <p:cNvGrpSpPr/>
          <p:nvPr/>
        </p:nvGrpSpPr>
        <p:grpSpPr>
          <a:xfrm>
            <a:off x="8694101" y="1149882"/>
            <a:ext cx="3151861" cy="2830741"/>
            <a:chOff x="0" y="0"/>
            <a:chExt cx="3151859" cy="2830739"/>
          </a:xfrm>
        </p:grpSpPr>
        <p:grpSp>
          <p:nvGrpSpPr>
            <p:cNvPr id="948" name="Group 1947"/>
            <p:cNvGrpSpPr/>
            <p:nvPr/>
          </p:nvGrpSpPr>
          <p:grpSpPr>
            <a:xfrm>
              <a:off x="0" y="673049"/>
              <a:ext cx="695399" cy="614500"/>
              <a:chOff x="0" y="0"/>
              <a:chExt cx="695398" cy="614498"/>
            </a:xfrm>
          </p:grpSpPr>
          <p:sp>
            <p:nvSpPr>
              <p:cNvPr id="946" name="Shape 1945"/>
              <p:cNvSpPr/>
              <p:nvPr/>
            </p:nvSpPr>
            <p:spPr>
              <a:xfrm>
                <a:off x="-1" y="11057"/>
                <a:ext cx="695399" cy="598315"/>
              </a:xfrm>
              <a:prstGeom prst="ellipse">
                <a:avLst/>
              </a:prstGeom>
              <a:solidFill>
                <a:srgbClr val="FFFF99"/>
              </a:solidFill>
              <a:ln w="25400" cap="sq">
                <a:solidFill>
                  <a:srgbClr val="8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47" name="Shape 1946"/>
              <p:cNvSpPr txBox="1"/>
              <p:nvPr/>
            </p:nvSpPr>
            <p:spPr>
              <a:xfrm>
                <a:off x="154189" y="0"/>
                <a:ext cx="387017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sz="38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1</a:t>
                </a:r>
              </a:p>
            </p:txBody>
          </p:sp>
        </p:grpSp>
        <p:grpSp>
          <p:nvGrpSpPr>
            <p:cNvPr id="951" name="Group 1950"/>
            <p:cNvGrpSpPr/>
            <p:nvPr/>
          </p:nvGrpSpPr>
          <p:grpSpPr>
            <a:xfrm>
              <a:off x="1176866" y="2216240"/>
              <a:ext cx="695399" cy="614500"/>
              <a:chOff x="0" y="0"/>
              <a:chExt cx="695398" cy="614498"/>
            </a:xfrm>
          </p:grpSpPr>
          <p:sp>
            <p:nvSpPr>
              <p:cNvPr id="949" name="Shape 1948"/>
              <p:cNvSpPr/>
              <p:nvPr/>
            </p:nvSpPr>
            <p:spPr>
              <a:xfrm>
                <a:off x="-1" y="12186"/>
                <a:ext cx="695399" cy="596905"/>
              </a:xfrm>
              <a:prstGeom prst="ellipse">
                <a:avLst/>
              </a:prstGeom>
              <a:solidFill>
                <a:srgbClr val="FFFF99"/>
              </a:solidFill>
              <a:ln w="25400" cap="sq">
                <a:solidFill>
                  <a:srgbClr val="8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50" name="Shape 1949"/>
              <p:cNvSpPr txBox="1"/>
              <p:nvPr/>
            </p:nvSpPr>
            <p:spPr>
              <a:xfrm>
                <a:off x="149109" y="0"/>
                <a:ext cx="387017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sz="38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3</a:t>
                </a:r>
              </a:p>
            </p:txBody>
          </p:sp>
        </p:grpSp>
        <p:grpSp>
          <p:nvGrpSpPr>
            <p:cNvPr id="954" name="Group 1953"/>
            <p:cNvGrpSpPr/>
            <p:nvPr/>
          </p:nvGrpSpPr>
          <p:grpSpPr>
            <a:xfrm>
              <a:off x="2456461" y="680951"/>
              <a:ext cx="695399" cy="614500"/>
              <a:chOff x="0" y="0"/>
              <a:chExt cx="695398" cy="614498"/>
            </a:xfrm>
          </p:grpSpPr>
          <p:sp>
            <p:nvSpPr>
              <p:cNvPr id="952" name="Shape 1951"/>
              <p:cNvSpPr/>
              <p:nvPr/>
            </p:nvSpPr>
            <p:spPr>
              <a:xfrm>
                <a:off x="-1" y="12186"/>
                <a:ext cx="695399" cy="596905"/>
              </a:xfrm>
              <a:prstGeom prst="ellipse">
                <a:avLst/>
              </a:prstGeom>
              <a:solidFill>
                <a:srgbClr val="FFFF99"/>
              </a:solidFill>
              <a:ln w="25400" cap="sq">
                <a:solidFill>
                  <a:srgbClr val="8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53" name="Shape 1952"/>
              <p:cNvSpPr txBox="1"/>
              <p:nvPr/>
            </p:nvSpPr>
            <p:spPr>
              <a:xfrm>
                <a:off x="154189" y="0"/>
                <a:ext cx="387017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sz="38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2</a:t>
                </a:r>
              </a:p>
            </p:txBody>
          </p:sp>
        </p:grpSp>
        <p:sp>
          <p:nvSpPr>
            <p:cNvPr id="955" name="Shape 1954"/>
            <p:cNvSpPr txBox="1"/>
            <p:nvPr/>
          </p:nvSpPr>
          <p:spPr>
            <a:xfrm>
              <a:off x="302541" y="1810737"/>
              <a:ext cx="520702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defRPr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956" name="Shape 1955"/>
            <p:cNvSpPr txBox="1"/>
            <p:nvPr/>
          </p:nvSpPr>
          <p:spPr>
            <a:xfrm>
              <a:off x="2352604" y="1929553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957" name="Shape 1956"/>
            <p:cNvSpPr txBox="1"/>
            <p:nvPr/>
          </p:nvSpPr>
          <p:spPr>
            <a:xfrm>
              <a:off x="1381759" y="0"/>
              <a:ext cx="362600" cy="5172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6</a:t>
              </a:r>
            </a:p>
          </p:txBody>
        </p:sp>
        <p:sp>
          <p:nvSpPr>
            <p:cNvPr id="958" name="Shape 1957"/>
            <p:cNvSpPr txBox="1"/>
            <p:nvPr/>
          </p:nvSpPr>
          <p:spPr>
            <a:xfrm>
              <a:off x="1329830" y="787964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959" name="Shape 1958"/>
            <p:cNvSpPr/>
            <p:nvPr/>
          </p:nvSpPr>
          <p:spPr>
            <a:xfrm>
              <a:off x="708941" y="1110826"/>
              <a:ext cx="1841502" cy="2103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529" fill="norm" stroke="1" extrusionOk="0">
                  <a:moveTo>
                    <a:pt x="21600" y="6900"/>
                  </a:moveTo>
                  <a:cubicBezTo>
                    <a:pt x="17711" y="14250"/>
                    <a:pt x="13823" y="21600"/>
                    <a:pt x="10236" y="20400"/>
                  </a:cubicBezTo>
                  <a:cubicBezTo>
                    <a:pt x="6648" y="19200"/>
                    <a:pt x="3311" y="9600"/>
                    <a:pt x="0" y="0"/>
                  </a:cubicBezTo>
                </a:path>
              </a:pathLst>
            </a:custGeom>
            <a:noFill/>
            <a:ln w="38100" cap="sq">
              <a:solidFill>
                <a:srgbClr val="8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60" name="Shape 1959"/>
            <p:cNvSpPr/>
            <p:nvPr/>
          </p:nvSpPr>
          <p:spPr>
            <a:xfrm rot="10680000">
              <a:off x="582141" y="534721"/>
              <a:ext cx="1943948" cy="2553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529" fill="norm" stroke="1" extrusionOk="0">
                  <a:moveTo>
                    <a:pt x="21600" y="6900"/>
                  </a:moveTo>
                  <a:cubicBezTo>
                    <a:pt x="17711" y="14250"/>
                    <a:pt x="13823" y="21600"/>
                    <a:pt x="10236" y="20400"/>
                  </a:cubicBezTo>
                  <a:cubicBezTo>
                    <a:pt x="6648" y="19200"/>
                    <a:pt x="3311" y="9600"/>
                    <a:pt x="0" y="0"/>
                  </a:cubicBezTo>
                </a:path>
              </a:pathLst>
            </a:custGeom>
            <a:noFill/>
            <a:ln w="38100" cap="sq">
              <a:solidFill>
                <a:srgbClr val="8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61" name="Shape 1960"/>
            <p:cNvSpPr/>
            <p:nvPr/>
          </p:nvSpPr>
          <p:spPr>
            <a:xfrm flipH="1" rot="14280000">
              <a:off x="361464" y="1622539"/>
              <a:ext cx="1332092" cy="1931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529" fill="norm" stroke="1" extrusionOk="0">
                  <a:moveTo>
                    <a:pt x="21600" y="6900"/>
                  </a:moveTo>
                  <a:cubicBezTo>
                    <a:pt x="17711" y="14250"/>
                    <a:pt x="13823" y="21600"/>
                    <a:pt x="10236" y="20400"/>
                  </a:cubicBezTo>
                  <a:cubicBezTo>
                    <a:pt x="6648" y="19200"/>
                    <a:pt x="3311" y="9600"/>
                    <a:pt x="0" y="0"/>
                  </a:cubicBezTo>
                </a:path>
              </a:pathLst>
            </a:custGeom>
            <a:noFill/>
            <a:ln w="38100" cap="sq">
              <a:solidFill>
                <a:srgbClr val="8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62" name="Shape 1961"/>
            <p:cNvSpPr/>
            <p:nvPr/>
          </p:nvSpPr>
          <p:spPr>
            <a:xfrm flipH="1" rot="3300000">
              <a:off x="57157" y="1792804"/>
              <a:ext cx="1332091" cy="1931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529" fill="norm" stroke="1" extrusionOk="0">
                  <a:moveTo>
                    <a:pt x="21600" y="6900"/>
                  </a:moveTo>
                  <a:cubicBezTo>
                    <a:pt x="17711" y="14250"/>
                    <a:pt x="13823" y="21600"/>
                    <a:pt x="10236" y="20400"/>
                  </a:cubicBezTo>
                  <a:cubicBezTo>
                    <a:pt x="6648" y="19200"/>
                    <a:pt x="3311" y="9600"/>
                    <a:pt x="0" y="0"/>
                  </a:cubicBezTo>
                </a:path>
              </a:pathLst>
            </a:custGeom>
            <a:noFill/>
            <a:ln w="38100" cap="sq">
              <a:solidFill>
                <a:srgbClr val="8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63" name="Shape 1962"/>
            <p:cNvSpPr/>
            <p:nvPr/>
          </p:nvSpPr>
          <p:spPr>
            <a:xfrm flipH="1" rot="18540000">
              <a:off x="1635432" y="1811054"/>
              <a:ext cx="1433691" cy="1931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529" fill="norm" stroke="1" extrusionOk="0">
                  <a:moveTo>
                    <a:pt x="21600" y="6900"/>
                  </a:moveTo>
                  <a:cubicBezTo>
                    <a:pt x="17711" y="14250"/>
                    <a:pt x="13823" y="21600"/>
                    <a:pt x="10236" y="20400"/>
                  </a:cubicBezTo>
                  <a:cubicBezTo>
                    <a:pt x="6648" y="19200"/>
                    <a:pt x="3311" y="9600"/>
                    <a:pt x="0" y="0"/>
                  </a:cubicBezTo>
                </a:path>
              </a:pathLst>
            </a:custGeom>
            <a:noFill/>
            <a:ln w="38100" cap="sq">
              <a:solidFill>
                <a:srgbClr val="8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64" name="Shape 1963"/>
            <p:cNvSpPr txBox="1"/>
            <p:nvPr/>
          </p:nvSpPr>
          <p:spPr>
            <a:xfrm>
              <a:off x="1086273" y="1406595"/>
              <a:ext cx="538961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11</a:t>
              </a:r>
            </a:p>
          </p:txBody>
        </p:sp>
      </p:grpSp>
      <p:sp>
        <p:nvSpPr>
          <p:cNvPr id="966" name="Shape 1391"/>
          <p:cNvSpPr txBox="1"/>
          <p:nvPr/>
        </p:nvSpPr>
        <p:spPr>
          <a:xfrm>
            <a:off x="1731433" y="171644"/>
            <a:ext cx="9537702" cy="931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marR="57798" algn="ctr" defTabSz="1295400">
              <a:lnSpc>
                <a:spcPct val="115000"/>
              </a:lnSpc>
              <a:defRPr sz="45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Floyd-Warshall算法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4" presetID="2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11" dur="1000"/>
                                        <p:tgtEl>
                                          <p:spTgt spid="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Class="entr" nodeType="afterEffect" presetSubtype="4" presetID="2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15" dur="1000"/>
                                        <p:tgtEl>
                                          <p:spTgt spid="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Class="entr" nodeType="clickEffect" presetSubtype="4" presetID="22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20" dur="1000"/>
                                        <p:tgtEl>
                                          <p:spTgt spid="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xit" nodeType="clickEffect" presetSubtype="8" presetID="22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wipe(left)" transition="out">
                                      <p:cBhvr>
                                        <p:cTn id="24" dur="1000" fill="hold"/>
                                        <p:tgtEl>
                                          <p:spTgt spid="9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Class="entr" nodeType="clickEffect" presetSubtype="4" presetID="22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30" dur="1000"/>
                                        <p:tgtEl>
                                          <p:spTgt spid="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939" grpId="4"/>
      <p:bldP build="whole" bldLvl="1" animBg="1" rev="0" advAuto="0" spid="945" grpId="1"/>
      <p:bldP build="whole" bldLvl="1" animBg="1" rev="0" advAuto="0" spid="940" grpId="6"/>
      <p:bldP build="whole" bldLvl="1" animBg="1" rev="0" advAuto="0" spid="938" grpId="2"/>
      <p:bldP build="whole" bldLvl="1" animBg="1" rev="0" advAuto="0" spid="941" grpId="5"/>
      <p:bldP build="whole" bldLvl="1" animBg="1" rev="0" advAuto="0" spid="937" grpId="3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Shape 2014"/>
          <p:cNvSpPr txBox="1"/>
          <p:nvPr/>
        </p:nvSpPr>
        <p:spPr>
          <a:xfrm>
            <a:off x="3238349" y="3100218"/>
            <a:ext cx="10414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240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969" name="Shape 2015"/>
          <p:cNvSpPr txBox="1"/>
          <p:nvPr/>
        </p:nvSpPr>
        <p:spPr>
          <a:xfrm>
            <a:off x="1264487" y="3100218"/>
            <a:ext cx="8128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240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970" name="Shape 2016"/>
          <p:cNvSpPr txBox="1"/>
          <p:nvPr/>
        </p:nvSpPr>
        <p:spPr>
          <a:xfrm>
            <a:off x="2399867" y="3847543"/>
            <a:ext cx="7239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240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971" name="Shape 2017"/>
          <p:cNvSpPr/>
          <p:nvPr/>
        </p:nvSpPr>
        <p:spPr>
          <a:xfrm>
            <a:off x="3301285" y="3100218"/>
            <a:ext cx="901702" cy="43155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972" name="Shape 2018"/>
          <p:cNvSpPr txBox="1"/>
          <p:nvPr/>
        </p:nvSpPr>
        <p:spPr>
          <a:xfrm>
            <a:off x="1276623" y="3847543"/>
            <a:ext cx="7620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240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973" name="Shape 2019"/>
          <p:cNvSpPr txBox="1"/>
          <p:nvPr/>
        </p:nvSpPr>
        <p:spPr>
          <a:xfrm>
            <a:off x="3263185" y="3847543"/>
            <a:ext cx="10414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240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974" name="Shape 2020"/>
          <p:cNvSpPr txBox="1"/>
          <p:nvPr/>
        </p:nvSpPr>
        <p:spPr>
          <a:xfrm>
            <a:off x="3330636" y="4680098"/>
            <a:ext cx="9017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240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975" name="Shape 2021"/>
          <p:cNvSpPr txBox="1"/>
          <p:nvPr/>
        </p:nvSpPr>
        <p:spPr>
          <a:xfrm>
            <a:off x="5267311" y="3251772"/>
            <a:ext cx="10414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240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976" name="Shape 2022"/>
          <p:cNvSpPr txBox="1"/>
          <p:nvPr/>
        </p:nvSpPr>
        <p:spPr>
          <a:xfrm>
            <a:off x="6599400" y="3251772"/>
            <a:ext cx="10414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240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977" name="Shape 2023"/>
          <p:cNvSpPr txBox="1"/>
          <p:nvPr/>
        </p:nvSpPr>
        <p:spPr>
          <a:xfrm>
            <a:off x="6567791" y="3999096"/>
            <a:ext cx="10414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240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978" name="Shape 2024"/>
          <p:cNvSpPr txBox="1"/>
          <p:nvPr/>
        </p:nvSpPr>
        <p:spPr>
          <a:xfrm>
            <a:off x="5267311" y="4831651"/>
            <a:ext cx="10414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240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979" name="Shape 2025"/>
          <p:cNvSpPr txBox="1"/>
          <p:nvPr/>
        </p:nvSpPr>
        <p:spPr>
          <a:xfrm>
            <a:off x="7757641" y="3251772"/>
            <a:ext cx="10414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240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980" name="Shape 2026"/>
          <p:cNvSpPr txBox="1"/>
          <p:nvPr/>
        </p:nvSpPr>
        <p:spPr>
          <a:xfrm>
            <a:off x="5267311" y="3999096"/>
            <a:ext cx="10414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240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981" name="Shape 2027"/>
          <p:cNvSpPr txBox="1"/>
          <p:nvPr/>
        </p:nvSpPr>
        <p:spPr>
          <a:xfrm>
            <a:off x="7780218" y="3999096"/>
            <a:ext cx="10414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240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982" name="Shape 2028"/>
          <p:cNvSpPr txBox="1"/>
          <p:nvPr/>
        </p:nvSpPr>
        <p:spPr>
          <a:xfrm>
            <a:off x="7777960" y="4831651"/>
            <a:ext cx="10414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240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983" name="Shape 2029"/>
          <p:cNvSpPr txBox="1"/>
          <p:nvPr/>
        </p:nvSpPr>
        <p:spPr>
          <a:xfrm>
            <a:off x="2195256" y="3100218"/>
            <a:ext cx="10414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240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984" name="Shape 2030"/>
          <p:cNvSpPr txBox="1"/>
          <p:nvPr/>
        </p:nvSpPr>
        <p:spPr>
          <a:xfrm>
            <a:off x="1213123" y="4680098"/>
            <a:ext cx="8890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240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985" name="Shape 2031"/>
          <p:cNvSpPr txBox="1"/>
          <p:nvPr/>
        </p:nvSpPr>
        <p:spPr>
          <a:xfrm>
            <a:off x="2389143" y="4680098"/>
            <a:ext cx="6731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240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986" name="Shape 2032"/>
          <p:cNvSpPr txBox="1"/>
          <p:nvPr/>
        </p:nvSpPr>
        <p:spPr>
          <a:xfrm>
            <a:off x="6599400" y="4831651"/>
            <a:ext cx="10414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240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987" name="Shape 2033"/>
          <p:cNvSpPr/>
          <p:nvPr/>
        </p:nvSpPr>
        <p:spPr>
          <a:xfrm>
            <a:off x="3264002" y="3796743"/>
            <a:ext cx="1041402" cy="431553"/>
          </a:xfrm>
          <a:prstGeom prst="rect">
            <a:avLst/>
          </a:prstGeom>
          <a:solidFill>
            <a:srgbClr val="99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2400">
                <a:solidFill>
                  <a:srgbClr val="FEE8F7"/>
                </a:solidFill>
                <a:uFill>
                  <a:solidFill>
                    <a:srgbClr val="FEE8F7"/>
                  </a:solidFill>
                </a:u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988" name="Shape 2034"/>
          <p:cNvSpPr/>
          <p:nvPr/>
        </p:nvSpPr>
        <p:spPr>
          <a:xfrm>
            <a:off x="2256498" y="3104451"/>
            <a:ext cx="939802" cy="431553"/>
          </a:xfrm>
          <a:prstGeom prst="rect">
            <a:avLst/>
          </a:prstGeom>
          <a:solidFill>
            <a:srgbClr val="99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2400">
                <a:solidFill>
                  <a:srgbClr val="FEE8F7"/>
                </a:solidFill>
                <a:uFill>
                  <a:solidFill>
                    <a:srgbClr val="FEE8F7"/>
                  </a:solidFill>
                </a:u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989" name="Shape 2035"/>
          <p:cNvSpPr/>
          <p:nvPr/>
        </p:nvSpPr>
        <p:spPr>
          <a:xfrm>
            <a:off x="7780218" y="3277172"/>
            <a:ext cx="1041402" cy="43155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2400">
                <a:solidFill>
                  <a:srgbClr val="EC5C57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990" name="Shape 2037"/>
          <p:cNvSpPr txBox="1"/>
          <p:nvPr/>
        </p:nvSpPr>
        <p:spPr>
          <a:xfrm>
            <a:off x="110799" y="1725792"/>
            <a:ext cx="1543700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加入顶点2</a:t>
            </a:r>
          </a:p>
        </p:txBody>
      </p:sp>
      <p:sp>
        <p:nvSpPr>
          <p:cNvPr id="991" name="Shape 2058"/>
          <p:cNvSpPr txBox="1"/>
          <p:nvPr/>
        </p:nvSpPr>
        <p:spPr>
          <a:xfrm>
            <a:off x="1511149" y="2610280"/>
            <a:ext cx="15494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D</a:t>
            </a:r>
          </a:p>
        </p:txBody>
      </p:sp>
      <p:sp>
        <p:nvSpPr>
          <p:cNvPr id="992" name="Shape 2059"/>
          <p:cNvSpPr txBox="1"/>
          <p:nvPr/>
        </p:nvSpPr>
        <p:spPr>
          <a:xfrm>
            <a:off x="5593842" y="2761833"/>
            <a:ext cx="15494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P</a:t>
            </a:r>
          </a:p>
        </p:txBody>
      </p:sp>
      <p:sp>
        <p:nvSpPr>
          <p:cNvPr id="993" name="1-&gt;2 , 2-&gt;3, 更改了 1-&gt;3"/>
          <p:cNvSpPr txBox="1"/>
          <p:nvPr/>
        </p:nvSpPr>
        <p:spPr>
          <a:xfrm>
            <a:off x="1018982" y="5461149"/>
            <a:ext cx="3278292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1-&gt;2 , 2-&gt;3, 更改了 1-&gt;3</a:t>
            </a:r>
          </a:p>
        </p:txBody>
      </p:sp>
      <p:grpSp>
        <p:nvGrpSpPr>
          <p:cNvPr id="1013" name="成组"/>
          <p:cNvGrpSpPr/>
          <p:nvPr/>
        </p:nvGrpSpPr>
        <p:grpSpPr>
          <a:xfrm>
            <a:off x="8694101" y="1149882"/>
            <a:ext cx="3151861" cy="2830741"/>
            <a:chOff x="0" y="0"/>
            <a:chExt cx="3151859" cy="2830739"/>
          </a:xfrm>
        </p:grpSpPr>
        <p:grpSp>
          <p:nvGrpSpPr>
            <p:cNvPr id="996" name="Group 1947"/>
            <p:cNvGrpSpPr/>
            <p:nvPr/>
          </p:nvGrpSpPr>
          <p:grpSpPr>
            <a:xfrm>
              <a:off x="0" y="673049"/>
              <a:ext cx="695399" cy="614500"/>
              <a:chOff x="0" y="0"/>
              <a:chExt cx="695398" cy="614498"/>
            </a:xfrm>
          </p:grpSpPr>
          <p:sp>
            <p:nvSpPr>
              <p:cNvPr id="994" name="Shape 1945"/>
              <p:cNvSpPr/>
              <p:nvPr/>
            </p:nvSpPr>
            <p:spPr>
              <a:xfrm>
                <a:off x="-1" y="11057"/>
                <a:ext cx="695399" cy="598315"/>
              </a:xfrm>
              <a:prstGeom prst="ellipse">
                <a:avLst/>
              </a:prstGeom>
              <a:solidFill>
                <a:srgbClr val="FFFF99"/>
              </a:solidFill>
              <a:ln w="25400" cap="sq">
                <a:solidFill>
                  <a:srgbClr val="8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95" name="Shape 1946"/>
              <p:cNvSpPr txBox="1"/>
              <p:nvPr/>
            </p:nvSpPr>
            <p:spPr>
              <a:xfrm>
                <a:off x="154189" y="0"/>
                <a:ext cx="387017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sz="38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1</a:t>
                </a:r>
              </a:p>
            </p:txBody>
          </p:sp>
        </p:grpSp>
        <p:grpSp>
          <p:nvGrpSpPr>
            <p:cNvPr id="999" name="Group 1950"/>
            <p:cNvGrpSpPr/>
            <p:nvPr/>
          </p:nvGrpSpPr>
          <p:grpSpPr>
            <a:xfrm>
              <a:off x="1176866" y="2216240"/>
              <a:ext cx="695399" cy="614500"/>
              <a:chOff x="0" y="0"/>
              <a:chExt cx="695398" cy="614498"/>
            </a:xfrm>
          </p:grpSpPr>
          <p:sp>
            <p:nvSpPr>
              <p:cNvPr id="997" name="Shape 1948"/>
              <p:cNvSpPr/>
              <p:nvPr/>
            </p:nvSpPr>
            <p:spPr>
              <a:xfrm>
                <a:off x="-1" y="12186"/>
                <a:ext cx="695399" cy="596905"/>
              </a:xfrm>
              <a:prstGeom prst="ellipse">
                <a:avLst/>
              </a:prstGeom>
              <a:solidFill>
                <a:srgbClr val="FFFF99"/>
              </a:solidFill>
              <a:ln w="25400" cap="sq">
                <a:solidFill>
                  <a:srgbClr val="8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98" name="Shape 1949"/>
              <p:cNvSpPr txBox="1"/>
              <p:nvPr/>
            </p:nvSpPr>
            <p:spPr>
              <a:xfrm>
                <a:off x="149109" y="0"/>
                <a:ext cx="387017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sz="38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3</a:t>
                </a:r>
              </a:p>
            </p:txBody>
          </p:sp>
        </p:grpSp>
        <p:grpSp>
          <p:nvGrpSpPr>
            <p:cNvPr id="1002" name="Group 1953"/>
            <p:cNvGrpSpPr/>
            <p:nvPr/>
          </p:nvGrpSpPr>
          <p:grpSpPr>
            <a:xfrm>
              <a:off x="2456461" y="680951"/>
              <a:ext cx="695399" cy="614500"/>
              <a:chOff x="0" y="0"/>
              <a:chExt cx="695398" cy="614498"/>
            </a:xfrm>
          </p:grpSpPr>
          <p:sp>
            <p:nvSpPr>
              <p:cNvPr id="1000" name="Shape 1951"/>
              <p:cNvSpPr/>
              <p:nvPr/>
            </p:nvSpPr>
            <p:spPr>
              <a:xfrm>
                <a:off x="-1" y="12186"/>
                <a:ext cx="695399" cy="596905"/>
              </a:xfrm>
              <a:prstGeom prst="ellipse">
                <a:avLst/>
              </a:prstGeom>
              <a:solidFill>
                <a:srgbClr val="FFFF99"/>
              </a:solidFill>
              <a:ln w="25400" cap="sq">
                <a:solidFill>
                  <a:srgbClr val="8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001" name="Shape 1952"/>
              <p:cNvSpPr txBox="1"/>
              <p:nvPr/>
            </p:nvSpPr>
            <p:spPr>
              <a:xfrm>
                <a:off x="154189" y="0"/>
                <a:ext cx="387017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sz="38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2</a:t>
                </a:r>
              </a:p>
            </p:txBody>
          </p:sp>
        </p:grpSp>
        <p:sp>
          <p:nvSpPr>
            <p:cNvPr id="1003" name="Shape 1954"/>
            <p:cNvSpPr txBox="1"/>
            <p:nvPr/>
          </p:nvSpPr>
          <p:spPr>
            <a:xfrm>
              <a:off x="302541" y="1810737"/>
              <a:ext cx="520702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defRPr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1004" name="Shape 1955"/>
            <p:cNvSpPr txBox="1"/>
            <p:nvPr/>
          </p:nvSpPr>
          <p:spPr>
            <a:xfrm>
              <a:off x="2352604" y="1929553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1005" name="Shape 1956"/>
            <p:cNvSpPr txBox="1"/>
            <p:nvPr/>
          </p:nvSpPr>
          <p:spPr>
            <a:xfrm>
              <a:off x="1381759" y="0"/>
              <a:ext cx="362600" cy="5172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6</a:t>
              </a:r>
            </a:p>
          </p:txBody>
        </p:sp>
        <p:sp>
          <p:nvSpPr>
            <p:cNvPr id="1006" name="Shape 1957"/>
            <p:cNvSpPr txBox="1"/>
            <p:nvPr/>
          </p:nvSpPr>
          <p:spPr>
            <a:xfrm>
              <a:off x="1329830" y="787964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1007" name="Shape 1958"/>
            <p:cNvSpPr/>
            <p:nvPr/>
          </p:nvSpPr>
          <p:spPr>
            <a:xfrm>
              <a:off x="708941" y="1110826"/>
              <a:ext cx="1841502" cy="2103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529" fill="norm" stroke="1" extrusionOk="0">
                  <a:moveTo>
                    <a:pt x="21600" y="6900"/>
                  </a:moveTo>
                  <a:cubicBezTo>
                    <a:pt x="17711" y="14250"/>
                    <a:pt x="13823" y="21600"/>
                    <a:pt x="10236" y="20400"/>
                  </a:cubicBezTo>
                  <a:cubicBezTo>
                    <a:pt x="6648" y="19200"/>
                    <a:pt x="3311" y="9600"/>
                    <a:pt x="0" y="0"/>
                  </a:cubicBezTo>
                </a:path>
              </a:pathLst>
            </a:custGeom>
            <a:noFill/>
            <a:ln w="38100" cap="sq">
              <a:solidFill>
                <a:srgbClr val="8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08" name="Shape 1959"/>
            <p:cNvSpPr/>
            <p:nvPr/>
          </p:nvSpPr>
          <p:spPr>
            <a:xfrm rot="10680000">
              <a:off x="582141" y="534721"/>
              <a:ext cx="1943948" cy="2553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529" fill="norm" stroke="1" extrusionOk="0">
                  <a:moveTo>
                    <a:pt x="21600" y="6900"/>
                  </a:moveTo>
                  <a:cubicBezTo>
                    <a:pt x="17711" y="14250"/>
                    <a:pt x="13823" y="21600"/>
                    <a:pt x="10236" y="20400"/>
                  </a:cubicBezTo>
                  <a:cubicBezTo>
                    <a:pt x="6648" y="19200"/>
                    <a:pt x="3311" y="9600"/>
                    <a:pt x="0" y="0"/>
                  </a:cubicBezTo>
                </a:path>
              </a:pathLst>
            </a:custGeom>
            <a:noFill/>
            <a:ln w="38100" cap="sq">
              <a:solidFill>
                <a:srgbClr val="8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09" name="Shape 1960"/>
            <p:cNvSpPr/>
            <p:nvPr/>
          </p:nvSpPr>
          <p:spPr>
            <a:xfrm flipH="1" rot="14280000">
              <a:off x="361464" y="1622539"/>
              <a:ext cx="1332092" cy="1931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529" fill="norm" stroke="1" extrusionOk="0">
                  <a:moveTo>
                    <a:pt x="21600" y="6900"/>
                  </a:moveTo>
                  <a:cubicBezTo>
                    <a:pt x="17711" y="14250"/>
                    <a:pt x="13823" y="21600"/>
                    <a:pt x="10236" y="20400"/>
                  </a:cubicBezTo>
                  <a:cubicBezTo>
                    <a:pt x="6648" y="19200"/>
                    <a:pt x="3311" y="9600"/>
                    <a:pt x="0" y="0"/>
                  </a:cubicBezTo>
                </a:path>
              </a:pathLst>
            </a:custGeom>
            <a:noFill/>
            <a:ln w="38100" cap="sq">
              <a:solidFill>
                <a:srgbClr val="8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10" name="Shape 1961"/>
            <p:cNvSpPr/>
            <p:nvPr/>
          </p:nvSpPr>
          <p:spPr>
            <a:xfrm flipH="1" rot="3300000">
              <a:off x="57157" y="1792804"/>
              <a:ext cx="1332091" cy="1931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529" fill="norm" stroke="1" extrusionOk="0">
                  <a:moveTo>
                    <a:pt x="21600" y="6900"/>
                  </a:moveTo>
                  <a:cubicBezTo>
                    <a:pt x="17711" y="14250"/>
                    <a:pt x="13823" y="21600"/>
                    <a:pt x="10236" y="20400"/>
                  </a:cubicBezTo>
                  <a:cubicBezTo>
                    <a:pt x="6648" y="19200"/>
                    <a:pt x="3311" y="9600"/>
                    <a:pt x="0" y="0"/>
                  </a:cubicBezTo>
                </a:path>
              </a:pathLst>
            </a:custGeom>
            <a:noFill/>
            <a:ln w="38100" cap="sq">
              <a:solidFill>
                <a:srgbClr val="8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11" name="Shape 1962"/>
            <p:cNvSpPr/>
            <p:nvPr/>
          </p:nvSpPr>
          <p:spPr>
            <a:xfrm flipH="1" rot="18540000">
              <a:off x="1635432" y="1811054"/>
              <a:ext cx="1433691" cy="1931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529" fill="norm" stroke="1" extrusionOk="0">
                  <a:moveTo>
                    <a:pt x="21600" y="6900"/>
                  </a:moveTo>
                  <a:cubicBezTo>
                    <a:pt x="17711" y="14250"/>
                    <a:pt x="13823" y="21600"/>
                    <a:pt x="10236" y="20400"/>
                  </a:cubicBezTo>
                  <a:cubicBezTo>
                    <a:pt x="6648" y="19200"/>
                    <a:pt x="3311" y="9600"/>
                    <a:pt x="0" y="0"/>
                  </a:cubicBezTo>
                </a:path>
              </a:pathLst>
            </a:custGeom>
            <a:noFill/>
            <a:ln w="38100" cap="sq">
              <a:solidFill>
                <a:srgbClr val="8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12" name="Shape 1963"/>
            <p:cNvSpPr txBox="1"/>
            <p:nvPr/>
          </p:nvSpPr>
          <p:spPr>
            <a:xfrm>
              <a:off x="1086273" y="1406595"/>
              <a:ext cx="538961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11</a:t>
              </a:r>
            </a:p>
          </p:txBody>
        </p:sp>
      </p:grpSp>
      <p:sp>
        <p:nvSpPr>
          <p:cNvPr id="1014" name="Shape 1391"/>
          <p:cNvSpPr txBox="1"/>
          <p:nvPr/>
        </p:nvSpPr>
        <p:spPr>
          <a:xfrm>
            <a:off x="1731433" y="171644"/>
            <a:ext cx="9537702" cy="931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marR="57798" algn="ctr" defTabSz="1295400">
              <a:lnSpc>
                <a:spcPct val="115000"/>
              </a:lnSpc>
              <a:defRPr sz="45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Floyd-Warshall算法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4" presetID="2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11" dur="500"/>
                                        <p:tgtEl>
                                          <p:spTgt spid="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Class="entr" nodeType="afterEffect" presetSubtype="4" presetID="2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15" dur="500"/>
                                        <p:tgtEl>
                                          <p:spTgt spid="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Class="entr" nodeType="clickEffect" presetSubtype="4" presetID="22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20" dur="500"/>
                                        <p:tgtEl>
                                          <p:spTgt spid="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xit" nodeType="clickEffect" presetSubtype="8" presetID="22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wipe(left)" transition="out">
                                      <p:cBhvr>
                                        <p:cTn id="24" dur="1000" fill="hold"/>
                                        <p:tgtEl>
                                          <p:spTgt spid="9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Class="entr" nodeType="afterEffect" presetSubtype="4" presetID="22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29" dur="500"/>
                                        <p:tgtEl>
                                          <p:spTgt spid="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979" grpId="5"/>
      <p:bldP build="whole" bldLvl="1" animBg="1" rev="0" advAuto="0" spid="989" grpId="6"/>
      <p:bldP build="whole" bldLvl="1" animBg="1" rev="0" advAuto="0" spid="987" grpId="3"/>
      <p:bldP build="whole" bldLvl="1" animBg="1" rev="0" advAuto="0" spid="988" grpId="2"/>
      <p:bldP build="whole" bldLvl="1" animBg="1" rev="0" advAuto="0" spid="993" grpId="1"/>
      <p:bldP build="whole" bldLvl="1" animBg="1" rev="0" advAuto="0" spid="971" grpId="4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Shape 2061"/>
          <p:cNvSpPr txBox="1"/>
          <p:nvPr/>
        </p:nvSpPr>
        <p:spPr>
          <a:xfrm>
            <a:off x="2929359" y="2877753"/>
            <a:ext cx="10414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240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017" name="Shape 2062"/>
          <p:cNvSpPr txBox="1"/>
          <p:nvPr/>
        </p:nvSpPr>
        <p:spPr>
          <a:xfrm>
            <a:off x="777697" y="2866464"/>
            <a:ext cx="10414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240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1018" name="Shape 2063"/>
          <p:cNvSpPr txBox="1"/>
          <p:nvPr/>
        </p:nvSpPr>
        <p:spPr>
          <a:xfrm>
            <a:off x="2027377" y="3702689"/>
            <a:ext cx="8001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240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1019" name="Shape 2064"/>
          <p:cNvSpPr txBox="1"/>
          <p:nvPr/>
        </p:nvSpPr>
        <p:spPr>
          <a:xfrm>
            <a:off x="802533" y="3634109"/>
            <a:ext cx="10414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240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020" name="Shape 2065"/>
          <p:cNvSpPr txBox="1"/>
          <p:nvPr/>
        </p:nvSpPr>
        <p:spPr>
          <a:xfrm>
            <a:off x="2954196" y="3691118"/>
            <a:ext cx="10414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240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021" name="Shape 2066"/>
          <p:cNvSpPr txBox="1"/>
          <p:nvPr/>
        </p:nvSpPr>
        <p:spPr>
          <a:xfrm>
            <a:off x="2970846" y="4440418"/>
            <a:ext cx="9525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240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1022" name="Shape 2067"/>
          <p:cNvSpPr txBox="1"/>
          <p:nvPr/>
        </p:nvSpPr>
        <p:spPr>
          <a:xfrm>
            <a:off x="5050259" y="2954775"/>
            <a:ext cx="10414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240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1023" name="Shape 2068"/>
          <p:cNvSpPr txBox="1"/>
          <p:nvPr/>
        </p:nvSpPr>
        <p:spPr>
          <a:xfrm>
            <a:off x="6382349" y="2954775"/>
            <a:ext cx="10414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240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1024" name="Shape 2069"/>
          <p:cNvSpPr txBox="1"/>
          <p:nvPr/>
        </p:nvSpPr>
        <p:spPr>
          <a:xfrm>
            <a:off x="6350740" y="3803699"/>
            <a:ext cx="10414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240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1025" name="Shape 2070"/>
          <p:cNvSpPr txBox="1"/>
          <p:nvPr/>
        </p:nvSpPr>
        <p:spPr>
          <a:xfrm>
            <a:off x="5050259" y="4528447"/>
            <a:ext cx="10414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240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1026" name="Shape 2071"/>
          <p:cNvSpPr txBox="1"/>
          <p:nvPr/>
        </p:nvSpPr>
        <p:spPr>
          <a:xfrm>
            <a:off x="5050259" y="3735967"/>
            <a:ext cx="10414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240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1027" name="Shape 2072"/>
          <p:cNvSpPr txBox="1"/>
          <p:nvPr/>
        </p:nvSpPr>
        <p:spPr>
          <a:xfrm>
            <a:off x="7637109" y="3672749"/>
            <a:ext cx="10414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240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1028" name="Shape 2073"/>
          <p:cNvSpPr txBox="1"/>
          <p:nvPr/>
        </p:nvSpPr>
        <p:spPr>
          <a:xfrm>
            <a:off x="7637109" y="4523931"/>
            <a:ext cx="10414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240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1029" name="Shape 2074"/>
          <p:cNvSpPr txBox="1"/>
          <p:nvPr/>
        </p:nvSpPr>
        <p:spPr>
          <a:xfrm>
            <a:off x="1886266" y="2877753"/>
            <a:ext cx="10414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240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030" name="Shape 2075"/>
          <p:cNvSpPr txBox="1"/>
          <p:nvPr/>
        </p:nvSpPr>
        <p:spPr>
          <a:xfrm>
            <a:off x="802533" y="4451425"/>
            <a:ext cx="10414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240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031" name="Shape 2076"/>
          <p:cNvSpPr txBox="1"/>
          <p:nvPr/>
        </p:nvSpPr>
        <p:spPr>
          <a:xfrm>
            <a:off x="2016653" y="4440418"/>
            <a:ext cx="7747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240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032" name="Shape 2077"/>
          <p:cNvSpPr txBox="1"/>
          <p:nvPr/>
        </p:nvSpPr>
        <p:spPr>
          <a:xfrm>
            <a:off x="6382349" y="4500789"/>
            <a:ext cx="10414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240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033" name="Shape 2078"/>
          <p:cNvSpPr txBox="1"/>
          <p:nvPr/>
        </p:nvSpPr>
        <p:spPr>
          <a:xfrm>
            <a:off x="7637109" y="3005575"/>
            <a:ext cx="10414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240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034" name="Shape 2079"/>
          <p:cNvSpPr/>
          <p:nvPr/>
        </p:nvSpPr>
        <p:spPr>
          <a:xfrm>
            <a:off x="2951938" y="3703818"/>
            <a:ext cx="1041402" cy="431553"/>
          </a:xfrm>
          <a:prstGeom prst="rect">
            <a:avLst/>
          </a:prstGeom>
          <a:solidFill>
            <a:srgbClr val="99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2400">
                <a:solidFill>
                  <a:srgbClr val="FEE8F7"/>
                </a:solidFill>
                <a:uFill>
                  <a:solidFill>
                    <a:srgbClr val="FEE8F7"/>
                  </a:solidFill>
                </a:u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035" name="Shape 2080"/>
          <p:cNvSpPr/>
          <p:nvPr/>
        </p:nvSpPr>
        <p:spPr>
          <a:xfrm>
            <a:off x="1003475" y="4438725"/>
            <a:ext cx="762002" cy="431553"/>
          </a:xfrm>
          <a:prstGeom prst="rect">
            <a:avLst/>
          </a:prstGeom>
          <a:solidFill>
            <a:srgbClr val="99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2400">
                <a:solidFill>
                  <a:srgbClr val="FEE8F7"/>
                </a:solidFill>
                <a:uFill>
                  <a:solidFill>
                    <a:srgbClr val="FEE8F7"/>
                  </a:solidFill>
                </a:u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036" name="Shape 2081"/>
          <p:cNvSpPr/>
          <p:nvPr/>
        </p:nvSpPr>
        <p:spPr>
          <a:xfrm>
            <a:off x="849946" y="3707769"/>
            <a:ext cx="952502" cy="43155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037" name="Shape 2082"/>
          <p:cNvSpPr/>
          <p:nvPr/>
        </p:nvSpPr>
        <p:spPr>
          <a:xfrm>
            <a:off x="5050259" y="3780840"/>
            <a:ext cx="1041402" cy="43155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2400">
                <a:solidFill>
                  <a:srgbClr val="EC5C57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038" name="Shape 2084"/>
          <p:cNvSpPr txBox="1"/>
          <p:nvPr/>
        </p:nvSpPr>
        <p:spPr>
          <a:xfrm>
            <a:off x="110799" y="1683470"/>
            <a:ext cx="1543700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加入顶点3</a:t>
            </a:r>
          </a:p>
        </p:txBody>
      </p:sp>
      <p:sp>
        <p:nvSpPr>
          <p:cNvPr id="1039" name="Shape 2105"/>
          <p:cNvSpPr txBox="1"/>
          <p:nvPr/>
        </p:nvSpPr>
        <p:spPr>
          <a:xfrm>
            <a:off x="1138659" y="2364205"/>
            <a:ext cx="15494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D</a:t>
            </a:r>
          </a:p>
        </p:txBody>
      </p:sp>
      <p:sp>
        <p:nvSpPr>
          <p:cNvPr id="1040" name="Shape 2106"/>
          <p:cNvSpPr txBox="1"/>
          <p:nvPr/>
        </p:nvSpPr>
        <p:spPr>
          <a:xfrm>
            <a:off x="5381350" y="2382709"/>
            <a:ext cx="15494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P</a:t>
            </a:r>
          </a:p>
        </p:txBody>
      </p:sp>
      <p:sp>
        <p:nvSpPr>
          <p:cNvPr id="1041" name="2-&gt;3 , 3-&gt;1, 更改了 2-&gt;1"/>
          <p:cNvSpPr txBox="1"/>
          <p:nvPr/>
        </p:nvSpPr>
        <p:spPr>
          <a:xfrm>
            <a:off x="849693" y="5572271"/>
            <a:ext cx="3278292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2-&gt;3 , 3-&gt;1, 更改了 2-&gt;1</a:t>
            </a:r>
          </a:p>
        </p:txBody>
      </p:sp>
      <p:grpSp>
        <p:nvGrpSpPr>
          <p:cNvPr id="1061" name="成组"/>
          <p:cNvGrpSpPr/>
          <p:nvPr/>
        </p:nvGrpSpPr>
        <p:grpSpPr>
          <a:xfrm>
            <a:off x="8694101" y="1149882"/>
            <a:ext cx="3151861" cy="2830741"/>
            <a:chOff x="0" y="0"/>
            <a:chExt cx="3151859" cy="2830739"/>
          </a:xfrm>
        </p:grpSpPr>
        <p:grpSp>
          <p:nvGrpSpPr>
            <p:cNvPr id="1044" name="Group 1947"/>
            <p:cNvGrpSpPr/>
            <p:nvPr/>
          </p:nvGrpSpPr>
          <p:grpSpPr>
            <a:xfrm>
              <a:off x="0" y="673049"/>
              <a:ext cx="695399" cy="614500"/>
              <a:chOff x="0" y="0"/>
              <a:chExt cx="695398" cy="614498"/>
            </a:xfrm>
          </p:grpSpPr>
          <p:sp>
            <p:nvSpPr>
              <p:cNvPr id="1042" name="Shape 1945"/>
              <p:cNvSpPr/>
              <p:nvPr/>
            </p:nvSpPr>
            <p:spPr>
              <a:xfrm>
                <a:off x="-1" y="11057"/>
                <a:ext cx="695399" cy="598315"/>
              </a:xfrm>
              <a:prstGeom prst="ellipse">
                <a:avLst/>
              </a:prstGeom>
              <a:solidFill>
                <a:srgbClr val="FFFF99"/>
              </a:solidFill>
              <a:ln w="25400" cap="sq">
                <a:solidFill>
                  <a:srgbClr val="8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043" name="Shape 1946"/>
              <p:cNvSpPr txBox="1"/>
              <p:nvPr/>
            </p:nvSpPr>
            <p:spPr>
              <a:xfrm>
                <a:off x="154189" y="0"/>
                <a:ext cx="387017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sz="38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1</a:t>
                </a:r>
              </a:p>
            </p:txBody>
          </p:sp>
        </p:grpSp>
        <p:grpSp>
          <p:nvGrpSpPr>
            <p:cNvPr id="1047" name="Group 1950"/>
            <p:cNvGrpSpPr/>
            <p:nvPr/>
          </p:nvGrpSpPr>
          <p:grpSpPr>
            <a:xfrm>
              <a:off x="1176866" y="2216240"/>
              <a:ext cx="695399" cy="614500"/>
              <a:chOff x="0" y="0"/>
              <a:chExt cx="695398" cy="614498"/>
            </a:xfrm>
          </p:grpSpPr>
          <p:sp>
            <p:nvSpPr>
              <p:cNvPr id="1045" name="Shape 1948"/>
              <p:cNvSpPr/>
              <p:nvPr/>
            </p:nvSpPr>
            <p:spPr>
              <a:xfrm>
                <a:off x="-1" y="12186"/>
                <a:ext cx="695399" cy="596905"/>
              </a:xfrm>
              <a:prstGeom prst="ellipse">
                <a:avLst/>
              </a:prstGeom>
              <a:solidFill>
                <a:srgbClr val="FFFF99"/>
              </a:solidFill>
              <a:ln w="25400" cap="sq">
                <a:solidFill>
                  <a:srgbClr val="8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046" name="Shape 1949"/>
              <p:cNvSpPr txBox="1"/>
              <p:nvPr/>
            </p:nvSpPr>
            <p:spPr>
              <a:xfrm>
                <a:off x="149109" y="0"/>
                <a:ext cx="387017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sz="38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3</a:t>
                </a:r>
              </a:p>
            </p:txBody>
          </p:sp>
        </p:grpSp>
        <p:grpSp>
          <p:nvGrpSpPr>
            <p:cNvPr id="1050" name="Group 1953"/>
            <p:cNvGrpSpPr/>
            <p:nvPr/>
          </p:nvGrpSpPr>
          <p:grpSpPr>
            <a:xfrm>
              <a:off x="2456461" y="680951"/>
              <a:ext cx="695399" cy="614500"/>
              <a:chOff x="0" y="0"/>
              <a:chExt cx="695398" cy="614498"/>
            </a:xfrm>
          </p:grpSpPr>
          <p:sp>
            <p:nvSpPr>
              <p:cNvPr id="1048" name="Shape 1951"/>
              <p:cNvSpPr/>
              <p:nvPr/>
            </p:nvSpPr>
            <p:spPr>
              <a:xfrm>
                <a:off x="-1" y="12186"/>
                <a:ext cx="695399" cy="596905"/>
              </a:xfrm>
              <a:prstGeom prst="ellipse">
                <a:avLst/>
              </a:prstGeom>
              <a:solidFill>
                <a:srgbClr val="FFFF99"/>
              </a:solidFill>
              <a:ln w="25400" cap="sq">
                <a:solidFill>
                  <a:srgbClr val="8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049" name="Shape 1952"/>
              <p:cNvSpPr txBox="1"/>
              <p:nvPr/>
            </p:nvSpPr>
            <p:spPr>
              <a:xfrm>
                <a:off x="154189" y="0"/>
                <a:ext cx="387017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sz="38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2</a:t>
                </a:r>
              </a:p>
            </p:txBody>
          </p:sp>
        </p:grpSp>
        <p:sp>
          <p:nvSpPr>
            <p:cNvPr id="1051" name="Shape 1954"/>
            <p:cNvSpPr txBox="1"/>
            <p:nvPr/>
          </p:nvSpPr>
          <p:spPr>
            <a:xfrm>
              <a:off x="302541" y="1810737"/>
              <a:ext cx="520702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defRPr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1052" name="Shape 1955"/>
            <p:cNvSpPr txBox="1"/>
            <p:nvPr/>
          </p:nvSpPr>
          <p:spPr>
            <a:xfrm>
              <a:off x="2352604" y="1929553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1053" name="Shape 1956"/>
            <p:cNvSpPr txBox="1"/>
            <p:nvPr/>
          </p:nvSpPr>
          <p:spPr>
            <a:xfrm>
              <a:off x="1381759" y="0"/>
              <a:ext cx="362600" cy="5172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6</a:t>
              </a:r>
            </a:p>
          </p:txBody>
        </p:sp>
        <p:sp>
          <p:nvSpPr>
            <p:cNvPr id="1054" name="Shape 1957"/>
            <p:cNvSpPr txBox="1"/>
            <p:nvPr/>
          </p:nvSpPr>
          <p:spPr>
            <a:xfrm>
              <a:off x="1329830" y="787964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1055" name="Shape 1958"/>
            <p:cNvSpPr/>
            <p:nvPr/>
          </p:nvSpPr>
          <p:spPr>
            <a:xfrm>
              <a:off x="708941" y="1110826"/>
              <a:ext cx="1841502" cy="2103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529" fill="norm" stroke="1" extrusionOk="0">
                  <a:moveTo>
                    <a:pt x="21600" y="6900"/>
                  </a:moveTo>
                  <a:cubicBezTo>
                    <a:pt x="17711" y="14250"/>
                    <a:pt x="13823" y="21600"/>
                    <a:pt x="10236" y="20400"/>
                  </a:cubicBezTo>
                  <a:cubicBezTo>
                    <a:pt x="6648" y="19200"/>
                    <a:pt x="3311" y="9600"/>
                    <a:pt x="0" y="0"/>
                  </a:cubicBezTo>
                </a:path>
              </a:pathLst>
            </a:custGeom>
            <a:noFill/>
            <a:ln w="38100" cap="sq">
              <a:solidFill>
                <a:srgbClr val="8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56" name="Shape 1959"/>
            <p:cNvSpPr/>
            <p:nvPr/>
          </p:nvSpPr>
          <p:spPr>
            <a:xfrm rot="10680000">
              <a:off x="582141" y="534721"/>
              <a:ext cx="1943948" cy="2553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529" fill="norm" stroke="1" extrusionOk="0">
                  <a:moveTo>
                    <a:pt x="21600" y="6900"/>
                  </a:moveTo>
                  <a:cubicBezTo>
                    <a:pt x="17711" y="14250"/>
                    <a:pt x="13823" y="21600"/>
                    <a:pt x="10236" y="20400"/>
                  </a:cubicBezTo>
                  <a:cubicBezTo>
                    <a:pt x="6648" y="19200"/>
                    <a:pt x="3311" y="9600"/>
                    <a:pt x="0" y="0"/>
                  </a:cubicBezTo>
                </a:path>
              </a:pathLst>
            </a:custGeom>
            <a:noFill/>
            <a:ln w="38100" cap="sq">
              <a:solidFill>
                <a:srgbClr val="8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57" name="Shape 1960"/>
            <p:cNvSpPr/>
            <p:nvPr/>
          </p:nvSpPr>
          <p:spPr>
            <a:xfrm flipH="1" rot="14280000">
              <a:off x="361464" y="1622539"/>
              <a:ext cx="1332092" cy="1931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529" fill="norm" stroke="1" extrusionOk="0">
                  <a:moveTo>
                    <a:pt x="21600" y="6900"/>
                  </a:moveTo>
                  <a:cubicBezTo>
                    <a:pt x="17711" y="14250"/>
                    <a:pt x="13823" y="21600"/>
                    <a:pt x="10236" y="20400"/>
                  </a:cubicBezTo>
                  <a:cubicBezTo>
                    <a:pt x="6648" y="19200"/>
                    <a:pt x="3311" y="9600"/>
                    <a:pt x="0" y="0"/>
                  </a:cubicBezTo>
                </a:path>
              </a:pathLst>
            </a:custGeom>
            <a:noFill/>
            <a:ln w="38100" cap="sq">
              <a:solidFill>
                <a:srgbClr val="8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58" name="Shape 1961"/>
            <p:cNvSpPr/>
            <p:nvPr/>
          </p:nvSpPr>
          <p:spPr>
            <a:xfrm flipH="1" rot="3300000">
              <a:off x="57157" y="1792804"/>
              <a:ext cx="1332091" cy="1931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529" fill="norm" stroke="1" extrusionOk="0">
                  <a:moveTo>
                    <a:pt x="21600" y="6900"/>
                  </a:moveTo>
                  <a:cubicBezTo>
                    <a:pt x="17711" y="14250"/>
                    <a:pt x="13823" y="21600"/>
                    <a:pt x="10236" y="20400"/>
                  </a:cubicBezTo>
                  <a:cubicBezTo>
                    <a:pt x="6648" y="19200"/>
                    <a:pt x="3311" y="9600"/>
                    <a:pt x="0" y="0"/>
                  </a:cubicBezTo>
                </a:path>
              </a:pathLst>
            </a:custGeom>
            <a:noFill/>
            <a:ln w="38100" cap="sq">
              <a:solidFill>
                <a:srgbClr val="8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59" name="Shape 1962"/>
            <p:cNvSpPr/>
            <p:nvPr/>
          </p:nvSpPr>
          <p:spPr>
            <a:xfrm flipH="1" rot="18540000">
              <a:off x="1635432" y="1811054"/>
              <a:ext cx="1433691" cy="1931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529" fill="norm" stroke="1" extrusionOk="0">
                  <a:moveTo>
                    <a:pt x="21600" y="6900"/>
                  </a:moveTo>
                  <a:cubicBezTo>
                    <a:pt x="17711" y="14250"/>
                    <a:pt x="13823" y="21600"/>
                    <a:pt x="10236" y="20400"/>
                  </a:cubicBezTo>
                  <a:cubicBezTo>
                    <a:pt x="6648" y="19200"/>
                    <a:pt x="3311" y="9600"/>
                    <a:pt x="0" y="0"/>
                  </a:cubicBezTo>
                </a:path>
              </a:pathLst>
            </a:custGeom>
            <a:noFill/>
            <a:ln w="38100" cap="sq">
              <a:solidFill>
                <a:srgbClr val="8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60" name="Shape 1963"/>
            <p:cNvSpPr txBox="1"/>
            <p:nvPr/>
          </p:nvSpPr>
          <p:spPr>
            <a:xfrm>
              <a:off x="1086273" y="1406595"/>
              <a:ext cx="538961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11</a:t>
              </a:r>
            </a:p>
          </p:txBody>
        </p:sp>
      </p:grpSp>
      <p:sp>
        <p:nvSpPr>
          <p:cNvPr id="1062" name="Shape 1391"/>
          <p:cNvSpPr txBox="1"/>
          <p:nvPr/>
        </p:nvSpPr>
        <p:spPr>
          <a:xfrm>
            <a:off x="1731433" y="171644"/>
            <a:ext cx="9537702" cy="931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marR="57798" algn="ctr" defTabSz="1295400">
              <a:lnSpc>
                <a:spcPct val="115000"/>
              </a:lnSpc>
              <a:defRPr sz="45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Floyd-Warshall算法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4" presetID="2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11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Class="entr" nodeType="afterEffect" presetSubtype="4" presetID="2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15" dur="500"/>
                                        <p:tgtEl>
                                          <p:spTgt spid="1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Class="entr" nodeType="clickEffect" presetSubtype="4" presetID="22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20"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Subtype="4" presetID="22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25" dur="500"/>
                                        <p:tgtEl>
                                          <p:spTgt spid="1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035" grpId="3"/>
      <p:bldP build="whole" bldLvl="1" animBg="1" rev="0" advAuto="0" spid="1037" grpId="5"/>
      <p:bldP build="whole" bldLvl="1" animBg="1" rev="0" advAuto="0" spid="1041" grpId="1"/>
      <p:bldP build="whole" bldLvl="1" animBg="1" rev="0" advAuto="0" spid="1034" grpId="2"/>
      <p:bldP build="whole" bldLvl="1" animBg="1" rev="0" advAuto="0" spid="1036" grpId="4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Floyd-Warshall算法只需要使用简单的数据结构：矩阵…"/>
          <p:cNvSpPr txBox="1"/>
          <p:nvPr/>
        </p:nvSpPr>
        <p:spPr>
          <a:xfrm>
            <a:off x="1149442" y="1403683"/>
            <a:ext cx="9252877" cy="1947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300789" indent="-300789">
              <a:lnSpc>
                <a:spcPct val="120000"/>
              </a:lnSpc>
              <a:buSzPct val="60000"/>
              <a:buBlip>
                <a:blip r:embed="rId2"/>
              </a:buBlip>
            </a:pPr>
            <a:r>
              <a:t>Floyd-Warshall算法只需要使用简单的数据结构：矩阵</a:t>
            </a:r>
          </a:p>
          <a:p>
            <a:pPr marL="300789" indent="-300789">
              <a:lnSpc>
                <a:spcPct val="120000"/>
              </a:lnSpc>
              <a:buSzPct val="60000"/>
              <a:buBlip>
                <a:blip r:embed="rId2"/>
              </a:buBlip>
            </a:pPr>
            <a:r>
              <a:t>Floyd-Warshall算法的时间复杂度为O(|V|</a:t>
            </a:r>
            <a:r>
              <a:rPr baseline="31999"/>
              <a:t>3</a:t>
            </a:r>
            <a:r>
              <a:t>)</a:t>
            </a:r>
          </a:p>
          <a:p>
            <a:pPr marL="300789" indent="-300789">
              <a:lnSpc>
                <a:spcPct val="120000"/>
              </a:lnSpc>
              <a:buSzPct val="60000"/>
              <a:buBlip>
                <a:blip r:embed="rId2"/>
              </a:buBlip>
            </a:pPr>
            <a:r>
              <a:t>Johnson算法适用于稀疏图</a:t>
            </a:r>
          </a:p>
        </p:txBody>
      </p:sp>
      <p:sp>
        <p:nvSpPr>
          <p:cNvPr id="1065" name="Shape 1391"/>
          <p:cNvSpPr txBox="1"/>
          <p:nvPr/>
        </p:nvSpPr>
        <p:spPr>
          <a:xfrm>
            <a:off x="1731433" y="171644"/>
            <a:ext cx="9537702" cy="931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marR="57798" algn="ctr" defTabSz="1295400">
              <a:lnSpc>
                <a:spcPct val="115000"/>
              </a:lnSpc>
              <a:defRPr sz="45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Floyd-Warshall算法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Shape 1082"/>
          <p:cNvSpPr txBox="1"/>
          <p:nvPr>
            <p:ph type="title"/>
          </p:nvPr>
        </p:nvSpPr>
        <p:spPr>
          <a:xfrm>
            <a:off x="2676736" y="38100"/>
            <a:ext cx="7632702" cy="990600"/>
          </a:xfrm>
          <a:prstGeom prst="rect">
            <a:avLst/>
          </a:prstGeom>
        </p:spPr>
        <p:txBody>
          <a:bodyPr/>
          <a:lstStyle>
            <a:lvl1pPr>
              <a:lnSpc>
                <a:spcPct val="115000"/>
              </a:lnSpc>
              <a:defRPr sz="48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课堂练习</a:t>
            </a:r>
          </a:p>
        </p:txBody>
      </p:sp>
      <p:grpSp>
        <p:nvGrpSpPr>
          <p:cNvPr id="1097" name="成组"/>
          <p:cNvGrpSpPr/>
          <p:nvPr/>
        </p:nvGrpSpPr>
        <p:grpSpPr>
          <a:xfrm>
            <a:off x="3985712" y="1142446"/>
            <a:ext cx="6034857" cy="4747991"/>
            <a:chOff x="0" y="0"/>
            <a:chExt cx="6034856" cy="4747989"/>
          </a:xfrm>
        </p:grpSpPr>
        <p:sp>
          <p:nvSpPr>
            <p:cNvPr id="1068" name="Shape 1083"/>
            <p:cNvSpPr/>
            <p:nvPr/>
          </p:nvSpPr>
          <p:spPr>
            <a:xfrm>
              <a:off x="1097884" y="1739134"/>
              <a:ext cx="1422400" cy="1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69" name="Shape 1084"/>
            <p:cNvSpPr/>
            <p:nvPr/>
          </p:nvSpPr>
          <p:spPr>
            <a:xfrm>
              <a:off x="531716" y="2126556"/>
              <a:ext cx="2" cy="1673857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70" name="Shape 1085"/>
            <p:cNvSpPr/>
            <p:nvPr/>
          </p:nvSpPr>
          <p:spPr>
            <a:xfrm>
              <a:off x="1066027" y="4345555"/>
              <a:ext cx="1422400" cy="3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71" name="Shape 1086"/>
            <p:cNvSpPr/>
            <p:nvPr/>
          </p:nvSpPr>
          <p:spPr>
            <a:xfrm>
              <a:off x="3575458" y="1967522"/>
              <a:ext cx="1417573" cy="899314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72" name="Shape 1087"/>
            <p:cNvSpPr txBox="1"/>
            <p:nvPr/>
          </p:nvSpPr>
          <p:spPr>
            <a:xfrm rot="1440000">
              <a:off x="4463258" y="1842539"/>
              <a:ext cx="400700" cy="6155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3600"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1073" name="Shape 1088"/>
            <p:cNvSpPr txBox="1"/>
            <p:nvPr/>
          </p:nvSpPr>
          <p:spPr>
            <a:xfrm rot="20400000">
              <a:off x="4355850" y="3734793"/>
              <a:ext cx="400700" cy="6155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3600"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grpSp>
          <p:nvGrpSpPr>
            <p:cNvPr id="1076" name="Group 1091"/>
            <p:cNvGrpSpPr/>
            <p:nvPr/>
          </p:nvGrpSpPr>
          <p:grpSpPr>
            <a:xfrm>
              <a:off x="32022" y="3831146"/>
              <a:ext cx="1112971" cy="916844"/>
              <a:chOff x="0" y="0"/>
              <a:chExt cx="1112969" cy="916843"/>
            </a:xfrm>
          </p:grpSpPr>
          <p:sp>
            <p:nvSpPr>
              <p:cNvPr id="1074" name="Shape 1089"/>
              <p:cNvSpPr/>
              <p:nvPr/>
            </p:nvSpPr>
            <p:spPr>
              <a:xfrm>
                <a:off x="0" y="0"/>
                <a:ext cx="1112970" cy="916844"/>
              </a:xfrm>
              <a:prstGeom prst="ellipse">
                <a:avLst/>
              </a:prstGeom>
              <a:solidFill>
                <a:srgbClr val="FFFF99"/>
              </a:solidFill>
              <a:ln w="25400" cap="sq">
                <a:solidFill>
                  <a:srgbClr val="8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075" name="Shape 1090"/>
              <p:cNvSpPr txBox="1"/>
              <p:nvPr/>
            </p:nvSpPr>
            <p:spPr>
              <a:xfrm>
                <a:off x="165830" y="147008"/>
                <a:ext cx="752148" cy="6145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38100" tIns="38100" rIns="38100" bIns="38100" numCol="1" anchor="ctr">
                <a:spAutoFit/>
              </a:bodyPr>
              <a:lstStyle>
                <a:lvl1pPr marR="56816" indent="56816" algn="ctr" defTabSz="1295400">
                  <a:defRPr sz="38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3</a:t>
                </a:r>
              </a:p>
            </p:txBody>
          </p:sp>
        </p:grpSp>
        <p:sp>
          <p:nvSpPr>
            <p:cNvPr id="1077" name="Shape 1092"/>
            <p:cNvSpPr/>
            <p:nvPr/>
          </p:nvSpPr>
          <p:spPr>
            <a:xfrm flipV="1">
              <a:off x="3579716" y="3373947"/>
              <a:ext cx="1408518" cy="755494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78" name="Shape 1093"/>
            <p:cNvSpPr txBox="1"/>
            <p:nvPr/>
          </p:nvSpPr>
          <p:spPr>
            <a:xfrm>
              <a:off x="1530755" y="1041400"/>
              <a:ext cx="400700" cy="61557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3600"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grpSp>
          <p:nvGrpSpPr>
            <p:cNvPr id="1081" name="Group 1096"/>
            <p:cNvGrpSpPr/>
            <p:nvPr/>
          </p:nvGrpSpPr>
          <p:grpSpPr>
            <a:xfrm>
              <a:off x="2545820" y="1272808"/>
              <a:ext cx="1112971" cy="916845"/>
              <a:chOff x="0" y="0"/>
              <a:chExt cx="1112970" cy="916843"/>
            </a:xfrm>
          </p:grpSpPr>
          <p:sp>
            <p:nvSpPr>
              <p:cNvPr id="1079" name="Shape 1094"/>
              <p:cNvSpPr/>
              <p:nvPr/>
            </p:nvSpPr>
            <p:spPr>
              <a:xfrm>
                <a:off x="-1" y="0"/>
                <a:ext cx="1112972" cy="916844"/>
              </a:xfrm>
              <a:prstGeom prst="ellipse">
                <a:avLst/>
              </a:prstGeom>
              <a:solidFill>
                <a:srgbClr val="FFFF99"/>
              </a:solidFill>
              <a:ln w="25400" cap="sq">
                <a:solidFill>
                  <a:srgbClr val="8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080" name="Shape 1095"/>
              <p:cNvSpPr txBox="1"/>
              <p:nvPr/>
            </p:nvSpPr>
            <p:spPr>
              <a:xfrm>
                <a:off x="165830" y="147008"/>
                <a:ext cx="752149" cy="6145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38100" tIns="38100" rIns="38100" bIns="38100" numCol="1" anchor="ctr">
                <a:spAutoFit/>
              </a:bodyPr>
              <a:lstStyle>
                <a:lvl1pPr marR="56816" indent="56816" algn="ctr" defTabSz="1295400">
                  <a:defRPr sz="38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2</a:t>
                </a:r>
              </a:p>
            </p:txBody>
          </p:sp>
        </p:grpSp>
        <p:grpSp>
          <p:nvGrpSpPr>
            <p:cNvPr id="1084" name="Group 1099"/>
            <p:cNvGrpSpPr/>
            <p:nvPr/>
          </p:nvGrpSpPr>
          <p:grpSpPr>
            <a:xfrm>
              <a:off x="2545820" y="3815342"/>
              <a:ext cx="1112971" cy="916845"/>
              <a:chOff x="0" y="0"/>
              <a:chExt cx="1112970" cy="916843"/>
            </a:xfrm>
          </p:grpSpPr>
          <p:sp>
            <p:nvSpPr>
              <p:cNvPr id="1082" name="Shape 1097"/>
              <p:cNvSpPr/>
              <p:nvPr/>
            </p:nvSpPr>
            <p:spPr>
              <a:xfrm>
                <a:off x="-1" y="0"/>
                <a:ext cx="1112972" cy="916844"/>
              </a:xfrm>
              <a:prstGeom prst="ellipse">
                <a:avLst/>
              </a:prstGeom>
              <a:solidFill>
                <a:srgbClr val="FFFF99"/>
              </a:solidFill>
              <a:ln w="25400" cap="sq">
                <a:solidFill>
                  <a:srgbClr val="8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083" name="Shape 1098"/>
              <p:cNvSpPr txBox="1"/>
              <p:nvPr/>
            </p:nvSpPr>
            <p:spPr>
              <a:xfrm>
                <a:off x="165830" y="147008"/>
                <a:ext cx="752149" cy="6145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38100" tIns="38100" rIns="38100" bIns="38100" numCol="1" anchor="ctr">
                <a:spAutoFit/>
              </a:bodyPr>
              <a:lstStyle>
                <a:lvl1pPr marR="56816" indent="56816" algn="ctr" defTabSz="1295400">
                  <a:defRPr sz="38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4</a:t>
                </a:r>
              </a:p>
            </p:txBody>
          </p:sp>
        </p:grpSp>
        <p:grpSp>
          <p:nvGrpSpPr>
            <p:cNvPr id="1087" name="Group 1102"/>
            <p:cNvGrpSpPr/>
            <p:nvPr/>
          </p:nvGrpSpPr>
          <p:grpSpPr>
            <a:xfrm>
              <a:off x="4921886" y="2608842"/>
              <a:ext cx="1112971" cy="916845"/>
              <a:chOff x="0" y="0"/>
              <a:chExt cx="1112970" cy="916843"/>
            </a:xfrm>
          </p:grpSpPr>
          <p:sp>
            <p:nvSpPr>
              <p:cNvPr id="1085" name="Shape 1100"/>
              <p:cNvSpPr/>
              <p:nvPr/>
            </p:nvSpPr>
            <p:spPr>
              <a:xfrm>
                <a:off x="-1" y="0"/>
                <a:ext cx="1112972" cy="916844"/>
              </a:xfrm>
              <a:prstGeom prst="ellipse">
                <a:avLst/>
              </a:prstGeom>
              <a:solidFill>
                <a:srgbClr val="FFFF99"/>
              </a:solidFill>
              <a:ln w="25400" cap="sq">
                <a:solidFill>
                  <a:srgbClr val="8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086" name="Shape 1101"/>
              <p:cNvSpPr txBox="1"/>
              <p:nvPr/>
            </p:nvSpPr>
            <p:spPr>
              <a:xfrm>
                <a:off x="165830" y="147008"/>
                <a:ext cx="752149" cy="6145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38100" tIns="38100" rIns="38100" bIns="38100" numCol="1" anchor="ctr">
                <a:spAutoFit/>
              </a:bodyPr>
              <a:lstStyle>
                <a:lvl1pPr marR="56816" indent="56816" algn="ctr" defTabSz="1295400">
                  <a:defRPr sz="38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5</a:t>
                </a:r>
              </a:p>
            </p:txBody>
          </p:sp>
        </p:grpSp>
        <p:sp>
          <p:nvSpPr>
            <p:cNvPr id="1088" name="Shape 1103"/>
            <p:cNvSpPr txBox="1"/>
            <p:nvPr/>
          </p:nvSpPr>
          <p:spPr>
            <a:xfrm>
              <a:off x="654455" y="2649343"/>
              <a:ext cx="400700" cy="6155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3600"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1089" name="Shape 1104"/>
            <p:cNvSpPr txBox="1"/>
            <p:nvPr/>
          </p:nvSpPr>
          <p:spPr>
            <a:xfrm>
              <a:off x="1456227" y="3695700"/>
              <a:ext cx="400700" cy="61557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3600"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090" name="Shape 1105"/>
            <p:cNvSpPr/>
            <p:nvPr/>
          </p:nvSpPr>
          <p:spPr>
            <a:xfrm flipH="1">
              <a:off x="3102821" y="2204577"/>
              <a:ext cx="1" cy="1595835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91" name="Shape 1106"/>
            <p:cNvSpPr txBox="1"/>
            <p:nvPr/>
          </p:nvSpPr>
          <p:spPr>
            <a:xfrm>
              <a:off x="2433996" y="2649343"/>
              <a:ext cx="400700" cy="6155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3600"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1092" name="Shape 1112"/>
            <p:cNvSpPr/>
            <p:nvPr/>
          </p:nvSpPr>
          <p:spPr>
            <a:xfrm>
              <a:off x="714493" y="634763"/>
              <a:ext cx="4590315" cy="19835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941" fill="norm" stroke="1" extrusionOk="0">
                  <a:moveTo>
                    <a:pt x="0" y="5731"/>
                  </a:moveTo>
                  <a:cubicBezTo>
                    <a:pt x="10188" y="-4659"/>
                    <a:pt x="17388" y="-922"/>
                    <a:pt x="21600" y="16941"/>
                  </a:cubicBezTo>
                </a:path>
              </a:pathLst>
            </a:custGeom>
            <a:noFill/>
            <a:ln w="25400" cap="flat">
              <a:solidFill>
                <a:schemeClr val="accent6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93" name="Shape 1108"/>
            <p:cNvSpPr txBox="1"/>
            <p:nvPr/>
          </p:nvSpPr>
          <p:spPr>
            <a:xfrm>
              <a:off x="2953155" y="0"/>
              <a:ext cx="400700" cy="61557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3600"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8</a:t>
              </a:r>
            </a:p>
          </p:txBody>
        </p:sp>
        <p:grpSp>
          <p:nvGrpSpPr>
            <p:cNvPr id="1096" name="Group 1111"/>
            <p:cNvGrpSpPr/>
            <p:nvPr/>
          </p:nvGrpSpPr>
          <p:grpSpPr>
            <a:xfrm>
              <a:off x="0" y="1267879"/>
              <a:ext cx="1114236" cy="916843"/>
              <a:chOff x="0" y="0"/>
              <a:chExt cx="1114235" cy="916842"/>
            </a:xfrm>
          </p:grpSpPr>
          <p:sp>
            <p:nvSpPr>
              <p:cNvPr id="1094" name="Shape 1109"/>
              <p:cNvSpPr/>
              <p:nvPr/>
            </p:nvSpPr>
            <p:spPr>
              <a:xfrm>
                <a:off x="0" y="0"/>
                <a:ext cx="1114236" cy="916843"/>
              </a:xfrm>
              <a:prstGeom prst="ellipse">
                <a:avLst/>
              </a:prstGeom>
              <a:solidFill>
                <a:srgbClr val="99CCFF"/>
              </a:solidFill>
              <a:ln w="25400" cap="sq">
                <a:solidFill>
                  <a:srgbClr val="00008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095" name="Shape 1110"/>
              <p:cNvSpPr txBox="1"/>
              <p:nvPr/>
            </p:nvSpPr>
            <p:spPr>
              <a:xfrm>
                <a:off x="334510" y="150034"/>
                <a:ext cx="445215" cy="6145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38100" tIns="38100" rIns="38100" bIns="38100" numCol="1" anchor="ctr">
                <a:spAutoFit/>
              </a:bodyPr>
              <a:lstStyle>
                <a:lvl1pPr marR="56816" indent="56816" algn="ctr" defTabSz="1295400">
                  <a:defRPr sz="38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1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spd="med" advClick="1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Shape 1391"/>
          <p:cNvSpPr txBox="1"/>
          <p:nvPr/>
        </p:nvSpPr>
        <p:spPr>
          <a:xfrm>
            <a:off x="1731433" y="171644"/>
            <a:ext cx="9537702" cy="931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marR="57798" algn="ctr" defTabSz="1295400">
              <a:lnSpc>
                <a:spcPct val="115000"/>
              </a:lnSpc>
              <a:defRPr sz="45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Floyd-Warshall算法</a:t>
            </a:r>
          </a:p>
        </p:txBody>
      </p:sp>
      <p:sp>
        <p:nvSpPr>
          <p:cNvPr id="1100" name="public void floyd() {…"/>
          <p:cNvSpPr txBox="1"/>
          <p:nvPr/>
        </p:nvSpPr>
        <p:spPr>
          <a:xfrm>
            <a:off x="440073" y="1525951"/>
            <a:ext cx="12079499" cy="761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2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floyd() {</a:t>
            </a:r>
          </a:p>
          <a:p>
            <a:pPr indent="0">
              <a:lnSpc>
                <a:spcPct val="12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0326CC"/>
                </a:solidFill>
              </a:rPr>
              <a:t>graph</a:t>
            </a:r>
            <a:r>
              <a:t>.getGraphKind() != GraphKind.</a:t>
            </a:r>
            <a:r>
              <a:rPr>
                <a:solidFill>
                  <a:srgbClr val="0326CC"/>
                </a:solidFill>
              </a:rPr>
              <a:t>WeightedDirectGraph</a:t>
            </a:r>
            <a:r>
              <a:t>)</a:t>
            </a:r>
          </a:p>
          <a:p>
            <a:pPr indent="0">
              <a:lnSpc>
                <a:spcPct val="120000"/>
              </a:lnSpc>
              <a:defRPr sz="25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;</a:t>
            </a:r>
          </a:p>
          <a:p>
            <a:pPr indent="0">
              <a:lnSpc>
                <a:spcPct val="120000"/>
              </a:lnSpc>
              <a:defRPr sz="25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double</a:t>
            </a:r>
            <a:r>
              <a:rPr>
                <a:solidFill>
                  <a:srgbClr val="000000"/>
                </a:solidFill>
              </a:rPr>
              <a:t>[][] </a:t>
            </a:r>
            <a:r>
              <a:t>distance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double</a:t>
            </a:r>
            <a:r>
              <a:rPr>
                <a:solidFill>
                  <a:srgbClr val="000000"/>
                </a:solidFill>
              </a:rPr>
              <a:t>[</a:t>
            </a:r>
            <a:r>
              <a:rPr>
                <a:solidFill>
                  <a:srgbClr val="0326CC"/>
                </a:solidFill>
              </a:rPr>
              <a:t>n</a:t>
            </a:r>
            <a:r>
              <a:rPr>
                <a:solidFill>
                  <a:srgbClr val="000000"/>
                </a:solidFill>
              </a:rPr>
              <a:t>][</a:t>
            </a:r>
            <a:r>
              <a:rPr>
                <a:solidFill>
                  <a:srgbClr val="0326CC"/>
                </a:solidFill>
              </a:rPr>
              <a:t>n</a:t>
            </a:r>
            <a:r>
              <a:rPr>
                <a:solidFill>
                  <a:srgbClr val="000000"/>
                </a:solidFill>
              </a:rPr>
              <a:t>];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2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[][] </a:t>
            </a:r>
            <a:r>
              <a:rPr>
                <a:solidFill>
                  <a:srgbClr val="7E504F"/>
                </a:solidFill>
              </a:rPr>
              <a:t>path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[</a:t>
            </a:r>
            <a:r>
              <a:rPr>
                <a:solidFill>
                  <a:srgbClr val="0326CC"/>
                </a:solidFill>
              </a:rPr>
              <a:t>n</a:t>
            </a:r>
            <a:r>
              <a:t>][</a:t>
            </a:r>
            <a:r>
              <a:rPr>
                <a:solidFill>
                  <a:srgbClr val="0326CC"/>
                </a:solidFill>
              </a:rPr>
              <a:t>n</a:t>
            </a:r>
            <a:r>
              <a:t>];</a:t>
            </a:r>
          </a:p>
          <a:p>
            <a:pPr indent="0">
              <a:lnSpc>
                <a:spcPct val="120000"/>
              </a:lnSpc>
              <a:defRPr sz="25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// 初始化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2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t> = 0; </a:t>
            </a:r>
            <a:r>
              <a:rPr>
                <a:solidFill>
                  <a:srgbClr val="7E504F"/>
                </a:solidFill>
              </a:rPr>
              <a:t>i</a:t>
            </a:r>
            <a:r>
              <a:t> &lt; </a:t>
            </a:r>
            <a:r>
              <a:rPr>
                <a:solidFill>
                  <a:srgbClr val="0326CC"/>
                </a:solidFill>
              </a:rPr>
              <a:t>n</a:t>
            </a:r>
            <a:r>
              <a:t>; </a:t>
            </a:r>
            <a:r>
              <a:rPr>
                <a:solidFill>
                  <a:srgbClr val="7E504F"/>
                </a:solidFill>
              </a:rPr>
              <a:t>i</a:t>
            </a:r>
            <a:r>
              <a:t>++) {</a:t>
            </a:r>
          </a:p>
          <a:p>
            <a:pPr indent="0">
              <a:lnSpc>
                <a:spcPct val="12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j</a:t>
            </a:r>
            <a:r>
              <a:t> = 0; </a:t>
            </a:r>
            <a:r>
              <a:rPr>
                <a:solidFill>
                  <a:srgbClr val="7E504F"/>
                </a:solidFill>
              </a:rPr>
              <a:t>j</a:t>
            </a:r>
            <a:r>
              <a:t> &lt; </a:t>
            </a:r>
            <a:r>
              <a:rPr>
                <a:solidFill>
                  <a:srgbClr val="0326CC"/>
                </a:solidFill>
              </a:rPr>
              <a:t>n</a:t>
            </a:r>
            <a:r>
              <a:t>; </a:t>
            </a:r>
            <a:r>
              <a:rPr>
                <a:solidFill>
                  <a:srgbClr val="7E504F"/>
                </a:solidFill>
              </a:rPr>
              <a:t>j</a:t>
            </a:r>
            <a:r>
              <a:t>++) {</a:t>
            </a:r>
          </a:p>
          <a:p>
            <a:pPr indent="0">
              <a:lnSpc>
                <a:spcPct val="12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7E504F"/>
                </a:solidFill>
              </a:rPr>
              <a:t>distance</a:t>
            </a:r>
            <a:r>
              <a:t>[</a:t>
            </a:r>
            <a:r>
              <a:rPr>
                <a:solidFill>
                  <a:srgbClr val="7E504F"/>
                </a:solidFill>
              </a:rPr>
              <a:t>i</a:t>
            </a:r>
            <a:r>
              <a:t>][</a:t>
            </a:r>
            <a:r>
              <a:rPr>
                <a:solidFill>
                  <a:srgbClr val="7E504F"/>
                </a:solidFill>
              </a:rPr>
              <a:t>j</a:t>
            </a:r>
            <a:r>
              <a:t>] = </a:t>
            </a:r>
            <a:r>
              <a:rPr>
                <a:solidFill>
                  <a:srgbClr val="0326CC"/>
                </a:solidFill>
              </a:rPr>
              <a:t>graph</a:t>
            </a:r>
            <a:r>
              <a:t>.getWeight(</a:t>
            </a:r>
            <a:r>
              <a:rPr>
                <a:solidFill>
                  <a:srgbClr val="7E504F"/>
                </a:solidFill>
              </a:rPr>
              <a:t>i</a:t>
            </a:r>
            <a:r>
              <a:t>, </a:t>
            </a:r>
            <a:r>
              <a:rPr>
                <a:solidFill>
                  <a:srgbClr val="7E504F"/>
                </a:solidFill>
              </a:rPr>
              <a:t>j</a:t>
            </a:r>
            <a:r>
              <a:t>);</a:t>
            </a:r>
          </a:p>
          <a:p>
            <a:pPr indent="0">
              <a:lnSpc>
                <a:spcPct val="12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7E504F"/>
                </a:solidFill>
              </a:rPr>
              <a:t>path</a:t>
            </a:r>
            <a:r>
              <a:t>[</a:t>
            </a:r>
            <a:r>
              <a:rPr>
                <a:solidFill>
                  <a:srgbClr val="7E504F"/>
                </a:solidFill>
              </a:rPr>
              <a:t>i</a:t>
            </a:r>
            <a:r>
              <a:t>][</a:t>
            </a:r>
            <a:r>
              <a:rPr>
                <a:solidFill>
                  <a:srgbClr val="7E504F"/>
                </a:solidFill>
              </a:rPr>
              <a:t>j</a:t>
            </a:r>
            <a:r>
              <a:t>] = -1;</a:t>
            </a:r>
          </a:p>
          <a:p>
            <a:pPr indent="0">
              <a:lnSpc>
                <a:spcPct val="12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	}</a:t>
            </a:r>
          </a:p>
          <a:p>
            <a:pPr indent="0">
              <a:lnSpc>
                <a:spcPct val="12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indent="0">
              <a:lnSpc>
                <a:spcPct val="120000"/>
              </a:lnSpc>
              <a:defRPr sz="25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// 因为用无穷大表示无边，所以顶点到自己的路径长度为无穷大，矫正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2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t> = 0; </a:t>
            </a:r>
            <a:r>
              <a:rPr>
                <a:solidFill>
                  <a:srgbClr val="7E504F"/>
                </a:solidFill>
              </a:rPr>
              <a:t>i</a:t>
            </a:r>
            <a:r>
              <a:t> &lt; </a:t>
            </a:r>
            <a:r>
              <a:rPr>
                <a:solidFill>
                  <a:srgbClr val="0326CC"/>
                </a:solidFill>
              </a:rPr>
              <a:t>n</a:t>
            </a:r>
            <a:r>
              <a:t>; </a:t>
            </a:r>
            <a:r>
              <a:rPr>
                <a:solidFill>
                  <a:srgbClr val="7E504F"/>
                </a:solidFill>
              </a:rPr>
              <a:t>i</a:t>
            </a:r>
            <a:r>
              <a:t>++)</a:t>
            </a:r>
          </a:p>
          <a:p>
            <a:pPr indent="0">
              <a:lnSpc>
                <a:spcPct val="12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7E504F"/>
                </a:solidFill>
              </a:rPr>
              <a:t>distance</a:t>
            </a:r>
            <a:r>
              <a:t>[</a:t>
            </a:r>
            <a:r>
              <a:rPr>
                <a:solidFill>
                  <a:srgbClr val="7E504F"/>
                </a:solidFill>
              </a:rPr>
              <a:t>i</a:t>
            </a:r>
            <a:r>
              <a:t>][</a:t>
            </a:r>
            <a:r>
              <a:rPr>
                <a:solidFill>
                  <a:srgbClr val="7E504F"/>
                </a:solidFill>
              </a:rPr>
              <a:t>i</a:t>
            </a:r>
            <a:r>
              <a:t>] = 0.0;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Shape 1391"/>
          <p:cNvSpPr txBox="1"/>
          <p:nvPr/>
        </p:nvSpPr>
        <p:spPr>
          <a:xfrm>
            <a:off x="1731433" y="171644"/>
            <a:ext cx="9537702" cy="931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marR="57798" algn="ctr" defTabSz="1295400">
              <a:lnSpc>
                <a:spcPct val="115000"/>
              </a:lnSpc>
              <a:defRPr sz="45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Floyd-Warshall算法</a:t>
            </a:r>
          </a:p>
        </p:txBody>
      </p:sp>
      <p:sp>
        <p:nvSpPr>
          <p:cNvPr id="1103" name="// 核心…"/>
          <p:cNvSpPr txBox="1"/>
          <p:nvPr/>
        </p:nvSpPr>
        <p:spPr>
          <a:xfrm>
            <a:off x="1123091" y="1854039"/>
            <a:ext cx="10974197" cy="6045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20000"/>
              </a:lnSpc>
              <a:defRPr sz="25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// 核心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2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k</a:t>
            </a:r>
            <a:r>
              <a:t> = 0; </a:t>
            </a:r>
            <a:r>
              <a:rPr>
                <a:solidFill>
                  <a:srgbClr val="7E504F"/>
                </a:solidFill>
              </a:rPr>
              <a:t>k</a:t>
            </a:r>
            <a:r>
              <a:t> &lt; </a:t>
            </a:r>
            <a:r>
              <a:rPr>
                <a:solidFill>
                  <a:srgbClr val="0326CC"/>
                </a:solidFill>
              </a:rPr>
              <a:t>n</a:t>
            </a:r>
            <a:r>
              <a:t>; </a:t>
            </a:r>
            <a:r>
              <a:rPr>
                <a:solidFill>
                  <a:srgbClr val="7E504F"/>
                </a:solidFill>
              </a:rPr>
              <a:t>k</a:t>
            </a:r>
            <a:r>
              <a:t>++) {</a:t>
            </a:r>
          </a:p>
          <a:p>
            <a:pPr indent="0">
              <a:lnSpc>
                <a:spcPct val="12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t> = 0; </a:t>
            </a:r>
            <a:r>
              <a:rPr>
                <a:solidFill>
                  <a:srgbClr val="7E504F"/>
                </a:solidFill>
              </a:rPr>
              <a:t>i</a:t>
            </a:r>
            <a:r>
              <a:t> &lt; </a:t>
            </a:r>
            <a:r>
              <a:rPr>
                <a:solidFill>
                  <a:srgbClr val="0326CC"/>
                </a:solidFill>
              </a:rPr>
              <a:t>n</a:t>
            </a:r>
            <a:r>
              <a:t>; </a:t>
            </a:r>
            <a:r>
              <a:rPr>
                <a:solidFill>
                  <a:srgbClr val="7E504F"/>
                </a:solidFill>
              </a:rPr>
              <a:t>i</a:t>
            </a:r>
            <a:r>
              <a:t>++) {</a:t>
            </a:r>
          </a:p>
          <a:p>
            <a:pPr indent="0">
              <a:lnSpc>
                <a:spcPct val="12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j</a:t>
            </a:r>
            <a:r>
              <a:t> = 0; </a:t>
            </a:r>
            <a:r>
              <a:rPr>
                <a:solidFill>
                  <a:srgbClr val="7E504F"/>
                </a:solidFill>
              </a:rPr>
              <a:t>j</a:t>
            </a:r>
            <a:r>
              <a:t> &lt; </a:t>
            </a:r>
            <a:r>
              <a:rPr>
                <a:solidFill>
                  <a:srgbClr val="0326CC"/>
                </a:solidFill>
              </a:rPr>
              <a:t>n</a:t>
            </a:r>
            <a:r>
              <a:t>; </a:t>
            </a:r>
            <a:r>
              <a:rPr>
                <a:solidFill>
                  <a:srgbClr val="7E504F"/>
                </a:solidFill>
              </a:rPr>
              <a:t>j</a:t>
            </a:r>
            <a:r>
              <a:t>++) {</a:t>
            </a:r>
          </a:p>
          <a:p>
            <a:pPr indent="0">
              <a:lnSpc>
                <a:spcPct val="120000"/>
              </a:lnSpc>
              <a:defRPr sz="25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	</a:t>
            </a:r>
            <a:r>
              <a:rPr>
                <a:solidFill>
                  <a:srgbClr val="931A68"/>
                </a:solidFill>
              </a:rPr>
              <a:t>double</a:t>
            </a:r>
            <a:r>
              <a:rPr>
                <a:solidFill>
                  <a:srgbClr val="000000"/>
                </a:solidFill>
              </a:rPr>
              <a:t> </a:t>
            </a:r>
            <a:r>
              <a:t>tmp</a:t>
            </a:r>
            <a:r>
              <a:rPr>
                <a:solidFill>
                  <a:srgbClr val="000000"/>
                </a:solidFill>
              </a:rPr>
              <a:t> = </a:t>
            </a:r>
            <a:r>
              <a:t>distance</a:t>
            </a:r>
            <a:r>
              <a:rPr>
                <a:solidFill>
                  <a:srgbClr val="000000"/>
                </a:solidFill>
              </a:rPr>
              <a:t>[</a:t>
            </a:r>
            <a:r>
              <a:t>i</a:t>
            </a:r>
            <a:r>
              <a:rPr>
                <a:solidFill>
                  <a:srgbClr val="000000"/>
                </a:solidFill>
              </a:rPr>
              <a:t>][</a:t>
            </a:r>
            <a:r>
              <a:t>k</a:t>
            </a:r>
            <a:r>
              <a:rPr>
                <a:solidFill>
                  <a:srgbClr val="000000"/>
                </a:solidFill>
              </a:rPr>
              <a:t>] + </a:t>
            </a:r>
            <a:r>
              <a:t>distance</a:t>
            </a:r>
            <a:r>
              <a:rPr>
                <a:solidFill>
                  <a:srgbClr val="000000"/>
                </a:solidFill>
              </a:rPr>
              <a:t>[</a:t>
            </a:r>
            <a:r>
              <a:t>k</a:t>
            </a:r>
            <a:r>
              <a:rPr>
                <a:solidFill>
                  <a:srgbClr val="000000"/>
                </a:solidFill>
              </a:rPr>
              <a:t>][</a:t>
            </a:r>
            <a:r>
              <a:t>j</a:t>
            </a:r>
            <a:r>
              <a:rPr>
                <a:solidFill>
                  <a:srgbClr val="000000"/>
                </a:solidFill>
              </a:rPr>
              <a:t>];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20000"/>
              </a:lnSpc>
              <a:defRPr sz="25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	</a:t>
            </a:r>
            <a:r>
              <a:rPr>
                <a:solidFill>
                  <a:srgbClr val="931A68"/>
                </a:solidFill>
              </a:rPr>
              <a:t>if</a:t>
            </a:r>
            <a:r>
              <a:rPr>
                <a:solidFill>
                  <a:srgbClr val="000000"/>
                </a:solidFill>
              </a:rPr>
              <a:t> (</a:t>
            </a:r>
            <a:r>
              <a:t>tmp</a:t>
            </a:r>
            <a:r>
              <a:rPr>
                <a:solidFill>
                  <a:srgbClr val="000000"/>
                </a:solidFill>
              </a:rPr>
              <a:t> &lt; </a:t>
            </a:r>
            <a:r>
              <a:t>distance</a:t>
            </a:r>
            <a:r>
              <a:rPr>
                <a:solidFill>
                  <a:srgbClr val="000000"/>
                </a:solidFill>
              </a:rPr>
              <a:t>[</a:t>
            </a:r>
            <a:r>
              <a:t>i</a:t>
            </a:r>
            <a:r>
              <a:rPr>
                <a:solidFill>
                  <a:srgbClr val="000000"/>
                </a:solidFill>
              </a:rPr>
              <a:t>][</a:t>
            </a:r>
            <a:r>
              <a:t>j</a:t>
            </a:r>
            <a:r>
              <a:rPr>
                <a:solidFill>
                  <a:srgbClr val="000000"/>
                </a:solidFill>
              </a:rPr>
              <a:t>]) {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20000"/>
              </a:lnSpc>
              <a:defRPr sz="25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		</a:t>
            </a:r>
            <a:r>
              <a:t>distance</a:t>
            </a:r>
            <a:r>
              <a:rPr>
                <a:solidFill>
                  <a:srgbClr val="000000"/>
                </a:solidFill>
              </a:rPr>
              <a:t>[</a:t>
            </a:r>
            <a:r>
              <a:t>i</a:t>
            </a:r>
            <a:r>
              <a:rPr>
                <a:solidFill>
                  <a:srgbClr val="000000"/>
                </a:solidFill>
              </a:rPr>
              <a:t>][</a:t>
            </a:r>
            <a:r>
              <a:t>j</a:t>
            </a:r>
            <a:r>
              <a:rPr>
                <a:solidFill>
                  <a:srgbClr val="000000"/>
                </a:solidFill>
              </a:rPr>
              <a:t>] = </a:t>
            </a:r>
            <a:r>
              <a:t>tmp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2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				</a:t>
            </a:r>
            <a:r>
              <a:rPr>
                <a:solidFill>
                  <a:srgbClr val="7E504F"/>
                </a:solidFill>
              </a:rPr>
              <a:t>path</a:t>
            </a:r>
            <a:r>
              <a:t>[</a:t>
            </a:r>
            <a:r>
              <a:rPr>
                <a:solidFill>
                  <a:srgbClr val="7E504F"/>
                </a:solidFill>
              </a:rPr>
              <a:t>i</a:t>
            </a:r>
            <a:r>
              <a:t>][</a:t>
            </a:r>
            <a:r>
              <a:rPr>
                <a:solidFill>
                  <a:srgbClr val="7E504F"/>
                </a:solidFill>
              </a:rPr>
              <a:t>j</a:t>
            </a:r>
            <a:r>
              <a:t>] = </a:t>
            </a:r>
            <a:r>
              <a:rPr>
                <a:solidFill>
                  <a:srgbClr val="7E504F"/>
                </a:solidFill>
              </a:rPr>
              <a:t>k</a:t>
            </a:r>
            <a:r>
              <a:t>;</a:t>
            </a:r>
          </a:p>
          <a:p>
            <a:pPr indent="0">
              <a:lnSpc>
                <a:spcPct val="12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			}</a:t>
            </a:r>
          </a:p>
          <a:p>
            <a:pPr indent="0">
              <a:lnSpc>
                <a:spcPct val="12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		}</a:t>
            </a:r>
          </a:p>
          <a:p>
            <a:pPr indent="0">
              <a:lnSpc>
                <a:spcPct val="12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	}</a:t>
            </a:r>
          </a:p>
          <a:p>
            <a:pPr indent="0">
              <a:lnSpc>
                <a:spcPct val="12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Shape 1391"/>
          <p:cNvSpPr txBox="1"/>
          <p:nvPr/>
        </p:nvSpPr>
        <p:spPr>
          <a:xfrm>
            <a:off x="1731433" y="171644"/>
            <a:ext cx="9537702" cy="931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marR="57798" algn="ctr" defTabSz="1295400">
              <a:lnSpc>
                <a:spcPct val="115000"/>
              </a:lnSpc>
              <a:defRPr sz="45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Floyd-Warshall算法</a:t>
            </a:r>
          </a:p>
        </p:txBody>
      </p:sp>
      <p:sp>
        <p:nvSpPr>
          <p:cNvPr id="1106" name="// 输出路径…"/>
          <p:cNvSpPr txBox="1"/>
          <p:nvPr/>
        </p:nvSpPr>
        <p:spPr>
          <a:xfrm>
            <a:off x="1067620" y="1253348"/>
            <a:ext cx="11088589" cy="8035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20000"/>
              </a:lnSpc>
              <a:defRPr sz="25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// 输出路径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20000"/>
              </a:lnSpc>
              <a:defRPr sz="25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[] </a:t>
            </a:r>
            <a:r>
              <a:t>itoj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[</a:t>
            </a:r>
            <a:r>
              <a:rPr>
                <a:solidFill>
                  <a:srgbClr val="0326CC"/>
                </a:solidFill>
              </a:rPr>
              <a:t>n</a:t>
            </a:r>
            <a:r>
              <a:rPr>
                <a:solidFill>
                  <a:srgbClr val="000000"/>
                </a:solidFill>
              </a:rPr>
              <a:t>];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2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t> = 0; </a:t>
            </a:r>
            <a:r>
              <a:rPr>
                <a:solidFill>
                  <a:srgbClr val="7E504F"/>
                </a:solidFill>
              </a:rPr>
              <a:t>i</a:t>
            </a:r>
            <a:r>
              <a:t> &lt; </a:t>
            </a:r>
            <a:r>
              <a:rPr>
                <a:solidFill>
                  <a:srgbClr val="0326CC"/>
                </a:solidFill>
              </a:rPr>
              <a:t>n</a:t>
            </a:r>
            <a:r>
              <a:t>; </a:t>
            </a:r>
            <a:r>
              <a:rPr>
                <a:solidFill>
                  <a:srgbClr val="7E504F"/>
                </a:solidFill>
              </a:rPr>
              <a:t>i</a:t>
            </a:r>
            <a:r>
              <a:t>++) {</a:t>
            </a:r>
          </a:p>
          <a:p>
            <a:pPr indent="0">
              <a:lnSpc>
                <a:spcPct val="12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j</a:t>
            </a:r>
            <a:r>
              <a:t> = 0; </a:t>
            </a:r>
            <a:r>
              <a:rPr>
                <a:solidFill>
                  <a:srgbClr val="7E504F"/>
                </a:solidFill>
              </a:rPr>
              <a:t>j</a:t>
            </a:r>
            <a:r>
              <a:t> &lt; </a:t>
            </a:r>
            <a:r>
              <a:rPr>
                <a:solidFill>
                  <a:srgbClr val="0326CC"/>
                </a:solidFill>
              </a:rPr>
              <a:t>n</a:t>
            </a:r>
            <a:r>
              <a:t>; </a:t>
            </a:r>
            <a:r>
              <a:rPr>
                <a:solidFill>
                  <a:srgbClr val="7E504F"/>
                </a:solidFill>
              </a:rPr>
              <a:t>j</a:t>
            </a:r>
            <a:r>
              <a:t>++) {</a:t>
            </a:r>
          </a:p>
          <a:p>
            <a:pPr indent="0">
              <a:lnSpc>
                <a:spcPct val="12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t>.print(</a:t>
            </a:r>
            <a:r>
              <a:rPr>
                <a:solidFill>
                  <a:srgbClr val="3933FF"/>
                </a:solidFill>
              </a:rPr>
              <a:t>"path["</a:t>
            </a:r>
            <a:r>
              <a:t> + </a:t>
            </a:r>
            <a:r>
              <a:rPr>
                <a:solidFill>
                  <a:srgbClr val="7E504F"/>
                </a:solidFill>
              </a:rPr>
              <a:t>i</a:t>
            </a:r>
            <a:r>
              <a:t> + </a:t>
            </a:r>
            <a:r>
              <a:rPr>
                <a:solidFill>
                  <a:srgbClr val="3933FF"/>
                </a:solidFill>
              </a:rPr>
              <a:t>"]["</a:t>
            </a:r>
            <a:r>
              <a:t> + </a:t>
            </a:r>
            <a:r>
              <a:rPr>
                <a:solidFill>
                  <a:srgbClr val="7E504F"/>
                </a:solidFill>
              </a:rPr>
              <a:t>j</a:t>
            </a:r>
            <a:r>
              <a:t> + </a:t>
            </a:r>
            <a:r>
              <a:rPr>
                <a:solidFill>
                  <a:srgbClr val="3933FF"/>
                </a:solidFill>
              </a:rPr>
              <a:t>"]="</a:t>
            </a:r>
            <a:r>
              <a:t>);</a:t>
            </a:r>
          </a:p>
          <a:p>
            <a:pPr indent="0">
              <a:lnSpc>
                <a:spcPct val="12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pos</a:t>
            </a:r>
            <a:r>
              <a:t> = rfindpath(</a:t>
            </a:r>
            <a:r>
              <a:rPr>
                <a:solidFill>
                  <a:srgbClr val="7E504F"/>
                </a:solidFill>
              </a:rPr>
              <a:t>itoj</a:t>
            </a:r>
            <a:r>
              <a:t>, 0, </a:t>
            </a:r>
            <a:r>
              <a:rPr>
                <a:solidFill>
                  <a:srgbClr val="7E504F"/>
                </a:solidFill>
              </a:rPr>
              <a:t>i</a:t>
            </a:r>
            <a:r>
              <a:t>, </a:t>
            </a:r>
            <a:r>
              <a:rPr>
                <a:solidFill>
                  <a:srgbClr val="7E504F"/>
                </a:solidFill>
              </a:rPr>
              <a:t>j</a:t>
            </a:r>
            <a:r>
              <a:t>, </a:t>
            </a:r>
            <a:r>
              <a:rPr>
                <a:solidFill>
                  <a:srgbClr val="7E504F"/>
                </a:solidFill>
              </a:rPr>
              <a:t>path</a:t>
            </a:r>
            <a:r>
              <a:t>);</a:t>
            </a:r>
          </a:p>
          <a:p>
            <a:pPr indent="0">
              <a:lnSpc>
                <a:spcPct val="12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k</a:t>
            </a:r>
            <a:r>
              <a:t> = 0; </a:t>
            </a:r>
            <a:r>
              <a:rPr>
                <a:solidFill>
                  <a:srgbClr val="7E504F"/>
                </a:solidFill>
              </a:rPr>
              <a:t>k</a:t>
            </a:r>
            <a:r>
              <a:t> &lt; </a:t>
            </a:r>
            <a:r>
              <a:rPr>
                <a:solidFill>
                  <a:srgbClr val="7E504F"/>
                </a:solidFill>
              </a:rPr>
              <a:t>pos</a:t>
            </a:r>
            <a:r>
              <a:t>; </a:t>
            </a:r>
            <a:r>
              <a:rPr>
                <a:solidFill>
                  <a:srgbClr val="7E504F"/>
                </a:solidFill>
              </a:rPr>
              <a:t>k</a:t>
            </a:r>
            <a:r>
              <a:t>++) {</a:t>
            </a:r>
          </a:p>
          <a:p>
            <a:pPr indent="0">
              <a:lnSpc>
                <a:spcPct val="12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	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k</a:t>
            </a:r>
            <a:r>
              <a:t> != </a:t>
            </a:r>
            <a:r>
              <a:rPr>
                <a:solidFill>
                  <a:srgbClr val="7E504F"/>
                </a:solidFill>
              </a:rPr>
              <a:t>pos</a:t>
            </a:r>
            <a:r>
              <a:t> - 1)</a:t>
            </a:r>
          </a:p>
          <a:p>
            <a:pPr indent="0">
              <a:lnSpc>
                <a:spcPct val="12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		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t>.print(</a:t>
            </a:r>
            <a:r>
              <a:rPr>
                <a:solidFill>
                  <a:srgbClr val="7E504F"/>
                </a:solidFill>
              </a:rPr>
              <a:t>itoj</a:t>
            </a:r>
            <a:r>
              <a:t>[</a:t>
            </a:r>
            <a:r>
              <a:rPr>
                <a:solidFill>
                  <a:srgbClr val="7E504F"/>
                </a:solidFill>
              </a:rPr>
              <a:t>k</a:t>
            </a:r>
            <a:r>
              <a:t>] + </a:t>
            </a:r>
            <a:r>
              <a:rPr>
                <a:solidFill>
                  <a:srgbClr val="3933FF"/>
                </a:solidFill>
              </a:rPr>
              <a:t>"-&gt;"</a:t>
            </a:r>
            <a:r>
              <a:t>);</a:t>
            </a:r>
          </a:p>
          <a:p>
            <a:pPr indent="0">
              <a:lnSpc>
                <a:spcPct val="12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			</a:t>
            </a:r>
            <a:r>
              <a:rPr>
                <a:solidFill>
                  <a:srgbClr val="931A68"/>
                </a:solidFill>
              </a:rPr>
              <a:t>else</a:t>
            </a:r>
          </a:p>
          <a:p>
            <a:pPr indent="0">
              <a:lnSpc>
                <a:spcPct val="12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		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t>.print(</a:t>
            </a:r>
            <a:r>
              <a:rPr>
                <a:solidFill>
                  <a:srgbClr val="7E504F"/>
                </a:solidFill>
              </a:rPr>
              <a:t>itoj</a:t>
            </a:r>
            <a:r>
              <a:t>[</a:t>
            </a:r>
            <a:r>
              <a:rPr>
                <a:solidFill>
                  <a:srgbClr val="7E504F"/>
                </a:solidFill>
              </a:rPr>
              <a:t>k</a:t>
            </a:r>
            <a:r>
              <a:t>]);</a:t>
            </a:r>
          </a:p>
          <a:p>
            <a:pPr indent="0">
              <a:lnSpc>
                <a:spcPct val="12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		}</a:t>
            </a:r>
          </a:p>
          <a:p>
            <a:pPr indent="0">
              <a:lnSpc>
                <a:spcPct val="12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t>.println(</a:t>
            </a:r>
            <a:r>
              <a:rPr>
                <a:solidFill>
                  <a:srgbClr val="3933FF"/>
                </a:solidFill>
              </a:rPr>
              <a:t>"   "</a:t>
            </a:r>
            <a:r>
              <a:t> + </a:t>
            </a:r>
            <a:r>
              <a:rPr>
                <a:solidFill>
                  <a:srgbClr val="7E504F"/>
                </a:solidFill>
              </a:rPr>
              <a:t>distance</a:t>
            </a:r>
            <a:r>
              <a:t>[</a:t>
            </a:r>
            <a:r>
              <a:rPr>
                <a:solidFill>
                  <a:srgbClr val="7E504F"/>
                </a:solidFill>
              </a:rPr>
              <a:t>i</a:t>
            </a:r>
            <a:r>
              <a:t>][</a:t>
            </a:r>
            <a:r>
              <a:rPr>
                <a:solidFill>
                  <a:srgbClr val="7E504F"/>
                </a:solidFill>
              </a:rPr>
              <a:t>j</a:t>
            </a:r>
            <a:r>
              <a:t>]);</a:t>
            </a:r>
          </a:p>
          <a:p>
            <a:pPr indent="0">
              <a:lnSpc>
                <a:spcPct val="12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	}</a:t>
            </a:r>
          </a:p>
          <a:p>
            <a:pPr indent="0">
              <a:lnSpc>
                <a:spcPct val="12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indent="0">
              <a:lnSpc>
                <a:spcPct val="12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Shape 1391"/>
          <p:cNvSpPr txBox="1"/>
          <p:nvPr/>
        </p:nvSpPr>
        <p:spPr>
          <a:xfrm>
            <a:off x="1731433" y="171644"/>
            <a:ext cx="9537702" cy="931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marR="57798" algn="ctr" defTabSz="1295400">
              <a:lnSpc>
                <a:spcPct val="115000"/>
              </a:lnSpc>
              <a:defRPr sz="45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Floyd-Warshall算法</a:t>
            </a:r>
          </a:p>
        </p:txBody>
      </p:sp>
      <p:sp>
        <p:nvSpPr>
          <p:cNvPr id="1109" name="private int rfindpath(int itojpath[], int pos, int i, int j, int path[][]) {…"/>
          <p:cNvSpPr txBox="1"/>
          <p:nvPr/>
        </p:nvSpPr>
        <p:spPr>
          <a:xfrm>
            <a:off x="224464" y="1748936"/>
            <a:ext cx="12510717" cy="4536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2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rfindpath(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itojpath</a:t>
            </a:r>
            <a:r>
              <a:t>[],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pos</a:t>
            </a:r>
            <a:r>
              <a:t>,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t>,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j</a:t>
            </a:r>
            <a:r>
              <a:t>,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path</a:t>
            </a:r>
            <a:r>
              <a:t>[][]) {</a:t>
            </a:r>
          </a:p>
          <a:p>
            <a:pPr indent="0">
              <a:lnSpc>
                <a:spcPct val="120000"/>
              </a:lnSpc>
              <a:defRPr sz="20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t>k</a:t>
            </a:r>
            <a:r>
              <a:rPr>
                <a:solidFill>
                  <a:srgbClr val="000000"/>
                </a:solidFill>
              </a:rPr>
              <a:t> = </a:t>
            </a:r>
            <a:r>
              <a:t>path</a:t>
            </a:r>
            <a:r>
              <a:rPr>
                <a:solidFill>
                  <a:srgbClr val="000000"/>
                </a:solidFill>
              </a:rPr>
              <a:t>[</a:t>
            </a:r>
            <a:r>
              <a:t>i</a:t>
            </a:r>
            <a:r>
              <a:rPr>
                <a:solidFill>
                  <a:srgbClr val="000000"/>
                </a:solidFill>
              </a:rPr>
              <a:t>][</a:t>
            </a:r>
            <a:r>
              <a:t>j</a:t>
            </a:r>
            <a:r>
              <a:rPr>
                <a:solidFill>
                  <a:srgbClr val="000000"/>
                </a:solidFill>
              </a:rPr>
              <a:t>];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2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k</a:t>
            </a:r>
            <a:r>
              <a:t> == -1) {</a:t>
            </a:r>
          </a:p>
          <a:p>
            <a:pPr indent="0">
              <a:lnSpc>
                <a:spcPct val="120000"/>
              </a:lnSpc>
              <a:defRPr sz="20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itojpath</a:t>
            </a:r>
            <a:r>
              <a:rPr>
                <a:solidFill>
                  <a:srgbClr val="000000"/>
                </a:solidFill>
              </a:rPr>
              <a:t>[</a:t>
            </a:r>
            <a:r>
              <a:t>pos</a:t>
            </a:r>
            <a:r>
              <a:rPr>
                <a:solidFill>
                  <a:srgbClr val="000000"/>
                </a:solidFill>
              </a:rPr>
              <a:t>++] = </a:t>
            </a:r>
            <a:r>
              <a:t>i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20000"/>
              </a:lnSpc>
              <a:defRPr sz="20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itojpath</a:t>
            </a:r>
            <a:r>
              <a:rPr>
                <a:solidFill>
                  <a:srgbClr val="000000"/>
                </a:solidFill>
              </a:rPr>
              <a:t>[</a:t>
            </a:r>
            <a:r>
              <a:t>pos</a:t>
            </a:r>
            <a:r>
              <a:rPr>
                <a:solidFill>
                  <a:srgbClr val="000000"/>
                </a:solidFill>
              </a:rPr>
              <a:t>++] = </a:t>
            </a:r>
            <a:r>
              <a:t>j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2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} </a:t>
            </a:r>
            <a:r>
              <a:rPr>
                <a:solidFill>
                  <a:srgbClr val="931A68"/>
                </a:solidFill>
              </a:rPr>
              <a:t>else</a:t>
            </a:r>
            <a:r>
              <a:t> {</a:t>
            </a:r>
          </a:p>
          <a:p>
            <a:pPr indent="0">
              <a:lnSpc>
                <a:spcPct val="12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mid</a:t>
            </a:r>
            <a:r>
              <a:t> = rfindpath(</a:t>
            </a:r>
            <a:r>
              <a:rPr>
                <a:solidFill>
                  <a:srgbClr val="7E504F"/>
                </a:solidFill>
              </a:rPr>
              <a:t>itojpath</a:t>
            </a:r>
            <a:r>
              <a:t>, </a:t>
            </a:r>
            <a:r>
              <a:rPr>
                <a:solidFill>
                  <a:srgbClr val="7E504F"/>
                </a:solidFill>
              </a:rPr>
              <a:t>pos</a:t>
            </a:r>
            <a:r>
              <a:t>, </a:t>
            </a:r>
            <a:r>
              <a:rPr>
                <a:solidFill>
                  <a:srgbClr val="7E504F"/>
                </a:solidFill>
              </a:rPr>
              <a:t>i</a:t>
            </a:r>
            <a:r>
              <a:t>, </a:t>
            </a:r>
            <a:r>
              <a:rPr>
                <a:solidFill>
                  <a:srgbClr val="7E504F"/>
                </a:solidFill>
              </a:rPr>
              <a:t>k</a:t>
            </a:r>
            <a:r>
              <a:t>, </a:t>
            </a:r>
            <a:r>
              <a:rPr>
                <a:solidFill>
                  <a:srgbClr val="7E504F"/>
                </a:solidFill>
              </a:rPr>
              <a:t>path</a:t>
            </a:r>
            <a:r>
              <a:t>);</a:t>
            </a:r>
          </a:p>
          <a:p>
            <a:pPr indent="0">
              <a:lnSpc>
                <a:spcPct val="120000"/>
              </a:lnSpc>
              <a:defRPr sz="20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7E504F"/>
                </a:solidFill>
              </a:rPr>
              <a:t>pos</a:t>
            </a:r>
            <a:r>
              <a:rPr>
                <a:solidFill>
                  <a:srgbClr val="000000"/>
                </a:solidFill>
              </a:rPr>
              <a:t> = rfindpath(</a:t>
            </a:r>
            <a:r>
              <a:rPr>
                <a:solidFill>
                  <a:srgbClr val="7E504F"/>
                </a:solidFill>
              </a:rPr>
              <a:t>itojpath</a:t>
            </a:r>
            <a:r>
              <a:rPr>
                <a:solidFill>
                  <a:srgbClr val="000000"/>
                </a:solidFill>
              </a:rPr>
              <a:t>, --</a:t>
            </a:r>
            <a:r>
              <a:rPr>
                <a:solidFill>
                  <a:srgbClr val="7E504F"/>
                </a:solidFill>
              </a:rPr>
              <a:t>mid</a:t>
            </a:r>
            <a:r>
              <a:rPr>
                <a:solidFill>
                  <a:srgbClr val="000000"/>
                </a:solidFill>
              </a:rPr>
              <a:t>, </a:t>
            </a:r>
            <a:r>
              <a:rPr>
                <a:solidFill>
                  <a:srgbClr val="7E504F"/>
                </a:solidFill>
              </a:rPr>
              <a:t>k</a:t>
            </a:r>
            <a:r>
              <a:rPr>
                <a:solidFill>
                  <a:srgbClr val="000000"/>
                </a:solidFill>
              </a:rPr>
              <a:t>, </a:t>
            </a:r>
            <a:r>
              <a:rPr>
                <a:solidFill>
                  <a:srgbClr val="7E504F"/>
                </a:solidFill>
              </a:rPr>
              <a:t>j</a:t>
            </a:r>
            <a:r>
              <a:rPr>
                <a:solidFill>
                  <a:srgbClr val="000000"/>
                </a:solidFill>
              </a:rPr>
              <a:t>, </a:t>
            </a:r>
            <a:r>
              <a:rPr>
                <a:solidFill>
                  <a:srgbClr val="7E504F"/>
                </a:solidFill>
              </a:rPr>
              <a:t>path</a:t>
            </a:r>
            <a:r>
              <a:rPr>
                <a:solidFill>
                  <a:srgbClr val="000000"/>
                </a:solidFill>
              </a:rPr>
              <a:t>);</a:t>
            </a:r>
            <a:r>
              <a:t>// 覆盖前面的k，否则有重复的顶点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2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indent="0">
              <a:lnSpc>
                <a:spcPct val="120000"/>
              </a:lnSpc>
              <a:defRPr sz="20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pos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2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Shape 1391"/>
          <p:cNvSpPr txBox="1"/>
          <p:nvPr/>
        </p:nvSpPr>
        <p:spPr>
          <a:xfrm>
            <a:off x="1731433" y="171644"/>
            <a:ext cx="9537702" cy="931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marR="57798" algn="ctr" defTabSz="1295400">
              <a:lnSpc>
                <a:spcPct val="115000"/>
              </a:lnSpc>
              <a:defRPr sz="45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Floyd-Warshall算法</a:t>
            </a:r>
          </a:p>
        </p:txBody>
      </p:sp>
      <p:sp>
        <p:nvSpPr>
          <p:cNvPr id="1112" name="public static void main(String[] args) {…"/>
          <p:cNvSpPr txBox="1"/>
          <p:nvPr/>
        </p:nvSpPr>
        <p:spPr>
          <a:xfrm>
            <a:off x="76538" y="1363258"/>
            <a:ext cx="10174338" cy="65954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main(String[] </a:t>
            </a:r>
            <a:r>
              <a:rPr>
                <a:solidFill>
                  <a:srgbClr val="7E504F"/>
                </a:solidFill>
              </a:rPr>
              <a:t>args</a:t>
            </a:r>
            <a:r>
              <a:t>) {</a:t>
            </a: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Character[] </a:t>
            </a:r>
            <a:r>
              <a:rPr>
                <a:solidFill>
                  <a:srgbClr val="7E504F"/>
                </a:solidFill>
              </a:rPr>
              <a:t>weightedData</a:t>
            </a:r>
            <a:r>
              <a:t> = { </a:t>
            </a:r>
            <a:r>
              <a:rPr>
                <a:solidFill>
                  <a:srgbClr val="3933FF"/>
                </a:solidFill>
              </a:rPr>
              <a:t>'0'</a:t>
            </a:r>
            <a:r>
              <a:t>, </a:t>
            </a:r>
            <a:r>
              <a:rPr>
                <a:solidFill>
                  <a:srgbClr val="3933FF"/>
                </a:solidFill>
              </a:rPr>
              <a:t>'1'</a:t>
            </a:r>
            <a:r>
              <a:t>, </a:t>
            </a:r>
            <a:r>
              <a:rPr>
                <a:solidFill>
                  <a:srgbClr val="3933FF"/>
                </a:solidFill>
              </a:rPr>
              <a:t>'2'</a:t>
            </a:r>
            <a:r>
              <a:t>, </a:t>
            </a:r>
            <a:r>
              <a:rPr>
                <a:solidFill>
                  <a:srgbClr val="3933FF"/>
                </a:solidFill>
              </a:rPr>
              <a:t>'3'</a:t>
            </a:r>
            <a:r>
              <a:t>, </a:t>
            </a:r>
            <a:r>
              <a:rPr>
                <a:solidFill>
                  <a:srgbClr val="3933FF"/>
                </a:solidFill>
              </a:rPr>
              <a:t>'4'</a:t>
            </a:r>
            <a:r>
              <a:t>, </a:t>
            </a:r>
            <a:r>
              <a:rPr>
                <a:solidFill>
                  <a:srgbClr val="3933FF"/>
                </a:solidFill>
              </a:rPr>
              <a:t>'5'</a:t>
            </a:r>
            <a:r>
              <a:t> };</a:t>
            </a: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IGraph&lt;Character&gt; </a:t>
            </a:r>
            <a:r>
              <a:rPr>
                <a:solidFill>
                  <a:srgbClr val="7E504F"/>
                </a:solidFill>
              </a:rPr>
              <a:t>weightedGraph</a:t>
            </a:r>
            <a:r>
              <a:t> = </a:t>
            </a: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       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LinkedListWeightedDirectGraph&lt;&gt;(</a:t>
            </a:r>
            <a:r>
              <a:rPr>
                <a:solidFill>
                  <a:srgbClr val="7E504F"/>
                </a:solidFill>
              </a:rPr>
              <a:t>weightedData</a:t>
            </a:r>
            <a:r>
              <a:t>);</a:t>
            </a: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weightedGraph</a:t>
            </a:r>
            <a:r>
              <a:t>.addWeightedEdge(0, 2, 5.0);</a:t>
            </a: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weightedGraph</a:t>
            </a:r>
            <a:r>
              <a:t>.addWeightedEdge(1, 2, 10.0);</a:t>
            </a: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weightedGraph</a:t>
            </a:r>
            <a:r>
              <a:t>.addWeightedEdge(1, 4, 30.0);</a:t>
            </a: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weightedGraph</a:t>
            </a:r>
            <a:r>
              <a:t>.addWeightedEdge(1, 5, 100.0);</a:t>
            </a: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weightedGraph</a:t>
            </a:r>
            <a:r>
              <a:t>.addWeightedEdge(2, 3, 50.0);</a:t>
            </a: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weightedGraph</a:t>
            </a:r>
            <a:r>
              <a:t>.addWeightedEdge(3, 5, 10.0);</a:t>
            </a: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weightedGraph</a:t>
            </a:r>
            <a:r>
              <a:t>.addWeightedEdge(4, 3, 20.0);</a:t>
            </a: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weightedGraph</a:t>
            </a:r>
            <a:r>
              <a:t>.addWeightedEdge(4, 5, 60.0);</a:t>
            </a: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GraphAlgorithms&lt;Character&gt; </a:t>
            </a:r>
            <a:r>
              <a:rPr>
                <a:solidFill>
                  <a:srgbClr val="7E504F"/>
                </a:solidFill>
              </a:rPr>
              <a:t>weightedPathAlg</a:t>
            </a:r>
            <a:r>
              <a:t> = </a:t>
            </a: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GraphAlgorithms&lt;&gt;(</a:t>
            </a:r>
            <a:r>
              <a:rPr>
                <a:solidFill>
                  <a:srgbClr val="7E504F"/>
                </a:solidFill>
              </a:rPr>
              <a:t>weightedGraph</a:t>
            </a:r>
            <a:r>
              <a:t>);</a:t>
            </a: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</a:p>
          <a:p>
            <a:pPr indent="0">
              <a:defRPr sz="20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weightedPathAlg</a:t>
            </a:r>
            <a:r>
              <a:rPr>
                <a:solidFill>
                  <a:srgbClr val="000000"/>
                </a:solidFill>
              </a:rPr>
              <a:t>.Floyd-Warshall();</a:t>
            </a:r>
            <a:endParaRPr>
              <a:solidFill>
                <a:srgbClr val="000000"/>
              </a:solidFill>
            </a:endParaRP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sp>
        <p:nvSpPr>
          <p:cNvPr id="1113" name="path[0][0]=0-&gt;0   0.0…"/>
          <p:cNvSpPr txBox="1"/>
          <p:nvPr/>
        </p:nvSpPr>
        <p:spPr>
          <a:xfrm>
            <a:off x="8383021" y="3397311"/>
            <a:ext cx="4382196" cy="48809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path[0][0]=0-&gt;0   0.0</a:t>
            </a: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path[0][1]=0-&gt;1   Infinity</a:t>
            </a: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path[0][2]=0-&gt;2   5.0</a:t>
            </a: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path[0][3]=0-&gt;2-&gt;3   55.0</a:t>
            </a: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path[0][4]=0-&gt;4   Infinity</a:t>
            </a: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path[0][5]=0-&gt;2-&gt;3-&gt;5   65.0</a:t>
            </a: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path[1][0]=1-&gt;0   Infinity</a:t>
            </a: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path[1][1]=1-&gt;1   0.0</a:t>
            </a: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path[1][2]=1-&gt;2   10.0</a:t>
            </a: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path[1][3]=1-&gt;4-&gt;3   50.0</a:t>
            </a: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path[1][4]=1-&gt;4   30.0</a:t>
            </a: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path[1][5]=1-&gt;4-&gt;3-&gt;5   60.0</a:t>
            </a: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...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1" name="成组"/>
          <p:cNvGrpSpPr/>
          <p:nvPr/>
        </p:nvGrpSpPr>
        <p:grpSpPr>
          <a:xfrm>
            <a:off x="2705100" y="2132956"/>
            <a:ext cx="4251960" cy="1421530"/>
            <a:chOff x="0" y="0"/>
            <a:chExt cx="4251959" cy="1421529"/>
          </a:xfrm>
        </p:grpSpPr>
        <p:sp>
          <p:nvSpPr>
            <p:cNvPr id="1115" name="圆形"/>
            <p:cNvSpPr/>
            <p:nvPr/>
          </p:nvSpPr>
          <p:spPr>
            <a:xfrm>
              <a:off x="0" y="438793"/>
              <a:ext cx="454660" cy="454661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16" name="圆形"/>
            <p:cNvSpPr/>
            <p:nvPr/>
          </p:nvSpPr>
          <p:spPr>
            <a:xfrm>
              <a:off x="1155700" y="438793"/>
              <a:ext cx="454660" cy="454661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17" name="圆形"/>
            <p:cNvSpPr/>
            <p:nvPr/>
          </p:nvSpPr>
          <p:spPr>
            <a:xfrm>
              <a:off x="2628900" y="438793"/>
              <a:ext cx="454660" cy="454661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18" name="圆形"/>
            <p:cNvSpPr/>
            <p:nvPr/>
          </p:nvSpPr>
          <p:spPr>
            <a:xfrm>
              <a:off x="3797300" y="438793"/>
              <a:ext cx="454660" cy="454661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19" name="线条"/>
            <p:cNvSpPr/>
            <p:nvPr/>
          </p:nvSpPr>
          <p:spPr>
            <a:xfrm>
              <a:off x="457200" y="667393"/>
              <a:ext cx="710342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20" name="线条"/>
            <p:cNvSpPr/>
            <p:nvPr/>
          </p:nvSpPr>
          <p:spPr>
            <a:xfrm>
              <a:off x="3086100" y="667393"/>
              <a:ext cx="710342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cxnSp>
          <p:nvCxnSpPr>
            <p:cNvPr id="1121" name="连接线"/>
            <p:cNvCxnSpPr>
              <a:stCxn id="1116" idx="0"/>
              <a:endCxn id="1117" idx="0"/>
            </p:cNvCxnSpPr>
            <p:nvPr/>
          </p:nvCxnSpPr>
          <p:spPr>
            <a:xfrm>
              <a:off x="1383029" y="666123"/>
              <a:ext cx="1473201" cy="1"/>
            </a:xfrm>
            <a:prstGeom prst="straightConnector1">
              <a:avLst/>
            </a:prstGeom>
            <a:ln w="12700" cap="flat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</p:cxnSp>
        <p:cxnSp>
          <p:nvCxnSpPr>
            <p:cNvPr id="1122" name="连接线"/>
            <p:cNvCxnSpPr>
              <a:stCxn id="1116" idx="0"/>
              <a:endCxn id="1117" idx="0"/>
            </p:cNvCxnSpPr>
            <p:nvPr/>
          </p:nvCxnSpPr>
          <p:spPr>
            <a:xfrm>
              <a:off x="1383029" y="666123"/>
              <a:ext cx="1473201" cy="1"/>
            </a:xfrm>
            <a:prstGeom prst="straightConnector1">
              <a:avLst/>
            </a:prstGeom>
            <a:ln w="12700" cap="flat">
              <a:solidFill>
                <a:srgbClr val="000000"/>
              </a:solidFill>
              <a:prstDash val="solid"/>
              <a:round/>
              <a:headEnd type="arrow" w="med" len="med"/>
            </a:ln>
            <a:effectLst/>
          </p:spPr>
        </p:cxnSp>
        <p:sp>
          <p:nvSpPr>
            <p:cNvPr id="1123" name="5"/>
            <p:cNvSpPr txBox="1"/>
            <p:nvPr/>
          </p:nvSpPr>
          <p:spPr>
            <a:xfrm>
              <a:off x="590441" y="253069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1124" name="-1"/>
            <p:cNvSpPr txBox="1"/>
            <p:nvPr/>
          </p:nvSpPr>
          <p:spPr>
            <a:xfrm>
              <a:off x="3252033" y="253069"/>
              <a:ext cx="383684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-1</a:t>
              </a:r>
            </a:p>
          </p:txBody>
        </p:sp>
        <p:sp>
          <p:nvSpPr>
            <p:cNvPr id="1125" name="2"/>
            <p:cNvSpPr txBox="1"/>
            <p:nvPr/>
          </p:nvSpPr>
          <p:spPr>
            <a:xfrm>
              <a:off x="1933937" y="0"/>
              <a:ext cx="299100" cy="3829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1126" name="-3"/>
            <p:cNvSpPr txBox="1"/>
            <p:nvPr/>
          </p:nvSpPr>
          <p:spPr>
            <a:xfrm>
              <a:off x="1908537" y="1038619"/>
              <a:ext cx="383684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-3</a:t>
              </a:r>
            </a:p>
          </p:txBody>
        </p:sp>
        <p:sp>
          <p:nvSpPr>
            <p:cNvPr id="1127" name="A"/>
            <p:cNvSpPr txBox="1"/>
            <p:nvPr/>
          </p:nvSpPr>
          <p:spPr>
            <a:xfrm>
              <a:off x="36865" y="463238"/>
              <a:ext cx="35553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1128" name="B"/>
            <p:cNvSpPr txBox="1"/>
            <p:nvPr/>
          </p:nvSpPr>
          <p:spPr>
            <a:xfrm>
              <a:off x="1191071" y="475938"/>
              <a:ext cx="341516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1129" name="C"/>
            <p:cNvSpPr txBox="1"/>
            <p:nvPr/>
          </p:nvSpPr>
          <p:spPr>
            <a:xfrm>
              <a:off x="2660072" y="475938"/>
              <a:ext cx="341516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1130" name="D"/>
            <p:cNvSpPr txBox="1"/>
            <p:nvPr/>
          </p:nvSpPr>
          <p:spPr>
            <a:xfrm>
              <a:off x="3841172" y="475938"/>
              <a:ext cx="355531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D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4" name="成组"/>
          <p:cNvGrpSpPr/>
          <p:nvPr/>
        </p:nvGrpSpPr>
        <p:grpSpPr>
          <a:xfrm>
            <a:off x="100257" y="1349722"/>
            <a:ext cx="3616353" cy="2603701"/>
            <a:chOff x="0" y="0"/>
            <a:chExt cx="3616352" cy="2603700"/>
          </a:xfrm>
        </p:grpSpPr>
        <p:sp>
          <p:nvSpPr>
            <p:cNvPr id="1133" name="Shape 725"/>
            <p:cNvSpPr/>
            <p:nvPr/>
          </p:nvSpPr>
          <p:spPr>
            <a:xfrm flipH="1">
              <a:off x="1804373" y="377475"/>
              <a:ext cx="1" cy="1558389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34" name="Shape 722"/>
            <p:cNvSpPr/>
            <p:nvPr/>
          </p:nvSpPr>
          <p:spPr>
            <a:xfrm flipV="1">
              <a:off x="272235" y="437212"/>
              <a:ext cx="1275512" cy="750978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35" name="Shape 723"/>
            <p:cNvSpPr/>
            <p:nvPr/>
          </p:nvSpPr>
          <p:spPr>
            <a:xfrm>
              <a:off x="126011" y="1144210"/>
              <a:ext cx="1427897" cy="921896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36" name="Shape 724"/>
            <p:cNvSpPr/>
            <p:nvPr/>
          </p:nvSpPr>
          <p:spPr>
            <a:xfrm flipH="1" flipV="1">
              <a:off x="1978897" y="542602"/>
              <a:ext cx="1298623" cy="1513579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37" name="Shape 725"/>
            <p:cNvSpPr/>
            <p:nvPr/>
          </p:nvSpPr>
          <p:spPr>
            <a:xfrm>
              <a:off x="3346697" y="350487"/>
              <a:ext cx="1" cy="1558390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38" name="Shape 726"/>
            <p:cNvSpPr/>
            <p:nvPr/>
          </p:nvSpPr>
          <p:spPr>
            <a:xfrm>
              <a:off x="1938150" y="2209560"/>
              <a:ext cx="1142523" cy="1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39" name="Shape 727"/>
            <p:cNvSpPr/>
            <p:nvPr/>
          </p:nvSpPr>
          <p:spPr>
            <a:xfrm flipH="1" flipV="1">
              <a:off x="2087977" y="348253"/>
              <a:ext cx="1308348" cy="1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40" name="Shape 729"/>
            <p:cNvSpPr txBox="1"/>
            <p:nvPr/>
          </p:nvSpPr>
          <p:spPr>
            <a:xfrm rot="19680000">
              <a:off x="779085" y="428996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9</a:t>
              </a:r>
            </a:p>
          </p:txBody>
        </p:sp>
        <p:sp>
          <p:nvSpPr>
            <p:cNvPr id="1141" name="Shape 730"/>
            <p:cNvSpPr txBox="1"/>
            <p:nvPr/>
          </p:nvSpPr>
          <p:spPr>
            <a:xfrm rot="1800000">
              <a:off x="742895" y="1632778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8</a:t>
              </a:r>
            </a:p>
          </p:txBody>
        </p:sp>
        <p:sp>
          <p:nvSpPr>
            <p:cNvPr id="1142" name="Shape 731"/>
            <p:cNvSpPr txBox="1"/>
            <p:nvPr/>
          </p:nvSpPr>
          <p:spPr>
            <a:xfrm rot="3000000">
              <a:off x="2497113" y="911808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143" name="Shape 733"/>
            <p:cNvSpPr txBox="1"/>
            <p:nvPr/>
          </p:nvSpPr>
          <p:spPr>
            <a:xfrm>
              <a:off x="2364238" y="2220790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6</a:t>
              </a:r>
            </a:p>
          </p:txBody>
        </p:sp>
        <p:sp>
          <p:nvSpPr>
            <p:cNvPr id="1144" name="Shape 746"/>
            <p:cNvSpPr txBox="1"/>
            <p:nvPr/>
          </p:nvSpPr>
          <p:spPr>
            <a:xfrm>
              <a:off x="2483063" y="0"/>
              <a:ext cx="299100" cy="3829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1145" name="Shape 750"/>
            <p:cNvSpPr txBox="1"/>
            <p:nvPr/>
          </p:nvSpPr>
          <p:spPr>
            <a:xfrm>
              <a:off x="3266054" y="998552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1146" name="Shape 751"/>
            <p:cNvSpPr/>
            <p:nvPr/>
          </p:nvSpPr>
          <p:spPr>
            <a:xfrm flipV="1">
              <a:off x="290863" y="558943"/>
              <a:ext cx="2874527" cy="737251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47" name="Shape 752"/>
            <p:cNvSpPr txBox="1"/>
            <p:nvPr/>
          </p:nvSpPr>
          <p:spPr>
            <a:xfrm rot="20580000">
              <a:off x="1052574" y="1049352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grpSp>
          <p:nvGrpSpPr>
            <p:cNvPr id="1150" name="成组"/>
            <p:cNvGrpSpPr/>
            <p:nvPr/>
          </p:nvGrpSpPr>
          <p:grpSpPr>
            <a:xfrm>
              <a:off x="0" y="957060"/>
              <a:ext cx="535183" cy="535184"/>
              <a:chOff x="0" y="0"/>
              <a:chExt cx="535182" cy="535182"/>
            </a:xfrm>
          </p:grpSpPr>
          <p:sp>
            <p:nvSpPr>
              <p:cNvPr id="1148" name="圆形"/>
              <p:cNvSpPr/>
              <p:nvPr/>
            </p:nvSpPr>
            <p:spPr>
              <a:xfrm>
                <a:off x="0" y="0"/>
                <a:ext cx="535183" cy="535183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49" name="Shape 720"/>
              <p:cNvSpPr txBox="1"/>
              <p:nvPr/>
            </p:nvSpPr>
            <p:spPr>
              <a:xfrm>
                <a:off x="86019" y="55054"/>
                <a:ext cx="357383" cy="42507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/>
              <a:p>
                <a:pPr marR="56816" indent="56816" algn="ctr" defTabSz="1295400">
                  <a:defRPr sz="2000">
                    <a:uFill>
                      <a:solidFill>
                        <a:srgbClr val="800000"/>
                      </a:solidFill>
                    </a:uFill>
                  </a:defRPr>
                </a:pPr>
                <a:r>
                  <a:t>v</a:t>
                </a:r>
                <a:r>
                  <a:rPr baseline="-32600"/>
                  <a:t>0</a:t>
                </a:r>
              </a:p>
            </p:txBody>
          </p:sp>
        </p:grpSp>
        <p:grpSp>
          <p:nvGrpSpPr>
            <p:cNvPr id="1153" name="成组"/>
            <p:cNvGrpSpPr/>
            <p:nvPr/>
          </p:nvGrpSpPr>
          <p:grpSpPr>
            <a:xfrm>
              <a:off x="1538223" y="1929062"/>
              <a:ext cx="535183" cy="535184"/>
              <a:chOff x="0" y="0"/>
              <a:chExt cx="535182" cy="535182"/>
            </a:xfrm>
          </p:grpSpPr>
          <p:sp>
            <p:nvSpPr>
              <p:cNvPr id="1151" name="圆形"/>
              <p:cNvSpPr/>
              <p:nvPr/>
            </p:nvSpPr>
            <p:spPr>
              <a:xfrm>
                <a:off x="0" y="0"/>
                <a:ext cx="535183" cy="535183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52" name="Shape 720"/>
              <p:cNvSpPr txBox="1"/>
              <p:nvPr/>
            </p:nvSpPr>
            <p:spPr>
              <a:xfrm>
                <a:off x="86019" y="55054"/>
                <a:ext cx="357383" cy="42507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/>
              <a:p>
                <a:pPr marR="56816" indent="56816" algn="ctr" defTabSz="1295400">
                  <a:defRPr sz="2000">
                    <a:uFill>
                      <a:solidFill>
                        <a:srgbClr val="800000"/>
                      </a:solidFill>
                    </a:uFill>
                  </a:defRPr>
                </a:pPr>
                <a:r>
                  <a:t>v</a:t>
                </a:r>
                <a:r>
                  <a:rPr baseline="-32600"/>
                  <a:t>1</a:t>
                </a:r>
              </a:p>
            </p:txBody>
          </p:sp>
        </p:grpSp>
        <p:grpSp>
          <p:nvGrpSpPr>
            <p:cNvPr id="1156" name="成组"/>
            <p:cNvGrpSpPr/>
            <p:nvPr/>
          </p:nvGrpSpPr>
          <p:grpSpPr>
            <a:xfrm>
              <a:off x="3081169" y="1929062"/>
              <a:ext cx="535184" cy="535184"/>
              <a:chOff x="0" y="0"/>
              <a:chExt cx="535182" cy="535182"/>
            </a:xfrm>
          </p:grpSpPr>
          <p:sp>
            <p:nvSpPr>
              <p:cNvPr id="1154" name="圆形"/>
              <p:cNvSpPr/>
              <p:nvPr/>
            </p:nvSpPr>
            <p:spPr>
              <a:xfrm>
                <a:off x="0" y="0"/>
                <a:ext cx="535183" cy="535183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55" name="Shape 720"/>
              <p:cNvSpPr txBox="1"/>
              <p:nvPr/>
            </p:nvSpPr>
            <p:spPr>
              <a:xfrm>
                <a:off x="86019" y="55054"/>
                <a:ext cx="357383" cy="42507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/>
              <a:p>
                <a:pPr marR="56816" indent="56816" algn="ctr" defTabSz="1295400">
                  <a:defRPr sz="2000">
                    <a:uFill>
                      <a:solidFill>
                        <a:srgbClr val="800000"/>
                      </a:solidFill>
                    </a:uFill>
                  </a:defRPr>
                </a:pPr>
                <a:r>
                  <a:t>v</a:t>
                </a:r>
                <a:r>
                  <a:rPr baseline="-32600"/>
                  <a:t>2</a:t>
                </a:r>
              </a:p>
            </p:txBody>
          </p:sp>
        </p:grpSp>
        <p:grpSp>
          <p:nvGrpSpPr>
            <p:cNvPr id="1159" name="成组"/>
            <p:cNvGrpSpPr/>
            <p:nvPr/>
          </p:nvGrpSpPr>
          <p:grpSpPr>
            <a:xfrm>
              <a:off x="3081169" y="80112"/>
              <a:ext cx="535184" cy="535184"/>
              <a:chOff x="0" y="0"/>
              <a:chExt cx="535182" cy="535182"/>
            </a:xfrm>
          </p:grpSpPr>
          <p:sp>
            <p:nvSpPr>
              <p:cNvPr id="1157" name="圆形"/>
              <p:cNvSpPr/>
              <p:nvPr/>
            </p:nvSpPr>
            <p:spPr>
              <a:xfrm>
                <a:off x="0" y="0"/>
                <a:ext cx="535183" cy="535183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58" name="Shape 720"/>
              <p:cNvSpPr txBox="1"/>
              <p:nvPr/>
            </p:nvSpPr>
            <p:spPr>
              <a:xfrm>
                <a:off x="86019" y="55054"/>
                <a:ext cx="357383" cy="42507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/>
              <a:p>
                <a:pPr marR="56816" indent="56816" algn="ctr" defTabSz="1295400">
                  <a:defRPr sz="2000">
                    <a:uFill>
                      <a:solidFill>
                        <a:srgbClr val="800000"/>
                      </a:solidFill>
                    </a:uFill>
                  </a:defRPr>
                </a:pPr>
                <a:r>
                  <a:t>v</a:t>
                </a:r>
                <a:r>
                  <a:rPr baseline="-32600"/>
                  <a:t>3</a:t>
                </a:r>
              </a:p>
            </p:txBody>
          </p:sp>
        </p:grpSp>
        <p:grpSp>
          <p:nvGrpSpPr>
            <p:cNvPr id="1162" name="成组"/>
            <p:cNvGrpSpPr/>
            <p:nvPr/>
          </p:nvGrpSpPr>
          <p:grpSpPr>
            <a:xfrm>
              <a:off x="1538223" y="80112"/>
              <a:ext cx="535183" cy="535184"/>
              <a:chOff x="0" y="0"/>
              <a:chExt cx="535182" cy="535182"/>
            </a:xfrm>
          </p:grpSpPr>
          <p:sp>
            <p:nvSpPr>
              <p:cNvPr id="1160" name="圆形"/>
              <p:cNvSpPr/>
              <p:nvPr/>
            </p:nvSpPr>
            <p:spPr>
              <a:xfrm>
                <a:off x="0" y="0"/>
                <a:ext cx="535183" cy="535183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61" name="Shape 720"/>
              <p:cNvSpPr txBox="1"/>
              <p:nvPr/>
            </p:nvSpPr>
            <p:spPr>
              <a:xfrm>
                <a:off x="86019" y="55054"/>
                <a:ext cx="357383" cy="42507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/>
              <a:p>
                <a:pPr marR="56816" indent="56816" algn="ctr" defTabSz="1295400">
                  <a:defRPr sz="2000">
                    <a:uFill>
                      <a:solidFill>
                        <a:srgbClr val="800000"/>
                      </a:solidFill>
                    </a:uFill>
                  </a:defRPr>
                </a:pPr>
                <a:r>
                  <a:t>v</a:t>
                </a:r>
                <a:r>
                  <a:rPr baseline="-32600"/>
                  <a:t>4</a:t>
                </a:r>
              </a:p>
            </p:txBody>
          </p:sp>
        </p:grpSp>
        <p:sp>
          <p:nvSpPr>
            <p:cNvPr id="1163" name="Shape 750"/>
            <p:cNvSpPr txBox="1"/>
            <p:nvPr/>
          </p:nvSpPr>
          <p:spPr>
            <a:xfrm>
              <a:off x="1749130" y="1165239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</p:grpSp>
      <p:grpSp>
        <p:nvGrpSpPr>
          <p:cNvPr id="1180" name="成组"/>
          <p:cNvGrpSpPr/>
          <p:nvPr/>
        </p:nvGrpSpPr>
        <p:grpSpPr>
          <a:xfrm>
            <a:off x="4463726" y="1389930"/>
            <a:ext cx="3939530" cy="2493288"/>
            <a:chOff x="0" y="0"/>
            <a:chExt cx="3939529" cy="2493286"/>
          </a:xfrm>
        </p:grpSpPr>
        <p:grpSp>
          <p:nvGrpSpPr>
            <p:cNvPr id="1167" name="成组"/>
            <p:cNvGrpSpPr/>
            <p:nvPr/>
          </p:nvGrpSpPr>
          <p:grpSpPr>
            <a:xfrm>
              <a:off x="1420728" y="0"/>
              <a:ext cx="1534712" cy="1537592"/>
              <a:chOff x="0" y="0"/>
              <a:chExt cx="1534710" cy="1537591"/>
            </a:xfrm>
          </p:grpSpPr>
          <p:sp>
            <p:nvSpPr>
              <p:cNvPr id="1165" name="圆形"/>
              <p:cNvSpPr/>
              <p:nvPr/>
            </p:nvSpPr>
            <p:spPr>
              <a:xfrm>
                <a:off x="0" y="0"/>
                <a:ext cx="535183" cy="535183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66" name="Shape 720"/>
              <p:cNvSpPr/>
              <p:nvPr/>
            </p:nvSpPr>
            <p:spPr>
              <a:xfrm>
                <a:off x="264710" y="267591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/>
              <a:p>
                <a:pPr marR="56816" indent="56816" algn="ctr" defTabSz="1295400">
                  <a:defRPr sz="2000">
                    <a:uFill>
                      <a:solidFill>
                        <a:srgbClr val="800000"/>
                      </a:solidFill>
                    </a:uFill>
                  </a:defRPr>
                </a:pPr>
                <a:r>
                  <a:t>v</a:t>
                </a:r>
                <a:r>
                  <a:rPr baseline="-32600"/>
                  <a:t>0</a:t>
                </a:r>
              </a:p>
            </p:txBody>
          </p:sp>
        </p:grpSp>
        <p:grpSp>
          <p:nvGrpSpPr>
            <p:cNvPr id="1170" name="成组"/>
            <p:cNvGrpSpPr/>
            <p:nvPr/>
          </p:nvGrpSpPr>
          <p:grpSpPr>
            <a:xfrm>
              <a:off x="405887" y="943353"/>
              <a:ext cx="1534712" cy="1537593"/>
              <a:chOff x="0" y="0"/>
              <a:chExt cx="1534710" cy="1537591"/>
            </a:xfrm>
          </p:grpSpPr>
          <p:sp>
            <p:nvSpPr>
              <p:cNvPr id="1168" name="圆形"/>
              <p:cNvSpPr/>
              <p:nvPr/>
            </p:nvSpPr>
            <p:spPr>
              <a:xfrm>
                <a:off x="0" y="0"/>
                <a:ext cx="535183" cy="535183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69" name="Shape 720"/>
              <p:cNvSpPr/>
              <p:nvPr/>
            </p:nvSpPr>
            <p:spPr>
              <a:xfrm>
                <a:off x="264710" y="267591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/>
              <a:p>
                <a:pPr marR="56816" indent="56816" algn="ctr" defTabSz="1295400">
                  <a:defRPr sz="2000">
                    <a:uFill>
                      <a:solidFill>
                        <a:srgbClr val="800000"/>
                      </a:solidFill>
                    </a:uFill>
                  </a:defRPr>
                </a:pPr>
                <a:r>
                  <a:t>v</a:t>
                </a:r>
                <a:r>
                  <a:rPr baseline="-32600"/>
                  <a:t>1</a:t>
                </a:r>
              </a:p>
            </p:txBody>
          </p:sp>
        </p:grpSp>
        <p:grpSp>
          <p:nvGrpSpPr>
            <p:cNvPr id="1173" name="成组"/>
            <p:cNvGrpSpPr/>
            <p:nvPr/>
          </p:nvGrpSpPr>
          <p:grpSpPr>
            <a:xfrm>
              <a:off x="1421731" y="943353"/>
              <a:ext cx="1534711" cy="1537593"/>
              <a:chOff x="0" y="0"/>
              <a:chExt cx="1534710" cy="1537591"/>
            </a:xfrm>
          </p:grpSpPr>
          <p:sp>
            <p:nvSpPr>
              <p:cNvPr id="1171" name="圆形"/>
              <p:cNvSpPr/>
              <p:nvPr/>
            </p:nvSpPr>
            <p:spPr>
              <a:xfrm>
                <a:off x="0" y="0"/>
                <a:ext cx="535183" cy="535183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72" name="Shape 720"/>
              <p:cNvSpPr/>
              <p:nvPr/>
            </p:nvSpPr>
            <p:spPr>
              <a:xfrm>
                <a:off x="264710" y="267591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/>
              <a:p>
                <a:pPr marR="56816" indent="56816" algn="ctr" defTabSz="1295400">
                  <a:defRPr sz="2000">
                    <a:uFill>
                      <a:solidFill>
                        <a:srgbClr val="800000"/>
                      </a:solidFill>
                    </a:uFill>
                  </a:defRPr>
                </a:pPr>
                <a:r>
                  <a:t>v</a:t>
                </a:r>
                <a:r>
                  <a:rPr baseline="-32600"/>
                  <a:t>3</a:t>
                </a:r>
              </a:p>
            </p:txBody>
          </p:sp>
        </p:grpSp>
        <p:grpSp>
          <p:nvGrpSpPr>
            <p:cNvPr id="1176" name="成组"/>
            <p:cNvGrpSpPr/>
            <p:nvPr/>
          </p:nvGrpSpPr>
          <p:grpSpPr>
            <a:xfrm>
              <a:off x="2404819" y="943353"/>
              <a:ext cx="1534711" cy="1537593"/>
              <a:chOff x="0" y="0"/>
              <a:chExt cx="1534710" cy="1537591"/>
            </a:xfrm>
          </p:grpSpPr>
          <p:sp>
            <p:nvSpPr>
              <p:cNvPr id="1174" name="圆形"/>
              <p:cNvSpPr/>
              <p:nvPr/>
            </p:nvSpPr>
            <p:spPr>
              <a:xfrm>
                <a:off x="0" y="0"/>
                <a:ext cx="535183" cy="535183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75" name="Shape 720"/>
              <p:cNvSpPr/>
              <p:nvPr/>
            </p:nvSpPr>
            <p:spPr>
              <a:xfrm>
                <a:off x="264710" y="267591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/>
              <a:p>
                <a:pPr marR="56816" indent="56816" algn="ctr" defTabSz="1295400">
                  <a:defRPr sz="2000">
                    <a:uFill>
                      <a:solidFill>
                        <a:srgbClr val="800000"/>
                      </a:solidFill>
                    </a:uFill>
                  </a:defRPr>
                </a:pPr>
                <a:r>
                  <a:t>v</a:t>
                </a:r>
                <a:r>
                  <a:rPr baseline="-32600"/>
                  <a:t>4</a:t>
                </a:r>
              </a:p>
            </p:txBody>
          </p:sp>
        </p:grpSp>
        <p:sp>
          <p:nvSpPr>
            <p:cNvPr id="1177" name="8"/>
            <p:cNvSpPr/>
            <p:nvPr/>
          </p:nvSpPr>
          <p:spPr>
            <a:xfrm>
              <a:off x="0" y="1223286"/>
              <a:ext cx="1270000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8</a:t>
              </a:r>
            </a:p>
          </p:txBody>
        </p:sp>
        <p:sp>
          <p:nvSpPr>
            <p:cNvPr id="1178" name="3"/>
            <p:cNvSpPr/>
            <p:nvPr/>
          </p:nvSpPr>
          <p:spPr>
            <a:xfrm>
              <a:off x="1092200" y="1223286"/>
              <a:ext cx="1270000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1179" name="9"/>
            <p:cNvSpPr/>
            <p:nvPr/>
          </p:nvSpPr>
          <p:spPr>
            <a:xfrm>
              <a:off x="2070100" y="1223286"/>
              <a:ext cx="1270000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9</a:t>
              </a:r>
            </a:p>
          </p:txBody>
        </p:sp>
      </p:grpSp>
      <p:grpSp>
        <p:nvGrpSpPr>
          <p:cNvPr id="1183" name="成组"/>
          <p:cNvGrpSpPr/>
          <p:nvPr/>
        </p:nvGrpSpPr>
        <p:grpSpPr>
          <a:xfrm>
            <a:off x="9571573" y="1503465"/>
            <a:ext cx="535184" cy="535184"/>
            <a:chOff x="0" y="0"/>
            <a:chExt cx="535182" cy="535182"/>
          </a:xfrm>
        </p:grpSpPr>
        <p:sp>
          <p:nvSpPr>
            <p:cNvPr id="1181" name="圆形"/>
            <p:cNvSpPr/>
            <p:nvPr/>
          </p:nvSpPr>
          <p:spPr>
            <a:xfrm>
              <a:off x="0" y="0"/>
              <a:ext cx="535183" cy="535183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82" name="Shape 720"/>
            <p:cNvSpPr txBox="1"/>
            <p:nvPr/>
          </p:nvSpPr>
          <p:spPr>
            <a:xfrm>
              <a:off x="86019" y="55054"/>
              <a:ext cx="357383" cy="4250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/>
            <a:p>
              <a:pPr marR="56816" indent="56816" algn="ctr" defTabSz="1295400">
                <a:defRPr sz="2000">
                  <a:uFill>
                    <a:solidFill>
                      <a:srgbClr val="800000"/>
                    </a:solidFill>
                  </a:uFill>
                </a:defRPr>
              </a:pPr>
              <a:r>
                <a:t>v</a:t>
              </a:r>
              <a:r>
                <a:rPr baseline="-32600"/>
                <a:t>0</a:t>
              </a:r>
            </a:p>
          </p:txBody>
        </p:sp>
      </p:grpSp>
      <p:grpSp>
        <p:nvGrpSpPr>
          <p:cNvPr id="1186" name="成组"/>
          <p:cNvGrpSpPr/>
          <p:nvPr/>
        </p:nvGrpSpPr>
        <p:grpSpPr>
          <a:xfrm>
            <a:off x="8556732" y="2446819"/>
            <a:ext cx="535184" cy="535184"/>
            <a:chOff x="0" y="0"/>
            <a:chExt cx="535182" cy="535182"/>
          </a:xfrm>
        </p:grpSpPr>
        <p:sp>
          <p:nvSpPr>
            <p:cNvPr id="1184" name="圆形"/>
            <p:cNvSpPr/>
            <p:nvPr/>
          </p:nvSpPr>
          <p:spPr>
            <a:xfrm>
              <a:off x="0" y="0"/>
              <a:ext cx="535183" cy="535183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85" name="Shape 720"/>
            <p:cNvSpPr txBox="1"/>
            <p:nvPr/>
          </p:nvSpPr>
          <p:spPr>
            <a:xfrm>
              <a:off x="86019" y="55054"/>
              <a:ext cx="357383" cy="4250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/>
            <a:p>
              <a:pPr marR="56816" indent="56816" algn="ctr" defTabSz="1295400">
                <a:defRPr sz="2000">
                  <a:uFill>
                    <a:solidFill>
                      <a:srgbClr val="800000"/>
                    </a:solidFill>
                  </a:uFill>
                </a:defRPr>
              </a:pPr>
              <a:r>
                <a:t>v</a:t>
              </a:r>
              <a:r>
                <a:rPr baseline="-32600"/>
                <a:t>1</a:t>
              </a:r>
            </a:p>
          </p:txBody>
        </p:sp>
      </p:grpSp>
      <p:grpSp>
        <p:nvGrpSpPr>
          <p:cNvPr id="1189" name="成组"/>
          <p:cNvGrpSpPr/>
          <p:nvPr/>
        </p:nvGrpSpPr>
        <p:grpSpPr>
          <a:xfrm>
            <a:off x="8543868" y="3491566"/>
            <a:ext cx="535184" cy="535184"/>
            <a:chOff x="0" y="0"/>
            <a:chExt cx="535182" cy="535182"/>
          </a:xfrm>
        </p:grpSpPr>
        <p:sp>
          <p:nvSpPr>
            <p:cNvPr id="1187" name="圆形"/>
            <p:cNvSpPr/>
            <p:nvPr/>
          </p:nvSpPr>
          <p:spPr>
            <a:xfrm>
              <a:off x="0" y="0"/>
              <a:ext cx="535183" cy="535183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88" name="Shape 720"/>
            <p:cNvSpPr txBox="1"/>
            <p:nvPr/>
          </p:nvSpPr>
          <p:spPr>
            <a:xfrm>
              <a:off x="86019" y="55054"/>
              <a:ext cx="357383" cy="4250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/>
            <a:p>
              <a:pPr marR="56816" indent="56816" algn="ctr" defTabSz="1295400">
                <a:defRPr sz="2000">
                  <a:uFill>
                    <a:solidFill>
                      <a:srgbClr val="800000"/>
                    </a:solidFill>
                  </a:uFill>
                </a:defRPr>
              </a:pPr>
              <a:r>
                <a:t>v</a:t>
              </a:r>
              <a:r>
                <a:rPr baseline="-32600"/>
                <a:t>2</a:t>
              </a:r>
            </a:p>
          </p:txBody>
        </p:sp>
      </p:grpSp>
      <p:grpSp>
        <p:nvGrpSpPr>
          <p:cNvPr id="1192" name="成组"/>
          <p:cNvGrpSpPr/>
          <p:nvPr/>
        </p:nvGrpSpPr>
        <p:grpSpPr>
          <a:xfrm>
            <a:off x="9572576" y="2446819"/>
            <a:ext cx="535183" cy="535184"/>
            <a:chOff x="0" y="0"/>
            <a:chExt cx="535182" cy="535182"/>
          </a:xfrm>
        </p:grpSpPr>
        <p:sp>
          <p:nvSpPr>
            <p:cNvPr id="1190" name="圆形"/>
            <p:cNvSpPr/>
            <p:nvPr/>
          </p:nvSpPr>
          <p:spPr>
            <a:xfrm>
              <a:off x="0" y="0"/>
              <a:ext cx="535183" cy="535183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91" name="Shape 720"/>
            <p:cNvSpPr txBox="1"/>
            <p:nvPr/>
          </p:nvSpPr>
          <p:spPr>
            <a:xfrm>
              <a:off x="86019" y="55054"/>
              <a:ext cx="357383" cy="4250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/>
            <a:p>
              <a:pPr marR="56816" indent="56816" algn="ctr" defTabSz="1295400">
                <a:defRPr sz="2000">
                  <a:uFill>
                    <a:solidFill>
                      <a:srgbClr val="800000"/>
                    </a:solidFill>
                  </a:uFill>
                </a:defRPr>
              </a:pPr>
              <a:r>
                <a:t>v</a:t>
              </a:r>
              <a:r>
                <a:rPr baseline="-32600"/>
                <a:t>3</a:t>
              </a:r>
            </a:p>
          </p:txBody>
        </p:sp>
      </p:grpSp>
      <p:grpSp>
        <p:nvGrpSpPr>
          <p:cNvPr id="1195" name="成组"/>
          <p:cNvGrpSpPr/>
          <p:nvPr/>
        </p:nvGrpSpPr>
        <p:grpSpPr>
          <a:xfrm>
            <a:off x="10555664" y="2446819"/>
            <a:ext cx="535183" cy="535184"/>
            <a:chOff x="0" y="0"/>
            <a:chExt cx="535182" cy="535182"/>
          </a:xfrm>
        </p:grpSpPr>
        <p:sp>
          <p:nvSpPr>
            <p:cNvPr id="1193" name="圆形"/>
            <p:cNvSpPr/>
            <p:nvPr/>
          </p:nvSpPr>
          <p:spPr>
            <a:xfrm>
              <a:off x="0" y="0"/>
              <a:ext cx="535183" cy="535183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94" name="Shape 720"/>
            <p:cNvSpPr txBox="1"/>
            <p:nvPr/>
          </p:nvSpPr>
          <p:spPr>
            <a:xfrm>
              <a:off x="86019" y="55054"/>
              <a:ext cx="357383" cy="4250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/>
            <a:p>
              <a:pPr marR="56816" indent="56816" algn="ctr" defTabSz="1295400">
                <a:defRPr sz="2000">
                  <a:uFill>
                    <a:solidFill>
                      <a:srgbClr val="800000"/>
                    </a:solidFill>
                  </a:uFill>
                </a:defRPr>
              </a:pPr>
              <a:r>
                <a:t>v</a:t>
              </a:r>
              <a:r>
                <a:rPr baseline="-32600"/>
                <a:t>4</a:t>
              </a:r>
            </a:p>
          </p:txBody>
        </p:sp>
      </p:grpSp>
      <p:sp>
        <p:nvSpPr>
          <p:cNvPr id="1196" name="8"/>
          <p:cNvSpPr txBox="1"/>
          <p:nvPr/>
        </p:nvSpPr>
        <p:spPr>
          <a:xfrm>
            <a:off x="8150845" y="2535297"/>
            <a:ext cx="299100" cy="3829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/>
            </a:lvl1pPr>
          </a:lstStyle>
          <a:p>
            <a:pPr/>
            <a:r>
              <a:t>8</a:t>
            </a:r>
          </a:p>
        </p:txBody>
      </p:sp>
      <p:sp>
        <p:nvSpPr>
          <p:cNvPr id="1197" name="3"/>
          <p:cNvSpPr txBox="1"/>
          <p:nvPr/>
        </p:nvSpPr>
        <p:spPr>
          <a:xfrm>
            <a:off x="9243045" y="2535297"/>
            <a:ext cx="299100" cy="3829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/>
            </a:lvl1pPr>
          </a:lstStyle>
          <a:p>
            <a:pPr/>
            <a:r>
              <a:t>3</a:t>
            </a:r>
          </a:p>
        </p:txBody>
      </p:sp>
      <p:sp>
        <p:nvSpPr>
          <p:cNvPr id="1198" name="9"/>
          <p:cNvSpPr txBox="1"/>
          <p:nvPr/>
        </p:nvSpPr>
        <p:spPr>
          <a:xfrm>
            <a:off x="10718688" y="2942173"/>
            <a:ext cx="299100" cy="3829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/>
            </a:lvl1pPr>
          </a:lstStyle>
          <a:p>
            <a:pPr/>
            <a:r>
              <a:t>9</a:t>
            </a:r>
          </a:p>
        </p:txBody>
      </p:sp>
      <p:sp>
        <p:nvSpPr>
          <p:cNvPr id="1199" name="5"/>
          <p:cNvSpPr txBox="1"/>
          <p:nvPr/>
        </p:nvSpPr>
        <p:spPr>
          <a:xfrm>
            <a:off x="8125445" y="3567702"/>
            <a:ext cx="299100" cy="3829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/>
            </a:lvl1pPr>
          </a:lstStyle>
          <a:p>
            <a:pPr/>
            <a:r>
              <a:t>5</a:t>
            </a:r>
          </a:p>
        </p:txBody>
      </p:sp>
      <p:sp>
        <p:nvSpPr>
          <p:cNvPr id="1200" name="线条"/>
          <p:cNvSpPr/>
          <p:nvPr/>
        </p:nvSpPr>
        <p:spPr>
          <a:xfrm flipH="1">
            <a:off x="9013820" y="2816128"/>
            <a:ext cx="753060" cy="753061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b="1" sz="2800">
                <a:solidFill>
                  <a:schemeClr val="accent1">
                    <a:satOff val="-36923"/>
                    <a:lumOff val="15441"/>
                  </a:schemeClr>
                </a:solidFill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201" name="线条"/>
          <p:cNvSpPr/>
          <p:nvPr/>
        </p:nvSpPr>
        <p:spPr>
          <a:xfrm>
            <a:off x="8811460" y="2934187"/>
            <a:ext cx="1" cy="675078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b="1" sz="2800">
                <a:solidFill>
                  <a:schemeClr val="accent1">
                    <a:satOff val="-36923"/>
                    <a:lumOff val="15441"/>
                  </a:schemeClr>
                </a:solidFill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202" name="14"/>
          <p:cNvSpPr txBox="1"/>
          <p:nvPr/>
        </p:nvSpPr>
        <p:spPr>
          <a:xfrm>
            <a:off x="8366745" y="3047002"/>
            <a:ext cx="426100" cy="3829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/>
            </a:lvl1pPr>
          </a:lstStyle>
          <a:p>
            <a:pPr/>
            <a:r>
              <a:t>14</a:t>
            </a:r>
          </a:p>
        </p:txBody>
      </p:sp>
      <p:sp>
        <p:nvSpPr>
          <p:cNvPr id="1203" name="5"/>
          <p:cNvSpPr txBox="1"/>
          <p:nvPr/>
        </p:nvSpPr>
        <p:spPr>
          <a:xfrm>
            <a:off x="9288178" y="3080270"/>
            <a:ext cx="299100" cy="3829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/>
            </a:lvl1pPr>
          </a:lstStyle>
          <a:p>
            <a:pPr/>
            <a:r>
              <a:t>5</a:t>
            </a:r>
          </a:p>
        </p:txBody>
      </p:sp>
      <p:sp>
        <p:nvSpPr>
          <p:cNvPr id="1204" name="线条"/>
          <p:cNvSpPr/>
          <p:nvPr/>
        </p:nvSpPr>
        <p:spPr>
          <a:xfrm>
            <a:off x="10058979" y="2714528"/>
            <a:ext cx="540946" cy="1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b="1" sz="2800">
                <a:solidFill>
                  <a:schemeClr val="accent1">
                    <a:satOff val="-36923"/>
                    <a:lumOff val="15441"/>
                  </a:schemeClr>
                </a:solidFill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205" name="9"/>
          <p:cNvSpPr txBox="1"/>
          <p:nvPr/>
        </p:nvSpPr>
        <p:spPr>
          <a:xfrm>
            <a:off x="10128267" y="2370197"/>
            <a:ext cx="299100" cy="3829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/>
            </a:lvl1pPr>
          </a:lstStyle>
          <a:p>
            <a:pPr/>
            <a:r>
              <a:t>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3" name="成组"/>
          <p:cNvGrpSpPr/>
          <p:nvPr/>
        </p:nvGrpSpPr>
        <p:grpSpPr>
          <a:xfrm>
            <a:off x="4628926" y="1349722"/>
            <a:ext cx="3616353" cy="2603701"/>
            <a:chOff x="0" y="0"/>
            <a:chExt cx="3616352" cy="2603700"/>
          </a:xfrm>
        </p:grpSpPr>
        <p:sp>
          <p:nvSpPr>
            <p:cNvPr id="1207" name="Shape 725"/>
            <p:cNvSpPr/>
            <p:nvPr/>
          </p:nvSpPr>
          <p:spPr>
            <a:xfrm flipH="1">
              <a:off x="1804373" y="377475"/>
              <a:ext cx="1" cy="1558389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08" name="Shape 722"/>
            <p:cNvSpPr/>
            <p:nvPr/>
          </p:nvSpPr>
          <p:spPr>
            <a:xfrm flipV="1">
              <a:off x="272235" y="437212"/>
              <a:ext cx="1275512" cy="750978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09" name="Shape 723"/>
            <p:cNvSpPr/>
            <p:nvPr/>
          </p:nvSpPr>
          <p:spPr>
            <a:xfrm>
              <a:off x="126011" y="1144210"/>
              <a:ext cx="1427897" cy="921896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10" name="Shape 724"/>
            <p:cNvSpPr/>
            <p:nvPr/>
          </p:nvSpPr>
          <p:spPr>
            <a:xfrm flipH="1" flipV="1">
              <a:off x="1978897" y="542602"/>
              <a:ext cx="1298624" cy="1513579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11" name="Shape 725"/>
            <p:cNvSpPr/>
            <p:nvPr/>
          </p:nvSpPr>
          <p:spPr>
            <a:xfrm>
              <a:off x="3346697" y="350487"/>
              <a:ext cx="1" cy="1558390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12" name="Shape 726"/>
            <p:cNvSpPr/>
            <p:nvPr/>
          </p:nvSpPr>
          <p:spPr>
            <a:xfrm>
              <a:off x="1938150" y="2209560"/>
              <a:ext cx="1142523" cy="1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13" name="Shape 727"/>
            <p:cNvSpPr/>
            <p:nvPr/>
          </p:nvSpPr>
          <p:spPr>
            <a:xfrm flipH="1" flipV="1">
              <a:off x="2087977" y="348253"/>
              <a:ext cx="1308348" cy="1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14" name="Shape 729"/>
            <p:cNvSpPr txBox="1"/>
            <p:nvPr/>
          </p:nvSpPr>
          <p:spPr>
            <a:xfrm rot="19680000">
              <a:off x="779085" y="428996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9</a:t>
              </a:r>
            </a:p>
          </p:txBody>
        </p:sp>
        <p:sp>
          <p:nvSpPr>
            <p:cNvPr id="1215" name="Shape 730"/>
            <p:cNvSpPr txBox="1"/>
            <p:nvPr/>
          </p:nvSpPr>
          <p:spPr>
            <a:xfrm rot="1800000">
              <a:off x="742895" y="1632778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8</a:t>
              </a:r>
            </a:p>
          </p:txBody>
        </p:sp>
        <p:sp>
          <p:nvSpPr>
            <p:cNvPr id="1216" name="Shape 731"/>
            <p:cNvSpPr txBox="1"/>
            <p:nvPr/>
          </p:nvSpPr>
          <p:spPr>
            <a:xfrm rot="3000000">
              <a:off x="2497113" y="911808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217" name="Shape 733"/>
            <p:cNvSpPr txBox="1"/>
            <p:nvPr/>
          </p:nvSpPr>
          <p:spPr>
            <a:xfrm>
              <a:off x="2364239" y="2220790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6</a:t>
              </a:r>
            </a:p>
          </p:txBody>
        </p:sp>
        <p:sp>
          <p:nvSpPr>
            <p:cNvPr id="1218" name="Shape 746"/>
            <p:cNvSpPr txBox="1"/>
            <p:nvPr/>
          </p:nvSpPr>
          <p:spPr>
            <a:xfrm>
              <a:off x="2483064" y="0"/>
              <a:ext cx="299100" cy="3829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1219" name="Shape 750"/>
            <p:cNvSpPr txBox="1"/>
            <p:nvPr/>
          </p:nvSpPr>
          <p:spPr>
            <a:xfrm>
              <a:off x="3266054" y="998552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1220" name="Shape 751"/>
            <p:cNvSpPr/>
            <p:nvPr/>
          </p:nvSpPr>
          <p:spPr>
            <a:xfrm flipV="1">
              <a:off x="290863" y="558943"/>
              <a:ext cx="2874528" cy="737251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21" name="Shape 752"/>
            <p:cNvSpPr txBox="1"/>
            <p:nvPr/>
          </p:nvSpPr>
          <p:spPr>
            <a:xfrm rot="20580000">
              <a:off x="1052574" y="1049352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1222" name="圆形"/>
            <p:cNvSpPr/>
            <p:nvPr/>
          </p:nvSpPr>
          <p:spPr>
            <a:xfrm>
              <a:off x="0" y="957060"/>
              <a:ext cx="535183" cy="535184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23" name="Shape 720"/>
            <p:cNvSpPr txBox="1"/>
            <p:nvPr/>
          </p:nvSpPr>
          <p:spPr>
            <a:xfrm>
              <a:off x="102952" y="1045897"/>
              <a:ext cx="272717" cy="357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1224" name="圆形"/>
            <p:cNvSpPr/>
            <p:nvPr/>
          </p:nvSpPr>
          <p:spPr>
            <a:xfrm>
              <a:off x="1538223" y="1929062"/>
              <a:ext cx="535184" cy="535184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25" name="Shape 720"/>
            <p:cNvSpPr txBox="1"/>
            <p:nvPr/>
          </p:nvSpPr>
          <p:spPr>
            <a:xfrm>
              <a:off x="1639538" y="2017898"/>
              <a:ext cx="326791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∞</a:t>
              </a:r>
            </a:p>
          </p:txBody>
        </p:sp>
        <p:sp>
          <p:nvSpPr>
            <p:cNvPr id="1226" name="圆形"/>
            <p:cNvSpPr/>
            <p:nvPr/>
          </p:nvSpPr>
          <p:spPr>
            <a:xfrm>
              <a:off x="3081169" y="1929062"/>
              <a:ext cx="535184" cy="535184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27" name="Shape 720"/>
            <p:cNvSpPr txBox="1"/>
            <p:nvPr/>
          </p:nvSpPr>
          <p:spPr>
            <a:xfrm>
              <a:off x="3182485" y="2017898"/>
              <a:ext cx="326791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∞</a:t>
              </a:r>
            </a:p>
          </p:txBody>
        </p:sp>
        <p:sp>
          <p:nvSpPr>
            <p:cNvPr id="1228" name="圆形"/>
            <p:cNvSpPr/>
            <p:nvPr/>
          </p:nvSpPr>
          <p:spPr>
            <a:xfrm>
              <a:off x="3081169" y="80112"/>
              <a:ext cx="535184" cy="535184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29" name="Shape 720"/>
            <p:cNvSpPr txBox="1"/>
            <p:nvPr/>
          </p:nvSpPr>
          <p:spPr>
            <a:xfrm>
              <a:off x="3182485" y="168949"/>
              <a:ext cx="326791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∞</a:t>
              </a:r>
            </a:p>
          </p:txBody>
        </p:sp>
        <p:sp>
          <p:nvSpPr>
            <p:cNvPr id="1230" name="圆形"/>
            <p:cNvSpPr/>
            <p:nvPr/>
          </p:nvSpPr>
          <p:spPr>
            <a:xfrm>
              <a:off x="1538223" y="80112"/>
              <a:ext cx="535184" cy="535184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31" name="Shape 720"/>
            <p:cNvSpPr txBox="1"/>
            <p:nvPr/>
          </p:nvSpPr>
          <p:spPr>
            <a:xfrm>
              <a:off x="1639538" y="168949"/>
              <a:ext cx="326791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∞</a:t>
              </a:r>
            </a:p>
          </p:txBody>
        </p:sp>
        <p:sp>
          <p:nvSpPr>
            <p:cNvPr id="1232" name="Shape 750"/>
            <p:cNvSpPr txBox="1"/>
            <p:nvPr/>
          </p:nvSpPr>
          <p:spPr>
            <a:xfrm>
              <a:off x="1749130" y="1165239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</p:grpSp>
      <p:grpSp>
        <p:nvGrpSpPr>
          <p:cNvPr id="1260" name="成组"/>
          <p:cNvGrpSpPr/>
          <p:nvPr/>
        </p:nvGrpSpPr>
        <p:grpSpPr>
          <a:xfrm>
            <a:off x="9339673" y="1349722"/>
            <a:ext cx="3616353" cy="2603701"/>
            <a:chOff x="0" y="0"/>
            <a:chExt cx="3616352" cy="2603699"/>
          </a:xfrm>
        </p:grpSpPr>
        <p:sp>
          <p:nvSpPr>
            <p:cNvPr id="1234" name="Shape 725"/>
            <p:cNvSpPr/>
            <p:nvPr/>
          </p:nvSpPr>
          <p:spPr>
            <a:xfrm flipH="1">
              <a:off x="1804373" y="377475"/>
              <a:ext cx="1" cy="1558389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tail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35" name="Shape 722"/>
            <p:cNvSpPr/>
            <p:nvPr/>
          </p:nvSpPr>
          <p:spPr>
            <a:xfrm flipV="1">
              <a:off x="272235" y="437212"/>
              <a:ext cx="1275512" cy="750978"/>
            </a:xfrm>
            <a:prstGeom prst="line">
              <a:avLst/>
            </a:prstGeom>
            <a:noFill/>
            <a:ln w="38100" cap="sq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36" name="Shape 723"/>
            <p:cNvSpPr/>
            <p:nvPr/>
          </p:nvSpPr>
          <p:spPr>
            <a:xfrm>
              <a:off x="126011" y="1144210"/>
              <a:ext cx="1427897" cy="921896"/>
            </a:xfrm>
            <a:prstGeom prst="line">
              <a:avLst/>
            </a:prstGeom>
            <a:noFill/>
            <a:ln w="38100" cap="sq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37" name="Shape 724"/>
            <p:cNvSpPr/>
            <p:nvPr/>
          </p:nvSpPr>
          <p:spPr>
            <a:xfrm flipH="1" flipV="1">
              <a:off x="1978897" y="542602"/>
              <a:ext cx="1298624" cy="1513579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38" name="Shape 725"/>
            <p:cNvSpPr/>
            <p:nvPr/>
          </p:nvSpPr>
          <p:spPr>
            <a:xfrm>
              <a:off x="3346697" y="350487"/>
              <a:ext cx="1" cy="1558390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39" name="Shape 726"/>
            <p:cNvSpPr/>
            <p:nvPr/>
          </p:nvSpPr>
          <p:spPr>
            <a:xfrm>
              <a:off x="1938150" y="2209560"/>
              <a:ext cx="1142523" cy="1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40" name="Shape 727"/>
            <p:cNvSpPr/>
            <p:nvPr/>
          </p:nvSpPr>
          <p:spPr>
            <a:xfrm flipH="1" flipV="1">
              <a:off x="2087977" y="348253"/>
              <a:ext cx="1308348" cy="1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headEnd type="stealth" w="med" len="med"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41" name="Shape 729"/>
            <p:cNvSpPr txBox="1"/>
            <p:nvPr/>
          </p:nvSpPr>
          <p:spPr>
            <a:xfrm rot="19680000">
              <a:off x="779085" y="428996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9</a:t>
              </a:r>
            </a:p>
          </p:txBody>
        </p:sp>
        <p:sp>
          <p:nvSpPr>
            <p:cNvPr id="1242" name="Shape 730"/>
            <p:cNvSpPr txBox="1"/>
            <p:nvPr/>
          </p:nvSpPr>
          <p:spPr>
            <a:xfrm rot="1800000">
              <a:off x="742895" y="1632778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8</a:t>
              </a:r>
            </a:p>
          </p:txBody>
        </p:sp>
        <p:sp>
          <p:nvSpPr>
            <p:cNvPr id="1243" name="Shape 731"/>
            <p:cNvSpPr txBox="1"/>
            <p:nvPr/>
          </p:nvSpPr>
          <p:spPr>
            <a:xfrm rot="3000000">
              <a:off x="2497113" y="911808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244" name="Shape 733"/>
            <p:cNvSpPr txBox="1"/>
            <p:nvPr/>
          </p:nvSpPr>
          <p:spPr>
            <a:xfrm>
              <a:off x="2364239" y="2220790"/>
              <a:ext cx="299100" cy="3829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6</a:t>
              </a:r>
            </a:p>
          </p:txBody>
        </p:sp>
        <p:sp>
          <p:nvSpPr>
            <p:cNvPr id="1245" name="Shape 746"/>
            <p:cNvSpPr txBox="1"/>
            <p:nvPr/>
          </p:nvSpPr>
          <p:spPr>
            <a:xfrm>
              <a:off x="2483064" y="0"/>
              <a:ext cx="299100" cy="3829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1246" name="Shape 750"/>
            <p:cNvSpPr txBox="1"/>
            <p:nvPr/>
          </p:nvSpPr>
          <p:spPr>
            <a:xfrm>
              <a:off x="3266054" y="998552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1247" name="Shape 751"/>
            <p:cNvSpPr/>
            <p:nvPr/>
          </p:nvSpPr>
          <p:spPr>
            <a:xfrm flipV="1">
              <a:off x="290863" y="558942"/>
              <a:ext cx="2874528" cy="737252"/>
            </a:xfrm>
            <a:prstGeom prst="line">
              <a:avLst/>
            </a:prstGeom>
            <a:noFill/>
            <a:ln w="38100" cap="sq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48" name="Shape 752"/>
            <p:cNvSpPr txBox="1"/>
            <p:nvPr/>
          </p:nvSpPr>
          <p:spPr>
            <a:xfrm rot="20580000">
              <a:off x="1052574" y="1049351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1249" name="圆形"/>
            <p:cNvSpPr/>
            <p:nvPr/>
          </p:nvSpPr>
          <p:spPr>
            <a:xfrm>
              <a:off x="0" y="957060"/>
              <a:ext cx="535183" cy="535184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50" name="Shape 720"/>
            <p:cNvSpPr txBox="1"/>
            <p:nvPr/>
          </p:nvSpPr>
          <p:spPr>
            <a:xfrm>
              <a:off x="102952" y="1045897"/>
              <a:ext cx="272717" cy="357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1251" name="圆形"/>
            <p:cNvSpPr/>
            <p:nvPr/>
          </p:nvSpPr>
          <p:spPr>
            <a:xfrm>
              <a:off x="1538223" y="1929062"/>
              <a:ext cx="535184" cy="535183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52" name="Shape 720"/>
            <p:cNvSpPr txBox="1"/>
            <p:nvPr/>
          </p:nvSpPr>
          <p:spPr>
            <a:xfrm>
              <a:off x="1641175" y="2017898"/>
              <a:ext cx="272717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8</a:t>
              </a:r>
            </a:p>
          </p:txBody>
        </p:sp>
        <p:sp>
          <p:nvSpPr>
            <p:cNvPr id="1253" name="圆形"/>
            <p:cNvSpPr/>
            <p:nvPr/>
          </p:nvSpPr>
          <p:spPr>
            <a:xfrm>
              <a:off x="3081169" y="1929062"/>
              <a:ext cx="535184" cy="535183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54" name="Shape 720"/>
            <p:cNvSpPr txBox="1"/>
            <p:nvPr/>
          </p:nvSpPr>
          <p:spPr>
            <a:xfrm>
              <a:off x="3182485" y="2017898"/>
              <a:ext cx="326791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∞</a:t>
              </a:r>
            </a:p>
          </p:txBody>
        </p:sp>
        <p:sp>
          <p:nvSpPr>
            <p:cNvPr id="1255" name="圆形"/>
            <p:cNvSpPr/>
            <p:nvPr/>
          </p:nvSpPr>
          <p:spPr>
            <a:xfrm>
              <a:off x="3081169" y="80112"/>
              <a:ext cx="535184" cy="535184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56" name="Shape 720"/>
            <p:cNvSpPr txBox="1"/>
            <p:nvPr/>
          </p:nvSpPr>
          <p:spPr>
            <a:xfrm>
              <a:off x="3209522" y="168948"/>
              <a:ext cx="272717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1257" name="圆形"/>
            <p:cNvSpPr/>
            <p:nvPr/>
          </p:nvSpPr>
          <p:spPr>
            <a:xfrm>
              <a:off x="1538223" y="80112"/>
              <a:ext cx="535184" cy="535184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58" name="Shape 720"/>
            <p:cNvSpPr txBox="1"/>
            <p:nvPr/>
          </p:nvSpPr>
          <p:spPr>
            <a:xfrm>
              <a:off x="1641175" y="168948"/>
              <a:ext cx="272717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9</a:t>
              </a:r>
            </a:p>
          </p:txBody>
        </p:sp>
        <p:sp>
          <p:nvSpPr>
            <p:cNvPr id="1259" name="Shape 750"/>
            <p:cNvSpPr txBox="1"/>
            <p:nvPr/>
          </p:nvSpPr>
          <p:spPr>
            <a:xfrm>
              <a:off x="1749130" y="1165239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</p:grpSp>
      <p:grpSp>
        <p:nvGrpSpPr>
          <p:cNvPr id="1287" name="成组"/>
          <p:cNvGrpSpPr/>
          <p:nvPr/>
        </p:nvGrpSpPr>
        <p:grpSpPr>
          <a:xfrm>
            <a:off x="100257" y="4673703"/>
            <a:ext cx="3616353" cy="2603701"/>
            <a:chOff x="0" y="0"/>
            <a:chExt cx="3616352" cy="2603699"/>
          </a:xfrm>
        </p:grpSpPr>
        <p:sp>
          <p:nvSpPr>
            <p:cNvPr id="1261" name="Shape 725"/>
            <p:cNvSpPr/>
            <p:nvPr/>
          </p:nvSpPr>
          <p:spPr>
            <a:xfrm flipH="1">
              <a:off x="1804373" y="377475"/>
              <a:ext cx="1" cy="1558389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62" name="Shape 722"/>
            <p:cNvSpPr/>
            <p:nvPr/>
          </p:nvSpPr>
          <p:spPr>
            <a:xfrm flipV="1">
              <a:off x="272235" y="437212"/>
              <a:ext cx="1275512" cy="750978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63" name="Shape 723"/>
            <p:cNvSpPr/>
            <p:nvPr/>
          </p:nvSpPr>
          <p:spPr>
            <a:xfrm>
              <a:off x="126011" y="1144210"/>
              <a:ext cx="1427897" cy="921896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64" name="Shape 724"/>
            <p:cNvSpPr/>
            <p:nvPr/>
          </p:nvSpPr>
          <p:spPr>
            <a:xfrm flipH="1" flipV="1">
              <a:off x="1978897" y="542602"/>
              <a:ext cx="1298624" cy="1513579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65" name="Shape 725"/>
            <p:cNvSpPr/>
            <p:nvPr/>
          </p:nvSpPr>
          <p:spPr>
            <a:xfrm>
              <a:off x="3346697" y="350487"/>
              <a:ext cx="1" cy="1558390"/>
            </a:xfrm>
            <a:prstGeom prst="line">
              <a:avLst/>
            </a:prstGeom>
            <a:noFill/>
            <a:ln w="38100" cap="sq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66" name="Shape 726"/>
            <p:cNvSpPr/>
            <p:nvPr/>
          </p:nvSpPr>
          <p:spPr>
            <a:xfrm>
              <a:off x="1938150" y="2209560"/>
              <a:ext cx="1142523" cy="1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67" name="Shape 727"/>
            <p:cNvSpPr/>
            <p:nvPr/>
          </p:nvSpPr>
          <p:spPr>
            <a:xfrm flipH="1" flipV="1">
              <a:off x="2087977" y="348253"/>
              <a:ext cx="1308348" cy="1"/>
            </a:xfrm>
            <a:prstGeom prst="line">
              <a:avLst/>
            </a:prstGeom>
            <a:noFill/>
            <a:ln w="38100" cap="sq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68" name="Shape 729"/>
            <p:cNvSpPr txBox="1"/>
            <p:nvPr/>
          </p:nvSpPr>
          <p:spPr>
            <a:xfrm rot="19680000">
              <a:off x="779085" y="428996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9</a:t>
              </a:r>
            </a:p>
          </p:txBody>
        </p:sp>
        <p:sp>
          <p:nvSpPr>
            <p:cNvPr id="1269" name="Shape 730"/>
            <p:cNvSpPr txBox="1"/>
            <p:nvPr/>
          </p:nvSpPr>
          <p:spPr>
            <a:xfrm rot="1800000">
              <a:off x="742895" y="1632778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8</a:t>
              </a:r>
            </a:p>
          </p:txBody>
        </p:sp>
        <p:sp>
          <p:nvSpPr>
            <p:cNvPr id="1270" name="Shape 731"/>
            <p:cNvSpPr txBox="1"/>
            <p:nvPr/>
          </p:nvSpPr>
          <p:spPr>
            <a:xfrm rot="3000000">
              <a:off x="2497113" y="911808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271" name="Shape 733"/>
            <p:cNvSpPr txBox="1"/>
            <p:nvPr/>
          </p:nvSpPr>
          <p:spPr>
            <a:xfrm>
              <a:off x="2364239" y="2220790"/>
              <a:ext cx="299100" cy="3829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6</a:t>
              </a:r>
            </a:p>
          </p:txBody>
        </p:sp>
        <p:sp>
          <p:nvSpPr>
            <p:cNvPr id="1272" name="Shape 746"/>
            <p:cNvSpPr txBox="1"/>
            <p:nvPr/>
          </p:nvSpPr>
          <p:spPr>
            <a:xfrm>
              <a:off x="2483064" y="0"/>
              <a:ext cx="299100" cy="3829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1273" name="Shape 750"/>
            <p:cNvSpPr txBox="1"/>
            <p:nvPr/>
          </p:nvSpPr>
          <p:spPr>
            <a:xfrm>
              <a:off x="3266054" y="998552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1274" name="Shape 751"/>
            <p:cNvSpPr/>
            <p:nvPr/>
          </p:nvSpPr>
          <p:spPr>
            <a:xfrm flipV="1">
              <a:off x="290863" y="558942"/>
              <a:ext cx="2874528" cy="73725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75" name="Shape 752"/>
            <p:cNvSpPr txBox="1"/>
            <p:nvPr/>
          </p:nvSpPr>
          <p:spPr>
            <a:xfrm rot="20580000">
              <a:off x="1052574" y="1049351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1276" name="圆形"/>
            <p:cNvSpPr/>
            <p:nvPr/>
          </p:nvSpPr>
          <p:spPr>
            <a:xfrm>
              <a:off x="0" y="957060"/>
              <a:ext cx="535183" cy="535184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77" name="Shape 720"/>
            <p:cNvSpPr txBox="1"/>
            <p:nvPr/>
          </p:nvSpPr>
          <p:spPr>
            <a:xfrm>
              <a:off x="102952" y="1045897"/>
              <a:ext cx="272717" cy="357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1278" name="圆形"/>
            <p:cNvSpPr/>
            <p:nvPr/>
          </p:nvSpPr>
          <p:spPr>
            <a:xfrm>
              <a:off x="1538223" y="1929062"/>
              <a:ext cx="535184" cy="535183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79" name="Shape 720"/>
            <p:cNvSpPr txBox="1"/>
            <p:nvPr/>
          </p:nvSpPr>
          <p:spPr>
            <a:xfrm>
              <a:off x="1666575" y="2017898"/>
              <a:ext cx="272717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8</a:t>
              </a:r>
            </a:p>
          </p:txBody>
        </p:sp>
        <p:sp>
          <p:nvSpPr>
            <p:cNvPr id="1280" name="圆形"/>
            <p:cNvSpPr/>
            <p:nvPr/>
          </p:nvSpPr>
          <p:spPr>
            <a:xfrm>
              <a:off x="3081169" y="1929062"/>
              <a:ext cx="535184" cy="535183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81" name="Shape 720"/>
            <p:cNvSpPr txBox="1"/>
            <p:nvPr/>
          </p:nvSpPr>
          <p:spPr>
            <a:xfrm>
              <a:off x="3209522" y="2017898"/>
              <a:ext cx="272717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1282" name="圆形"/>
            <p:cNvSpPr/>
            <p:nvPr/>
          </p:nvSpPr>
          <p:spPr>
            <a:xfrm>
              <a:off x="3081169" y="80112"/>
              <a:ext cx="535184" cy="535184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83" name="Shape 720"/>
            <p:cNvSpPr txBox="1"/>
            <p:nvPr/>
          </p:nvSpPr>
          <p:spPr>
            <a:xfrm>
              <a:off x="3209522" y="168948"/>
              <a:ext cx="272717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1284" name="圆形"/>
            <p:cNvSpPr/>
            <p:nvPr/>
          </p:nvSpPr>
          <p:spPr>
            <a:xfrm>
              <a:off x="1538223" y="80112"/>
              <a:ext cx="535184" cy="535184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85" name="Shape 720"/>
            <p:cNvSpPr txBox="1"/>
            <p:nvPr/>
          </p:nvSpPr>
          <p:spPr>
            <a:xfrm>
              <a:off x="1666575" y="168948"/>
              <a:ext cx="272717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8</a:t>
              </a:r>
            </a:p>
          </p:txBody>
        </p:sp>
        <p:sp>
          <p:nvSpPr>
            <p:cNvPr id="1286" name="Shape 750"/>
            <p:cNvSpPr txBox="1"/>
            <p:nvPr/>
          </p:nvSpPr>
          <p:spPr>
            <a:xfrm>
              <a:off x="1749130" y="1165239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</p:grpSp>
      <p:grpSp>
        <p:nvGrpSpPr>
          <p:cNvPr id="1314" name="成组"/>
          <p:cNvGrpSpPr/>
          <p:nvPr/>
        </p:nvGrpSpPr>
        <p:grpSpPr>
          <a:xfrm>
            <a:off x="4628926" y="4673703"/>
            <a:ext cx="3616354" cy="2603701"/>
            <a:chOff x="0" y="0"/>
            <a:chExt cx="3616352" cy="2603699"/>
          </a:xfrm>
        </p:grpSpPr>
        <p:sp>
          <p:nvSpPr>
            <p:cNvPr id="1288" name="Shape 725"/>
            <p:cNvSpPr/>
            <p:nvPr/>
          </p:nvSpPr>
          <p:spPr>
            <a:xfrm flipH="1">
              <a:off x="1804374" y="377475"/>
              <a:ext cx="1" cy="1558389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89" name="Shape 722"/>
            <p:cNvSpPr/>
            <p:nvPr/>
          </p:nvSpPr>
          <p:spPr>
            <a:xfrm flipV="1">
              <a:off x="272236" y="437212"/>
              <a:ext cx="1275512" cy="750978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90" name="Shape 723"/>
            <p:cNvSpPr/>
            <p:nvPr/>
          </p:nvSpPr>
          <p:spPr>
            <a:xfrm>
              <a:off x="126011" y="1144210"/>
              <a:ext cx="1427897" cy="921896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91" name="Shape 724"/>
            <p:cNvSpPr/>
            <p:nvPr/>
          </p:nvSpPr>
          <p:spPr>
            <a:xfrm flipH="1" flipV="1">
              <a:off x="1978898" y="542602"/>
              <a:ext cx="1298623" cy="1513579"/>
            </a:xfrm>
            <a:prstGeom prst="line">
              <a:avLst/>
            </a:prstGeom>
            <a:noFill/>
            <a:ln w="38100" cap="sq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92" name="Shape 725"/>
            <p:cNvSpPr/>
            <p:nvPr/>
          </p:nvSpPr>
          <p:spPr>
            <a:xfrm>
              <a:off x="3346697" y="350487"/>
              <a:ext cx="1" cy="1558390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93" name="Shape 726"/>
            <p:cNvSpPr/>
            <p:nvPr/>
          </p:nvSpPr>
          <p:spPr>
            <a:xfrm>
              <a:off x="1938150" y="2209560"/>
              <a:ext cx="1142524" cy="1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94" name="Shape 727"/>
            <p:cNvSpPr/>
            <p:nvPr/>
          </p:nvSpPr>
          <p:spPr>
            <a:xfrm flipH="1" flipV="1">
              <a:off x="2087977" y="348253"/>
              <a:ext cx="1308348" cy="1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95" name="Shape 729"/>
            <p:cNvSpPr txBox="1"/>
            <p:nvPr/>
          </p:nvSpPr>
          <p:spPr>
            <a:xfrm rot="19680000">
              <a:off x="779086" y="428996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9</a:t>
              </a:r>
            </a:p>
          </p:txBody>
        </p:sp>
        <p:sp>
          <p:nvSpPr>
            <p:cNvPr id="1296" name="Shape 730"/>
            <p:cNvSpPr txBox="1"/>
            <p:nvPr/>
          </p:nvSpPr>
          <p:spPr>
            <a:xfrm rot="1800000">
              <a:off x="742895" y="1632778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8</a:t>
              </a:r>
            </a:p>
          </p:txBody>
        </p:sp>
        <p:sp>
          <p:nvSpPr>
            <p:cNvPr id="1297" name="Shape 731"/>
            <p:cNvSpPr txBox="1"/>
            <p:nvPr/>
          </p:nvSpPr>
          <p:spPr>
            <a:xfrm rot="3000000">
              <a:off x="2497114" y="911808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298" name="Shape 733"/>
            <p:cNvSpPr txBox="1"/>
            <p:nvPr/>
          </p:nvSpPr>
          <p:spPr>
            <a:xfrm>
              <a:off x="2364239" y="2220790"/>
              <a:ext cx="299100" cy="3829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6</a:t>
              </a:r>
            </a:p>
          </p:txBody>
        </p:sp>
        <p:sp>
          <p:nvSpPr>
            <p:cNvPr id="1299" name="Shape 746"/>
            <p:cNvSpPr txBox="1"/>
            <p:nvPr/>
          </p:nvSpPr>
          <p:spPr>
            <a:xfrm>
              <a:off x="2483064" y="0"/>
              <a:ext cx="299100" cy="3829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1300" name="Shape 750"/>
            <p:cNvSpPr txBox="1"/>
            <p:nvPr/>
          </p:nvSpPr>
          <p:spPr>
            <a:xfrm>
              <a:off x="3266054" y="998552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1301" name="Shape 751"/>
            <p:cNvSpPr/>
            <p:nvPr/>
          </p:nvSpPr>
          <p:spPr>
            <a:xfrm flipV="1">
              <a:off x="290863" y="558942"/>
              <a:ext cx="2874528" cy="73725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02" name="Shape 752"/>
            <p:cNvSpPr txBox="1"/>
            <p:nvPr/>
          </p:nvSpPr>
          <p:spPr>
            <a:xfrm rot="20580000">
              <a:off x="1052574" y="1049351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1303" name="圆形"/>
            <p:cNvSpPr/>
            <p:nvPr/>
          </p:nvSpPr>
          <p:spPr>
            <a:xfrm>
              <a:off x="0" y="957060"/>
              <a:ext cx="535183" cy="535184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04" name="Shape 720"/>
            <p:cNvSpPr txBox="1"/>
            <p:nvPr/>
          </p:nvSpPr>
          <p:spPr>
            <a:xfrm>
              <a:off x="128352" y="1045897"/>
              <a:ext cx="272717" cy="357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1305" name="圆形"/>
            <p:cNvSpPr/>
            <p:nvPr/>
          </p:nvSpPr>
          <p:spPr>
            <a:xfrm>
              <a:off x="1538223" y="1929062"/>
              <a:ext cx="535184" cy="535183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06" name="Shape 720"/>
            <p:cNvSpPr txBox="1"/>
            <p:nvPr/>
          </p:nvSpPr>
          <p:spPr>
            <a:xfrm>
              <a:off x="1641176" y="2017898"/>
              <a:ext cx="272717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8</a:t>
              </a:r>
            </a:p>
          </p:txBody>
        </p:sp>
        <p:sp>
          <p:nvSpPr>
            <p:cNvPr id="1307" name="圆形"/>
            <p:cNvSpPr/>
            <p:nvPr/>
          </p:nvSpPr>
          <p:spPr>
            <a:xfrm>
              <a:off x="3081170" y="1929062"/>
              <a:ext cx="535183" cy="535183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08" name="Shape 720"/>
            <p:cNvSpPr txBox="1"/>
            <p:nvPr/>
          </p:nvSpPr>
          <p:spPr>
            <a:xfrm>
              <a:off x="3209523" y="2017898"/>
              <a:ext cx="272717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1309" name="圆形"/>
            <p:cNvSpPr/>
            <p:nvPr/>
          </p:nvSpPr>
          <p:spPr>
            <a:xfrm>
              <a:off x="3081170" y="80112"/>
              <a:ext cx="535183" cy="535184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10" name="Shape 720"/>
            <p:cNvSpPr txBox="1"/>
            <p:nvPr/>
          </p:nvSpPr>
          <p:spPr>
            <a:xfrm>
              <a:off x="3209523" y="168948"/>
              <a:ext cx="272717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1311" name="圆形"/>
            <p:cNvSpPr/>
            <p:nvPr/>
          </p:nvSpPr>
          <p:spPr>
            <a:xfrm>
              <a:off x="1538223" y="80112"/>
              <a:ext cx="535184" cy="535184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12" name="Shape 720"/>
            <p:cNvSpPr txBox="1"/>
            <p:nvPr/>
          </p:nvSpPr>
          <p:spPr>
            <a:xfrm>
              <a:off x="1641176" y="168948"/>
              <a:ext cx="272717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6</a:t>
              </a:r>
            </a:p>
          </p:txBody>
        </p:sp>
        <p:sp>
          <p:nvSpPr>
            <p:cNvPr id="1313" name="Shape 750"/>
            <p:cNvSpPr txBox="1"/>
            <p:nvPr/>
          </p:nvSpPr>
          <p:spPr>
            <a:xfrm>
              <a:off x="1749131" y="1165239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</p:grpSp>
      <p:grpSp>
        <p:nvGrpSpPr>
          <p:cNvPr id="1341" name="成组"/>
          <p:cNvGrpSpPr/>
          <p:nvPr/>
        </p:nvGrpSpPr>
        <p:grpSpPr>
          <a:xfrm>
            <a:off x="9339673" y="4673703"/>
            <a:ext cx="3616354" cy="2603701"/>
            <a:chOff x="0" y="0"/>
            <a:chExt cx="3616352" cy="2603699"/>
          </a:xfrm>
        </p:grpSpPr>
        <p:sp>
          <p:nvSpPr>
            <p:cNvPr id="1315" name="Shape 725"/>
            <p:cNvSpPr/>
            <p:nvPr/>
          </p:nvSpPr>
          <p:spPr>
            <a:xfrm flipH="1">
              <a:off x="1804374" y="377475"/>
              <a:ext cx="1" cy="1558389"/>
            </a:xfrm>
            <a:prstGeom prst="line">
              <a:avLst/>
            </a:prstGeom>
            <a:noFill/>
            <a:ln w="38100" cap="sq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16" name="Shape 722"/>
            <p:cNvSpPr/>
            <p:nvPr/>
          </p:nvSpPr>
          <p:spPr>
            <a:xfrm flipV="1">
              <a:off x="272236" y="437212"/>
              <a:ext cx="1275512" cy="750978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17" name="Shape 723"/>
            <p:cNvSpPr/>
            <p:nvPr/>
          </p:nvSpPr>
          <p:spPr>
            <a:xfrm>
              <a:off x="126011" y="1144210"/>
              <a:ext cx="1427897" cy="921896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18" name="Shape 724"/>
            <p:cNvSpPr/>
            <p:nvPr/>
          </p:nvSpPr>
          <p:spPr>
            <a:xfrm flipH="1" flipV="1">
              <a:off x="1978898" y="542602"/>
              <a:ext cx="1298623" cy="1513579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19" name="Shape 725"/>
            <p:cNvSpPr/>
            <p:nvPr/>
          </p:nvSpPr>
          <p:spPr>
            <a:xfrm>
              <a:off x="3346697" y="350487"/>
              <a:ext cx="1" cy="1558390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20" name="Shape 726"/>
            <p:cNvSpPr/>
            <p:nvPr/>
          </p:nvSpPr>
          <p:spPr>
            <a:xfrm>
              <a:off x="1938150" y="2209560"/>
              <a:ext cx="1142524" cy="1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21" name="Shape 727"/>
            <p:cNvSpPr/>
            <p:nvPr/>
          </p:nvSpPr>
          <p:spPr>
            <a:xfrm flipH="1" flipV="1">
              <a:off x="2087977" y="348253"/>
              <a:ext cx="1308348" cy="1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22" name="Shape 729"/>
            <p:cNvSpPr txBox="1"/>
            <p:nvPr/>
          </p:nvSpPr>
          <p:spPr>
            <a:xfrm rot="19680000">
              <a:off x="779086" y="428996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9</a:t>
              </a:r>
            </a:p>
          </p:txBody>
        </p:sp>
        <p:sp>
          <p:nvSpPr>
            <p:cNvPr id="1323" name="Shape 730"/>
            <p:cNvSpPr txBox="1"/>
            <p:nvPr/>
          </p:nvSpPr>
          <p:spPr>
            <a:xfrm rot="1800000">
              <a:off x="742895" y="1632778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8</a:t>
              </a:r>
            </a:p>
          </p:txBody>
        </p:sp>
        <p:sp>
          <p:nvSpPr>
            <p:cNvPr id="1324" name="Shape 731"/>
            <p:cNvSpPr txBox="1"/>
            <p:nvPr/>
          </p:nvSpPr>
          <p:spPr>
            <a:xfrm rot="3000000">
              <a:off x="2497114" y="911808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325" name="Shape 733"/>
            <p:cNvSpPr txBox="1"/>
            <p:nvPr/>
          </p:nvSpPr>
          <p:spPr>
            <a:xfrm>
              <a:off x="2364239" y="2220790"/>
              <a:ext cx="299100" cy="3829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6</a:t>
              </a:r>
            </a:p>
          </p:txBody>
        </p:sp>
        <p:sp>
          <p:nvSpPr>
            <p:cNvPr id="1326" name="Shape 746"/>
            <p:cNvSpPr txBox="1"/>
            <p:nvPr/>
          </p:nvSpPr>
          <p:spPr>
            <a:xfrm>
              <a:off x="2483064" y="0"/>
              <a:ext cx="299100" cy="3829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1327" name="Shape 750"/>
            <p:cNvSpPr txBox="1"/>
            <p:nvPr/>
          </p:nvSpPr>
          <p:spPr>
            <a:xfrm>
              <a:off x="3266054" y="998552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1328" name="Shape 751"/>
            <p:cNvSpPr/>
            <p:nvPr/>
          </p:nvSpPr>
          <p:spPr>
            <a:xfrm flipV="1">
              <a:off x="290863" y="558942"/>
              <a:ext cx="2874528" cy="73725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29" name="Shape 752"/>
            <p:cNvSpPr txBox="1"/>
            <p:nvPr/>
          </p:nvSpPr>
          <p:spPr>
            <a:xfrm rot="20580000">
              <a:off x="1052574" y="1049351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1330" name="圆形"/>
            <p:cNvSpPr/>
            <p:nvPr/>
          </p:nvSpPr>
          <p:spPr>
            <a:xfrm>
              <a:off x="0" y="957060"/>
              <a:ext cx="535183" cy="535184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31" name="Shape 720"/>
            <p:cNvSpPr txBox="1"/>
            <p:nvPr/>
          </p:nvSpPr>
          <p:spPr>
            <a:xfrm>
              <a:off x="128352" y="1045897"/>
              <a:ext cx="272717" cy="357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1332" name="圆形"/>
            <p:cNvSpPr/>
            <p:nvPr/>
          </p:nvSpPr>
          <p:spPr>
            <a:xfrm>
              <a:off x="1538223" y="1929062"/>
              <a:ext cx="535184" cy="535183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33" name="Shape 720"/>
            <p:cNvSpPr txBox="1"/>
            <p:nvPr/>
          </p:nvSpPr>
          <p:spPr>
            <a:xfrm>
              <a:off x="1641176" y="2017898"/>
              <a:ext cx="272717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7</a:t>
              </a:r>
            </a:p>
          </p:txBody>
        </p:sp>
        <p:sp>
          <p:nvSpPr>
            <p:cNvPr id="1334" name="圆形"/>
            <p:cNvSpPr/>
            <p:nvPr/>
          </p:nvSpPr>
          <p:spPr>
            <a:xfrm>
              <a:off x="3081170" y="1929062"/>
              <a:ext cx="535183" cy="535183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35" name="Shape 720"/>
            <p:cNvSpPr txBox="1"/>
            <p:nvPr/>
          </p:nvSpPr>
          <p:spPr>
            <a:xfrm>
              <a:off x="3209523" y="2017898"/>
              <a:ext cx="272717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1336" name="圆形"/>
            <p:cNvSpPr/>
            <p:nvPr/>
          </p:nvSpPr>
          <p:spPr>
            <a:xfrm>
              <a:off x="3081170" y="80112"/>
              <a:ext cx="535183" cy="535184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37" name="Shape 720"/>
            <p:cNvSpPr txBox="1"/>
            <p:nvPr/>
          </p:nvSpPr>
          <p:spPr>
            <a:xfrm>
              <a:off x="3209523" y="168948"/>
              <a:ext cx="272717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1338" name="圆形"/>
            <p:cNvSpPr/>
            <p:nvPr/>
          </p:nvSpPr>
          <p:spPr>
            <a:xfrm>
              <a:off x="1538223" y="80112"/>
              <a:ext cx="535184" cy="535184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39" name="Shape 720"/>
            <p:cNvSpPr txBox="1"/>
            <p:nvPr/>
          </p:nvSpPr>
          <p:spPr>
            <a:xfrm>
              <a:off x="1641176" y="168948"/>
              <a:ext cx="272717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6</a:t>
              </a:r>
            </a:p>
          </p:txBody>
        </p:sp>
        <p:sp>
          <p:nvSpPr>
            <p:cNvPr id="1340" name="Shape 750"/>
            <p:cNvSpPr txBox="1"/>
            <p:nvPr/>
          </p:nvSpPr>
          <p:spPr>
            <a:xfrm>
              <a:off x="1749131" y="1165239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</p:grpSp>
      <p:grpSp>
        <p:nvGrpSpPr>
          <p:cNvPr id="1373" name="成组"/>
          <p:cNvGrpSpPr/>
          <p:nvPr/>
        </p:nvGrpSpPr>
        <p:grpSpPr>
          <a:xfrm>
            <a:off x="100257" y="1349722"/>
            <a:ext cx="3616353" cy="2603701"/>
            <a:chOff x="0" y="0"/>
            <a:chExt cx="3616352" cy="2603700"/>
          </a:xfrm>
        </p:grpSpPr>
        <p:sp>
          <p:nvSpPr>
            <p:cNvPr id="1342" name="Shape 725"/>
            <p:cNvSpPr/>
            <p:nvPr/>
          </p:nvSpPr>
          <p:spPr>
            <a:xfrm flipH="1">
              <a:off x="1804373" y="377475"/>
              <a:ext cx="1" cy="1558389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43" name="Shape 722"/>
            <p:cNvSpPr/>
            <p:nvPr/>
          </p:nvSpPr>
          <p:spPr>
            <a:xfrm flipV="1">
              <a:off x="272235" y="437212"/>
              <a:ext cx="1275512" cy="750978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44" name="Shape 723"/>
            <p:cNvSpPr/>
            <p:nvPr/>
          </p:nvSpPr>
          <p:spPr>
            <a:xfrm>
              <a:off x="126011" y="1144210"/>
              <a:ext cx="1427897" cy="921896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45" name="Shape 724"/>
            <p:cNvSpPr/>
            <p:nvPr/>
          </p:nvSpPr>
          <p:spPr>
            <a:xfrm flipH="1" flipV="1">
              <a:off x="1978897" y="542602"/>
              <a:ext cx="1298623" cy="1513579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46" name="Shape 725"/>
            <p:cNvSpPr/>
            <p:nvPr/>
          </p:nvSpPr>
          <p:spPr>
            <a:xfrm>
              <a:off x="3346697" y="350487"/>
              <a:ext cx="1" cy="1558390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47" name="Shape 726"/>
            <p:cNvSpPr/>
            <p:nvPr/>
          </p:nvSpPr>
          <p:spPr>
            <a:xfrm>
              <a:off x="1938150" y="2209560"/>
              <a:ext cx="1142523" cy="1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48" name="Shape 727"/>
            <p:cNvSpPr/>
            <p:nvPr/>
          </p:nvSpPr>
          <p:spPr>
            <a:xfrm flipH="1" flipV="1">
              <a:off x="2087977" y="348253"/>
              <a:ext cx="1308348" cy="1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49" name="Shape 729"/>
            <p:cNvSpPr txBox="1"/>
            <p:nvPr/>
          </p:nvSpPr>
          <p:spPr>
            <a:xfrm rot="19680000">
              <a:off x="779085" y="428996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9</a:t>
              </a:r>
            </a:p>
          </p:txBody>
        </p:sp>
        <p:sp>
          <p:nvSpPr>
            <p:cNvPr id="1350" name="Shape 730"/>
            <p:cNvSpPr txBox="1"/>
            <p:nvPr/>
          </p:nvSpPr>
          <p:spPr>
            <a:xfrm rot="1800000">
              <a:off x="742895" y="1632778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8</a:t>
              </a:r>
            </a:p>
          </p:txBody>
        </p:sp>
        <p:sp>
          <p:nvSpPr>
            <p:cNvPr id="1351" name="Shape 731"/>
            <p:cNvSpPr txBox="1"/>
            <p:nvPr/>
          </p:nvSpPr>
          <p:spPr>
            <a:xfrm rot="3000000">
              <a:off x="2497113" y="911808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352" name="Shape 733"/>
            <p:cNvSpPr txBox="1"/>
            <p:nvPr/>
          </p:nvSpPr>
          <p:spPr>
            <a:xfrm>
              <a:off x="2364238" y="2220790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6</a:t>
              </a:r>
            </a:p>
          </p:txBody>
        </p:sp>
        <p:sp>
          <p:nvSpPr>
            <p:cNvPr id="1353" name="Shape 746"/>
            <p:cNvSpPr txBox="1"/>
            <p:nvPr/>
          </p:nvSpPr>
          <p:spPr>
            <a:xfrm>
              <a:off x="2483063" y="0"/>
              <a:ext cx="299100" cy="3829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1354" name="Shape 750"/>
            <p:cNvSpPr txBox="1"/>
            <p:nvPr/>
          </p:nvSpPr>
          <p:spPr>
            <a:xfrm>
              <a:off x="3266054" y="998552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1355" name="Shape 751"/>
            <p:cNvSpPr/>
            <p:nvPr/>
          </p:nvSpPr>
          <p:spPr>
            <a:xfrm flipV="1">
              <a:off x="290863" y="558943"/>
              <a:ext cx="2874527" cy="737251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56" name="Shape 752"/>
            <p:cNvSpPr txBox="1"/>
            <p:nvPr/>
          </p:nvSpPr>
          <p:spPr>
            <a:xfrm rot="20580000">
              <a:off x="1052574" y="1049352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grpSp>
          <p:nvGrpSpPr>
            <p:cNvPr id="1359" name="成组"/>
            <p:cNvGrpSpPr/>
            <p:nvPr/>
          </p:nvGrpSpPr>
          <p:grpSpPr>
            <a:xfrm>
              <a:off x="0" y="957060"/>
              <a:ext cx="535183" cy="535184"/>
              <a:chOff x="0" y="0"/>
              <a:chExt cx="535182" cy="535182"/>
            </a:xfrm>
          </p:grpSpPr>
          <p:sp>
            <p:nvSpPr>
              <p:cNvPr id="1357" name="圆形"/>
              <p:cNvSpPr/>
              <p:nvPr/>
            </p:nvSpPr>
            <p:spPr>
              <a:xfrm>
                <a:off x="0" y="0"/>
                <a:ext cx="535183" cy="535183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358" name="Shape 720"/>
              <p:cNvSpPr txBox="1"/>
              <p:nvPr/>
            </p:nvSpPr>
            <p:spPr>
              <a:xfrm>
                <a:off x="86019" y="55054"/>
                <a:ext cx="357383" cy="42507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/>
              <a:p>
                <a:pPr marR="56816" indent="56816" algn="ctr" defTabSz="1295400">
                  <a:defRPr sz="2000">
                    <a:uFill>
                      <a:solidFill>
                        <a:srgbClr val="800000"/>
                      </a:solidFill>
                    </a:uFill>
                  </a:defRPr>
                </a:pPr>
                <a:r>
                  <a:t>v</a:t>
                </a:r>
                <a:r>
                  <a:rPr baseline="-32600"/>
                  <a:t>0</a:t>
                </a:r>
              </a:p>
            </p:txBody>
          </p:sp>
        </p:grpSp>
        <p:grpSp>
          <p:nvGrpSpPr>
            <p:cNvPr id="1362" name="成组"/>
            <p:cNvGrpSpPr/>
            <p:nvPr/>
          </p:nvGrpSpPr>
          <p:grpSpPr>
            <a:xfrm>
              <a:off x="1538223" y="1929062"/>
              <a:ext cx="535183" cy="535184"/>
              <a:chOff x="0" y="0"/>
              <a:chExt cx="535182" cy="535182"/>
            </a:xfrm>
          </p:grpSpPr>
          <p:sp>
            <p:nvSpPr>
              <p:cNvPr id="1360" name="圆形"/>
              <p:cNvSpPr/>
              <p:nvPr/>
            </p:nvSpPr>
            <p:spPr>
              <a:xfrm>
                <a:off x="0" y="0"/>
                <a:ext cx="535183" cy="535183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361" name="Shape 720"/>
              <p:cNvSpPr txBox="1"/>
              <p:nvPr/>
            </p:nvSpPr>
            <p:spPr>
              <a:xfrm>
                <a:off x="86019" y="55054"/>
                <a:ext cx="357383" cy="42507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/>
              <a:p>
                <a:pPr marR="56816" indent="56816" algn="ctr" defTabSz="1295400">
                  <a:defRPr sz="2000">
                    <a:uFill>
                      <a:solidFill>
                        <a:srgbClr val="800000"/>
                      </a:solidFill>
                    </a:uFill>
                  </a:defRPr>
                </a:pPr>
                <a:r>
                  <a:t>v</a:t>
                </a:r>
                <a:r>
                  <a:rPr baseline="-32600"/>
                  <a:t>1</a:t>
                </a:r>
              </a:p>
            </p:txBody>
          </p:sp>
        </p:grpSp>
        <p:grpSp>
          <p:nvGrpSpPr>
            <p:cNvPr id="1365" name="成组"/>
            <p:cNvGrpSpPr/>
            <p:nvPr/>
          </p:nvGrpSpPr>
          <p:grpSpPr>
            <a:xfrm>
              <a:off x="3081169" y="1929062"/>
              <a:ext cx="535184" cy="535184"/>
              <a:chOff x="0" y="0"/>
              <a:chExt cx="535182" cy="535182"/>
            </a:xfrm>
          </p:grpSpPr>
          <p:sp>
            <p:nvSpPr>
              <p:cNvPr id="1363" name="圆形"/>
              <p:cNvSpPr/>
              <p:nvPr/>
            </p:nvSpPr>
            <p:spPr>
              <a:xfrm>
                <a:off x="0" y="0"/>
                <a:ext cx="535183" cy="535183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364" name="Shape 720"/>
              <p:cNvSpPr txBox="1"/>
              <p:nvPr/>
            </p:nvSpPr>
            <p:spPr>
              <a:xfrm>
                <a:off x="86019" y="55054"/>
                <a:ext cx="357383" cy="42507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/>
              <a:p>
                <a:pPr marR="56816" indent="56816" algn="ctr" defTabSz="1295400">
                  <a:defRPr sz="2000">
                    <a:uFill>
                      <a:solidFill>
                        <a:srgbClr val="800000"/>
                      </a:solidFill>
                    </a:uFill>
                  </a:defRPr>
                </a:pPr>
                <a:r>
                  <a:t>v</a:t>
                </a:r>
                <a:r>
                  <a:rPr baseline="-32600"/>
                  <a:t>2</a:t>
                </a:r>
              </a:p>
            </p:txBody>
          </p:sp>
        </p:grpSp>
        <p:grpSp>
          <p:nvGrpSpPr>
            <p:cNvPr id="1368" name="成组"/>
            <p:cNvGrpSpPr/>
            <p:nvPr/>
          </p:nvGrpSpPr>
          <p:grpSpPr>
            <a:xfrm>
              <a:off x="3081169" y="80112"/>
              <a:ext cx="535184" cy="535184"/>
              <a:chOff x="0" y="0"/>
              <a:chExt cx="535182" cy="535182"/>
            </a:xfrm>
          </p:grpSpPr>
          <p:sp>
            <p:nvSpPr>
              <p:cNvPr id="1366" name="圆形"/>
              <p:cNvSpPr/>
              <p:nvPr/>
            </p:nvSpPr>
            <p:spPr>
              <a:xfrm>
                <a:off x="0" y="0"/>
                <a:ext cx="535183" cy="535183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367" name="Shape 720"/>
              <p:cNvSpPr txBox="1"/>
              <p:nvPr/>
            </p:nvSpPr>
            <p:spPr>
              <a:xfrm>
                <a:off x="86019" y="55054"/>
                <a:ext cx="357383" cy="42507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/>
              <a:p>
                <a:pPr marR="56816" indent="56816" algn="ctr" defTabSz="1295400">
                  <a:defRPr sz="2000">
                    <a:uFill>
                      <a:solidFill>
                        <a:srgbClr val="800000"/>
                      </a:solidFill>
                    </a:uFill>
                  </a:defRPr>
                </a:pPr>
                <a:r>
                  <a:t>v</a:t>
                </a:r>
                <a:r>
                  <a:rPr baseline="-32600"/>
                  <a:t>3</a:t>
                </a:r>
              </a:p>
            </p:txBody>
          </p:sp>
        </p:grpSp>
        <p:grpSp>
          <p:nvGrpSpPr>
            <p:cNvPr id="1371" name="成组"/>
            <p:cNvGrpSpPr/>
            <p:nvPr/>
          </p:nvGrpSpPr>
          <p:grpSpPr>
            <a:xfrm>
              <a:off x="1538223" y="80112"/>
              <a:ext cx="535183" cy="535184"/>
              <a:chOff x="0" y="0"/>
              <a:chExt cx="535182" cy="535182"/>
            </a:xfrm>
          </p:grpSpPr>
          <p:sp>
            <p:nvSpPr>
              <p:cNvPr id="1369" name="圆形"/>
              <p:cNvSpPr/>
              <p:nvPr/>
            </p:nvSpPr>
            <p:spPr>
              <a:xfrm>
                <a:off x="0" y="0"/>
                <a:ext cx="535183" cy="535183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370" name="Shape 720"/>
              <p:cNvSpPr txBox="1"/>
              <p:nvPr/>
            </p:nvSpPr>
            <p:spPr>
              <a:xfrm>
                <a:off x="86019" y="55054"/>
                <a:ext cx="357383" cy="42507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/>
              <a:p>
                <a:pPr marR="56816" indent="56816" algn="ctr" defTabSz="1295400">
                  <a:defRPr sz="2000">
                    <a:uFill>
                      <a:solidFill>
                        <a:srgbClr val="800000"/>
                      </a:solidFill>
                    </a:uFill>
                  </a:defRPr>
                </a:pPr>
                <a:r>
                  <a:t>v</a:t>
                </a:r>
                <a:r>
                  <a:rPr baseline="-32600"/>
                  <a:t>4</a:t>
                </a:r>
              </a:p>
            </p:txBody>
          </p:sp>
        </p:grpSp>
        <p:sp>
          <p:nvSpPr>
            <p:cNvPr id="1372" name="Shape 750"/>
            <p:cNvSpPr txBox="1"/>
            <p:nvPr/>
          </p:nvSpPr>
          <p:spPr>
            <a:xfrm>
              <a:off x="1749130" y="1165239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defRPr sz="2000"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3" name="成组"/>
          <p:cNvGrpSpPr/>
          <p:nvPr/>
        </p:nvGrpSpPr>
        <p:grpSpPr>
          <a:xfrm>
            <a:off x="267571" y="1832020"/>
            <a:ext cx="4055140" cy="4000953"/>
            <a:chOff x="0" y="191454"/>
            <a:chExt cx="4055138" cy="4000952"/>
          </a:xfrm>
        </p:grpSpPr>
        <p:grpSp>
          <p:nvGrpSpPr>
            <p:cNvPr id="1390" name="成组"/>
            <p:cNvGrpSpPr/>
            <p:nvPr/>
          </p:nvGrpSpPr>
          <p:grpSpPr>
            <a:xfrm>
              <a:off x="0" y="395107"/>
              <a:ext cx="4055139" cy="1601189"/>
              <a:chOff x="0" y="0"/>
              <a:chExt cx="4055138" cy="1601188"/>
            </a:xfrm>
          </p:grpSpPr>
          <p:grpSp>
            <p:nvGrpSpPr>
              <p:cNvPr id="1377" name="成组"/>
              <p:cNvGrpSpPr/>
              <p:nvPr/>
            </p:nvGrpSpPr>
            <p:grpSpPr>
              <a:xfrm>
                <a:off x="0" y="0"/>
                <a:ext cx="1451639" cy="1601189"/>
                <a:chOff x="0" y="0"/>
                <a:chExt cx="1451638" cy="1601188"/>
              </a:xfrm>
            </p:grpSpPr>
            <p:sp>
              <p:nvSpPr>
                <p:cNvPr id="1375" name="正方形"/>
                <p:cNvSpPr/>
                <p:nvPr/>
              </p:nvSpPr>
              <p:spPr>
                <a:xfrm>
                  <a:off x="0" y="0"/>
                  <a:ext cx="662378" cy="662378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solidFill>
                        <a:schemeClr val="accent1">
                          <a:satOff val="-36923"/>
                          <a:lumOff val="15441"/>
                        </a:schemeClr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376" name="0"/>
                <p:cNvSpPr/>
                <p:nvPr/>
              </p:nvSpPr>
              <p:spPr>
                <a:xfrm>
                  <a:off x="181638" y="331188"/>
                  <a:ext cx="1270001" cy="1270001"/>
                </a:xfrm>
                <a:prstGeom prst="line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2000"/>
                  </a:lvl1pPr>
                </a:lstStyle>
                <a:p>
                  <a:pPr/>
                  <a:r>
                    <a:t>0</a:t>
                  </a:r>
                </a:p>
              </p:txBody>
            </p:sp>
          </p:grpSp>
          <p:grpSp>
            <p:nvGrpSpPr>
              <p:cNvPr id="1380" name="成组"/>
              <p:cNvGrpSpPr/>
              <p:nvPr/>
            </p:nvGrpSpPr>
            <p:grpSpPr>
              <a:xfrm>
                <a:off x="660399" y="0"/>
                <a:ext cx="1426240" cy="1601189"/>
                <a:chOff x="0" y="0"/>
                <a:chExt cx="1426238" cy="1601188"/>
              </a:xfrm>
            </p:grpSpPr>
            <p:sp>
              <p:nvSpPr>
                <p:cNvPr id="1378" name="正方形"/>
                <p:cNvSpPr/>
                <p:nvPr/>
              </p:nvSpPr>
              <p:spPr>
                <a:xfrm>
                  <a:off x="0" y="0"/>
                  <a:ext cx="662378" cy="662378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solidFill>
                        <a:schemeClr val="accent1">
                          <a:satOff val="-36923"/>
                          <a:lumOff val="15441"/>
                        </a:schemeClr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379" name="∞"/>
                <p:cNvSpPr/>
                <p:nvPr/>
              </p:nvSpPr>
              <p:spPr>
                <a:xfrm>
                  <a:off x="156238" y="331188"/>
                  <a:ext cx="1270001" cy="1270001"/>
                </a:xfrm>
                <a:prstGeom prst="line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2000"/>
                  </a:lvl1pPr>
                </a:lstStyle>
                <a:p>
                  <a:pPr/>
                  <a:r>
                    <a:t>∞</a:t>
                  </a:r>
                </a:p>
              </p:txBody>
            </p:sp>
          </p:grpSp>
          <p:grpSp>
            <p:nvGrpSpPr>
              <p:cNvPr id="1383" name="成组"/>
              <p:cNvGrpSpPr/>
              <p:nvPr/>
            </p:nvGrpSpPr>
            <p:grpSpPr>
              <a:xfrm>
                <a:off x="1320799" y="0"/>
                <a:ext cx="1426240" cy="1601189"/>
                <a:chOff x="0" y="0"/>
                <a:chExt cx="1426238" cy="1601188"/>
              </a:xfrm>
            </p:grpSpPr>
            <p:sp>
              <p:nvSpPr>
                <p:cNvPr id="1381" name="正方形"/>
                <p:cNvSpPr/>
                <p:nvPr/>
              </p:nvSpPr>
              <p:spPr>
                <a:xfrm>
                  <a:off x="0" y="0"/>
                  <a:ext cx="662378" cy="662378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solidFill>
                        <a:schemeClr val="accent1">
                          <a:satOff val="-36923"/>
                          <a:lumOff val="15441"/>
                        </a:schemeClr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382" name="∞"/>
                <p:cNvSpPr/>
                <p:nvPr/>
              </p:nvSpPr>
              <p:spPr>
                <a:xfrm>
                  <a:off x="156238" y="331188"/>
                  <a:ext cx="1270001" cy="1270001"/>
                </a:xfrm>
                <a:prstGeom prst="line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2000"/>
                  </a:lvl1pPr>
                </a:lstStyle>
                <a:p>
                  <a:pPr/>
                  <a:r>
                    <a:t>∞</a:t>
                  </a:r>
                </a:p>
              </p:txBody>
            </p:sp>
          </p:grpSp>
          <p:grpSp>
            <p:nvGrpSpPr>
              <p:cNvPr id="1386" name="成组"/>
              <p:cNvGrpSpPr/>
              <p:nvPr/>
            </p:nvGrpSpPr>
            <p:grpSpPr>
              <a:xfrm>
                <a:off x="1981200" y="0"/>
                <a:ext cx="1400839" cy="1601189"/>
                <a:chOff x="0" y="0"/>
                <a:chExt cx="1400838" cy="1601188"/>
              </a:xfrm>
            </p:grpSpPr>
            <p:sp>
              <p:nvSpPr>
                <p:cNvPr id="1384" name="正方形"/>
                <p:cNvSpPr/>
                <p:nvPr/>
              </p:nvSpPr>
              <p:spPr>
                <a:xfrm>
                  <a:off x="0" y="0"/>
                  <a:ext cx="662378" cy="662378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solidFill>
                        <a:schemeClr val="accent1">
                          <a:satOff val="-36923"/>
                          <a:lumOff val="15441"/>
                        </a:schemeClr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385" name="∞"/>
                <p:cNvSpPr/>
                <p:nvPr/>
              </p:nvSpPr>
              <p:spPr>
                <a:xfrm>
                  <a:off x="130838" y="331188"/>
                  <a:ext cx="1270001" cy="1270001"/>
                </a:xfrm>
                <a:prstGeom prst="line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2000"/>
                  </a:lvl1pPr>
                </a:lstStyle>
                <a:p>
                  <a:pPr/>
                  <a:r>
                    <a:t>∞</a:t>
                  </a:r>
                </a:p>
              </p:txBody>
            </p:sp>
          </p:grpSp>
          <p:grpSp>
            <p:nvGrpSpPr>
              <p:cNvPr id="1389" name="成组"/>
              <p:cNvGrpSpPr/>
              <p:nvPr/>
            </p:nvGrpSpPr>
            <p:grpSpPr>
              <a:xfrm>
                <a:off x="2641600" y="0"/>
                <a:ext cx="1413539" cy="1601189"/>
                <a:chOff x="0" y="0"/>
                <a:chExt cx="1413538" cy="1601188"/>
              </a:xfrm>
            </p:grpSpPr>
            <p:sp>
              <p:nvSpPr>
                <p:cNvPr id="1387" name="正方形"/>
                <p:cNvSpPr/>
                <p:nvPr/>
              </p:nvSpPr>
              <p:spPr>
                <a:xfrm>
                  <a:off x="0" y="0"/>
                  <a:ext cx="662378" cy="662378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solidFill>
                        <a:schemeClr val="accent1">
                          <a:satOff val="-36923"/>
                          <a:lumOff val="15441"/>
                        </a:schemeClr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388" name="∞"/>
                <p:cNvSpPr/>
                <p:nvPr/>
              </p:nvSpPr>
              <p:spPr>
                <a:xfrm>
                  <a:off x="143538" y="331188"/>
                  <a:ext cx="1270001" cy="1270001"/>
                </a:xfrm>
                <a:prstGeom prst="line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2000"/>
                  </a:lvl1pPr>
                </a:lstStyle>
                <a:p>
                  <a:pPr/>
                  <a:r>
                    <a:t>∞</a:t>
                  </a:r>
                </a:p>
              </p:txBody>
            </p:sp>
          </p:grpSp>
        </p:grpSp>
        <p:sp>
          <p:nvSpPr>
            <p:cNvPr id="1391" name="v0"/>
            <p:cNvSpPr/>
            <p:nvPr/>
          </p:nvSpPr>
          <p:spPr>
            <a:xfrm>
              <a:off x="166420" y="191454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2000"/>
              </a:pPr>
              <a:r>
                <a:t>v</a:t>
              </a:r>
              <a:r>
                <a:rPr baseline="-5999"/>
                <a:t>0</a:t>
              </a:r>
            </a:p>
          </p:txBody>
        </p:sp>
        <p:sp>
          <p:nvSpPr>
            <p:cNvPr id="1392" name="v1"/>
            <p:cNvSpPr/>
            <p:nvPr/>
          </p:nvSpPr>
          <p:spPr>
            <a:xfrm>
              <a:off x="808148" y="191454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2000"/>
              </a:pPr>
              <a:r>
                <a:t>v</a:t>
              </a:r>
              <a:r>
                <a:rPr baseline="-5999"/>
                <a:t>1</a:t>
              </a:r>
            </a:p>
          </p:txBody>
        </p:sp>
        <p:sp>
          <p:nvSpPr>
            <p:cNvPr id="1393" name="v2"/>
            <p:cNvSpPr/>
            <p:nvPr/>
          </p:nvSpPr>
          <p:spPr>
            <a:xfrm>
              <a:off x="1449877" y="191454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2000"/>
              </a:pPr>
              <a:r>
                <a:t>v</a:t>
              </a:r>
              <a:r>
                <a:rPr baseline="-5999"/>
                <a:t>2</a:t>
              </a:r>
            </a:p>
          </p:txBody>
        </p:sp>
        <p:sp>
          <p:nvSpPr>
            <p:cNvPr id="1394" name="v3"/>
            <p:cNvSpPr/>
            <p:nvPr/>
          </p:nvSpPr>
          <p:spPr>
            <a:xfrm>
              <a:off x="2135677" y="191454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2000"/>
              </a:pPr>
              <a:r>
                <a:t>v</a:t>
              </a:r>
              <a:r>
                <a:rPr baseline="-5999"/>
                <a:t>3</a:t>
              </a:r>
            </a:p>
          </p:txBody>
        </p:sp>
        <p:sp>
          <p:nvSpPr>
            <p:cNvPr id="1395" name="v4"/>
            <p:cNvSpPr/>
            <p:nvPr/>
          </p:nvSpPr>
          <p:spPr>
            <a:xfrm>
              <a:off x="2770677" y="191454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2000"/>
              </a:pPr>
              <a:r>
                <a:t>v</a:t>
              </a:r>
              <a:r>
                <a:rPr baseline="-5999"/>
                <a:t>4</a:t>
              </a:r>
            </a:p>
          </p:txBody>
        </p:sp>
        <p:sp>
          <p:nvSpPr>
            <p:cNvPr id="1396" name="d[0]"/>
            <p:cNvSpPr/>
            <p:nvPr/>
          </p:nvSpPr>
          <p:spPr>
            <a:xfrm>
              <a:off x="26720" y="1258254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d[0]</a:t>
              </a:r>
            </a:p>
          </p:txBody>
        </p:sp>
        <p:sp>
          <p:nvSpPr>
            <p:cNvPr id="1397" name="d[1]"/>
            <p:cNvSpPr/>
            <p:nvPr/>
          </p:nvSpPr>
          <p:spPr>
            <a:xfrm>
              <a:off x="693848" y="1258254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d[1]</a:t>
              </a:r>
            </a:p>
          </p:txBody>
        </p:sp>
        <p:sp>
          <p:nvSpPr>
            <p:cNvPr id="1398" name="d[2]"/>
            <p:cNvSpPr/>
            <p:nvPr/>
          </p:nvSpPr>
          <p:spPr>
            <a:xfrm>
              <a:off x="1348277" y="1258254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d[2]</a:t>
              </a:r>
            </a:p>
          </p:txBody>
        </p:sp>
        <p:sp>
          <p:nvSpPr>
            <p:cNvPr id="1399" name="d[3]"/>
            <p:cNvSpPr/>
            <p:nvPr/>
          </p:nvSpPr>
          <p:spPr>
            <a:xfrm>
              <a:off x="2021377" y="1258254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d[3]</a:t>
              </a:r>
            </a:p>
          </p:txBody>
        </p:sp>
        <p:sp>
          <p:nvSpPr>
            <p:cNvPr id="1400" name="d[4]"/>
            <p:cNvSpPr/>
            <p:nvPr/>
          </p:nvSpPr>
          <p:spPr>
            <a:xfrm>
              <a:off x="2656377" y="1258254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d[4]</a:t>
              </a:r>
            </a:p>
          </p:txBody>
        </p:sp>
        <p:grpSp>
          <p:nvGrpSpPr>
            <p:cNvPr id="1416" name="成组"/>
            <p:cNvGrpSpPr/>
            <p:nvPr/>
          </p:nvGrpSpPr>
          <p:grpSpPr>
            <a:xfrm>
              <a:off x="0" y="1538107"/>
              <a:ext cx="4055139" cy="1601189"/>
              <a:chOff x="0" y="0"/>
              <a:chExt cx="4055138" cy="1601188"/>
            </a:xfrm>
          </p:grpSpPr>
          <p:grpSp>
            <p:nvGrpSpPr>
              <p:cNvPr id="1403" name="成组"/>
              <p:cNvGrpSpPr/>
              <p:nvPr/>
            </p:nvGrpSpPr>
            <p:grpSpPr>
              <a:xfrm>
                <a:off x="0" y="0"/>
                <a:ext cx="1451639" cy="1601189"/>
                <a:chOff x="0" y="0"/>
                <a:chExt cx="1451638" cy="1601188"/>
              </a:xfrm>
            </p:grpSpPr>
            <p:sp>
              <p:nvSpPr>
                <p:cNvPr id="1401" name="正方形"/>
                <p:cNvSpPr/>
                <p:nvPr/>
              </p:nvSpPr>
              <p:spPr>
                <a:xfrm>
                  <a:off x="0" y="0"/>
                  <a:ext cx="662378" cy="662378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solidFill>
                        <a:schemeClr val="accent1">
                          <a:satOff val="-36923"/>
                          <a:lumOff val="15441"/>
                        </a:schemeClr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402" name="-1"/>
                <p:cNvSpPr/>
                <p:nvPr/>
              </p:nvSpPr>
              <p:spPr>
                <a:xfrm>
                  <a:off x="181638" y="331188"/>
                  <a:ext cx="1270001" cy="1270001"/>
                </a:xfrm>
                <a:prstGeom prst="line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2000"/>
                  </a:lvl1pPr>
                </a:lstStyle>
                <a:p>
                  <a:pPr/>
                  <a:r>
                    <a:t>-1</a:t>
                  </a:r>
                </a:p>
              </p:txBody>
            </p:sp>
          </p:grpSp>
          <p:grpSp>
            <p:nvGrpSpPr>
              <p:cNvPr id="1406" name="成组"/>
              <p:cNvGrpSpPr/>
              <p:nvPr/>
            </p:nvGrpSpPr>
            <p:grpSpPr>
              <a:xfrm>
                <a:off x="660399" y="0"/>
                <a:ext cx="1426240" cy="1601189"/>
                <a:chOff x="0" y="0"/>
                <a:chExt cx="1426238" cy="1601188"/>
              </a:xfrm>
            </p:grpSpPr>
            <p:sp>
              <p:nvSpPr>
                <p:cNvPr id="1404" name="正方形"/>
                <p:cNvSpPr/>
                <p:nvPr/>
              </p:nvSpPr>
              <p:spPr>
                <a:xfrm>
                  <a:off x="0" y="0"/>
                  <a:ext cx="662378" cy="662378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solidFill>
                        <a:schemeClr val="accent1">
                          <a:satOff val="-36923"/>
                          <a:lumOff val="15441"/>
                        </a:schemeClr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405" name="-1"/>
                <p:cNvSpPr/>
                <p:nvPr/>
              </p:nvSpPr>
              <p:spPr>
                <a:xfrm>
                  <a:off x="156238" y="331188"/>
                  <a:ext cx="1270001" cy="1270001"/>
                </a:xfrm>
                <a:prstGeom prst="line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2000"/>
                  </a:lvl1pPr>
                </a:lstStyle>
                <a:p>
                  <a:pPr/>
                  <a:r>
                    <a:t>-1</a:t>
                  </a:r>
                </a:p>
              </p:txBody>
            </p:sp>
          </p:grpSp>
          <p:grpSp>
            <p:nvGrpSpPr>
              <p:cNvPr id="1409" name="成组"/>
              <p:cNvGrpSpPr/>
              <p:nvPr/>
            </p:nvGrpSpPr>
            <p:grpSpPr>
              <a:xfrm>
                <a:off x="1320799" y="0"/>
                <a:ext cx="1426240" cy="1601189"/>
                <a:chOff x="0" y="0"/>
                <a:chExt cx="1426238" cy="1601188"/>
              </a:xfrm>
            </p:grpSpPr>
            <p:sp>
              <p:nvSpPr>
                <p:cNvPr id="1407" name="正方形"/>
                <p:cNvSpPr/>
                <p:nvPr/>
              </p:nvSpPr>
              <p:spPr>
                <a:xfrm>
                  <a:off x="0" y="0"/>
                  <a:ext cx="662378" cy="662378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solidFill>
                        <a:schemeClr val="accent1">
                          <a:satOff val="-36923"/>
                          <a:lumOff val="15441"/>
                        </a:schemeClr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408" name="-1"/>
                <p:cNvSpPr/>
                <p:nvPr/>
              </p:nvSpPr>
              <p:spPr>
                <a:xfrm>
                  <a:off x="156238" y="331188"/>
                  <a:ext cx="1270001" cy="1270001"/>
                </a:xfrm>
                <a:prstGeom prst="line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2000"/>
                  </a:lvl1pPr>
                </a:lstStyle>
                <a:p>
                  <a:pPr/>
                  <a:r>
                    <a:t>-1</a:t>
                  </a:r>
                </a:p>
              </p:txBody>
            </p:sp>
          </p:grpSp>
          <p:grpSp>
            <p:nvGrpSpPr>
              <p:cNvPr id="1412" name="成组"/>
              <p:cNvGrpSpPr/>
              <p:nvPr/>
            </p:nvGrpSpPr>
            <p:grpSpPr>
              <a:xfrm>
                <a:off x="1981200" y="0"/>
                <a:ext cx="1400839" cy="1601189"/>
                <a:chOff x="0" y="0"/>
                <a:chExt cx="1400838" cy="1601188"/>
              </a:xfrm>
            </p:grpSpPr>
            <p:sp>
              <p:nvSpPr>
                <p:cNvPr id="1410" name="正方形"/>
                <p:cNvSpPr/>
                <p:nvPr/>
              </p:nvSpPr>
              <p:spPr>
                <a:xfrm>
                  <a:off x="0" y="0"/>
                  <a:ext cx="662378" cy="662378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solidFill>
                        <a:schemeClr val="accent1">
                          <a:satOff val="-36923"/>
                          <a:lumOff val="15441"/>
                        </a:schemeClr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411" name="-1"/>
                <p:cNvSpPr/>
                <p:nvPr/>
              </p:nvSpPr>
              <p:spPr>
                <a:xfrm>
                  <a:off x="130838" y="331188"/>
                  <a:ext cx="1270001" cy="1270001"/>
                </a:xfrm>
                <a:prstGeom prst="line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2000"/>
                  </a:lvl1pPr>
                </a:lstStyle>
                <a:p>
                  <a:pPr/>
                  <a:r>
                    <a:t>-1</a:t>
                  </a:r>
                </a:p>
              </p:txBody>
            </p:sp>
          </p:grpSp>
          <p:grpSp>
            <p:nvGrpSpPr>
              <p:cNvPr id="1415" name="成组"/>
              <p:cNvGrpSpPr/>
              <p:nvPr/>
            </p:nvGrpSpPr>
            <p:grpSpPr>
              <a:xfrm>
                <a:off x="2641600" y="0"/>
                <a:ext cx="1413539" cy="1601189"/>
                <a:chOff x="0" y="0"/>
                <a:chExt cx="1413538" cy="1601188"/>
              </a:xfrm>
            </p:grpSpPr>
            <p:sp>
              <p:nvSpPr>
                <p:cNvPr id="1413" name="正方形"/>
                <p:cNvSpPr/>
                <p:nvPr/>
              </p:nvSpPr>
              <p:spPr>
                <a:xfrm>
                  <a:off x="0" y="0"/>
                  <a:ext cx="662378" cy="662378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solidFill>
                        <a:schemeClr val="accent1">
                          <a:satOff val="-36923"/>
                          <a:lumOff val="15441"/>
                        </a:schemeClr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414" name="-1"/>
                <p:cNvSpPr/>
                <p:nvPr/>
              </p:nvSpPr>
              <p:spPr>
                <a:xfrm>
                  <a:off x="143538" y="331188"/>
                  <a:ext cx="1270001" cy="1270001"/>
                </a:xfrm>
                <a:prstGeom prst="line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2000"/>
                  </a:lvl1pPr>
                </a:lstStyle>
                <a:p>
                  <a:pPr/>
                  <a:r>
                    <a:t>-1</a:t>
                  </a:r>
                </a:p>
              </p:txBody>
            </p:sp>
          </p:grpSp>
        </p:grpSp>
        <p:sp>
          <p:nvSpPr>
            <p:cNvPr id="1417" name="p[0]"/>
            <p:cNvSpPr/>
            <p:nvPr/>
          </p:nvSpPr>
          <p:spPr>
            <a:xfrm>
              <a:off x="26720" y="2401255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p[0]</a:t>
              </a:r>
            </a:p>
          </p:txBody>
        </p:sp>
        <p:sp>
          <p:nvSpPr>
            <p:cNvPr id="1418" name="p[1]"/>
            <p:cNvSpPr/>
            <p:nvPr/>
          </p:nvSpPr>
          <p:spPr>
            <a:xfrm>
              <a:off x="693848" y="2401255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p[1]</a:t>
              </a:r>
            </a:p>
          </p:txBody>
        </p:sp>
        <p:sp>
          <p:nvSpPr>
            <p:cNvPr id="1419" name="p[2]"/>
            <p:cNvSpPr/>
            <p:nvPr/>
          </p:nvSpPr>
          <p:spPr>
            <a:xfrm>
              <a:off x="1348277" y="2401255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p[2]</a:t>
              </a:r>
            </a:p>
          </p:txBody>
        </p:sp>
        <p:sp>
          <p:nvSpPr>
            <p:cNvPr id="1420" name="p[3]"/>
            <p:cNvSpPr/>
            <p:nvPr/>
          </p:nvSpPr>
          <p:spPr>
            <a:xfrm>
              <a:off x="2021377" y="2401255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p[3]</a:t>
              </a:r>
            </a:p>
          </p:txBody>
        </p:sp>
        <p:sp>
          <p:nvSpPr>
            <p:cNvPr id="1421" name="p[4]"/>
            <p:cNvSpPr/>
            <p:nvPr/>
          </p:nvSpPr>
          <p:spPr>
            <a:xfrm>
              <a:off x="2656377" y="2401255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p[4]</a:t>
              </a:r>
            </a:p>
          </p:txBody>
        </p:sp>
        <p:sp>
          <p:nvSpPr>
            <p:cNvPr id="1422" name="S = {}    Q = {v0, v1, v2, v3, v4}"/>
            <p:cNvSpPr/>
            <p:nvPr/>
          </p:nvSpPr>
          <p:spPr>
            <a:xfrm>
              <a:off x="2085" y="2922407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2000"/>
              </a:pPr>
              <a:r>
                <a:t>S = {}    Q = {v</a:t>
              </a:r>
              <a:r>
                <a:rPr baseline="-5999"/>
                <a:t>0</a:t>
              </a:r>
              <a:r>
                <a:t>, v</a:t>
              </a:r>
              <a:r>
                <a:rPr baseline="-5999"/>
                <a:t>1</a:t>
              </a:r>
              <a:r>
                <a:t>, v</a:t>
              </a:r>
              <a:r>
                <a:rPr baseline="-5999"/>
                <a:t>2</a:t>
              </a:r>
              <a:r>
                <a:t>, v</a:t>
              </a:r>
              <a:r>
                <a:rPr baseline="-5999"/>
                <a:t>3</a:t>
              </a:r>
              <a:r>
                <a:t>, v</a:t>
              </a:r>
              <a:r>
                <a:rPr baseline="-5999"/>
                <a:t>4</a:t>
              </a:r>
              <a:r>
                <a:t>}</a:t>
              </a:r>
            </a:p>
          </p:txBody>
        </p:sp>
      </p:grpSp>
      <p:grpSp>
        <p:nvGrpSpPr>
          <p:cNvPr id="1472" name="成组"/>
          <p:cNvGrpSpPr/>
          <p:nvPr/>
        </p:nvGrpSpPr>
        <p:grpSpPr>
          <a:xfrm>
            <a:off x="4837711" y="1640565"/>
            <a:ext cx="3303978" cy="3113863"/>
            <a:chOff x="0" y="0"/>
            <a:chExt cx="3303977" cy="3113862"/>
          </a:xfrm>
        </p:grpSpPr>
        <p:grpSp>
          <p:nvGrpSpPr>
            <p:cNvPr id="1439" name="成组"/>
            <p:cNvGrpSpPr/>
            <p:nvPr/>
          </p:nvGrpSpPr>
          <p:grpSpPr>
            <a:xfrm>
              <a:off x="0" y="395107"/>
              <a:ext cx="3303978" cy="662378"/>
              <a:chOff x="0" y="0"/>
              <a:chExt cx="3303977" cy="662377"/>
            </a:xfrm>
          </p:grpSpPr>
          <p:grpSp>
            <p:nvGrpSpPr>
              <p:cNvPr id="1426" name="成组"/>
              <p:cNvGrpSpPr/>
              <p:nvPr/>
            </p:nvGrpSpPr>
            <p:grpSpPr>
              <a:xfrm>
                <a:off x="0" y="0"/>
                <a:ext cx="662378" cy="662378"/>
                <a:chOff x="0" y="0"/>
                <a:chExt cx="662377" cy="662377"/>
              </a:xfrm>
            </p:grpSpPr>
            <p:sp>
              <p:nvSpPr>
                <p:cNvPr id="1424" name="正方形"/>
                <p:cNvSpPr/>
                <p:nvPr/>
              </p:nvSpPr>
              <p:spPr>
                <a:xfrm>
                  <a:off x="0" y="0"/>
                  <a:ext cx="662378" cy="662378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solidFill>
                        <a:schemeClr val="accent1">
                          <a:satOff val="-36923"/>
                          <a:lumOff val="15441"/>
                        </a:schemeClr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425" name="0"/>
                <p:cNvSpPr txBox="1"/>
                <p:nvPr/>
              </p:nvSpPr>
              <p:spPr>
                <a:xfrm>
                  <a:off x="181638" y="139733"/>
                  <a:ext cx="299100" cy="38291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2000"/>
                  </a:lvl1pPr>
                </a:lstStyle>
                <a:p>
                  <a:pPr/>
                  <a:r>
                    <a:t>0</a:t>
                  </a:r>
                </a:p>
              </p:txBody>
            </p:sp>
          </p:grpSp>
          <p:grpSp>
            <p:nvGrpSpPr>
              <p:cNvPr id="1429" name="成组"/>
              <p:cNvGrpSpPr/>
              <p:nvPr/>
            </p:nvGrpSpPr>
            <p:grpSpPr>
              <a:xfrm>
                <a:off x="660399" y="0"/>
                <a:ext cx="662378" cy="662378"/>
                <a:chOff x="0" y="0"/>
                <a:chExt cx="662377" cy="662377"/>
              </a:xfrm>
            </p:grpSpPr>
            <p:sp>
              <p:nvSpPr>
                <p:cNvPr id="1427" name="正方形"/>
                <p:cNvSpPr/>
                <p:nvPr/>
              </p:nvSpPr>
              <p:spPr>
                <a:xfrm>
                  <a:off x="0" y="0"/>
                  <a:ext cx="662378" cy="662378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solidFill>
                        <a:schemeClr val="accent1">
                          <a:satOff val="-36923"/>
                          <a:lumOff val="15441"/>
                        </a:schemeClr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428" name="8"/>
                <p:cNvSpPr txBox="1"/>
                <p:nvPr/>
              </p:nvSpPr>
              <p:spPr>
                <a:xfrm>
                  <a:off x="156238" y="139733"/>
                  <a:ext cx="299100" cy="38291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2000"/>
                  </a:lvl1pPr>
                </a:lstStyle>
                <a:p>
                  <a:pPr/>
                  <a:r>
                    <a:t>8</a:t>
                  </a:r>
                </a:p>
              </p:txBody>
            </p:sp>
          </p:grpSp>
          <p:grpSp>
            <p:nvGrpSpPr>
              <p:cNvPr id="1432" name="成组"/>
              <p:cNvGrpSpPr/>
              <p:nvPr/>
            </p:nvGrpSpPr>
            <p:grpSpPr>
              <a:xfrm>
                <a:off x="1320799" y="0"/>
                <a:ext cx="662378" cy="662378"/>
                <a:chOff x="0" y="0"/>
                <a:chExt cx="662377" cy="662377"/>
              </a:xfrm>
            </p:grpSpPr>
            <p:sp>
              <p:nvSpPr>
                <p:cNvPr id="1430" name="正方形"/>
                <p:cNvSpPr/>
                <p:nvPr/>
              </p:nvSpPr>
              <p:spPr>
                <a:xfrm>
                  <a:off x="0" y="0"/>
                  <a:ext cx="662378" cy="662378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solidFill>
                        <a:schemeClr val="accent1">
                          <a:satOff val="-36923"/>
                          <a:lumOff val="15441"/>
                        </a:schemeClr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431" name="∞"/>
                <p:cNvSpPr txBox="1"/>
                <p:nvPr/>
              </p:nvSpPr>
              <p:spPr>
                <a:xfrm>
                  <a:off x="156238" y="139733"/>
                  <a:ext cx="353175" cy="38291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2000"/>
                  </a:lvl1pPr>
                </a:lstStyle>
                <a:p>
                  <a:pPr/>
                  <a:r>
                    <a:t>∞</a:t>
                  </a:r>
                </a:p>
              </p:txBody>
            </p:sp>
          </p:grpSp>
          <p:grpSp>
            <p:nvGrpSpPr>
              <p:cNvPr id="1435" name="成组"/>
              <p:cNvGrpSpPr/>
              <p:nvPr/>
            </p:nvGrpSpPr>
            <p:grpSpPr>
              <a:xfrm>
                <a:off x="1981200" y="0"/>
                <a:ext cx="662378" cy="662378"/>
                <a:chOff x="0" y="0"/>
                <a:chExt cx="662377" cy="662377"/>
              </a:xfrm>
            </p:grpSpPr>
            <p:sp>
              <p:nvSpPr>
                <p:cNvPr id="1433" name="正方形"/>
                <p:cNvSpPr/>
                <p:nvPr/>
              </p:nvSpPr>
              <p:spPr>
                <a:xfrm>
                  <a:off x="0" y="0"/>
                  <a:ext cx="662378" cy="662378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solidFill>
                        <a:schemeClr val="accent1">
                          <a:satOff val="-36923"/>
                          <a:lumOff val="15441"/>
                        </a:schemeClr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434" name="3"/>
                <p:cNvSpPr txBox="1"/>
                <p:nvPr/>
              </p:nvSpPr>
              <p:spPr>
                <a:xfrm>
                  <a:off x="130838" y="139733"/>
                  <a:ext cx="299100" cy="38291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2000"/>
                  </a:lvl1pPr>
                </a:lstStyle>
                <a:p>
                  <a:pPr/>
                  <a:r>
                    <a:t>3</a:t>
                  </a:r>
                </a:p>
              </p:txBody>
            </p:sp>
          </p:grpSp>
          <p:grpSp>
            <p:nvGrpSpPr>
              <p:cNvPr id="1438" name="成组"/>
              <p:cNvGrpSpPr/>
              <p:nvPr/>
            </p:nvGrpSpPr>
            <p:grpSpPr>
              <a:xfrm>
                <a:off x="2641600" y="0"/>
                <a:ext cx="662378" cy="662378"/>
                <a:chOff x="0" y="0"/>
                <a:chExt cx="662377" cy="662377"/>
              </a:xfrm>
            </p:grpSpPr>
            <p:sp>
              <p:nvSpPr>
                <p:cNvPr id="1436" name="正方形"/>
                <p:cNvSpPr/>
                <p:nvPr/>
              </p:nvSpPr>
              <p:spPr>
                <a:xfrm>
                  <a:off x="0" y="0"/>
                  <a:ext cx="662378" cy="662378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solidFill>
                        <a:schemeClr val="accent1">
                          <a:satOff val="-36923"/>
                          <a:lumOff val="15441"/>
                        </a:schemeClr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437" name="9"/>
                <p:cNvSpPr txBox="1"/>
                <p:nvPr/>
              </p:nvSpPr>
              <p:spPr>
                <a:xfrm>
                  <a:off x="143538" y="139733"/>
                  <a:ext cx="299100" cy="38291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2000"/>
                  </a:lvl1pPr>
                </a:lstStyle>
                <a:p>
                  <a:pPr/>
                  <a:r>
                    <a:t>9</a:t>
                  </a:r>
                </a:p>
              </p:txBody>
            </p:sp>
          </p:grpSp>
        </p:grpSp>
        <p:sp>
          <p:nvSpPr>
            <p:cNvPr id="1440" name="v0"/>
            <p:cNvSpPr txBox="1"/>
            <p:nvPr/>
          </p:nvSpPr>
          <p:spPr>
            <a:xfrm>
              <a:off x="166420" y="0"/>
              <a:ext cx="383767" cy="3829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2000"/>
              </a:pPr>
              <a:r>
                <a:t>v</a:t>
              </a:r>
              <a:r>
                <a:rPr baseline="-5999"/>
                <a:t>0</a:t>
              </a:r>
            </a:p>
          </p:txBody>
        </p:sp>
        <p:sp>
          <p:nvSpPr>
            <p:cNvPr id="1441" name="v1"/>
            <p:cNvSpPr txBox="1"/>
            <p:nvPr/>
          </p:nvSpPr>
          <p:spPr>
            <a:xfrm>
              <a:off x="808148" y="0"/>
              <a:ext cx="383767" cy="3829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2000"/>
              </a:pPr>
              <a:r>
                <a:t>v</a:t>
              </a:r>
              <a:r>
                <a:rPr baseline="-5999"/>
                <a:t>1</a:t>
              </a:r>
            </a:p>
          </p:txBody>
        </p:sp>
        <p:sp>
          <p:nvSpPr>
            <p:cNvPr id="1442" name="v2"/>
            <p:cNvSpPr txBox="1"/>
            <p:nvPr/>
          </p:nvSpPr>
          <p:spPr>
            <a:xfrm>
              <a:off x="1449877" y="0"/>
              <a:ext cx="383767" cy="3829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2000"/>
              </a:pPr>
              <a:r>
                <a:t>v</a:t>
              </a:r>
              <a:r>
                <a:rPr baseline="-5999"/>
                <a:t>2</a:t>
              </a:r>
            </a:p>
          </p:txBody>
        </p:sp>
        <p:sp>
          <p:nvSpPr>
            <p:cNvPr id="1443" name="v3"/>
            <p:cNvSpPr txBox="1"/>
            <p:nvPr/>
          </p:nvSpPr>
          <p:spPr>
            <a:xfrm>
              <a:off x="2135677" y="0"/>
              <a:ext cx="383767" cy="3829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2000"/>
              </a:pPr>
              <a:r>
                <a:t>v</a:t>
              </a:r>
              <a:r>
                <a:rPr baseline="-5999"/>
                <a:t>3</a:t>
              </a:r>
            </a:p>
          </p:txBody>
        </p:sp>
        <p:sp>
          <p:nvSpPr>
            <p:cNvPr id="1444" name="v4"/>
            <p:cNvSpPr txBox="1"/>
            <p:nvPr/>
          </p:nvSpPr>
          <p:spPr>
            <a:xfrm>
              <a:off x="2770677" y="0"/>
              <a:ext cx="383767" cy="3829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2000"/>
              </a:pPr>
              <a:r>
                <a:t>v</a:t>
              </a:r>
              <a:r>
                <a:rPr baseline="-5999"/>
                <a:t>4</a:t>
              </a:r>
            </a:p>
          </p:txBody>
        </p:sp>
        <p:sp>
          <p:nvSpPr>
            <p:cNvPr id="1445" name="d[0]"/>
            <p:cNvSpPr txBox="1"/>
            <p:nvPr/>
          </p:nvSpPr>
          <p:spPr>
            <a:xfrm>
              <a:off x="26720" y="1066800"/>
              <a:ext cx="595268" cy="3829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d[0]</a:t>
              </a:r>
            </a:p>
          </p:txBody>
        </p:sp>
        <p:sp>
          <p:nvSpPr>
            <p:cNvPr id="1446" name="d[1]"/>
            <p:cNvSpPr txBox="1"/>
            <p:nvPr/>
          </p:nvSpPr>
          <p:spPr>
            <a:xfrm>
              <a:off x="693848" y="1066800"/>
              <a:ext cx="595268" cy="3829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d[1]</a:t>
              </a:r>
            </a:p>
          </p:txBody>
        </p:sp>
        <p:sp>
          <p:nvSpPr>
            <p:cNvPr id="1447" name="d[2]"/>
            <p:cNvSpPr txBox="1"/>
            <p:nvPr/>
          </p:nvSpPr>
          <p:spPr>
            <a:xfrm>
              <a:off x="1348277" y="1066800"/>
              <a:ext cx="595268" cy="3829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d[2]</a:t>
              </a:r>
            </a:p>
          </p:txBody>
        </p:sp>
        <p:sp>
          <p:nvSpPr>
            <p:cNvPr id="1448" name="d[3]"/>
            <p:cNvSpPr txBox="1"/>
            <p:nvPr/>
          </p:nvSpPr>
          <p:spPr>
            <a:xfrm>
              <a:off x="2021377" y="1066800"/>
              <a:ext cx="595268" cy="3829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d[3]</a:t>
              </a:r>
            </a:p>
          </p:txBody>
        </p:sp>
        <p:sp>
          <p:nvSpPr>
            <p:cNvPr id="1449" name="d[4]"/>
            <p:cNvSpPr txBox="1"/>
            <p:nvPr/>
          </p:nvSpPr>
          <p:spPr>
            <a:xfrm>
              <a:off x="2656377" y="1066800"/>
              <a:ext cx="595268" cy="3829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d[4]</a:t>
              </a:r>
            </a:p>
          </p:txBody>
        </p:sp>
        <p:grpSp>
          <p:nvGrpSpPr>
            <p:cNvPr id="1465" name="成组"/>
            <p:cNvGrpSpPr/>
            <p:nvPr/>
          </p:nvGrpSpPr>
          <p:grpSpPr>
            <a:xfrm>
              <a:off x="0" y="1538107"/>
              <a:ext cx="3303978" cy="662378"/>
              <a:chOff x="0" y="0"/>
              <a:chExt cx="3303977" cy="662377"/>
            </a:xfrm>
          </p:grpSpPr>
          <p:grpSp>
            <p:nvGrpSpPr>
              <p:cNvPr id="1452" name="成组"/>
              <p:cNvGrpSpPr/>
              <p:nvPr/>
            </p:nvGrpSpPr>
            <p:grpSpPr>
              <a:xfrm>
                <a:off x="0" y="0"/>
                <a:ext cx="662378" cy="662378"/>
                <a:chOff x="0" y="0"/>
                <a:chExt cx="662377" cy="662377"/>
              </a:xfrm>
            </p:grpSpPr>
            <p:sp>
              <p:nvSpPr>
                <p:cNvPr id="1450" name="正方形"/>
                <p:cNvSpPr/>
                <p:nvPr/>
              </p:nvSpPr>
              <p:spPr>
                <a:xfrm>
                  <a:off x="0" y="0"/>
                  <a:ext cx="662378" cy="662378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solidFill>
                        <a:schemeClr val="accent1">
                          <a:satOff val="-36923"/>
                          <a:lumOff val="15441"/>
                        </a:schemeClr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451" name="-1"/>
                <p:cNvSpPr txBox="1"/>
                <p:nvPr/>
              </p:nvSpPr>
              <p:spPr>
                <a:xfrm>
                  <a:off x="181638" y="139733"/>
                  <a:ext cx="383684" cy="38291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2000"/>
                  </a:lvl1pPr>
                </a:lstStyle>
                <a:p>
                  <a:pPr/>
                  <a:r>
                    <a:t>-1</a:t>
                  </a:r>
                </a:p>
              </p:txBody>
            </p:sp>
          </p:grpSp>
          <p:grpSp>
            <p:nvGrpSpPr>
              <p:cNvPr id="1455" name="成组"/>
              <p:cNvGrpSpPr/>
              <p:nvPr/>
            </p:nvGrpSpPr>
            <p:grpSpPr>
              <a:xfrm>
                <a:off x="660399" y="0"/>
                <a:ext cx="662378" cy="662378"/>
                <a:chOff x="0" y="0"/>
                <a:chExt cx="662377" cy="662377"/>
              </a:xfrm>
            </p:grpSpPr>
            <p:sp>
              <p:nvSpPr>
                <p:cNvPr id="1453" name="正方形"/>
                <p:cNvSpPr/>
                <p:nvPr/>
              </p:nvSpPr>
              <p:spPr>
                <a:xfrm>
                  <a:off x="0" y="0"/>
                  <a:ext cx="662378" cy="662378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solidFill>
                        <a:schemeClr val="accent1">
                          <a:satOff val="-36923"/>
                          <a:lumOff val="15441"/>
                        </a:schemeClr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454" name="0"/>
                <p:cNvSpPr txBox="1"/>
                <p:nvPr/>
              </p:nvSpPr>
              <p:spPr>
                <a:xfrm>
                  <a:off x="156238" y="139733"/>
                  <a:ext cx="299100" cy="38291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2000"/>
                  </a:lvl1pPr>
                </a:lstStyle>
                <a:p>
                  <a:pPr/>
                  <a:r>
                    <a:t>0</a:t>
                  </a:r>
                </a:p>
              </p:txBody>
            </p:sp>
          </p:grpSp>
          <p:grpSp>
            <p:nvGrpSpPr>
              <p:cNvPr id="1458" name="成组"/>
              <p:cNvGrpSpPr/>
              <p:nvPr/>
            </p:nvGrpSpPr>
            <p:grpSpPr>
              <a:xfrm>
                <a:off x="1320799" y="0"/>
                <a:ext cx="662378" cy="662378"/>
                <a:chOff x="0" y="0"/>
                <a:chExt cx="662377" cy="662377"/>
              </a:xfrm>
            </p:grpSpPr>
            <p:sp>
              <p:nvSpPr>
                <p:cNvPr id="1456" name="正方形"/>
                <p:cNvSpPr/>
                <p:nvPr/>
              </p:nvSpPr>
              <p:spPr>
                <a:xfrm>
                  <a:off x="0" y="0"/>
                  <a:ext cx="662378" cy="662378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solidFill>
                        <a:schemeClr val="accent1">
                          <a:satOff val="-36923"/>
                          <a:lumOff val="15441"/>
                        </a:schemeClr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457" name="-1"/>
                <p:cNvSpPr txBox="1"/>
                <p:nvPr/>
              </p:nvSpPr>
              <p:spPr>
                <a:xfrm>
                  <a:off x="156238" y="139733"/>
                  <a:ext cx="383684" cy="38291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2000"/>
                  </a:lvl1pPr>
                </a:lstStyle>
                <a:p>
                  <a:pPr/>
                  <a:r>
                    <a:t>-1</a:t>
                  </a:r>
                </a:p>
              </p:txBody>
            </p:sp>
          </p:grpSp>
          <p:grpSp>
            <p:nvGrpSpPr>
              <p:cNvPr id="1461" name="成组"/>
              <p:cNvGrpSpPr/>
              <p:nvPr/>
            </p:nvGrpSpPr>
            <p:grpSpPr>
              <a:xfrm>
                <a:off x="1981200" y="0"/>
                <a:ext cx="662378" cy="662378"/>
                <a:chOff x="0" y="0"/>
                <a:chExt cx="662377" cy="662377"/>
              </a:xfrm>
            </p:grpSpPr>
            <p:sp>
              <p:nvSpPr>
                <p:cNvPr id="1459" name="正方形"/>
                <p:cNvSpPr/>
                <p:nvPr/>
              </p:nvSpPr>
              <p:spPr>
                <a:xfrm>
                  <a:off x="0" y="0"/>
                  <a:ext cx="662378" cy="662378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solidFill>
                        <a:schemeClr val="accent1">
                          <a:satOff val="-36923"/>
                          <a:lumOff val="15441"/>
                        </a:schemeClr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460" name="0"/>
                <p:cNvSpPr txBox="1"/>
                <p:nvPr/>
              </p:nvSpPr>
              <p:spPr>
                <a:xfrm>
                  <a:off x="130838" y="139733"/>
                  <a:ext cx="299100" cy="38291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2000"/>
                  </a:lvl1pPr>
                </a:lstStyle>
                <a:p>
                  <a:pPr/>
                  <a:r>
                    <a:t>0</a:t>
                  </a:r>
                </a:p>
              </p:txBody>
            </p:sp>
          </p:grpSp>
          <p:grpSp>
            <p:nvGrpSpPr>
              <p:cNvPr id="1464" name="成组"/>
              <p:cNvGrpSpPr/>
              <p:nvPr/>
            </p:nvGrpSpPr>
            <p:grpSpPr>
              <a:xfrm>
                <a:off x="2641600" y="0"/>
                <a:ext cx="662378" cy="662378"/>
                <a:chOff x="0" y="0"/>
                <a:chExt cx="662377" cy="662377"/>
              </a:xfrm>
            </p:grpSpPr>
            <p:sp>
              <p:nvSpPr>
                <p:cNvPr id="1462" name="正方形"/>
                <p:cNvSpPr/>
                <p:nvPr/>
              </p:nvSpPr>
              <p:spPr>
                <a:xfrm>
                  <a:off x="0" y="0"/>
                  <a:ext cx="662378" cy="662378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solidFill>
                        <a:schemeClr val="accent1">
                          <a:satOff val="-36923"/>
                          <a:lumOff val="15441"/>
                        </a:schemeClr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463" name="0"/>
                <p:cNvSpPr txBox="1"/>
                <p:nvPr/>
              </p:nvSpPr>
              <p:spPr>
                <a:xfrm>
                  <a:off x="143538" y="139733"/>
                  <a:ext cx="299100" cy="38291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2000"/>
                  </a:lvl1pPr>
                </a:lstStyle>
                <a:p>
                  <a:pPr/>
                  <a:r>
                    <a:t>0</a:t>
                  </a:r>
                </a:p>
              </p:txBody>
            </p:sp>
          </p:grpSp>
        </p:grpSp>
        <p:sp>
          <p:nvSpPr>
            <p:cNvPr id="1466" name="p[0]"/>
            <p:cNvSpPr txBox="1"/>
            <p:nvPr/>
          </p:nvSpPr>
          <p:spPr>
            <a:xfrm>
              <a:off x="26720" y="2209800"/>
              <a:ext cx="595268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p[0]</a:t>
              </a:r>
            </a:p>
          </p:txBody>
        </p:sp>
        <p:sp>
          <p:nvSpPr>
            <p:cNvPr id="1467" name="p[1]"/>
            <p:cNvSpPr txBox="1"/>
            <p:nvPr/>
          </p:nvSpPr>
          <p:spPr>
            <a:xfrm>
              <a:off x="693848" y="2209800"/>
              <a:ext cx="595268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p[1]</a:t>
              </a:r>
            </a:p>
          </p:txBody>
        </p:sp>
        <p:sp>
          <p:nvSpPr>
            <p:cNvPr id="1468" name="p[2]"/>
            <p:cNvSpPr txBox="1"/>
            <p:nvPr/>
          </p:nvSpPr>
          <p:spPr>
            <a:xfrm>
              <a:off x="1348277" y="2209800"/>
              <a:ext cx="595268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p[2]</a:t>
              </a:r>
            </a:p>
          </p:txBody>
        </p:sp>
        <p:sp>
          <p:nvSpPr>
            <p:cNvPr id="1469" name="p[3]"/>
            <p:cNvSpPr txBox="1"/>
            <p:nvPr/>
          </p:nvSpPr>
          <p:spPr>
            <a:xfrm>
              <a:off x="2021377" y="2209800"/>
              <a:ext cx="595268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p[3]</a:t>
              </a:r>
            </a:p>
          </p:txBody>
        </p:sp>
        <p:sp>
          <p:nvSpPr>
            <p:cNvPr id="1470" name="p[4]"/>
            <p:cNvSpPr txBox="1"/>
            <p:nvPr/>
          </p:nvSpPr>
          <p:spPr>
            <a:xfrm>
              <a:off x="2656377" y="2209800"/>
              <a:ext cx="595268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p[4]</a:t>
              </a:r>
            </a:p>
          </p:txBody>
        </p:sp>
        <p:sp>
          <p:nvSpPr>
            <p:cNvPr id="1471" name="S = {v0}    Q = {v1, v2, v3, v4}"/>
            <p:cNvSpPr txBox="1"/>
            <p:nvPr/>
          </p:nvSpPr>
          <p:spPr>
            <a:xfrm>
              <a:off x="2085" y="2730952"/>
              <a:ext cx="3218281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2000"/>
              </a:pPr>
              <a:r>
                <a:t>S = {v</a:t>
              </a:r>
              <a:r>
                <a:rPr baseline="-5999"/>
                <a:t>0</a:t>
              </a:r>
              <a:r>
                <a:t>}    Q = {v</a:t>
              </a:r>
              <a:r>
                <a:rPr baseline="-5999"/>
                <a:t>1</a:t>
              </a:r>
              <a:r>
                <a:t>, v</a:t>
              </a:r>
              <a:r>
                <a:rPr baseline="-5999"/>
                <a:t>2</a:t>
              </a:r>
              <a:r>
                <a:t>, v</a:t>
              </a:r>
              <a:r>
                <a:rPr baseline="-5999"/>
                <a:t>3</a:t>
              </a:r>
              <a:r>
                <a:t>, v</a:t>
              </a:r>
              <a:r>
                <a:rPr baseline="-5999"/>
                <a:t>4</a:t>
              </a:r>
              <a:r>
                <a:t>}</a:t>
              </a:r>
            </a:p>
          </p:txBody>
        </p:sp>
      </p:grpSp>
      <p:grpSp>
        <p:nvGrpSpPr>
          <p:cNvPr id="1521" name="成组"/>
          <p:cNvGrpSpPr/>
          <p:nvPr/>
        </p:nvGrpSpPr>
        <p:grpSpPr>
          <a:xfrm>
            <a:off x="9451272" y="1640565"/>
            <a:ext cx="3303978" cy="3113863"/>
            <a:chOff x="0" y="0"/>
            <a:chExt cx="3303977" cy="3113862"/>
          </a:xfrm>
        </p:grpSpPr>
        <p:grpSp>
          <p:nvGrpSpPr>
            <p:cNvPr id="1488" name="成组"/>
            <p:cNvGrpSpPr/>
            <p:nvPr/>
          </p:nvGrpSpPr>
          <p:grpSpPr>
            <a:xfrm>
              <a:off x="0" y="395107"/>
              <a:ext cx="3303978" cy="662378"/>
              <a:chOff x="0" y="0"/>
              <a:chExt cx="3303977" cy="662377"/>
            </a:xfrm>
          </p:grpSpPr>
          <p:grpSp>
            <p:nvGrpSpPr>
              <p:cNvPr id="1475" name="成组"/>
              <p:cNvGrpSpPr/>
              <p:nvPr/>
            </p:nvGrpSpPr>
            <p:grpSpPr>
              <a:xfrm>
                <a:off x="0" y="0"/>
                <a:ext cx="662378" cy="662378"/>
                <a:chOff x="0" y="0"/>
                <a:chExt cx="662377" cy="662377"/>
              </a:xfrm>
            </p:grpSpPr>
            <p:sp>
              <p:nvSpPr>
                <p:cNvPr id="1473" name="正方形"/>
                <p:cNvSpPr/>
                <p:nvPr/>
              </p:nvSpPr>
              <p:spPr>
                <a:xfrm>
                  <a:off x="0" y="0"/>
                  <a:ext cx="662378" cy="662378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solidFill>
                        <a:schemeClr val="accent1">
                          <a:satOff val="-36923"/>
                          <a:lumOff val="15441"/>
                        </a:schemeClr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474" name="0"/>
                <p:cNvSpPr txBox="1"/>
                <p:nvPr/>
              </p:nvSpPr>
              <p:spPr>
                <a:xfrm>
                  <a:off x="181638" y="139733"/>
                  <a:ext cx="299100" cy="38291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2000"/>
                  </a:lvl1pPr>
                </a:lstStyle>
                <a:p>
                  <a:pPr/>
                  <a:r>
                    <a:t>0</a:t>
                  </a:r>
                </a:p>
              </p:txBody>
            </p:sp>
          </p:grpSp>
          <p:grpSp>
            <p:nvGrpSpPr>
              <p:cNvPr id="1478" name="成组"/>
              <p:cNvGrpSpPr/>
              <p:nvPr/>
            </p:nvGrpSpPr>
            <p:grpSpPr>
              <a:xfrm>
                <a:off x="660399" y="0"/>
                <a:ext cx="662378" cy="662378"/>
                <a:chOff x="0" y="0"/>
                <a:chExt cx="662377" cy="662377"/>
              </a:xfrm>
            </p:grpSpPr>
            <p:sp>
              <p:nvSpPr>
                <p:cNvPr id="1476" name="正方形"/>
                <p:cNvSpPr/>
                <p:nvPr/>
              </p:nvSpPr>
              <p:spPr>
                <a:xfrm>
                  <a:off x="0" y="0"/>
                  <a:ext cx="662378" cy="662378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solidFill>
                        <a:schemeClr val="accent1">
                          <a:satOff val="-36923"/>
                          <a:lumOff val="15441"/>
                        </a:schemeClr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477" name="8"/>
                <p:cNvSpPr txBox="1"/>
                <p:nvPr/>
              </p:nvSpPr>
              <p:spPr>
                <a:xfrm>
                  <a:off x="156238" y="139733"/>
                  <a:ext cx="299100" cy="38291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2000"/>
                  </a:lvl1pPr>
                </a:lstStyle>
                <a:p>
                  <a:pPr/>
                  <a:r>
                    <a:t>8</a:t>
                  </a:r>
                </a:p>
              </p:txBody>
            </p:sp>
          </p:grpSp>
          <p:grpSp>
            <p:nvGrpSpPr>
              <p:cNvPr id="1481" name="成组"/>
              <p:cNvGrpSpPr/>
              <p:nvPr/>
            </p:nvGrpSpPr>
            <p:grpSpPr>
              <a:xfrm>
                <a:off x="1320799" y="0"/>
                <a:ext cx="662378" cy="662378"/>
                <a:chOff x="0" y="0"/>
                <a:chExt cx="662377" cy="662377"/>
              </a:xfrm>
            </p:grpSpPr>
            <p:sp>
              <p:nvSpPr>
                <p:cNvPr id="1479" name="正方形"/>
                <p:cNvSpPr/>
                <p:nvPr/>
              </p:nvSpPr>
              <p:spPr>
                <a:xfrm>
                  <a:off x="0" y="0"/>
                  <a:ext cx="662378" cy="662378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solidFill>
                        <a:schemeClr val="accent1">
                          <a:satOff val="-36923"/>
                          <a:lumOff val="15441"/>
                        </a:schemeClr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480" name="5"/>
                <p:cNvSpPr txBox="1"/>
                <p:nvPr/>
              </p:nvSpPr>
              <p:spPr>
                <a:xfrm>
                  <a:off x="156238" y="139733"/>
                  <a:ext cx="299100" cy="38291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2000"/>
                  </a:lvl1pPr>
                </a:lstStyle>
                <a:p>
                  <a:pPr/>
                  <a:r>
                    <a:t>5</a:t>
                  </a:r>
                </a:p>
              </p:txBody>
            </p:sp>
          </p:grpSp>
          <p:grpSp>
            <p:nvGrpSpPr>
              <p:cNvPr id="1484" name="成组"/>
              <p:cNvGrpSpPr/>
              <p:nvPr/>
            </p:nvGrpSpPr>
            <p:grpSpPr>
              <a:xfrm>
                <a:off x="1981200" y="0"/>
                <a:ext cx="662378" cy="662378"/>
                <a:chOff x="0" y="0"/>
                <a:chExt cx="662377" cy="662377"/>
              </a:xfrm>
            </p:grpSpPr>
            <p:sp>
              <p:nvSpPr>
                <p:cNvPr id="1482" name="正方形"/>
                <p:cNvSpPr/>
                <p:nvPr/>
              </p:nvSpPr>
              <p:spPr>
                <a:xfrm>
                  <a:off x="0" y="0"/>
                  <a:ext cx="662378" cy="662378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solidFill>
                        <a:schemeClr val="accent1">
                          <a:satOff val="-36923"/>
                          <a:lumOff val="15441"/>
                        </a:schemeClr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483" name="3"/>
                <p:cNvSpPr txBox="1"/>
                <p:nvPr/>
              </p:nvSpPr>
              <p:spPr>
                <a:xfrm>
                  <a:off x="130838" y="139733"/>
                  <a:ext cx="299100" cy="38291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2000"/>
                  </a:lvl1pPr>
                </a:lstStyle>
                <a:p>
                  <a:pPr/>
                  <a:r>
                    <a:t>3</a:t>
                  </a:r>
                </a:p>
              </p:txBody>
            </p:sp>
          </p:grpSp>
          <p:grpSp>
            <p:nvGrpSpPr>
              <p:cNvPr id="1487" name="成组"/>
              <p:cNvGrpSpPr/>
              <p:nvPr/>
            </p:nvGrpSpPr>
            <p:grpSpPr>
              <a:xfrm>
                <a:off x="2641600" y="0"/>
                <a:ext cx="662378" cy="662378"/>
                <a:chOff x="0" y="0"/>
                <a:chExt cx="662377" cy="662377"/>
              </a:xfrm>
            </p:grpSpPr>
            <p:sp>
              <p:nvSpPr>
                <p:cNvPr id="1485" name="正方形"/>
                <p:cNvSpPr/>
                <p:nvPr/>
              </p:nvSpPr>
              <p:spPr>
                <a:xfrm>
                  <a:off x="0" y="0"/>
                  <a:ext cx="662378" cy="662378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solidFill>
                        <a:schemeClr val="accent1">
                          <a:satOff val="-36923"/>
                          <a:lumOff val="15441"/>
                        </a:schemeClr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486" name="8"/>
                <p:cNvSpPr txBox="1"/>
                <p:nvPr/>
              </p:nvSpPr>
              <p:spPr>
                <a:xfrm>
                  <a:off x="143538" y="139733"/>
                  <a:ext cx="299100" cy="38291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2000"/>
                  </a:lvl1pPr>
                </a:lstStyle>
                <a:p>
                  <a:pPr/>
                  <a:r>
                    <a:t>8</a:t>
                  </a:r>
                </a:p>
              </p:txBody>
            </p:sp>
          </p:grpSp>
        </p:grpSp>
        <p:sp>
          <p:nvSpPr>
            <p:cNvPr id="1489" name="v0"/>
            <p:cNvSpPr txBox="1"/>
            <p:nvPr/>
          </p:nvSpPr>
          <p:spPr>
            <a:xfrm>
              <a:off x="166420" y="0"/>
              <a:ext cx="383767" cy="3829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2000"/>
              </a:pPr>
              <a:r>
                <a:t>v</a:t>
              </a:r>
              <a:r>
                <a:rPr baseline="-5999"/>
                <a:t>0</a:t>
              </a:r>
            </a:p>
          </p:txBody>
        </p:sp>
        <p:sp>
          <p:nvSpPr>
            <p:cNvPr id="1490" name="v1"/>
            <p:cNvSpPr txBox="1"/>
            <p:nvPr/>
          </p:nvSpPr>
          <p:spPr>
            <a:xfrm>
              <a:off x="808148" y="0"/>
              <a:ext cx="383767" cy="3829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2000"/>
              </a:pPr>
              <a:r>
                <a:t>v</a:t>
              </a:r>
              <a:r>
                <a:rPr baseline="-5999"/>
                <a:t>1</a:t>
              </a:r>
            </a:p>
          </p:txBody>
        </p:sp>
        <p:sp>
          <p:nvSpPr>
            <p:cNvPr id="1491" name="v2"/>
            <p:cNvSpPr txBox="1"/>
            <p:nvPr/>
          </p:nvSpPr>
          <p:spPr>
            <a:xfrm>
              <a:off x="1449877" y="0"/>
              <a:ext cx="383767" cy="3829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2000"/>
              </a:pPr>
              <a:r>
                <a:t>v</a:t>
              </a:r>
              <a:r>
                <a:rPr baseline="-5999"/>
                <a:t>2</a:t>
              </a:r>
            </a:p>
          </p:txBody>
        </p:sp>
        <p:sp>
          <p:nvSpPr>
            <p:cNvPr id="1492" name="v3"/>
            <p:cNvSpPr txBox="1"/>
            <p:nvPr/>
          </p:nvSpPr>
          <p:spPr>
            <a:xfrm>
              <a:off x="2135677" y="0"/>
              <a:ext cx="383767" cy="3829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2000"/>
              </a:pPr>
              <a:r>
                <a:t>v</a:t>
              </a:r>
              <a:r>
                <a:rPr baseline="-5999"/>
                <a:t>3</a:t>
              </a:r>
            </a:p>
          </p:txBody>
        </p:sp>
        <p:sp>
          <p:nvSpPr>
            <p:cNvPr id="1493" name="v4"/>
            <p:cNvSpPr txBox="1"/>
            <p:nvPr/>
          </p:nvSpPr>
          <p:spPr>
            <a:xfrm>
              <a:off x="2770677" y="0"/>
              <a:ext cx="383767" cy="3829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2000"/>
              </a:pPr>
              <a:r>
                <a:t>v</a:t>
              </a:r>
              <a:r>
                <a:rPr baseline="-5999"/>
                <a:t>4</a:t>
              </a:r>
            </a:p>
          </p:txBody>
        </p:sp>
        <p:sp>
          <p:nvSpPr>
            <p:cNvPr id="1494" name="d[0]"/>
            <p:cNvSpPr txBox="1"/>
            <p:nvPr/>
          </p:nvSpPr>
          <p:spPr>
            <a:xfrm>
              <a:off x="26720" y="1066800"/>
              <a:ext cx="595268" cy="3829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d[0]</a:t>
              </a:r>
            </a:p>
          </p:txBody>
        </p:sp>
        <p:sp>
          <p:nvSpPr>
            <p:cNvPr id="1495" name="d[1]"/>
            <p:cNvSpPr txBox="1"/>
            <p:nvPr/>
          </p:nvSpPr>
          <p:spPr>
            <a:xfrm>
              <a:off x="693848" y="1066800"/>
              <a:ext cx="595268" cy="3829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d[1]</a:t>
              </a:r>
            </a:p>
          </p:txBody>
        </p:sp>
        <p:sp>
          <p:nvSpPr>
            <p:cNvPr id="1496" name="d[2]"/>
            <p:cNvSpPr txBox="1"/>
            <p:nvPr/>
          </p:nvSpPr>
          <p:spPr>
            <a:xfrm>
              <a:off x="1348277" y="1066800"/>
              <a:ext cx="595268" cy="3829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d[2]</a:t>
              </a:r>
            </a:p>
          </p:txBody>
        </p:sp>
        <p:sp>
          <p:nvSpPr>
            <p:cNvPr id="1497" name="d[3]"/>
            <p:cNvSpPr txBox="1"/>
            <p:nvPr/>
          </p:nvSpPr>
          <p:spPr>
            <a:xfrm>
              <a:off x="2021377" y="1066800"/>
              <a:ext cx="595268" cy="3829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d[3]</a:t>
              </a:r>
            </a:p>
          </p:txBody>
        </p:sp>
        <p:sp>
          <p:nvSpPr>
            <p:cNvPr id="1498" name="d[4]"/>
            <p:cNvSpPr txBox="1"/>
            <p:nvPr/>
          </p:nvSpPr>
          <p:spPr>
            <a:xfrm>
              <a:off x="2656377" y="1066800"/>
              <a:ext cx="595268" cy="3829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d[4]</a:t>
              </a:r>
            </a:p>
          </p:txBody>
        </p:sp>
        <p:grpSp>
          <p:nvGrpSpPr>
            <p:cNvPr id="1514" name="成组"/>
            <p:cNvGrpSpPr/>
            <p:nvPr/>
          </p:nvGrpSpPr>
          <p:grpSpPr>
            <a:xfrm>
              <a:off x="0" y="1538107"/>
              <a:ext cx="3303978" cy="662378"/>
              <a:chOff x="0" y="0"/>
              <a:chExt cx="3303977" cy="662377"/>
            </a:xfrm>
          </p:grpSpPr>
          <p:grpSp>
            <p:nvGrpSpPr>
              <p:cNvPr id="1501" name="成组"/>
              <p:cNvGrpSpPr/>
              <p:nvPr/>
            </p:nvGrpSpPr>
            <p:grpSpPr>
              <a:xfrm>
                <a:off x="0" y="0"/>
                <a:ext cx="662378" cy="662378"/>
                <a:chOff x="0" y="0"/>
                <a:chExt cx="662377" cy="662377"/>
              </a:xfrm>
            </p:grpSpPr>
            <p:sp>
              <p:nvSpPr>
                <p:cNvPr id="1499" name="正方形"/>
                <p:cNvSpPr/>
                <p:nvPr/>
              </p:nvSpPr>
              <p:spPr>
                <a:xfrm>
                  <a:off x="0" y="0"/>
                  <a:ext cx="662378" cy="662378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solidFill>
                        <a:schemeClr val="accent1">
                          <a:satOff val="-36923"/>
                          <a:lumOff val="15441"/>
                        </a:schemeClr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500" name="-1"/>
                <p:cNvSpPr txBox="1"/>
                <p:nvPr/>
              </p:nvSpPr>
              <p:spPr>
                <a:xfrm>
                  <a:off x="181638" y="139733"/>
                  <a:ext cx="383684" cy="38291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2000"/>
                  </a:lvl1pPr>
                </a:lstStyle>
                <a:p>
                  <a:pPr/>
                  <a:r>
                    <a:t>-1</a:t>
                  </a:r>
                </a:p>
              </p:txBody>
            </p:sp>
          </p:grpSp>
          <p:grpSp>
            <p:nvGrpSpPr>
              <p:cNvPr id="1504" name="成组"/>
              <p:cNvGrpSpPr/>
              <p:nvPr/>
            </p:nvGrpSpPr>
            <p:grpSpPr>
              <a:xfrm>
                <a:off x="660399" y="0"/>
                <a:ext cx="662378" cy="662378"/>
                <a:chOff x="0" y="0"/>
                <a:chExt cx="662377" cy="662377"/>
              </a:xfrm>
            </p:grpSpPr>
            <p:sp>
              <p:nvSpPr>
                <p:cNvPr id="1502" name="正方形"/>
                <p:cNvSpPr/>
                <p:nvPr/>
              </p:nvSpPr>
              <p:spPr>
                <a:xfrm>
                  <a:off x="0" y="0"/>
                  <a:ext cx="662378" cy="662378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solidFill>
                        <a:schemeClr val="accent1">
                          <a:satOff val="-36923"/>
                          <a:lumOff val="15441"/>
                        </a:schemeClr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503" name="0"/>
                <p:cNvSpPr txBox="1"/>
                <p:nvPr/>
              </p:nvSpPr>
              <p:spPr>
                <a:xfrm>
                  <a:off x="156238" y="139733"/>
                  <a:ext cx="299100" cy="38291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2000"/>
                  </a:lvl1pPr>
                </a:lstStyle>
                <a:p>
                  <a:pPr/>
                  <a:r>
                    <a:t>0</a:t>
                  </a:r>
                </a:p>
              </p:txBody>
            </p:sp>
          </p:grpSp>
          <p:grpSp>
            <p:nvGrpSpPr>
              <p:cNvPr id="1507" name="成组"/>
              <p:cNvGrpSpPr/>
              <p:nvPr/>
            </p:nvGrpSpPr>
            <p:grpSpPr>
              <a:xfrm>
                <a:off x="1320799" y="0"/>
                <a:ext cx="662378" cy="662378"/>
                <a:chOff x="0" y="0"/>
                <a:chExt cx="662377" cy="662377"/>
              </a:xfrm>
            </p:grpSpPr>
            <p:sp>
              <p:nvSpPr>
                <p:cNvPr id="1505" name="正方形"/>
                <p:cNvSpPr/>
                <p:nvPr/>
              </p:nvSpPr>
              <p:spPr>
                <a:xfrm>
                  <a:off x="0" y="0"/>
                  <a:ext cx="662378" cy="662378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solidFill>
                        <a:schemeClr val="accent1">
                          <a:satOff val="-36923"/>
                          <a:lumOff val="15441"/>
                        </a:schemeClr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506" name="3"/>
                <p:cNvSpPr txBox="1"/>
                <p:nvPr/>
              </p:nvSpPr>
              <p:spPr>
                <a:xfrm>
                  <a:off x="156238" y="139733"/>
                  <a:ext cx="299100" cy="38291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2000"/>
                  </a:lvl1pPr>
                </a:lstStyle>
                <a:p>
                  <a:pPr/>
                  <a:r>
                    <a:t>3</a:t>
                  </a:r>
                </a:p>
              </p:txBody>
            </p:sp>
          </p:grpSp>
          <p:grpSp>
            <p:nvGrpSpPr>
              <p:cNvPr id="1510" name="成组"/>
              <p:cNvGrpSpPr/>
              <p:nvPr/>
            </p:nvGrpSpPr>
            <p:grpSpPr>
              <a:xfrm>
                <a:off x="1981200" y="0"/>
                <a:ext cx="662378" cy="662378"/>
                <a:chOff x="0" y="0"/>
                <a:chExt cx="662377" cy="662377"/>
              </a:xfrm>
            </p:grpSpPr>
            <p:sp>
              <p:nvSpPr>
                <p:cNvPr id="1508" name="正方形"/>
                <p:cNvSpPr/>
                <p:nvPr/>
              </p:nvSpPr>
              <p:spPr>
                <a:xfrm>
                  <a:off x="0" y="0"/>
                  <a:ext cx="662378" cy="662378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solidFill>
                        <a:schemeClr val="accent1">
                          <a:satOff val="-36923"/>
                          <a:lumOff val="15441"/>
                        </a:schemeClr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509" name="0"/>
                <p:cNvSpPr txBox="1"/>
                <p:nvPr/>
              </p:nvSpPr>
              <p:spPr>
                <a:xfrm>
                  <a:off x="130838" y="139733"/>
                  <a:ext cx="299100" cy="38291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2000"/>
                  </a:lvl1pPr>
                </a:lstStyle>
                <a:p>
                  <a:pPr/>
                  <a:r>
                    <a:t>0</a:t>
                  </a:r>
                </a:p>
              </p:txBody>
            </p:sp>
          </p:grpSp>
          <p:grpSp>
            <p:nvGrpSpPr>
              <p:cNvPr id="1513" name="成组"/>
              <p:cNvGrpSpPr/>
              <p:nvPr/>
            </p:nvGrpSpPr>
            <p:grpSpPr>
              <a:xfrm>
                <a:off x="2641600" y="0"/>
                <a:ext cx="662378" cy="662378"/>
                <a:chOff x="0" y="0"/>
                <a:chExt cx="662377" cy="662377"/>
              </a:xfrm>
            </p:grpSpPr>
            <p:sp>
              <p:nvSpPr>
                <p:cNvPr id="1511" name="正方形"/>
                <p:cNvSpPr/>
                <p:nvPr/>
              </p:nvSpPr>
              <p:spPr>
                <a:xfrm>
                  <a:off x="0" y="0"/>
                  <a:ext cx="662378" cy="662378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solidFill>
                        <a:schemeClr val="accent1">
                          <a:satOff val="-36923"/>
                          <a:lumOff val="15441"/>
                        </a:schemeClr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512" name="3"/>
                <p:cNvSpPr txBox="1"/>
                <p:nvPr/>
              </p:nvSpPr>
              <p:spPr>
                <a:xfrm>
                  <a:off x="143538" y="139733"/>
                  <a:ext cx="299100" cy="38291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2000"/>
                  </a:lvl1pPr>
                </a:lstStyle>
                <a:p>
                  <a:pPr/>
                  <a:r>
                    <a:t>3</a:t>
                  </a:r>
                </a:p>
              </p:txBody>
            </p:sp>
          </p:grpSp>
        </p:grpSp>
        <p:sp>
          <p:nvSpPr>
            <p:cNvPr id="1515" name="p[0]"/>
            <p:cNvSpPr txBox="1"/>
            <p:nvPr/>
          </p:nvSpPr>
          <p:spPr>
            <a:xfrm>
              <a:off x="26720" y="2209800"/>
              <a:ext cx="595268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p[0]</a:t>
              </a:r>
            </a:p>
          </p:txBody>
        </p:sp>
        <p:sp>
          <p:nvSpPr>
            <p:cNvPr id="1516" name="p[1]"/>
            <p:cNvSpPr txBox="1"/>
            <p:nvPr/>
          </p:nvSpPr>
          <p:spPr>
            <a:xfrm>
              <a:off x="693848" y="2209800"/>
              <a:ext cx="595268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p[1]</a:t>
              </a:r>
            </a:p>
          </p:txBody>
        </p:sp>
        <p:sp>
          <p:nvSpPr>
            <p:cNvPr id="1517" name="p[2]"/>
            <p:cNvSpPr txBox="1"/>
            <p:nvPr/>
          </p:nvSpPr>
          <p:spPr>
            <a:xfrm>
              <a:off x="1348277" y="2209800"/>
              <a:ext cx="595268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p[2]</a:t>
              </a:r>
            </a:p>
          </p:txBody>
        </p:sp>
        <p:sp>
          <p:nvSpPr>
            <p:cNvPr id="1518" name="p[3]"/>
            <p:cNvSpPr txBox="1"/>
            <p:nvPr/>
          </p:nvSpPr>
          <p:spPr>
            <a:xfrm>
              <a:off x="2021377" y="2209800"/>
              <a:ext cx="595268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p[3]</a:t>
              </a:r>
            </a:p>
          </p:txBody>
        </p:sp>
        <p:sp>
          <p:nvSpPr>
            <p:cNvPr id="1519" name="p[4]"/>
            <p:cNvSpPr txBox="1"/>
            <p:nvPr/>
          </p:nvSpPr>
          <p:spPr>
            <a:xfrm>
              <a:off x="2656377" y="2209800"/>
              <a:ext cx="595268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p[4]</a:t>
              </a:r>
            </a:p>
          </p:txBody>
        </p:sp>
        <p:sp>
          <p:nvSpPr>
            <p:cNvPr id="1520" name="S = {v0, v3}    Q = {v1, v2, v4}"/>
            <p:cNvSpPr txBox="1"/>
            <p:nvPr/>
          </p:nvSpPr>
          <p:spPr>
            <a:xfrm>
              <a:off x="2085" y="2730952"/>
              <a:ext cx="3218281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2000"/>
              </a:pPr>
              <a:r>
                <a:t>S = {v</a:t>
              </a:r>
              <a:r>
                <a:rPr baseline="-5999"/>
                <a:t>0</a:t>
              </a:r>
              <a:r>
                <a:t>, v</a:t>
              </a:r>
              <a:r>
                <a:rPr baseline="-5999"/>
                <a:t>3</a:t>
              </a:r>
              <a:r>
                <a:t>}    Q = {v</a:t>
              </a:r>
              <a:r>
                <a:rPr baseline="-5999"/>
                <a:t>1</a:t>
              </a:r>
              <a:r>
                <a:t>, v</a:t>
              </a:r>
              <a:r>
                <a:rPr baseline="-5999"/>
                <a:t>2</a:t>
              </a:r>
              <a:r>
                <a:t>, v</a:t>
              </a:r>
              <a:r>
                <a:rPr baseline="-5999"/>
                <a:t>4</a:t>
              </a:r>
              <a:r>
                <a:t>}</a:t>
              </a:r>
            </a:p>
          </p:txBody>
        </p:sp>
      </p:grpSp>
      <p:grpSp>
        <p:nvGrpSpPr>
          <p:cNvPr id="1570" name="成组"/>
          <p:cNvGrpSpPr/>
          <p:nvPr/>
        </p:nvGrpSpPr>
        <p:grpSpPr>
          <a:xfrm>
            <a:off x="267571" y="5032987"/>
            <a:ext cx="3303978" cy="3113863"/>
            <a:chOff x="0" y="0"/>
            <a:chExt cx="3303977" cy="3113862"/>
          </a:xfrm>
        </p:grpSpPr>
        <p:grpSp>
          <p:nvGrpSpPr>
            <p:cNvPr id="1537" name="成组"/>
            <p:cNvGrpSpPr/>
            <p:nvPr/>
          </p:nvGrpSpPr>
          <p:grpSpPr>
            <a:xfrm>
              <a:off x="0" y="395107"/>
              <a:ext cx="3303978" cy="662378"/>
              <a:chOff x="0" y="0"/>
              <a:chExt cx="3303977" cy="662377"/>
            </a:xfrm>
          </p:grpSpPr>
          <p:grpSp>
            <p:nvGrpSpPr>
              <p:cNvPr id="1524" name="成组"/>
              <p:cNvGrpSpPr/>
              <p:nvPr/>
            </p:nvGrpSpPr>
            <p:grpSpPr>
              <a:xfrm>
                <a:off x="0" y="0"/>
                <a:ext cx="662378" cy="662378"/>
                <a:chOff x="0" y="0"/>
                <a:chExt cx="662377" cy="662377"/>
              </a:xfrm>
            </p:grpSpPr>
            <p:sp>
              <p:nvSpPr>
                <p:cNvPr id="1522" name="正方形"/>
                <p:cNvSpPr/>
                <p:nvPr/>
              </p:nvSpPr>
              <p:spPr>
                <a:xfrm>
                  <a:off x="0" y="0"/>
                  <a:ext cx="662378" cy="662378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solidFill>
                        <a:schemeClr val="accent1">
                          <a:satOff val="-36923"/>
                          <a:lumOff val="15441"/>
                        </a:schemeClr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523" name="0"/>
                <p:cNvSpPr txBox="1"/>
                <p:nvPr/>
              </p:nvSpPr>
              <p:spPr>
                <a:xfrm>
                  <a:off x="181638" y="139733"/>
                  <a:ext cx="299100" cy="38291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2000"/>
                  </a:lvl1pPr>
                </a:lstStyle>
                <a:p>
                  <a:pPr/>
                  <a:r>
                    <a:t>0</a:t>
                  </a:r>
                </a:p>
              </p:txBody>
            </p:sp>
          </p:grpSp>
          <p:grpSp>
            <p:nvGrpSpPr>
              <p:cNvPr id="1527" name="成组"/>
              <p:cNvGrpSpPr/>
              <p:nvPr/>
            </p:nvGrpSpPr>
            <p:grpSpPr>
              <a:xfrm>
                <a:off x="660399" y="0"/>
                <a:ext cx="662378" cy="662378"/>
                <a:chOff x="0" y="0"/>
                <a:chExt cx="662377" cy="662377"/>
              </a:xfrm>
            </p:grpSpPr>
            <p:sp>
              <p:nvSpPr>
                <p:cNvPr id="1525" name="正方形"/>
                <p:cNvSpPr/>
                <p:nvPr/>
              </p:nvSpPr>
              <p:spPr>
                <a:xfrm>
                  <a:off x="0" y="0"/>
                  <a:ext cx="662378" cy="662378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solidFill>
                        <a:schemeClr val="accent1">
                          <a:satOff val="-36923"/>
                          <a:lumOff val="15441"/>
                        </a:schemeClr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526" name="8"/>
                <p:cNvSpPr txBox="1"/>
                <p:nvPr/>
              </p:nvSpPr>
              <p:spPr>
                <a:xfrm>
                  <a:off x="156238" y="139733"/>
                  <a:ext cx="299100" cy="38291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2000"/>
                  </a:lvl1pPr>
                </a:lstStyle>
                <a:p>
                  <a:pPr/>
                  <a:r>
                    <a:t>8</a:t>
                  </a:r>
                </a:p>
              </p:txBody>
            </p:sp>
          </p:grpSp>
          <p:grpSp>
            <p:nvGrpSpPr>
              <p:cNvPr id="1530" name="成组"/>
              <p:cNvGrpSpPr/>
              <p:nvPr/>
            </p:nvGrpSpPr>
            <p:grpSpPr>
              <a:xfrm>
                <a:off x="1320799" y="0"/>
                <a:ext cx="662378" cy="662378"/>
                <a:chOff x="0" y="0"/>
                <a:chExt cx="662377" cy="662377"/>
              </a:xfrm>
            </p:grpSpPr>
            <p:sp>
              <p:nvSpPr>
                <p:cNvPr id="1528" name="正方形"/>
                <p:cNvSpPr/>
                <p:nvPr/>
              </p:nvSpPr>
              <p:spPr>
                <a:xfrm>
                  <a:off x="0" y="0"/>
                  <a:ext cx="662378" cy="662378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solidFill>
                        <a:schemeClr val="accent1">
                          <a:satOff val="-36923"/>
                          <a:lumOff val="15441"/>
                        </a:schemeClr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529" name="5"/>
                <p:cNvSpPr txBox="1"/>
                <p:nvPr/>
              </p:nvSpPr>
              <p:spPr>
                <a:xfrm>
                  <a:off x="156238" y="139733"/>
                  <a:ext cx="299100" cy="38291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2000"/>
                  </a:lvl1pPr>
                </a:lstStyle>
                <a:p>
                  <a:pPr/>
                  <a:r>
                    <a:t>5</a:t>
                  </a:r>
                </a:p>
              </p:txBody>
            </p:sp>
          </p:grpSp>
          <p:grpSp>
            <p:nvGrpSpPr>
              <p:cNvPr id="1533" name="成组"/>
              <p:cNvGrpSpPr/>
              <p:nvPr/>
            </p:nvGrpSpPr>
            <p:grpSpPr>
              <a:xfrm>
                <a:off x="1981200" y="0"/>
                <a:ext cx="662378" cy="662378"/>
                <a:chOff x="0" y="0"/>
                <a:chExt cx="662377" cy="662377"/>
              </a:xfrm>
            </p:grpSpPr>
            <p:sp>
              <p:nvSpPr>
                <p:cNvPr id="1531" name="正方形"/>
                <p:cNvSpPr/>
                <p:nvPr/>
              </p:nvSpPr>
              <p:spPr>
                <a:xfrm>
                  <a:off x="0" y="0"/>
                  <a:ext cx="662378" cy="662378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solidFill>
                        <a:schemeClr val="accent1">
                          <a:satOff val="-36923"/>
                          <a:lumOff val="15441"/>
                        </a:schemeClr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532" name="3"/>
                <p:cNvSpPr txBox="1"/>
                <p:nvPr/>
              </p:nvSpPr>
              <p:spPr>
                <a:xfrm>
                  <a:off x="130838" y="139733"/>
                  <a:ext cx="299100" cy="38291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2000"/>
                  </a:lvl1pPr>
                </a:lstStyle>
                <a:p>
                  <a:pPr/>
                  <a:r>
                    <a:t>3</a:t>
                  </a:r>
                </a:p>
              </p:txBody>
            </p:sp>
          </p:grpSp>
          <p:grpSp>
            <p:nvGrpSpPr>
              <p:cNvPr id="1536" name="成组"/>
              <p:cNvGrpSpPr/>
              <p:nvPr/>
            </p:nvGrpSpPr>
            <p:grpSpPr>
              <a:xfrm>
                <a:off x="2641600" y="0"/>
                <a:ext cx="662378" cy="662378"/>
                <a:chOff x="0" y="0"/>
                <a:chExt cx="662377" cy="662377"/>
              </a:xfrm>
            </p:grpSpPr>
            <p:sp>
              <p:nvSpPr>
                <p:cNvPr id="1534" name="正方形"/>
                <p:cNvSpPr/>
                <p:nvPr/>
              </p:nvSpPr>
              <p:spPr>
                <a:xfrm>
                  <a:off x="0" y="0"/>
                  <a:ext cx="662378" cy="662378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solidFill>
                        <a:schemeClr val="accent1">
                          <a:satOff val="-36923"/>
                          <a:lumOff val="15441"/>
                        </a:schemeClr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535" name="6"/>
                <p:cNvSpPr txBox="1"/>
                <p:nvPr/>
              </p:nvSpPr>
              <p:spPr>
                <a:xfrm>
                  <a:off x="143538" y="139733"/>
                  <a:ext cx="299100" cy="38291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2000"/>
                  </a:lvl1pPr>
                </a:lstStyle>
                <a:p>
                  <a:pPr/>
                  <a:r>
                    <a:t>6</a:t>
                  </a:r>
                </a:p>
              </p:txBody>
            </p:sp>
          </p:grpSp>
        </p:grpSp>
        <p:sp>
          <p:nvSpPr>
            <p:cNvPr id="1538" name="v0"/>
            <p:cNvSpPr txBox="1"/>
            <p:nvPr/>
          </p:nvSpPr>
          <p:spPr>
            <a:xfrm>
              <a:off x="166420" y="0"/>
              <a:ext cx="383767" cy="3829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2000"/>
              </a:pPr>
              <a:r>
                <a:t>v</a:t>
              </a:r>
              <a:r>
                <a:rPr baseline="-5999"/>
                <a:t>0</a:t>
              </a:r>
            </a:p>
          </p:txBody>
        </p:sp>
        <p:sp>
          <p:nvSpPr>
            <p:cNvPr id="1539" name="v1"/>
            <p:cNvSpPr txBox="1"/>
            <p:nvPr/>
          </p:nvSpPr>
          <p:spPr>
            <a:xfrm>
              <a:off x="808148" y="0"/>
              <a:ext cx="383767" cy="3829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2000"/>
              </a:pPr>
              <a:r>
                <a:t>v</a:t>
              </a:r>
              <a:r>
                <a:rPr baseline="-5999"/>
                <a:t>1</a:t>
              </a:r>
            </a:p>
          </p:txBody>
        </p:sp>
        <p:sp>
          <p:nvSpPr>
            <p:cNvPr id="1540" name="v2"/>
            <p:cNvSpPr txBox="1"/>
            <p:nvPr/>
          </p:nvSpPr>
          <p:spPr>
            <a:xfrm>
              <a:off x="1449877" y="0"/>
              <a:ext cx="383767" cy="3829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2000"/>
              </a:pPr>
              <a:r>
                <a:t>v</a:t>
              </a:r>
              <a:r>
                <a:rPr baseline="-5999"/>
                <a:t>2</a:t>
              </a:r>
            </a:p>
          </p:txBody>
        </p:sp>
        <p:sp>
          <p:nvSpPr>
            <p:cNvPr id="1541" name="v3"/>
            <p:cNvSpPr txBox="1"/>
            <p:nvPr/>
          </p:nvSpPr>
          <p:spPr>
            <a:xfrm>
              <a:off x="2135677" y="0"/>
              <a:ext cx="383767" cy="3829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2000"/>
              </a:pPr>
              <a:r>
                <a:t>v</a:t>
              </a:r>
              <a:r>
                <a:rPr baseline="-5999"/>
                <a:t>3</a:t>
              </a:r>
            </a:p>
          </p:txBody>
        </p:sp>
        <p:sp>
          <p:nvSpPr>
            <p:cNvPr id="1542" name="v4"/>
            <p:cNvSpPr txBox="1"/>
            <p:nvPr/>
          </p:nvSpPr>
          <p:spPr>
            <a:xfrm>
              <a:off x="2770677" y="0"/>
              <a:ext cx="383767" cy="3829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2000"/>
              </a:pPr>
              <a:r>
                <a:t>v</a:t>
              </a:r>
              <a:r>
                <a:rPr baseline="-5999"/>
                <a:t>4</a:t>
              </a:r>
            </a:p>
          </p:txBody>
        </p:sp>
        <p:sp>
          <p:nvSpPr>
            <p:cNvPr id="1543" name="d[0]"/>
            <p:cNvSpPr txBox="1"/>
            <p:nvPr/>
          </p:nvSpPr>
          <p:spPr>
            <a:xfrm>
              <a:off x="26720" y="1066800"/>
              <a:ext cx="595268" cy="3829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d[0]</a:t>
              </a:r>
            </a:p>
          </p:txBody>
        </p:sp>
        <p:sp>
          <p:nvSpPr>
            <p:cNvPr id="1544" name="d[1]"/>
            <p:cNvSpPr txBox="1"/>
            <p:nvPr/>
          </p:nvSpPr>
          <p:spPr>
            <a:xfrm>
              <a:off x="693848" y="1066800"/>
              <a:ext cx="595268" cy="3829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d[1]</a:t>
              </a:r>
            </a:p>
          </p:txBody>
        </p:sp>
        <p:sp>
          <p:nvSpPr>
            <p:cNvPr id="1545" name="d[2]"/>
            <p:cNvSpPr txBox="1"/>
            <p:nvPr/>
          </p:nvSpPr>
          <p:spPr>
            <a:xfrm>
              <a:off x="1348277" y="1066800"/>
              <a:ext cx="595268" cy="3829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d[2]</a:t>
              </a:r>
            </a:p>
          </p:txBody>
        </p:sp>
        <p:sp>
          <p:nvSpPr>
            <p:cNvPr id="1546" name="d[3]"/>
            <p:cNvSpPr txBox="1"/>
            <p:nvPr/>
          </p:nvSpPr>
          <p:spPr>
            <a:xfrm>
              <a:off x="2021377" y="1066800"/>
              <a:ext cx="595268" cy="3829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d[3]</a:t>
              </a:r>
            </a:p>
          </p:txBody>
        </p:sp>
        <p:sp>
          <p:nvSpPr>
            <p:cNvPr id="1547" name="d[4]"/>
            <p:cNvSpPr txBox="1"/>
            <p:nvPr/>
          </p:nvSpPr>
          <p:spPr>
            <a:xfrm>
              <a:off x="2656377" y="1066800"/>
              <a:ext cx="595268" cy="3829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d[4]</a:t>
              </a:r>
            </a:p>
          </p:txBody>
        </p:sp>
        <p:grpSp>
          <p:nvGrpSpPr>
            <p:cNvPr id="1563" name="成组"/>
            <p:cNvGrpSpPr/>
            <p:nvPr/>
          </p:nvGrpSpPr>
          <p:grpSpPr>
            <a:xfrm>
              <a:off x="0" y="1538107"/>
              <a:ext cx="3303978" cy="662378"/>
              <a:chOff x="0" y="0"/>
              <a:chExt cx="3303977" cy="662377"/>
            </a:xfrm>
          </p:grpSpPr>
          <p:grpSp>
            <p:nvGrpSpPr>
              <p:cNvPr id="1550" name="成组"/>
              <p:cNvGrpSpPr/>
              <p:nvPr/>
            </p:nvGrpSpPr>
            <p:grpSpPr>
              <a:xfrm>
                <a:off x="0" y="0"/>
                <a:ext cx="662378" cy="662378"/>
                <a:chOff x="0" y="0"/>
                <a:chExt cx="662377" cy="662377"/>
              </a:xfrm>
            </p:grpSpPr>
            <p:sp>
              <p:nvSpPr>
                <p:cNvPr id="1548" name="正方形"/>
                <p:cNvSpPr/>
                <p:nvPr/>
              </p:nvSpPr>
              <p:spPr>
                <a:xfrm>
                  <a:off x="0" y="0"/>
                  <a:ext cx="662378" cy="662378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solidFill>
                        <a:schemeClr val="accent1">
                          <a:satOff val="-36923"/>
                          <a:lumOff val="15441"/>
                        </a:schemeClr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549" name="-1"/>
                <p:cNvSpPr txBox="1"/>
                <p:nvPr/>
              </p:nvSpPr>
              <p:spPr>
                <a:xfrm>
                  <a:off x="181638" y="139733"/>
                  <a:ext cx="383684" cy="38291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2000"/>
                  </a:lvl1pPr>
                </a:lstStyle>
                <a:p>
                  <a:pPr/>
                  <a:r>
                    <a:t>-1</a:t>
                  </a:r>
                </a:p>
              </p:txBody>
            </p:sp>
          </p:grpSp>
          <p:grpSp>
            <p:nvGrpSpPr>
              <p:cNvPr id="1553" name="成组"/>
              <p:cNvGrpSpPr/>
              <p:nvPr/>
            </p:nvGrpSpPr>
            <p:grpSpPr>
              <a:xfrm>
                <a:off x="660399" y="0"/>
                <a:ext cx="662378" cy="662378"/>
                <a:chOff x="0" y="0"/>
                <a:chExt cx="662377" cy="662377"/>
              </a:xfrm>
            </p:grpSpPr>
            <p:sp>
              <p:nvSpPr>
                <p:cNvPr id="1551" name="正方形"/>
                <p:cNvSpPr/>
                <p:nvPr/>
              </p:nvSpPr>
              <p:spPr>
                <a:xfrm>
                  <a:off x="0" y="0"/>
                  <a:ext cx="662378" cy="662378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solidFill>
                        <a:schemeClr val="accent1">
                          <a:satOff val="-36923"/>
                          <a:lumOff val="15441"/>
                        </a:schemeClr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552" name="0"/>
                <p:cNvSpPr txBox="1"/>
                <p:nvPr/>
              </p:nvSpPr>
              <p:spPr>
                <a:xfrm>
                  <a:off x="156238" y="139733"/>
                  <a:ext cx="299100" cy="38291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2000"/>
                  </a:lvl1pPr>
                </a:lstStyle>
                <a:p>
                  <a:pPr/>
                  <a:r>
                    <a:t>0</a:t>
                  </a:r>
                </a:p>
              </p:txBody>
            </p:sp>
          </p:grpSp>
          <p:grpSp>
            <p:nvGrpSpPr>
              <p:cNvPr id="1556" name="成组"/>
              <p:cNvGrpSpPr/>
              <p:nvPr/>
            </p:nvGrpSpPr>
            <p:grpSpPr>
              <a:xfrm>
                <a:off x="1320799" y="0"/>
                <a:ext cx="662378" cy="662378"/>
                <a:chOff x="0" y="0"/>
                <a:chExt cx="662377" cy="662377"/>
              </a:xfrm>
            </p:grpSpPr>
            <p:sp>
              <p:nvSpPr>
                <p:cNvPr id="1554" name="正方形"/>
                <p:cNvSpPr/>
                <p:nvPr/>
              </p:nvSpPr>
              <p:spPr>
                <a:xfrm>
                  <a:off x="0" y="0"/>
                  <a:ext cx="662378" cy="662378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solidFill>
                        <a:schemeClr val="accent1">
                          <a:satOff val="-36923"/>
                          <a:lumOff val="15441"/>
                        </a:schemeClr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555" name="3"/>
                <p:cNvSpPr txBox="1"/>
                <p:nvPr/>
              </p:nvSpPr>
              <p:spPr>
                <a:xfrm>
                  <a:off x="156238" y="139733"/>
                  <a:ext cx="299100" cy="38291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2000"/>
                  </a:lvl1pPr>
                </a:lstStyle>
                <a:p>
                  <a:pPr/>
                  <a:r>
                    <a:t>3</a:t>
                  </a:r>
                </a:p>
              </p:txBody>
            </p:sp>
          </p:grpSp>
          <p:grpSp>
            <p:nvGrpSpPr>
              <p:cNvPr id="1559" name="成组"/>
              <p:cNvGrpSpPr/>
              <p:nvPr/>
            </p:nvGrpSpPr>
            <p:grpSpPr>
              <a:xfrm>
                <a:off x="1981200" y="0"/>
                <a:ext cx="662378" cy="662378"/>
                <a:chOff x="0" y="0"/>
                <a:chExt cx="662377" cy="662377"/>
              </a:xfrm>
            </p:grpSpPr>
            <p:sp>
              <p:nvSpPr>
                <p:cNvPr id="1557" name="正方形"/>
                <p:cNvSpPr/>
                <p:nvPr/>
              </p:nvSpPr>
              <p:spPr>
                <a:xfrm>
                  <a:off x="0" y="0"/>
                  <a:ext cx="662378" cy="662378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solidFill>
                        <a:schemeClr val="accent1">
                          <a:satOff val="-36923"/>
                          <a:lumOff val="15441"/>
                        </a:schemeClr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558" name="0"/>
                <p:cNvSpPr txBox="1"/>
                <p:nvPr/>
              </p:nvSpPr>
              <p:spPr>
                <a:xfrm>
                  <a:off x="130838" y="139733"/>
                  <a:ext cx="299100" cy="38291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2000"/>
                  </a:lvl1pPr>
                </a:lstStyle>
                <a:p>
                  <a:pPr/>
                  <a:r>
                    <a:t>0</a:t>
                  </a:r>
                </a:p>
              </p:txBody>
            </p:sp>
          </p:grpSp>
          <p:grpSp>
            <p:nvGrpSpPr>
              <p:cNvPr id="1562" name="成组"/>
              <p:cNvGrpSpPr/>
              <p:nvPr/>
            </p:nvGrpSpPr>
            <p:grpSpPr>
              <a:xfrm>
                <a:off x="2641600" y="0"/>
                <a:ext cx="662378" cy="662378"/>
                <a:chOff x="0" y="0"/>
                <a:chExt cx="662377" cy="662377"/>
              </a:xfrm>
            </p:grpSpPr>
            <p:sp>
              <p:nvSpPr>
                <p:cNvPr id="1560" name="正方形"/>
                <p:cNvSpPr/>
                <p:nvPr/>
              </p:nvSpPr>
              <p:spPr>
                <a:xfrm>
                  <a:off x="0" y="0"/>
                  <a:ext cx="662378" cy="662378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solidFill>
                        <a:schemeClr val="accent1">
                          <a:satOff val="-36923"/>
                          <a:lumOff val="15441"/>
                        </a:schemeClr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561" name="2"/>
                <p:cNvSpPr txBox="1"/>
                <p:nvPr/>
              </p:nvSpPr>
              <p:spPr>
                <a:xfrm>
                  <a:off x="143538" y="139733"/>
                  <a:ext cx="299100" cy="38291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2000"/>
                  </a:lvl1pPr>
                </a:lstStyle>
                <a:p>
                  <a:pPr/>
                  <a:r>
                    <a:t>2</a:t>
                  </a:r>
                </a:p>
              </p:txBody>
            </p:sp>
          </p:grpSp>
        </p:grpSp>
        <p:sp>
          <p:nvSpPr>
            <p:cNvPr id="1564" name="p[0]"/>
            <p:cNvSpPr txBox="1"/>
            <p:nvPr/>
          </p:nvSpPr>
          <p:spPr>
            <a:xfrm>
              <a:off x="26720" y="2209800"/>
              <a:ext cx="595268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p[0]</a:t>
              </a:r>
            </a:p>
          </p:txBody>
        </p:sp>
        <p:sp>
          <p:nvSpPr>
            <p:cNvPr id="1565" name="p[1]"/>
            <p:cNvSpPr txBox="1"/>
            <p:nvPr/>
          </p:nvSpPr>
          <p:spPr>
            <a:xfrm>
              <a:off x="693848" y="2209800"/>
              <a:ext cx="595268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p[1]</a:t>
              </a:r>
            </a:p>
          </p:txBody>
        </p:sp>
        <p:sp>
          <p:nvSpPr>
            <p:cNvPr id="1566" name="p[2]"/>
            <p:cNvSpPr txBox="1"/>
            <p:nvPr/>
          </p:nvSpPr>
          <p:spPr>
            <a:xfrm>
              <a:off x="1348277" y="2209800"/>
              <a:ext cx="595268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p[2]</a:t>
              </a:r>
            </a:p>
          </p:txBody>
        </p:sp>
        <p:sp>
          <p:nvSpPr>
            <p:cNvPr id="1567" name="p[3]"/>
            <p:cNvSpPr txBox="1"/>
            <p:nvPr/>
          </p:nvSpPr>
          <p:spPr>
            <a:xfrm>
              <a:off x="2021377" y="2209800"/>
              <a:ext cx="595268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p[3]</a:t>
              </a:r>
            </a:p>
          </p:txBody>
        </p:sp>
        <p:sp>
          <p:nvSpPr>
            <p:cNvPr id="1568" name="p[4]"/>
            <p:cNvSpPr txBox="1"/>
            <p:nvPr/>
          </p:nvSpPr>
          <p:spPr>
            <a:xfrm>
              <a:off x="2656377" y="2209800"/>
              <a:ext cx="595268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p[4]</a:t>
              </a:r>
            </a:p>
          </p:txBody>
        </p:sp>
        <p:sp>
          <p:nvSpPr>
            <p:cNvPr id="1569" name="S = {v0, v3, v2}    Q = {v1, v4}"/>
            <p:cNvSpPr txBox="1"/>
            <p:nvPr/>
          </p:nvSpPr>
          <p:spPr>
            <a:xfrm>
              <a:off x="2085" y="2730952"/>
              <a:ext cx="3218281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2000"/>
              </a:pPr>
              <a:r>
                <a:t>S = {v</a:t>
              </a:r>
              <a:r>
                <a:rPr baseline="-5999"/>
                <a:t>0</a:t>
              </a:r>
              <a:r>
                <a:t>, v</a:t>
              </a:r>
              <a:r>
                <a:rPr baseline="-5999"/>
                <a:t>3</a:t>
              </a:r>
              <a:r>
                <a:t>, v</a:t>
              </a:r>
              <a:r>
                <a:rPr baseline="-5999"/>
                <a:t>2</a:t>
              </a:r>
              <a:r>
                <a:t>}    Q = {v</a:t>
              </a:r>
              <a:r>
                <a:rPr baseline="-5999"/>
                <a:t>1</a:t>
              </a:r>
              <a:r>
                <a:t>, v</a:t>
              </a:r>
              <a:r>
                <a:rPr baseline="-5999"/>
                <a:t>4</a:t>
              </a:r>
              <a:r>
                <a:t>}</a:t>
              </a:r>
            </a:p>
          </p:txBody>
        </p:sp>
      </p:grpSp>
      <p:grpSp>
        <p:nvGrpSpPr>
          <p:cNvPr id="1619" name="成组"/>
          <p:cNvGrpSpPr/>
          <p:nvPr/>
        </p:nvGrpSpPr>
        <p:grpSpPr>
          <a:xfrm>
            <a:off x="4837711" y="5032987"/>
            <a:ext cx="3303978" cy="3113863"/>
            <a:chOff x="0" y="0"/>
            <a:chExt cx="3303977" cy="3113862"/>
          </a:xfrm>
        </p:grpSpPr>
        <p:grpSp>
          <p:nvGrpSpPr>
            <p:cNvPr id="1586" name="成组"/>
            <p:cNvGrpSpPr/>
            <p:nvPr/>
          </p:nvGrpSpPr>
          <p:grpSpPr>
            <a:xfrm>
              <a:off x="0" y="395107"/>
              <a:ext cx="3303978" cy="662378"/>
              <a:chOff x="0" y="0"/>
              <a:chExt cx="3303977" cy="662377"/>
            </a:xfrm>
          </p:grpSpPr>
          <p:grpSp>
            <p:nvGrpSpPr>
              <p:cNvPr id="1573" name="成组"/>
              <p:cNvGrpSpPr/>
              <p:nvPr/>
            </p:nvGrpSpPr>
            <p:grpSpPr>
              <a:xfrm>
                <a:off x="0" y="0"/>
                <a:ext cx="662378" cy="662378"/>
                <a:chOff x="0" y="0"/>
                <a:chExt cx="662377" cy="662377"/>
              </a:xfrm>
            </p:grpSpPr>
            <p:sp>
              <p:nvSpPr>
                <p:cNvPr id="1571" name="正方形"/>
                <p:cNvSpPr/>
                <p:nvPr/>
              </p:nvSpPr>
              <p:spPr>
                <a:xfrm>
                  <a:off x="0" y="0"/>
                  <a:ext cx="662378" cy="662378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solidFill>
                        <a:schemeClr val="accent1">
                          <a:satOff val="-36923"/>
                          <a:lumOff val="15441"/>
                        </a:schemeClr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572" name="0"/>
                <p:cNvSpPr txBox="1"/>
                <p:nvPr/>
              </p:nvSpPr>
              <p:spPr>
                <a:xfrm>
                  <a:off x="181638" y="139733"/>
                  <a:ext cx="299100" cy="38291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2000"/>
                  </a:lvl1pPr>
                </a:lstStyle>
                <a:p>
                  <a:pPr/>
                  <a:r>
                    <a:t>0</a:t>
                  </a:r>
                </a:p>
              </p:txBody>
            </p:sp>
          </p:grpSp>
          <p:grpSp>
            <p:nvGrpSpPr>
              <p:cNvPr id="1576" name="成组"/>
              <p:cNvGrpSpPr/>
              <p:nvPr/>
            </p:nvGrpSpPr>
            <p:grpSpPr>
              <a:xfrm>
                <a:off x="660399" y="0"/>
                <a:ext cx="662378" cy="662378"/>
                <a:chOff x="0" y="0"/>
                <a:chExt cx="662377" cy="662377"/>
              </a:xfrm>
            </p:grpSpPr>
            <p:sp>
              <p:nvSpPr>
                <p:cNvPr id="1574" name="正方形"/>
                <p:cNvSpPr/>
                <p:nvPr/>
              </p:nvSpPr>
              <p:spPr>
                <a:xfrm>
                  <a:off x="0" y="0"/>
                  <a:ext cx="662378" cy="662378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solidFill>
                        <a:schemeClr val="accent1">
                          <a:satOff val="-36923"/>
                          <a:lumOff val="15441"/>
                        </a:schemeClr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575" name="7"/>
                <p:cNvSpPr txBox="1"/>
                <p:nvPr/>
              </p:nvSpPr>
              <p:spPr>
                <a:xfrm>
                  <a:off x="156238" y="139733"/>
                  <a:ext cx="299100" cy="38291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2000"/>
                  </a:lvl1pPr>
                </a:lstStyle>
                <a:p>
                  <a:pPr/>
                  <a:r>
                    <a:t>7</a:t>
                  </a:r>
                </a:p>
              </p:txBody>
            </p:sp>
          </p:grpSp>
          <p:grpSp>
            <p:nvGrpSpPr>
              <p:cNvPr id="1579" name="成组"/>
              <p:cNvGrpSpPr/>
              <p:nvPr/>
            </p:nvGrpSpPr>
            <p:grpSpPr>
              <a:xfrm>
                <a:off x="1320799" y="0"/>
                <a:ext cx="662378" cy="662378"/>
                <a:chOff x="0" y="0"/>
                <a:chExt cx="662377" cy="662377"/>
              </a:xfrm>
            </p:grpSpPr>
            <p:sp>
              <p:nvSpPr>
                <p:cNvPr id="1577" name="正方形"/>
                <p:cNvSpPr/>
                <p:nvPr/>
              </p:nvSpPr>
              <p:spPr>
                <a:xfrm>
                  <a:off x="0" y="0"/>
                  <a:ext cx="662378" cy="662378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solidFill>
                        <a:schemeClr val="accent1">
                          <a:satOff val="-36923"/>
                          <a:lumOff val="15441"/>
                        </a:schemeClr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578" name="5"/>
                <p:cNvSpPr txBox="1"/>
                <p:nvPr/>
              </p:nvSpPr>
              <p:spPr>
                <a:xfrm>
                  <a:off x="156238" y="139733"/>
                  <a:ext cx="299100" cy="38291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2000"/>
                  </a:lvl1pPr>
                </a:lstStyle>
                <a:p>
                  <a:pPr/>
                  <a:r>
                    <a:t>5</a:t>
                  </a:r>
                </a:p>
              </p:txBody>
            </p:sp>
          </p:grpSp>
          <p:grpSp>
            <p:nvGrpSpPr>
              <p:cNvPr id="1582" name="成组"/>
              <p:cNvGrpSpPr/>
              <p:nvPr/>
            </p:nvGrpSpPr>
            <p:grpSpPr>
              <a:xfrm>
                <a:off x="1981200" y="0"/>
                <a:ext cx="662378" cy="662378"/>
                <a:chOff x="0" y="0"/>
                <a:chExt cx="662377" cy="662377"/>
              </a:xfrm>
            </p:grpSpPr>
            <p:sp>
              <p:nvSpPr>
                <p:cNvPr id="1580" name="正方形"/>
                <p:cNvSpPr/>
                <p:nvPr/>
              </p:nvSpPr>
              <p:spPr>
                <a:xfrm>
                  <a:off x="0" y="0"/>
                  <a:ext cx="662378" cy="662378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solidFill>
                        <a:schemeClr val="accent1">
                          <a:satOff val="-36923"/>
                          <a:lumOff val="15441"/>
                        </a:schemeClr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581" name="3"/>
                <p:cNvSpPr txBox="1"/>
                <p:nvPr/>
              </p:nvSpPr>
              <p:spPr>
                <a:xfrm>
                  <a:off x="130838" y="139733"/>
                  <a:ext cx="299100" cy="38291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2000"/>
                  </a:lvl1pPr>
                </a:lstStyle>
                <a:p>
                  <a:pPr/>
                  <a:r>
                    <a:t>3</a:t>
                  </a:r>
                </a:p>
              </p:txBody>
            </p:sp>
          </p:grpSp>
          <p:grpSp>
            <p:nvGrpSpPr>
              <p:cNvPr id="1585" name="成组"/>
              <p:cNvGrpSpPr/>
              <p:nvPr/>
            </p:nvGrpSpPr>
            <p:grpSpPr>
              <a:xfrm>
                <a:off x="2641600" y="0"/>
                <a:ext cx="662378" cy="662378"/>
                <a:chOff x="0" y="0"/>
                <a:chExt cx="662377" cy="662377"/>
              </a:xfrm>
            </p:grpSpPr>
            <p:sp>
              <p:nvSpPr>
                <p:cNvPr id="1583" name="正方形"/>
                <p:cNvSpPr/>
                <p:nvPr/>
              </p:nvSpPr>
              <p:spPr>
                <a:xfrm>
                  <a:off x="0" y="0"/>
                  <a:ext cx="662378" cy="662378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solidFill>
                        <a:schemeClr val="accent1">
                          <a:satOff val="-36923"/>
                          <a:lumOff val="15441"/>
                        </a:schemeClr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584" name="6"/>
                <p:cNvSpPr txBox="1"/>
                <p:nvPr/>
              </p:nvSpPr>
              <p:spPr>
                <a:xfrm>
                  <a:off x="143538" y="139733"/>
                  <a:ext cx="299100" cy="38291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2000"/>
                  </a:lvl1pPr>
                </a:lstStyle>
                <a:p>
                  <a:pPr/>
                  <a:r>
                    <a:t>6</a:t>
                  </a:r>
                </a:p>
              </p:txBody>
            </p:sp>
          </p:grpSp>
        </p:grpSp>
        <p:sp>
          <p:nvSpPr>
            <p:cNvPr id="1587" name="v0"/>
            <p:cNvSpPr txBox="1"/>
            <p:nvPr/>
          </p:nvSpPr>
          <p:spPr>
            <a:xfrm>
              <a:off x="166420" y="0"/>
              <a:ext cx="383767" cy="3829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2000"/>
              </a:pPr>
              <a:r>
                <a:t>v</a:t>
              </a:r>
              <a:r>
                <a:rPr baseline="-5999"/>
                <a:t>0</a:t>
              </a:r>
            </a:p>
          </p:txBody>
        </p:sp>
        <p:sp>
          <p:nvSpPr>
            <p:cNvPr id="1588" name="v1"/>
            <p:cNvSpPr txBox="1"/>
            <p:nvPr/>
          </p:nvSpPr>
          <p:spPr>
            <a:xfrm>
              <a:off x="808148" y="0"/>
              <a:ext cx="383767" cy="3829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2000"/>
              </a:pPr>
              <a:r>
                <a:t>v</a:t>
              </a:r>
              <a:r>
                <a:rPr baseline="-5999"/>
                <a:t>1</a:t>
              </a:r>
            </a:p>
          </p:txBody>
        </p:sp>
        <p:sp>
          <p:nvSpPr>
            <p:cNvPr id="1589" name="v2"/>
            <p:cNvSpPr txBox="1"/>
            <p:nvPr/>
          </p:nvSpPr>
          <p:spPr>
            <a:xfrm>
              <a:off x="1449877" y="0"/>
              <a:ext cx="383767" cy="3829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2000"/>
              </a:pPr>
              <a:r>
                <a:t>v</a:t>
              </a:r>
              <a:r>
                <a:rPr baseline="-5999"/>
                <a:t>2</a:t>
              </a:r>
            </a:p>
          </p:txBody>
        </p:sp>
        <p:sp>
          <p:nvSpPr>
            <p:cNvPr id="1590" name="v3"/>
            <p:cNvSpPr txBox="1"/>
            <p:nvPr/>
          </p:nvSpPr>
          <p:spPr>
            <a:xfrm>
              <a:off x="2135677" y="0"/>
              <a:ext cx="383767" cy="3829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2000"/>
              </a:pPr>
              <a:r>
                <a:t>v</a:t>
              </a:r>
              <a:r>
                <a:rPr baseline="-5999"/>
                <a:t>3</a:t>
              </a:r>
            </a:p>
          </p:txBody>
        </p:sp>
        <p:sp>
          <p:nvSpPr>
            <p:cNvPr id="1591" name="v4"/>
            <p:cNvSpPr txBox="1"/>
            <p:nvPr/>
          </p:nvSpPr>
          <p:spPr>
            <a:xfrm>
              <a:off x="2770677" y="0"/>
              <a:ext cx="383767" cy="3829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2000"/>
              </a:pPr>
              <a:r>
                <a:t>v</a:t>
              </a:r>
              <a:r>
                <a:rPr baseline="-5999"/>
                <a:t>4</a:t>
              </a:r>
            </a:p>
          </p:txBody>
        </p:sp>
        <p:sp>
          <p:nvSpPr>
            <p:cNvPr id="1592" name="d[0]"/>
            <p:cNvSpPr txBox="1"/>
            <p:nvPr/>
          </p:nvSpPr>
          <p:spPr>
            <a:xfrm>
              <a:off x="26720" y="1066800"/>
              <a:ext cx="595268" cy="3829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d[0]</a:t>
              </a:r>
            </a:p>
          </p:txBody>
        </p:sp>
        <p:sp>
          <p:nvSpPr>
            <p:cNvPr id="1593" name="d[1]"/>
            <p:cNvSpPr txBox="1"/>
            <p:nvPr/>
          </p:nvSpPr>
          <p:spPr>
            <a:xfrm>
              <a:off x="693848" y="1066800"/>
              <a:ext cx="595268" cy="3829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d[1]</a:t>
              </a:r>
            </a:p>
          </p:txBody>
        </p:sp>
        <p:sp>
          <p:nvSpPr>
            <p:cNvPr id="1594" name="d[2]"/>
            <p:cNvSpPr txBox="1"/>
            <p:nvPr/>
          </p:nvSpPr>
          <p:spPr>
            <a:xfrm>
              <a:off x="1348277" y="1066800"/>
              <a:ext cx="595268" cy="3829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d[2]</a:t>
              </a:r>
            </a:p>
          </p:txBody>
        </p:sp>
        <p:sp>
          <p:nvSpPr>
            <p:cNvPr id="1595" name="d[3]"/>
            <p:cNvSpPr txBox="1"/>
            <p:nvPr/>
          </p:nvSpPr>
          <p:spPr>
            <a:xfrm>
              <a:off x="2021377" y="1066800"/>
              <a:ext cx="595268" cy="3829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d[3]</a:t>
              </a:r>
            </a:p>
          </p:txBody>
        </p:sp>
        <p:sp>
          <p:nvSpPr>
            <p:cNvPr id="1596" name="d[4]"/>
            <p:cNvSpPr txBox="1"/>
            <p:nvPr/>
          </p:nvSpPr>
          <p:spPr>
            <a:xfrm>
              <a:off x="2656377" y="1066800"/>
              <a:ext cx="595268" cy="3829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d[4]</a:t>
              </a:r>
            </a:p>
          </p:txBody>
        </p:sp>
        <p:grpSp>
          <p:nvGrpSpPr>
            <p:cNvPr id="1612" name="成组"/>
            <p:cNvGrpSpPr/>
            <p:nvPr/>
          </p:nvGrpSpPr>
          <p:grpSpPr>
            <a:xfrm>
              <a:off x="0" y="1538107"/>
              <a:ext cx="3303978" cy="662378"/>
              <a:chOff x="0" y="0"/>
              <a:chExt cx="3303977" cy="662377"/>
            </a:xfrm>
          </p:grpSpPr>
          <p:grpSp>
            <p:nvGrpSpPr>
              <p:cNvPr id="1599" name="成组"/>
              <p:cNvGrpSpPr/>
              <p:nvPr/>
            </p:nvGrpSpPr>
            <p:grpSpPr>
              <a:xfrm>
                <a:off x="0" y="0"/>
                <a:ext cx="662378" cy="662378"/>
                <a:chOff x="0" y="0"/>
                <a:chExt cx="662377" cy="662377"/>
              </a:xfrm>
            </p:grpSpPr>
            <p:sp>
              <p:nvSpPr>
                <p:cNvPr id="1597" name="正方形"/>
                <p:cNvSpPr/>
                <p:nvPr/>
              </p:nvSpPr>
              <p:spPr>
                <a:xfrm>
                  <a:off x="0" y="0"/>
                  <a:ext cx="662378" cy="662378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solidFill>
                        <a:schemeClr val="accent1">
                          <a:satOff val="-36923"/>
                          <a:lumOff val="15441"/>
                        </a:schemeClr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598" name="-1"/>
                <p:cNvSpPr txBox="1"/>
                <p:nvPr/>
              </p:nvSpPr>
              <p:spPr>
                <a:xfrm>
                  <a:off x="181638" y="139733"/>
                  <a:ext cx="383684" cy="38291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2000"/>
                  </a:lvl1pPr>
                </a:lstStyle>
                <a:p>
                  <a:pPr/>
                  <a:r>
                    <a:t>-1</a:t>
                  </a:r>
                </a:p>
              </p:txBody>
            </p:sp>
          </p:grpSp>
          <p:grpSp>
            <p:nvGrpSpPr>
              <p:cNvPr id="1602" name="成组"/>
              <p:cNvGrpSpPr/>
              <p:nvPr/>
            </p:nvGrpSpPr>
            <p:grpSpPr>
              <a:xfrm>
                <a:off x="660399" y="0"/>
                <a:ext cx="662378" cy="662378"/>
                <a:chOff x="0" y="0"/>
                <a:chExt cx="662377" cy="662377"/>
              </a:xfrm>
            </p:grpSpPr>
            <p:sp>
              <p:nvSpPr>
                <p:cNvPr id="1600" name="正方形"/>
                <p:cNvSpPr/>
                <p:nvPr/>
              </p:nvSpPr>
              <p:spPr>
                <a:xfrm>
                  <a:off x="0" y="0"/>
                  <a:ext cx="662378" cy="662378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solidFill>
                        <a:schemeClr val="accent1">
                          <a:satOff val="-36923"/>
                          <a:lumOff val="15441"/>
                        </a:schemeClr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601" name="4"/>
                <p:cNvSpPr txBox="1"/>
                <p:nvPr/>
              </p:nvSpPr>
              <p:spPr>
                <a:xfrm>
                  <a:off x="156238" y="139733"/>
                  <a:ext cx="299100" cy="38291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2000"/>
                  </a:lvl1pPr>
                </a:lstStyle>
                <a:p>
                  <a:pPr/>
                  <a:r>
                    <a:t>4</a:t>
                  </a:r>
                </a:p>
              </p:txBody>
            </p:sp>
          </p:grpSp>
          <p:grpSp>
            <p:nvGrpSpPr>
              <p:cNvPr id="1605" name="成组"/>
              <p:cNvGrpSpPr/>
              <p:nvPr/>
            </p:nvGrpSpPr>
            <p:grpSpPr>
              <a:xfrm>
                <a:off x="1320799" y="0"/>
                <a:ext cx="662378" cy="662378"/>
                <a:chOff x="0" y="0"/>
                <a:chExt cx="662377" cy="662377"/>
              </a:xfrm>
            </p:grpSpPr>
            <p:sp>
              <p:nvSpPr>
                <p:cNvPr id="1603" name="正方形"/>
                <p:cNvSpPr/>
                <p:nvPr/>
              </p:nvSpPr>
              <p:spPr>
                <a:xfrm>
                  <a:off x="0" y="0"/>
                  <a:ext cx="662378" cy="662378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solidFill>
                        <a:schemeClr val="accent1">
                          <a:satOff val="-36923"/>
                          <a:lumOff val="15441"/>
                        </a:schemeClr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604" name="3"/>
                <p:cNvSpPr txBox="1"/>
                <p:nvPr/>
              </p:nvSpPr>
              <p:spPr>
                <a:xfrm>
                  <a:off x="156238" y="139733"/>
                  <a:ext cx="299100" cy="38291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2000"/>
                  </a:lvl1pPr>
                </a:lstStyle>
                <a:p>
                  <a:pPr/>
                  <a:r>
                    <a:t>3</a:t>
                  </a:r>
                </a:p>
              </p:txBody>
            </p:sp>
          </p:grpSp>
          <p:grpSp>
            <p:nvGrpSpPr>
              <p:cNvPr id="1608" name="成组"/>
              <p:cNvGrpSpPr/>
              <p:nvPr/>
            </p:nvGrpSpPr>
            <p:grpSpPr>
              <a:xfrm>
                <a:off x="1981200" y="0"/>
                <a:ext cx="662378" cy="662378"/>
                <a:chOff x="0" y="0"/>
                <a:chExt cx="662377" cy="662377"/>
              </a:xfrm>
            </p:grpSpPr>
            <p:sp>
              <p:nvSpPr>
                <p:cNvPr id="1606" name="正方形"/>
                <p:cNvSpPr/>
                <p:nvPr/>
              </p:nvSpPr>
              <p:spPr>
                <a:xfrm>
                  <a:off x="0" y="0"/>
                  <a:ext cx="662378" cy="662378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solidFill>
                        <a:schemeClr val="accent1">
                          <a:satOff val="-36923"/>
                          <a:lumOff val="15441"/>
                        </a:schemeClr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607" name="0"/>
                <p:cNvSpPr txBox="1"/>
                <p:nvPr/>
              </p:nvSpPr>
              <p:spPr>
                <a:xfrm>
                  <a:off x="130838" y="139733"/>
                  <a:ext cx="299100" cy="38291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2000"/>
                  </a:lvl1pPr>
                </a:lstStyle>
                <a:p>
                  <a:pPr/>
                  <a:r>
                    <a:t>0</a:t>
                  </a:r>
                </a:p>
              </p:txBody>
            </p:sp>
          </p:grpSp>
          <p:grpSp>
            <p:nvGrpSpPr>
              <p:cNvPr id="1611" name="成组"/>
              <p:cNvGrpSpPr/>
              <p:nvPr/>
            </p:nvGrpSpPr>
            <p:grpSpPr>
              <a:xfrm>
                <a:off x="2641600" y="0"/>
                <a:ext cx="662378" cy="662378"/>
                <a:chOff x="0" y="0"/>
                <a:chExt cx="662377" cy="662377"/>
              </a:xfrm>
            </p:grpSpPr>
            <p:sp>
              <p:nvSpPr>
                <p:cNvPr id="1609" name="正方形"/>
                <p:cNvSpPr/>
                <p:nvPr/>
              </p:nvSpPr>
              <p:spPr>
                <a:xfrm>
                  <a:off x="0" y="0"/>
                  <a:ext cx="662378" cy="662378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solidFill>
                        <a:schemeClr val="accent1">
                          <a:satOff val="-36923"/>
                          <a:lumOff val="15441"/>
                        </a:schemeClr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610" name="2"/>
                <p:cNvSpPr txBox="1"/>
                <p:nvPr/>
              </p:nvSpPr>
              <p:spPr>
                <a:xfrm>
                  <a:off x="143538" y="139733"/>
                  <a:ext cx="299100" cy="38291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2000"/>
                  </a:lvl1pPr>
                </a:lstStyle>
                <a:p>
                  <a:pPr/>
                  <a:r>
                    <a:t>2</a:t>
                  </a:r>
                </a:p>
              </p:txBody>
            </p:sp>
          </p:grpSp>
        </p:grpSp>
        <p:sp>
          <p:nvSpPr>
            <p:cNvPr id="1613" name="p[0]"/>
            <p:cNvSpPr txBox="1"/>
            <p:nvPr/>
          </p:nvSpPr>
          <p:spPr>
            <a:xfrm>
              <a:off x="26720" y="2209800"/>
              <a:ext cx="595268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p[0]</a:t>
              </a:r>
            </a:p>
          </p:txBody>
        </p:sp>
        <p:sp>
          <p:nvSpPr>
            <p:cNvPr id="1614" name="p[1]"/>
            <p:cNvSpPr txBox="1"/>
            <p:nvPr/>
          </p:nvSpPr>
          <p:spPr>
            <a:xfrm>
              <a:off x="693848" y="2209800"/>
              <a:ext cx="595268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p[1]</a:t>
              </a:r>
            </a:p>
          </p:txBody>
        </p:sp>
        <p:sp>
          <p:nvSpPr>
            <p:cNvPr id="1615" name="p[2]"/>
            <p:cNvSpPr txBox="1"/>
            <p:nvPr/>
          </p:nvSpPr>
          <p:spPr>
            <a:xfrm>
              <a:off x="1348277" y="2209800"/>
              <a:ext cx="595268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p[2]</a:t>
              </a:r>
            </a:p>
          </p:txBody>
        </p:sp>
        <p:sp>
          <p:nvSpPr>
            <p:cNvPr id="1616" name="p[3]"/>
            <p:cNvSpPr txBox="1"/>
            <p:nvPr/>
          </p:nvSpPr>
          <p:spPr>
            <a:xfrm>
              <a:off x="2021377" y="2209800"/>
              <a:ext cx="595268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p[3]</a:t>
              </a:r>
            </a:p>
          </p:txBody>
        </p:sp>
        <p:sp>
          <p:nvSpPr>
            <p:cNvPr id="1617" name="p[4]"/>
            <p:cNvSpPr txBox="1"/>
            <p:nvPr/>
          </p:nvSpPr>
          <p:spPr>
            <a:xfrm>
              <a:off x="2656377" y="2209800"/>
              <a:ext cx="595268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p[4]</a:t>
              </a:r>
            </a:p>
          </p:txBody>
        </p:sp>
        <p:sp>
          <p:nvSpPr>
            <p:cNvPr id="1618" name="S = {v0, v3, v2, v4}    Q = {v1}"/>
            <p:cNvSpPr txBox="1"/>
            <p:nvPr/>
          </p:nvSpPr>
          <p:spPr>
            <a:xfrm>
              <a:off x="2085" y="2730952"/>
              <a:ext cx="3218281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2000"/>
              </a:pPr>
              <a:r>
                <a:t>S = {v</a:t>
              </a:r>
              <a:r>
                <a:rPr baseline="-5999"/>
                <a:t>0</a:t>
              </a:r>
              <a:r>
                <a:t>, v</a:t>
              </a:r>
              <a:r>
                <a:rPr baseline="-5999"/>
                <a:t>3</a:t>
              </a:r>
              <a:r>
                <a:t>, v</a:t>
              </a:r>
              <a:r>
                <a:rPr baseline="-5999"/>
                <a:t>2</a:t>
              </a:r>
              <a:r>
                <a:t>, v</a:t>
              </a:r>
              <a:r>
                <a:rPr baseline="-5999"/>
                <a:t>4</a:t>
              </a:r>
              <a:r>
                <a:t>}    Q = {v</a:t>
              </a:r>
              <a:r>
                <a:rPr baseline="-5999"/>
                <a:t>1</a:t>
              </a:r>
              <a:r>
                <a:t>}</a:t>
              </a:r>
            </a:p>
          </p:txBody>
        </p:sp>
      </p:grpSp>
      <p:grpSp>
        <p:nvGrpSpPr>
          <p:cNvPr id="1668" name="成组"/>
          <p:cNvGrpSpPr/>
          <p:nvPr/>
        </p:nvGrpSpPr>
        <p:grpSpPr>
          <a:xfrm>
            <a:off x="9451272" y="5224442"/>
            <a:ext cx="4055140" cy="4000953"/>
            <a:chOff x="0" y="191454"/>
            <a:chExt cx="4055138" cy="4000952"/>
          </a:xfrm>
        </p:grpSpPr>
        <p:grpSp>
          <p:nvGrpSpPr>
            <p:cNvPr id="1635" name="成组"/>
            <p:cNvGrpSpPr/>
            <p:nvPr/>
          </p:nvGrpSpPr>
          <p:grpSpPr>
            <a:xfrm>
              <a:off x="0" y="395107"/>
              <a:ext cx="4055139" cy="1601189"/>
              <a:chOff x="0" y="0"/>
              <a:chExt cx="4055138" cy="1601188"/>
            </a:xfrm>
          </p:grpSpPr>
          <p:grpSp>
            <p:nvGrpSpPr>
              <p:cNvPr id="1622" name="成组"/>
              <p:cNvGrpSpPr/>
              <p:nvPr/>
            </p:nvGrpSpPr>
            <p:grpSpPr>
              <a:xfrm>
                <a:off x="0" y="0"/>
                <a:ext cx="1451639" cy="1601189"/>
                <a:chOff x="0" y="0"/>
                <a:chExt cx="1451638" cy="1601188"/>
              </a:xfrm>
            </p:grpSpPr>
            <p:sp>
              <p:nvSpPr>
                <p:cNvPr id="1620" name="正方形"/>
                <p:cNvSpPr/>
                <p:nvPr/>
              </p:nvSpPr>
              <p:spPr>
                <a:xfrm>
                  <a:off x="0" y="0"/>
                  <a:ext cx="662378" cy="662378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solidFill>
                        <a:schemeClr val="accent1">
                          <a:satOff val="-36923"/>
                          <a:lumOff val="15441"/>
                        </a:schemeClr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621" name="0"/>
                <p:cNvSpPr/>
                <p:nvPr/>
              </p:nvSpPr>
              <p:spPr>
                <a:xfrm>
                  <a:off x="181638" y="331188"/>
                  <a:ext cx="1270001" cy="1270001"/>
                </a:xfrm>
                <a:prstGeom prst="line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2000"/>
                  </a:lvl1pPr>
                </a:lstStyle>
                <a:p>
                  <a:pPr/>
                  <a:r>
                    <a:t>0</a:t>
                  </a:r>
                </a:p>
              </p:txBody>
            </p:sp>
          </p:grpSp>
          <p:grpSp>
            <p:nvGrpSpPr>
              <p:cNvPr id="1625" name="成组"/>
              <p:cNvGrpSpPr/>
              <p:nvPr/>
            </p:nvGrpSpPr>
            <p:grpSpPr>
              <a:xfrm>
                <a:off x="660399" y="0"/>
                <a:ext cx="1426240" cy="1601189"/>
                <a:chOff x="0" y="0"/>
                <a:chExt cx="1426238" cy="1601188"/>
              </a:xfrm>
            </p:grpSpPr>
            <p:sp>
              <p:nvSpPr>
                <p:cNvPr id="1623" name="正方形"/>
                <p:cNvSpPr/>
                <p:nvPr/>
              </p:nvSpPr>
              <p:spPr>
                <a:xfrm>
                  <a:off x="0" y="0"/>
                  <a:ext cx="662378" cy="662378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solidFill>
                        <a:schemeClr val="accent1">
                          <a:satOff val="-36923"/>
                          <a:lumOff val="15441"/>
                        </a:schemeClr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624" name="7"/>
                <p:cNvSpPr/>
                <p:nvPr/>
              </p:nvSpPr>
              <p:spPr>
                <a:xfrm>
                  <a:off x="156238" y="331188"/>
                  <a:ext cx="1270001" cy="1270001"/>
                </a:xfrm>
                <a:prstGeom prst="line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2000"/>
                  </a:lvl1pPr>
                </a:lstStyle>
                <a:p>
                  <a:pPr/>
                  <a:r>
                    <a:t>7</a:t>
                  </a:r>
                </a:p>
              </p:txBody>
            </p:sp>
          </p:grpSp>
          <p:grpSp>
            <p:nvGrpSpPr>
              <p:cNvPr id="1628" name="成组"/>
              <p:cNvGrpSpPr/>
              <p:nvPr/>
            </p:nvGrpSpPr>
            <p:grpSpPr>
              <a:xfrm>
                <a:off x="1320799" y="0"/>
                <a:ext cx="1426240" cy="1601189"/>
                <a:chOff x="0" y="0"/>
                <a:chExt cx="1426238" cy="1601188"/>
              </a:xfrm>
            </p:grpSpPr>
            <p:sp>
              <p:nvSpPr>
                <p:cNvPr id="1626" name="正方形"/>
                <p:cNvSpPr/>
                <p:nvPr/>
              </p:nvSpPr>
              <p:spPr>
                <a:xfrm>
                  <a:off x="0" y="0"/>
                  <a:ext cx="662378" cy="662378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solidFill>
                        <a:schemeClr val="accent1">
                          <a:satOff val="-36923"/>
                          <a:lumOff val="15441"/>
                        </a:schemeClr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627" name="5"/>
                <p:cNvSpPr/>
                <p:nvPr/>
              </p:nvSpPr>
              <p:spPr>
                <a:xfrm>
                  <a:off x="156238" y="331188"/>
                  <a:ext cx="1270001" cy="1270001"/>
                </a:xfrm>
                <a:prstGeom prst="line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2000"/>
                  </a:lvl1pPr>
                </a:lstStyle>
                <a:p>
                  <a:pPr/>
                  <a:r>
                    <a:t>5</a:t>
                  </a:r>
                </a:p>
              </p:txBody>
            </p:sp>
          </p:grpSp>
          <p:grpSp>
            <p:nvGrpSpPr>
              <p:cNvPr id="1631" name="成组"/>
              <p:cNvGrpSpPr/>
              <p:nvPr/>
            </p:nvGrpSpPr>
            <p:grpSpPr>
              <a:xfrm>
                <a:off x="1981200" y="0"/>
                <a:ext cx="1400839" cy="1601189"/>
                <a:chOff x="0" y="0"/>
                <a:chExt cx="1400838" cy="1601188"/>
              </a:xfrm>
            </p:grpSpPr>
            <p:sp>
              <p:nvSpPr>
                <p:cNvPr id="1629" name="正方形"/>
                <p:cNvSpPr/>
                <p:nvPr/>
              </p:nvSpPr>
              <p:spPr>
                <a:xfrm>
                  <a:off x="0" y="0"/>
                  <a:ext cx="662378" cy="662378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solidFill>
                        <a:schemeClr val="accent1">
                          <a:satOff val="-36923"/>
                          <a:lumOff val="15441"/>
                        </a:schemeClr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630" name="3"/>
                <p:cNvSpPr/>
                <p:nvPr/>
              </p:nvSpPr>
              <p:spPr>
                <a:xfrm>
                  <a:off x="130838" y="331188"/>
                  <a:ext cx="1270001" cy="1270001"/>
                </a:xfrm>
                <a:prstGeom prst="line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2000"/>
                  </a:lvl1pPr>
                </a:lstStyle>
                <a:p>
                  <a:pPr/>
                  <a:r>
                    <a:t>3</a:t>
                  </a:r>
                </a:p>
              </p:txBody>
            </p:sp>
          </p:grpSp>
          <p:grpSp>
            <p:nvGrpSpPr>
              <p:cNvPr id="1634" name="成组"/>
              <p:cNvGrpSpPr/>
              <p:nvPr/>
            </p:nvGrpSpPr>
            <p:grpSpPr>
              <a:xfrm>
                <a:off x="2641600" y="0"/>
                <a:ext cx="1413539" cy="1601189"/>
                <a:chOff x="0" y="0"/>
                <a:chExt cx="1413538" cy="1601188"/>
              </a:xfrm>
            </p:grpSpPr>
            <p:sp>
              <p:nvSpPr>
                <p:cNvPr id="1632" name="正方形"/>
                <p:cNvSpPr/>
                <p:nvPr/>
              </p:nvSpPr>
              <p:spPr>
                <a:xfrm>
                  <a:off x="0" y="0"/>
                  <a:ext cx="662378" cy="662378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solidFill>
                        <a:schemeClr val="accent1">
                          <a:satOff val="-36923"/>
                          <a:lumOff val="15441"/>
                        </a:schemeClr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633" name="6"/>
                <p:cNvSpPr/>
                <p:nvPr/>
              </p:nvSpPr>
              <p:spPr>
                <a:xfrm>
                  <a:off x="143538" y="331188"/>
                  <a:ext cx="1270001" cy="1270001"/>
                </a:xfrm>
                <a:prstGeom prst="line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2000"/>
                  </a:lvl1pPr>
                </a:lstStyle>
                <a:p>
                  <a:pPr/>
                  <a:r>
                    <a:t>6</a:t>
                  </a:r>
                </a:p>
              </p:txBody>
            </p:sp>
          </p:grpSp>
        </p:grpSp>
        <p:sp>
          <p:nvSpPr>
            <p:cNvPr id="1636" name="v0"/>
            <p:cNvSpPr/>
            <p:nvPr/>
          </p:nvSpPr>
          <p:spPr>
            <a:xfrm>
              <a:off x="166420" y="191454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2000"/>
              </a:pPr>
              <a:r>
                <a:t>v</a:t>
              </a:r>
              <a:r>
                <a:rPr baseline="-5999"/>
                <a:t>0</a:t>
              </a:r>
            </a:p>
          </p:txBody>
        </p:sp>
        <p:sp>
          <p:nvSpPr>
            <p:cNvPr id="1637" name="v1"/>
            <p:cNvSpPr/>
            <p:nvPr/>
          </p:nvSpPr>
          <p:spPr>
            <a:xfrm>
              <a:off x="808148" y="191454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2000"/>
              </a:pPr>
              <a:r>
                <a:t>v</a:t>
              </a:r>
              <a:r>
                <a:rPr baseline="-5999"/>
                <a:t>1</a:t>
              </a:r>
            </a:p>
          </p:txBody>
        </p:sp>
        <p:sp>
          <p:nvSpPr>
            <p:cNvPr id="1638" name="v2"/>
            <p:cNvSpPr/>
            <p:nvPr/>
          </p:nvSpPr>
          <p:spPr>
            <a:xfrm>
              <a:off x="1449877" y="191454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2000"/>
              </a:pPr>
              <a:r>
                <a:t>v</a:t>
              </a:r>
              <a:r>
                <a:rPr baseline="-5999"/>
                <a:t>2</a:t>
              </a:r>
            </a:p>
          </p:txBody>
        </p:sp>
        <p:sp>
          <p:nvSpPr>
            <p:cNvPr id="1639" name="v3"/>
            <p:cNvSpPr/>
            <p:nvPr/>
          </p:nvSpPr>
          <p:spPr>
            <a:xfrm>
              <a:off x="2135677" y="191454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2000"/>
              </a:pPr>
              <a:r>
                <a:t>v</a:t>
              </a:r>
              <a:r>
                <a:rPr baseline="-5999"/>
                <a:t>3</a:t>
              </a:r>
            </a:p>
          </p:txBody>
        </p:sp>
        <p:sp>
          <p:nvSpPr>
            <p:cNvPr id="1640" name="v4"/>
            <p:cNvSpPr/>
            <p:nvPr/>
          </p:nvSpPr>
          <p:spPr>
            <a:xfrm>
              <a:off x="2770677" y="191454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2000"/>
              </a:pPr>
              <a:r>
                <a:t>v</a:t>
              </a:r>
              <a:r>
                <a:rPr baseline="-5999"/>
                <a:t>4</a:t>
              </a:r>
            </a:p>
          </p:txBody>
        </p:sp>
        <p:sp>
          <p:nvSpPr>
            <p:cNvPr id="1641" name="d[0]"/>
            <p:cNvSpPr/>
            <p:nvPr/>
          </p:nvSpPr>
          <p:spPr>
            <a:xfrm>
              <a:off x="26720" y="1258254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d[0]</a:t>
              </a:r>
            </a:p>
          </p:txBody>
        </p:sp>
        <p:sp>
          <p:nvSpPr>
            <p:cNvPr id="1642" name="d[1]"/>
            <p:cNvSpPr/>
            <p:nvPr/>
          </p:nvSpPr>
          <p:spPr>
            <a:xfrm>
              <a:off x="693848" y="1258254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d[1]</a:t>
              </a:r>
            </a:p>
          </p:txBody>
        </p:sp>
        <p:sp>
          <p:nvSpPr>
            <p:cNvPr id="1643" name="d[2]"/>
            <p:cNvSpPr/>
            <p:nvPr/>
          </p:nvSpPr>
          <p:spPr>
            <a:xfrm>
              <a:off x="1348277" y="1258254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d[2]</a:t>
              </a:r>
            </a:p>
          </p:txBody>
        </p:sp>
        <p:sp>
          <p:nvSpPr>
            <p:cNvPr id="1644" name="d[3]"/>
            <p:cNvSpPr/>
            <p:nvPr/>
          </p:nvSpPr>
          <p:spPr>
            <a:xfrm>
              <a:off x="2021377" y="1258254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d[3]</a:t>
              </a:r>
            </a:p>
          </p:txBody>
        </p:sp>
        <p:sp>
          <p:nvSpPr>
            <p:cNvPr id="1645" name="d[4]"/>
            <p:cNvSpPr/>
            <p:nvPr/>
          </p:nvSpPr>
          <p:spPr>
            <a:xfrm>
              <a:off x="2656377" y="1258254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d[4]</a:t>
              </a:r>
            </a:p>
          </p:txBody>
        </p:sp>
        <p:grpSp>
          <p:nvGrpSpPr>
            <p:cNvPr id="1661" name="成组"/>
            <p:cNvGrpSpPr/>
            <p:nvPr/>
          </p:nvGrpSpPr>
          <p:grpSpPr>
            <a:xfrm>
              <a:off x="0" y="1538107"/>
              <a:ext cx="4055139" cy="1601189"/>
              <a:chOff x="0" y="0"/>
              <a:chExt cx="4055138" cy="1601188"/>
            </a:xfrm>
          </p:grpSpPr>
          <p:grpSp>
            <p:nvGrpSpPr>
              <p:cNvPr id="1648" name="成组"/>
              <p:cNvGrpSpPr/>
              <p:nvPr/>
            </p:nvGrpSpPr>
            <p:grpSpPr>
              <a:xfrm>
                <a:off x="0" y="0"/>
                <a:ext cx="1451639" cy="1601189"/>
                <a:chOff x="0" y="0"/>
                <a:chExt cx="1451638" cy="1601188"/>
              </a:xfrm>
            </p:grpSpPr>
            <p:sp>
              <p:nvSpPr>
                <p:cNvPr id="1646" name="正方形"/>
                <p:cNvSpPr/>
                <p:nvPr/>
              </p:nvSpPr>
              <p:spPr>
                <a:xfrm>
                  <a:off x="0" y="0"/>
                  <a:ext cx="662378" cy="662378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solidFill>
                        <a:schemeClr val="accent1">
                          <a:satOff val="-36923"/>
                          <a:lumOff val="15441"/>
                        </a:schemeClr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647" name="-1"/>
                <p:cNvSpPr/>
                <p:nvPr/>
              </p:nvSpPr>
              <p:spPr>
                <a:xfrm>
                  <a:off x="181638" y="331188"/>
                  <a:ext cx="1270001" cy="1270001"/>
                </a:xfrm>
                <a:prstGeom prst="line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2000"/>
                  </a:lvl1pPr>
                </a:lstStyle>
                <a:p>
                  <a:pPr/>
                  <a:r>
                    <a:t>-1</a:t>
                  </a:r>
                </a:p>
              </p:txBody>
            </p:sp>
          </p:grpSp>
          <p:grpSp>
            <p:nvGrpSpPr>
              <p:cNvPr id="1651" name="成组"/>
              <p:cNvGrpSpPr/>
              <p:nvPr/>
            </p:nvGrpSpPr>
            <p:grpSpPr>
              <a:xfrm>
                <a:off x="660399" y="0"/>
                <a:ext cx="1426240" cy="1601189"/>
                <a:chOff x="0" y="0"/>
                <a:chExt cx="1426238" cy="1601188"/>
              </a:xfrm>
            </p:grpSpPr>
            <p:sp>
              <p:nvSpPr>
                <p:cNvPr id="1649" name="正方形"/>
                <p:cNvSpPr/>
                <p:nvPr/>
              </p:nvSpPr>
              <p:spPr>
                <a:xfrm>
                  <a:off x="0" y="0"/>
                  <a:ext cx="662378" cy="662378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solidFill>
                        <a:schemeClr val="accent1">
                          <a:satOff val="-36923"/>
                          <a:lumOff val="15441"/>
                        </a:schemeClr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650" name="4"/>
                <p:cNvSpPr/>
                <p:nvPr/>
              </p:nvSpPr>
              <p:spPr>
                <a:xfrm>
                  <a:off x="156238" y="331188"/>
                  <a:ext cx="1270001" cy="1270001"/>
                </a:xfrm>
                <a:prstGeom prst="line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2000"/>
                  </a:lvl1pPr>
                </a:lstStyle>
                <a:p>
                  <a:pPr/>
                  <a:r>
                    <a:t>4</a:t>
                  </a:r>
                </a:p>
              </p:txBody>
            </p:sp>
          </p:grpSp>
          <p:grpSp>
            <p:nvGrpSpPr>
              <p:cNvPr id="1654" name="成组"/>
              <p:cNvGrpSpPr/>
              <p:nvPr/>
            </p:nvGrpSpPr>
            <p:grpSpPr>
              <a:xfrm>
                <a:off x="1320799" y="0"/>
                <a:ext cx="1426240" cy="1601189"/>
                <a:chOff x="0" y="0"/>
                <a:chExt cx="1426238" cy="1601188"/>
              </a:xfrm>
            </p:grpSpPr>
            <p:sp>
              <p:nvSpPr>
                <p:cNvPr id="1652" name="正方形"/>
                <p:cNvSpPr/>
                <p:nvPr/>
              </p:nvSpPr>
              <p:spPr>
                <a:xfrm>
                  <a:off x="0" y="0"/>
                  <a:ext cx="662378" cy="662378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solidFill>
                        <a:schemeClr val="accent1">
                          <a:satOff val="-36923"/>
                          <a:lumOff val="15441"/>
                        </a:schemeClr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653" name="3"/>
                <p:cNvSpPr/>
                <p:nvPr/>
              </p:nvSpPr>
              <p:spPr>
                <a:xfrm>
                  <a:off x="156238" y="331188"/>
                  <a:ext cx="1270001" cy="1270001"/>
                </a:xfrm>
                <a:prstGeom prst="line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2000"/>
                  </a:lvl1pPr>
                </a:lstStyle>
                <a:p>
                  <a:pPr/>
                  <a:r>
                    <a:t>3</a:t>
                  </a:r>
                </a:p>
              </p:txBody>
            </p:sp>
          </p:grpSp>
          <p:grpSp>
            <p:nvGrpSpPr>
              <p:cNvPr id="1657" name="成组"/>
              <p:cNvGrpSpPr/>
              <p:nvPr/>
            </p:nvGrpSpPr>
            <p:grpSpPr>
              <a:xfrm>
                <a:off x="1981200" y="0"/>
                <a:ext cx="1400839" cy="1601189"/>
                <a:chOff x="0" y="0"/>
                <a:chExt cx="1400838" cy="1601188"/>
              </a:xfrm>
            </p:grpSpPr>
            <p:sp>
              <p:nvSpPr>
                <p:cNvPr id="1655" name="正方形"/>
                <p:cNvSpPr/>
                <p:nvPr/>
              </p:nvSpPr>
              <p:spPr>
                <a:xfrm>
                  <a:off x="0" y="0"/>
                  <a:ext cx="662378" cy="662378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solidFill>
                        <a:schemeClr val="accent1">
                          <a:satOff val="-36923"/>
                          <a:lumOff val="15441"/>
                        </a:schemeClr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656" name="0"/>
                <p:cNvSpPr/>
                <p:nvPr/>
              </p:nvSpPr>
              <p:spPr>
                <a:xfrm>
                  <a:off x="130838" y="331188"/>
                  <a:ext cx="1270001" cy="1270001"/>
                </a:xfrm>
                <a:prstGeom prst="line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2000"/>
                  </a:lvl1pPr>
                </a:lstStyle>
                <a:p>
                  <a:pPr/>
                  <a:r>
                    <a:t>0</a:t>
                  </a:r>
                </a:p>
              </p:txBody>
            </p:sp>
          </p:grpSp>
          <p:grpSp>
            <p:nvGrpSpPr>
              <p:cNvPr id="1660" name="成组"/>
              <p:cNvGrpSpPr/>
              <p:nvPr/>
            </p:nvGrpSpPr>
            <p:grpSpPr>
              <a:xfrm>
                <a:off x="2641600" y="0"/>
                <a:ext cx="1413539" cy="1601189"/>
                <a:chOff x="0" y="0"/>
                <a:chExt cx="1413538" cy="1601188"/>
              </a:xfrm>
            </p:grpSpPr>
            <p:sp>
              <p:nvSpPr>
                <p:cNvPr id="1658" name="正方形"/>
                <p:cNvSpPr/>
                <p:nvPr/>
              </p:nvSpPr>
              <p:spPr>
                <a:xfrm>
                  <a:off x="0" y="0"/>
                  <a:ext cx="662378" cy="662378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solidFill>
                        <a:schemeClr val="accent1">
                          <a:satOff val="-36923"/>
                          <a:lumOff val="15441"/>
                        </a:schemeClr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659" name="1"/>
                <p:cNvSpPr/>
                <p:nvPr/>
              </p:nvSpPr>
              <p:spPr>
                <a:xfrm>
                  <a:off x="143538" y="331188"/>
                  <a:ext cx="1270001" cy="1270001"/>
                </a:xfrm>
                <a:prstGeom prst="line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2000"/>
                  </a:lvl1pPr>
                </a:lstStyle>
                <a:p>
                  <a:pPr/>
                  <a:r>
                    <a:t>1</a:t>
                  </a:r>
                </a:p>
              </p:txBody>
            </p:sp>
          </p:grpSp>
        </p:grpSp>
        <p:sp>
          <p:nvSpPr>
            <p:cNvPr id="1662" name="p[0]"/>
            <p:cNvSpPr/>
            <p:nvPr/>
          </p:nvSpPr>
          <p:spPr>
            <a:xfrm>
              <a:off x="26720" y="2401255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p[0]</a:t>
              </a:r>
            </a:p>
          </p:txBody>
        </p:sp>
        <p:sp>
          <p:nvSpPr>
            <p:cNvPr id="1663" name="p[1]"/>
            <p:cNvSpPr/>
            <p:nvPr/>
          </p:nvSpPr>
          <p:spPr>
            <a:xfrm>
              <a:off x="693848" y="2401255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p[1]</a:t>
              </a:r>
            </a:p>
          </p:txBody>
        </p:sp>
        <p:sp>
          <p:nvSpPr>
            <p:cNvPr id="1664" name="p[2]"/>
            <p:cNvSpPr/>
            <p:nvPr/>
          </p:nvSpPr>
          <p:spPr>
            <a:xfrm>
              <a:off x="1348277" y="2401255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p[2]</a:t>
              </a:r>
            </a:p>
          </p:txBody>
        </p:sp>
        <p:sp>
          <p:nvSpPr>
            <p:cNvPr id="1665" name="p[3]"/>
            <p:cNvSpPr/>
            <p:nvPr/>
          </p:nvSpPr>
          <p:spPr>
            <a:xfrm>
              <a:off x="2021377" y="2401255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p[3]</a:t>
              </a:r>
            </a:p>
          </p:txBody>
        </p:sp>
        <p:sp>
          <p:nvSpPr>
            <p:cNvPr id="1666" name="p[4]"/>
            <p:cNvSpPr/>
            <p:nvPr/>
          </p:nvSpPr>
          <p:spPr>
            <a:xfrm>
              <a:off x="2656377" y="2401255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p[4]</a:t>
              </a:r>
            </a:p>
          </p:txBody>
        </p:sp>
        <p:sp>
          <p:nvSpPr>
            <p:cNvPr id="1667" name="S = {v0, v3, v2, v4, v1}    Q = {}"/>
            <p:cNvSpPr/>
            <p:nvPr/>
          </p:nvSpPr>
          <p:spPr>
            <a:xfrm>
              <a:off x="2085" y="2922407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2000"/>
              </a:pPr>
              <a:r>
                <a:t>S = {v</a:t>
              </a:r>
              <a:r>
                <a:rPr baseline="-5999"/>
                <a:t>0</a:t>
              </a:r>
              <a:r>
                <a:t>, v</a:t>
              </a:r>
              <a:r>
                <a:rPr baseline="-5999"/>
                <a:t>3</a:t>
              </a:r>
              <a:r>
                <a:t>, v</a:t>
              </a:r>
              <a:r>
                <a:rPr baseline="-5999"/>
                <a:t>2</a:t>
              </a:r>
              <a:r>
                <a:t>, v</a:t>
              </a:r>
              <a:r>
                <a:rPr baseline="-5999"/>
                <a:t>4</a:t>
              </a:r>
              <a:r>
                <a:t>, v</a:t>
              </a:r>
              <a:r>
                <a:rPr baseline="-5999"/>
                <a:t>1</a:t>
              </a:r>
              <a:r>
                <a:t>}    Q = {}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Lucida Grande"/>
        <a:ea typeface="Lucida Grande"/>
        <a:cs typeface="Lucida Grand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57798" indent="57798" algn="l" defTabSz="1295400" rtl="0" fontAlgn="auto" latinLnBrk="0" hangingPunct="0">
          <a:lnSpc>
            <a:spcPct val="100000"/>
          </a:lnSpc>
          <a:spcBef>
            <a:spcPts val="1900"/>
          </a:spcBef>
          <a:spcAft>
            <a:spcPts val="0"/>
          </a:spcAft>
          <a:buClrTx/>
          <a:buSzTx/>
          <a:buFontTx/>
          <a:buNone/>
          <a:tabLst/>
          <a:defRPr b="1" baseline="0" cap="none" i="0" spc="0" strike="noStrike" sz="2800" u="none" kumimoji="0" normalizeH="0">
            <a:ln>
              <a:noFill/>
            </a:ln>
            <a:solidFill>
              <a:schemeClr val="accent1">
                <a:satOff val="-36923"/>
                <a:lumOff val="15441"/>
              </a:schemeClr>
            </a:solidFill>
            <a:effectLst/>
            <a:uFill>
              <a:solidFill>
                <a:srgbClr val="000000"/>
              </a:solidFill>
            </a:uFill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57798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Lucida Grande"/>
        <a:ea typeface="Lucida Grande"/>
        <a:cs typeface="Lucida Grand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57798" indent="57798" algn="l" defTabSz="1295400" rtl="0" fontAlgn="auto" latinLnBrk="0" hangingPunct="0">
          <a:lnSpc>
            <a:spcPct val="100000"/>
          </a:lnSpc>
          <a:spcBef>
            <a:spcPts val="1900"/>
          </a:spcBef>
          <a:spcAft>
            <a:spcPts val="0"/>
          </a:spcAft>
          <a:buClrTx/>
          <a:buSzTx/>
          <a:buFontTx/>
          <a:buNone/>
          <a:tabLst/>
          <a:defRPr b="1" baseline="0" cap="none" i="0" spc="0" strike="noStrike" sz="2800" u="none" kumimoji="0" normalizeH="0">
            <a:ln>
              <a:noFill/>
            </a:ln>
            <a:solidFill>
              <a:schemeClr val="accent1">
                <a:satOff val="-36923"/>
                <a:lumOff val="15441"/>
              </a:schemeClr>
            </a:solidFill>
            <a:effectLst/>
            <a:uFill>
              <a:solidFill>
                <a:srgbClr val="000000"/>
              </a:solidFill>
            </a:uFill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57798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