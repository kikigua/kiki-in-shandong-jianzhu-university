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315" r:id="rId3"/>
    <p:sldId id="330" r:id="rId4"/>
    <p:sldId id="331" r:id="rId5"/>
    <p:sldId id="558" r:id="rId6"/>
    <p:sldId id="571" r:id="rId7"/>
    <p:sldId id="573" r:id="rId8"/>
    <p:sldId id="332" r:id="rId9"/>
    <p:sldId id="575" r:id="rId10"/>
    <p:sldId id="576" r:id="rId11"/>
    <p:sldId id="577" r:id="rId12"/>
    <p:sldId id="578" r:id="rId13"/>
    <p:sldId id="582" r:id="rId14"/>
    <p:sldId id="333" r:id="rId15"/>
    <p:sldId id="649" r:id="rId16"/>
    <p:sldId id="334" r:id="rId17"/>
    <p:sldId id="335" r:id="rId18"/>
    <p:sldId id="336" r:id="rId19"/>
    <p:sldId id="342" r:id="rId20"/>
    <p:sldId id="327" r:id="rId21"/>
    <p:sldId id="328" r:id="rId22"/>
    <p:sldId id="650" r:id="rId23"/>
    <p:sldId id="329" r:id="rId24"/>
    <p:sldId id="651" r:id="rId25"/>
    <p:sldId id="343" r:id="rId26"/>
    <p:sldId id="344" r:id="rId27"/>
    <p:sldId id="340" r:id="rId28"/>
    <p:sldId id="341" r:id="rId29"/>
    <p:sldId id="347" r:id="rId30"/>
    <p:sldId id="350" r:id="rId31"/>
    <p:sldId id="351" r:id="rId32"/>
    <p:sldId id="352" r:id="rId33"/>
    <p:sldId id="635" r:id="rId34"/>
    <p:sldId id="356" r:id="rId35"/>
    <p:sldId id="357" r:id="rId36"/>
    <p:sldId id="636" r:id="rId37"/>
    <p:sldId id="637" r:id="rId38"/>
    <p:sldId id="638" r:id="rId39"/>
    <p:sldId id="639" r:id="rId40"/>
    <p:sldId id="640" r:id="rId41"/>
    <p:sldId id="641" r:id="rId42"/>
    <p:sldId id="642" r:id="rId43"/>
    <p:sldId id="643" r:id="rId44"/>
    <p:sldId id="644" r:id="rId45"/>
    <p:sldId id="645" r:id="rId46"/>
    <p:sldId id="646" r:id="rId47"/>
    <p:sldId id="353" r:id="rId48"/>
    <p:sldId id="647" r:id="rId49"/>
    <p:sldId id="648" r:id="rId50"/>
    <p:sldId id="355" r:id="rId51"/>
    <p:sldId id="316"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5832" autoAdjust="0"/>
  </p:normalViewPr>
  <p:slideViewPr>
    <p:cSldViewPr snapToGrid="0">
      <p:cViewPr varScale="1">
        <p:scale>
          <a:sx n="56" d="100"/>
          <a:sy n="56" d="100"/>
        </p:scale>
        <p:origin x="171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BFD8C6-07C3-4B70-B6DA-383EC7BF9C74}" type="datetimeFigureOut">
              <a:rPr lang="zh-CN" altLang="en-US" smtClean="0"/>
              <a:t>2024/4/2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E61394-3DE9-4852-9DF4-EA2C04DE9A5C}" type="slidenum">
              <a:rPr lang="zh-CN" altLang="en-US" smtClean="0"/>
              <a:t>‹#›</a:t>
            </a:fld>
            <a:endParaRPr lang="zh-CN" altLang="en-US"/>
          </a:p>
        </p:txBody>
      </p:sp>
    </p:spTree>
    <p:extLst>
      <p:ext uri="{BB962C8B-B14F-4D97-AF65-F5344CB8AC3E}">
        <p14:creationId xmlns:p14="http://schemas.microsoft.com/office/powerpoint/2010/main" val="3709915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4BFCB2C-DEFE-4C78-B290-98ABD212FEAD}" type="slidenum">
              <a:rPr lang="zh-CN" altLang="en-US" smtClean="0"/>
              <a:pPr>
                <a:defRPr/>
              </a:pPr>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E08FA45-6506-46BE-B4DC-98C01D76CADE}" type="slidenum">
              <a:rPr lang="en-US" altLang="zh-CN"/>
              <a:pPr>
                <a:defRPr/>
              </a:pPr>
              <a:t>3</a:t>
            </a:fld>
            <a:endParaRPr lang="en-US" altLang="zh-CN"/>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教学指导：</a:t>
            </a:r>
            <a:endParaRPr lang="en-US" altLang="zh-CN" dirty="0"/>
          </a:p>
          <a:p>
            <a:r>
              <a:rPr lang="zh-CN" altLang="en-US" dirty="0"/>
              <a:t>分析横切逻辑的必要性以及所带来的问题</a:t>
            </a:r>
            <a:endParaRPr lang="en-US" altLang="zh-CN" dirty="0"/>
          </a:p>
          <a:p>
            <a:r>
              <a:rPr lang="zh-CN" altLang="en-US" dirty="0"/>
              <a:t>增加了开发的难度好讲，但是讲解给扩展和维护带来的难度就难了。</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教学指导：</a:t>
            </a:r>
            <a:endParaRPr lang="en-US" altLang="zh-CN" dirty="0"/>
          </a:p>
          <a:p>
            <a:r>
              <a:rPr lang="zh-CN" altLang="en-US" dirty="0"/>
              <a:t>在结合刚才的例子，看下这个图，我们通过动态代理实现</a:t>
            </a:r>
            <a:r>
              <a:rPr lang="en-US" altLang="zh-CN" dirty="0"/>
              <a:t>AOP</a:t>
            </a:r>
            <a:r>
              <a:rPr lang="zh-CN" altLang="en-US" dirty="0"/>
              <a:t>（采用动态代理技术，利用截取消息的方式，对该消息进行装饰，以取代原有对象行为的执行）</a:t>
            </a:r>
            <a:endParaRPr lang="en-US" altLang="zh-CN" dirty="0"/>
          </a:p>
          <a:p>
            <a:r>
              <a:rPr lang="en-US" altLang="zh-CN" b="1" dirty="0"/>
              <a:t>AOP</a:t>
            </a:r>
            <a:r>
              <a:rPr lang="zh-CN" altLang="en-US" b="1" dirty="0"/>
              <a:t>是一种思想，它与具体的实现技术无关，任何一种符合</a:t>
            </a:r>
            <a:r>
              <a:rPr lang="en-US" altLang="zh-CN" b="1" dirty="0"/>
              <a:t>AOP</a:t>
            </a:r>
            <a:r>
              <a:rPr lang="zh-CN" altLang="en-US" b="1" dirty="0"/>
              <a:t>的思想的技术实现，都可以看做是</a:t>
            </a:r>
            <a:r>
              <a:rPr lang="en-US" altLang="zh-CN" b="1" dirty="0"/>
              <a:t>AOP</a:t>
            </a:r>
            <a:r>
              <a:rPr lang="zh-CN" altLang="en-US" b="1" dirty="0"/>
              <a:t>的实现。通过</a:t>
            </a:r>
            <a:r>
              <a:rPr lang="en-US" altLang="zh-CN" b="1" dirty="0"/>
              <a:t>java</a:t>
            </a:r>
            <a:r>
              <a:rPr lang="zh-CN" altLang="en-US" b="1" dirty="0"/>
              <a:t>的动态代理机制，就可以很容易实现</a:t>
            </a:r>
            <a:r>
              <a:rPr lang="en-US" altLang="zh-CN" b="1" dirty="0"/>
              <a:t>AOP</a:t>
            </a:r>
            <a:r>
              <a:rPr lang="zh-CN" altLang="en-US" b="1" dirty="0"/>
              <a:t>的思想，实际上</a:t>
            </a:r>
            <a:r>
              <a:rPr lang="en-US" altLang="zh-CN" b="1" dirty="0"/>
              <a:t>Spring</a:t>
            </a:r>
            <a:r>
              <a:rPr lang="zh-CN" altLang="en-US" b="1" dirty="0"/>
              <a:t>的</a:t>
            </a:r>
            <a:r>
              <a:rPr lang="en-US" altLang="zh-CN" b="1" dirty="0"/>
              <a:t>AOP</a:t>
            </a:r>
            <a:r>
              <a:rPr lang="zh-CN" altLang="en-US" b="1" dirty="0"/>
              <a:t>也是建立在</a:t>
            </a:r>
            <a:r>
              <a:rPr lang="en-US" altLang="zh-CN" b="1" dirty="0"/>
              <a:t>Java</a:t>
            </a:r>
            <a:r>
              <a:rPr lang="zh-CN" altLang="en-US" b="1" dirty="0"/>
              <a:t>的代理机制上。</a:t>
            </a:r>
            <a:endParaRPr lang="en-US" altLang="zh-CN" b="1" dirty="0"/>
          </a:p>
          <a:p>
            <a:r>
              <a:rPr lang="en-US" altLang="zh-CN" dirty="0"/>
              <a:t> </a:t>
            </a:r>
            <a:r>
              <a:rPr lang="en-US" altLang="zh-CN" dirty="0">
                <a:latin typeface="Calibri"/>
              </a:rPr>
              <a:t>——</a:t>
            </a:r>
            <a:r>
              <a:rPr lang="zh-CN" altLang="en-US" dirty="0"/>
              <a:t>我们发现</a:t>
            </a:r>
            <a:r>
              <a:rPr lang="en-US" altLang="zh-CN" b="1" dirty="0"/>
              <a:t>AOP</a:t>
            </a:r>
            <a:r>
              <a:rPr lang="zh-CN" altLang="en-US" b="1" dirty="0"/>
              <a:t>实际上是由目标类的代理类实现的</a:t>
            </a:r>
            <a:r>
              <a:rPr lang="zh-CN" altLang="en-US" dirty="0"/>
              <a:t>。</a:t>
            </a:r>
            <a:r>
              <a:rPr lang="en-US" altLang="zh-CN" dirty="0"/>
              <a:t>AOP</a:t>
            </a:r>
            <a:r>
              <a:rPr lang="zh-CN" altLang="en-US" dirty="0"/>
              <a:t>代理其实是由</a:t>
            </a:r>
            <a:r>
              <a:rPr lang="en-US" altLang="zh-CN" dirty="0"/>
              <a:t>AOP</a:t>
            </a:r>
            <a:r>
              <a:rPr lang="zh-CN" altLang="en-US" dirty="0"/>
              <a:t>框架动态生成的一个对象，该对象可作为目标对象使用。</a:t>
            </a:r>
            <a:r>
              <a:rPr lang="en-US" altLang="zh-CN" dirty="0"/>
              <a:t>AOP</a:t>
            </a:r>
            <a:r>
              <a:rPr lang="zh-CN" altLang="en-US" dirty="0"/>
              <a:t>代理包含了目标对象的全部方法，但是</a:t>
            </a:r>
            <a:r>
              <a:rPr lang="en-US" altLang="zh-CN" dirty="0"/>
              <a:t>AOP</a:t>
            </a:r>
            <a:r>
              <a:rPr lang="zh-CN" altLang="en-US" dirty="0"/>
              <a:t>代理中的方法与目标对象的方法存在差异，</a:t>
            </a:r>
            <a:r>
              <a:rPr lang="en-US" altLang="zh-CN" dirty="0"/>
              <a:t>AOP</a:t>
            </a:r>
            <a:r>
              <a:rPr lang="zh-CN" altLang="en-US" dirty="0"/>
              <a:t>方法在特定切入点添加了增强处理，并回调了目标对象的方法。</a:t>
            </a:r>
            <a:endParaRPr lang="en-US" altLang="zh-CN" dirty="0"/>
          </a:p>
          <a:p>
            <a:endParaRPr lang="en-US" altLang="zh-CN" dirty="0"/>
          </a:p>
          <a:p>
            <a:r>
              <a:rPr lang="zh-CN" altLang="en-US" dirty="0"/>
              <a:t>总结下对</a:t>
            </a:r>
            <a:r>
              <a:rPr lang="en-US" altLang="zh-CN" dirty="0"/>
              <a:t>AOP</a:t>
            </a:r>
            <a:r>
              <a:rPr lang="zh-CN" altLang="en-US" dirty="0"/>
              <a:t>理解：</a:t>
            </a:r>
            <a:endParaRPr lang="en-US" altLang="zh-CN" dirty="0"/>
          </a:p>
          <a:p>
            <a:r>
              <a:rPr lang="zh-CN" altLang="en-US" dirty="0"/>
              <a:t>业务处理的主要流程就是核心关注点，与之关系不大的部分就是横切关注点。横切关注点的一个特点就是：他们经常发生在核心关注点的多处，而各处基本相似，比如权限认证、日志、事务处理。</a:t>
            </a:r>
            <a:r>
              <a:rPr lang="en-US" altLang="zh-CN" dirty="0"/>
              <a:t>AOP</a:t>
            </a:r>
            <a:r>
              <a:rPr lang="zh-CN" altLang="en-US" dirty="0"/>
              <a:t>的作用在于分离系统中的各种关注点，将核心关注点和横切关注点分离开来。</a:t>
            </a:r>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81D0CCD-F1CB-4674-8425-31C844BC950D}" type="slidenum">
              <a:rPr lang="zh-CN" altLang="en-US" smtClean="0"/>
              <a:pPr>
                <a:defRPr/>
              </a:pPr>
              <a:t>4</a:t>
            </a:fld>
            <a:endParaRPr lang="en-US" altLang="zh-CN"/>
          </a:p>
        </p:txBody>
      </p:sp>
    </p:spTree>
    <p:extLst>
      <p:ext uri="{BB962C8B-B14F-4D97-AF65-F5344CB8AC3E}">
        <p14:creationId xmlns:p14="http://schemas.microsoft.com/office/powerpoint/2010/main" val="792846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0C8BF09-F9B5-4922-BE16-E1B33ED302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367DCD0C-B1D5-4DDD-88A3-F983A58FFC4E}" type="slidenum">
              <a:rPr lang="en-US" altLang="zh-CN">
                <a:solidFill>
                  <a:srgbClr val="FF9900"/>
                </a:solidFill>
              </a:rPr>
              <a:pPr>
                <a:spcBef>
                  <a:spcPct val="50000"/>
                </a:spcBef>
              </a:pPr>
              <a:t>5</a:t>
            </a:fld>
            <a:endParaRPr lang="en-US" altLang="zh-CN">
              <a:solidFill>
                <a:srgbClr val="FF9900"/>
              </a:solidFill>
            </a:endParaRPr>
          </a:p>
        </p:txBody>
      </p:sp>
      <p:sp>
        <p:nvSpPr>
          <p:cNvPr id="35843" name="Rectangle 2">
            <a:extLst>
              <a:ext uri="{FF2B5EF4-FFF2-40B4-BE49-F238E27FC236}">
                <a16:creationId xmlns:a16="http://schemas.microsoft.com/office/drawing/2014/main" id="{3FC07D85-807B-4888-A089-EAADC35B2BDE}"/>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B58CF02A-1C14-4B9A-9A89-1DA137BB78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C603CDA8-0DF9-4636-B7CA-957A009015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F7B0D615-B067-4C2B-8E89-BDB729B3CD35}" type="slidenum">
              <a:rPr lang="en-US" altLang="zh-CN">
                <a:solidFill>
                  <a:srgbClr val="FF9900"/>
                </a:solidFill>
              </a:rPr>
              <a:pPr>
                <a:spcBef>
                  <a:spcPct val="50000"/>
                </a:spcBef>
              </a:pPr>
              <a:t>6</a:t>
            </a:fld>
            <a:endParaRPr lang="en-US" altLang="zh-CN">
              <a:solidFill>
                <a:srgbClr val="FF9900"/>
              </a:solidFill>
            </a:endParaRPr>
          </a:p>
        </p:txBody>
      </p:sp>
      <p:sp>
        <p:nvSpPr>
          <p:cNvPr id="62467" name="Rectangle 2">
            <a:extLst>
              <a:ext uri="{FF2B5EF4-FFF2-40B4-BE49-F238E27FC236}">
                <a16:creationId xmlns:a16="http://schemas.microsoft.com/office/drawing/2014/main" id="{CC0A0A6C-506A-4769-B0DD-820E5FC3C97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2096C06D-3332-49CF-B55D-81F88A205B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银行存取款为例</a:t>
            </a:r>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FBFCEC0-4404-48AE-AA2B-F303835152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AFB6134D-EBCA-45A3-9980-4E06AB350A52}" type="slidenum">
              <a:rPr lang="en-US" altLang="zh-CN">
                <a:solidFill>
                  <a:srgbClr val="FF9900"/>
                </a:solidFill>
              </a:rPr>
              <a:pPr>
                <a:spcBef>
                  <a:spcPct val="50000"/>
                </a:spcBef>
              </a:pPr>
              <a:t>7</a:t>
            </a:fld>
            <a:endParaRPr lang="en-US" altLang="zh-CN">
              <a:solidFill>
                <a:srgbClr val="FF9900"/>
              </a:solidFill>
            </a:endParaRPr>
          </a:p>
        </p:txBody>
      </p:sp>
      <p:sp>
        <p:nvSpPr>
          <p:cNvPr id="66563" name="Rectangle 2">
            <a:extLst>
              <a:ext uri="{FF2B5EF4-FFF2-40B4-BE49-F238E27FC236}">
                <a16:creationId xmlns:a16="http://schemas.microsoft.com/office/drawing/2014/main" id="{F46159A2-62BA-4C89-92BF-7199841EEAB7}"/>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37E8E372-093C-4BC8-A1A7-C425281956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indent="457200"/>
            <a:r>
              <a:rPr lang="zh-CN" altLang="en-US" b="1" dirty="0"/>
              <a:t>增强（</a:t>
            </a:r>
            <a:r>
              <a:rPr lang="en-US" altLang="zh-CN" b="1" dirty="0" err="1"/>
              <a:t>Adivce</a:t>
            </a:r>
            <a:r>
              <a:rPr lang="zh-CN" altLang="en-US" b="1" dirty="0"/>
              <a:t>）</a:t>
            </a:r>
            <a:r>
              <a:rPr lang="zh-CN" altLang="en-US" dirty="0"/>
              <a:t>：又翻译为通知，定义了切面是什么以及何时使用，描述了切面要完成的工作和何时需要执行这个工作。是织入到目标类连接点上的一段程序代码。增强包含了用于添加到目标连接点上的一段执行逻辑，又包含了用于定位连接点的方位信息。（所以</a:t>
            </a:r>
            <a:r>
              <a:rPr lang="en-US" altLang="zh-CN" dirty="0"/>
              <a:t>spring</a:t>
            </a:r>
            <a:r>
              <a:rPr lang="zh-CN" altLang="en-US" dirty="0"/>
              <a:t>提供的增强接口都是带方位名：</a:t>
            </a:r>
            <a:r>
              <a:rPr lang="en-US" altLang="zh-CN" dirty="0" err="1"/>
              <a:t>BeforeAdvice</a:t>
            </a:r>
            <a:r>
              <a:rPr lang="zh-CN" altLang="en-US" dirty="0"/>
              <a:t>、（表示方法调用前的位置）</a:t>
            </a:r>
            <a:r>
              <a:rPr lang="en-US" altLang="zh-CN" dirty="0" err="1"/>
              <a:t>AfterReturningAdvice</a:t>
            </a:r>
            <a:r>
              <a:rPr lang="zh-CN" altLang="en-US" dirty="0"/>
              <a:t>、（表示访问返回后的位置）</a:t>
            </a:r>
            <a:r>
              <a:rPr lang="en-US" altLang="zh-CN" dirty="0" err="1"/>
              <a:t>ThrowAdvice</a:t>
            </a:r>
            <a:r>
              <a:rPr lang="zh-CN" altLang="en-US" dirty="0"/>
              <a:t>等等，所以只有结合切点和增强两者一起才能确定特定的连接点并实施增强逻辑）</a:t>
            </a:r>
            <a:endParaRPr lang="zh-CN" altLang="en-US" b="1" dirty="0"/>
          </a:p>
          <a:p>
            <a:pPr marL="0" lvl="1" indent="457200"/>
            <a:r>
              <a:rPr lang="zh-CN" altLang="en-US" b="1" dirty="0"/>
              <a:t>切入点（</a:t>
            </a:r>
            <a:r>
              <a:rPr lang="en-US" altLang="zh-CN" b="1" dirty="0" err="1"/>
              <a:t>Pointcut</a:t>
            </a:r>
            <a:r>
              <a:rPr lang="zh-CN" altLang="en-US" b="1" dirty="0"/>
              <a:t>）</a:t>
            </a:r>
            <a:r>
              <a:rPr lang="zh-CN" altLang="en-US" dirty="0"/>
              <a:t>：</a:t>
            </a:r>
            <a:r>
              <a:rPr lang="en-US" altLang="zh-CN" dirty="0"/>
              <a:t>Advice</a:t>
            </a:r>
            <a:r>
              <a:rPr lang="zh-CN" altLang="en-US" dirty="0"/>
              <a:t>定义了切面要发生“故事”和时间，那么切入点就定义了“故事”发生的地点。例如某个类或者方法名，</a:t>
            </a:r>
            <a:r>
              <a:rPr lang="en-US" altLang="zh-CN" dirty="0"/>
              <a:t>Spring</a:t>
            </a:r>
            <a:r>
              <a:rPr lang="zh-CN" altLang="en-US" dirty="0"/>
              <a:t>中允许我们使用正则来指定。</a:t>
            </a:r>
            <a:endParaRPr lang="zh-CN" altLang="en-US" b="1" dirty="0"/>
          </a:p>
          <a:p>
            <a:pPr marL="0" lvl="1" indent="457200"/>
            <a:r>
              <a:rPr lang="zh-CN" altLang="en-US" b="1" dirty="0"/>
              <a:t>连接点（</a:t>
            </a:r>
            <a:r>
              <a:rPr lang="en-US" altLang="zh-CN" b="1" dirty="0" err="1"/>
              <a:t>Joinpoint</a:t>
            </a:r>
            <a:r>
              <a:rPr lang="zh-CN" altLang="en-US" b="1" dirty="0"/>
              <a:t>）</a:t>
            </a:r>
            <a:r>
              <a:rPr lang="zh-CN" altLang="en-US" dirty="0"/>
              <a:t>：切入点匹配的执行点称作连接点。如果说切入点是查询条件，那连接点就是被选中的具体的查询结果。程序执行的某个特定位置，程序能够应用增强代码的一个“时机”，比如方法调用或者特定异常抛出</a:t>
            </a:r>
            <a:endParaRPr lang="zh-CN" altLang="en-US" b="1" dirty="0"/>
          </a:p>
          <a:p>
            <a:pPr marL="0" lvl="1" indent="457200"/>
            <a:r>
              <a:rPr lang="zh-CN" altLang="en-US" b="1" dirty="0"/>
              <a:t>切面（</a:t>
            </a:r>
            <a:r>
              <a:rPr lang="en-US" altLang="zh-CN" b="1" dirty="0"/>
              <a:t>Aspect</a:t>
            </a:r>
            <a:r>
              <a:rPr lang="zh-CN" altLang="en-US" b="1" dirty="0"/>
              <a:t>）：</a:t>
            </a:r>
            <a:r>
              <a:rPr lang="zh-CN" altLang="en-US" dirty="0"/>
              <a:t>切点和增强组成切面。它包括了横切逻辑的定义，也包括了连接点的定义。</a:t>
            </a:r>
            <a:r>
              <a:rPr lang="en-US" altLang="zh-CN" dirty="0"/>
              <a:t>Spring AOP</a:t>
            </a:r>
            <a:r>
              <a:rPr lang="zh-CN" altLang="en-US" dirty="0"/>
              <a:t>就是负责实施切面的框架，它将切面所定义的横切逻辑织入到切面所指定的连接点中</a:t>
            </a:r>
            <a:endParaRPr lang="zh-CN" altLang="en-US" b="1" dirty="0"/>
          </a:p>
          <a:p>
            <a:pPr marL="0" lvl="1" indent="457200"/>
            <a:r>
              <a:rPr lang="zh-CN" altLang="en-US" b="1" dirty="0"/>
              <a:t>代理（</a:t>
            </a:r>
            <a:r>
              <a:rPr lang="en-US" altLang="zh-CN" b="1" dirty="0"/>
              <a:t>Proxy</a:t>
            </a:r>
            <a:r>
              <a:rPr lang="zh-CN" altLang="en-US" b="1" dirty="0"/>
              <a:t>）：</a:t>
            </a:r>
            <a:r>
              <a:rPr lang="en-US" altLang="zh-CN" dirty="0"/>
              <a:t>AOP</a:t>
            </a:r>
            <a:r>
              <a:rPr lang="zh-CN" altLang="en-US" dirty="0"/>
              <a:t>框架创建的对象。一个类被</a:t>
            </a:r>
            <a:r>
              <a:rPr lang="en-US" altLang="zh-CN" dirty="0"/>
              <a:t>AOP</a:t>
            </a:r>
            <a:r>
              <a:rPr lang="zh-CN" altLang="en-US" dirty="0"/>
              <a:t>织入增强之后，就产生了一个结果类，它是融合了原类和增强逻辑的代理类。</a:t>
            </a:r>
            <a:endParaRPr lang="zh-CN" altLang="en-US" b="1" dirty="0"/>
          </a:p>
          <a:p>
            <a:pPr marL="0" lvl="1" indent="457200"/>
            <a:r>
              <a:rPr lang="zh-CN" altLang="en-US" b="1" dirty="0"/>
              <a:t>目标对象（</a:t>
            </a:r>
            <a:r>
              <a:rPr lang="en-US" altLang="zh-CN" b="1" dirty="0"/>
              <a:t>Target</a:t>
            </a:r>
            <a:r>
              <a:rPr lang="zh-CN" altLang="en-US" b="1" dirty="0"/>
              <a:t>）：</a:t>
            </a:r>
            <a:r>
              <a:rPr lang="zh-CN" altLang="en-US" dirty="0"/>
              <a:t>增强逻辑的织入的目标类</a:t>
            </a:r>
            <a:endParaRPr lang="zh-CN" altLang="en-US" b="1" dirty="0"/>
          </a:p>
          <a:p>
            <a:pPr marL="0" lvl="1" indent="457200"/>
            <a:r>
              <a:rPr lang="zh-CN" altLang="en-US" b="1" dirty="0"/>
              <a:t>织入（</a:t>
            </a:r>
            <a:r>
              <a:rPr lang="en-US" altLang="zh-CN" b="1" dirty="0"/>
              <a:t>Weaving</a:t>
            </a:r>
            <a:r>
              <a:rPr lang="zh-CN" altLang="en-US" b="1" dirty="0"/>
              <a:t>）：</a:t>
            </a:r>
            <a:r>
              <a:rPr lang="zh-CN" altLang="en-US" dirty="0"/>
              <a:t>将增强添加到目标类具体连接点上的过程。</a:t>
            </a:r>
            <a:r>
              <a:rPr lang="en-US" altLang="zh-CN" dirty="0"/>
              <a:t>AOP</a:t>
            </a:r>
            <a:r>
              <a:rPr lang="zh-CN" altLang="en-US" dirty="0"/>
              <a:t>有三种织入的方式：编译期织入、类装载期织入、动态代理织入（</a:t>
            </a:r>
            <a:r>
              <a:rPr lang="en-US" altLang="zh-CN" dirty="0"/>
              <a:t>spring</a:t>
            </a:r>
            <a:r>
              <a:rPr lang="zh-CN" altLang="en-US" dirty="0"/>
              <a:t>采用动态代理织入）</a:t>
            </a:r>
            <a:endParaRPr lang="en-US" altLang="zh-CN" sz="1000" dirty="0"/>
          </a:p>
          <a:p>
            <a:pPr marL="0" lvl="1" indent="457200"/>
            <a:endParaRPr lang="zh-CN" altLang="en-US" sz="1000" dirty="0"/>
          </a:p>
          <a:p>
            <a:pPr marL="0" lvl="1" indent="457200"/>
            <a:r>
              <a:rPr lang="zh-CN" altLang="en-US" sz="1000" dirty="0"/>
              <a:t>图</a:t>
            </a:r>
            <a:r>
              <a:rPr lang="en-US" altLang="zh-CN" sz="1000" dirty="0"/>
              <a:t>-》</a:t>
            </a:r>
            <a:r>
              <a:rPr lang="zh-CN" altLang="en-US" sz="1000" dirty="0"/>
              <a:t>更好理解：在一个多或多个连接点上，可以将切面的功能（</a:t>
            </a:r>
            <a:r>
              <a:rPr lang="en-US" altLang="zh-CN" sz="1000" dirty="0"/>
              <a:t>advice</a:t>
            </a:r>
            <a:r>
              <a:rPr lang="zh-CN" altLang="en-US" sz="1000" dirty="0"/>
              <a:t>）织入到程序的执行过程中</a:t>
            </a:r>
            <a:endParaRPr lang="en-US" altLang="zh-CN" sz="1000" dirty="0"/>
          </a:p>
          <a:p>
            <a:pPr marL="0" lvl="1" indent="457200"/>
            <a:endParaRPr lang="en-US" altLang="zh-CN" sz="1000" dirty="0"/>
          </a:p>
          <a:p>
            <a:pPr marL="0" lvl="1" indent="457200"/>
            <a:r>
              <a:rPr lang="zh-CN" altLang="en-US" sz="1000" dirty="0"/>
              <a:t>说明：</a:t>
            </a:r>
            <a:endParaRPr lang="en-US" altLang="zh-CN" sz="1000" dirty="0"/>
          </a:p>
          <a:p>
            <a:pPr marL="0" lvl="1" indent="457200"/>
            <a:r>
              <a:rPr lang="zh-CN" altLang="zh-CN" sz="1200" kern="1200" dirty="0">
                <a:solidFill>
                  <a:schemeClr val="tx1"/>
                </a:solidFill>
                <a:effectLst/>
                <a:latin typeface="Times New Roman" pitchFamily="18" charset="0"/>
                <a:ea typeface="宋体" pitchFamily="2" charset="-122"/>
                <a:cs typeface="+mn-cs"/>
              </a:rPr>
              <a:t>切面可以理解为由增强处理和切入点组成，既包含了横切逻辑的定义，也包含了连接点的定义。面向切面编程主要关心两个问题，即：在什么位置，执行什么功能。</a:t>
            </a:r>
            <a:r>
              <a:rPr lang="en-US" altLang="zh-CN" sz="1200" kern="1200" dirty="0">
                <a:solidFill>
                  <a:schemeClr val="tx1"/>
                </a:solidFill>
                <a:effectLst/>
                <a:latin typeface="Times New Roman" pitchFamily="18" charset="0"/>
                <a:ea typeface="宋体" pitchFamily="2" charset="-122"/>
                <a:cs typeface="+mn-cs"/>
              </a:rPr>
              <a:t>Spring AOP</a:t>
            </a:r>
            <a:r>
              <a:rPr lang="zh-CN" altLang="zh-CN" sz="1200" kern="1200" dirty="0">
                <a:solidFill>
                  <a:schemeClr val="tx1"/>
                </a:solidFill>
                <a:effectLst/>
                <a:latin typeface="Times New Roman" pitchFamily="18" charset="0"/>
                <a:ea typeface="宋体" pitchFamily="2" charset="-122"/>
                <a:cs typeface="+mn-cs"/>
              </a:rPr>
              <a:t>是负责实施切面的框架，即由</a:t>
            </a:r>
            <a:r>
              <a:rPr lang="en-US" altLang="zh-CN" sz="1200" kern="1200" dirty="0">
                <a:solidFill>
                  <a:schemeClr val="tx1"/>
                </a:solidFill>
                <a:effectLst/>
                <a:latin typeface="Times New Roman" pitchFamily="18" charset="0"/>
                <a:ea typeface="宋体" pitchFamily="2" charset="-122"/>
                <a:cs typeface="+mn-cs"/>
              </a:rPr>
              <a:t>Spring AOP</a:t>
            </a:r>
            <a:r>
              <a:rPr lang="zh-CN" altLang="zh-CN" sz="1200" kern="1200" dirty="0">
                <a:solidFill>
                  <a:schemeClr val="tx1"/>
                </a:solidFill>
                <a:effectLst/>
                <a:latin typeface="Times New Roman" pitchFamily="18" charset="0"/>
                <a:ea typeface="宋体" pitchFamily="2" charset="-122"/>
                <a:cs typeface="+mn-cs"/>
              </a:rPr>
              <a:t>完成织入工作</a:t>
            </a:r>
            <a:r>
              <a:rPr lang="zh-CN" altLang="en-US" sz="1200" kern="1200" dirty="0">
                <a:solidFill>
                  <a:schemeClr val="tx1"/>
                </a:solidFill>
                <a:effectLst/>
                <a:latin typeface="Times New Roman" pitchFamily="18" charset="0"/>
                <a:ea typeface="宋体" pitchFamily="2" charset="-122"/>
                <a:cs typeface="+mn-cs"/>
              </a:rPr>
              <a:t>。</a:t>
            </a:r>
            <a:endParaRPr lang="en-US" altLang="zh-CN" sz="1200" kern="1200" dirty="0">
              <a:solidFill>
                <a:schemeClr val="tx1"/>
              </a:solidFill>
              <a:effectLst/>
              <a:latin typeface="Times New Roman" pitchFamily="18" charset="0"/>
              <a:ea typeface="宋体" pitchFamily="2" charset="-122"/>
              <a:cs typeface="+mn-cs"/>
            </a:endParaRPr>
          </a:p>
          <a:p>
            <a:pPr marL="0" lvl="1" indent="457200"/>
            <a:r>
              <a:rPr lang="en-US" altLang="zh-CN" sz="1200" kern="1200" dirty="0">
                <a:solidFill>
                  <a:schemeClr val="tx1"/>
                </a:solidFill>
                <a:effectLst/>
                <a:latin typeface="Times New Roman" pitchFamily="18" charset="0"/>
                <a:ea typeface="宋体" pitchFamily="2" charset="-122"/>
                <a:cs typeface="+mn-cs"/>
              </a:rPr>
              <a:t>Advice</a:t>
            </a:r>
            <a:r>
              <a:rPr lang="zh-CN" altLang="zh-CN" sz="1200" kern="1200" dirty="0">
                <a:solidFill>
                  <a:schemeClr val="tx1"/>
                </a:solidFill>
                <a:effectLst/>
                <a:latin typeface="Times New Roman" pitchFamily="18" charset="0"/>
                <a:ea typeface="宋体" pitchFamily="2" charset="-122"/>
                <a:cs typeface="+mn-cs"/>
              </a:rPr>
              <a:t>直译为“通知”，但这种叫法并不确切，在此处翻译成“增强处理”更便于大家理解</a:t>
            </a:r>
            <a:r>
              <a:rPr lang="zh-CN" altLang="en-US" sz="1200" kern="1200" dirty="0">
                <a:solidFill>
                  <a:schemeClr val="tx1"/>
                </a:solidFill>
                <a:effectLst/>
                <a:latin typeface="Times New Roman" pitchFamily="18" charset="0"/>
                <a:ea typeface="宋体" pitchFamily="2" charset="-122"/>
                <a:cs typeface="+mn-cs"/>
              </a:rPr>
              <a:t>。</a:t>
            </a:r>
            <a:endParaRPr lang="en-US" altLang="zh-CN" sz="1000" dirty="0"/>
          </a:p>
          <a:p>
            <a:pPr marL="0" lvl="1" indent="457200"/>
            <a:endParaRPr lang="en-US" altLang="zh-CN" sz="1000" dirty="0"/>
          </a:p>
          <a:p>
            <a:pPr marL="0" lvl="1" indent="457200"/>
            <a:endParaRPr lang="en-US" altLang="zh-CN" sz="1000" dirty="0"/>
          </a:p>
          <a:p>
            <a:endParaRPr lang="en-US" altLang="zh-CN" dirty="0"/>
          </a:p>
        </p:txBody>
      </p:sp>
      <p:sp>
        <p:nvSpPr>
          <p:cNvPr id="4" name="灯片编号占位符 3"/>
          <p:cNvSpPr>
            <a:spLocks noGrp="1"/>
          </p:cNvSpPr>
          <p:nvPr>
            <p:ph type="sldNum" sz="quarter" idx="10"/>
          </p:nvPr>
        </p:nvSpPr>
        <p:spPr/>
        <p:txBody>
          <a:bodyPr/>
          <a:lstStyle/>
          <a:p>
            <a:pPr>
              <a:defRPr/>
            </a:pPr>
            <a:fld id="{C81D0CCD-F1CB-4674-8425-31C844BC950D}" type="slidenum">
              <a:rPr lang="zh-CN" altLang="en-US" smtClean="0"/>
              <a:pPr>
                <a:defRPr/>
              </a:pPr>
              <a:t>8</a:t>
            </a:fld>
            <a:endParaRPr lang="en-US" altLang="zh-CN"/>
          </a:p>
        </p:txBody>
      </p:sp>
    </p:spTree>
    <p:extLst>
      <p:ext uri="{BB962C8B-B14F-4D97-AF65-F5344CB8AC3E}">
        <p14:creationId xmlns:p14="http://schemas.microsoft.com/office/powerpoint/2010/main" val="792846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725224D1-A060-4997-8F20-0B38EA7F8A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3FB3E3B3-E8F9-4029-8901-35CF9A82AB96}" type="slidenum">
              <a:rPr lang="en-US" altLang="zh-CN">
                <a:solidFill>
                  <a:srgbClr val="FF9900"/>
                </a:solidFill>
              </a:rPr>
              <a:pPr>
                <a:spcBef>
                  <a:spcPct val="50000"/>
                </a:spcBef>
              </a:pPr>
              <a:t>9</a:t>
            </a:fld>
            <a:endParaRPr lang="en-US" altLang="zh-CN">
              <a:solidFill>
                <a:srgbClr val="FF9900"/>
              </a:solidFill>
            </a:endParaRPr>
          </a:p>
        </p:txBody>
      </p:sp>
      <p:sp>
        <p:nvSpPr>
          <p:cNvPr id="70659" name="Rectangle 2">
            <a:extLst>
              <a:ext uri="{FF2B5EF4-FFF2-40B4-BE49-F238E27FC236}">
                <a16:creationId xmlns:a16="http://schemas.microsoft.com/office/drawing/2014/main" id="{5F3DF0F7-7836-44A7-AA15-6D9725FD3E12}"/>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25E5B8F4-1BA2-40BF-BEC9-000E9EED61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7F7AEE8A-D65B-4D50-AC50-1CC7C97775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8B84765C-70A5-45CC-9AEF-62B200793851}" type="slidenum">
              <a:rPr lang="en-US" altLang="zh-CN">
                <a:solidFill>
                  <a:srgbClr val="FF9900"/>
                </a:solidFill>
              </a:rPr>
              <a:pPr>
                <a:spcBef>
                  <a:spcPct val="50000"/>
                </a:spcBef>
              </a:pPr>
              <a:t>10</a:t>
            </a:fld>
            <a:endParaRPr lang="en-US" altLang="zh-CN">
              <a:solidFill>
                <a:srgbClr val="FF9900"/>
              </a:solidFill>
            </a:endParaRPr>
          </a:p>
        </p:txBody>
      </p:sp>
      <p:sp>
        <p:nvSpPr>
          <p:cNvPr id="72707" name="Rectangle 2">
            <a:extLst>
              <a:ext uri="{FF2B5EF4-FFF2-40B4-BE49-F238E27FC236}">
                <a16:creationId xmlns:a16="http://schemas.microsoft.com/office/drawing/2014/main" id="{96BD7EC9-9659-46CF-90F2-F16AA0CD63A2}"/>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F72B1841-FC0B-48C2-AC84-F4C01F6F48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BC75A865-1EE6-4E38-9FC1-F659B691F4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7580A1A3-A075-4F86-880A-29AD70ECAEB4}" type="slidenum">
              <a:rPr lang="en-US" altLang="zh-CN">
                <a:solidFill>
                  <a:srgbClr val="FF9900"/>
                </a:solidFill>
              </a:rPr>
              <a:pPr>
                <a:spcBef>
                  <a:spcPct val="50000"/>
                </a:spcBef>
              </a:pPr>
              <a:t>11</a:t>
            </a:fld>
            <a:endParaRPr lang="en-US" altLang="zh-CN">
              <a:solidFill>
                <a:srgbClr val="FF9900"/>
              </a:solidFill>
            </a:endParaRPr>
          </a:p>
        </p:txBody>
      </p:sp>
      <p:sp>
        <p:nvSpPr>
          <p:cNvPr id="74755" name="Rectangle 2">
            <a:extLst>
              <a:ext uri="{FF2B5EF4-FFF2-40B4-BE49-F238E27FC236}">
                <a16:creationId xmlns:a16="http://schemas.microsoft.com/office/drawing/2014/main" id="{C22BAC01-2412-4D95-B81B-BD0488950266}"/>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322E3E74-6920-46D5-914E-B15315260D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EB363DFA-E255-44A6-B8B6-4213FB18E9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ACF5ED21-AD1B-49D2-8DF8-DE7FCA8602B2}" type="slidenum">
              <a:rPr lang="en-US" altLang="zh-CN">
                <a:solidFill>
                  <a:srgbClr val="FF9900"/>
                </a:solidFill>
              </a:rPr>
              <a:pPr>
                <a:spcBef>
                  <a:spcPct val="50000"/>
                </a:spcBef>
              </a:pPr>
              <a:t>12</a:t>
            </a:fld>
            <a:endParaRPr lang="en-US" altLang="zh-CN">
              <a:solidFill>
                <a:srgbClr val="FF9900"/>
              </a:solidFill>
            </a:endParaRPr>
          </a:p>
        </p:txBody>
      </p:sp>
      <p:sp>
        <p:nvSpPr>
          <p:cNvPr id="76803" name="Rectangle 2">
            <a:extLst>
              <a:ext uri="{FF2B5EF4-FFF2-40B4-BE49-F238E27FC236}">
                <a16:creationId xmlns:a16="http://schemas.microsoft.com/office/drawing/2014/main" id="{45563FE6-0F15-4C48-BAA1-932E7BFA270D}"/>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566CC74B-A541-4877-AC34-C0087C4FEC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660752A-6E98-4175-B4C4-388814B661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50000"/>
              </a:spcBef>
            </a:pPr>
            <a:fld id="{0D1082C6-503A-4E64-B7D4-5C49B210E118}" type="slidenum">
              <a:rPr lang="en-US" altLang="zh-CN">
                <a:solidFill>
                  <a:srgbClr val="FF9900"/>
                </a:solidFill>
              </a:rPr>
              <a:pPr>
                <a:spcBef>
                  <a:spcPct val="50000"/>
                </a:spcBef>
              </a:pPr>
              <a:t>13</a:t>
            </a:fld>
            <a:endParaRPr lang="en-US" altLang="zh-CN">
              <a:solidFill>
                <a:srgbClr val="FF9900"/>
              </a:solidFill>
            </a:endParaRPr>
          </a:p>
        </p:txBody>
      </p:sp>
      <p:sp>
        <p:nvSpPr>
          <p:cNvPr id="84995" name="Rectangle 2">
            <a:extLst>
              <a:ext uri="{FF2B5EF4-FFF2-40B4-BE49-F238E27FC236}">
                <a16:creationId xmlns:a16="http://schemas.microsoft.com/office/drawing/2014/main" id="{D4712B35-33AF-4ECF-A4FA-26BC5C70CB43}"/>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D8093C25-1767-48B7-987B-AFA328E886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教学指导：</a:t>
            </a:r>
            <a:endParaRPr lang="en-US" altLang="zh-CN" dirty="0"/>
          </a:p>
          <a:p>
            <a:pPr lvl="1">
              <a:buClr>
                <a:srgbClr val="4BACC6"/>
              </a:buClr>
              <a:buSzPct val="100000"/>
              <a:buFont typeface="Wingdings" pitchFamily="2" charset="2"/>
              <a:buChar char="n"/>
            </a:pPr>
            <a:r>
              <a:rPr lang="zh-CN" altLang="en-US" sz="2400" b="0" dirty="0"/>
              <a:t>为项目添加</a:t>
            </a:r>
            <a:r>
              <a:rPr lang="en-US" altLang="zh-CN" sz="2400" b="0" dirty="0"/>
              <a:t>Spring</a:t>
            </a:r>
            <a:r>
              <a:rPr lang="zh-CN" altLang="en-US" sz="2400" b="0" dirty="0"/>
              <a:t>的</a:t>
            </a:r>
            <a:r>
              <a:rPr lang="en-US" altLang="zh-CN" sz="2400" b="0" dirty="0"/>
              <a:t>AOP</a:t>
            </a:r>
            <a:r>
              <a:rPr lang="zh-CN" altLang="en-US" sz="2400" b="0" dirty="0"/>
              <a:t>支持</a:t>
            </a:r>
            <a:endParaRPr lang="en-US" altLang="zh-CN" sz="2400" b="0" dirty="0"/>
          </a:p>
          <a:p>
            <a:pPr lvl="2">
              <a:buClr>
                <a:srgbClr val="4BACC6"/>
              </a:buClr>
              <a:buFont typeface="Wingdings" pitchFamily="2" charset="2"/>
              <a:buChar char="l"/>
            </a:pPr>
            <a:r>
              <a:rPr lang="en-US" altLang="zh-CN" sz="2000" b="0" dirty="0"/>
              <a:t>spring-aop-3.2.1</a:t>
            </a:r>
            <a:r>
              <a:rPr lang="zh-CN" altLang="en-US" sz="2000" b="0" dirty="0"/>
              <a:t>3</a:t>
            </a:r>
            <a:r>
              <a:rPr lang="en-US" altLang="zh-CN" sz="2000" b="0" dirty="0"/>
              <a:t>.RELEASE.jar</a:t>
            </a:r>
          </a:p>
          <a:p>
            <a:pPr lvl="2">
              <a:buClr>
                <a:srgbClr val="4BACC6"/>
              </a:buClr>
              <a:buFont typeface="Wingdings" pitchFamily="2" charset="2"/>
              <a:buChar char="l"/>
            </a:pPr>
            <a:r>
              <a:rPr lang="en-US" altLang="zh-CN" sz="2000" b="0" dirty="0"/>
              <a:t>aopalliance-1.0.jar</a:t>
            </a:r>
          </a:p>
          <a:p>
            <a:pPr lvl="2">
              <a:buClr>
                <a:srgbClr val="4BACC6"/>
              </a:buClr>
              <a:buFont typeface="Wingdings" pitchFamily="2" charset="2"/>
              <a:buChar char="l"/>
            </a:pPr>
            <a:r>
              <a:rPr lang="en-US" altLang="zh-CN" sz="2000" b="0" dirty="0"/>
              <a:t>aspectjweaver-1.6.9.jar</a:t>
            </a:r>
          </a:p>
          <a:p>
            <a:pPr lvl="2">
              <a:buClr>
                <a:srgbClr val="4BACC6"/>
              </a:buClr>
              <a:buFont typeface="Wingdings" pitchFamily="2" charset="2"/>
              <a:buChar char="l"/>
            </a:pPr>
            <a:r>
              <a:rPr lang="en-US" altLang="zh-CN" sz="2000" b="0" dirty="0"/>
              <a:t>cglib-nodep-2.1</a:t>
            </a:r>
            <a:r>
              <a:rPr lang="zh-CN" altLang="en-US" sz="2000" b="0" dirty="0"/>
              <a:t>.</a:t>
            </a:r>
            <a:r>
              <a:rPr lang="en-US" altLang="zh-CN" sz="2000" b="0" dirty="0"/>
              <a:t>3.jar</a:t>
            </a:r>
            <a:r>
              <a:rPr lang="zh-CN" altLang="en-US" sz="2000" b="0" dirty="0"/>
              <a:t>（已内联在Spring core中）</a:t>
            </a:r>
            <a:endParaRPr lang="en-US" altLang="zh-CN" sz="2000" b="0" dirty="0"/>
          </a:p>
          <a:p>
            <a:pPr lvl="1">
              <a:buClr>
                <a:srgbClr val="4BACC6"/>
              </a:buClr>
              <a:buSzPct val="100000"/>
              <a:buFont typeface="Wingdings" pitchFamily="2" charset="2"/>
              <a:buChar char="n"/>
            </a:pPr>
            <a:r>
              <a:rPr lang="zh-CN" altLang="en-US" sz="2400" b="0" dirty="0"/>
              <a:t>编写目标方法和增强处理</a:t>
            </a:r>
            <a:endParaRPr lang="en-US" altLang="zh-CN" sz="2400" b="0" dirty="0"/>
          </a:p>
          <a:p>
            <a:pPr lvl="1">
              <a:buClr>
                <a:srgbClr val="4BACC6"/>
              </a:buClr>
              <a:buSzPct val="100000"/>
              <a:buFont typeface="Wingdings" pitchFamily="2" charset="2"/>
              <a:buChar char="n"/>
            </a:pPr>
            <a:r>
              <a:rPr lang="zh-CN" altLang="en-US" sz="2400" b="0" dirty="0"/>
              <a:t>在</a:t>
            </a:r>
            <a:r>
              <a:rPr lang="en-US" altLang="zh-CN" sz="2400" b="0" dirty="0"/>
              <a:t>Spring</a:t>
            </a:r>
            <a:r>
              <a:rPr lang="zh-CN" altLang="en-US" sz="2400" b="0" dirty="0"/>
              <a:t>配置文件中定义切入点</a:t>
            </a:r>
            <a:endParaRPr lang="en-US" altLang="zh-CN" sz="2400" b="0" dirty="0"/>
          </a:p>
          <a:p>
            <a:pPr lvl="1">
              <a:buClr>
                <a:srgbClr val="4BACC6"/>
              </a:buClr>
              <a:buSzPct val="100000"/>
              <a:buFont typeface="Wingdings" pitchFamily="2" charset="2"/>
              <a:buChar char="n"/>
            </a:pPr>
            <a:r>
              <a:rPr lang="zh-CN" altLang="en-US" sz="2400" b="0" dirty="0"/>
              <a:t>在切入点织入增强处理</a:t>
            </a:r>
            <a:endParaRPr lang="en-US" altLang="zh-CN" sz="2400" b="0" dirty="0"/>
          </a:p>
          <a:p>
            <a:endParaRPr lang="zh-CN" altLang="en-US" dirty="0"/>
          </a:p>
        </p:txBody>
      </p:sp>
      <p:sp>
        <p:nvSpPr>
          <p:cNvPr id="4" name="灯片编号占位符 3"/>
          <p:cNvSpPr>
            <a:spLocks noGrp="1"/>
          </p:cNvSpPr>
          <p:nvPr>
            <p:ph type="sldNum" sz="quarter" idx="10"/>
          </p:nvPr>
        </p:nvSpPr>
        <p:spPr/>
        <p:txBody>
          <a:bodyPr/>
          <a:lstStyle/>
          <a:p>
            <a:pPr>
              <a:defRPr/>
            </a:pPr>
            <a:fld id="{C81D0CCD-F1CB-4674-8425-31C844BC950D}" type="slidenum">
              <a:rPr lang="zh-CN" altLang="en-US" smtClean="0"/>
              <a:pPr>
                <a:defRPr/>
              </a:pPr>
              <a:t>14</a:t>
            </a:fld>
            <a:endParaRPr lang="en-US" altLang="zh-CN"/>
          </a:p>
        </p:txBody>
      </p:sp>
    </p:spTree>
    <p:extLst>
      <p:ext uri="{BB962C8B-B14F-4D97-AF65-F5344CB8AC3E}">
        <p14:creationId xmlns:p14="http://schemas.microsoft.com/office/powerpoint/2010/main" val="1264855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教学指导：</a:t>
            </a:r>
            <a:endParaRPr lang="en-US" altLang="zh-CN" dirty="0"/>
          </a:p>
          <a:p>
            <a:r>
              <a:rPr lang="en-US" altLang="zh-CN" sz="1200" kern="1200" dirty="0" err="1">
                <a:solidFill>
                  <a:schemeClr val="tx1"/>
                </a:solidFill>
                <a:effectLst/>
                <a:latin typeface="Times New Roman" pitchFamily="18" charset="0"/>
                <a:ea typeface="宋体" pitchFamily="2" charset="-122"/>
                <a:cs typeface="+mn-cs"/>
              </a:rPr>
              <a:t>UserServiceLogger</a:t>
            </a:r>
            <a:r>
              <a:rPr lang="zh-CN" altLang="zh-CN" sz="1200" kern="1200" dirty="0">
                <a:solidFill>
                  <a:schemeClr val="tx1"/>
                </a:solidFill>
                <a:effectLst/>
                <a:latin typeface="Times New Roman" pitchFamily="18" charset="0"/>
                <a:ea typeface="宋体" pitchFamily="2" charset="-122"/>
                <a:cs typeface="+mn-cs"/>
              </a:rPr>
              <a:t>类中定义了</a:t>
            </a:r>
            <a:r>
              <a:rPr lang="en-US" altLang="zh-CN" sz="1200" kern="1200" dirty="0">
                <a:solidFill>
                  <a:schemeClr val="tx1"/>
                </a:solidFill>
                <a:effectLst/>
                <a:latin typeface="Times New Roman" pitchFamily="18" charset="0"/>
                <a:ea typeface="宋体" pitchFamily="2" charset="-122"/>
                <a:cs typeface="+mn-cs"/>
              </a:rPr>
              <a:t>before( )</a:t>
            </a:r>
            <a:r>
              <a:rPr lang="zh-CN" altLang="zh-CN" sz="1200" kern="1200" dirty="0">
                <a:solidFill>
                  <a:schemeClr val="tx1"/>
                </a:solidFill>
                <a:effectLst/>
                <a:latin typeface="Times New Roman" pitchFamily="18" charset="0"/>
                <a:ea typeface="宋体" pitchFamily="2" charset="-122"/>
                <a:cs typeface="+mn-cs"/>
              </a:rPr>
              <a:t>和</a:t>
            </a:r>
            <a:r>
              <a:rPr lang="en-US" altLang="zh-CN" sz="1200" kern="1200" dirty="0" err="1">
                <a:solidFill>
                  <a:schemeClr val="tx1"/>
                </a:solidFill>
                <a:effectLst/>
                <a:latin typeface="Times New Roman" pitchFamily="18" charset="0"/>
                <a:ea typeface="宋体" pitchFamily="2" charset="-122"/>
                <a:cs typeface="+mn-cs"/>
              </a:rPr>
              <a:t>afterReturning</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两个方法。我们希望把</a:t>
            </a:r>
            <a:r>
              <a:rPr lang="en-US" altLang="zh-CN" sz="1200" kern="1200" dirty="0">
                <a:solidFill>
                  <a:schemeClr val="tx1"/>
                </a:solidFill>
                <a:effectLst/>
                <a:latin typeface="Times New Roman" pitchFamily="18" charset="0"/>
                <a:ea typeface="宋体" pitchFamily="2" charset="-122"/>
                <a:cs typeface="+mn-cs"/>
              </a:rPr>
              <a:t>before( )</a:t>
            </a:r>
            <a:r>
              <a:rPr lang="zh-CN" altLang="zh-CN" sz="1200" kern="1200" dirty="0">
                <a:solidFill>
                  <a:schemeClr val="tx1"/>
                </a:solidFill>
                <a:effectLst/>
                <a:latin typeface="Times New Roman" pitchFamily="18" charset="0"/>
                <a:ea typeface="宋体" pitchFamily="2" charset="-122"/>
                <a:cs typeface="+mn-cs"/>
              </a:rPr>
              <a:t>方法作为前置增强使用，即将该方法添加到目标方法之前执行；</a:t>
            </a:r>
            <a:r>
              <a:rPr lang="en-US" altLang="zh-CN" sz="1200" kern="1200" dirty="0" err="1">
                <a:solidFill>
                  <a:schemeClr val="tx1"/>
                </a:solidFill>
                <a:effectLst/>
                <a:latin typeface="Times New Roman" pitchFamily="18" charset="0"/>
                <a:ea typeface="宋体" pitchFamily="2" charset="-122"/>
                <a:cs typeface="+mn-cs"/>
              </a:rPr>
              <a:t>afterReturning</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方法作为后置增强使用，即将该方法添加到目标方法正常返回之后执行。这里先以前置增强和后置增强为例，其他增强类型会在后续章节中进行介绍。</a:t>
            </a:r>
          </a:p>
          <a:p>
            <a:r>
              <a:rPr lang="zh-CN" altLang="zh-CN" sz="1200" kern="1200" dirty="0">
                <a:solidFill>
                  <a:schemeClr val="tx1"/>
                </a:solidFill>
                <a:effectLst/>
                <a:latin typeface="Times New Roman" pitchFamily="18" charset="0"/>
                <a:ea typeface="宋体" pitchFamily="2" charset="-122"/>
                <a:cs typeface="+mn-cs"/>
              </a:rPr>
              <a:t>为了能够在增强方法中获得当前连接点的信息，以便实施相关的判断和处理，可以在增强方法中声明一个</a:t>
            </a:r>
            <a:r>
              <a:rPr lang="en-US" altLang="zh-CN" sz="1200" kern="1200" dirty="0" err="1">
                <a:solidFill>
                  <a:schemeClr val="tx1"/>
                </a:solidFill>
                <a:effectLst/>
                <a:latin typeface="Times New Roman" pitchFamily="18" charset="0"/>
                <a:ea typeface="宋体" pitchFamily="2" charset="-122"/>
                <a:cs typeface="+mn-cs"/>
              </a:rPr>
              <a:t>JoinPoint</a:t>
            </a:r>
            <a:r>
              <a:rPr lang="zh-CN" altLang="zh-CN" sz="1200" kern="1200" dirty="0">
                <a:solidFill>
                  <a:schemeClr val="tx1"/>
                </a:solidFill>
                <a:effectLst/>
                <a:latin typeface="Times New Roman" pitchFamily="18" charset="0"/>
                <a:ea typeface="宋体" pitchFamily="2" charset="-122"/>
                <a:cs typeface="+mn-cs"/>
              </a:rPr>
              <a:t>类型的参数，</a:t>
            </a:r>
            <a:r>
              <a:rPr lang="en-US" altLang="zh-CN" sz="1200" kern="1200" dirty="0">
                <a:solidFill>
                  <a:schemeClr val="tx1"/>
                </a:solidFill>
                <a:effectLst/>
                <a:latin typeface="Times New Roman" pitchFamily="18" charset="0"/>
                <a:ea typeface="宋体" pitchFamily="2" charset="-122"/>
                <a:cs typeface="+mn-cs"/>
              </a:rPr>
              <a:t>Spring</a:t>
            </a:r>
            <a:r>
              <a:rPr lang="zh-CN" altLang="zh-CN" sz="1200" kern="1200" dirty="0">
                <a:solidFill>
                  <a:schemeClr val="tx1"/>
                </a:solidFill>
                <a:effectLst/>
                <a:latin typeface="Times New Roman" pitchFamily="18" charset="0"/>
                <a:ea typeface="宋体" pitchFamily="2" charset="-122"/>
                <a:cs typeface="+mn-cs"/>
              </a:rPr>
              <a:t>会自动注入该实例。通过该实例的</a:t>
            </a:r>
            <a:r>
              <a:rPr lang="en-US" altLang="zh-CN" sz="1200" kern="1200" dirty="0" err="1">
                <a:solidFill>
                  <a:schemeClr val="tx1"/>
                </a:solidFill>
                <a:effectLst/>
                <a:latin typeface="Times New Roman" pitchFamily="18" charset="0"/>
                <a:ea typeface="宋体" pitchFamily="2" charset="-122"/>
                <a:cs typeface="+mn-cs"/>
              </a:rPr>
              <a:t>getTarget</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方法可以得到被代理的目标对象，</a:t>
            </a:r>
            <a:r>
              <a:rPr lang="en-US" altLang="zh-CN" sz="1200" kern="1200" dirty="0" err="1">
                <a:solidFill>
                  <a:schemeClr val="tx1"/>
                </a:solidFill>
                <a:effectLst/>
                <a:latin typeface="Times New Roman" pitchFamily="18" charset="0"/>
                <a:ea typeface="宋体" pitchFamily="2" charset="-122"/>
                <a:cs typeface="+mn-cs"/>
              </a:rPr>
              <a:t>getSignature</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方法返回被代理的目标方法，</a:t>
            </a:r>
            <a:r>
              <a:rPr lang="en-US" altLang="zh-CN" sz="1200" kern="1200" dirty="0" err="1">
                <a:solidFill>
                  <a:schemeClr val="tx1"/>
                </a:solidFill>
                <a:effectLst/>
                <a:latin typeface="Times New Roman" pitchFamily="18" charset="0"/>
                <a:ea typeface="宋体" pitchFamily="2" charset="-122"/>
                <a:cs typeface="+mn-cs"/>
              </a:rPr>
              <a:t>getArgs</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方法返回传递给目标方法的参数数组。对于实现后置增强的</a:t>
            </a:r>
            <a:r>
              <a:rPr lang="en-US" altLang="zh-CN" sz="1200" kern="1200" dirty="0" err="1">
                <a:solidFill>
                  <a:schemeClr val="tx1"/>
                </a:solidFill>
                <a:effectLst/>
                <a:latin typeface="Times New Roman" pitchFamily="18" charset="0"/>
                <a:ea typeface="宋体" pitchFamily="2" charset="-122"/>
                <a:cs typeface="+mn-cs"/>
              </a:rPr>
              <a:t>afterReturning</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方法，还可以定义一个参数用于接收目标方法的返回值。</a:t>
            </a:r>
            <a:endParaRPr lang="zh-CN" altLang="en-US" dirty="0"/>
          </a:p>
        </p:txBody>
      </p:sp>
      <p:sp>
        <p:nvSpPr>
          <p:cNvPr id="4" name="灯片编号占位符 3"/>
          <p:cNvSpPr>
            <a:spLocks noGrp="1"/>
          </p:cNvSpPr>
          <p:nvPr>
            <p:ph type="sldNum" sz="quarter" idx="10"/>
          </p:nvPr>
        </p:nvSpPr>
        <p:spPr/>
        <p:txBody>
          <a:bodyPr/>
          <a:lstStyle/>
          <a:p>
            <a:pPr>
              <a:defRPr/>
            </a:pPr>
            <a:fld id="{C81D0CCD-F1CB-4674-8425-31C844BC950D}" type="slidenum">
              <a:rPr lang="zh-CN" altLang="en-US" smtClean="0"/>
              <a:pPr>
                <a:defRPr/>
              </a:pPr>
              <a:t>16</a:t>
            </a:fld>
            <a:endParaRPr lang="en-US" altLang="zh-CN"/>
          </a:p>
        </p:txBody>
      </p:sp>
    </p:spTree>
    <p:extLst>
      <p:ext uri="{BB962C8B-B14F-4D97-AF65-F5344CB8AC3E}">
        <p14:creationId xmlns:p14="http://schemas.microsoft.com/office/powerpoint/2010/main" val="1264855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教学指导</a:t>
            </a:r>
            <a:endParaRPr lang="en-US" altLang="zh-CN" dirty="0"/>
          </a:p>
          <a:p>
            <a:r>
              <a:rPr lang="zh-CN" altLang="zh-CN" sz="1200" kern="1200" dirty="0">
                <a:solidFill>
                  <a:schemeClr val="tx1"/>
                </a:solidFill>
                <a:effectLst/>
                <a:latin typeface="Times New Roman" pitchFamily="18" charset="0"/>
                <a:ea typeface="宋体" pitchFamily="2" charset="-122"/>
                <a:cs typeface="+mn-cs"/>
              </a:rPr>
              <a:t>配置切入点的标签</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aop:pointcut</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aop:pointcut</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的</a:t>
            </a:r>
            <a:r>
              <a:rPr lang="en-US" altLang="zh-CN" sz="1200" kern="1200" dirty="0">
                <a:solidFill>
                  <a:schemeClr val="tx1"/>
                </a:solidFill>
                <a:effectLst/>
                <a:latin typeface="Times New Roman" pitchFamily="18" charset="0"/>
                <a:ea typeface="宋体" pitchFamily="2" charset="-122"/>
                <a:cs typeface="+mn-cs"/>
              </a:rPr>
              <a:t>expression</a:t>
            </a:r>
            <a:r>
              <a:rPr lang="zh-CN" altLang="zh-CN" sz="1200" kern="1200" dirty="0">
                <a:solidFill>
                  <a:schemeClr val="tx1"/>
                </a:solidFill>
                <a:effectLst/>
                <a:latin typeface="Times New Roman" pitchFamily="18" charset="0"/>
                <a:ea typeface="宋体" pitchFamily="2" charset="-122"/>
                <a:cs typeface="+mn-cs"/>
              </a:rPr>
              <a:t>属性可以配置切入点表达式</a:t>
            </a:r>
            <a:endParaRPr lang="en-US" altLang="zh-CN" sz="1200" kern="1200" dirty="0">
              <a:solidFill>
                <a:schemeClr val="tx1"/>
              </a:solidFill>
              <a:effectLst/>
              <a:latin typeface="Times New Roman" pitchFamily="18" charset="0"/>
              <a:ea typeface="宋体" pitchFamily="2" charset="-122"/>
              <a:cs typeface="+mn-cs"/>
            </a:endParaRPr>
          </a:p>
          <a:p>
            <a:r>
              <a:rPr lang="zh-CN" altLang="zh-CN" sz="1200" kern="1200" dirty="0">
                <a:solidFill>
                  <a:schemeClr val="tx1"/>
                </a:solidFill>
                <a:effectLst/>
                <a:latin typeface="Times New Roman" pitchFamily="18" charset="0"/>
                <a:ea typeface="宋体" pitchFamily="2" charset="-122"/>
                <a:cs typeface="+mn-cs"/>
              </a:rPr>
              <a:t>切入点表达式支持模糊匹配，讲解几种常用的模糊匹配</a:t>
            </a:r>
            <a:endParaRPr lang="en-US" altLang="zh-CN" dirty="0"/>
          </a:p>
        </p:txBody>
      </p:sp>
      <p:sp>
        <p:nvSpPr>
          <p:cNvPr id="4" name="灯片编号占位符 3"/>
          <p:cNvSpPr>
            <a:spLocks noGrp="1"/>
          </p:cNvSpPr>
          <p:nvPr>
            <p:ph type="sldNum" sz="quarter" idx="10"/>
          </p:nvPr>
        </p:nvSpPr>
        <p:spPr/>
        <p:txBody>
          <a:bodyPr/>
          <a:lstStyle/>
          <a:p>
            <a:pPr>
              <a:defRPr/>
            </a:pPr>
            <a:fld id="{C81D0CCD-F1CB-4674-8425-31C844BC950D}" type="slidenum">
              <a:rPr lang="zh-CN" altLang="en-US" smtClean="0"/>
              <a:pPr>
                <a:defRPr/>
              </a:pPr>
              <a:t>17</a:t>
            </a:fld>
            <a:endParaRPr lang="en-US" altLang="zh-CN"/>
          </a:p>
        </p:txBody>
      </p:sp>
    </p:spTree>
    <p:extLst>
      <p:ext uri="{BB962C8B-B14F-4D97-AF65-F5344CB8AC3E}">
        <p14:creationId xmlns:p14="http://schemas.microsoft.com/office/powerpoint/2010/main" val="1264855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教学指导：</a:t>
            </a:r>
            <a:endParaRPr lang="en-US" altLang="zh-CN" dirty="0"/>
          </a:p>
          <a:p>
            <a:pPr marL="285750" lvl="1" indent="-285750" eaLnBrk="0" hangingPunct="0">
              <a:spcBef>
                <a:spcPct val="20000"/>
              </a:spcBef>
              <a:buClr>
                <a:srgbClr val="233DA9"/>
              </a:buClr>
              <a:buSzPct val="80000"/>
              <a:defRPr/>
            </a:pPr>
            <a:r>
              <a:rPr lang="zh-CN" altLang="en-US" sz="1600" b="1" kern="0" dirty="0">
                <a:solidFill>
                  <a:schemeClr val="bg1"/>
                </a:solidFill>
                <a:latin typeface="Arial"/>
                <a:ea typeface="黑体"/>
              </a:rPr>
              <a:t>将增强处理和切入点结合在一起，在切入点处插入增强处理，完成</a:t>
            </a:r>
            <a:r>
              <a:rPr lang="en-US" altLang="zh-CN" sz="1600" b="1" kern="0" dirty="0">
                <a:solidFill>
                  <a:schemeClr val="bg1"/>
                </a:solidFill>
                <a:latin typeface="Arial"/>
                <a:ea typeface="黑体"/>
              </a:rPr>
              <a:t>"</a:t>
            </a:r>
            <a:r>
              <a:rPr lang="zh-CN" altLang="en-US" sz="1600" b="1" kern="0" dirty="0">
                <a:solidFill>
                  <a:schemeClr val="bg1"/>
                </a:solidFill>
                <a:latin typeface="Arial"/>
                <a:ea typeface="黑体"/>
              </a:rPr>
              <a:t>织入</a:t>
            </a:r>
            <a:r>
              <a:rPr lang="en-US" altLang="zh-CN" sz="1600" b="1" kern="0" dirty="0">
                <a:solidFill>
                  <a:schemeClr val="bg1"/>
                </a:solidFill>
                <a:latin typeface="Arial"/>
                <a:ea typeface="黑体"/>
              </a:rPr>
              <a:t>"</a:t>
            </a:r>
            <a:endParaRPr lang="zh-CN" altLang="en-US" sz="1600" b="1" kern="0" dirty="0">
              <a:solidFill>
                <a:schemeClr val="bg1"/>
              </a:solidFill>
              <a:latin typeface="Arial"/>
              <a:ea typeface="黑体"/>
            </a:endParaRPr>
          </a:p>
          <a:p>
            <a:endParaRPr lang="en-US" altLang="zh-CN" dirty="0"/>
          </a:p>
          <a:p>
            <a:r>
              <a:rPr lang="zh-CN" altLang="zh-CN" sz="1200" kern="1200" dirty="0">
                <a:solidFill>
                  <a:schemeClr val="tx1"/>
                </a:solidFill>
                <a:effectLst/>
                <a:latin typeface="Times New Roman" pitchFamily="18" charset="0"/>
                <a:ea typeface="宋体" pitchFamily="2" charset="-122"/>
                <a:cs typeface="+mn-cs"/>
              </a:rPr>
              <a:t>在</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aop:config</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中使用</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aop:aspect</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引用包含增强方法的</a:t>
            </a:r>
            <a:r>
              <a:rPr lang="en-US" altLang="zh-CN" sz="1200" kern="1200" dirty="0">
                <a:solidFill>
                  <a:schemeClr val="tx1"/>
                </a:solidFill>
                <a:effectLst/>
                <a:latin typeface="Times New Roman" pitchFamily="18" charset="0"/>
                <a:ea typeface="宋体" pitchFamily="2" charset="-122"/>
                <a:cs typeface="+mn-cs"/>
              </a:rPr>
              <a:t>Bean</a:t>
            </a:r>
            <a:r>
              <a:rPr lang="zh-CN" altLang="zh-CN" sz="1200" kern="1200" dirty="0">
                <a:solidFill>
                  <a:schemeClr val="tx1"/>
                </a:solidFill>
                <a:effectLst/>
                <a:latin typeface="Times New Roman" pitchFamily="18" charset="0"/>
                <a:ea typeface="宋体" pitchFamily="2" charset="-122"/>
                <a:cs typeface="+mn-cs"/>
              </a:rPr>
              <a:t>。然后分别通过</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aop:before</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和</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aop:after-returning</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将方法声明为前置增强和后置增强，在</a:t>
            </a:r>
            <a:r>
              <a:rPr lang="en-US" altLang="zh-CN" sz="1200" kern="1200" dirty="0">
                <a:solidFill>
                  <a:schemeClr val="tx1"/>
                </a:solidFill>
                <a:effectLst/>
                <a:latin typeface="Times New Roman" pitchFamily="18" charset="0"/>
                <a:ea typeface="宋体" pitchFamily="2" charset="-122"/>
                <a:cs typeface="+mn-cs"/>
              </a:rPr>
              <a:t>&lt;</a:t>
            </a:r>
            <a:r>
              <a:rPr lang="en-US" altLang="zh-CN" sz="1200" kern="1200" dirty="0" err="1">
                <a:solidFill>
                  <a:schemeClr val="tx1"/>
                </a:solidFill>
                <a:effectLst/>
                <a:latin typeface="Times New Roman" pitchFamily="18" charset="0"/>
                <a:ea typeface="宋体" pitchFamily="2" charset="-122"/>
                <a:cs typeface="+mn-cs"/>
              </a:rPr>
              <a:t>aop:after-returning</a:t>
            </a:r>
            <a:r>
              <a:rPr lang="en-US" altLang="zh-CN" sz="1200" kern="1200" dirty="0">
                <a:solidFill>
                  <a:schemeClr val="tx1"/>
                </a:solidFill>
                <a:effectLst/>
                <a:latin typeface="Times New Roman" pitchFamily="18" charset="0"/>
                <a:ea typeface="宋体" pitchFamily="2" charset="-122"/>
                <a:cs typeface="+mn-cs"/>
              </a:rPr>
              <a:t>&gt;</a:t>
            </a:r>
            <a:r>
              <a:rPr lang="zh-CN" altLang="zh-CN" sz="1200" kern="1200" dirty="0">
                <a:solidFill>
                  <a:schemeClr val="tx1"/>
                </a:solidFill>
                <a:effectLst/>
                <a:latin typeface="Times New Roman" pitchFamily="18" charset="0"/>
                <a:ea typeface="宋体" pitchFamily="2" charset="-122"/>
                <a:cs typeface="+mn-cs"/>
              </a:rPr>
              <a:t>中可以通过</a:t>
            </a:r>
            <a:r>
              <a:rPr lang="en-US" altLang="zh-CN" sz="1200" kern="1200" dirty="0">
                <a:solidFill>
                  <a:schemeClr val="tx1"/>
                </a:solidFill>
                <a:effectLst/>
                <a:latin typeface="Times New Roman" pitchFamily="18" charset="0"/>
                <a:ea typeface="宋体" pitchFamily="2" charset="-122"/>
                <a:cs typeface="+mn-cs"/>
              </a:rPr>
              <a:t>returning</a:t>
            </a:r>
            <a:r>
              <a:rPr lang="zh-CN" altLang="zh-CN" sz="1200" kern="1200" dirty="0">
                <a:solidFill>
                  <a:schemeClr val="tx1"/>
                </a:solidFill>
                <a:effectLst/>
                <a:latin typeface="Times New Roman" pitchFamily="18" charset="0"/>
                <a:ea typeface="宋体" pitchFamily="2" charset="-122"/>
                <a:cs typeface="+mn-cs"/>
              </a:rPr>
              <a:t>属性指定需要注入返回值的属性名。方法的</a:t>
            </a:r>
            <a:r>
              <a:rPr lang="en-US" altLang="zh-CN" sz="1200" kern="1200" dirty="0" err="1">
                <a:solidFill>
                  <a:schemeClr val="tx1"/>
                </a:solidFill>
                <a:effectLst/>
                <a:latin typeface="Times New Roman" pitchFamily="18" charset="0"/>
                <a:ea typeface="宋体" pitchFamily="2" charset="-122"/>
                <a:cs typeface="+mn-cs"/>
              </a:rPr>
              <a:t>JoinPoint</a:t>
            </a:r>
            <a:r>
              <a:rPr lang="zh-CN" altLang="zh-CN" sz="1200" kern="1200" dirty="0">
                <a:solidFill>
                  <a:schemeClr val="tx1"/>
                </a:solidFill>
                <a:effectLst/>
                <a:latin typeface="Times New Roman" pitchFamily="18" charset="0"/>
                <a:ea typeface="宋体" pitchFamily="2" charset="-122"/>
                <a:cs typeface="+mn-cs"/>
              </a:rPr>
              <a:t>类型参数无须特殊处理，</a:t>
            </a:r>
            <a:r>
              <a:rPr lang="en-US" altLang="zh-CN" sz="1200" kern="1200" dirty="0">
                <a:solidFill>
                  <a:schemeClr val="tx1"/>
                </a:solidFill>
                <a:effectLst/>
                <a:latin typeface="Times New Roman" pitchFamily="18" charset="0"/>
                <a:ea typeface="宋体" pitchFamily="2" charset="-122"/>
                <a:cs typeface="+mn-cs"/>
              </a:rPr>
              <a:t>Spring</a:t>
            </a:r>
            <a:r>
              <a:rPr lang="zh-CN" altLang="zh-CN" sz="1200" kern="1200" dirty="0">
                <a:solidFill>
                  <a:schemeClr val="tx1"/>
                </a:solidFill>
                <a:effectLst/>
                <a:latin typeface="Times New Roman" pitchFamily="18" charset="0"/>
                <a:ea typeface="宋体" pitchFamily="2" charset="-122"/>
                <a:cs typeface="+mn-cs"/>
              </a:rPr>
              <a:t>会自动为其注入连接点实例。</a:t>
            </a:r>
          </a:p>
          <a:p>
            <a:r>
              <a:rPr lang="zh-CN" altLang="zh-CN" sz="1200" kern="1200" dirty="0">
                <a:solidFill>
                  <a:schemeClr val="tx1"/>
                </a:solidFill>
                <a:effectLst/>
                <a:latin typeface="Times New Roman" pitchFamily="18" charset="0"/>
                <a:ea typeface="宋体" pitchFamily="2" charset="-122"/>
                <a:cs typeface="+mn-cs"/>
              </a:rPr>
              <a:t>很明显</a:t>
            </a:r>
            <a:r>
              <a:rPr lang="en-US" altLang="zh-CN" sz="1200" kern="1200" dirty="0" err="1">
                <a:solidFill>
                  <a:schemeClr val="tx1"/>
                </a:solidFill>
                <a:effectLst/>
                <a:latin typeface="Times New Roman" pitchFamily="18" charset="0"/>
                <a:ea typeface="宋体" pitchFamily="2" charset="-122"/>
                <a:cs typeface="+mn-cs"/>
              </a:rPr>
              <a:t>UserService</a:t>
            </a:r>
            <a:r>
              <a:rPr lang="zh-CN" altLang="zh-CN" sz="1200" kern="1200" dirty="0">
                <a:solidFill>
                  <a:schemeClr val="tx1"/>
                </a:solidFill>
                <a:effectLst/>
                <a:latin typeface="Times New Roman" pitchFamily="18" charset="0"/>
                <a:ea typeface="宋体" pitchFamily="2" charset="-122"/>
                <a:cs typeface="+mn-cs"/>
              </a:rPr>
              <a:t>的</a:t>
            </a:r>
            <a:r>
              <a:rPr lang="en-US" altLang="zh-CN" sz="1200" kern="1200" dirty="0" err="1">
                <a:solidFill>
                  <a:schemeClr val="tx1"/>
                </a:solidFill>
                <a:effectLst/>
                <a:latin typeface="Times New Roman" pitchFamily="18" charset="0"/>
                <a:ea typeface="宋体" pitchFamily="2" charset="-122"/>
                <a:cs typeface="+mn-cs"/>
              </a:rPr>
              <a:t>addNewUser</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方法可以和切入点</a:t>
            </a:r>
            <a:r>
              <a:rPr lang="en-US" altLang="zh-CN" sz="1200" kern="1200" dirty="0" err="1">
                <a:solidFill>
                  <a:schemeClr val="tx1"/>
                </a:solidFill>
                <a:effectLst/>
                <a:latin typeface="Times New Roman" pitchFamily="18" charset="0"/>
                <a:ea typeface="宋体" pitchFamily="2" charset="-122"/>
                <a:cs typeface="+mn-cs"/>
              </a:rPr>
              <a:t>pointcut</a:t>
            </a:r>
            <a:r>
              <a:rPr lang="zh-CN" altLang="zh-CN" sz="1200" kern="1200" dirty="0">
                <a:solidFill>
                  <a:schemeClr val="tx1"/>
                </a:solidFill>
                <a:effectLst/>
                <a:latin typeface="Times New Roman" pitchFamily="18" charset="0"/>
                <a:ea typeface="宋体" pitchFamily="2" charset="-122"/>
                <a:cs typeface="+mn-cs"/>
              </a:rPr>
              <a:t>相匹配，</a:t>
            </a:r>
            <a:r>
              <a:rPr lang="en-US" altLang="zh-CN" sz="1200" kern="1200" dirty="0">
                <a:solidFill>
                  <a:schemeClr val="tx1"/>
                </a:solidFill>
                <a:effectLst/>
                <a:latin typeface="Times New Roman" pitchFamily="18" charset="0"/>
                <a:ea typeface="宋体" pitchFamily="2" charset="-122"/>
                <a:cs typeface="+mn-cs"/>
              </a:rPr>
              <a:t>Spring</a:t>
            </a:r>
            <a:r>
              <a:rPr lang="zh-CN" altLang="zh-CN" sz="1200" kern="1200" dirty="0">
                <a:solidFill>
                  <a:schemeClr val="tx1"/>
                </a:solidFill>
                <a:effectLst/>
                <a:latin typeface="Times New Roman" pitchFamily="18" charset="0"/>
                <a:ea typeface="宋体" pitchFamily="2" charset="-122"/>
                <a:cs typeface="+mn-cs"/>
              </a:rPr>
              <a:t>会生成代理对象在它执行前后分别调用</a:t>
            </a:r>
            <a:r>
              <a:rPr lang="en-US" altLang="zh-CN" sz="1200" kern="1200" dirty="0">
                <a:solidFill>
                  <a:schemeClr val="tx1"/>
                </a:solidFill>
                <a:effectLst/>
                <a:latin typeface="Times New Roman" pitchFamily="18" charset="0"/>
                <a:ea typeface="宋体" pitchFamily="2" charset="-122"/>
                <a:cs typeface="+mn-cs"/>
              </a:rPr>
              <a:t>before( )</a:t>
            </a:r>
            <a:r>
              <a:rPr lang="zh-CN" altLang="zh-CN" sz="1200" kern="1200" dirty="0">
                <a:solidFill>
                  <a:schemeClr val="tx1"/>
                </a:solidFill>
                <a:effectLst/>
                <a:latin typeface="Times New Roman" pitchFamily="18" charset="0"/>
                <a:ea typeface="宋体" pitchFamily="2" charset="-122"/>
                <a:cs typeface="+mn-cs"/>
              </a:rPr>
              <a:t>和</a:t>
            </a:r>
            <a:r>
              <a:rPr lang="en-US" altLang="zh-CN" sz="1200" kern="1200" dirty="0" err="1">
                <a:solidFill>
                  <a:schemeClr val="tx1"/>
                </a:solidFill>
                <a:effectLst/>
                <a:latin typeface="Times New Roman" pitchFamily="18" charset="0"/>
                <a:ea typeface="宋体" pitchFamily="2" charset="-122"/>
                <a:cs typeface="+mn-cs"/>
              </a:rPr>
              <a:t>afterReturning</a:t>
            </a:r>
            <a:r>
              <a:rPr lang="en-US" altLang="zh-CN" sz="1200" kern="1200" dirty="0">
                <a:solidFill>
                  <a:schemeClr val="tx1"/>
                </a:solidFill>
                <a:effectLst/>
                <a:latin typeface="Times New Roman" pitchFamily="18" charset="0"/>
                <a:ea typeface="宋体" pitchFamily="2" charset="-122"/>
                <a:cs typeface="+mn-cs"/>
              </a:rPr>
              <a:t>( )</a:t>
            </a:r>
            <a:r>
              <a:rPr lang="zh-CN" altLang="zh-CN" sz="1200" kern="1200" dirty="0">
                <a:solidFill>
                  <a:schemeClr val="tx1"/>
                </a:solidFill>
                <a:effectLst/>
                <a:latin typeface="Times New Roman" pitchFamily="18" charset="0"/>
                <a:ea typeface="宋体" pitchFamily="2" charset="-122"/>
                <a:cs typeface="+mn-cs"/>
              </a:rPr>
              <a:t>方法，这样就完成了日志输出。</a:t>
            </a:r>
            <a:endParaRPr lang="en-US" altLang="zh-CN" dirty="0"/>
          </a:p>
        </p:txBody>
      </p:sp>
      <p:sp>
        <p:nvSpPr>
          <p:cNvPr id="4" name="灯片编号占位符 3"/>
          <p:cNvSpPr>
            <a:spLocks noGrp="1"/>
          </p:cNvSpPr>
          <p:nvPr>
            <p:ph type="sldNum" sz="quarter" idx="10"/>
          </p:nvPr>
        </p:nvSpPr>
        <p:spPr/>
        <p:txBody>
          <a:bodyPr/>
          <a:lstStyle/>
          <a:p>
            <a:pPr>
              <a:defRPr/>
            </a:pPr>
            <a:fld id="{C81D0CCD-F1CB-4674-8425-31C844BC950D}" type="slidenum">
              <a:rPr lang="zh-CN" altLang="en-US" smtClean="0"/>
              <a:pPr>
                <a:defRPr/>
              </a:pPr>
              <a:t>18</a:t>
            </a:fld>
            <a:endParaRPr lang="en-US" altLang="zh-CN"/>
          </a:p>
        </p:txBody>
      </p:sp>
    </p:spTree>
    <p:extLst>
      <p:ext uri="{BB962C8B-B14F-4D97-AF65-F5344CB8AC3E}">
        <p14:creationId xmlns:p14="http://schemas.microsoft.com/office/powerpoint/2010/main" val="1264855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2C516DB-D4BB-454E-BAEB-94003F63B9E2}" type="slidenum">
              <a:rPr lang="zh-CN" altLang="en-US" smtClean="0"/>
              <a:pPr>
                <a:defRPr/>
              </a:pPr>
              <a:t>20</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教学指导：</a:t>
            </a:r>
            <a:endParaRPr lang="en-US" altLang="zh-CN"/>
          </a:p>
          <a:p>
            <a:r>
              <a:rPr lang="zh-CN" altLang="en-US"/>
              <a:t>对比前置增强和后置增强讲解环绕增强的特点</a:t>
            </a:r>
            <a:endParaRPr lang="en-US" altLang="zh-CN"/>
          </a:p>
          <a:p>
            <a:r>
              <a:rPr lang="zh-CN" altLang="en-US"/>
              <a:t>可以简单分析环绕增强的实现原理，但不要讲得太深，不要占用过多时间</a:t>
            </a:r>
          </a:p>
        </p:txBody>
      </p:sp>
      <p:sp>
        <p:nvSpPr>
          <p:cNvPr id="4" name="灯片编号占位符 3"/>
          <p:cNvSpPr>
            <a:spLocks noGrp="1"/>
          </p:cNvSpPr>
          <p:nvPr>
            <p:ph type="sldNum" sz="quarter" idx="5"/>
          </p:nvPr>
        </p:nvSpPr>
        <p:spPr/>
        <p:txBody>
          <a:bodyPr/>
          <a:lstStyle/>
          <a:p>
            <a:pPr>
              <a:defRPr/>
            </a:pPr>
            <a:fld id="{DA8D319A-9CBF-4BE3-A910-C9C19C613A23}" type="slidenum">
              <a:rPr lang="zh-CN" altLang="en-US" smtClean="0"/>
              <a:pPr>
                <a:defRPr/>
              </a:pPr>
              <a:t>21</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教学指导：</a:t>
            </a:r>
            <a:endParaRPr lang="en-US" altLang="zh-CN"/>
          </a:p>
          <a:p>
            <a:r>
              <a:rPr lang="zh-CN" altLang="en-US"/>
              <a:t>对比前置增强和后置增强讲解环绕增强的特点</a:t>
            </a:r>
            <a:endParaRPr lang="en-US" altLang="zh-CN"/>
          </a:p>
          <a:p>
            <a:r>
              <a:rPr lang="zh-CN" altLang="en-US"/>
              <a:t>可以简单分析环绕增强的实现原理，但不要讲得太深，不要占用过多时间</a:t>
            </a:r>
          </a:p>
        </p:txBody>
      </p:sp>
      <p:sp>
        <p:nvSpPr>
          <p:cNvPr id="4" name="灯片编号占位符 3"/>
          <p:cNvSpPr>
            <a:spLocks noGrp="1"/>
          </p:cNvSpPr>
          <p:nvPr>
            <p:ph type="sldNum" sz="quarter" idx="5"/>
          </p:nvPr>
        </p:nvSpPr>
        <p:spPr/>
        <p:txBody>
          <a:bodyPr/>
          <a:lstStyle/>
          <a:p>
            <a:pPr>
              <a:defRPr/>
            </a:pPr>
            <a:fld id="{DA8D319A-9CBF-4BE3-A910-C9C19C613A23}" type="slidenum">
              <a:rPr lang="zh-CN" altLang="en-US" smtClean="0"/>
              <a:pPr>
                <a:defRPr/>
              </a:pPr>
              <a:t>23</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教学指导：</a:t>
            </a:r>
            <a:endParaRPr lang="en-US" altLang="zh-CN" dirty="0"/>
          </a:p>
        </p:txBody>
      </p:sp>
      <p:sp>
        <p:nvSpPr>
          <p:cNvPr id="4" name="灯片编号占位符 3"/>
          <p:cNvSpPr>
            <a:spLocks noGrp="1"/>
          </p:cNvSpPr>
          <p:nvPr>
            <p:ph type="sldNum" sz="quarter" idx="5"/>
          </p:nvPr>
        </p:nvSpPr>
        <p:spPr/>
        <p:txBody>
          <a:bodyPr/>
          <a:lstStyle/>
          <a:p>
            <a:pPr>
              <a:defRPr/>
            </a:pPr>
            <a:fld id="{DA8D319A-9CBF-4BE3-A910-C9C19C613A23}" type="slidenum">
              <a:rPr lang="zh-CN" altLang="en-US" smtClean="0"/>
              <a:pPr>
                <a:defRPr/>
              </a:pPr>
              <a:t>25</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教学指导：</a:t>
            </a:r>
            <a:endParaRPr lang="en-US" altLang="zh-CN" dirty="0"/>
          </a:p>
        </p:txBody>
      </p:sp>
      <p:sp>
        <p:nvSpPr>
          <p:cNvPr id="4" name="灯片编号占位符 3"/>
          <p:cNvSpPr>
            <a:spLocks noGrp="1"/>
          </p:cNvSpPr>
          <p:nvPr>
            <p:ph type="sldNum" sz="quarter" idx="5"/>
          </p:nvPr>
        </p:nvSpPr>
        <p:spPr/>
        <p:txBody>
          <a:bodyPr/>
          <a:lstStyle/>
          <a:p>
            <a:pPr>
              <a:defRPr/>
            </a:pPr>
            <a:fld id="{DA8D319A-9CBF-4BE3-A910-C9C19C613A23}" type="slidenum">
              <a:rPr lang="zh-CN" altLang="en-US" smtClean="0"/>
              <a:pPr>
                <a:defRPr/>
              </a:pPr>
              <a:t>26</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19B3434-C19C-4F45-8627-FF318601E81F}" type="slidenum">
              <a:rPr lang="zh-CN" altLang="en-US" smtClean="0"/>
              <a:pPr>
                <a:defRPr/>
              </a:pPr>
              <a:t>27</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19B3434-C19C-4F45-8627-FF318601E81F}" type="slidenum">
              <a:rPr lang="zh-CN" altLang="en-US" smtClean="0"/>
              <a:pPr>
                <a:defRPr/>
              </a:pPr>
              <a:t>28</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19B3434-C19C-4F45-8627-FF318601E81F}" type="slidenum">
              <a:rPr lang="zh-CN" altLang="en-US" smtClean="0"/>
              <a:pPr>
                <a:defRPr/>
              </a:pPr>
              <a:t>29</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19B3434-C19C-4F45-8627-FF318601E81F}" type="slidenum">
              <a:rPr lang="zh-CN" altLang="en-US" smtClean="0"/>
              <a:pPr>
                <a:defRPr/>
              </a:pPr>
              <a:t>30</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19B3434-C19C-4F45-8627-FF318601E81F}" type="slidenum">
              <a:rPr lang="zh-CN" altLang="en-US" smtClean="0"/>
              <a:pPr>
                <a:defRPr/>
              </a:pPr>
              <a:t>31</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19B3434-C19C-4F45-8627-FF318601E81F}" type="slidenum">
              <a:rPr lang="zh-CN" altLang="en-US" smtClean="0"/>
              <a:pPr>
                <a:defRPr/>
              </a:pPr>
              <a:t>32</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5E61394-3DE9-4852-9DF4-EA2C04DE9A5C}" type="slidenum">
              <a:rPr lang="zh-CN" altLang="en-US" smtClean="0"/>
              <a:t>51</a:t>
            </a:fld>
            <a:endParaRPr lang="zh-CN" altLang="en-US"/>
          </a:p>
        </p:txBody>
      </p:sp>
    </p:spTree>
    <p:extLst>
      <p:ext uri="{BB962C8B-B14F-4D97-AF65-F5344CB8AC3E}">
        <p14:creationId xmlns:p14="http://schemas.microsoft.com/office/powerpoint/2010/main" val="513793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11935C-D8DD-42E2-BBED-7BB4D51C9E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705D874-05F3-4AEC-9E11-CBFCBC4388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756AD1F-CEE2-4C59-B321-E453D0DF5F90}"/>
              </a:ext>
            </a:extLst>
          </p:cNvPr>
          <p:cNvSpPr>
            <a:spLocks noGrp="1"/>
          </p:cNvSpPr>
          <p:nvPr>
            <p:ph type="dt" sz="half" idx="10"/>
          </p:nvPr>
        </p:nvSpPr>
        <p:spPr/>
        <p:txBody>
          <a:bodyPr/>
          <a:lstStyle/>
          <a:p>
            <a:fld id="{BDF5BECF-9ED8-4F7A-9B61-4A9E89212087}" type="datetime1">
              <a:rPr lang="zh-CN" altLang="en-US" smtClean="0"/>
              <a:t>2024/4/2</a:t>
            </a:fld>
            <a:endParaRPr lang="zh-CN" altLang="en-US"/>
          </a:p>
        </p:txBody>
      </p:sp>
      <p:sp>
        <p:nvSpPr>
          <p:cNvPr id="5" name="页脚占位符 4">
            <a:extLst>
              <a:ext uri="{FF2B5EF4-FFF2-40B4-BE49-F238E27FC236}">
                <a16:creationId xmlns:a16="http://schemas.microsoft.com/office/drawing/2014/main" id="{AB712ED0-08C7-488A-B300-0AA9EDF4C4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3B6C1E-4FBE-4FF5-8803-68F8B9D57C6A}"/>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824572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90E249-AD3C-4CB2-8F1B-A2E8731CAE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444741-F312-4830-A498-CAB74F16EBF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24AF384-4A52-4135-8A2F-5C65CBFD7AF9}"/>
              </a:ext>
            </a:extLst>
          </p:cNvPr>
          <p:cNvSpPr>
            <a:spLocks noGrp="1"/>
          </p:cNvSpPr>
          <p:nvPr>
            <p:ph type="dt" sz="half" idx="10"/>
          </p:nvPr>
        </p:nvSpPr>
        <p:spPr/>
        <p:txBody>
          <a:bodyPr/>
          <a:lstStyle/>
          <a:p>
            <a:fld id="{08254344-EE6F-4A16-B33F-1B4C9C4972BA}" type="datetime1">
              <a:rPr lang="zh-CN" altLang="en-US" smtClean="0"/>
              <a:t>2024/4/2</a:t>
            </a:fld>
            <a:endParaRPr lang="zh-CN" altLang="en-US"/>
          </a:p>
        </p:txBody>
      </p:sp>
      <p:sp>
        <p:nvSpPr>
          <p:cNvPr id="5" name="页脚占位符 4">
            <a:extLst>
              <a:ext uri="{FF2B5EF4-FFF2-40B4-BE49-F238E27FC236}">
                <a16:creationId xmlns:a16="http://schemas.microsoft.com/office/drawing/2014/main" id="{F86106DF-B84B-4CF9-872F-F5D0BFC153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D9BD3F-1A92-4417-B9CE-94309741CD7B}"/>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246228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521A5C-13AE-492C-8E68-8C3FBD1D9FE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25A5D96-B6C7-4C04-AA37-EE11C9455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3C8704D-5AFA-4F49-B352-6407CBD4C5FC}"/>
              </a:ext>
            </a:extLst>
          </p:cNvPr>
          <p:cNvSpPr>
            <a:spLocks noGrp="1"/>
          </p:cNvSpPr>
          <p:nvPr>
            <p:ph type="dt" sz="half" idx="10"/>
          </p:nvPr>
        </p:nvSpPr>
        <p:spPr/>
        <p:txBody>
          <a:bodyPr/>
          <a:lstStyle/>
          <a:p>
            <a:fld id="{B9B40B32-8CAB-4A9C-9275-AA370A90B683}" type="datetime1">
              <a:rPr lang="zh-CN" altLang="en-US" smtClean="0"/>
              <a:t>2024/4/2</a:t>
            </a:fld>
            <a:endParaRPr lang="zh-CN" altLang="en-US"/>
          </a:p>
        </p:txBody>
      </p:sp>
      <p:sp>
        <p:nvSpPr>
          <p:cNvPr id="5" name="页脚占位符 4">
            <a:extLst>
              <a:ext uri="{FF2B5EF4-FFF2-40B4-BE49-F238E27FC236}">
                <a16:creationId xmlns:a16="http://schemas.microsoft.com/office/drawing/2014/main" id="{FBC1F403-C3BB-4FBB-A24D-E58C618FC6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CF5DFE-5124-4E5F-AE41-90F61CDE2A3B}"/>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010201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8E1944-1FE8-4AD2-B138-2BB9718C09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4B07BB7-8359-42E7-9672-7C17F63EE0E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E467DBA-8B2B-48CC-8E6D-D9D685ED3C4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70D70FC-E5ED-4912-BD8A-D543AB1734CA}"/>
              </a:ext>
            </a:extLst>
          </p:cNvPr>
          <p:cNvSpPr>
            <a:spLocks noGrp="1"/>
          </p:cNvSpPr>
          <p:nvPr>
            <p:ph type="dt" sz="half" idx="10"/>
          </p:nvPr>
        </p:nvSpPr>
        <p:spPr/>
        <p:txBody>
          <a:bodyPr/>
          <a:lstStyle/>
          <a:p>
            <a:fld id="{6559F2AB-0CDC-459E-A990-964E4E0834DF}" type="datetime1">
              <a:rPr lang="zh-CN" altLang="en-US" smtClean="0"/>
              <a:t>2024/4/2</a:t>
            </a:fld>
            <a:endParaRPr lang="zh-CN" altLang="en-US"/>
          </a:p>
        </p:txBody>
      </p:sp>
      <p:sp>
        <p:nvSpPr>
          <p:cNvPr id="6" name="页脚占位符 5">
            <a:extLst>
              <a:ext uri="{FF2B5EF4-FFF2-40B4-BE49-F238E27FC236}">
                <a16:creationId xmlns:a16="http://schemas.microsoft.com/office/drawing/2014/main" id="{C168D198-7032-484B-906E-F2A7791A52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0FA753-8E22-48AC-AD46-E3534A6EF27E}"/>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1505956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AB1EB2-CC54-4753-B26F-21FFBE200ED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E3C87E3-5353-4073-B081-9585EBC7E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9157E5B-2F23-497F-B232-969E6FECAE1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13BCF0A-4535-4DDF-8C67-41E2A337ED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6204FA5-E36D-4019-8A07-CBABFDA6EB3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39663B-67F7-477D-B3EB-D7FEDF47BE13}"/>
              </a:ext>
            </a:extLst>
          </p:cNvPr>
          <p:cNvSpPr>
            <a:spLocks noGrp="1"/>
          </p:cNvSpPr>
          <p:nvPr>
            <p:ph type="dt" sz="half" idx="10"/>
          </p:nvPr>
        </p:nvSpPr>
        <p:spPr/>
        <p:txBody>
          <a:bodyPr/>
          <a:lstStyle/>
          <a:p>
            <a:fld id="{F6D53896-8590-4C7A-9E60-59344CF25D4F}" type="datetime1">
              <a:rPr lang="zh-CN" altLang="en-US" smtClean="0"/>
              <a:t>2024/4/2</a:t>
            </a:fld>
            <a:endParaRPr lang="zh-CN" altLang="en-US"/>
          </a:p>
        </p:txBody>
      </p:sp>
      <p:sp>
        <p:nvSpPr>
          <p:cNvPr id="8" name="页脚占位符 7">
            <a:extLst>
              <a:ext uri="{FF2B5EF4-FFF2-40B4-BE49-F238E27FC236}">
                <a16:creationId xmlns:a16="http://schemas.microsoft.com/office/drawing/2014/main" id="{1676D6D9-FFFC-4D20-8650-9BB68469E60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D0D5E6E-EFD5-40F0-88EA-39D57A8F9885}"/>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189683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359E1-B5DE-4CCF-90AB-8BDDAB60850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29F3165-991B-4DB7-B1D6-1E9AC4E89F46}"/>
              </a:ext>
            </a:extLst>
          </p:cNvPr>
          <p:cNvSpPr>
            <a:spLocks noGrp="1"/>
          </p:cNvSpPr>
          <p:nvPr>
            <p:ph type="dt" sz="half" idx="10"/>
          </p:nvPr>
        </p:nvSpPr>
        <p:spPr/>
        <p:txBody>
          <a:bodyPr/>
          <a:lstStyle/>
          <a:p>
            <a:fld id="{8AD8A5C1-8D66-45D6-81D3-60E5D0784D58}" type="datetime1">
              <a:rPr lang="zh-CN" altLang="en-US" smtClean="0"/>
              <a:t>2024/4/2</a:t>
            </a:fld>
            <a:endParaRPr lang="zh-CN" altLang="en-US"/>
          </a:p>
        </p:txBody>
      </p:sp>
      <p:sp>
        <p:nvSpPr>
          <p:cNvPr id="4" name="页脚占位符 3">
            <a:extLst>
              <a:ext uri="{FF2B5EF4-FFF2-40B4-BE49-F238E27FC236}">
                <a16:creationId xmlns:a16="http://schemas.microsoft.com/office/drawing/2014/main" id="{2285D416-F957-4921-AE96-AEBF9138643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FB76CE4-93CE-4021-973C-54EF54A36B59}"/>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1262180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20ED1FC-47AA-4F51-8EBE-8DC82E7FA24F}"/>
              </a:ext>
            </a:extLst>
          </p:cNvPr>
          <p:cNvSpPr>
            <a:spLocks noGrp="1"/>
          </p:cNvSpPr>
          <p:nvPr>
            <p:ph type="dt" sz="half" idx="10"/>
          </p:nvPr>
        </p:nvSpPr>
        <p:spPr/>
        <p:txBody>
          <a:bodyPr/>
          <a:lstStyle/>
          <a:p>
            <a:fld id="{9E24B26A-E838-44CE-9B0D-12FAD7818C5F}" type="datetime1">
              <a:rPr lang="zh-CN" altLang="en-US" smtClean="0"/>
              <a:t>2024/4/2</a:t>
            </a:fld>
            <a:endParaRPr lang="zh-CN" altLang="en-US"/>
          </a:p>
        </p:txBody>
      </p:sp>
      <p:sp>
        <p:nvSpPr>
          <p:cNvPr id="3" name="页脚占位符 2">
            <a:extLst>
              <a:ext uri="{FF2B5EF4-FFF2-40B4-BE49-F238E27FC236}">
                <a16:creationId xmlns:a16="http://schemas.microsoft.com/office/drawing/2014/main" id="{462340B5-F100-4245-B28E-44D3FBA5288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8C0DC68-06D3-4B5A-9E60-DE15D5C26410}"/>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189901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AE5615-A452-4A67-9EFC-44D45CE0913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4207A6-D094-4470-B11F-216FC6CD5C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35BAD6C-D99C-473F-8A7B-A6F1902FE8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1BC919-7258-4AE0-8994-A53B4C5C1FB5}"/>
              </a:ext>
            </a:extLst>
          </p:cNvPr>
          <p:cNvSpPr>
            <a:spLocks noGrp="1"/>
          </p:cNvSpPr>
          <p:nvPr>
            <p:ph type="dt" sz="half" idx="10"/>
          </p:nvPr>
        </p:nvSpPr>
        <p:spPr/>
        <p:txBody>
          <a:bodyPr/>
          <a:lstStyle/>
          <a:p>
            <a:fld id="{5E9A837C-6C5F-4A67-88D5-E4BD9BCE39B8}" type="datetime1">
              <a:rPr lang="zh-CN" altLang="en-US" smtClean="0"/>
              <a:t>2024/4/2</a:t>
            </a:fld>
            <a:endParaRPr lang="zh-CN" altLang="en-US"/>
          </a:p>
        </p:txBody>
      </p:sp>
      <p:sp>
        <p:nvSpPr>
          <p:cNvPr id="6" name="页脚占位符 5">
            <a:extLst>
              <a:ext uri="{FF2B5EF4-FFF2-40B4-BE49-F238E27FC236}">
                <a16:creationId xmlns:a16="http://schemas.microsoft.com/office/drawing/2014/main" id="{3CFAAA5D-73CB-4F59-882C-ED8D3B9505B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6EC85-E9F1-48B4-90FA-DF4BB1DC66AF}"/>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64360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35883-06AC-4770-BBE2-614FC2681F3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D5C08ED-F216-40C1-9838-8B2E7BFC49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455F368-40E1-450B-A3AE-47C974382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59C1FAE-7086-41B7-A609-C9AF2A4B8D9D}"/>
              </a:ext>
            </a:extLst>
          </p:cNvPr>
          <p:cNvSpPr>
            <a:spLocks noGrp="1"/>
          </p:cNvSpPr>
          <p:nvPr>
            <p:ph type="dt" sz="half" idx="10"/>
          </p:nvPr>
        </p:nvSpPr>
        <p:spPr/>
        <p:txBody>
          <a:bodyPr/>
          <a:lstStyle/>
          <a:p>
            <a:fld id="{4654C202-664A-47D7-85A3-E9FC16B47E13}" type="datetime1">
              <a:rPr lang="zh-CN" altLang="en-US" smtClean="0"/>
              <a:t>2024/4/2</a:t>
            </a:fld>
            <a:endParaRPr lang="zh-CN" altLang="en-US"/>
          </a:p>
        </p:txBody>
      </p:sp>
      <p:sp>
        <p:nvSpPr>
          <p:cNvPr id="6" name="页脚占位符 5">
            <a:extLst>
              <a:ext uri="{FF2B5EF4-FFF2-40B4-BE49-F238E27FC236}">
                <a16:creationId xmlns:a16="http://schemas.microsoft.com/office/drawing/2014/main" id="{77D8FA65-E878-4617-BDF4-E3CBBC241D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1D6B4C8-BF3E-40C1-AD9F-A9DBCC3259FF}"/>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634469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BC196-08AC-4B76-BE32-2CA87AE15EC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177C91D-A651-4D1B-BAC6-686B8A92F46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8FFDBE-5DF7-4F68-8ED3-AF8B30208FA0}"/>
              </a:ext>
            </a:extLst>
          </p:cNvPr>
          <p:cNvSpPr>
            <a:spLocks noGrp="1"/>
          </p:cNvSpPr>
          <p:nvPr>
            <p:ph type="dt" sz="half" idx="10"/>
          </p:nvPr>
        </p:nvSpPr>
        <p:spPr/>
        <p:txBody>
          <a:bodyPr/>
          <a:lstStyle/>
          <a:p>
            <a:fld id="{C8F0BC90-374C-4384-BA54-C12439B82BE3}" type="datetime1">
              <a:rPr lang="zh-CN" altLang="en-US" smtClean="0"/>
              <a:t>2024/4/2</a:t>
            </a:fld>
            <a:endParaRPr lang="zh-CN" altLang="en-US"/>
          </a:p>
        </p:txBody>
      </p:sp>
      <p:sp>
        <p:nvSpPr>
          <p:cNvPr id="5" name="页脚占位符 4">
            <a:extLst>
              <a:ext uri="{FF2B5EF4-FFF2-40B4-BE49-F238E27FC236}">
                <a16:creationId xmlns:a16="http://schemas.microsoft.com/office/drawing/2014/main" id="{FFEE7CCF-99FC-40C9-9E2B-3C29C8F437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C6CB13-D3A8-4EA3-9417-330205722886}"/>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49788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509FCF-9CB5-48A3-8F58-F818BA0B560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B60A17E-A4A6-4496-9DB4-4D54578DF52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5D3FF4-AEA7-41B9-AEC0-EB28B9821EDF}"/>
              </a:ext>
            </a:extLst>
          </p:cNvPr>
          <p:cNvSpPr>
            <a:spLocks noGrp="1"/>
          </p:cNvSpPr>
          <p:nvPr>
            <p:ph type="dt" sz="half" idx="10"/>
          </p:nvPr>
        </p:nvSpPr>
        <p:spPr/>
        <p:txBody>
          <a:bodyPr/>
          <a:lstStyle/>
          <a:p>
            <a:fld id="{F8C84716-1CA2-42A7-B935-EC084B3DCA60}" type="datetime1">
              <a:rPr lang="zh-CN" altLang="en-US" smtClean="0"/>
              <a:t>2024/4/2</a:t>
            </a:fld>
            <a:endParaRPr lang="zh-CN" altLang="en-US"/>
          </a:p>
        </p:txBody>
      </p:sp>
      <p:sp>
        <p:nvSpPr>
          <p:cNvPr id="5" name="页脚占位符 4">
            <a:extLst>
              <a:ext uri="{FF2B5EF4-FFF2-40B4-BE49-F238E27FC236}">
                <a16:creationId xmlns:a16="http://schemas.microsoft.com/office/drawing/2014/main" id="{F43B9AAD-0C49-48B3-82EE-3FEF008615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8B7A12-598E-4106-9F6F-D4B94BD75D7F}"/>
              </a:ext>
            </a:extLst>
          </p:cNvPr>
          <p:cNvSpPr>
            <a:spLocks noGrp="1"/>
          </p:cNvSpPr>
          <p:nvPr>
            <p:ph type="sldNum" sz="quarter" idx="12"/>
          </p:nvPr>
        </p:nvSpPr>
        <p:spPr/>
        <p:txBody>
          <a:body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240921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BEAB6160-62EC-467D-BD72-4BDC3DDA91FE}"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843526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74DD61B8-891C-4918-9530-810B558FCFF8}"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110269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D23184DB-9DAB-4A0B-89CA-BAC64A736515}"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2946744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4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A9727C4B-FE96-4237-A764-9BACA14DC479}"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152415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5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81D3E456-8D4F-42FA-96EB-443C0687532B}"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274735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6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273A2019-CB6B-4734-8259-CD14BECA834A}"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23457711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7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EF0F451D-D3BB-4E81-AAF0-AD41656645B7}"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4095114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8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C0FD555E-D330-43FD-B954-CB2AC1415162}"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4995235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9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D0F0CAB0-C37F-4FC7-92AB-DFE82BEF51F0}"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ea typeface="微软雅黑" panose="020B0503020204020204" pitchFamily="34" charset="-122"/>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ea typeface="微软雅黑" panose="020B0503020204020204" pitchFamily="34" charset="-122"/>
              </a:defRPr>
            </a:lvl2pPr>
            <a:lvl3pPr marL="1600160" indent="-380990">
              <a:lnSpc>
                <a:spcPct val="100000"/>
              </a:lnSpc>
              <a:buClr>
                <a:srgbClr val="0099D8"/>
              </a:buClr>
              <a:buSzPct val="85000"/>
              <a:buFont typeface="Wingdings" panose="05000000000000000000" charset="0"/>
              <a:buChar char=""/>
              <a:defRPr sz="2667">
                <a:latin typeface="+mn-lt"/>
                <a:ea typeface="微软雅黑" panose="020B0503020204020204" pitchFamily="34" charset="-122"/>
              </a:defRPr>
            </a:lvl3pPr>
            <a:lvl4pPr marL="2209745" indent="-380990">
              <a:lnSpc>
                <a:spcPct val="100000"/>
              </a:lnSpc>
              <a:buClr>
                <a:srgbClr val="0099D8"/>
              </a:buClr>
              <a:buFont typeface="Webdings" panose="05030102010509060703" charset="0"/>
              <a:buChar char="4"/>
              <a:defRPr>
                <a:latin typeface="+mn-lt"/>
                <a:ea typeface="微软雅黑" panose="020B0503020204020204" pitchFamily="34" charset="-122"/>
              </a:defRPr>
            </a:lvl4pPr>
            <a:lvl5pPr>
              <a:defRPr>
                <a:latin typeface="+mn-lt"/>
                <a:ea typeface="微软雅黑" panose="020B0503020204020204" pitchFamily="34" charset="-122"/>
              </a:defRPr>
            </a:lvl5pPr>
            <a:lvl6pPr>
              <a:defRPr>
                <a:latin typeface="+mn-lt"/>
                <a:ea typeface="微软雅黑" panose="020B0503020204020204" pitchFamily="34" charset="-122"/>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31</a:t>
            </a:r>
          </a:p>
        </p:txBody>
      </p:sp>
    </p:spTree>
    <p:extLst>
      <p:ext uri="{BB962C8B-B14F-4D97-AF65-F5344CB8AC3E}">
        <p14:creationId xmlns:p14="http://schemas.microsoft.com/office/powerpoint/2010/main" val="316589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0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5654CC5B-D0C3-4D75-B22B-C5ACF7CC3C4A}"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21171394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8FB4CE33-CD10-45CA-8A76-FE335D177077}"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11221398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2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99BADB71-56E1-4B7B-962C-118F4AB35D29}"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27554399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3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CEBA0259-F52A-4B7F-905D-2454B656286A}"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9436797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4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F6BDED7F-80D5-4011-B3F8-DB59903BA6F5}"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17521166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5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6B604D45-27CA-4AEE-B2E5-F60C64591058}"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18592808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16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255A0966-915B-44DE-B314-CE60CE8F07D8}"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5795225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9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6AD48E3B-2148-45C8-8576-6F9B8DFD754B}"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218326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20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35963B08-98E1-4538-A152-00B5B11489B5}" type="datetime1">
              <a:rPr lang="zh-CN" altLang="en-US" smtClean="0"/>
              <a:t>2024/4/2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325121" y="276861"/>
            <a:ext cx="10914380" cy="942340"/>
          </a:xfrm>
          <a:noFill/>
          <a:extLst>
            <a:ext uri="{909E8E84-426E-40DD-AFC4-6F175D3DCCD1}">
              <a14:hiddenFill xmlns:a14="http://schemas.microsoft.com/office/drawing/2010/main">
                <a:solidFill>
                  <a:schemeClr val="bg1"/>
                </a:solidFill>
              </a14:hiddenFill>
            </a:ext>
          </a:extLst>
        </p:spPr>
        <p:txBody>
          <a:bodyPr lIns="0" tIns="0"/>
          <a:lstStyle>
            <a:lvl1pPr>
              <a:defRPr sz="32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10620587" y="276438"/>
            <a:ext cx="1474047" cy="598593"/>
          </a:xfrm>
          <a:prstGeom prst="rect">
            <a:avLst/>
          </a:prstGeom>
        </p:spPr>
      </p:pic>
      <p:sp>
        <p:nvSpPr>
          <p:cNvPr id="9" name="内容占位符 8"/>
          <p:cNvSpPr>
            <a:spLocks noGrp="1"/>
          </p:cNvSpPr>
          <p:nvPr>
            <p:ph idx="1"/>
          </p:nvPr>
        </p:nvSpPr>
        <p:spPr>
          <a:xfrm>
            <a:off x="903394" y="1353821"/>
            <a:ext cx="10350500" cy="4525433"/>
          </a:xfrm>
        </p:spPr>
        <p:txBody>
          <a:bodyPr/>
          <a:lstStyle>
            <a:lvl1pPr marL="609585" indent="-609585">
              <a:lnSpc>
                <a:spcPct val="100000"/>
              </a:lnSpc>
              <a:buClr>
                <a:srgbClr val="0099D8"/>
              </a:buClr>
              <a:buFont typeface="Wingdings" panose="05000000000000000000" charset="0"/>
              <a:buChar char=""/>
              <a:defRPr sz="3200" b="1">
                <a:solidFill>
                  <a:srgbClr val="0B9FDD"/>
                </a:solidFill>
                <a:latin typeface="+mn-lt"/>
              </a:defRPr>
            </a:lvl1pPr>
            <a:lvl2pPr marL="1066773" indent="-457189">
              <a:lnSpc>
                <a:spcPct val="100000"/>
              </a:lnSpc>
              <a:buClr>
                <a:srgbClr val="0099D8"/>
              </a:buClr>
              <a:buSzPct val="90000"/>
              <a:buFont typeface="Wingdings" panose="05000000000000000000" charset="0"/>
              <a:buChar char=""/>
              <a:defRPr sz="2933">
                <a:solidFill>
                  <a:schemeClr val="tx1"/>
                </a:solidFill>
                <a:latin typeface="+mn-lt"/>
              </a:defRPr>
            </a:lvl2pPr>
            <a:lvl3pPr marL="1600160" indent="-380990">
              <a:lnSpc>
                <a:spcPct val="100000"/>
              </a:lnSpc>
              <a:buClr>
                <a:srgbClr val="0099D8"/>
              </a:buClr>
              <a:buSzPct val="85000"/>
              <a:buFont typeface="Wingdings" panose="05000000000000000000" charset="0"/>
              <a:buChar char=""/>
              <a:defRPr sz="2667">
                <a:latin typeface="+mn-lt"/>
              </a:defRPr>
            </a:lvl3pPr>
            <a:lvl4pPr marL="2209745" indent="-38099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40</a:t>
            </a:r>
          </a:p>
        </p:txBody>
      </p:sp>
    </p:spTree>
    <p:extLst>
      <p:ext uri="{BB962C8B-B14F-4D97-AF65-F5344CB8AC3E}">
        <p14:creationId xmlns:p14="http://schemas.microsoft.com/office/powerpoint/2010/main" val="1156042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CE242C5-83F6-4044-A7D6-26A15805B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4643225-7273-440D-AB5A-66311F7FD9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84EBD1-E769-4073-A27A-85F80B38F6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7689C3-B2BD-45F4-AA40-7A80DB1B74A9}" type="datetime1">
              <a:rPr lang="zh-CN" altLang="en-US" smtClean="0"/>
              <a:t>2024/4/2</a:t>
            </a:fld>
            <a:endParaRPr lang="zh-CN" altLang="en-US"/>
          </a:p>
        </p:txBody>
      </p:sp>
      <p:sp>
        <p:nvSpPr>
          <p:cNvPr id="5" name="页脚占位符 4">
            <a:extLst>
              <a:ext uri="{FF2B5EF4-FFF2-40B4-BE49-F238E27FC236}">
                <a16:creationId xmlns:a16="http://schemas.microsoft.com/office/drawing/2014/main" id="{A7FAAAA3-ED61-4888-9435-4202D50945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35202FE-55FE-46E8-9B0B-96E08A2CEA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ABA864-F9A3-4DB4-8D8F-A6E2F7C20AC9}" type="slidenum">
              <a:rPr lang="zh-CN" altLang="en-US" smtClean="0"/>
              <a:t>‹#›</a:t>
            </a:fld>
            <a:endParaRPr lang="zh-CN" altLang="en-US"/>
          </a:p>
        </p:txBody>
      </p:sp>
    </p:spTree>
    <p:extLst>
      <p:ext uri="{BB962C8B-B14F-4D97-AF65-F5344CB8AC3E}">
        <p14:creationId xmlns:p14="http://schemas.microsoft.com/office/powerpoint/2010/main" val="3951985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8" r:id="rId28"/>
    <p:sldLayoutId id="2147483679" r:id="rId2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8.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ED52D-40BD-4658-A156-01C50E00A0A5}"/>
              </a:ext>
            </a:extLst>
          </p:cNvPr>
          <p:cNvSpPr>
            <a:spLocks noGrp="1"/>
          </p:cNvSpPr>
          <p:nvPr>
            <p:ph type="ctrTitle"/>
          </p:nvPr>
        </p:nvSpPr>
        <p:spPr/>
        <p:txBody>
          <a:bodyPr/>
          <a:lstStyle/>
          <a:p>
            <a:r>
              <a:rPr lang="en-US" altLang="zh-CN" dirty="0"/>
              <a:t>Spring AOP</a:t>
            </a:r>
            <a:endParaRPr lang="zh-CN" altLang="en-US" dirty="0"/>
          </a:p>
        </p:txBody>
      </p:sp>
      <p:sp>
        <p:nvSpPr>
          <p:cNvPr id="3" name="副标题 2">
            <a:extLst>
              <a:ext uri="{FF2B5EF4-FFF2-40B4-BE49-F238E27FC236}">
                <a16:creationId xmlns:a16="http://schemas.microsoft.com/office/drawing/2014/main" id="{C8C2321D-287B-4EA3-BBBF-9927259EA1F4}"/>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771588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标题 1"/>
          <p:cNvSpPr>
            <a:spLocks noGrp="1"/>
          </p:cNvSpPr>
          <p:nvPr>
            <p:ph type="title"/>
          </p:nvPr>
        </p:nvSpPr>
        <p:spPr>
          <a:xfrm>
            <a:off x="325121" y="276861"/>
            <a:ext cx="10914380" cy="942340"/>
          </a:xfrm>
        </p:spPr>
        <p:txBody>
          <a:bodyPr/>
          <a:lstStyle/>
          <a:p>
            <a:r>
              <a:rPr lang="zh-CN" altLang="en-US" dirty="0"/>
              <a:t>目标</a:t>
            </a:r>
          </a:p>
        </p:txBody>
      </p:sp>
      <p:sp>
        <p:nvSpPr>
          <p:cNvPr id="17411" name="内容占位符 2"/>
          <p:cNvSpPr>
            <a:spLocks noGrp="1"/>
          </p:cNvSpPr>
          <p:nvPr>
            <p:ph idx="1"/>
          </p:nvPr>
        </p:nvSpPr>
        <p:spPr>
          <a:xfrm>
            <a:off x="903394" y="1353821"/>
            <a:ext cx="10350500" cy="4525433"/>
          </a:xfrm>
        </p:spPr>
        <p:txBody>
          <a:bodyPr/>
          <a:lstStyle/>
          <a:p>
            <a:r>
              <a:rPr lang="zh-CN" altLang="en-US" dirty="0"/>
              <a:t>理解</a:t>
            </a:r>
            <a:r>
              <a:rPr lang="en-US" altLang="zh-CN" dirty="0"/>
              <a:t>Spring AOP</a:t>
            </a:r>
            <a:r>
              <a:rPr lang="zh-CN" altLang="en-US" dirty="0"/>
              <a:t>的原理</a:t>
            </a:r>
            <a:endParaRPr lang="en-US" altLang="zh-CN" dirty="0"/>
          </a:p>
          <a:p>
            <a:r>
              <a:rPr lang="zh-CN" altLang="en-US" dirty="0"/>
              <a:t>掌握</a:t>
            </a:r>
            <a:r>
              <a:rPr lang="en-US" altLang="zh-CN" dirty="0"/>
              <a:t>Spring AOP</a:t>
            </a:r>
            <a:r>
              <a:rPr lang="zh-CN" altLang="en-US" dirty="0"/>
              <a:t>的</a:t>
            </a:r>
            <a:r>
              <a:rPr lang="en-US" altLang="zh-CN" dirty="0"/>
              <a:t>xml</a:t>
            </a:r>
            <a:r>
              <a:rPr lang="zh-CN" altLang="en-US"/>
              <a:t>与注解配置</a:t>
            </a:r>
            <a:endParaRPr lang="zh-CN" altLang="en-US" dirty="0"/>
          </a:p>
        </p:txBody>
      </p:sp>
      <p:pic>
        <p:nvPicPr>
          <p:cNvPr id="23558"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46081" y="1358721"/>
            <a:ext cx="9525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46081" y="1882596"/>
            <a:ext cx="9525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descr="C:\Users\Lenovo\Desktop\修改版\难点.png难点"/>
          <p:cNvPicPr>
            <a:picLocks noChangeAspect="1"/>
          </p:cNvPicPr>
          <p:nvPr/>
        </p:nvPicPr>
        <p:blipFill>
          <a:blip r:embed="rId4"/>
          <a:srcRect/>
          <a:stretch>
            <a:fillRect/>
          </a:stretch>
        </p:blipFill>
        <p:spPr>
          <a:xfrm>
            <a:off x="10757593" y="1885452"/>
            <a:ext cx="712047" cy="716280"/>
          </a:xfrm>
          <a:prstGeom prst="rect">
            <a:avLst/>
          </a:prstGeom>
          <a:noFill/>
          <a:ln w="9525">
            <a:noFill/>
          </a:ln>
        </p:spPr>
      </p:pic>
      <p:pic>
        <p:nvPicPr>
          <p:cNvPr id="15" name="Picture 3" descr="C:\Users\Lenovo\Desktop\修改版\难点.png难点"/>
          <p:cNvPicPr>
            <a:picLocks noChangeAspect="1"/>
          </p:cNvPicPr>
          <p:nvPr/>
        </p:nvPicPr>
        <p:blipFill>
          <a:blip r:embed="rId4"/>
          <a:srcRect/>
          <a:stretch>
            <a:fillRect/>
          </a:stretch>
        </p:blipFill>
        <p:spPr>
          <a:xfrm>
            <a:off x="10766431" y="1354138"/>
            <a:ext cx="712047" cy="716280"/>
          </a:xfrm>
          <a:prstGeom prst="rect">
            <a:avLst/>
          </a:prstGeom>
          <a:noFill/>
          <a:ln w="9525">
            <a:noFill/>
          </a:ln>
        </p:spPr>
      </p:pic>
    </p:spTree>
    <p:extLst>
      <p:ext uri="{BB962C8B-B14F-4D97-AF65-F5344CB8AC3E}">
        <p14:creationId xmlns:p14="http://schemas.microsoft.com/office/powerpoint/2010/main" val="79507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Rectangle 2"/>
          <p:cNvSpPr>
            <a:spLocks noGrp="1" noChangeArrowheads="1"/>
          </p:cNvSpPr>
          <p:nvPr>
            <p:ph type="title"/>
          </p:nvPr>
        </p:nvSpPr>
        <p:spPr>
          <a:xfrm>
            <a:off x="239350" y="468882"/>
            <a:ext cx="10914380" cy="463841"/>
          </a:xfrm>
        </p:spPr>
        <p:txBody>
          <a:bodyPr>
            <a:normAutofit fontScale="90000"/>
          </a:bodyPr>
          <a:lstStyle/>
          <a:p>
            <a:r>
              <a:rPr lang="zh-CN" altLang="en-US" dirty="0"/>
              <a:t>面向切面编程（</a:t>
            </a:r>
            <a:r>
              <a:rPr lang="en-US" altLang="zh-CN" dirty="0"/>
              <a:t>AOP</a:t>
            </a:r>
            <a:r>
              <a:rPr lang="zh-CN" altLang="en-US" dirty="0"/>
              <a:t>）</a:t>
            </a:r>
          </a:p>
        </p:txBody>
      </p:sp>
      <p:sp>
        <p:nvSpPr>
          <p:cNvPr id="7" name="内容占位符 6"/>
          <p:cNvSpPr>
            <a:spLocks noGrp="1"/>
          </p:cNvSpPr>
          <p:nvPr>
            <p:ph idx="1"/>
          </p:nvPr>
        </p:nvSpPr>
        <p:spPr>
          <a:xfrm>
            <a:off x="903394" y="1028735"/>
            <a:ext cx="10350500" cy="4850520"/>
          </a:xfrm>
        </p:spPr>
        <p:txBody>
          <a:bodyPr/>
          <a:lstStyle/>
          <a:p>
            <a:endParaRPr lang="zh-CN" altLang="en-US" dirty="0"/>
          </a:p>
        </p:txBody>
      </p:sp>
      <p:sp>
        <p:nvSpPr>
          <p:cNvPr id="815108" name="AutoShape 4"/>
          <p:cNvSpPr>
            <a:spLocks noChangeArrowheads="1"/>
          </p:cNvSpPr>
          <p:nvPr/>
        </p:nvSpPr>
        <p:spPr bwMode="auto">
          <a:xfrm>
            <a:off x="719405" y="1153384"/>
            <a:ext cx="11472596" cy="5509200"/>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public class </a:t>
            </a:r>
            <a:r>
              <a:rPr lang="en-US" altLang="zh-CN" sz="1600" b="1" dirty="0" err="1">
                <a:solidFill>
                  <a:schemeClr val="accent5">
                    <a:lumMod val="10000"/>
                  </a:schemeClr>
                </a:solidFill>
                <a:ea typeface="微软雅黑" panose="020B0503020204020204" pitchFamily="34" charset="-122"/>
              </a:rPr>
              <a:t>UserServiceImpl</a:t>
            </a:r>
            <a:r>
              <a:rPr lang="en-US" altLang="zh-CN" sz="1600" b="1" dirty="0">
                <a:solidFill>
                  <a:schemeClr val="accent5">
                    <a:lumMod val="10000"/>
                  </a:schemeClr>
                </a:solidFill>
                <a:ea typeface="微软雅黑" panose="020B0503020204020204" pitchFamily="34" charset="-122"/>
              </a:rPr>
              <a:t> implements </a:t>
            </a:r>
            <a:r>
              <a:rPr lang="en-US" altLang="zh-CN" sz="1600" b="1" dirty="0" err="1">
                <a:solidFill>
                  <a:schemeClr val="accent5">
                    <a:lumMod val="10000"/>
                  </a:schemeClr>
                </a:solidFill>
                <a:ea typeface="微软雅黑" panose="020B0503020204020204" pitchFamily="34" charset="-122"/>
              </a:rPr>
              <a:t>UserService</a:t>
            </a:r>
            <a:r>
              <a:rPr lang="en-US" altLang="zh-CN" sz="1600" b="1" dirty="0">
                <a:solidFill>
                  <a:schemeClr val="accent5">
                    <a:lumMod val="10000"/>
                  </a:schemeClr>
                </a:solidFill>
                <a:ea typeface="微软雅黑" panose="020B0503020204020204" pitchFamily="34" charset="-122"/>
              </a:rPr>
              <a:t>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private static final Logger log = </a:t>
            </a:r>
            <a:r>
              <a:rPr lang="en-US" altLang="zh-CN" sz="1600" b="1" dirty="0" err="1">
                <a:solidFill>
                  <a:schemeClr val="accent5">
                    <a:lumMod val="10000"/>
                  </a:schemeClr>
                </a:solidFill>
                <a:ea typeface="微软雅黑" panose="020B0503020204020204" pitchFamily="34" charset="-122"/>
              </a:rPr>
              <a:t>Logger.getLogger</a:t>
            </a:r>
            <a:r>
              <a:rPr lang="en-US" altLang="zh-CN" sz="1600" b="1" dirty="0">
                <a:solidFill>
                  <a:schemeClr val="accent5">
                    <a:lumMod val="10000"/>
                  </a:schemeClr>
                </a:solidFill>
                <a:ea typeface="微软雅黑" panose="020B0503020204020204" pitchFamily="34" charset="-122"/>
              </a:rPr>
              <a:t>(</a:t>
            </a:r>
            <a:r>
              <a:rPr lang="en-US" altLang="zh-CN" sz="1600" b="1" dirty="0" err="1">
                <a:solidFill>
                  <a:schemeClr val="accent5">
                    <a:lumMod val="10000"/>
                  </a:schemeClr>
                </a:solidFill>
                <a:ea typeface="微软雅黑" panose="020B0503020204020204" pitchFamily="34" charset="-122"/>
              </a:rPr>
              <a:t>UserServiceImpl.class</a:t>
            </a:r>
            <a:r>
              <a:rPr lang="en-US" altLang="zh-CN" sz="1600" b="1" dirty="0">
                <a:solidFill>
                  <a:schemeClr val="accent5">
                    <a:lumMod val="10000"/>
                  </a:schemeClr>
                </a:solidFill>
                <a:ea typeface="微软雅黑" panose="020B0503020204020204" pitchFamily="34" charset="-122"/>
              </a:rPr>
              <a:t>);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public </a:t>
            </a:r>
            <a:r>
              <a:rPr lang="en-US" altLang="zh-CN" sz="1600" b="1" dirty="0" err="1">
                <a:solidFill>
                  <a:schemeClr val="accent5">
                    <a:lumMod val="10000"/>
                  </a:schemeClr>
                </a:solidFill>
                <a:ea typeface="微软雅黑" panose="020B0503020204020204" pitchFamily="34" charset="-122"/>
              </a:rPr>
              <a:t>boolean</a:t>
            </a: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addNewUser</a:t>
            </a:r>
            <a:r>
              <a:rPr lang="en-US" altLang="zh-CN" sz="1600" b="1" dirty="0">
                <a:solidFill>
                  <a:schemeClr val="accent5">
                    <a:lumMod val="10000"/>
                  </a:schemeClr>
                </a:solidFill>
                <a:ea typeface="微软雅黑" panose="020B0503020204020204" pitchFamily="34" charset="-122"/>
              </a:rPr>
              <a:t>(User user)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log.info(“</a:t>
            </a:r>
            <a:r>
              <a:rPr lang="zh-CN" altLang="zh-CN" sz="1600" b="1" dirty="0">
                <a:solidFill>
                  <a:schemeClr val="accent5">
                    <a:lumMod val="10000"/>
                  </a:schemeClr>
                </a:solidFill>
                <a:ea typeface="微软雅黑" panose="020B0503020204020204" pitchFamily="34" charset="-122"/>
              </a:rPr>
              <a:t>添加用户</a:t>
            </a:r>
            <a:r>
              <a:rPr lang="en-US" altLang="zh-CN" sz="1600" b="1" dirty="0">
                <a:solidFill>
                  <a:schemeClr val="accent5">
                    <a:lumMod val="10000"/>
                  </a:schemeClr>
                </a:solidFill>
                <a:ea typeface="微软雅黑" panose="020B0503020204020204" pitchFamily="34" charset="-122"/>
              </a:rPr>
              <a:t> ” + </a:t>
            </a:r>
            <a:r>
              <a:rPr lang="en-US" altLang="zh-CN" sz="1600" b="1" dirty="0" err="1">
                <a:solidFill>
                  <a:schemeClr val="accent5">
                    <a:lumMod val="10000"/>
                  </a:schemeClr>
                </a:solidFill>
                <a:ea typeface="微软雅黑" panose="020B0503020204020204" pitchFamily="34" charset="-122"/>
              </a:rPr>
              <a:t>user.getUsername</a:t>
            </a:r>
            <a:r>
              <a:rPr lang="en-US" altLang="zh-CN" sz="1600" b="1" dirty="0">
                <a:solidFill>
                  <a:schemeClr val="accent5">
                    <a:lumMod val="10000"/>
                  </a:schemeClr>
                </a:solidFill>
                <a:ea typeface="微软雅黑" panose="020B0503020204020204" pitchFamily="34" charset="-122"/>
              </a:rPr>
              <a:t>());</a:t>
            </a:r>
            <a:r>
              <a:rPr lang="en-US" altLang="zh-CN" sz="1600" b="1" dirty="0">
                <a:solidFill>
                  <a:srgbClr val="FF0000"/>
                </a:solidFill>
                <a:ea typeface="微软雅黑" panose="020B0503020204020204" pitchFamily="34" charset="-122"/>
              </a:rPr>
              <a:t>//</a:t>
            </a:r>
            <a:r>
              <a:rPr lang="zh-CN" altLang="en-US" sz="1600" b="1" dirty="0">
                <a:solidFill>
                  <a:srgbClr val="FF0000"/>
                </a:solidFill>
                <a:ea typeface="微软雅黑" panose="020B0503020204020204" pitchFamily="34" charset="-122"/>
              </a:rPr>
              <a:t>记录日志</a:t>
            </a:r>
            <a:endParaRPr lang="zh-CN" altLang="zh-CN" sz="1600" b="1" dirty="0">
              <a:solidFill>
                <a:srgbClr val="FF0000"/>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SqlSession</a:t>
            </a: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sqlSession</a:t>
            </a:r>
            <a:r>
              <a:rPr lang="en-US" altLang="zh-CN" sz="1600" b="1" dirty="0">
                <a:solidFill>
                  <a:schemeClr val="accent5">
                    <a:lumMod val="10000"/>
                  </a:schemeClr>
                </a:solidFill>
                <a:ea typeface="微软雅黑" panose="020B0503020204020204" pitchFamily="34" charset="-122"/>
              </a:rPr>
              <a:t> = null;</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boolean</a:t>
            </a:r>
            <a:r>
              <a:rPr lang="en-US" altLang="zh-CN" sz="1600" b="1" dirty="0">
                <a:solidFill>
                  <a:schemeClr val="accent5">
                    <a:lumMod val="10000"/>
                  </a:schemeClr>
                </a:solidFill>
                <a:ea typeface="微软雅黑" panose="020B0503020204020204" pitchFamily="34" charset="-122"/>
              </a:rPr>
              <a:t> flag = false;</a:t>
            </a: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a:solidFill>
                  <a:srgbClr val="FF0000"/>
                </a:solidFill>
                <a:ea typeface="微软雅黑" panose="020B0503020204020204" pitchFamily="34" charset="-122"/>
              </a:rPr>
              <a:t>//</a:t>
            </a:r>
            <a:r>
              <a:rPr lang="zh-CN" altLang="en-US" sz="1600" b="1" dirty="0">
                <a:solidFill>
                  <a:srgbClr val="FF0000"/>
                </a:solidFill>
                <a:ea typeface="微软雅黑" panose="020B0503020204020204" pitchFamily="34" charset="-122"/>
              </a:rPr>
              <a:t>异常处理</a:t>
            </a:r>
            <a:endParaRPr lang="zh-CN" altLang="zh-CN" sz="1600" b="1" dirty="0">
              <a:solidFill>
                <a:srgbClr val="FF0000"/>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try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sqlSession</a:t>
            </a:r>
            <a:r>
              <a:rPr lang="en-US" altLang="zh-CN" sz="1600" b="1" dirty="0">
                <a:solidFill>
                  <a:schemeClr val="accent5">
                    <a:lumMod val="10000"/>
                  </a:schemeClr>
                </a:solidFill>
                <a:ea typeface="微软雅黑" panose="020B0503020204020204" pitchFamily="34" charset="-122"/>
              </a:rPr>
              <a:t> = </a:t>
            </a:r>
            <a:r>
              <a:rPr lang="en-US" altLang="zh-CN" sz="1600" b="1" dirty="0" err="1">
                <a:solidFill>
                  <a:schemeClr val="accent5">
                    <a:lumMod val="10000"/>
                  </a:schemeClr>
                </a:solidFill>
                <a:ea typeface="微软雅黑" panose="020B0503020204020204" pitchFamily="34" charset="-122"/>
              </a:rPr>
              <a:t>MyBatisUtil.createSqlSession</a:t>
            </a:r>
            <a:r>
              <a:rPr lang="en-US" altLang="zh-CN" sz="1600" b="1" dirty="0">
                <a:solidFill>
                  <a:schemeClr val="accent5">
                    <a:lumMod val="10000"/>
                  </a:schemeClr>
                </a:solidFill>
                <a:ea typeface="微软雅黑" panose="020B0503020204020204" pitchFamily="34" charset="-122"/>
              </a:rPr>
              <a:t>();</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if (</a:t>
            </a:r>
            <a:r>
              <a:rPr lang="en-US" altLang="zh-CN" sz="1600" b="1" dirty="0" err="1">
                <a:solidFill>
                  <a:schemeClr val="accent5">
                    <a:lumMod val="10000"/>
                  </a:schemeClr>
                </a:solidFill>
                <a:ea typeface="微软雅黑" panose="020B0503020204020204" pitchFamily="34" charset="-122"/>
              </a:rPr>
              <a:t>sqlSession.getMapper</a:t>
            </a:r>
            <a:r>
              <a:rPr lang="en-US" altLang="zh-CN" sz="1600" b="1" dirty="0">
                <a:solidFill>
                  <a:schemeClr val="accent5">
                    <a:lumMod val="10000"/>
                  </a:schemeClr>
                </a:solidFill>
                <a:ea typeface="微软雅黑" panose="020B0503020204020204" pitchFamily="34" charset="-122"/>
              </a:rPr>
              <a:t>(</a:t>
            </a:r>
            <a:r>
              <a:rPr lang="en-US" altLang="zh-CN" sz="1600" b="1" dirty="0" err="1">
                <a:solidFill>
                  <a:schemeClr val="accent5">
                    <a:lumMod val="10000"/>
                  </a:schemeClr>
                </a:solidFill>
                <a:ea typeface="微软雅黑" panose="020B0503020204020204" pitchFamily="34" charset="-122"/>
              </a:rPr>
              <a:t>UserMapper.class</a:t>
            </a:r>
            <a:r>
              <a:rPr lang="en-US" altLang="zh-CN" sz="1600" b="1" dirty="0">
                <a:solidFill>
                  <a:schemeClr val="accent5">
                    <a:lumMod val="10000"/>
                  </a:schemeClr>
                </a:solidFill>
                <a:ea typeface="微软雅黑" panose="020B0503020204020204" pitchFamily="34" charset="-122"/>
              </a:rPr>
              <a:t>).add(user) &gt; 0)</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flag = true;</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sqlSession.commit</a:t>
            </a:r>
            <a:r>
              <a:rPr lang="en-US" altLang="zh-CN" sz="1600" b="1" dirty="0">
                <a:solidFill>
                  <a:schemeClr val="accent5">
                    <a:lumMod val="10000"/>
                  </a:schemeClr>
                </a:solidFill>
                <a:ea typeface="微软雅黑" panose="020B0503020204020204" pitchFamily="34" charset="-122"/>
              </a:rPr>
              <a:t>(); </a:t>
            </a:r>
            <a:r>
              <a:rPr lang="en-US" altLang="zh-CN" sz="1600" b="1" dirty="0">
                <a:solidFill>
                  <a:srgbClr val="FF0000"/>
                </a:solidFill>
                <a:ea typeface="微软雅黑" panose="020B0503020204020204" pitchFamily="34" charset="-122"/>
              </a:rPr>
              <a:t>//</a:t>
            </a:r>
            <a:r>
              <a:rPr lang="zh-CN" altLang="en-US" sz="1600" b="1" dirty="0">
                <a:solidFill>
                  <a:srgbClr val="FF0000"/>
                </a:solidFill>
                <a:ea typeface="微软雅黑" panose="020B0503020204020204" pitchFamily="34" charset="-122"/>
              </a:rPr>
              <a:t>事务控制</a:t>
            </a:r>
            <a:endParaRPr lang="zh-CN" altLang="zh-CN" sz="1600" b="1" dirty="0">
              <a:solidFill>
                <a:srgbClr val="FF0000"/>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 catch (Exception e)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log.error</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添加用户</a:t>
            </a:r>
            <a:r>
              <a:rPr lang="en-US" altLang="zh-CN" sz="1600" b="1" dirty="0">
                <a:solidFill>
                  <a:schemeClr val="accent5">
                    <a:lumMod val="10000"/>
                  </a:schemeClr>
                </a:solidFill>
                <a:ea typeface="微软雅黑" panose="020B0503020204020204" pitchFamily="34" charset="-122"/>
              </a:rPr>
              <a:t> " + </a:t>
            </a:r>
            <a:r>
              <a:rPr lang="en-US" altLang="zh-CN" sz="1600" b="1" dirty="0" err="1">
                <a:solidFill>
                  <a:schemeClr val="accent5">
                    <a:lumMod val="10000"/>
                  </a:schemeClr>
                </a:solidFill>
                <a:ea typeface="微软雅黑" panose="020B0503020204020204" pitchFamily="34" charset="-122"/>
              </a:rPr>
              <a:t>user.getUsername</a:t>
            </a:r>
            <a:r>
              <a:rPr lang="en-US" altLang="zh-CN" sz="1600" b="1" dirty="0">
                <a:solidFill>
                  <a:schemeClr val="accent5">
                    <a:lumMod val="10000"/>
                  </a:schemeClr>
                </a:solidFill>
                <a:ea typeface="微软雅黑" panose="020B0503020204020204" pitchFamily="34" charset="-122"/>
              </a:rPr>
              <a:t>() + "</a:t>
            </a:r>
            <a:r>
              <a:rPr lang="zh-CN" altLang="zh-CN" sz="1600" b="1" dirty="0">
                <a:solidFill>
                  <a:schemeClr val="accent5">
                    <a:lumMod val="10000"/>
                  </a:schemeClr>
                </a:solidFill>
                <a:ea typeface="微软雅黑" panose="020B0503020204020204" pitchFamily="34" charset="-122"/>
              </a:rPr>
              <a:t>失败</a:t>
            </a:r>
            <a:r>
              <a:rPr lang="en-US" altLang="zh-CN" sz="1600" b="1" dirty="0">
                <a:solidFill>
                  <a:schemeClr val="accent5">
                    <a:lumMod val="10000"/>
                  </a:schemeClr>
                </a:solidFill>
                <a:ea typeface="微软雅黑" panose="020B0503020204020204" pitchFamily="34" charset="-122"/>
              </a:rPr>
              <a:t>", e); </a:t>
            </a:r>
            <a:r>
              <a:rPr lang="en-US" altLang="zh-CN" sz="1600" b="1" dirty="0">
                <a:solidFill>
                  <a:srgbClr val="FF0000"/>
                </a:solidFill>
                <a:ea typeface="微软雅黑" panose="020B0503020204020204" pitchFamily="34" charset="-122"/>
              </a:rPr>
              <a:t>//</a:t>
            </a:r>
            <a:r>
              <a:rPr lang="zh-CN" altLang="en-US" sz="1600" b="1" dirty="0">
                <a:solidFill>
                  <a:srgbClr val="FF0000"/>
                </a:solidFill>
                <a:ea typeface="微软雅黑" panose="020B0503020204020204" pitchFamily="34" charset="-122"/>
              </a:rPr>
              <a:t>记录日志</a:t>
            </a:r>
            <a:endParaRPr lang="zh-CN" altLang="zh-CN" sz="1600" b="1" dirty="0">
              <a:solidFill>
                <a:srgbClr val="FF0000"/>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sqlSession.rollback</a:t>
            </a:r>
            <a:r>
              <a:rPr lang="en-US" altLang="zh-CN" sz="1600" b="1" dirty="0">
                <a:solidFill>
                  <a:schemeClr val="accent5">
                    <a:lumMod val="10000"/>
                  </a:schemeClr>
                </a:solidFill>
                <a:ea typeface="微软雅黑" panose="020B0503020204020204" pitchFamily="34" charset="-122"/>
              </a:rPr>
              <a:t>(); </a:t>
            </a:r>
            <a:r>
              <a:rPr lang="en-US" altLang="zh-CN" sz="1600" b="1" dirty="0">
                <a:solidFill>
                  <a:srgbClr val="FF0000"/>
                </a:solidFill>
                <a:ea typeface="微软雅黑" panose="020B0503020204020204" pitchFamily="34" charset="-122"/>
              </a:rPr>
              <a:t>//</a:t>
            </a:r>
            <a:r>
              <a:rPr lang="zh-CN" altLang="en-US" sz="1600" b="1" dirty="0">
                <a:solidFill>
                  <a:srgbClr val="FF0000"/>
                </a:solidFill>
                <a:ea typeface="微软雅黑" panose="020B0503020204020204" pitchFamily="34" charset="-122"/>
              </a:rPr>
              <a:t>事务控制</a:t>
            </a:r>
            <a:endParaRPr lang="zh-CN" altLang="zh-CN" sz="1600" b="1" dirty="0">
              <a:solidFill>
                <a:srgbClr val="FF0000"/>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flag = false;</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 finally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MyBatisUtil.closeSqlSession</a:t>
            </a:r>
            <a:r>
              <a:rPr lang="en-US" altLang="zh-CN" sz="1600" b="1" dirty="0">
                <a:solidFill>
                  <a:schemeClr val="accent5">
                    <a:lumMod val="10000"/>
                  </a:schemeClr>
                </a:solidFill>
                <a:ea typeface="微软雅黑" panose="020B0503020204020204" pitchFamily="34" charset="-122"/>
              </a:rPr>
              <a:t>(</a:t>
            </a:r>
            <a:r>
              <a:rPr lang="en-US" altLang="zh-CN" sz="1600" b="1" dirty="0" err="1">
                <a:solidFill>
                  <a:schemeClr val="accent5">
                    <a:lumMod val="10000"/>
                  </a:schemeClr>
                </a:solidFill>
                <a:ea typeface="微软雅黑" panose="020B0503020204020204" pitchFamily="34" charset="-122"/>
              </a:rPr>
              <a:t>sqlSession</a:t>
            </a:r>
            <a:r>
              <a:rPr lang="en-US" altLang="zh-CN" sz="1600" b="1" dirty="0">
                <a:solidFill>
                  <a:schemeClr val="accent5">
                    <a:lumMod val="10000"/>
                  </a:schemeClr>
                </a:solidFill>
                <a:ea typeface="微软雅黑" panose="020B0503020204020204" pitchFamily="34" charset="-122"/>
              </a:rPr>
              <a:t>);</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return flag;</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    }</a:t>
            </a:r>
            <a:endParaRPr lang="zh-CN" altLang="zh-CN" sz="1600" b="1" dirty="0">
              <a:solidFill>
                <a:schemeClr val="accent5">
                  <a:lumMod val="10000"/>
                </a:schemeClr>
              </a:solidFill>
              <a:ea typeface="微软雅黑" panose="020B0503020204020204" pitchFamily="34" charset="-122"/>
            </a:endParaRPr>
          </a:p>
          <a:p>
            <a:pPr indent="-457189" defTabSz="507987">
              <a:buClr>
                <a:schemeClr val="folHlink"/>
              </a:buClr>
              <a:buSzPct val="60000"/>
            </a:pPr>
            <a:r>
              <a:rPr lang="en-US" altLang="zh-CN" sz="1600" b="1" dirty="0">
                <a:solidFill>
                  <a:schemeClr val="accent5">
                    <a:lumMod val="10000"/>
                  </a:schemeClr>
                </a:solidFill>
                <a:ea typeface="微软雅黑" panose="020B0503020204020204" pitchFamily="34" charset="-122"/>
              </a:rPr>
              <a:t>}</a:t>
            </a:r>
          </a:p>
        </p:txBody>
      </p:sp>
      <p:sp>
        <p:nvSpPr>
          <p:cNvPr id="11" name="Rectangle 34"/>
          <p:cNvSpPr>
            <a:spLocks noChangeArrowheads="1"/>
          </p:cNvSpPr>
          <p:nvPr/>
        </p:nvSpPr>
        <p:spPr bwMode="auto">
          <a:xfrm>
            <a:off x="1319808" y="3119061"/>
            <a:ext cx="5544277" cy="789993"/>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2" name="AutoShape 8"/>
          <p:cNvSpPr>
            <a:spLocks noChangeArrowheads="1"/>
          </p:cNvSpPr>
          <p:nvPr/>
        </p:nvSpPr>
        <p:spPr bwMode="auto">
          <a:xfrm>
            <a:off x="7802548" y="2689637"/>
            <a:ext cx="1720253" cy="510778"/>
          </a:xfrm>
          <a:prstGeom prst="wedgeRoundRectCallout">
            <a:avLst>
              <a:gd name="adj1" fmla="val 1872"/>
              <a:gd name="adj2" fmla="val 48604"/>
              <a:gd name="adj3"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124881" lvl="1"/>
            <a:r>
              <a:rPr lang="zh-CN" altLang="en-US" sz="2400" dirty="0">
                <a:latin typeface="黑体" panose="02010609060101010101" pitchFamily="49" charset="-122"/>
                <a:ea typeface="黑体" panose="02010609060101010101" pitchFamily="49" charset="-122"/>
              </a:rPr>
              <a:t>业务代码</a:t>
            </a:r>
          </a:p>
        </p:txBody>
      </p:sp>
      <p:cxnSp>
        <p:nvCxnSpPr>
          <p:cNvPr id="13" name="直接箭头连接符 12"/>
          <p:cNvCxnSpPr/>
          <p:nvPr/>
        </p:nvCxnSpPr>
        <p:spPr>
          <a:xfrm flipV="1">
            <a:off x="6960096" y="2914069"/>
            <a:ext cx="762005" cy="32291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10" name="AutoShape 6"/>
          <p:cNvSpPr>
            <a:spLocks noChangeArrowheads="1"/>
          </p:cNvSpPr>
          <p:nvPr/>
        </p:nvSpPr>
        <p:spPr bwMode="auto">
          <a:xfrm>
            <a:off x="5988077" y="4773150"/>
            <a:ext cx="4620424" cy="1736646"/>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124881" lvl="1"/>
            <a:r>
              <a:rPr lang="zh-CN" altLang="en-US" sz="2400" dirty="0">
                <a:latin typeface="黑体" panose="02010609060101010101" pitchFamily="49" charset="-122"/>
                <a:ea typeface="黑体" panose="02010609060101010101" pitchFamily="49" charset="-122"/>
              </a:rPr>
              <a:t>我们构建系统的目的是解决业务问题，现在却要维护多个方面的事情。怎样才能“专心”做事？</a:t>
            </a:r>
          </a:p>
        </p:txBody>
      </p:sp>
    </p:spTree>
    <p:extLst>
      <p:ext uri="{BB962C8B-B14F-4D97-AF65-F5344CB8AC3E}">
        <p14:creationId xmlns:p14="http://schemas.microsoft.com/office/powerpoint/2010/main" val="1556572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p:txBody>
          <a:bodyPr/>
          <a:lstStyle/>
          <a:p>
            <a:r>
              <a:rPr lang="zh-CN" altLang="en-US" dirty="0"/>
              <a:t>面向切面编程（</a:t>
            </a:r>
            <a:r>
              <a:rPr lang="en-US" altLang="zh-CN" dirty="0"/>
              <a:t>AOP</a:t>
            </a:r>
            <a:r>
              <a:rPr lang="zh-CN" altLang="en-US" dirty="0"/>
              <a:t>）</a:t>
            </a:r>
          </a:p>
        </p:txBody>
      </p:sp>
      <p:sp>
        <p:nvSpPr>
          <p:cNvPr id="818179" name="Rectangle 3"/>
          <p:cNvSpPr>
            <a:spLocks noGrp="1" noChangeArrowheads="1"/>
          </p:cNvSpPr>
          <p:nvPr>
            <p:ph idx="1"/>
          </p:nvPr>
        </p:nvSpPr>
        <p:spPr>
          <a:xfrm>
            <a:off x="335361" y="1124745"/>
            <a:ext cx="11856639" cy="5526619"/>
          </a:xfrm>
        </p:spPr>
        <p:txBody>
          <a:bodyPr/>
          <a:lstStyle/>
          <a:p>
            <a:r>
              <a:rPr lang="en-US" altLang="zh-CN" sz="2667" dirty="0"/>
              <a:t>AOP</a:t>
            </a:r>
            <a:r>
              <a:rPr lang="zh-CN" altLang="en-US" sz="2667" dirty="0"/>
              <a:t>的目标：让我们可以“专心做事”</a:t>
            </a:r>
          </a:p>
          <a:p>
            <a:r>
              <a:rPr lang="en-US" altLang="zh-CN" sz="2667" dirty="0"/>
              <a:t>AOP</a:t>
            </a:r>
            <a:r>
              <a:rPr lang="zh-CN" altLang="en-US" sz="2667" dirty="0"/>
              <a:t>原理</a:t>
            </a:r>
          </a:p>
          <a:p>
            <a:pPr lvl="1"/>
            <a:r>
              <a:rPr lang="zh-CN" altLang="en-US" sz="2400" dirty="0"/>
              <a:t>将复杂的需求分解出不同方面，将散布在系统中的公共功能集中解决</a:t>
            </a:r>
          </a:p>
          <a:p>
            <a:pPr lvl="1"/>
            <a:r>
              <a:rPr lang="zh-CN" altLang="en-US" sz="2400" dirty="0"/>
              <a:t>采用代理机制组装起来运行，在不改变原程序的基础上对代码段进行增强处理，增加新的功能</a:t>
            </a:r>
          </a:p>
        </p:txBody>
      </p:sp>
      <p:pic>
        <p:nvPicPr>
          <p:cNvPr id="818181" name="Picture 5" descr="a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9836" y="4406791"/>
            <a:ext cx="5657851"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7" descr="asp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349" y="4000501"/>
            <a:ext cx="4267200" cy="2428875"/>
          </a:xfrm>
          <a:prstGeom prst="rect">
            <a:avLst/>
          </a:prstGeom>
          <a:solidFill>
            <a:schemeClr val="bg1"/>
          </a:solidFill>
          <a:ln w="9525">
            <a:solidFill>
              <a:srgbClr val="008000"/>
            </a:solidFill>
            <a:miter lim="800000"/>
            <a:headEnd/>
            <a:tailEnd/>
          </a:ln>
        </p:spPr>
      </p:pic>
      <p:sp>
        <p:nvSpPr>
          <p:cNvPr id="9" name="AutoShape 8"/>
          <p:cNvSpPr>
            <a:spLocks noChangeArrowheads="1"/>
          </p:cNvSpPr>
          <p:nvPr/>
        </p:nvSpPr>
        <p:spPr bwMode="auto">
          <a:xfrm>
            <a:off x="9600390" y="2838638"/>
            <a:ext cx="2012777" cy="1736646"/>
          </a:xfrm>
          <a:prstGeom prst="wedgeRoundRectCallout">
            <a:avLst>
              <a:gd name="adj1" fmla="val 1872"/>
              <a:gd name="adj2" fmla="val 48604"/>
              <a:gd name="adj3"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lIns="0">
            <a:spAutoFit/>
          </a:bodyPr>
          <a:lstStyle/>
          <a:p>
            <a:pPr marL="245527" lvl="1"/>
            <a:r>
              <a:rPr lang="zh-CN" altLang="en-US" sz="2400" dirty="0">
                <a:latin typeface="黑体" panose="02010609060101010101" pitchFamily="49" charset="-122"/>
                <a:ea typeface="黑体" panose="02010609060101010101" pitchFamily="49" charset="-122"/>
              </a:rPr>
              <a:t>通过代理对象来调用原对象的方法</a:t>
            </a:r>
          </a:p>
        </p:txBody>
      </p:sp>
      <p:sp>
        <p:nvSpPr>
          <p:cNvPr id="12" name="AutoShape 8"/>
          <p:cNvSpPr>
            <a:spLocks noChangeArrowheads="1"/>
          </p:cNvSpPr>
          <p:nvPr/>
        </p:nvSpPr>
        <p:spPr bwMode="auto">
          <a:xfrm>
            <a:off x="9360363" y="4999222"/>
            <a:ext cx="2797476" cy="1736646"/>
          </a:xfrm>
          <a:prstGeom prst="wedgeRoundRectCallout">
            <a:avLst>
              <a:gd name="adj1" fmla="val 1872"/>
              <a:gd name="adj2" fmla="val 48604"/>
              <a:gd name="adj3"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lIns="0" rIns="96000" anchor="b" anchorCtr="0">
            <a:spAutoFit/>
          </a:bodyPr>
          <a:lstStyle/>
          <a:p>
            <a:pPr marL="243411" lvl="1" indent="10584"/>
            <a:r>
              <a:rPr lang="zh-CN" altLang="en-US" sz="2400" dirty="0">
                <a:latin typeface="黑体" panose="02010609060101010101" pitchFamily="49" charset="-122"/>
                <a:ea typeface="黑体" panose="02010609060101010101" pitchFamily="49" charset="-122"/>
              </a:rPr>
              <a:t>代理对象方法前后都可插入代码，这些代码就是增强处理</a:t>
            </a:r>
          </a:p>
        </p:txBody>
      </p:sp>
      <p:grpSp>
        <p:nvGrpSpPr>
          <p:cNvPr id="15" name="组合 21"/>
          <p:cNvGrpSpPr>
            <a:grpSpLocks/>
          </p:cNvGrpSpPr>
          <p:nvPr/>
        </p:nvGrpSpPr>
        <p:grpSpPr bwMode="auto">
          <a:xfrm>
            <a:off x="1391478" y="4130665"/>
            <a:ext cx="9024375" cy="1283943"/>
            <a:chOff x="4307091" y="4604620"/>
            <a:chExt cx="4306888" cy="719302"/>
          </a:xfrm>
        </p:grpSpPr>
        <p:sp>
          <p:nvSpPr>
            <p:cNvPr id="16" name="AutoShape 4"/>
            <p:cNvSpPr>
              <a:spLocks noChangeArrowheads="1"/>
            </p:cNvSpPr>
            <p:nvPr/>
          </p:nvSpPr>
          <p:spPr bwMode="gray">
            <a:xfrm>
              <a:off x="4307091" y="4803218"/>
              <a:ext cx="4306888" cy="520704"/>
            </a:xfrm>
            <a:prstGeom prst="roundRect">
              <a:avLst>
                <a:gd name="adj" fmla="val 16667"/>
              </a:avLst>
            </a:prstGeom>
            <a:solidFill>
              <a:schemeClr val="accent1">
                <a:lumMod val="20000"/>
                <a:lumOff val="80000"/>
              </a:schemeClr>
            </a:solidFill>
            <a:ln w="19050">
              <a:solidFill>
                <a:schemeClr val="accent1"/>
              </a:solidFill>
            </a:ln>
          </p:spPr>
          <p:txBody>
            <a:bodyPr anchor="ctr"/>
            <a:lstStyle/>
            <a:p>
              <a:pPr algn="ctr">
                <a:defRPr/>
              </a:pPr>
              <a:r>
                <a:rPr lang="zh-CN" altLang="en-US" sz="2400" b="1" dirty="0">
                  <a:latin typeface="微软雅黑" pitchFamily="34" charset="-122"/>
                  <a:ea typeface="微软雅黑" pitchFamily="34" charset="-122"/>
                </a:rPr>
                <a:t>所谓面向切面编程，是一种通过预编译和运行期动态代理的方式实现在不修改源代码的情况下给程序动态添加功能的技术</a:t>
              </a:r>
              <a:endParaRPr lang="en-US" altLang="zh-CN" sz="2400" b="1" dirty="0">
                <a:latin typeface="微软雅黑" pitchFamily="34" charset="-122"/>
                <a:ea typeface="微软雅黑" pitchFamily="34" charset="-122"/>
              </a:endParaRPr>
            </a:p>
          </p:txBody>
        </p:sp>
        <p:sp>
          <p:nvSpPr>
            <p:cNvPr id="17" name="AutoShape 4"/>
            <p:cNvSpPr>
              <a:spLocks noChangeArrowheads="1"/>
            </p:cNvSpPr>
            <p:nvPr/>
          </p:nvSpPr>
          <p:spPr bwMode="gray">
            <a:xfrm>
              <a:off x="8211853" y="4604620"/>
              <a:ext cx="356605" cy="252363"/>
            </a:xfrm>
            <a:prstGeom prst="ellipse">
              <a:avLst/>
            </a:prstGeom>
            <a:solidFill>
              <a:schemeClr val="bg1"/>
            </a:solidFill>
            <a:ln w="19050">
              <a:solidFill>
                <a:schemeClr val="accent1"/>
              </a:solidFill>
              <a:round/>
              <a:headEnd/>
              <a:tailEnd/>
            </a:ln>
          </p:spPr>
          <p:txBody>
            <a:bodyPr anchor="ctr"/>
            <a:lstStyle/>
            <a:p>
              <a:pPr algn="ctr"/>
              <a:r>
                <a:rPr lang="en-US" altLang="zh-CN" sz="2667" b="1" dirty="0">
                  <a:solidFill>
                    <a:srgbClr val="0C83B8"/>
                  </a:solidFill>
                  <a:latin typeface="微软雅黑" pitchFamily="34" charset="-122"/>
                  <a:ea typeface="微软雅黑" pitchFamily="34" charset="-122"/>
                </a:rPr>
                <a:t>!</a:t>
              </a:r>
            </a:p>
          </p:txBody>
        </p:sp>
      </p:grpSp>
      <p:cxnSp>
        <p:nvCxnSpPr>
          <p:cNvPr id="14" name="直接箭头连接符 13"/>
          <p:cNvCxnSpPr>
            <a:endCxn id="9" idx="1"/>
          </p:cNvCxnSpPr>
          <p:nvPr/>
        </p:nvCxnSpPr>
        <p:spPr>
          <a:xfrm flipV="1">
            <a:off x="8112224" y="3706961"/>
            <a:ext cx="1488166" cy="792472"/>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18" name="直接箭头连接符 17"/>
          <p:cNvCxnSpPr/>
          <p:nvPr/>
        </p:nvCxnSpPr>
        <p:spPr>
          <a:xfrm>
            <a:off x="8016214" y="5715325"/>
            <a:ext cx="1358436" cy="305963"/>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58925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8179">
                                            <p:txEl>
                                              <p:pRg st="1" end="1"/>
                                            </p:txEl>
                                          </p:spTgt>
                                        </p:tgtEl>
                                        <p:attrNameLst>
                                          <p:attrName>style.visibility</p:attrName>
                                        </p:attrNameLst>
                                      </p:cBhvr>
                                      <p:to>
                                        <p:strVal val="visible"/>
                                      </p:to>
                                    </p:set>
                                    <p:animEffect transition="in" filter="wipe(left)">
                                      <p:cBhvr>
                                        <p:cTn id="7" dur="500"/>
                                        <p:tgtEl>
                                          <p:spTgt spid="818179">
                                            <p:txEl>
                                              <p:pRg st="1" end="1"/>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18179">
                                            <p:txEl>
                                              <p:pRg st="2" end="2"/>
                                            </p:txEl>
                                          </p:spTgt>
                                        </p:tgtEl>
                                        <p:attrNameLst>
                                          <p:attrName>style.visibility</p:attrName>
                                        </p:attrNameLst>
                                      </p:cBhvr>
                                      <p:to>
                                        <p:strVal val="visible"/>
                                      </p:to>
                                    </p:set>
                                    <p:animEffect transition="in" filter="wipe(left)">
                                      <p:cBhvr>
                                        <p:cTn id="11" dur="500"/>
                                        <p:tgtEl>
                                          <p:spTgt spid="818179">
                                            <p:txEl>
                                              <p:pRg st="2" end="2"/>
                                            </p:txEl>
                                          </p:spTgt>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818179">
                                            <p:txEl>
                                              <p:pRg st="3" end="3"/>
                                            </p:txEl>
                                          </p:spTgt>
                                        </p:tgtEl>
                                        <p:attrNameLst>
                                          <p:attrName>style.visibility</p:attrName>
                                        </p:attrNameLst>
                                      </p:cBhvr>
                                      <p:to>
                                        <p:strVal val="visible"/>
                                      </p:to>
                                    </p:set>
                                    <p:animEffect transition="in" filter="wipe(left)">
                                      <p:cBhvr>
                                        <p:cTn id="20" dur="500"/>
                                        <p:tgtEl>
                                          <p:spTgt spid="818179">
                                            <p:txEl>
                                              <p:pRg st="3" end="3"/>
                                            </p:txEl>
                                          </p:spTgt>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818181"/>
                                        </p:tgtEl>
                                        <p:attrNameLst>
                                          <p:attrName>style.visibility</p:attrName>
                                        </p:attrNameLst>
                                      </p:cBhvr>
                                      <p:to>
                                        <p:strVal val="visible"/>
                                      </p:to>
                                    </p:set>
                                    <p:animEffect transition="in" filter="wipe(left)">
                                      <p:cBhvr>
                                        <p:cTn id="24" dur="500"/>
                                        <p:tgtEl>
                                          <p:spTgt spid="818181"/>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par>
                                <p:cTn id="29" presetID="22" presetClass="entr" presetSubtype="8"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8"/>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818181"/>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14"/>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18"/>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9"/>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2"/>
                                        </p:tgtEl>
                                        <p:attrNameLst>
                                          <p:attrName>style.visibility</p:attrName>
                                        </p:attrNameLst>
                                      </p:cBhvr>
                                      <p:to>
                                        <p:strVal val="hidden"/>
                                      </p:to>
                                    </p:set>
                                  </p:childTnLst>
                                </p:cTn>
                              </p:par>
                            </p:childTnLst>
                          </p:cTn>
                        </p:par>
                        <p:par>
                          <p:cTn id="52" fill="hold">
                            <p:stCondLst>
                              <p:cond delay="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2" grpId="0" animBg="1"/>
      <p:bldP spid="12" grpId="1"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0E8BCDD-9651-4912-B003-5CBD0C6C7AE6}"/>
              </a:ext>
            </a:extLst>
          </p:cNvPr>
          <p:cNvSpPr>
            <a:spLocks noGrp="1" noChangeArrowheads="1"/>
          </p:cNvSpPr>
          <p:nvPr>
            <p:ph type="title"/>
          </p:nvPr>
        </p:nvSpPr>
        <p:spPr bwMode="auto">
          <a:xfrm>
            <a:off x="1981200" y="274639"/>
            <a:ext cx="8229600" cy="4397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0000"/>
          </a:bodyPr>
          <a:lstStyle/>
          <a:p>
            <a:pPr>
              <a:defRPr/>
            </a:pPr>
            <a:r>
              <a:rPr lang="en-US" altLang="zh-CN" sz="2800" b="1" dirty="0">
                <a:solidFill>
                  <a:schemeClr val="tx1">
                    <a:lumMod val="75000"/>
                    <a:lumOff val="25000"/>
                  </a:schemeClr>
                </a:solidFill>
              </a:rPr>
              <a:t>AOP</a:t>
            </a:r>
            <a:r>
              <a:rPr lang="zh-CN" altLang="en-US" sz="2800" b="1" dirty="0">
                <a:solidFill>
                  <a:schemeClr val="tx1">
                    <a:lumMod val="75000"/>
                    <a:lumOff val="25000"/>
                  </a:schemeClr>
                </a:solidFill>
              </a:rPr>
              <a:t>中的横切关注点</a:t>
            </a:r>
            <a:endParaRPr lang="en-US" altLang="zh-CN" sz="2800" b="1" dirty="0">
              <a:solidFill>
                <a:schemeClr val="tx1">
                  <a:lumMod val="75000"/>
                  <a:lumOff val="25000"/>
                </a:schemeClr>
              </a:solidFill>
            </a:endParaRPr>
          </a:p>
        </p:txBody>
      </p:sp>
      <p:sp>
        <p:nvSpPr>
          <p:cNvPr id="34819" name="Rectangle 3">
            <a:extLst>
              <a:ext uri="{FF2B5EF4-FFF2-40B4-BE49-F238E27FC236}">
                <a16:creationId xmlns:a16="http://schemas.microsoft.com/office/drawing/2014/main" id="{9B2E80D4-3986-46F4-A2E3-CC70D4941BEC}"/>
              </a:ext>
            </a:extLst>
          </p:cNvPr>
          <p:cNvSpPr>
            <a:spLocks noGrp="1" noChangeArrowheads="1"/>
          </p:cNvSpPr>
          <p:nvPr>
            <p:ph idx="1"/>
          </p:nvPr>
        </p:nvSpPr>
        <p:spPr>
          <a:xfrm>
            <a:off x="1809749" y="1000126"/>
            <a:ext cx="8886825" cy="5000624"/>
          </a:xfrm>
        </p:spPr>
        <p:txBody>
          <a:bodyPr>
            <a:normAutofit/>
          </a:bodyPr>
          <a:lstStyle/>
          <a:p>
            <a:pPr eaLnBrk="1" hangingPunct="1"/>
            <a:r>
              <a:rPr lang="zh-CN" altLang="en-US" b="1" dirty="0"/>
              <a:t>在一个服务的流程中插入与业务逻辑无关的系统服务逻辑（例如 </a:t>
            </a:r>
            <a:r>
              <a:rPr lang="en-US" altLang="zh-CN" b="1" dirty="0"/>
              <a:t>Logging </a:t>
            </a:r>
            <a:r>
              <a:rPr lang="zh-CN" altLang="en-US" b="1" dirty="0"/>
              <a:t>、 </a:t>
            </a:r>
            <a:r>
              <a:rPr lang="en-US" altLang="zh-CN" b="1" dirty="0"/>
              <a:t>Security ) , </a:t>
            </a:r>
            <a:r>
              <a:rPr lang="zh-CN" altLang="en-US" b="1" dirty="0"/>
              <a:t>这样的逻辑称为</a:t>
            </a:r>
            <a:r>
              <a:rPr lang="en-US" altLang="zh-CN" b="1" dirty="0"/>
              <a:t>Cross-cutting concerns</a:t>
            </a:r>
            <a:r>
              <a:rPr lang="zh-CN" altLang="en-US" b="1" dirty="0"/>
              <a:t>（</a:t>
            </a:r>
            <a:r>
              <a:rPr lang="zh-CN" altLang="en-US" b="1" dirty="0">
                <a:solidFill>
                  <a:srgbClr val="FF0000"/>
                </a:solidFill>
              </a:rPr>
              <a:t>横切关注点</a:t>
            </a:r>
            <a:r>
              <a:rPr lang="zh-CN" altLang="en-US" b="1" dirty="0"/>
              <a:t>），将</a:t>
            </a:r>
            <a:r>
              <a:rPr lang="en-US" altLang="zh-CN" b="1" dirty="0"/>
              <a:t>Crossing-cutting concerns</a:t>
            </a:r>
            <a:r>
              <a:rPr lang="zh-CN" altLang="en-US" b="1" dirty="0"/>
              <a:t>独立出来设计为一个对象，这样的特殊对象称之为</a:t>
            </a:r>
            <a:r>
              <a:rPr lang="en-US" altLang="zh-CN" b="1" dirty="0"/>
              <a:t>Aspect</a:t>
            </a:r>
            <a:r>
              <a:rPr lang="zh-CN" altLang="en-US" b="1" dirty="0"/>
              <a:t>（切面）</a:t>
            </a:r>
            <a:r>
              <a:rPr lang="en-US" altLang="zh-CN" b="1" dirty="0"/>
              <a:t>,Aspect-oriented programming</a:t>
            </a:r>
            <a:r>
              <a:rPr lang="zh-CN" altLang="en-US" b="1" dirty="0"/>
              <a:t>着重在</a:t>
            </a:r>
            <a:r>
              <a:rPr lang="en-US" altLang="zh-CN" b="1" dirty="0"/>
              <a:t>Aspect</a:t>
            </a:r>
            <a:r>
              <a:rPr lang="zh-CN" altLang="en-US" b="1" dirty="0"/>
              <a:t>的设计及与应用程序的织入（</a:t>
            </a:r>
            <a:r>
              <a:rPr lang="en-US" altLang="zh-CN" b="1" dirty="0"/>
              <a:t>Weave)</a:t>
            </a:r>
            <a:endParaRPr lang="zh-CN" altLang="en-US" b="1" dirty="0"/>
          </a:p>
          <a:p>
            <a:pPr eaLnBrk="1" hangingPunct="1"/>
            <a:r>
              <a:rPr lang="en-US" altLang="zh-CN" b="1" dirty="0"/>
              <a:t>AOP</a:t>
            </a:r>
            <a:r>
              <a:rPr lang="zh-CN" altLang="en-US" b="1" dirty="0"/>
              <a:t>跟</a:t>
            </a:r>
            <a:r>
              <a:rPr lang="en-US" altLang="zh-CN" b="1" dirty="0"/>
              <a:t>OOP(Object-oriented programming</a:t>
            </a:r>
            <a:r>
              <a:rPr lang="zh-CN" altLang="en-US" b="1" dirty="0"/>
              <a:t>）并不相互抵触，它们是可以相辅相成的两个设计模型，</a:t>
            </a:r>
            <a:r>
              <a:rPr lang="en-US" altLang="zh-CN" b="1" dirty="0"/>
              <a:t>Spring AOP</a:t>
            </a:r>
            <a:r>
              <a:rPr lang="zh-CN" altLang="en-US" b="1" dirty="0"/>
              <a:t>是实现</a:t>
            </a:r>
            <a:r>
              <a:rPr lang="en-US" altLang="zh-CN" b="1" dirty="0"/>
              <a:t>AOP</a:t>
            </a:r>
            <a:r>
              <a:rPr lang="zh-CN" altLang="en-US" b="1" dirty="0"/>
              <a:t>的一种技术，而</a:t>
            </a:r>
            <a:r>
              <a:rPr lang="en-US" altLang="zh-CN" b="1" dirty="0"/>
              <a:t>spring AOP</a:t>
            </a:r>
            <a:r>
              <a:rPr lang="zh-CN" altLang="en-US" b="1" dirty="0"/>
              <a:t>也是</a:t>
            </a:r>
            <a:r>
              <a:rPr lang="en-US" altLang="zh-CN" b="1" dirty="0"/>
              <a:t>Spring</a:t>
            </a:r>
            <a:r>
              <a:rPr lang="zh-CN" altLang="en-US" b="1" dirty="0"/>
              <a:t>中一些子框架或子功能所依赖的核心</a:t>
            </a:r>
            <a:r>
              <a:rPr lang="en-US" altLang="zh-CN" b="1"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5620CE1-938F-4CF2-B112-F6566E2D5AFB}"/>
              </a:ext>
            </a:extLst>
          </p:cNvPr>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zh-CN" altLang="en-US" sz="2800" b="1" dirty="0">
                <a:solidFill>
                  <a:schemeClr val="tx1">
                    <a:lumMod val="75000"/>
                    <a:lumOff val="25000"/>
                  </a:schemeClr>
                </a:solidFill>
              </a:rPr>
              <a:t>横切关注点：</a:t>
            </a:r>
            <a:r>
              <a:rPr lang="en-US" altLang="zh-CN" sz="2800" b="1" dirty="0">
                <a:solidFill>
                  <a:schemeClr val="tx1">
                    <a:lumMod val="75000"/>
                    <a:lumOff val="25000"/>
                  </a:schemeClr>
                </a:solidFill>
              </a:rPr>
              <a:t>Cross-cutting concern </a:t>
            </a:r>
          </a:p>
        </p:txBody>
      </p:sp>
      <p:pic>
        <p:nvPicPr>
          <p:cNvPr id="61443" name="Picture 4">
            <a:extLst>
              <a:ext uri="{FF2B5EF4-FFF2-40B4-BE49-F238E27FC236}">
                <a16:creationId xmlns:a16="http://schemas.microsoft.com/office/drawing/2014/main" id="{DDA2AE95-7A0D-4030-9CAB-3B4EB95E04F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38375" y="1428750"/>
            <a:ext cx="7488238" cy="3683000"/>
          </a:xfr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716E243-0090-48C8-BA65-F3BD43AEB413}"/>
              </a:ext>
            </a:extLst>
          </p:cNvPr>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en-US" altLang="zh-CN" sz="2800" b="1" dirty="0">
                <a:solidFill>
                  <a:schemeClr val="tx1">
                    <a:lumMod val="75000"/>
                    <a:lumOff val="25000"/>
                  </a:schemeClr>
                </a:solidFill>
              </a:rPr>
              <a:t>Aspect </a:t>
            </a:r>
            <a:r>
              <a:rPr lang="zh-CN" altLang="en-US" sz="2800" b="1" dirty="0">
                <a:solidFill>
                  <a:schemeClr val="tx1">
                    <a:lumMod val="75000"/>
                    <a:lumOff val="25000"/>
                  </a:schemeClr>
                </a:solidFill>
              </a:rPr>
              <a:t>切面</a:t>
            </a:r>
            <a:endParaRPr lang="en-US" altLang="zh-CN" sz="2800" b="1" dirty="0">
              <a:solidFill>
                <a:schemeClr val="tx1">
                  <a:lumMod val="75000"/>
                  <a:lumOff val="25000"/>
                </a:schemeClr>
              </a:solidFill>
            </a:endParaRPr>
          </a:p>
        </p:txBody>
      </p:sp>
      <p:sp>
        <p:nvSpPr>
          <p:cNvPr id="65539" name="Rectangle 3">
            <a:extLst>
              <a:ext uri="{FF2B5EF4-FFF2-40B4-BE49-F238E27FC236}">
                <a16:creationId xmlns:a16="http://schemas.microsoft.com/office/drawing/2014/main" id="{D5CC9680-5C12-4ACD-9713-49320B7BA435}"/>
              </a:ext>
            </a:extLst>
          </p:cNvPr>
          <p:cNvSpPr>
            <a:spLocks noGrp="1" noChangeArrowheads="1"/>
          </p:cNvSpPr>
          <p:nvPr>
            <p:ph idx="1"/>
          </p:nvPr>
        </p:nvSpPr>
        <p:spPr>
          <a:xfrm>
            <a:off x="1091822" y="1071563"/>
            <a:ext cx="9553432" cy="4919804"/>
          </a:xfrm>
        </p:spPr>
        <p:txBody>
          <a:bodyPr vert="horz" lIns="91440" tIns="45720" rIns="91440" bIns="45720" rtlCol="0">
            <a:normAutofit fontScale="85000" lnSpcReduction="10000"/>
          </a:bodyPr>
          <a:lstStyle/>
          <a:p>
            <a:pPr eaLnBrk="1" hangingPunct="1">
              <a:lnSpc>
                <a:spcPct val="150000"/>
              </a:lnSpc>
            </a:pPr>
            <a:r>
              <a:rPr lang="zh-CN" altLang="en-US" dirty="0"/>
              <a:t>将散落于各个业务对象之中的 </a:t>
            </a:r>
            <a:r>
              <a:rPr lang="en-US" altLang="zh-CN" dirty="0"/>
              <a:t>Cross-cutting concerns</a:t>
            </a:r>
            <a:r>
              <a:rPr lang="zh-CN" altLang="en-US" dirty="0"/>
              <a:t>收集起来，设计各个</a:t>
            </a:r>
            <a:r>
              <a:rPr lang="zh-CN" altLang="en-US" dirty="0">
                <a:solidFill>
                  <a:srgbClr val="FF0000"/>
                </a:solidFill>
              </a:rPr>
              <a:t>独立可重用的对象</a:t>
            </a:r>
            <a:r>
              <a:rPr lang="zh-CN" altLang="en-US" dirty="0"/>
              <a:t>，这些对象称之为</a:t>
            </a:r>
            <a:r>
              <a:rPr lang="en-US" altLang="zh-CN" dirty="0"/>
              <a:t>Aspect</a:t>
            </a:r>
            <a:r>
              <a:rPr lang="zh-CN" altLang="en-US" dirty="0"/>
              <a:t>。在</a:t>
            </a:r>
            <a:r>
              <a:rPr lang="en-US" altLang="zh-CN" dirty="0"/>
              <a:t>AOP</a:t>
            </a:r>
            <a:r>
              <a:rPr lang="zh-CN" altLang="en-US" dirty="0"/>
              <a:t>中着重于</a:t>
            </a:r>
            <a:r>
              <a:rPr lang="en-US" altLang="zh-CN" dirty="0"/>
              <a:t>Aspect</a:t>
            </a:r>
            <a:r>
              <a:rPr lang="zh-CN" altLang="en-US" dirty="0"/>
              <a:t>的辨认，将之从业务流程中独立出来，在需要该服务的时候，织入（</a:t>
            </a:r>
            <a:r>
              <a:rPr lang="en-US" altLang="zh-CN" dirty="0"/>
              <a:t>Weave</a:t>
            </a:r>
            <a:r>
              <a:rPr lang="zh-CN" altLang="en-US" dirty="0"/>
              <a:t>）至应用程序之上，不需要服务的时候，也可以马上从应用程序中脱离，应用程序中的可重用组件不用作任何的修改</a:t>
            </a:r>
            <a:r>
              <a:rPr lang="en-US" altLang="zh-CN" dirty="0"/>
              <a:t>. </a:t>
            </a:r>
          </a:p>
          <a:p>
            <a:pPr>
              <a:lnSpc>
                <a:spcPct val="150000"/>
              </a:lnSpc>
            </a:pPr>
            <a:r>
              <a:rPr lang="zh-CN" altLang="en-US" dirty="0"/>
              <a:t>后话：切入点和增强（通知）组成切面。它包括了横切逻辑的定义，也包括了连接点的定义。</a:t>
            </a:r>
            <a:r>
              <a:rPr lang="en-US" altLang="zh-CN" dirty="0"/>
              <a:t>Spring AOP</a:t>
            </a:r>
            <a:r>
              <a:rPr lang="zh-CN" altLang="en-US" dirty="0"/>
              <a:t>就是负责实施切面的框架，它将切面所定义的横切逻辑织入到切面所指定的连接点中</a:t>
            </a:r>
          </a:p>
          <a:p>
            <a:pPr eaLnBrk="1" hangingPunct="1"/>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2708" y="1579266"/>
            <a:ext cx="42926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3"/>
          <p:cNvSpPr txBox="1">
            <a:spLocks noChangeArrowheads="1"/>
          </p:cNvSpPr>
          <p:nvPr/>
        </p:nvSpPr>
        <p:spPr>
          <a:xfrm>
            <a:off x="992816" y="1196410"/>
            <a:ext cx="10191749" cy="4934749"/>
          </a:xfrm>
          <a:prstGeom prst="rect">
            <a:avLst/>
          </a:prstGeom>
        </p:spPr>
        <p:txBody>
          <a:bodyPr>
            <a:spAutoFit/>
          </a:bodyPr>
          <a:lstStyle>
            <a:lvl1pPr marL="342900" indent="-342900" algn="l" rtl="0" eaLnBrk="0" fontAlgn="base" hangingPunct="0">
              <a:spcBef>
                <a:spcPct val="20000"/>
              </a:spcBef>
              <a:spcAft>
                <a:spcPct val="0"/>
              </a:spcAft>
              <a:buClr>
                <a:srgbClr val="0E9CDE"/>
              </a:buClr>
              <a:buSzPct val="100000"/>
              <a:buFont typeface="Wingdings" pitchFamily="2" charset="2"/>
              <a:buChar char="n"/>
              <a:defRPr sz="2600" b="1">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rgbClr val="0E9CDE"/>
              </a:buClr>
              <a:buSzPct val="100000"/>
              <a:buFont typeface="Wingdings" pitchFamily="2" charset="2"/>
              <a:buChar char="u"/>
              <a:defRPr sz="2400" b="1">
                <a:solidFill>
                  <a:schemeClr val="tx1"/>
                </a:solidFill>
                <a:latin typeface="微软雅黑" pitchFamily="34" charset="-122"/>
                <a:ea typeface="微软雅黑" pitchFamily="34" charset="-122"/>
              </a:defRPr>
            </a:lvl2pPr>
            <a:lvl3pPr marL="1143000" indent="-228600" algn="l" rtl="0" eaLnBrk="0" fontAlgn="base" hangingPunct="0">
              <a:spcBef>
                <a:spcPct val="20000"/>
              </a:spcBef>
              <a:spcAft>
                <a:spcPct val="0"/>
              </a:spcAft>
              <a:buClr>
                <a:srgbClr val="0E9CDE"/>
              </a:buClr>
              <a:buSzPct val="85000"/>
              <a:buFont typeface="Wingdings" pitchFamily="2" charset="2"/>
              <a:buChar char="Ø"/>
              <a:defRPr sz="2000" b="1">
                <a:solidFill>
                  <a:schemeClr val="tx1"/>
                </a:solidFill>
                <a:latin typeface="微软雅黑" pitchFamily="34" charset="-122"/>
                <a:ea typeface="微软雅黑" pitchFamily="34" charset="-122"/>
              </a:defRPr>
            </a:lvl3pPr>
            <a:lvl4pPr marL="1600200" indent="-228600" algn="l" rtl="0" eaLnBrk="0" fontAlgn="base" hangingPunct="0">
              <a:spcBef>
                <a:spcPct val="20000"/>
              </a:spcBef>
              <a:spcAft>
                <a:spcPct val="0"/>
              </a:spcAft>
              <a:buClr>
                <a:schemeClr val="tx2"/>
              </a:buClr>
              <a:buFont typeface="Wingdings" pitchFamily="2" charset="2"/>
              <a:buChar char="Ø"/>
              <a:defRPr sz="2000" b="1">
                <a:solidFill>
                  <a:schemeClr val="tx1"/>
                </a:solidFill>
                <a:latin typeface="+mn-lt"/>
                <a:ea typeface="楷体_GB2312" pitchFamily="49" charset="-122"/>
                <a:cs typeface="楷体_GB2312"/>
              </a:defRPr>
            </a:lvl4pPr>
            <a:lvl5pPr marL="2057400" indent="-228600" algn="l" rtl="0" eaLnBrk="0" fontAlgn="base" hangingPunct="0">
              <a:spcBef>
                <a:spcPct val="20000"/>
              </a:spcBef>
              <a:spcAft>
                <a:spcPct val="0"/>
              </a:spcAft>
              <a:buChar char="»"/>
              <a:defRPr sz="2000" b="1">
                <a:solidFill>
                  <a:schemeClr val="tx1"/>
                </a:solidFill>
                <a:latin typeface="+mn-lt"/>
                <a:ea typeface="楷体_GB2312" pitchFamily="49" charset="-122"/>
                <a:cs typeface="楷体_GB2312"/>
              </a:defRPr>
            </a:lvl5pPr>
            <a:lvl6pPr marL="2514600" indent="-228600" algn="l" rtl="0" eaLnBrk="1" fontAlgn="base" hangingPunct="1">
              <a:spcBef>
                <a:spcPct val="20000"/>
              </a:spcBef>
              <a:spcAft>
                <a:spcPct val="0"/>
              </a:spcAft>
              <a:buChar char="»"/>
              <a:defRPr sz="2000" b="1">
                <a:solidFill>
                  <a:schemeClr val="tx1"/>
                </a:solidFill>
                <a:latin typeface="+mn-lt"/>
                <a:ea typeface="楷体_GB2312" pitchFamily="49" charset="-122"/>
              </a:defRPr>
            </a:lvl6pPr>
            <a:lvl7pPr marL="2971800" indent="-228600" algn="l" rtl="0" eaLnBrk="1" fontAlgn="base" hangingPunct="1">
              <a:spcBef>
                <a:spcPct val="20000"/>
              </a:spcBef>
              <a:spcAft>
                <a:spcPct val="0"/>
              </a:spcAft>
              <a:buChar char="»"/>
              <a:defRPr sz="2000" b="1">
                <a:solidFill>
                  <a:schemeClr val="tx1"/>
                </a:solidFill>
                <a:latin typeface="+mn-lt"/>
                <a:ea typeface="楷体_GB2312" pitchFamily="49" charset="-122"/>
              </a:defRPr>
            </a:lvl7pPr>
            <a:lvl8pPr marL="3429000" indent="-228600" algn="l" rtl="0" eaLnBrk="1" fontAlgn="base" hangingPunct="1">
              <a:spcBef>
                <a:spcPct val="20000"/>
              </a:spcBef>
              <a:spcAft>
                <a:spcPct val="0"/>
              </a:spcAft>
              <a:buChar char="»"/>
              <a:defRPr sz="2000" b="1">
                <a:solidFill>
                  <a:schemeClr val="tx1"/>
                </a:solidFill>
                <a:latin typeface="+mn-lt"/>
                <a:ea typeface="楷体_GB2312" pitchFamily="49" charset="-122"/>
              </a:defRPr>
            </a:lvl8pPr>
            <a:lvl9pPr marL="3886200" indent="-228600" algn="l" rtl="0" eaLnBrk="1" fontAlgn="base" hangingPunct="1">
              <a:spcBef>
                <a:spcPct val="20000"/>
              </a:spcBef>
              <a:spcAft>
                <a:spcPct val="0"/>
              </a:spcAft>
              <a:buChar char="»"/>
              <a:defRPr sz="2000" b="1">
                <a:solidFill>
                  <a:schemeClr val="tx1"/>
                </a:solidFill>
                <a:latin typeface="+mn-lt"/>
                <a:ea typeface="楷体_GB2312" pitchFamily="49" charset="-122"/>
              </a:defRPr>
            </a:lvl9pPr>
          </a:lstStyle>
          <a:p>
            <a:pPr>
              <a:buFont typeface="Wingdings" panose="05000000000000000000" pitchFamily="2" charset="2"/>
              <a:buChar char="u"/>
              <a:defRPr/>
            </a:pPr>
            <a:r>
              <a:rPr lang="en-US" altLang="zh-CN" sz="2667" dirty="0">
                <a:solidFill>
                  <a:srgbClr val="009ADA"/>
                </a:solidFill>
                <a:latin typeface="+mn-lt"/>
              </a:rPr>
              <a:t>AOP</a:t>
            </a:r>
            <a:r>
              <a:rPr lang="zh-CN" altLang="en-US" sz="2667" dirty="0">
                <a:solidFill>
                  <a:srgbClr val="009ADA"/>
                </a:solidFill>
                <a:latin typeface="+mn-lt"/>
              </a:rPr>
              <a:t>相关术语</a:t>
            </a:r>
            <a:endParaRPr lang="en-US" altLang="zh-CN" sz="2667" dirty="0">
              <a:solidFill>
                <a:srgbClr val="009ADA"/>
              </a:solidFill>
              <a:latin typeface="+mn-lt"/>
            </a:endParaRPr>
          </a:p>
          <a:p>
            <a:pPr lvl="1">
              <a:buFont typeface="Wingdings" panose="05000000000000000000" pitchFamily="2" charset="2"/>
              <a:buChar char="n"/>
              <a:defRPr/>
            </a:pPr>
            <a:r>
              <a:rPr lang="zh-CN" altLang="zh-CN" dirty="0">
                <a:latin typeface="+mn-lt"/>
              </a:rPr>
              <a:t>增强处理（</a:t>
            </a:r>
            <a:r>
              <a:rPr lang="en-US" altLang="zh-CN" dirty="0">
                <a:latin typeface="+mn-lt"/>
              </a:rPr>
              <a:t>Advice</a:t>
            </a:r>
            <a:r>
              <a:rPr lang="zh-CN" altLang="zh-CN" dirty="0">
                <a:latin typeface="+mn-lt"/>
              </a:rPr>
              <a:t>）</a:t>
            </a:r>
            <a:endParaRPr lang="en-US" altLang="zh-CN" dirty="0">
              <a:latin typeface="+mn-lt"/>
            </a:endParaRPr>
          </a:p>
          <a:p>
            <a:pPr lvl="2">
              <a:buFont typeface="Wingdings" panose="05000000000000000000" pitchFamily="2" charset="2"/>
              <a:buChar char="l"/>
              <a:defRPr/>
            </a:pPr>
            <a:r>
              <a:rPr lang="zh-CN" altLang="zh-CN" sz="2400" dirty="0">
                <a:latin typeface="+mn-lt"/>
              </a:rPr>
              <a:t>前置增强</a:t>
            </a:r>
            <a:endParaRPr lang="en-US" altLang="zh-CN" sz="2400" dirty="0">
              <a:latin typeface="+mn-lt"/>
            </a:endParaRPr>
          </a:p>
          <a:p>
            <a:pPr lvl="2">
              <a:buFont typeface="Wingdings" panose="05000000000000000000" pitchFamily="2" charset="2"/>
              <a:buChar char="l"/>
              <a:defRPr/>
            </a:pPr>
            <a:r>
              <a:rPr lang="zh-CN" altLang="zh-CN" sz="2400" dirty="0">
                <a:latin typeface="+mn-lt"/>
              </a:rPr>
              <a:t>后置增强</a:t>
            </a:r>
            <a:endParaRPr lang="en-US" altLang="zh-CN" sz="2400" dirty="0">
              <a:latin typeface="+mn-lt"/>
            </a:endParaRPr>
          </a:p>
          <a:p>
            <a:pPr lvl="2">
              <a:buFont typeface="Wingdings" panose="05000000000000000000" pitchFamily="2" charset="2"/>
              <a:buChar char="l"/>
              <a:defRPr/>
            </a:pPr>
            <a:r>
              <a:rPr lang="zh-CN" altLang="zh-CN" sz="2400" dirty="0">
                <a:latin typeface="+mn-lt"/>
              </a:rPr>
              <a:t>环绕增强、异常抛出增强、最终增强等类型</a:t>
            </a:r>
            <a:endParaRPr lang="en-US" altLang="zh-CN" sz="2400" dirty="0">
              <a:latin typeface="+mn-lt"/>
            </a:endParaRPr>
          </a:p>
          <a:p>
            <a:pPr lvl="1">
              <a:buFont typeface="Wingdings" panose="05000000000000000000" pitchFamily="2" charset="2"/>
              <a:buChar char="n"/>
              <a:defRPr/>
            </a:pPr>
            <a:r>
              <a:rPr lang="zh-CN" altLang="zh-CN" dirty="0">
                <a:latin typeface="+mn-lt"/>
              </a:rPr>
              <a:t>切入点（</a:t>
            </a:r>
            <a:r>
              <a:rPr lang="en-US" altLang="zh-CN" dirty="0" err="1">
                <a:latin typeface="+mn-lt"/>
              </a:rPr>
              <a:t>Pointcut</a:t>
            </a:r>
            <a:r>
              <a:rPr lang="zh-CN" altLang="zh-CN" dirty="0">
                <a:latin typeface="+mn-lt"/>
              </a:rPr>
              <a:t>）</a:t>
            </a:r>
            <a:endParaRPr lang="en-US" altLang="zh-CN" dirty="0">
              <a:latin typeface="+mn-lt"/>
            </a:endParaRPr>
          </a:p>
          <a:p>
            <a:pPr lvl="1">
              <a:buFont typeface="Wingdings" panose="05000000000000000000" pitchFamily="2" charset="2"/>
              <a:buChar char="n"/>
              <a:defRPr/>
            </a:pPr>
            <a:r>
              <a:rPr lang="zh-CN" altLang="zh-CN" dirty="0">
                <a:latin typeface="+mn-lt"/>
              </a:rPr>
              <a:t>连接点（</a:t>
            </a:r>
            <a:r>
              <a:rPr lang="en-US" altLang="zh-CN" dirty="0">
                <a:latin typeface="+mn-lt"/>
              </a:rPr>
              <a:t>Join Point</a:t>
            </a:r>
            <a:r>
              <a:rPr lang="zh-CN" altLang="zh-CN" dirty="0">
                <a:latin typeface="+mn-lt"/>
              </a:rPr>
              <a:t>）</a:t>
            </a:r>
            <a:endParaRPr lang="en-US" altLang="zh-CN" dirty="0">
              <a:latin typeface="+mn-lt"/>
            </a:endParaRPr>
          </a:p>
          <a:p>
            <a:pPr lvl="1">
              <a:buFont typeface="Wingdings" panose="05000000000000000000" pitchFamily="2" charset="2"/>
              <a:buChar char="n"/>
              <a:defRPr/>
            </a:pPr>
            <a:r>
              <a:rPr lang="zh-CN" altLang="zh-CN" dirty="0">
                <a:latin typeface="+mn-lt"/>
              </a:rPr>
              <a:t>切面（</a:t>
            </a:r>
            <a:r>
              <a:rPr lang="en-US" altLang="zh-CN" dirty="0">
                <a:latin typeface="+mn-lt"/>
              </a:rPr>
              <a:t>Aspect</a:t>
            </a:r>
            <a:r>
              <a:rPr lang="zh-CN" altLang="zh-CN" dirty="0">
                <a:latin typeface="+mn-lt"/>
              </a:rPr>
              <a:t>）</a:t>
            </a:r>
          </a:p>
          <a:p>
            <a:pPr lvl="1">
              <a:buFont typeface="Wingdings" panose="05000000000000000000" pitchFamily="2" charset="2"/>
              <a:buChar char="n"/>
              <a:defRPr/>
            </a:pPr>
            <a:r>
              <a:rPr lang="zh-CN" altLang="zh-CN" dirty="0">
                <a:latin typeface="+mn-lt"/>
              </a:rPr>
              <a:t>目标对象（</a:t>
            </a:r>
            <a:r>
              <a:rPr lang="en-US" altLang="zh-CN" dirty="0">
                <a:latin typeface="+mn-lt"/>
              </a:rPr>
              <a:t>Target object</a:t>
            </a:r>
            <a:r>
              <a:rPr lang="zh-CN" altLang="zh-CN" dirty="0">
                <a:latin typeface="+mn-lt"/>
              </a:rPr>
              <a:t>）</a:t>
            </a:r>
          </a:p>
          <a:p>
            <a:pPr lvl="1">
              <a:buFont typeface="Wingdings" panose="05000000000000000000" pitchFamily="2" charset="2"/>
              <a:buChar char="n"/>
              <a:defRPr/>
            </a:pPr>
            <a:r>
              <a:rPr lang="en-US" altLang="zh-CN" dirty="0">
                <a:latin typeface="+mn-lt"/>
              </a:rPr>
              <a:t>AOP</a:t>
            </a:r>
            <a:r>
              <a:rPr lang="zh-CN" altLang="zh-CN" dirty="0">
                <a:latin typeface="+mn-lt"/>
              </a:rPr>
              <a:t>代理（</a:t>
            </a:r>
            <a:r>
              <a:rPr lang="en-US" altLang="zh-CN" dirty="0">
                <a:latin typeface="+mn-lt"/>
              </a:rPr>
              <a:t>AOP proxy</a:t>
            </a:r>
            <a:r>
              <a:rPr lang="zh-CN" altLang="zh-CN" dirty="0">
                <a:latin typeface="+mn-lt"/>
              </a:rPr>
              <a:t>）</a:t>
            </a:r>
          </a:p>
          <a:p>
            <a:pPr lvl="1">
              <a:buFont typeface="Wingdings" panose="05000000000000000000" pitchFamily="2" charset="2"/>
              <a:buChar char="n"/>
              <a:defRPr/>
            </a:pPr>
            <a:r>
              <a:rPr lang="zh-CN" altLang="zh-CN" dirty="0">
                <a:latin typeface="+mn-lt"/>
              </a:rPr>
              <a:t>织入（</a:t>
            </a:r>
            <a:r>
              <a:rPr lang="en-US" altLang="zh-CN" dirty="0">
                <a:latin typeface="+mn-lt"/>
              </a:rPr>
              <a:t>Weaving</a:t>
            </a:r>
            <a:r>
              <a:rPr lang="zh-CN" altLang="zh-CN" dirty="0">
                <a:latin typeface="+mn-lt"/>
              </a:rPr>
              <a:t>）</a:t>
            </a:r>
          </a:p>
        </p:txBody>
      </p:sp>
      <p:sp>
        <p:nvSpPr>
          <p:cNvPr id="11" name="AutoShape 6"/>
          <p:cNvSpPr>
            <a:spLocks noChangeArrowheads="1"/>
          </p:cNvSpPr>
          <p:nvPr/>
        </p:nvSpPr>
        <p:spPr bwMode="auto">
          <a:xfrm>
            <a:off x="10032437" y="3144874"/>
            <a:ext cx="1536171"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增强处理</a:t>
            </a:r>
          </a:p>
        </p:txBody>
      </p:sp>
      <p:sp>
        <p:nvSpPr>
          <p:cNvPr id="13" name="Rectangle 34"/>
          <p:cNvSpPr>
            <a:spLocks noChangeArrowheads="1"/>
          </p:cNvSpPr>
          <p:nvPr/>
        </p:nvSpPr>
        <p:spPr bwMode="auto">
          <a:xfrm>
            <a:off x="7543030" y="2420889"/>
            <a:ext cx="1315949" cy="243267"/>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dirty="0">
              <a:solidFill>
                <a:srgbClr val="FF0000"/>
              </a:solidFill>
            </a:endParaRPr>
          </a:p>
        </p:txBody>
      </p:sp>
      <p:sp>
        <p:nvSpPr>
          <p:cNvPr id="14" name="Rectangle 34"/>
          <p:cNvSpPr>
            <a:spLocks noChangeArrowheads="1"/>
          </p:cNvSpPr>
          <p:nvPr/>
        </p:nvSpPr>
        <p:spPr bwMode="auto">
          <a:xfrm>
            <a:off x="7536162" y="1961597"/>
            <a:ext cx="1322817" cy="243267"/>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dirty="0">
              <a:solidFill>
                <a:srgbClr val="FF0000"/>
              </a:solidFill>
            </a:endParaRPr>
          </a:p>
        </p:txBody>
      </p:sp>
      <p:sp>
        <p:nvSpPr>
          <p:cNvPr id="15" name="AutoShape 6"/>
          <p:cNvSpPr>
            <a:spLocks noChangeArrowheads="1"/>
          </p:cNvSpPr>
          <p:nvPr/>
        </p:nvSpPr>
        <p:spPr bwMode="auto">
          <a:xfrm>
            <a:off x="10011105" y="984633"/>
            <a:ext cx="1536171"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增强处理</a:t>
            </a:r>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8029" y="4509121"/>
            <a:ext cx="42926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5135895" y="4083920"/>
            <a:ext cx="1204176" cy="461665"/>
          </a:xfrm>
          <a:prstGeom prst="rect">
            <a:avLst/>
          </a:prstGeom>
          <a:noFill/>
        </p:spPr>
        <p:txBody>
          <a:bodyPr wrap="none" rtlCol="0">
            <a:spAutoFit/>
          </a:bodyPr>
          <a:lstStyle/>
          <a:p>
            <a:r>
              <a:rPr lang="en-US" altLang="zh-CN" sz="2400" dirty="0"/>
              <a:t>            </a:t>
            </a:r>
            <a:endParaRPr lang="zh-CN" altLang="en-US" sz="2400" dirty="0"/>
          </a:p>
        </p:txBody>
      </p:sp>
      <p:cxnSp>
        <p:nvCxnSpPr>
          <p:cNvPr id="19" name="直接箭头连接符 18"/>
          <p:cNvCxnSpPr/>
          <p:nvPr/>
        </p:nvCxnSpPr>
        <p:spPr>
          <a:xfrm flipV="1">
            <a:off x="8729964" y="1369802"/>
            <a:ext cx="1714512" cy="591796"/>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0" name="直接箭头连接符 19"/>
          <p:cNvCxnSpPr/>
          <p:nvPr/>
        </p:nvCxnSpPr>
        <p:spPr>
          <a:xfrm>
            <a:off x="8729964" y="2664156"/>
            <a:ext cx="1714512" cy="480717"/>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16" name="Rectangle 2"/>
          <p:cNvSpPr>
            <a:spLocks noGrp="1" noChangeArrowheads="1"/>
          </p:cNvSpPr>
          <p:nvPr>
            <p:ph type="title"/>
          </p:nvPr>
        </p:nvSpPr>
        <p:spPr>
          <a:xfrm>
            <a:off x="325121" y="276861"/>
            <a:ext cx="10914380" cy="942340"/>
          </a:xfrm>
        </p:spPr>
        <p:txBody>
          <a:bodyPr/>
          <a:lstStyle/>
          <a:p>
            <a:r>
              <a:rPr lang="zh-CN" altLang="en-US" dirty="0"/>
              <a:t>面向切面编程（</a:t>
            </a:r>
            <a:r>
              <a:rPr lang="en-US" altLang="zh-CN" dirty="0"/>
              <a:t>AOP</a:t>
            </a:r>
            <a:r>
              <a:rPr lang="zh-CN" altLang="en-US" dirty="0"/>
              <a:t>）</a:t>
            </a:r>
          </a:p>
        </p:txBody>
      </p:sp>
    </p:spTree>
    <p:extLst>
      <p:ext uri="{BB962C8B-B14F-4D97-AF65-F5344CB8AC3E}">
        <p14:creationId xmlns:p14="http://schemas.microsoft.com/office/powerpoint/2010/main" val="196673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par>
                                <p:cTn id="14" presetID="22" presetClass="entr" presetSubtype="8"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par>
                                <p:cTn id="17" presetID="22" presetClass="entr" presetSubtype="8"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par>
                                <p:cTn id="20" presetID="22" presetClass="entr" presetSubtype="8"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par>
                                <p:cTn id="23" presetID="22" presetClass="entr" presetSubtype="8"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down)">
                                      <p:cBhvr>
                                        <p:cTn id="30" dur="500"/>
                                        <p:tgtEl>
                                          <p:spTgt spid="18"/>
                                        </p:tgtEl>
                                      </p:cBhvr>
                                    </p:animEffect>
                                  </p:childTnLst>
                                  <p:subTnLst>
                                    <p:set>
                                      <p:cBhvr override="childStyle">
                                        <p:cTn dur="1" fill="hold" display="0" masterRel="sameClick" afterEffect="1">
                                          <p:stCondLst>
                                            <p:cond evt="end" delay="0">
                                              <p:tn val="28"/>
                                            </p:cond>
                                          </p:stCondLst>
                                        </p:cTn>
                                        <p:tgtEl>
                                          <p:spTgt spid="18"/>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C2AC50D-EDFF-415F-8669-1DC1F95BD975}"/>
              </a:ext>
            </a:extLst>
          </p:cNvPr>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en-US" altLang="zh-CN" sz="2800" b="1" dirty="0">
                <a:solidFill>
                  <a:schemeClr val="tx1">
                    <a:lumMod val="75000"/>
                    <a:lumOff val="25000"/>
                  </a:schemeClr>
                </a:solidFill>
              </a:rPr>
              <a:t>Advice </a:t>
            </a:r>
            <a:r>
              <a:rPr lang="zh-CN" altLang="en-US" sz="2800" b="1" dirty="0">
                <a:solidFill>
                  <a:schemeClr val="tx1">
                    <a:lumMod val="75000"/>
                    <a:lumOff val="25000"/>
                  </a:schemeClr>
                </a:solidFill>
              </a:rPr>
              <a:t>：增强处理（通知）</a:t>
            </a:r>
            <a:endParaRPr lang="en-US" altLang="zh-CN" sz="2800" b="1" dirty="0">
              <a:solidFill>
                <a:schemeClr val="tx1">
                  <a:lumMod val="75000"/>
                  <a:lumOff val="25000"/>
                </a:schemeClr>
              </a:solidFill>
            </a:endParaRPr>
          </a:p>
        </p:txBody>
      </p:sp>
      <p:sp>
        <p:nvSpPr>
          <p:cNvPr id="69635" name="Rectangle 3">
            <a:extLst>
              <a:ext uri="{FF2B5EF4-FFF2-40B4-BE49-F238E27FC236}">
                <a16:creationId xmlns:a16="http://schemas.microsoft.com/office/drawing/2014/main" id="{9D215D73-220E-4446-8F86-8E0F0D147FE0}"/>
              </a:ext>
            </a:extLst>
          </p:cNvPr>
          <p:cNvSpPr>
            <a:spLocks noGrp="1" noChangeArrowheads="1"/>
          </p:cNvSpPr>
          <p:nvPr>
            <p:ph idx="1"/>
          </p:nvPr>
        </p:nvSpPr>
        <p:spPr>
          <a:xfrm>
            <a:off x="1446662" y="1143001"/>
            <a:ext cx="9198591" cy="5349874"/>
          </a:xfrm>
        </p:spPr>
        <p:txBody>
          <a:bodyPr vert="horz" lIns="91440" tIns="45720" rIns="91440" bIns="45720" rtlCol="0">
            <a:normAutofit fontScale="92500" lnSpcReduction="10000"/>
          </a:bodyPr>
          <a:lstStyle/>
          <a:p>
            <a:pPr>
              <a:lnSpc>
                <a:spcPct val="150000"/>
              </a:lnSpc>
            </a:pPr>
            <a:r>
              <a:rPr lang="zh-CN" altLang="en-US" dirty="0"/>
              <a:t>又翻译为</a:t>
            </a:r>
            <a:r>
              <a:rPr lang="zh-CN" altLang="en-US" b="1" dirty="0"/>
              <a:t>通知</a:t>
            </a:r>
            <a:r>
              <a:rPr lang="zh-CN" altLang="en-US" dirty="0"/>
              <a:t>，</a:t>
            </a:r>
            <a:r>
              <a:rPr lang="zh-CN" altLang="en-US" dirty="0">
                <a:solidFill>
                  <a:srgbClr val="FF0000"/>
                </a:solidFill>
              </a:rPr>
              <a:t>定义了切面是什么以及何时使用</a:t>
            </a:r>
            <a:r>
              <a:rPr lang="zh-CN" altLang="en-US" dirty="0"/>
              <a:t>，描述了切面要完成的工作和何时需要执行这个工作。是织入到目标类连接点上的一段程序代码。增强包含了用于添加到目标连接点上的一段执行逻辑，又包含了用于定位连接点的方位信息。</a:t>
            </a:r>
            <a:endParaRPr lang="en-US" altLang="zh-CN" dirty="0"/>
          </a:p>
          <a:p>
            <a:pPr>
              <a:lnSpc>
                <a:spcPct val="150000"/>
              </a:lnSpc>
            </a:pPr>
            <a:r>
              <a:rPr lang="en-US" altLang="zh-CN" dirty="0"/>
              <a:t>spring</a:t>
            </a:r>
            <a:r>
              <a:rPr lang="zh-CN" altLang="en-US" dirty="0"/>
              <a:t>提供的增强接口都是带方位名：</a:t>
            </a:r>
            <a:r>
              <a:rPr lang="en-US" altLang="zh-CN" dirty="0" err="1"/>
              <a:t>BeforeAdvice</a:t>
            </a:r>
            <a:r>
              <a:rPr lang="zh-CN" altLang="en-US" dirty="0"/>
              <a:t>（表示方法调用前的位置）、</a:t>
            </a:r>
            <a:r>
              <a:rPr lang="en-US" altLang="zh-CN" dirty="0" err="1"/>
              <a:t>AfterReturningAdvice</a:t>
            </a:r>
            <a:r>
              <a:rPr lang="zh-CN" altLang="en-US" dirty="0"/>
              <a:t>（表示访问返回后的位置）、</a:t>
            </a:r>
            <a:r>
              <a:rPr lang="en-US" altLang="zh-CN" dirty="0" err="1"/>
              <a:t>ThrowAdvice</a:t>
            </a:r>
            <a:r>
              <a:rPr lang="zh-CN" altLang="en-US" dirty="0"/>
              <a:t>等等，所以只有结合切点和增强两者一起才能确定特定的连接点并实施增强逻辑。</a:t>
            </a:r>
            <a:endParaRPr lang="en-US" altLang="zh-CN" dirty="0"/>
          </a:p>
          <a:p>
            <a:pPr>
              <a:lnSpc>
                <a:spcPct val="150000"/>
              </a:lnSpc>
            </a:pPr>
            <a:r>
              <a:rPr lang="zh-CN" altLang="en-US" dirty="0"/>
              <a:t>切面</a:t>
            </a:r>
            <a:r>
              <a:rPr lang="en-US" altLang="zh-CN" dirty="0"/>
              <a:t>Aspect</a:t>
            </a:r>
            <a:r>
              <a:rPr lang="zh-CN" altLang="en-US" dirty="0"/>
              <a:t>包括</a:t>
            </a:r>
            <a:r>
              <a:rPr lang="en-US" altLang="zh-CN" dirty="0"/>
              <a:t>Advice</a:t>
            </a:r>
            <a:r>
              <a:rPr lang="zh-CN" altLang="en-US" dirty="0"/>
              <a:t>通知（增强）。</a:t>
            </a:r>
            <a:endParaRPr lang="zh-CN" altLang="en-US" b="1" dirty="0"/>
          </a:p>
          <a:p>
            <a:pPr>
              <a:lnSpc>
                <a:spcPct val="150000"/>
              </a:lnSpc>
            </a:pP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5D7FA4E-8B59-4BE5-B700-93D0C176237B}"/>
              </a:ext>
            </a:extLst>
          </p:cNvPr>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en-US" altLang="zh-CN" sz="2800" b="1">
                <a:solidFill>
                  <a:schemeClr val="tx1">
                    <a:lumMod val="75000"/>
                    <a:lumOff val="25000"/>
                  </a:schemeClr>
                </a:solidFill>
              </a:rPr>
              <a:t>Joinpoint</a:t>
            </a:r>
            <a:r>
              <a:rPr lang="zh-CN" altLang="en-US" sz="2800" b="1">
                <a:solidFill>
                  <a:schemeClr val="tx1">
                    <a:lumMod val="75000"/>
                    <a:lumOff val="25000"/>
                  </a:schemeClr>
                </a:solidFill>
              </a:rPr>
              <a:t>：连接点</a:t>
            </a:r>
            <a:r>
              <a:rPr lang="en-US" altLang="zh-CN" sz="2800" b="1">
                <a:solidFill>
                  <a:schemeClr val="tx1">
                    <a:lumMod val="75000"/>
                    <a:lumOff val="25000"/>
                  </a:schemeClr>
                </a:solidFill>
              </a:rPr>
              <a:t> </a:t>
            </a:r>
          </a:p>
        </p:txBody>
      </p:sp>
      <p:sp>
        <p:nvSpPr>
          <p:cNvPr id="71683" name="Rectangle 3">
            <a:extLst>
              <a:ext uri="{FF2B5EF4-FFF2-40B4-BE49-F238E27FC236}">
                <a16:creationId xmlns:a16="http://schemas.microsoft.com/office/drawing/2014/main" id="{B5F04991-7AB8-4287-B809-0D6A2E4545D6}"/>
              </a:ext>
            </a:extLst>
          </p:cNvPr>
          <p:cNvSpPr>
            <a:spLocks noGrp="1" noChangeArrowheads="1"/>
          </p:cNvSpPr>
          <p:nvPr>
            <p:ph idx="1"/>
          </p:nvPr>
        </p:nvSpPr>
        <p:spPr>
          <a:xfrm>
            <a:off x="1405719" y="1071563"/>
            <a:ext cx="8847944" cy="4837918"/>
          </a:xfrm>
        </p:spPr>
        <p:txBody>
          <a:bodyPr vert="horz" lIns="91440" tIns="45720" rIns="91440" bIns="45720" rtlCol="0">
            <a:normAutofit/>
          </a:bodyPr>
          <a:lstStyle/>
          <a:p>
            <a:pPr eaLnBrk="1" hangingPunct="1">
              <a:lnSpc>
                <a:spcPct val="150000"/>
              </a:lnSpc>
            </a:pPr>
            <a:r>
              <a:rPr lang="en-US" altLang="zh-CN" sz="2400" dirty="0"/>
              <a:t>Aspect</a:t>
            </a:r>
            <a:r>
              <a:rPr lang="zh-CN" altLang="en-US" sz="2400" dirty="0"/>
              <a:t>在应用程序执行时加入业务流程的点或时机称之为</a:t>
            </a:r>
            <a:r>
              <a:rPr lang="en-US" altLang="zh-CN" sz="2400" dirty="0" err="1">
                <a:solidFill>
                  <a:srgbClr val="FF0000"/>
                </a:solidFill>
              </a:rPr>
              <a:t>Joinpoint</a:t>
            </a:r>
            <a:r>
              <a:rPr lang="zh-CN" altLang="en-US" sz="2400" dirty="0">
                <a:solidFill>
                  <a:srgbClr val="FF0000"/>
                </a:solidFill>
              </a:rPr>
              <a:t>连接点</a:t>
            </a:r>
            <a:r>
              <a:rPr lang="zh-CN" altLang="en-US" sz="2400" dirty="0"/>
              <a:t>，具体来说，就是 </a:t>
            </a:r>
            <a:r>
              <a:rPr lang="en-US" altLang="zh-CN" sz="2400" dirty="0"/>
              <a:t>Advice</a:t>
            </a:r>
            <a:r>
              <a:rPr lang="zh-CN" altLang="en-US" sz="2400" dirty="0"/>
              <a:t>在应用程序中被执行的时机，这个时机可能是某个方法被执行之前或之后（或两者都有），或是某个异常发生的时候。</a:t>
            </a:r>
            <a:endParaRPr lang="en-US" altLang="zh-CN" sz="2400" dirty="0"/>
          </a:p>
          <a:p>
            <a:pPr eaLnBrk="1" hangingPunct="1">
              <a:lnSpc>
                <a:spcPct val="150000"/>
              </a:lnSpc>
            </a:pPr>
            <a:r>
              <a:rPr lang="zh-CN" altLang="en-US" sz="2400" dirty="0"/>
              <a:t>切入点匹配的执行点称作连接点。如果说切入点是查询条件，那连接点就是被选中的具体的查询结果。程序执行的某个特定位置，程序能够应用增强代码的一个“时机”，比如方法调用或者特定异常抛出</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846C169-DCCD-4C1E-98F6-D782ECE71105}"/>
              </a:ext>
            </a:extLst>
          </p:cNvPr>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en-US" altLang="zh-CN" sz="2800" b="1" dirty="0">
                <a:solidFill>
                  <a:schemeClr val="tx1">
                    <a:lumMod val="75000"/>
                    <a:lumOff val="25000"/>
                  </a:schemeClr>
                </a:solidFill>
              </a:rPr>
              <a:t>Pointcut</a:t>
            </a:r>
            <a:r>
              <a:rPr lang="zh-CN" altLang="en-US" sz="2800" b="1" dirty="0">
                <a:solidFill>
                  <a:schemeClr val="tx1">
                    <a:lumMod val="75000"/>
                    <a:lumOff val="25000"/>
                  </a:schemeClr>
                </a:solidFill>
              </a:rPr>
              <a:t>：切入点</a:t>
            </a:r>
            <a:r>
              <a:rPr lang="en-US" altLang="zh-CN" sz="2800" b="1" dirty="0">
                <a:solidFill>
                  <a:schemeClr val="tx1">
                    <a:lumMod val="75000"/>
                    <a:lumOff val="25000"/>
                  </a:schemeClr>
                </a:solidFill>
              </a:rPr>
              <a:t> </a:t>
            </a:r>
          </a:p>
        </p:txBody>
      </p:sp>
      <p:sp>
        <p:nvSpPr>
          <p:cNvPr id="73731" name="Rectangle 3">
            <a:extLst>
              <a:ext uri="{FF2B5EF4-FFF2-40B4-BE49-F238E27FC236}">
                <a16:creationId xmlns:a16="http://schemas.microsoft.com/office/drawing/2014/main" id="{A586DCF8-A45B-44E9-9FE9-6BD406B18ECB}"/>
              </a:ext>
            </a:extLst>
          </p:cNvPr>
          <p:cNvSpPr>
            <a:spLocks noGrp="1" noChangeArrowheads="1"/>
          </p:cNvSpPr>
          <p:nvPr>
            <p:ph idx="1"/>
          </p:nvPr>
        </p:nvSpPr>
        <p:spPr>
          <a:xfrm>
            <a:off x="1241946" y="1214437"/>
            <a:ext cx="8940279" cy="5278437"/>
          </a:xfrm>
        </p:spPr>
        <p:txBody>
          <a:bodyPr vert="horz" lIns="91440" tIns="45720" rIns="91440" bIns="45720" rtlCol="0">
            <a:normAutofit fontScale="77500" lnSpcReduction="20000"/>
          </a:bodyPr>
          <a:lstStyle/>
          <a:p>
            <a:pPr>
              <a:lnSpc>
                <a:spcPct val="150000"/>
              </a:lnSpc>
            </a:pPr>
            <a:r>
              <a:rPr lang="en-US" altLang="zh-CN" sz="3300" dirty="0"/>
              <a:t>Advice</a:t>
            </a:r>
            <a:r>
              <a:rPr lang="zh-CN" altLang="en-US" sz="3300" dirty="0"/>
              <a:t>定义了切面要发生“故事”和时间，那么切入点就定义了“故事”发生的地点。例如某个类或者方法名，</a:t>
            </a:r>
            <a:r>
              <a:rPr lang="en-US" altLang="zh-CN" sz="3300" dirty="0"/>
              <a:t>Spring</a:t>
            </a:r>
            <a:r>
              <a:rPr lang="zh-CN" altLang="en-US" sz="3300" dirty="0"/>
              <a:t>中允许我们使用正则来指定。</a:t>
            </a:r>
            <a:endParaRPr lang="en-US" altLang="zh-CN" sz="3300" dirty="0"/>
          </a:p>
          <a:p>
            <a:pPr>
              <a:lnSpc>
                <a:spcPct val="150000"/>
              </a:lnSpc>
            </a:pPr>
            <a:r>
              <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rPr>
              <a:t>切点（</a:t>
            </a: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pointcut</a:t>
            </a:r>
            <a:r>
              <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每个类都拥有多个连接点</a:t>
            </a:r>
            <a:r>
              <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rPr>
              <a:t>：例如 </a:t>
            </a:r>
            <a:r>
              <a:rPr lang="en-US" altLang="zh-CN" dirty="0" err="1"/>
              <a:t>UserServiceImpl</a:t>
            </a: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rPr>
              <a:t>的所有方法实际上都是连接点，即</a:t>
            </a:r>
            <a:r>
              <a:rPr lang="zh-CN" altLang="en-US" b="1" dirty="0">
                <a:latin typeface="Arial Unicode MS" panose="020B0604020202020204" pitchFamily="34" charset="-122"/>
                <a:ea typeface="Arial Unicode MS" panose="020B0604020202020204" pitchFamily="34" charset="-122"/>
                <a:cs typeface="Arial Unicode MS" panose="020B0604020202020204" pitchFamily="34" charset="-122"/>
              </a:rPr>
              <a:t>连接点是程序类中客观存在的事物</a:t>
            </a:r>
            <a:r>
              <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AOP </a:t>
            </a:r>
            <a:r>
              <a:rPr lang="zh-CN" altLang="en-US"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通过切点定位到特定的连接点。类比：连接点相当于数据库中的记录，切点相当于查询条件</a:t>
            </a:r>
            <a:r>
              <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3300" dirty="0"/>
              <a:t>切点和连接点不是一对一的关系，一个切点匹配多个连接点，切点通过 </a:t>
            </a:r>
            <a:r>
              <a:rPr lang="en-US" altLang="zh-CN" sz="3300" dirty="0" err="1"/>
              <a:t>org.springframework.aop.Pointcut</a:t>
            </a:r>
            <a:r>
              <a:rPr lang="en-US" altLang="zh-CN" sz="3300" dirty="0"/>
              <a:t> </a:t>
            </a:r>
            <a:r>
              <a:rPr lang="zh-CN" altLang="en-US" sz="3300" dirty="0"/>
              <a:t>接口进行描述，它使用类和方法作为连接点的查询条件。</a:t>
            </a:r>
            <a:endParaRPr lang="en-US" altLang="zh-CN" sz="3300" dirty="0"/>
          </a:p>
          <a:p>
            <a:pPr eaLnBrk="1" hangingPunct="1">
              <a:lnSpc>
                <a:spcPct val="150000"/>
              </a:lnSpc>
            </a:pP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9" name="Rectangle 3">
            <a:extLst>
              <a:ext uri="{FF2B5EF4-FFF2-40B4-BE49-F238E27FC236}">
                <a16:creationId xmlns:a16="http://schemas.microsoft.com/office/drawing/2014/main" id="{4EC7BD14-C761-4F8C-B445-1DB866AE9947}"/>
              </a:ext>
            </a:extLst>
          </p:cNvPr>
          <p:cNvSpPr>
            <a:spLocks noGrp="1" noChangeArrowheads="1"/>
          </p:cNvSpPr>
          <p:nvPr>
            <p:ph idx="1"/>
          </p:nvPr>
        </p:nvSpPr>
        <p:spPr/>
        <p:txBody>
          <a:bodyPr vert="horz" lIns="91440" tIns="45720" rIns="91440" bIns="45720" rtlCol="0">
            <a:normAutofit/>
          </a:bodyPr>
          <a:lstStyle/>
          <a:p>
            <a:pPr>
              <a:lnSpc>
                <a:spcPct val="150000"/>
              </a:lnSpc>
            </a:pPr>
            <a:r>
              <a:rPr lang="en-US" altLang="zh-CN" b="1" dirty="0">
                <a:solidFill>
                  <a:schemeClr val="tx1">
                    <a:lumMod val="75000"/>
                    <a:lumOff val="25000"/>
                  </a:schemeClr>
                </a:solidFill>
              </a:rPr>
              <a:t>Target</a:t>
            </a:r>
            <a:r>
              <a:rPr lang="zh-CN" altLang="en-US" b="1" dirty="0">
                <a:solidFill>
                  <a:schemeClr val="tx1">
                    <a:lumMod val="75000"/>
                    <a:lumOff val="25000"/>
                  </a:schemeClr>
                </a:solidFill>
              </a:rPr>
              <a:t>：目标，</a:t>
            </a:r>
            <a:r>
              <a:rPr lang="zh-CN" altLang="en-US" dirty="0"/>
              <a:t>增强逻辑的织入的目标类</a:t>
            </a:r>
            <a:endParaRPr lang="zh-CN" altLang="en-US" b="1" dirty="0"/>
          </a:p>
          <a:p>
            <a:pPr lvl="1">
              <a:lnSpc>
                <a:spcPct val="150000"/>
              </a:lnSpc>
            </a:pPr>
            <a:r>
              <a:rPr lang="zh-CN" altLang="en-US" dirty="0"/>
              <a:t>一个</a:t>
            </a:r>
            <a:r>
              <a:rPr lang="en-US" altLang="zh-CN" dirty="0"/>
              <a:t>Advice</a:t>
            </a:r>
            <a:r>
              <a:rPr lang="zh-CN" altLang="en-US" dirty="0"/>
              <a:t>被应用的对象或目标对象，例如</a:t>
            </a:r>
            <a:r>
              <a:rPr lang="en-US" altLang="zh-CN" dirty="0"/>
              <a:t>logger</a:t>
            </a:r>
            <a:r>
              <a:rPr lang="zh-CN" altLang="en-US" dirty="0"/>
              <a:t>项目中的</a:t>
            </a:r>
            <a:r>
              <a:rPr lang="en-US" altLang="zh-CN" sz="2800" dirty="0" err="1"/>
              <a:t>UserServiceImpl</a:t>
            </a:r>
            <a:r>
              <a:rPr lang="en-US" altLang="zh-CN" dirty="0"/>
              <a:t> </a:t>
            </a:r>
            <a:r>
              <a:rPr lang="zh-CN" altLang="en-US" dirty="0"/>
              <a:t>就是</a:t>
            </a:r>
            <a:r>
              <a:rPr lang="en-US" altLang="zh-CN" sz="2800" dirty="0" err="1"/>
              <a:t>UserServiceLogger</a:t>
            </a:r>
            <a:r>
              <a:rPr lang="zh-CN" altLang="en-US" dirty="0"/>
              <a:t>这个</a:t>
            </a:r>
            <a:r>
              <a:rPr lang="en-US" altLang="zh-CN" dirty="0"/>
              <a:t>Advice</a:t>
            </a:r>
            <a:r>
              <a:rPr lang="zh-CN" altLang="en-US" dirty="0"/>
              <a:t>的</a:t>
            </a:r>
            <a:r>
              <a:rPr lang="en-US" altLang="zh-CN" dirty="0"/>
              <a:t>Target</a:t>
            </a:r>
            <a:r>
              <a:rPr lang="zh-CN" altLang="en-US" dirty="0"/>
              <a:t>。</a:t>
            </a:r>
            <a:endParaRPr lang="en-US" altLang="zh-CN" dirty="0"/>
          </a:p>
          <a:p>
            <a:pPr>
              <a:lnSpc>
                <a:spcPct val="150000"/>
              </a:lnSpc>
            </a:pPr>
            <a:r>
              <a:rPr lang="zh-CN" altLang="en-US" b="1" dirty="0"/>
              <a:t>代理：</a:t>
            </a:r>
            <a:endParaRPr lang="en-US" altLang="zh-CN" b="1" dirty="0"/>
          </a:p>
          <a:p>
            <a:pPr lvl="1">
              <a:lnSpc>
                <a:spcPct val="150000"/>
              </a:lnSpc>
            </a:pPr>
            <a:r>
              <a:rPr lang="en-US" altLang="zh-CN" dirty="0"/>
              <a:t>AOP</a:t>
            </a:r>
            <a:r>
              <a:rPr lang="zh-CN" altLang="en-US" dirty="0"/>
              <a:t>框架创建的对象。一个类被</a:t>
            </a:r>
            <a:r>
              <a:rPr lang="en-US" altLang="zh-CN" dirty="0"/>
              <a:t>AOP</a:t>
            </a:r>
            <a:r>
              <a:rPr lang="zh-CN" altLang="en-US" dirty="0"/>
              <a:t>织入增强之后，就产生了一个结果类，它是融合了原类和增强逻辑的代理类。</a:t>
            </a:r>
          </a:p>
        </p:txBody>
      </p:sp>
      <p:sp>
        <p:nvSpPr>
          <p:cNvPr id="2" name="标题 1">
            <a:extLst>
              <a:ext uri="{FF2B5EF4-FFF2-40B4-BE49-F238E27FC236}">
                <a16:creationId xmlns:a16="http://schemas.microsoft.com/office/drawing/2014/main" id="{FE3CB52D-A6BF-60DD-35FE-1841B62C5EDB}"/>
              </a:ext>
            </a:extLst>
          </p:cNvPr>
          <p:cNvSpPr>
            <a:spLocks noGrp="1"/>
          </p:cNvSpPr>
          <p:nvPr>
            <p:ph type="title"/>
          </p:nvPr>
        </p:nvSpPr>
        <p:spPr/>
        <p:txBody>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439B7DD-9F20-4BE9-9CDD-98B6378290F6}"/>
              </a:ext>
            </a:extLst>
          </p:cNvPr>
          <p:cNvSpPr>
            <a:spLocks noGrp="1" noChangeArrowheads="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en-US" altLang="zh-CN" sz="2800" b="1">
                <a:solidFill>
                  <a:schemeClr val="tx1">
                    <a:lumMod val="75000"/>
                    <a:lumOff val="25000"/>
                  </a:schemeClr>
                </a:solidFill>
              </a:rPr>
              <a:t>AOP</a:t>
            </a:r>
            <a:r>
              <a:rPr lang="zh-CN" altLang="en-US" sz="2800" b="1">
                <a:solidFill>
                  <a:schemeClr val="tx1">
                    <a:lumMod val="75000"/>
                    <a:lumOff val="25000"/>
                  </a:schemeClr>
                </a:solidFill>
              </a:rPr>
              <a:t>的各个名词示意 </a:t>
            </a:r>
          </a:p>
        </p:txBody>
      </p:sp>
      <p:pic>
        <p:nvPicPr>
          <p:cNvPr id="83971" name="Picture 4">
            <a:extLst>
              <a:ext uri="{FF2B5EF4-FFF2-40B4-BE49-F238E27FC236}">
                <a16:creationId xmlns:a16="http://schemas.microsoft.com/office/drawing/2014/main" id="{97B172BD-B09F-4BEC-BD76-F5A4A7BBCB68}"/>
              </a:ext>
            </a:extLst>
          </p:cNvPr>
          <p:cNvPicPr>
            <a:picLocks noGrp="1" noChangeAspect="1" noChangeArrowheads="1"/>
          </p:cNvPicPr>
          <p:nvPr>
            <p:ph idx="1"/>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a:xfrm>
            <a:off x="2738439" y="1214439"/>
            <a:ext cx="6840537" cy="4668837"/>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p:txBody>
          <a:bodyPr/>
          <a:lstStyle/>
          <a:p>
            <a:r>
              <a:rPr lang="zh-CN" altLang="en-US" dirty="0"/>
              <a:t>怎样使用</a:t>
            </a:r>
            <a:r>
              <a:rPr lang="en-US" altLang="zh-CN" dirty="0"/>
              <a:t>AOP </a:t>
            </a:r>
          </a:p>
        </p:txBody>
      </p:sp>
      <p:pic>
        <p:nvPicPr>
          <p:cNvPr id="4098" name="Picture 2" descr="E:\work\A8\Y2-Spring\Chapter05截图\图5.9 使用Spring AOP实现日志功能.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308" y="1853962"/>
            <a:ext cx="10726313" cy="1318623"/>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7" name="Rectangle 34"/>
          <p:cNvSpPr>
            <a:spLocks noChangeArrowheads="1"/>
          </p:cNvSpPr>
          <p:nvPr/>
        </p:nvSpPr>
        <p:spPr bwMode="auto">
          <a:xfrm>
            <a:off x="911424" y="1842914"/>
            <a:ext cx="10753195" cy="486535"/>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8" name="Rectangle 34"/>
          <p:cNvSpPr>
            <a:spLocks noChangeArrowheads="1"/>
          </p:cNvSpPr>
          <p:nvPr/>
        </p:nvSpPr>
        <p:spPr bwMode="auto">
          <a:xfrm>
            <a:off x="911424" y="2654434"/>
            <a:ext cx="10753195" cy="486535"/>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9" name="AutoShape 6"/>
          <p:cNvSpPr>
            <a:spLocks noChangeArrowheads="1"/>
          </p:cNvSpPr>
          <p:nvPr/>
        </p:nvSpPr>
        <p:spPr bwMode="auto">
          <a:xfrm>
            <a:off x="8882584" y="3194474"/>
            <a:ext cx="3334520" cy="919401"/>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122764" lvl="1"/>
            <a:r>
              <a:rPr lang="zh-CN" altLang="en-US" sz="2400" dirty="0">
                <a:latin typeface="黑体" panose="02010609060101010101" pitchFamily="49" charset="-122"/>
                <a:ea typeface="黑体" panose="02010609060101010101" pitchFamily="49" charset="-122"/>
              </a:rPr>
              <a:t>在业务方法执行前后成功添加了日志功能</a:t>
            </a:r>
          </a:p>
        </p:txBody>
      </p:sp>
      <p:grpSp>
        <p:nvGrpSpPr>
          <p:cNvPr id="31" name="组合 30"/>
          <p:cNvGrpSpPr/>
          <p:nvPr/>
        </p:nvGrpSpPr>
        <p:grpSpPr>
          <a:xfrm>
            <a:off x="175145" y="1095367"/>
            <a:ext cx="527709" cy="679301"/>
            <a:chOff x="3569247" y="2423160"/>
            <a:chExt cx="395782" cy="509476"/>
          </a:xfrm>
        </p:grpSpPr>
        <p:sp>
          <p:nvSpPr>
            <p:cNvPr id="32" name="TextBox 65"/>
            <p:cNvSpPr txBox="1"/>
            <p:nvPr/>
          </p:nvSpPr>
          <p:spPr>
            <a:xfrm>
              <a:off x="3569247" y="2709545"/>
              <a:ext cx="395782" cy="223091"/>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示例</a:t>
              </a:r>
            </a:p>
          </p:txBody>
        </p:sp>
        <p:pic>
          <p:nvPicPr>
            <p:cNvPr id="33" name="图片 32" descr="C:\Users\Lenovo\Desktop\icon\电脑.png电脑"/>
            <p:cNvPicPr>
              <a:picLocks noChangeAspect="1"/>
            </p:cNvPicPr>
            <p:nvPr/>
          </p:nvPicPr>
          <p:blipFill>
            <a:blip r:embed="rId4"/>
            <a:srcRect/>
            <a:stretch>
              <a:fillRect/>
            </a:stretch>
          </p:blipFill>
          <p:spPr>
            <a:xfrm>
              <a:off x="3627438" y="2423160"/>
              <a:ext cx="279400" cy="278765"/>
            </a:xfrm>
            <a:prstGeom prst="rect">
              <a:avLst/>
            </a:prstGeom>
          </p:spPr>
        </p:pic>
      </p:grpSp>
      <p:grpSp>
        <p:nvGrpSpPr>
          <p:cNvPr id="34" name="组合 33"/>
          <p:cNvGrpSpPr/>
          <p:nvPr/>
        </p:nvGrpSpPr>
        <p:grpSpPr>
          <a:xfrm>
            <a:off x="-70533" y="3104725"/>
            <a:ext cx="870750" cy="712321"/>
            <a:chOff x="2192832" y="2418715"/>
            <a:chExt cx="653063" cy="534241"/>
          </a:xfrm>
        </p:grpSpPr>
        <p:sp>
          <p:nvSpPr>
            <p:cNvPr id="35" name="TextBox 65"/>
            <p:cNvSpPr txBox="1"/>
            <p:nvPr/>
          </p:nvSpPr>
          <p:spPr>
            <a:xfrm>
              <a:off x="2192832" y="2729865"/>
              <a:ext cx="653063" cy="223091"/>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实现步骤</a:t>
              </a:r>
            </a:p>
          </p:txBody>
        </p:sp>
        <p:pic>
          <p:nvPicPr>
            <p:cNvPr id="36" name="图片 35" descr="C:\Users\Lenovo\Desktop\icon\列表 (2).png列表 (2)"/>
            <p:cNvPicPr>
              <a:picLocks noChangeAspect="1"/>
            </p:cNvPicPr>
            <p:nvPr/>
          </p:nvPicPr>
          <p:blipFill>
            <a:blip r:embed="rId5"/>
            <a:srcRect/>
            <a:stretch>
              <a:fillRect/>
            </a:stretch>
          </p:blipFill>
          <p:spPr>
            <a:xfrm>
              <a:off x="2331721" y="2418715"/>
              <a:ext cx="375285" cy="375920"/>
            </a:xfrm>
            <a:prstGeom prst="rect">
              <a:avLst/>
            </a:prstGeom>
          </p:spPr>
        </p:pic>
      </p:grpSp>
      <p:grpSp>
        <p:nvGrpSpPr>
          <p:cNvPr id="37" name="组合 36"/>
          <p:cNvGrpSpPr/>
          <p:nvPr/>
        </p:nvGrpSpPr>
        <p:grpSpPr>
          <a:xfrm>
            <a:off x="1163117" y="6117299"/>
            <a:ext cx="8866708" cy="465013"/>
            <a:chOff x="1403648" y="3795886"/>
            <a:chExt cx="6008395" cy="348760"/>
          </a:xfrm>
        </p:grpSpPr>
        <p:sp>
          <p:nvSpPr>
            <p:cNvPr id="38" name="圆角矩形 37"/>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39" name="圆角矩形 38"/>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40" name="Picture 8" descr="说话气泡new"/>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Box 40"/>
            <p:cNvSpPr txBox="1"/>
            <p:nvPr/>
          </p:nvSpPr>
          <p:spPr bwMode="auto">
            <a:xfrm>
              <a:off x="1611118" y="3829223"/>
              <a:ext cx="5800925" cy="315423"/>
            </a:xfrm>
            <a:prstGeom prst="rect">
              <a:avLst/>
            </a:prstGeom>
            <a:noFill/>
            <a:effectLst/>
          </p:spPr>
          <p:txBody>
            <a:bodyPr wrap="squar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3</a:t>
              </a:r>
              <a:r>
                <a:rPr lang="zh-CN" altLang="en-US" sz="2133" b="1" spc="400" dirty="0">
                  <a:solidFill>
                    <a:srgbClr val="FBFFFE"/>
                  </a:solidFill>
                  <a:latin typeface="微软雅黑" pitchFamily="34" charset="-122"/>
                  <a:ea typeface="微软雅黑" pitchFamily="34" charset="-122"/>
                </a:rPr>
                <a:t>：使用</a:t>
              </a:r>
              <a:r>
                <a:rPr lang="en-US" altLang="zh-CN" sz="2133" b="1" spc="400" dirty="0" err="1">
                  <a:solidFill>
                    <a:srgbClr val="FBFFFE"/>
                  </a:solidFill>
                  <a:latin typeface="微软雅黑" pitchFamily="34" charset="-122"/>
                  <a:ea typeface="微软雅黑" pitchFamily="34" charset="-122"/>
                </a:rPr>
                <a:t>SpringAOP</a:t>
              </a:r>
              <a:r>
                <a:rPr lang="zh-CN" altLang="en-US" sz="2133" b="1" spc="400" dirty="0">
                  <a:solidFill>
                    <a:srgbClr val="FBFFFE"/>
                  </a:solidFill>
                  <a:latin typeface="微软雅黑" pitchFamily="34" charset="-122"/>
                  <a:ea typeface="微软雅黑" pitchFamily="34" charset="-122"/>
                </a:rPr>
                <a:t>实现日志功能（</a:t>
              </a:r>
              <a:r>
                <a:rPr lang="en-US" altLang="zh-CN" sz="2133" b="1" spc="400" dirty="0">
                  <a:solidFill>
                    <a:srgbClr val="FBFFFE"/>
                  </a:solidFill>
                  <a:latin typeface="微软雅黑" pitchFamily="34" charset="-122"/>
                  <a:ea typeface="微软雅黑" pitchFamily="34" charset="-122"/>
                </a:rPr>
                <a:t>logger</a:t>
              </a:r>
              <a:r>
                <a:rPr lang="zh-CN" altLang="en-US" sz="2133" b="1" spc="400" dirty="0">
                  <a:solidFill>
                    <a:srgbClr val="FBFFFE"/>
                  </a:solidFill>
                  <a:latin typeface="微软雅黑" pitchFamily="34" charset="-122"/>
                  <a:ea typeface="微软雅黑" pitchFamily="34" charset="-122"/>
                </a:rPr>
                <a:t>）</a:t>
              </a:r>
            </a:p>
          </p:txBody>
        </p:sp>
      </p:grpSp>
      <p:sp>
        <p:nvSpPr>
          <p:cNvPr id="6" name="矩形 5"/>
          <p:cNvSpPr/>
          <p:nvPr/>
        </p:nvSpPr>
        <p:spPr>
          <a:xfrm>
            <a:off x="815414" y="3612502"/>
            <a:ext cx="9706852" cy="2490362"/>
          </a:xfrm>
          <a:prstGeom prst="rect">
            <a:avLst/>
          </a:prstGeom>
        </p:spPr>
        <p:txBody>
          <a:bodyPr wrap="square">
            <a:spAutoFit/>
          </a:bodyPr>
          <a:lstStyle/>
          <a:p>
            <a:pPr marL="478355" lvl="1" indent="-478355">
              <a:lnSpc>
                <a:spcPct val="150000"/>
              </a:lnSpc>
              <a:buClr>
                <a:schemeClr val="tx1"/>
              </a:buClr>
              <a:buFont typeface="+mj-lt"/>
              <a:buAutoNum type="arabicPeriod"/>
              <a:defRPr/>
            </a:pPr>
            <a:r>
              <a:rPr lang="zh-CN" altLang="en-US" sz="2667" b="1" dirty="0">
                <a:ea typeface="微软雅黑" panose="020B0503020204020204" pitchFamily="34" charset="-122"/>
              </a:rPr>
              <a:t>在项目中添加</a:t>
            </a:r>
            <a:r>
              <a:rPr lang="en-US" altLang="zh-CN" sz="2667" b="1" dirty="0">
                <a:ea typeface="微软雅黑" panose="020B0503020204020204" pitchFamily="34" charset="-122"/>
              </a:rPr>
              <a:t>Spring AOP</a:t>
            </a:r>
            <a:r>
              <a:rPr lang="zh-CN" altLang="en-US" sz="2667" b="1" dirty="0">
                <a:ea typeface="微软雅黑" panose="020B0503020204020204" pitchFamily="34" charset="-122"/>
              </a:rPr>
              <a:t>的</a:t>
            </a:r>
            <a:r>
              <a:rPr lang="en-US" altLang="zh-CN" sz="2667" b="1" dirty="0">
                <a:ea typeface="微软雅黑" panose="020B0503020204020204" pitchFamily="34" charset="-122"/>
              </a:rPr>
              <a:t>jar</a:t>
            </a:r>
            <a:r>
              <a:rPr lang="zh-CN" altLang="en-US" sz="2667" b="1" dirty="0">
                <a:ea typeface="微软雅黑" panose="020B0503020204020204" pitchFamily="34" charset="-122"/>
              </a:rPr>
              <a:t>文件</a:t>
            </a:r>
            <a:endParaRPr lang="en-US" altLang="zh-CN" sz="2667" b="1" dirty="0">
              <a:ea typeface="微软雅黑" panose="020B0503020204020204" pitchFamily="34" charset="-122"/>
            </a:endParaRPr>
          </a:p>
          <a:p>
            <a:pPr marL="478355" lvl="1" indent="-478355">
              <a:lnSpc>
                <a:spcPct val="150000"/>
              </a:lnSpc>
              <a:buClr>
                <a:schemeClr val="tx1"/>
              </a:buClr>
              <a:buFont typeface="+mj-lt"/>
              <a:buAutoNum type="arabicPeriod"/>
              <a:defRPr/>
            </a:pPr>
            <a:r>
              <a:rPr lang="zh-CN" altLang="zh-CN" sz="2667" b="1" dirty="0">
                <a:ea typeface="微软雅黑" panose="020B0503020204020204" pitchFamily="34" charset="-122"/>
              </a:rPr>
              <a:t>编写前置增强和后置增强实现日志功能</a:t>
            </a:r>
            <a:endParaRPr lang="en-US" altLang="zh-CN" sz="2667" b="1" dirty="0">
              <a:ea typeface="微软雅黑" panose="020B0503020204020204" pitchFamily="34" charset="-122"/>
            </a:endParaRPr>
          </a:p>
          <a:p>
            <a:pPr marL="478355" lvl="1" indent="-478355">
              <a:lnSpc>
                <a:spcPct val="150000"/>
              </a:lnSpc>
              <a:buClr>
                <a:schemeClr val="tx1"/>
              </a:buClr>
              <a:buFont typeface="+mj-lt"/>
              <a:buAutoNum type="arabicPeriod"/>
              <a:defRPr/>
            </a:pPr>
            <a:r>
              <a:rPr lang="zh-CN" altLang="zh-CN" sz="2667" b="1" dirty="0">
                <a:ea typeface="微软雅黑" panose="020B0503020204020204" pitchFamily="34" charset="-122"/>
              </a:rPr>
              <a:t>编写</a:t>
            </a:r>
            <a:r>
              <a:rPr lang="en-US" altLang="zh-CN" sz="2667" b="1" dirty="0">
                <a:ea typeface="微软雅黑" panose="020B0503020204020204" pitchFamily="34" charset="-122"/>
              </a:rPr>
              <a:t>Spring</a:t>
            </a:r>
            <a:r>
              <a:rPr lang="zh-CN" altLang="zh-CN" sz="2667" b="1" dirty="0">
                <a:ea typeface="微软雅黑" panose="020B0503020204020204" pitchFamily="34" charset="-122"/>
              </a:rPr>
              <a:t>配置文件，对业务方法进行增强处理</a:t>
            </a:r>
            <a:endParaRPr lang="en-US" altLang="zh-CN" sz="2667" b="1" dirty="0">
              <a:ea typeface="微软雅黑" panose="020B0503020204020204" pitchFamily="34" charset="-122"/>
            </a:endParaRPr>
          </a:p>
          <a:p>
            <a:pPr marL="478355" lvl="1" indent="-478355">
              <a:lnSpc>
                <a:spcPct val="150000"/>
              </a:lnSpc>
              <a:buClr>
                <a:schemeClr val="tx1"/>
              </a:buClr>
              <a:buFont typeface="+mj-lt"/>
              <a:buAutoNum type="arabicPeriod"/>
              <a:defRPr/>
            </a:pPr>
            <a:r>
              <a:rPr lang="zh-CN" altLang="zh-CN" sz="2667" b="1" dirty="0">
                <a:ea typeface="微软雅黑" panose="020B0503020204020204" pitchFamily="34" charset="-122"/>
              </a:rPr>
              <a:t>编写代码获取带有增强处理的业务对象</a:t>
            </a:r>
            <a:endParaRPr lang="zh-CN" altLang="en-US" sz="2667" b="1" dirty="0">
              <a:ea typeface="微软雅黑" panose="020B0503020204020204" pitchFamily="34" charset="-122"/>
            </a:endParaRPr>
          </a:p>
        </p:txBody>
      </p:sp>
      <p:sp>
        <p:nvSpPr>
          <p:cNvPr id="8" name="矩形 7"/>
          <p:cNvSpPr/>
          <p:nvPr/>
        </p:nvSpPr>
        <p:spPr>
          <a:xfrm>
            <a:off x="911424" y="1124744"/>
            <a:ext cx="8101235" cy="584775"/>
          </a:xfrm>
          <a:prstGeom prst="rect">
            <a:avLst/>
          </a:prstGeom>
        </p:spPr>
        <p:txBody>
          <a:bodyPr wrap="square">
            <a:spAutoFit/>
          </a:bodyPr>
          <a:lstStyle/>
          <a:p>
            <a:pPr marL="380990" indent="-380990">
              <a:buFont typeface="Wingdings" panose="05000000000000000000" pitchFamily="2" charset="2"/>
              <a:buChar char="u"/>
              <a:defRPr/>
            </a:pPr>
            <a:r>
              <a:rPr lang="zh-CN" altLang="en-US" sz="3200" b="1" dirty="0">
                <a:solidFill>
                  <a:srgbClr val="009ADA"/>
                </a:solidFill>
                <a:latin typeface="微软雅黑" panose="020B0503020204020204" pitchFamily="34" charset="-122"/>
                <a:ea typeface="微软雅黑" panose="020B0503020204020204" pitchFamily="34" charset="-122"/>
              </a:rPr>
              <a:t>使用</a:t>
            </a:r>
            <a:r>
              <a:rPr lang="en-US" altLang="zh-CN" sz="3200" b="1" dirty="0">
                <a:solidFill>
                  <a:srgbClr val="009ADA"/>
                </a:solidFill>
                <a:latin typeface="微软雅黑" panose="020B0503020204020204" pitchFamily="34" charset="-122"/>
                <a:ea typeface="微软雅黑" panose="020B0503020204020204" pitchFamily="34" charset="-122"/>
              </a:rPr>
              <a:t>Spring AOP</a:t>
            </a:r>
            <a:r>
              <a:rPr lang="zh-CN" altLang="en-US" sz="3200" b="1" dirty="0">
                <a:solidFill>
                  <a:srgbClr val="009ADA"/>
                </a:solidFill>
                <a:latin typeface="微软雅黑" panose="020B0503020204020204" pitchFamily="34" charset="-122"/>
                <a:ea typeface="微软雅黑" panose="020B0503020204020204" pitchFamily="34" charset="-122"/>
              </a:rPr>
              <a:t>实现日志输出</a:t>
            </a:r>
          </a:p>
        </p:txBody>
      </p:sp>
    </p:spTree>
    <p:extLst>
      <p:ext uri="{BB962C8B-B14F-4D97-AF65-F5344CB8AC3E}">
        <p14:creationId xmlns:p14="http://schemas.microsoft.com/office/powerpoint/2010/main" val="3833921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left)">
                                      <p:cBhvr>
                                        <p:cTn id="20" dur="500"/>
                                        <p:tgtEl>
                                          <p:spTgt spid="34"/>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wipe(left)">
                                      <p:cBhvr>
                                        <p:cTn id="24" dur="500"/>
                                        <p:tgtEl>
                                          <p:spTgt spid="6">
                                            <p:txEl>
                                              <p:pRg st="0" end="0"/>
                                            </p:txEl>
                                          </p:spTgt>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wipe(left)">
                                      <p:cBhvr>
                                        <p:cTn id="28" dur="500"/>
                                        <p:tgtEl>
                                          <p:spTgt spid="6">
                                            <p:txEl>
                                              <p:pRg st="1" end="1"/>
                                            </p:txEl>
                                          </p:spTgt>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wipe(left)">
                                      <p:cBhvr>
                                        <p:cTn id="32" dur="500"/>
                                        <p:tgtEl>
                                          <p:spTgt spid="6">
                                            <p:txEl>
                                              <p:pRg st="2" end="2"/>
                                            </p:txEl>
                                          </p:spTgt>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6">
                                            <p:txEl>
                                              <p:pRg st="3" end="3"/>
                                            </p:txEl>
                                          </p:spTgt>
                                        </p:tgtEl>
                                        <p:attrNameLst>
                                          <p:attrName>style.visibility</p:attrName>
                                        </p:attrNameLst>
                                      </p:cBhvr>
                                      <p:to>
                                        <p:strVal val="visible"/>
                                      </p:to>
                                    </p:set>
                                    <p:animEffect transition="in" filter="wipe(left)">
                                      <p:cBhvr>
                                        <p:cTn id="36" dur="500"/>
                                        <p:tgtEl>
                                          <p:spTgt spid="6">
                                            <p:txEl>
                                              <p:pRg st="3" end="3"/>
                                            </p:txEl>
                                          </p:spTgt>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left)">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E4B5F2-1B69-5162-67F8-2F432CD8A9FE}"/>
              </a:ext>
            </a:extLst>
          </p:cNvPr>
          <p:cNvSpPr>
            <a:spLocks noGrp="1"/>
          </p:cNvSpPr>
          <p:nvPr>
            <p:ph type="title"/>
          </p:nvPr>
        </p:nvSpPr>
        <p:spPr/>
        <p:txBody>
          <a:bodyPr/>
          <a:lstStyle/>
          <a:p>
            <a:r>
              <a:rPr lang="zh-CN" altLang="en-US" sz="3200" dirty="0"/>
              <a:t>或利用</a:t>
            </a:r>
            <a:r>
              <a:rPr lang="en-US" altLang="zh-CN" sz="3200" dirty="0"/>
              <a:t>Maven</a:t>
            </a:r>
            <a:r>
              <a:rPr lang="zh-CN" altLang="en-US" sz="3200" dirty="0"/>
              <a:t>添加</a:t>
            </a:r>
            <a:r>
              <a:rPr lang="en-US" altLang="zh-CN" sz="3200" dirty="0"/>
              <a:t>Spring</a:t>
            </a:r>
            <a:r>
              <a:rPr lang="zh-CN" altLang="en-US" sz="3200" dirty="0"/>
              <a:t>依赖</a:t>
            </a:r>
            <a:endParaRPr lang="zh-CN" altLang="en-US" dirty="0"/>
          </a:p>
        </p:txBody>
      </p:sp>
      <p:pic>
        <p:nvPicPr>
          <p:cNvPr id="8" name="图片 7">
            <a:extLst>
              <a:ext uri="{FF2B5EF4-FFF2-40B4-BE49-F238E27FC236}">
                <a16:creationId xmlns:a16="http://schemas.microsoft.com/office/drawing/2014/main" id="{B3F51414-B960-0ECA-C0A8-93230B8F6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399" y="4519683"/>
            <a:ext cx="4419600" cy="1733550"/>
          </a:xfrm>
          <a:prstGeom prst="rect">
            <a:avLst/>
          </a:prstGeom>
        </p:spPr>
      </p:pic>
      <p:pic>
        <p:nvPicPr>
          <p:cNvPr id="10" name="图片 9">
            <a:extLst>
              <a:ext uri="{FF2B5EF4-FFF2-40B4-BE49-F238E27FC236}">
                <a16:creationId xmlns:a16="http://schemas.microsoft.com/office/drawing/2014/main" id="{3D4958C4-AD22-ADD6-68AE-ECAF1DA091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212" y="1478792"/>
            <a:ext cx="9553575" cy="2781300"/>
          </a:xfrm>
          <a:prstGeom prst="rect">
            <a:avLst/>
          </a:prstGeom>
        </p:spPr>
      </p:pic>
    </p:spTree>
    <p:extLst>
      <p:ext uri="{BB962C8B-B14F-4D97-AF65-F5344CB8AC3E}">
        <p14:creationId xmlns:p14="http://schemas.microsoft.com/office/powerpoint/2010/main" val="2963758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a:xfrm>
            <a:off x="396502" y="260649"/>
            <a:ext cx="10914380" cy="672075"/>
          </a:xfrm>
        </p:spPr>
        <p:txBody>
          <a:bodyPr/>
          <a:lstStyle/>
          <a:p>
            <a:r>
              <a:rPr lang="zh-CN" altLang="en-US" dirty="0"/>
              <a:t>怎样使用</a:t>
            </a:r>
            <a:r>
              <a:rPr lang="en-US" altLang="zh-CN" dirty="0"/>
              <a:t>AOP </a:t>
            </a:r>
          </a:p>
        </p:txBody>
      </p:sp>
      <p:sp>
        <p:nvSpPr>
          <p:cNvPr id="817155" name="Rectangle 3"/>
          <p:cNvSpPr>
            <a:spLocks noGrp="1" noChangeArrowheads="1"/>
          </p:cNvSpPr>
          <p:nvPr>
            <p:ph idx="1"/>
          </p:nvPr>
        </p:nvSpPr>
        <p:spPr>
          <a:xfrm>
            <a:off x="239350" y="932724"/>
            <a:ext cx="10350500" cy="4946531"/>
          </a:xfrm>
        </p:spPr>
        <p:txBody>
          <a:bodyPr/>
          <a:lstStyle/>
          <a:p>
            <a:pPr lvl="1">
              <a:buFont typeface="Wingdings" panose="05000000000000000000" pitchFamily="2" charset="2"/>
              <a:buChar char="u"/>
            </a:pPr>
            <a:r>
              <a:rPr lang="zh-CN" altLang="en-US" b="1" dirty="0">
                <a:solidFill>
                  <a:srgbClr val="009ADA"/>
                </a:solidFill>
              </a:rPr>
              <a:t>目标方法</a:t>
            </a:r>
            <a:endParaRPr lang="en-US" altLang="zh-CN" b="1" dirty="0">
              <a:solidFill>
                <a:srgbClr val="009ADA"/>
              </a:solidFill>
            </a:endParaRPr>
          </a:p>
          <a:p>
            <a:pPr lvl="1">
              <a:buFont typeface="Wingdings" panose="05000000000000000000" pitchFamily="2" charset="2"/>
              <a:buChar char="u"/>
            </a:pPr>
            <a:endParaRPr lang="en-US" altLang="zh-CN" dirty="0"/>
          </a:p>
          <a:p>
            <a:pPr lvl="1"/>
            <a:endParaRPr lang="en-US" altLang="zh-CN" dirty="0"/>
          </a:p>
          <a:p>
            <a:pPr marL="609585" lvl="1" indent="0">
              <a:buNone/>
            </a:pPr>
            <a:endParaRPr lang="en-US" altLang="zh-CN" dirty="0"/>
          </a:p>
          <a:p>
            <a:pPr lvl="1">
              <a:buFont typeface="Wingdings" panose="05000000000000000000" pitchFamily="2" charset="2"/>
              <a:buChar char="u"/>
            </a:pPr>
            <a:r>
              <a:rPr lang="zh-CN" altLang="en-US" b="1" dirty="0">
                <a:solidFill>
                  <a:srgbClr val="009ADA"/>
                </a:solidFill>
              </a:rPr>
              <a:t>增强处理</a:t>
            </a:r>
            <a:endParaRPr lang="en-US" altLang="zh-CN" b="1" dirty="0">
              <a:solidFill>
                <a:srgbClr val="009ADA"/>
              </a:solidFill>
            </a:endParaRPr>
          </a:p>
        </p:txBody>
      </p:sp>
      <p:sp>
        <p:nvSpPr>
          <p:cNvPr id="25" name="AutoShape 4"/>
          <p:cNvSpPr>
            <a:spLocks noChangeArrowheads="1"/>
          </p:cNvSpPr>
          <p:nvPr/>
        </p:nvSpPr>
        <p:spPr bwMode="auto">
          <a:xfrm>
            <a:off x="1391477" y="1431345"/>
            <a:ext cx="9853264" cy="1569660"/>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buClr>
                <a:schemeClr val="folHlink"/>
              </a:buClr>
              <a:buSzPct val="60000"/>
            </a:pPr>
            <a:r>
              <a:rPr lang="en-US" altLang="zh-CN" sz="1600" b="1" dirty="0">
                <a:solidFill>
                  <a:schemeClr val="accent5">
                    <a:lumMod val="10000"/>
                  </a:schemeClr>
                </a:solidFill>
              </a:rPr>
              <a:t>public class </a:t>
            </a:r>
            <a:r>
              <a:rPr lang="en-US" altLang="zh-CN" sz="1600" b="1" dirty="0" err="1">
                <a:solidFill>
                  <a:schemeClr val="accent5">
                    <a:lumMod val="10000"/>
                  </a:schemeClr>
                </a:solidFill>
              </a:rPr>
              <a:t>UserServiceImpl</a:t>
            </a:r>
            <a:r>
              <a:rPr lang="en-US" altLang="zh-CN" sz="1600" b="1" dirty="0">
                <a:solidFill>
                  <a:schemeClr val="accent5">
                    <a:lumMod val="10000"/>
                  </a:schemeClr>
                </a:solidFill>
              </a:rPr>
              <a:t> implements </a:t>
            </a:r>
            <a:r>
              <a:rPr lang="en-US" altLang="zh-CN" sz="1600" b="1" dirty="0" err="1">
                <a:solidFill>
                  <a:schemeClr val="accent5">
                    <a:lumMod val="10000"/>
                  </a:schemeClr>
                </a:solidFill>
              </a:rPr>
              <a:t>UserService</a:t>
            </a: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r>
              <a:rPr lang="zh-CN" altLang="en-US" sz="1600" b="1" dirty="0">
                <a:solidFill>
                  <a:schemeClr val="accent5">
                    <a:lumMod val="10000"/>
                  </a:schemeClr>
                </a:solidFill>
              </a:rPr>
              <a:t>省略代码</a:t>
            </a: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public void </a:t>
            </a:r>
            <a:r>
              <a:rPr lang="en-US" altLang="zh-CN" sz="1600" b="1" dirty="0" err="1">
                <a:solidFill>
                  <a:schemeClr val="accent5">
                    <a:lumMod val="10000"/>
                  </a:schemeClr>
                </a:solidFill>
              </a:rPr>
              <a:t>addNewUser</a:t>
            </a:r>
            <a:r>
              <a:rPr lang="en-US" altLang="zh-CN" sz="1600" b="1" dirty="0">
                <a:solidFill>
                  <a:schemeClr val="accent5">
                    <a:lumMod val="10000"/>
                  </a:schemeClr>
                </a:solidFill>
              </a:rPr>
              <a:t>(User user)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r>
              <a:rPr lang="en-US" altLang="zh-CN" sz="1600" b="1" dirty="0" err="1">
                <a:solidFill>
                  <a:schemeClr val="accent5">
                    <a:lumMod val="10000"/>
                  </a:schemeClr>
                </a:solidFill>
              </a:rPr>
              <a:t>dao.save</a:t>
            </a:r>
            <a:r>
              <a:rPr lang="en-US" altLang="zh-CN" sz="1600" b="1" dirty="0">
                <a:solidFill>
                  <a:schemeClr val="accent5">
                    <a:lumMod val="10000"/>
                  </a:schemeClr>
                </a:solidFill>
              </a:rPr>
              <a:t>(user);</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a:t>
            </a:r>
          </a:p>
        </p:txBody>
      </p:sp>
      <p:sp>
        <p:nvSpPr>
          <p:cNvPr id="19" name="AutoShape 6"/>
          <p:cNvSpPr>
            <a:spLocks noChangeArrowheads="1"/>
          </p:cNvSpPr>
          <p:nvPr/>
        </p:nvSpPr>
        <p:spPr bwMode="auto">
          <a:xfrm>
            <a:off x="8208235" y="3274358"/>
            <a:ext cx="1464204"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前置增强</a:t>
            </a:r>
          </a:p>
        </p:txBody>
      </p:sp>
      <p:sp>
        <p:nvSpPr>
          <p:cNvPr id="26" name="AutoShape 4"/>
          <p:cNvSpPr>
            <a:spLocks noChangeArrowheads="1"/>
          </p:cNvSpPr>
          <p:nvPr/>
        </p:nvSpPr>
        <p:spPr bwMode="auto">
          <a:xfrm>
            <a:off x="1391478" y="3765809"/>
            <a:ext cx="10561173" cy="2800767"/>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buClr>
                <a:schemeClr val="folHlink"/>
              </a:buClr>
              <a:buSzPct val="60000"/>
            </a:pPr>
            <a:r>
              <a:rPr lang="en-US" altLang="zh-CN" sz="1600" b="1" dirty="0">
                <a:solidFill>
                  <a:schemeClr val="accent5">
                    <a:lumMod val="10000"/>
                  </a:schemeClr>
                </a:solidFill>
              </a:rPr>
              <a:t>public class </a:t>
            </a:r>
            <a:r>
              <a:rPr lang="en-US" altLang="zh-CN" sz="1600" b="1" dirty="0" err="1">
                <a:solidFill>
                  <a:schemeClr val="accent5">
                    <a:lumMod val="10000"/>
                  </a:schemeClr>
                </a:solidFill>
              </a:rPr>
              <a:t>UserServiceLogger</a:t>
            </a: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private static Logger log=</a:t>
            </a:r>
            <a:r>
              <a:rPr lang="en-US" altLang="zh-CN" sz="1600" b="1" dirty="0" err="1">
                <a:solidFill>
                  <a:schemeClr val="accent5">
                    <a:lumMod val="10000"/>
                  </a:schemeClr>
                </a:solidFill>
              </a:rPr>
              <a:t>Logger.getLogger</a:t>
            </a:r>
            <a:r>
              <a:rPr lang="en-US" altLang="zh-CN" sz="1600" b="1" dirty="0">
                <a:solidFill>
                  <a:schemeClr val="accent5">
                    <a:lumMod val="10000"/>
                  </a:schemeClr>
                </a:solidFill>
              </a:rPr>
              <a:t>(</a:t>
            </a:r>
            <a:r>
              <a:rPr lang="en-US" altLang="zh-CN" sz="1600" b="1" dirty="0" err="1">
                <a:solidFill>
                  <a:schemeClr val="accent5">
                    <a:lumMod val="10000"/>
                  </a:schemeClr>
                </a:solidFill>
              </a:rPr>
              <a:t>UserServiceLogger.class</a:t>
            </a:r>
            <a:r>
              <a:rPr lang="en-US" altLang="zh-CN" sz="1600" b="1" dirty="0">
                <a:solidFill>
                  <a:schemeClr val="accent5">
                    <a:lumMod val="10000"/>
                  </a:schemeClr>
                </a:solidFill>
              </a:rPr>
              <a:t>);</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public void before</a:t>
            </a:r>
            <a:r>
              <a:rPr lang="en-US" altLang="zh-CN" sz="1600" b="1" dirty="0">
                <a:solidFill>
                  <a:srgbClr val="FF0000"/>
                </a:solidFill>
              </a:rPr>
              <a:t>(</a:t>
            </a:r>
            <a:r>
              <a:rPr lang="en-US" altLang="zh-CN" sz="1600" b="1" dirty="0" err="1">
                <a:solidFill>
                  <a:srgbClr val="FF0000"/>
                </a:solidFill>
              </a:rPr>
              <a:t>JoinPoint</a:t>
            </a:r>
            <a:r>
              <a:rPr lang="en-US" altLang="zh-CN" sz="1600" b="1" dirty="0">
                <a:solidFill>
                  <a:srgbClr val="FF0000"/>
                </a:solidFill>
              </a:rPr>
              <a:t> </a:t>
            </a:r>
            <a:r>
              <a:rPr lang="en-US" altLang="zh-CN" sz="1600" b="1" dirty="0" err="1">
                <a:solidFill>
                  <a:srgbClr val="FF0000"/>
                </a:solidFill>
              </a:rPr>
              <a:t>jp</a:t>
            </a: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log.info("</a:t>
            </a:r>
            <a:r>
              <a:rPr lang="zh-CN" altLang="zh-CN" sz="1600" b="1" dirty="0">
                <a:solidFill>
                  <a:schemeClr val="accent5">
                    <a:lumMod val="10000"/>
                  </a:schemeClr>
                </a:solidFill>
              </a:rPr>
              <a:t>调用</a:t>
            </a:r>
            <a:r>
              <a:rPr lang="en-US" altLang="zh-CN" sz="1600" b="1" dirty="0">
                <a:solidFill>
                  <a:schemeClr val="accent5">
                    <a:lumMod val="10000"/>
                  </a:schemeClr>
                </a:solidFill>
              </a:rPr>
              <a:t> " + </a:t>
            </a:r>
            <a:r>
              <a:rPr lang="en-US" altLang="zh-CN" sz="1600" b="1" dirty="0" err="1">
                <a:solidFill>
                  <a:schemeClr val="accent5">
                    <a:lumMod val="10000"/>
                  </a:schemeClr>
                </a:solidFill>
              </a:rPr>
              <a:t>jp.getTarget</a:t>
            </a:r>
            <a:r>
              <a:rPr lang="en-US" altLang="zh-CN" sz="1600" b="1" dirty="0">
                <a:solidFill>
                  <a:schemeClr val="accent5">
                    <a:lumMod val="10000"/>
                  </a:schemeClr>
                </a:solidFill>
              </a:rPr>
              <a:t>() + " </a:t>
            </a:r>
            <a:r>
              <a:rPr lang="zh-CN" altLang="zh-CN" sz="1600" b="1" dirty="0">
                <a:solidFill>
                  <a:schemeClr val="accent5">
                    <a:lumMod val="10000"/>
                  </a:schemeClr>
                </a:solidFill>
              </a:rPr>
              <a:t>的</a:t>
            </a:r>
            <a:r>
              <a:rPr lang="en-US" altLang="zh-CN" sz="1600" b="1" dirty="0">
                <a:solidFill>
                  <a:schemeClr val="accent5">
                    <a:lumMod val="10000"/>
                  </a:schemeClr>
                </a:solidFill>
              </a:rPr>
              <a:t> " + </a:t>
            </a:r>
            <a:r>
              <a:rPr lang="en-US" altLang="zh-CN" sz="1600" b="1" dirty="0" err="1">
                <a:solidFill>
                  <a:schemeClr val="accent5">
                    <a:lumMod val="10000"/>
                  </a:schemeClr>
                </a:solidFill>
              </a:rPr>
              <a:t>jp.getSignature</a:t>
            </a:r>
            <a:r>
              <a:rPr lang="en-US" altLang="zh-CN" sz="1600" b="1" dirty="0">
                <a:solidFill>
                  <a:schemeClr val="accent5">
                    <a:lumMod val="10000"/>
                  </a:schemeClr>
                </a:solidFill>
              </a:rPr>
              <a:t>().</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r>
              <a:rPr lang="en-US" altLang="zh-CN" sz="1600" b="1" dirty="0" err="1">
                <a:solidFill>
                  <a:schemeClr val="accent5">
                    <a:lumMod val="10000"/>
                  </a:schemeClr>
                </a:solidFill>
              </a:rPr>
              <a:t>getName</a:t>
            </a:r>
            <a:r>
              <a:rPr lang="en-US" altLang="zh-CN" sz="1600" b="1" dirty="0">
                <a:solidFill>
                  <a:schemeClr val="accent5">
                    <a:lumMod val="10000"/>
                  </a:schemeClr>
                </a:solidFill>
              </a:rPr>
              <a:t>() + " </a:t>
            </a:r>
            <a:r>
              <a:rPr lang="zh-CN" altLang="zh-CN" sz="1600" b="1" dirty="0">
                <a:solidFill>
                  <a:schemeClr val="accent5">
                    <a:lumMod val="10000"/>
                  </a:schemeClr>
                </a:solidFill>
              </a:rPr>
              <a:t>方法。方法入参：</a:t>
            </a:r>
            <a:r>
              <a:rPr lang="en-US" altLang="zh-CN" sz="1600" b="1" dirty="0">
                <a:solidFill>
                  <a:schemeClr val="accent5">
                    <a:lumMod val="10000"/>
                  </a:schemeClr>
                </a:solidFill>
              </a:rPr>
              <a:t>" + </a:t>
            </a:r>
            <a:r>
              <a:rPr lang="en-US" altLang="zh-CN" sz="1600" b="1" dirty="0" err="1">
                <a:solidFill>
                  <a:schemeClr val="accent5">
                    <a:lumMod val="10000"/>
                  </a:schemeClr>
                </a:solidFill>
              </a:rPr>
              <a:t>Arrays.toStrin</a:t>
            </a:r>
            <a:r>
              <a:rPr lang="en-US" altLang="zh-CN" sz="1600" b="1" dirty="0" err="1">
                <a:solidFill>
                  <a:srgbClr val="FF0000"/>
                </a:solidFill>
              </a:rPr>
              <a:t>g</a:t>
            </a:r>
            <a:r>
              <a:rPr lang="en-US" altLang="zh-CN" sz="1600" b="1" dirty="0">
                <a:solidFill>
                  <a:srgbClr val="FF0000"/>
                </a:solidFill>
              </a:rPr>
              <a:t>(</a:t>
            </a:r>
            <a:r>
              <a:rPr lang="en-US" altLang="zh-CN" sz="1600" b="1" dirty="0" err="1">
                <a:solidFill>
                  <a:srgbClr val="FF0000"/>
                </a:solidFill>
              </a:rPr>
              <a:t>jp.getArg</a:t>
            </a:r>
            <a:r>
              <a:rPr lang="en-US" altLang="zh-CN" sz="1600" b="1" dirty="0" err="1">
                <a:solidFill>
                  <a:schemeClr val="accent5">
                    <a:lumMod val="10000"/>
                  </a:schemeClr>
                </a:solidFill>
              </a:rPr>
              <a:t>s</a:t>
            </a:r>
            <a:r>
              <a:rPr lang="en-US" altLang="zh-CN" sz="1600" b="1" dirty="0">
                <a:solidFill>
                  <a:schemeClr val="accent5">
                    <a:lumMod val="10000"/>
                  </a:schemeClr>
                </a:solidFill>
              </a:rPr>
              <a:t>()));</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public void </a:t>
            </a:r>
            <a:r>
              <a:rPr lang="en-US" altLang="zh-CN" sz="1600" b="1" dirty="0" err="1">
                <a:solidFill>
                  <a:schemeClr val="accent5">
                    <a:lumMod val="10000"/>
                  </a:schemeClr>
                </a:solidFill>
              </a:rPr>
              <a:t>afterReturning</a:t>
            </a:r>
            <a:r>
              <a:rPr lang="en-US" altLang="zh-CN" sz="1600" b="1" dirty="0">
                <a:solidFill>
                  <a:schemeClr val="accent5">
                    <a:lumMod val="10000"/>
                  </a:schemeClr>
                </a:solidFill>
              </a:rPr>
              <a:t>(</a:t>
            </a:r>
            <a:r>
              <a:rPr lang="en-US" altLang="zh-CN" sz="1600" b="1" dirty="0" err="1">
                <a:solidFill>
                  <a:schemeClr val="accent5">
                    <a:lumMod val="10000"/>
                  </a:schemeClr>
                </a:solidFill>
              </a:rPr>
              <a:t>JoinPoint</a:t>
            </a:r>
            <a:r>
              <a:rPr lang="en-US" altLang="zh-CN" sz="1600" b="1" dirty="0">
                <a:solidFill>
                  <a:schemeClr val="accent5">
                    <a:lumMod val="10000"/>
                  </a:schemeClr>
                </a:solidFill>
              </a:rPr>
              <a:t> </a:t>
            </a:r>
            <a:r>
              <a:rPr lang="en-US" altLang="zh-CN" sz="1600" b="1" dirty="0" err="1">
                <a:solidFill>
                  <a:srgbClr val="FF0000"/>
                </a:solidFill>
              </a:rPr>
              <a:t>jp</a:t>
            </a:r>
            <a:r>
              <a:rPr lang="en-US" altLang="zh-CN" sz="1600" b="1" dirty="0">
                <a:solidFill>
                  <a:srgbClr val="FF0000"/>
                </a:solidFill>
              </a:rPr>
              <a:t>, Object result</a:t>
            </a: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log.info("</a:t>
            </a:r>
            <a:r>
              <a:rPr lang="zh-CN" altLang="zh-CN" sz="1600" b="1" dirty="0">
                <a:solidFill>
                  <a:schemeClr val="accent5">
                    <a:lumMod val="10000"/>
                  </a:schemeClr>
                </a:solidFill>
              </a:rPr>
              <a:t>调用</a:t>
            </a:r>
            <a:r>
              <a:rPr lang="en-US" altLang="zh-CN" sz="1600" b="1" dirty="0">
                <a:solidFill>
                  <a:schemeClr val="accent5">
                    <a:lumMod val="10000"/>
                  </a:schemeClr>
                </a:solidFill>
              </a:rPr>
              <a:t> " +</a:t>
            </a:r>
            <a:r>
              <a:rPr lang="en-US" altLang="zh-CN" sz="1600" b="1" dirty="0">
                <a:solidFill>
                  <a:srgbClr val="FF0000"/>
                </a:solidFill>
              </a:rPr>
              <a:t> </a:t>
            </a:r>
            <a:r>
              <a:rPr lang="en-US" altLang="zh-CN" sz="1600" b="1" dirty="0" err="1">
                <a:solidFill>
                  <a:srgbClr val="FF0000"/>
                </a:solidFill>
              </a:rPr>
              <a:t>jp.getTarget</a:t>
            </a:r>
            <a:r>
              <a:rPr lang="en-US" altLang="zh-CN" sz="1600" b="1" dirty="0">
                <a:solidFill>
                  <a:schemeClr val="accent5">
                    <a:lumMod val="10000"/>
                  </a:schemeClr>
                </a:solidFill>
              </a:rPr>
              <a:t>() + " </a:t>
            </a:r>
            <a:r>
              <a:rPr lang="zh-CN" altLang="zh-CN" sz="1600" b="1" dirty="0">
                <a:solidFill>
                  <a:schemeClr val="accent5">
                    <a:lumMod val="10000"/>
                  </a:schemeClr>
                </a:solidFill>
              </a:rPr>
              <a:t>的</a:t>
            </a:r>
            <a:r>
              <a:rPr lang="en-US" altLang="zh-CN" sz="1600" b="1" dirty="0">
                <a:solidFill>
                  <a:schemeClr val="accent5">
                    <a:lumMod val="10000"/>
                  </a:schemeClr>
                </a:solidFill>
              </a:rPr>
              <a:t> " + </a:t>
            </a:r>
            <a:r>
              <a:rPr lang="en-US" altLang="zh-CN" sz="1600" b="1" dirty="0">
                <a:solidFill>
                  <a:srgbClr val="FF0000"/>
                </a:solidFill>
              </a:rPr>
              <a:t> </a:t>
            </a:r>
            <a:r>
              <a:rPr lang="en-US" altLang="zh-CN" sz="1600" b="1" dirty="0" err="1">
                <a:solidFill>
                  <a:srgbClr val="FF0000"/>
                </a:solidFill>
              </a:rPr>
              <a:t>jp.getSignature</a:t>
            </a:r>
            <a:r>
              <a:rPr lang="en-US" altLang="zh-CN" sz="1600" b="1" dirty="0">
                <a:solidFill>
                  <a:schemeClr val="accent5">
                    <a:lumMod val="10000"/>
                  </a:schemeClr>
                </a:solidFill>
              </a:rPr>
              <a:t>().</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r>
              <a:rPr lang="en-US" altLang="zh-CN" sz="1600" b="1" dirty="0" err="1">
                <a:solidFill>
                  <a:schemeClr val="accent5">
                    <a:lumMod val="10000"/>
                  </a:schemeClr>
                </a:solidFill>
              </a:rPr>
              <a:t>getName</a:t>
            </a:r>
            <a:r>
              <a:rPr lang="en-US" altLang="zh-CN" sz="1600" b="1" dirty="0">
                <a:solidFill>
                  <a:schemeClr val="accent5">
                    <a:lumMod val="10000"/>
                  </a:schemeClr>
                </a:solidFill>
              </a:rPr>
              <a:t>() + " </a:t>
            </a:r>
            <a:r>
              <a:rPr lang="zh-CN" altLang="zh-CN" sz="1600" b="1" dirty="0">
                <a:solidFill>
                  <a:schemeClr val="accent5">
                    <a:lumMod val="10000"/>
                  </a:schemeClr>
                </a:solidFill>
              </a:rPr>
              <a:t>方法。方法返回值：</a:t>
            </a:r>
            <a:r>
              <a:rPr lang="en-US" altLang="zh-CN" sz="1600" b="1" dirty="0">
                <a:solidFill>
                  <a:schemeClr val="accent5">
                    <a:lumMod val="10000"/>
                  </a:schemeClr>
                </a:solidFill>
              </a:rPr>
              <a:t>" </a:t>
            </a:r>
            <a:r>
              <a:rPr lang="en-US" altLang="zh-CN" sz="1600" b="1" dirty="0">
                <a:solidFill>
                  <a:srgbClr val="FF0000"/>
                </a:solidFill>
              </a:rPr>
              <a:t>+ result)</a:t>
            </a:r>
            <a:r>
              <a:rPr lang="en-US" altLang="zh-CN" sz="1600" b="1" dirty="0">
                <a:solidFill>
                  <a:schemeClr val="accent5">
                    <a:lumMod val="10000"/>
                  </a:schemeClr>
                </a:solidFill>
              </a:rPr>
              <a:t>;</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    }</a:t>
            </a:r>
            <a:endParaRPr lang="zh-CN" altLang="zh-CN" sz="1600" b="1" dirty="0">
              <a:solidFill>
                <a:schemeClr val="accent5">
                  <a:lumMod val="10000"/>
                </a:schemeClr>
              </a:solidFill>
            </a:endParaRPr>
          </a:p>
          <a:p>
            <a:pPr indent="-457189" defTabSz="507987">
              <a:buClr>
                <a:schemeClr val="folHlink"/>
              </a:buClr>
              <a:buSzPct val="60000"/>
            </a:pPr>
            <a:r>
              <a:rPr lang="en-US" altLang="zh-CN" sz="1600" b="1" dirty="0">
                <a:solidFill>
                  <a:schemeClr val="accent5">
                    <a:lumMod val="10000"/>
                  </a:schemeClr>
                </a:solidFill>
              </a:rPr>
              <a:t>}</a:t>
            </a:r>
          </a:p>
        </p:txBody>
      </p:sp>
      <p:sp>
        <p:nvSpPr>
          <p:cNvPr id="18" name="Rectangle 34"/>
          <p:cNvSpPr>
            <a:spLocks noChangeArrowheads="1"/>
          </p:cNvSpPr>
          <p:nvPr/>
        </p:nvSpPr>
        <p:spPr bwMode="auto">
          <a:xfrm>
            <a:off x="1602465" y="4299769"/>
            <a:ext cx="2765344" cy="295940"/>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27" name="Rectangle 34"/>
          <p:cNvSpPr>
            <a:spLocks noChangeArrowheads="1"/>
          </p:cNvSpPr>
          <p:nvPr/>
        </p:nvSpPr>
        <p:spPr bwMode="auto">
          <a:xfrm>
            <a:off x="1675765" y="5306037"/>
            <a:ext cx="4612256" cy="235199"/>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37" name="任意多边形 5"/>
          <p:cNvSpPr>
            <a:spLocks noChangeArrowheads="1"/>
          </p:cNvSpPr>
          <p:nvPr/>
        </p:nvSpPr>
        <p:spPr bwMode="auto">
          <a:xfrm>
            <a:off x="4143587" y="1892829"/>
            <a:ext cx="4424647" cy="2592288"/>
          </a:xfrm>
          <a:custGeom>
            <a:avLst/>
            <a:gdLst>
              <a:gd name="T0" fmla="*/ 0 w 1870363"/>
              <a:gd name="T1" fmla="*/ 2216727 h 2216727"/>
              <a:gd name="T2" fmla="*/ 1769423 w 1870363"/>
              <a:gd name="T3" fmla="*/ 1385454 h 2216727"/>
              <a:gd name="T4" fmla="*/ 605641 w 1870363"/>
              <a:gd name="T5" fmla="*/ 174171 h 2216727"/>
              <a:gd name="T6" fmla="*/ 581891 w 1870363"/>
              <a:gd name="T7" fmla="*/ 340425 h 2216727"/>
              <a:gd name="T8" fmla="*/ 534389 w 1870363"/>
              <a:gd name="T9" fmla="*/ 126670 h 2216727"/>
              <a:gd name="T10" fmla="*/ 724395 w 1870363"/>
              <a:gd name="T11" fmla="*/ 91044 h 2216727"/>
              <a:gd name="T12" fmla="*/ 724395 w 1870363"/>
              <a:gd name="T13" fmla="*/ 91044 h 2216727"/>
            </a:gdLst>
            <a:ahLst/>
            <a:cxnLst>
              <a:cxn ang="0">
                <a:pos x="T0" y="T1"/>
              </a:cxn>
              <a:cxn ang="0">
                <a:pos x="T2" y="T3"/>
              </a:cxn>
              <a:cxn ang="0">
                <a:pos x="T4" y="T5"/>
              </a:cxn>
              <a:cxn ang="0">
                <a:pos x="T6" y="T7"/>
              </a:cxn>
              <a:cxn ang="0">
                <a:pos x="T8" y="T9"/>
              </a:cxn>
              <a:cxn ang="0">
                <a:pos x="T10" y="T11"/>
              </a:cxn>
              <a:cxn ang="0">
                <a:pos x="T12" y="T13"/>
              </a:cxn>
            </a:cxnLst>
            <a:rect l="0" t="0" r="r" b="b"/>
            <a:pathLst>
              <a:path w="1870363" h="2216727">
                <a:moveTo>
                  <a:pt x="0" y="2216727"/>
                </a:moveTo>
                <a:cubicBezTo>
                  <a:pt x="834241" y="1971303"/>
                  <a:pt x="1668483" y="1725880"/>
                  <a:pt x="1769423" y="1385454"/>
                </a:cubicBezTo>
                <a:cubicBezTo>
                  <a:pt x="1870363" y="1045028"/>
                  <a:pt x="803563" y="348342"/>
                  <a:pt x="605641" y="174171"/>
                </a:cubicBezTo>
                <a:cubicBezTo>
                  <a:pt x="407719" y="0"/>
                  <a:pt x="593766" y="348342"/>
                  <a:pt x="581891" y="340425"/>
                </a:cubicBezTo>
                <a:cubicBezTo>
                  <a:pt x="570016" y="332508"/>
                  <a:pt x="510638" y="168233"/>
                  <a:pt x="534389" y="126670"/>
                </a:cubicBezTo>
                <a:cubicBezTo>
                  <a:pt x="558140" y="85107"/>
                  <a:pt x="724395" y="91044"/>
                  <a:pt x="724395" y="91044"/>
                </a:cubicBezTo>
              </a:path>
            </a:pathLst>
          </a:custGeom>
          <a:noFill/>
          <a:ln w="25400">
            <a:solidFill>
              <a:srgbClr val="4A7EBB"/>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2400">
              <a:latin typeface="Calibri" pitchFamily="34" charset="0"/>
              <a:ea typeface="宋体" pitchFamily="2" charset="-122"/>
            </a:endParaRPr>
          </a:p>
        </p:txBody>
      </p:sp>
      <p:sp>
        <p:nvSpPr>
          <p:cNvPr id="38" name="任意多边形 5"/>
          <p:cNvSpPr>
            <a:spLocks noChangeArrowheads="1"/>
          </p:cNvSpPr>
          <p:nvPr/>
        </p:nvSpPr>
        <p:spPr bwMode="auto">
          <a:xfrm flipH="1">
            <a:off x="443162" y="2752565"/>
            <a:ext cx="1440165" cy="2745987"/>
          </a:xfrm>
          <a:custGeom>
            <a:avLst/>
            <a:gdLst>
              <a:gd name="T0" fmla="*/ 0 w 1870363"/>
              <a:gd name="T1" fmla="*/ 2216727 h 2216727"/>
              <a:gd name="T2" fmla="*/ 1769423 w 1870363"/>
              <a:gd name="T3" fmla="*/ 1385454 h 2216727"/>
              <a:gd name="T4" fmla="*/ 605641 w 1870363"/>
              <a:gd name="T5" fmla="*/ 174171 h 2216727"/>
              <a:gd name="T6" fmla="*/ 581891 w 1870363"/>
              <a:gd name="T7" fmla="*/ 340425 h 2216727"/>
              <a:gd name="T8" fmla="*/ 534389 w 1870363"/>
              <a:gd name="T9" fmla="*/ 126670 h 2216727"/>
              <a:gd name="T10" fmla="*/ 724395 w 1870363"/>
              <a:gd name="T11" fmla="*/ 91044 h 2216727"/>
              <a:gd name="T12" fmla="*/ 724395 w 1870363"/>
              <a:gd name="T13" fmla="*/ 91044 h 2216727"/>
            </a:gdLst>
            <a:ahLst/>
            <a:cxnLst>
              <a:cxn ang="0">
                <a:pos x="T0" y="T1"/>
              </a:cxn>
              <a:cxn ang="0">
                <a:pos x="T2" y="T3"/>
              </a:cxn>
              <a:cxn ang="0">
                <a:pos x="T4" y="T5"/>
              </a:cxn>
              <a:cxn ang="0">
                <a:pos x="T6" y="T7"/>
              </a:cxn>
              <a:cxn ang="0">
                <a:pos x="T8" y="T9"/>
              </a:cxn>
              <a:cxn ang="0">
                <a:pos x="T10" y="T11"/>
              </a:cxn>
              <a:cxn ang="0">
                <a:pos x="T12" y="T13"/>
              </a:cxn>
            </a:cxnLst>
            <a:rect l="0" t="0" r="r" b="b"/>
            <a:pathLst>
              <a:path w="1870363" h="2216727">
                <a:moveTo>
                  <a:pt x="0" y="2216727"/>
                </a:moveTo>
                <a:cubicBezTo>
                  <a:pt x="834241" y="1971303"/>
                  <a:pt x="1668483" y="1725880"/>
                  <a:pt x="1769423" y="1385454"/>
                </a:cubicBezTo>
                <a:cubicBezTo>
                  <a:pt x="1870363" y="1045028"/>
                  <a:pt x="803563" y="348342"/>
                  <a:pt x="605641" y="174171"/>
                </a:cubicBezTo>
                <a:cubicBezTo>
                  <a:pt x="407719" y="0"/>
                  <a:pt x="593766" y="348342"/>
                  <a:pt x="581891" y="340425"/>
                </a:cubicBezTo>
                <a:cubicBezTo>
                  <a:pt x="570016" y="332508"/>
                  <a:pt x="510638" y="168233"/>
                  <a:pt x="534389" y="126670"/>
                </a:cubicBezTo>
                <a:cubicBezTo>
                  <a:pt x="558140" y="85107"/>
                  <a:pt x="724395" y="91044"/>
                  <a:pt x="724395" y="91044"/>
                </a:cubicBezTo>
              </a:path>
            </a:pathLst>
          </a:custGeom>
          <a:noFill/>
          <a:ln w="25400">
            <a:solidFill>
              <a:srgbClr val="4A7EBB"/>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2400">
              <a:latin typeface="Calibri" pitchFamily="34" charset="0"/>
              <a:ea typeface="宋体" pitchFamily="2" charset="-122"/>
            </a:endParaRPr>
          </a:p>
        </p:txBody>
      </p:sp>
      <p:sp>
        <p:nvSpPr>
          <p:cNvPr id="39" name="AutoShape 6"/>
          <p:cNvSpPr>
            <a:spLocks noChangeArrowheads="1"/>
          </p:cNvSpPr>
          <p:nvPr/>
        </p:nvSpPr>
        <p:spPr bwMode="auto">
          <a:xfrm>
            <a:off x="109255" y="4005065"/>
            <a:ext cx="1228015"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后置增强</a:t>
            </a:r>
          </a:p>
        </p:txBody>
      </p:sp>
      <p:sp>
        <p:nvSpPr>
          <p:cNvPr id="40" name="AutoShape 6"/>
          <p:cNvSpPr>
            <a:spLocks noChangeArrowheads="1"/>
          </p:cNvSpPr>
          <p:nvPr/>
        </p:nvSpPr>
        <p:spPr bwMode="auto">
          <a:xfrm>
            <a:off x="2337646" y="6169210"/>
            <a:ext cx="3611881"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连接点方法所在的目标类</a:t>
            </a:r>
          </a:p>
        </p:txBody>
      </p:sp>
      <p:sp>
        <p:nvSpPr>
          <p:cNvPr id="41" name="AutoShape 6"/>
          <p:cNvSpPr>
            <a:spLocks noChangeArrowheads="1"/>
          </p:cNvSpPr>
          <p:nvPr/>
        </p:nvSpPr>
        <p:spPr bwMode="auto">
          <a:xfrm>
            <a:off x="8369835" y="6080806"/>
            <a:ext cx="2334677"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连接点方法信息</a:t>
            </a:r>
          </a:p>
        </p:txBody>
      </p:sp>
      <p:sp>
        <p:nvSpPr>
          <p:cNvPr id="42" name="AutoShape 6"/>
          <p:cNvSpPr>
            <a:spLocks noChangeArrowheads="1"/>
          </p:cNvSpPr>
          <p:nvPr/>
        </p:nvSpPr>
        <p:spPr bwMode="auto">
          <a:xfrm>
            <a:off x="8568233" y="5052859"/>
            <a:ext cx="1728192" cy="715089"/>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fontAlgn="base"/>
            <a:r>
              <a:rPr lang="zh-CN" altLang="en-US" b="1" dirty="0">
                <a:solidFill>
                  <a:schemeClr val="bg1"/>
                </a:solidFill>
                <a:ea typeface="黑体" panose="02010609060101010101" pitchFamily="49" charset="-122"/>
              </a:rPr>
              <a:t>连接点方法参数数组</a:t>
            </a:r>
          </a:p>
        </p:txBody>
      </p:sp>
      <p:sp>
        <p:nvSpPr>
          <p:cNvPr id="56" name="AutoShape 6"/>
          <p:cNvSpPr>
            <a:spLocks noChangeArrowheads="1"/>
          </p:cNvSpPr>
          <p:nvPr/>
        </p:nvSpPr>
        <p:spPr bwMode="auto">
          <a:xfrm>
            <a:off x="5423925" y="3236979"/>
            <a:ext cx="1824203"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连接点对象</a:t>
            </a:r>
          </a:p>
        </p:txBody>
      </p:sp>
      <p:cxnSp>
        <p:nvCxnSpPr>
          <p:cNvPr id="21" name="直接箭头连接符 20"/>
          <p:cNvCxnSpPr>
            <a:endCxn id="56" idx="1"/>
          </p:cNvCxnSpPr>
          <p:nvPr/>
        </p:nvCxnSpPr>
        <p:spPr>
          <a:xfrm flipV="1">
            <a:off x="3887755" y="3441291"/>
            <a:ext cx="1536170" cy="785112"/>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4" name="直接箭头连接符 23"/>
          <p:cNvCxnSpPr/>
          <p:nvPr/>
        </p:nvCxnSpPr>
        <p:spPr>
          <a:xfrm>
            <a:off x="7044085" y="5052859"/>
            <a:ext cx="1452183" cy="374571"/>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8" name="直接箭头连接符 27"/>
          <p:cNvCxnSpPr>
            <a:endCxn id="41" idx="1"/>
          </p:cNvCxnSpPr>
          <p:nvPr/>
        </p:nvCxnSpPr>
        <p:spPr>
          <a:xfrm>
            <a:off x="6401616" y="5802001"/>
            <a:ext cx="1968219" cy="483117"/>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0" name="直接箭头连接符 29"/>
          <p:cNvCxnSpPr>
            <a:endCxn id="40" idx="0"/>
          </p:cNvCxnSpPr>
          <p:nvPr/>
        </p:nvCxnSpPr>
        <p:spPr>
          <a:xfrm>
            <a:off x="3887755" y="5802001"/>
            <a:ext cx="255832" cy="367209"/>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337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left)">
                                      <p:cBhvr>
                                        <p:cTn id="20" dur="500"/>
                                        <p:tgtEl>
                                          <p:spTgt spid="27"/>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down)">
                                      <p:cBhvr>
                                        <p:cTn id="24" dur="500"/>
                                        <p:tgtEl>
                                          <p:spTgt spid="38"/>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left)">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wipe(left)">
                                      <p:cBhvr>
                                        <p:cTn id="33" dur="500"/>
                                        <p:tgtEl>
                                          <p:spTgt spid="56"/>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left)">
                                      <p:cBhvr>
                                        <p:cTn id="36" dur="500"/>
                                        <p:tgtEl>
                                          <p:spTgt spid="4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left)">
                                      <p:cBhvr>
                                        <p:cTn id="39" dur="500"/>
                                        <p:tgtEl>
                                          <p:spTgt spid="4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500"/>
                                        <p:tgtEl>
                                          <p:spTgt spid="42"/>
                                        </p:tgtEl>
                                      </p:cBhvr>
                                    </p:animEffect>
                                  </p:childTnLst>
                                </p:cTn>
                              </p:par>
                              <p:par>
                                <p:cTn id="43" presetID="22" presetClass="entr" presetSubtype="8"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par>
                                <p:cTn id="46" presetID="22" presetClass="entr" presetSubtype="8"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left)">
                                      <p:cBhvr>
                                        <p:cTn id="48" dur="500"/>
                                        <p:tgtEl>
                                          <p:spTgt spid="24"/>
                                        </p:tgtEl>
                                      </p:cBhvr>
                                    </p:animEffect>
                                  </p:childTnLst>
                                </p:cTn>
                              </p:par>
                              <p:par>
                                <p:cTn id="49" presetID="22" presetClass="entr" presetSubtype="8"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par>
                                <p:cTn id="52" presetID="22" presetClass="entr" presetSubtype="8" fill="hold"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27" grpId="0" animBg="1"/>
      <p:bldP spid="37" grpId="0" animBg="1"/>
      <p:bldP spid="38" grpId="0" animBg="1"/>
      <p:bldP spid="39" grpId="0" animBg="1"/>
      <p:bldP spid="40" grpId="0" animBg="1"/>
      <p:bldP spid="41" grpId="0" animBg="1"/>
      <p:bldP spid="42" grpId="0" animBg="1"/>
      <p:bldP spid="56"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p:txBody>
          <a:bodyPr/>
          <a:lstStyle/>
          <a:p>
            <a:r>
              <a:rPr lang="zh-CN" altLang="en-US" dirty="0"/>
              <a:t>怎样使用</a:t>
            </a:r>
            <a:r>
              <a:rPr lang="en-US" altLang="zh-CN" dirty="0"/>
              <a:t>AOP </a:t>
            </a:r>
          </a:p>
        </p:txBody>
      </p:sp>
      <p:sp>
        <p:nvSpPr>
          <p:cNvPr id="817155" name="Rectangle 3"/>
          <p:cNvSpPr>
            <a:spLocks noGrp="1" noChangeArrowheads="1"/>
          </p:cNvSpPr>
          <p:nvPr>
            <p:ph idx="1"/>
          </p:nvPr>
        </p:nvSpPr>
        <p:spPr>
          <a:xfrm>
            <a:off x="335361" y="882736"/>
            <a:ext cx="10350500" cy="5042541"/>
          </a:xfrm>
        </p:spPr>
        <p:txBody>
          <a:bodyPr/>
          <a:lstStyle/>
          <a:p>
            <a:pPr lvl="1">
              <a:buFont typeface="Wingdings" panose="05000000000000000000" pitchFamily="2" charset="2"/>
              <a:buChar char="u"/>
            </a:pPr>
            <a:r>
              <a:rPr lang="zh-CN" altLang="en-US" b="1" dirty="0">
                <a:solidFill>
                  <a:srgbClr val="009ADA"/>
                </a:solidFill>
              </a:rPr>
              <a:t>定义切入点</a:t>
            </a:r>
            <a:endParaRPr lang="en-US" altLang="zh-CN" b="1" dirty="0">
              <a:solidFill>
                <a:srgbClr val="009ADA"/>
              </a:solidFill>
            </a:endParaRPr>
          </a:p>
          <a:p>
            <a:pPr lvl="1">
              <a:buFont typeface="Wingdings" panose="05000000000000000000" pitchFamily="2" charset="2"/>
              <a:buChar char="u"/>
            </a:pPr>
            <a:r>
              <a:rPr lang="zh-CN" altLang="en-US" b="1" noProof="1">
                <a:solidFill>
                  <a:srgbClr val="009ADA"/>
                </a:solidFill>
              </a:rPr>
              <a:t>切入点：简单的说，就是连接点的查询条件</a:t>
            </a:r>
            <a:endParaRPr lang="en-US" altLang="zh-CN" b="1" dirty="0">
              <a:solidFill>
                <a:srgbClr val="009ADA"/>
              </a:solidFill>
            </a:endParaRPr>
          </a:p>
          <a:p>
            <a:pPr lvl="1"/>
            <a:endParaRPr lang="en-US" altLang="zh-CN" dirty="0"/>
          </a:p>
          <a:p>
            <a:pPr lvl="1"/>
            <a:endParaRPr lang="en-US" altLang="zh-CN" dirty="0"/>
          </a:p>
          <a:p>
            <a:pPr lvl="1"/>
            <a:endParaRPr lang="en-US" altLang="zh-CN" dirty="0"/>
          </a:p>
          <a:p>
            <a:pPr lvl="1"/>
            <a:endParaRPr lang="en-US" altLang="zh-CN" dirty="0"/>
          </a:p>
          <a:p>
            <a:pPr lvl="1">
              <a:buFont typeface="Wingdings" panose="05000000000000000000" pitchFamily="2" charset="2"/>
              <a:buChar char="u"/>
            </a:pPr>
            <a:r>
              <a:rPr lang="zh-CN" altLang="en-US" b="1" noProof="1">
                <a:solidFill>
                  <a:srgbClr val="009ADA"/>
                </a:solidFill>
              </a:rPr>
              <a:t>表达式匹配规则举例</a:t>
            </a:r>
            <a:endParaRPr lang="en-US" altLang="zh-CN" b="1" noProof="1">
              <a:solidFill>
                <a:srgbClr val="009ADA"/>
              </a:solidFill>
            </a:endParaRPr>
          </a:p>
        </p:txBody>
      </p:sp>
      <p:sp>
        <p:nvSpPr>
          <p:cNvPr id="25" name="AutoShape 4"/>
          <p:cNvSpPr>
            <a:spLocks noChangeArrowheads="1"/>
          </p:cNvSpPr>
          <p:nvPr/>
        </p:nvSpPr>
        <p:spPr bwMode="auto">
          <a:xfrm>
            <a:off x="1142063" y="1988840"/>
            <a:ext cx="9462517" cy="2011833"/>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lnSpc>
                <a:spcPct val="150000"/>
              </a:lnSpc>
              <a:buClr>
                <a:schemeClr val="folHlink"/>
              </a:buClr>
              <a:buSzPct val="60000"/>
            </a:pPr>
            <a:r>
              <a:rPr lang="en-US" altLang="zh-CN" sz="2133" b="1" dirty="0">
                <a:solidFill>
                  <a:schemeClr val="accent5">
                    <a:lumMod val="10000"/>
                  </a:schemeClr>
                </a:solidFill>
              </a:rPr>
              <a:t>&lt;</a:t>
            </a:r>
            <a:r>
              <a:rPr lang="en-US" altLang="zh-CN" sz="2133" b="1" dirty="0" err="1">
                <a:solidFill>
                  <a:schemeClr val="accent5">
                    <a:lumMod val="10000"/>
                  </a:schemeClr>
                </a:solidFill>
              </a:rPr>
              <a:t>aop:config</a:t>
            </a:r>
            <a:r>
              <a:rPr lang="en-US" altLang="zh-CN" sz="2133" b="1" dirty="0">
                <a:solidFill>
                  <a:schemeClr val="accent5">
                    <a:lumMod val="10000"/>
                  </a:schemeClr>
                </a:solidFill>
              </a:rPr>
              <a:t>&gt;</a:t>
            </a:r>
            <a:endParaRPr lang="zh-CN" altLang="zh-CN" sz="2133" b="1" dirty="0">
              <a:solidFill>
                <a:schemeClr val="accent5">
                  <a:lumMod val="10000"/>
                </a:schemeClr>
              </a:solidFill>
            </a:endParaRPr>
          </a:p>
          <a:p>
            <a:pPr indent="-457189" defTabSz="507987">
              <a:lnSpc>
                <a:spcPct val="150000"/>
              </a:lnSpc>
              <a:buClr>
                <a:schemeClr val="folHlink"/>
              </a:buClr>
              <a:buSzPct val="60000"/>
            </a:pPr>
            <a:r>
              <a:rPr lang="en-US" altLang="zh-CN" sz="2133" b="1" dirty="0">
                <a:solidFill>
                  <a:schemeClr val="accent5">
                    <a:lumMod val="10000"/>
                  </a:schemeClr>
                </a:solidFill>
              </a:rPr>
              <a:t>&lt;</a:t>
            </a:r>
            <a:r>
              <a:rPr lang="en-US" altLang="zh-CN" sz="2133" b="1" dirty="0" err="1">
                <a:solidFill>
                  <a:schemeClr val="accent5">
                    <a:lumMod val="10000"/>
                  </a:schemeClr>
                </a:solidFill>
              </a:rPr>
              <a:t>aop:pointcut</a:t>
            </a:r>
            <a:r>
              <a:rPr lang="en-US" altLang="zh-CN" sz="2133" b="1" dirty="0">
                <a:solidFill>
                  <a:schemeClr val="accent5">
                    <a:lumMod val="10000"/>
                  </a:schemeClr>
                </a:solidFill>
              </a:rPr>
              <a:t> id="</a:t>
            </a:r>
            <a:r>
              <a:rPr lang="en-US" altLang="zh-CN" sz="2133" b="1" dirty="0" err="1">
                <a:solidFill>
                  <a:schemeClr val="accent5">
                    <a:lumMod val="10000"/>
                  </a:schemeClr>
                </a:solidFill>
              </a:rPr>
              <a:t>pointcut</a:t>
            </a:r>
            <a:r>
              <a:rPr lang="en-US" altLang="zh-CN" sz="2133" b="1" dirty="0">
                <a:solidFill>
                  <a:schemeClr val="accent5">
                    <a:lumMod val="10000"/>
                  </a:schemeClr>
                </a:solidFill>
              </a:rPr>
              <a:t>"</a:t>
            </a:r>
            <a:endParaRPr lang="zh-CN" altLang="zh-CN" sz="2133" b="1" dirty="0">
              <a:solidFill>
                <a:schemeClr val="accent5">
                  <a:lumMod val="10000"/>
                </a:schemeClr>
              </a:solidFill>
            </a:endParaRPr>
          </a:p>
          <a:p>
            <a:pPr indent="-457189" defTabSz="507987">
              <a:lnSpc>
                <a:spcPct val="150000"/>
              </a:lnSpc>
              <a:buClr>
                <a:schemeClr val="folHlink"/>
              </a:buClr>
              <a:buSzPct val="60000"/>
            </a:pPr>
            <a:r>
              <a:rPr lang="en-US" altLang="zh-CN" sz="2133" b="1" dirty="0">
                <a:solidFill>
                  <a:schemeClr val="accent5">
                    <a:lumMod val="10000"/>
                  </a:schemeClr>
                </a:solidFill>
              </a:rPr>
              <a:t>            expression="</a:t>
            </a:r>
            <a:r>
              <a:rPr lang="en-US" altLang="zh-CN" sz="2133" b="1" dirty="0">
                <a:solidFill>
                  <a:srgbClr val="FF0000"/>
                </a:solidFill>
              </a:rPr>
              <a:t>execution(public void </a:t>
            </a:r>
            <a:r>
              <a:rPr lang="en-US" altLang="zh-CN" sz="2133" b="1" dirty="0" err="1">
                <a:solidFill>
                  <a:srgbClr val="FF0000"/>
                </a:solidFill>
              </a:rPr>
              <a:t>addNewUser</a:t>
            </a:r>
            <a:r>
              <a:rPr lang="en-US" altLang="zh-CN" sz="2133" b="1" dirty="0">
                <a:solidFill>
                  <a:srgbClr val="FF0000"/>
                </a:solidFill>
              </a:rPr>
              <a:t>(</a:t>
            </a:r>
            <a:r>
              <a:rPr lang="en-US" altLang="zh-CN" sz="2133" b="1" dirty="0" err="1">
                <a:solidFill>
                  <a:srgbClr val="FF0000"/>
                </a:solidFill>
              </a:rPr>
              <a:t>entity.User</a:t>
            </a:r>
            <a:r>
              <a:rPr lang="en-US" altLang="zh-CN" sz="2133" b="1" dirty="0">
                <a:solidFill>
                  <a:srgbClr val="FF0000"/>
                </a:solidFill>
              </a:rPr>
              <a:t>))</a:t>
            </a:r>
            <a:r>
              <a:rPr lang="en-US" altLang="zh-CN" sz="2133" b="1" dirty="0">
                <a:solidFill>
                  <a:schemeClr val="accent5">
                    <a:lumMod val="10000"/>
                  </a:schemeClr>
                </a:solidFill>
              </a:rPr>
              <a:t>"/&gt;</a:t>
            </a:r>
            <a:endParaRPr lang="zh-CN" altLang="zh-CN" sz="2133" b="1" dirty="0">
              <a:solidFill>
                <a:schemeClr val="accent5">
                  <a:lumMod val="10000"/>
                </a:schemeClr>
              </a:solidFill>
            </a:endParaRPr>
          </a:p>
          <a:p>
            <a:pPr indent="-457189" defTabSz="507987">
              <a:lnSpc>
                <a:spcPct val="150000"/>
              </a:lnSpc>
              <a:buClr>
                <a:schemeClr val="folHlink"/>
              </a:buClr>
              <a:buSzPct val="60000"/>
            </a:pPr>
            <a:r>
              <a:rPr lang="en-US" altLang="zh-CN" sz="2133" b="1" dirty="0">
                <a:solidFill>
                  <a:schemeClr val="accent5">
                    <a:lumMod val="10000"/>
                  </a:schemeClr>
                </a:solidFill>
              </a:rPr>
              <a:t>&lt;/</a:t>
            </a:r>
            <a:r>
              <a:rPr lang="en-US" altLang="zh-CN" sz="2133" b="1" dirty="0" err="1">
                <a:solidFill>
                  <a:schemeClr val="accent5">
                    <a:lumMod val="10000"/>
                  </a:schemeClr>
                </a:solidFill>
              </a:rPr>
              <a:t>aop:config</a:t>
            </a:r>
            <a:r>
              <a:rPr lang="en-US" altLang="zh-CN" sz="2133" b="1" dirty="0">
                <a:solidFill>
                  <a:schemeClr val="accent5">
                    <a:lumMod val="10000"/>
                  </a:schemeClr>
                </a:solidFill>
              </a:rPr>
              <a:t>&gt;</a:t>
            </a:r>
          </a:p>
        </p:txBody>
      </p:sp>
      <p:sp>
        <p:nvSpPr>
          <p:cNvPr id="19" name="AutoShape 6"/>
          <p:cNvSpPr>
            <a:spLocks noChangeArrowheads="1"/>
          </p:cNvSpPr>
          <p:nvPr/>
        </p:nvSpPr>
        <p:spPr bwMode="auto">
          <a:xfrm>
            <a:off x="8519847" y="2085361"/>
            <a:ext cx="2952751" cy="1021556"/>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fontAlgn="base"/>
            <a:r>
              <a:rPr lang="zh-CN" altLang="en-US" b="1" dirty="0">
                <a:solidFill>
                  <a:schemeClr val="bg1"/>
                </a:solidFill>
                <a:ea typeface="黑体" panose="02010609060101010101" pitchFamily="49" charset="-122"/>
              </a:rPr>
              <a:t>切入点表达式，符合该表达式的方法可以被织入增强处理</a:t>
            </a:r>
          </a:p>
        </p:txBody>
      </p:sp>
      <p:sp>
        <p:nvSpPr>
          <p:cNvPr id="17" name="AutoShape 4"/>
          <p:cNvSpPr>
            <a:spLocks noChangeArrowheads="1"/>
          </p:cNvSpPr>
          <p:nvPr/>
        </p:nvSpPr>
        <p:spPr bwMode="auto">
          <a:xfrm>
            <a:off x="1145984" y="4723592"/>
            <a:ext cx="9462517" cy="1900200"/>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lnSpc>
                <a:spcPct val="150000"/>
              </a:lnSpc>
              <a:buClr>
                <a:schemeClr val="folHlink"/>
              </a:buClr>
              <a:buSzPct val="60000"/>
            </a:pPr>
            <a:r>
              <a:rPr lang="en-US" altLang="zh-CN" sz="1600" b="1" dirty="0">
                <a:solidFill>
                  <a:schemeClr val="accent5">
                    <a:lumMod val="10000"/>
                  </a:schemeClr>
                </a:solidFill>
                <a:ea typeface="微软雅黑" panose="020B0503020204020204" pitchFamily="34" charset="-122"/>
              </a:rPr>
              <a:t>public * </a:t>
            </a:r>
            <a:r>
              <a:rPr lang="en-US" altLang="zh-CN" sz="1600" b="1" dirty="0" err="1">
                <a:solidFill>
                  <a:schemeClr val="accent5">
                    <a:lumMod val="10000"/>
                  </a:schemeClr>
                </a:solidFill>
                <a:ea typeface="微软雅黑" panose="020B0503020204020204" pitchFamily="34" charset="-122"/>
              </a:rPr>
              <a:t>addNewUser</a:t>
            </a:r>
            <a:r>
              <a:rPr lang="en-US" altLang="zh-CN" sz="1600" b="1" dirty="0">
                <a:solidFill>
                  <a:schemeClr val="accent5">
                    <a:lumMod val="10000"/>
                  </a:schemeClr>
                </a:solidFill>
                <a:ea typeface="微软雅黑" panose="020B0503020204020204" pitchFamily="34" charset="-122"/>
              </a:rPr>
              <a:t>(</a:t>
            </a:r>
            <a:r>
              <a:rPr lang="en-US" altLang="zh-CN" sz="1600" b="1" dirty="0" err="1">
                <a:solidFill>
                  <a:schemeClr val="accent5">
                    <a:lumMod val="10000"/>
                  </a:schemeClr>
                </a:solidFill>
                <a:ea typeface="微软雅黑" panose="020B0503020204020204" pitchFamily="34" charset="-122"/>
              </a:rPr>
              <a:t>entity.User</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 “</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”表示匹配所有类型的返回值。</a:t>
            </a:r>
          </a:p>
          <a:p>
            <a:pPr indent="-457189" defTabSz="507987">
              <a:lnSpc>
                <a:spcPct val="150000"/>
              </a:lnSpc>
              <a:buClr>
                <a:schemeClr val="folHlink"/>
              </a:buClr>
              <a:buSzPct val="60000"/>
            </a:pPr>
            <a:r>
              <a:rPr lang="en-US" altLang="zh-CN" sz="1600" b="1" dirty="0">
                <a:solidFill>
                  <a:schemeClr val="accent5">
                    <a:lumMod val="10000"/>
                  </a:schemeClr>
                </a:solidFill>
                <a:ea typeface="微软雅黑" panose="020B0503020204020204" pitchFamily="34" charset="-122"/>
              </a:rPr>
              <a:t>public void *(</a:t>
            </a:r>
            <a:r>
              <a:rPr lang="en-US" altLang="zh-CN" sz="1600" b="1" dirty="0" err="1">
                <a:solidFill>
                  <a:schemeClr val="accent5">
                    <a:lumMod val="10000"/>
                  </a:schemeClr>
                </a:solidFill>
                <a:ea typeface="微软雅黑" panose="020B0503020204020204" pitchFamily="34" charset="-122"/>
              </a:rPr>
              <a:t>entity.User</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 “</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”表示匹配所有方法名。</a:t>
            </a:r>
          </a:p>
          <a:p>
            <a:pPr indent="-457189" defTabSz="507987">
              <a:lnSpc>
                <a:spcPct val="150000"/>
              </a:lnSpc>
              <a:buClr>
                <a:schemeClr val="folHlink"/>
              </a:buClr>
              <a:buSzPct val="60000"/>
            </a:pPr>
            <a:r>
              <a:rPr lang="en-US" altLang="zh-CN" sz="1600" b="1" dirty="0">
                <a:solidFill>
                  <a:schemeClr val="accent5">
                    <a:lumMod val="10000"/>
                  </a:schemeClr>
                </a:solidFill>
                <a:ea typeface="微软雅黑" panose="020B0503020204020204" pitchFamily="34" charset="-122"/>
              </a:rPr>
              <a:t>public void </a:t>
            </a:r>
            <a:r>
              <a:rPr lang="en-US" altLang="zh-CN" sz="1600" b="1" dirty="0" err="1">
                <a:solidFill>
                  <a:schemeClr val="accent5">
                    <a:lumMod val="10000"/>
                  </a:schemeClr>
                </a:solidFill>
                <a:ea typeface="微软雅黑" panose="020B0503020204020204" pitchFamily="34" charset="-122"/>
              </a:rPr>
              <a:t>addNewUser</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 “</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”表示匹配所有参数个数和类型。</a:t>
            </a:r>
          </a:p>
          <a:p>
            <a:pPr indent="-457189" defTabSz="507987">
              <a:lnSpc>
                <a:spcPct val="150000"/>
              </a:lnSpc>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com.service</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：匹配</a:t>
            </a:r>
            <a:r>
              <a:rPr lang="en-US" altLang="zh-CN" sz="1600" b="1" dirty="0" err="1">
                <a:solidFill>
                  <a:schemeClr val="accent5">
                    <a:lumMod val="10000"/>
                  </a:schemeClr>
                </a:solidFill>
                <a:ea typeface="微软雅黑" panose="020B0503020204020204" pitchFamily="34" charset="-122"/>
              </a:rPr>
              <a:t>com.service</a:t>
            </a:r>
            <a:r>
              <a:rPr lang="zh-CN" altLang="zh-CN" sz="1600" b="1" dirty="0">
                <a:solidFill>
                  <a:schemeClr val="accent5">
                    <a:lumMod val="10000"/>
                  </a:schemeClr>
                </a:solidFill>
                <a:ea typeface="微软雅黑" panose="020B0503020204020204" pitchFamily="34" charset="-122"/>
              </a:rPr>
              <a:t>包下所有类的所有方法。</a:t>
            </a:r>
          </a:p>
          <a:p>
            <a:pPr indent="-457189" defTabSz="507987">
              <a:lnSpc>
                <a:spcPct val="150000"/>
              </a:lnSpc>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com.service</a:t>
            </a:r>
            <a:r>
              <a:rPr lang="en-US" altLang="zh-CN" sz="1600" b="1" dirty="0">
                <a:solidFill>
                  <a:schemeClr val="accent5">
                    <a:lumMod val="10000"/>
                  </a:schemeClr>
                </a:solidFill>
                <a:ea typeface="微软雅黑" panose="020B0503020204020204" pitchFamily="34" charset="-122"/>
              </a:rPr>
              <a:t>..*.*(..)</a:t>
            </a:r>
            <a:r>
              <a:rPr lang="zh-CN" altLang="zh-CN" sz="1600" b="1" dirty="0">
                <a:solidFill>
                  <a:schemeClr val="accent5">
                    <a:lumMod val="10000"/>
                  </a:schemeClr>
                </a:solidFill>
                <a:ea typeface="微软雅黑" panose="020B0503020204020204" pitchFamily="34" charset="-122"/>
              </a:rPr>
              <a:t>：匹配</a:t>
            </a:r>
            <a:r>
              <a:rPr lang="en-US" altLang="zh-CN" sz="1600" b="1" dirty="0" err="1">
                <a:solidFill>
                  <a:schemeClr val="accent5">
                    <a:lumMod val="10000"/>
                  </a:schemeClr>
                </a:solidFill>
                <a:ea typeface="微软雅黑" panose="020B0503020204020204" pitchFamily="34" charset="-122"/>
              </a:rPr>
              <a:t>com.service</a:t>
            </a:r>
            <a:r>
              <a:rPr lang="zh-CN" altLang="zh-CN" sz="1600" b="1" dirty="0">
                <a:solidFill>
                  <a:schemeClr val="accent5">
                    <a:lumMod val="10000"/>
                  </a:schemeClr>
                </a:solidFill>
                <a:ea typeface="微软雅黑" panose="020B0503020204020204" pitchFamily="34" charset="-122"/>
              </a:rPr>
              <a:t>包及其子包下所有类的所有方法</a:t>
            </a:r>
            <a:endParaRPr lang="en-US" altLang="zh-CN" sz="1600" b="1" dirty="0">
              <a:solidFill>
                <a:schemeClr val="accent5">
                  <a:lumMod val="10000"/>
                </a:schemeClr>
              </a:solidFill>
              <a:ea typeface="微软雅黑" panose="020B0503020204020204" pitchFamily="34" charset="-122"/>
            </a:endParaRPr>
          </a:p>
        </p:txBody>
      </p:sp>
      <p:cxnSp>
        <p:nvCxnSpPr>
          <p:cNvPr id="9" name="直接箭头连接符 8"/>
          <p:cNvCxnSpPr/>
          <p:nvPr/>
        </p:nvCxnSpPr>
        <p:spPr>
          <a:xfrm flipV="1">
            <a:off x="6720070" y="2468896"/>
            <a:ext cx="1680188" cy="566385"/>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2973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p:txBody>
          <a:bodyPr/>
          <a:lstStyle/>
          <a:p>
            <a:r>
              <a:rPr lang="zh-CN" altLang="en-US" dirty="0"/>
              <a:t>怎样使用</a:t>
            </a:r>
            <a:r>
              <a:rPr lang="en-US" altLang="zh-CN" dirty="0"/>
              <a:t>AOP </a:t>
            </a:r>
          </a:p>
        </p:txBody>
      </p:sp>
      <p:sp>
        <p:nvSpPr>
          <p:cNvPr id="817155" name="Rectangle 3"/>
          <p:cNvSpPr>
            <a:spLocks noGrp="1" noChangeArrowheads="1"/>
          </p:cNvSpPr>
          <p:nvPr>
            <p:ph idx="1"/>
          </p:nvPr>
        </p:nvSpPr>
        <p:spPr>
          <a:xfrm>
            <a:off x="431371" y="978747"/>
            <a:ext cx="10350500" cy="4946531"/>
          </a:xfrm>
        </p:spPr>
        <p:txBody>
          <a:bodyPr/>
          <a:lstStyle/>
          <a:p>
            <a:pPr lvl="1">
              <a:buFont typeface="Wingdings" panose="05000000000000000000" pitchFamily="2" charset="2"/>
              <a:buChar char="u"/>
            </a:pPr>
            <a:r>
              <a:rPr lang="zh-CN" altLang="en-US" b="1" dirty="0">
                <a:solidFill>
                  <a:srgbClr val="009ADA"/>
                </a:solidFill>
              </a:rPr>
              <a:t>织入增强处理</a:t>
            </a:r>
            <a:endParaRPr lang="en-US" altLang="zh-CN" b="1" dirty="0">
              <a:solidFill>
                <a:srgbClr val="009ADA"/>
              </a:solidFill>
            </a:endParaRPr>
          </a:p>
          <a:p>
            <a:pPr lvl="1">
              <a:buFont typeface="Wingdings" panose="05000000000000000000" pitchFamily="2" charset="2"/>
              <a:buChar char="u"/>
            </a:pPr>
            <a:r>
              <a:rPr lang="zh-CN" altLang="en-US" b="1" noProof="1">
                <a:solidFill>
                  <a:srgbClr val="009ADA"/>
                </a:solidFill>
              </a:rPr>
              <a:t>织入：</a:t>
            </a:r>
            <a:r>
              <a:rPr lang="zh-CN" altLang="en-US" b="1" dirty="0">
                <a:solidFill>
                  <a:srgbClr val="009ADA"/>
                </a:solidFill>
              </a:rPr>
              <a:t>在切入点插入增强处理</a:t>
            </a:r>
            <a:endParaRPr lang="en-US" altLang="zh-CN" b="1" noProof="1">
              <a:solidFill>
                <a:srgbClr val="009ADA"/>
              </a:solidFill>
            </a:endParaRPr>
          </a:p>
        </p:txBody>
      </p:sp>
      <p:sp>
        <p:nvSpPr>
          <p:cNvPr id="25" name="AutoShape 4"/>
          <p:cNvSpPr>
            <a:spLocks noChangeArrowheads="1"/>
          </p:cNvSpPr>
          <p:nvPr/>
        </p:nvSpPr>
        <p:spPr bwMode="auto">
          <a:xfrm>
            <a:off x="1186682" y="2232210"/>
            <a:ext cx="9942569" cy="4358694"/>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lnSpc>
                <a:spcPct val="150000"/>
              </a:lnSpc>
              <a:buClr>
                <a:schemeClr val="folHlink"/>
              </a:buClr>
              <a:buSzPct val="60000"/>
            </a:pPr>
            <a:r>
              <a:rPr lang="en-US" altLang="zh-CN" sz="1867" b="1" dirty="0">
                <a:solidFill>
                  <a:schemeClr val="accent5">
                    <a:lumMod val="10000"/>
                  </a:schemeClr>
                </a:solidFill>
              </a:rPr>
              <a:t>&lt;</a:t>
            </a:r>
            <a:r>
              <a:rPr lang="en-US" altLang="zh-CN" sz="1867" b="1" dirty="0" err="1">
                <a:solidFill>
                  <a:schemeClr val="accent5">
                    <a:lumMod val="10000"/>
                  </a:schemeClr>
                </a:solidFill>
              </a:rPr>
              <a:t>aop:config</a:t>
            </a:r>
            <a:r>
              <a:rPr lang="en-US" altLang="zh-CN" sz="1867" b="1" dirty="0">
                <a:solidFill>
                  <a:schemeClr val="accent5">
                    <a:lumMod val="10000"/>
                  </a:schemeClr>
                </a:solidFill>
              </a:rPr>
              <a:t>&gt;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&lt;</a:t>
            </a:r>
            <a:r>
              <a:rPr lang="en-US" altLang="zh-CN" sz="1867" b="1" dirty="0" err="1">
                <a:solidFill>
                  <a:schemeClr val="accent5">
                    <a:lumMod val="10000"/>
                  </a:schemeClr>
                </a:solidFill>
              </a:rPr>
              <a:t>aop:pointcut</a:t>
            </a:r>
            <a:r>
              <a:rPr lang="en-US" altLang="zh-CN" sz="1867" b="1" dirty="0">
                <a:solidFill>
                  <a:schemeClr val="accent5">
                    <a:lumMod val="10000"/>
                  </a:schemeClr>
                </a:solidFill>
              </a:rPr>
              <a:t> id="</a:t>
            </a:r>
            <a:r>
              <a:rPr lang="en-US" altLang="zh-CN" sz="1867" b="1" dirty="0" err="1">
                <a:solidFill>
                  <a:schemeClr val="accent5">
                    <a:lumMod val="10000"/>
                  </a:schemeClr>
                </a:solidFill>
              </a:rPr>
              <a:t>pointcut</a:t>
            </a:r>
            <a:r>
              <a:rPr lang="en-US" altLang="zh-CN" sz="1867" b="1" dirty="0">
                <a:solidFill>
                  <a:schemeClr val="accent5">
                    <a:lumMod val="10000"/>
                  </a:schemeClr>
                </a:solidFill>
              </a:rPr>
              <a: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expression="execution(public void </a:t>
            </a:r>
            <a:r>
              <a:rPr lang="en-US" altLang="zh-CN" sz="1867" b="1" dirty="0" err="1">
                <a:solidFill>
                  <a:schemeClr val="accent5">
                    <a:lumMod val="10000"/>
                  </a:schemeClr>
                </a:solidFill>
              </a:rPr>
              <a:t>addNewUser</a:t>
            </a:r>
            <a:r>
              <a:rPr lang="en-US" altLang="zh-CN" sz="1867" b="1" dirty="0">
                <a:solidFill>
                  <a:schemeClr val="accent5">
                    <a:lumMod val="10000"/>
                  </a:schemeClr>
                </a:solidFill>
              </a:rPr>
              <a:t>(</a:t>
            </a:r>
            <a:r>
              <a:rPr lang="en-US" altLang="zh-CN" sz="1867" b="1" dirty="0" err="1">
                <a:solidFill>
                  <a:schemeClr val="accent5">
                    <a:lumMod val="10000"/>
                  </a:schemeClr>
                </a:solidFill>
              </a:rPr>
              <a:t>entity.User</a:t>
            </a:r>
            <a:r>
              <a:rPr lang="en-US" altLang="zh-CN" sz="1867" b="1" dirty="0">
                <a:solidFill>
                  <a:schemeClr val="accent5">
                    <a:lumMod val="10000"/>
                  </a:schemeClr>
                </a:solidFill>
              </a:rPr>
              <a:t>))" /&gt;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&lt;</a:t>
            </a:r>
            <a:r>
              <a:rPr lang="en-US" altLang="zh-CN" sz="1867" b="1" dirty="0" err="1">
                <a:solidFill>
                  <a:schemeClr val="accent5">
                    <a:lumMod val="10000"/>
                  </a:schemeClr>
                </a:solidFill>
              </a:rPr>
              <a:t>aop:aspect</a:t>
            </a:r>
            <a:r>
              <a:rPr lang="en-US" altLang="zh-CN" sz="1867" b="1" dirty="0">
                <a:solidFill>
                  <a:schemeClr val="accent5">
                    <a:lumMod val="10000"/>
                  </a:schemeClr>
                </a:solidFill>
              </a:rPr>
              <a:t> ref="</a:t>
            </a:r>
            <a:r>
              <a:rPr lang="en-US" altLang="zh-CN" sz="1867" b="1" dirty="0" err="1">
                <a:solidFill>
                  <a:schemeClr val="accent5">
                    <a:lumMod val="10000"/>
                  </a:schemeClr>
                </a:solidFill>
              </a:rPr>
              <a:t>userServiceLogger</a:t>
            </a:r>
            <a:r>
              <a:rPr lang="en-US" altLang="zh-CN" sz="1867" b="1" dirty="0">
                <a:solidFill>
                  <a:schemeClr val="accent5">
                    <a:lumMod val="10000"/>
                  </a:schemeClr>
                </a:solidFill>
              </a:rPr>
              <a:t>"&gt;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a:t>
            </a:r>
            <a:r>
              <a:rPr lang="en-US" altLang="zh-CN" sz="1867" b="1" dirty="0">
                <a:solidFill>
                  <a:srgbClr val="FF0000"/>
                </a:solidFill>
              </a:rPr>
              <a:t>&lt;</a:t>
            </a:r>
            <a:r>
              <a:rPr lang="en-US" altLang="zh-CN" sz="1867" b="1" dirty="0" err="1">
                <a:solidFill>
                  <a:srgbClr val="FF0000"/>
                </a:solidFill>
              </a:rPr>
              <a:t>aop:before</a:t>
            </a:r>
            <a:r>
              <a:rPr lang="en-US" altLang="zh-CN" sz="1867" b="1" dirty="0">
                <a:solidFill>
                  <a:srgbClr val="FF0000"/>
                </a:solidFill>
              </a:rPr>
              <a:t> </a:t>
            </a:r>
            <a:r>
              <a:rPr lang="en-US" altLang="zh-CN" sz="1867" b="1" dirty="0">
                <a:solidFill>
                  <a:schemeClr val="accent5">
                    <a:lumMod val="10000"/>
                  </a:schemeClr>
                </a:solidFill>
              </a:rPr>
              <a:t>method="before" </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a:t>
            </a:r>
            <a:r>
              <a:rPr lang="en-US" altLang="zh-CN" sz="1867" b="1" dirty="0" err="1">
                <a:solidFill>
                  <a:schemeClr val="accent5">
                    <a:lumMod val="10000"/>
                  </a:schemeClr>
                </a:solidFill>
              </a:rPr>
              <a:t>pointcut</a:t>
            </a:r>
            <a:r>
              <a:rPr lang="en-US" altLang="zh-CN" sz="1867" b="1" dirty="0">
                <a:solidFill>
                  <a:schemeClr val="accent5">
                    <a:lumMod val="10000"/>
                  </a:schemeClr>
                </a:solidFill>
              </a:rPr>
              <a:t>-ref="</a:t>
            </a:r>
            <a:r>
              <a:rPr lang="en-US" altLang="zh-CN" sz="1867" b="1" dirty="0" err="1">
                <a:solidFill>
                  <a:schemeClr val="accent5">
                    <a:lumMod val="10000"/>
                  </a:schemeClr>
                </a:solidFill>
              </a:rPr>
              <a:t>pointcut</a:t>
            </a:r>
            <a:r>
              <a:rPr lang="en-US" altLang="zh-CN" sz="1867" b="1" dirty="0">
                <a:solidFill>
                  <a:schemeClr val="accent5">
                    <a:lumMod val="10000"/>
                  </a:schemeClr>
                </a:solidFill>
              </a:rPr>
              <a:t>"&gt;&lt;/</a:t>
            </a:r>
            <a:r>
              <a:rPr lang="en-US" altLang="zh-CN" sz="1867" b="1" dirty="0" err="1">
                <a:solidFill>
                  <a:schemeClr val="accent5">
                    <a:lumMod val="10000"/>
                  </a:schemeClr>
                </a:solidFill>
              </a:rPr>
              <a:t>aop:before</a:t>
            </a:r>
            <a:r>
              <a:rPr lang="en-US" altLang="zh-CN" sz="1867" b="1" dirty="0">
                <a:solidFill>
                  <a:schemeClr val="accent5">
                    <a:lumMod val="10000"/>
                  </a:schemeClr>
                </a:solidFill>
              </a:rPr>
              <a:t>&gt;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a:t>
            </a:r>
            <a:r>
              <a:rPr lang="en-US" altLang="zh-CN" sz="1867" b="1" dirty="0">
                <a:solidFill>
                  <a:srgbClr val="FF0000"/>
                </a:solidFill>
              </a:rPr>
              <a:t>&lt;</a:t>
            </a:r>
            <a:r>
              <a:rPr lang="en-US" altLang="zh-CN" sz="1867" b="1" dirty="0" err="1">
                <a:solidFill>
                  <a:srgbClr val="FF0000"/>
                </a:solidFill>
              </a:rPr>
              <a:t>aop:after-returning</a:t>
            </a:r>
            <a:r>
              <a:rPr lang="en-US" altLang="zh-CN" sz="1867" b="1" dirty="0">
                <a:solidFill>
                  <a:srgbClr val="FF0000"/>
                </a:solidFill>
              </a:rPr>
              <a:t> </a:t>
            </a:r>
            <a:r>
              <a:rPr lang="en-US" altLang="zh-CN" sz="1867" b="1" dirty="0">
                <a:solidFill>
                  <a:schemeClr val="accent5">
                    <a:lumMod val="10000"/>
                  </a:schemeClr>
                </a:solidFill>
              </a:rPr>
              <a:t>method="</a:t>
            </a:r>
            <a:r>
              <a:rPr lang="en-US" altLang="zh-CN" sz="1867" b="1" dirty="0" err="1">
                <a:solidFill>
                  <a:schemeClr val="accent5">
                    <a:lumMod val="10000"/>
                  </a:schemeClr>
                </a:solidFill>
              </a:rPr>
              <a:t>afterReturning</a:t>
            </a:r>
            <a:r>
              <a:rPr lang="en-US" altLang="zh-CN" sz="1867" b="1" dirty="0">
                <a:solidFill>
                  <a:schemeClr val="accent5">
                    <a:lumMod val="10000"/>
                  </a:schemeClr>
                </a:solidFill>
              </a:rPr>
              <a:t>" </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a:t>
            </a:r>
            <a:r>
              <a:rPr lang="en-US" altLang="zh-CN" sz="1867" b="1" dirty="0" err="1">
                <a:solidFill>
                  <a:schemeClr val="accent5">
                    <a:lumMod val="10000"/>
                  </a:schemeClr>
                </a:solidFill>
              </a:rPr>
              <a:t>pointcut</a:t>
            </a:r>
            <a:r>
              <a:rPr lang="en-US" altLang="zh-CN" sz="1867" b="1" dirty="0">
                <a:solidFill>
                  <a:schemeClr val="accent5">
                    <a:lumMod val="10000"/>
                  </a:schemeClr>
                </a:solidFill>
              </a:rPr>
              <a:t>-ref="</a:t>
            </a:r>
            <a:r>
              <a:rPr lang="en-US" altLang="zh-CN" sz="1867" b="1" dirty="0" err="1">
                <a:solidFill>
                  <a:schemeClr val="accent5">
                    <a:lumMod val="10000"/>
                  </a:schemeClr>
                </a:solidFill>
              </a:rPr>
              <a:t>pointcut</a:t>
            </a:r>
            <a:r>
              <a:rPr lang="en-US" altLang="zh-CN" sz="1867" b="1" dirty="0">
                <a:solidFill>
                  <a:schemeClr val="accent5">
                    <a:lumMod val="10000"/>
                  </a:schemeClr>
                </a:solidFill>
              </a:rPr>
              <a:t>" returning="result"/&gt;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     &lt;/</a:t>
            </a:r>
            <a:r>
              <a:rPr lang="en-US" altLang="zh-CN" sz="1867" b="1" dirty="0" err="1">
                <a:solidFill>
                  <a:schemeClr val="accent5">
                    <a:lumMod val="10000"/>
                  </a:schemeClr>
                </a:solidFill>
              </a:rPr>
              <a:t>aop:aspect</a:t>
            </a:r>
            <a:r>
              <a:rPr lang="en-US" altLang="zh-CN" sz="1867" b="1" dirty="0">
                <a:solidFill>
                  <a:schemeClr val="accent5">
                    <a:lumMod val="10000"/>
                  </a:schemeClr>
                </a:solidFill>
              </a:rPr>
              <a:t>&gt;</a:t>
            </a:r>
            <a:endParaRPr lang="zh-CN" altLang="zh-CN" sz="1867" b="1" dirty="0">
              <a:solidFill>
                <a:schemeClr val="accent5">
                  <a:lumMod val="10000"/>
                </a:schemeClr>
              </a:solidFill>
            </a:endParaRPr>
          </a:p>
          <a:p>
            <a:pPr indent="-457189" defTabSz="507987">
              <a:lnSpc>
                <a:spcPct val="150000"/>
              </a:lnSpc>
              <a:buClr>
                <a:schemeClr val="folHlink"/>
              </a:buClr>
              <a:buSzPct val="60000"/>
            </a:pPr>
            <a:r>
              <a:rPr lang="en-US" altLang="zh-CN" sz="1867" b="1" dirty="0">
                <a:solidFill>
                  <a:schemeClr val="accent5">
                    <a:lumMod val="10000"/>
                  </a:schemeClr>
                </a:solidFill>
              </a:rPr>
              <a:t>&lt;/</a:t>
            </a:r>
            <a:r>
              <a:rPr lang="en-US" altLang="zh-CN" sz="1867" b="1" dirty="0" err="1">
                <a:solidFill>
                  <a:schemeClr val="accent5">
                    <a:lumMod val="10000"/>
                  </a:schemeClr>
                </a:solidFill>
              </a:rPr>
              <a:t>aop:config</a:t>
            </a:r>
            <a:r>
              <a:rPr lang="en-US" altLang="zh-CN" sz="1867" b="1" dirty="0">
                <a:solidFill>
                  <a:schemeClr val="accent5">
                    <a:lumMod val="10000"/>
                  </a:schemeClr>
                </a:solidFill>
              </a:rPr>
              <a:t>&gt;</a:t>
            </a:r>
          </a:p>
        </p:txBody>
      </p:sp>
      <p:sp>
        <p:nvSpPr>
          <p:cNvPr id="19" name="AutoShape 6"/>
          <p:cNvSpPr>
            <a:spLocks noChangeArrowheads="1"/>
          </p:cNvSpPr>
          <p:nvPr/>
        </p:nvSpPr>
        <p:spPr bwMode="auto">
          <a:xfrm>
            <a:off x="7415616" y="4138454"/>
            <a:ext cx="1283129"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切入点</a:t>
            </a:r>
          </a:p>
        </p:txBody>
      </p:sp>
      <p:sp>
        <p:nvSpPr>
          <p:cNvPr id="9" name="Rectangle 34"/>
          <p:cNvSpPr>
            <a:spLocks noChangeArrowheads="1"/>
          </p:cNvSpPr>
          <p:nvPr/>
        </p:nvSpPr>
        <p:spPr bwMode="auto">
          <a:xfrm>
            <a:off x="2910727" y="3687862"/>
            <a:ext cx="2592288" cy="282719"/>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0" name="Rectangle 34"/>
          <p:cNvSpPr>
            <a:spLocks noChangeArrowheads="1"/>
          </p:cNvSpPr>
          <p:nvPr/>
        </p:nvSpPr>
        <p:spPr bwMode="auto">
          <a:xfrm>
            <a:off x="2845159" y="4566488"/>
            <a:ext cx="2482756" cy="280019"/>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1" name="AutoShape 6"/>
          <p:cNvSpPr>
            <a:spLocks noChangeArrowheads="1"/>
          </p:cNvSpPr>
          <p:nvPr/>
        </p:nvSpPr>
        <p:spPr bwMode="auto">
          <a:xfrm>
            <a:off x="7754740" y="3527906"/>
            <a:ext cx="2067024"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被织入的方法</a:t>
            </a:r>
          </a:p>
        </p:txBody>
      </p:sp>
      <p:sp>
        <p:nvSpPr>
          <p:cNvPr id="16" name="Rectangle 34"/>
          <p:cNvSpPr>
            <a:spLocks noChangeArrowheads="1"/>
          </p:cNvSpPr>
          <p:nvPr/>
        </p:nvSpPr>
        <p:spPr bwMode="auto">
          <a:xfrm>
            <a:off x="3439419" y="4123813"/>
            <a:ext cx="1846097" cy="256887"/>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8" name="AutoShape 6"/>
          <p:cNvSpPr>
            <a:spLocks noChangeArrowheads="1"/>
          </p:cNvSpPr>
          <p:nvPr/>
        </p:nvSpPr>
        <p:spPr bwMode="auto">
          <a:xfrm>
            <a:off x="6495854" y="2597115"/>
            <a:ext cx="2192436"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增强处理对象</a:t>
            </a:r>
          </a:p>
        </p:txBody>
      </p:sp>
      <p:sp>
        <p:nvSpPr>
          <p:cNvPr id="39" name="AutoShape 6"/>
          <p:cNvSpPr>
            <a:spLocks noChangeArrowheads="1"/>
          </p:cNvSpPr>
          <p:nvPr/>
        </p:nvSpPr>
        <p:spPr bwMode="auto">
          <a:xfrm>
            <a:off x="35206" y="4531803"/>
            <a:ext cx="1695431"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前置增强处理</a:t>
            </a:r>
          </a:p>
        </p:txBody>
      </p:sp>
      <p:sp>
        <p:nvSpPr>
          <p:cNvPr id="40" name="AutoShape 6"/>
          <p:cNvSpPr>
            <a:spLocks noChangeArrowheads="1"/>
          </p:cNvSpPr>
          <p:nvPr/>
        </p:nvSpPr>
        <p:spPr bwMode="auto">
          <a:xfrm>
            <a:off x="0" y="5386593"/>
            <a:ext cx="2016224" cy="408623"/>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后置增强处理</a:t>
            </a:r>
          </a:p>
        </p:txBody>
      </p:sp>
      <p:sp>
        <p:nvSpPr>
          <p:cNvPr id="41" name="AutoShape 6"/>
          <p:cNvSpPr>
            <a:spLocks noChangeArrowheads="1"/>
          </p:cNvSpPr>
          <p:nvPr/>
        </p:nvSpPr>
        <p:spPr bwMode="auto">
          <a:xfrm>
            <a:off x="7536160" y="5829267"/>
            <a:ext cx="3264363" cy="715089"/>
          </a:xfrm>
          <a:prstGeom prst="roundRect">
            <a:avLst>
              <a:gd name="adj" fmla="val 16667"/>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zh-CN" b="1" dirty="0">
                <a:solidFill>
                  <a:schemeClr val="bg1"/>
                </a:solidFill>
                <a:ea typeface="黑体" panose="02010609060101010101" pitchFamily="49" charset="-122"/>
              </a:rPr>
              <a:t>指定需要注入返回值的属性名</a:t>
            </a:r>
            <a:r>
              <a:rPr lang="zh-CN" altLang="en-US" b="1" dirty="0">
                <a:solidFill>
                  <a:schemeClr val="bg1"/>
                </a:solidFill>
                <a:ea typeface="黑体" panose="02010609060101010101" pitchFamily="49" charset="-122"/>
              </a:rPr>
              <a:t>为</a:t>
            </a:r>
            <a:r>
              <a:rPr lang="en-US" altLang="zh-CN" b="1" dirty="0">
                <a:solidFill>
                  <a:schemeClr val="bg1"/>
                </a:solidFill>
                <a:ea typeface="黑体" panose="02010609060101010101" pitchFamily="49" charset="-122"/>
              </a:rPr>
              <a:t>result</a:t>
            </a:r>
            <a:endParaRPr lang="zh-CN" altLang="en-US" b="1" dirty="0">
              <a:solidFill>
                <a:schemeClr val="bg1"/>
              </a:solidFill>
              <a:ea typeface="黑体" panose="02010609060101010101" pitchFamily="49" charset="-122"/>
            </a:endParaRPr>
          </a:p>
        </p:txBody>
      </p:sp>
      <p:sp>
        <p:nvSpPr>
          <p:cNvPr id="42" name="Rectangle 34"/>
          <p:cNvSpPr>
            <a:spLocks noChangeArrowheads="1"/>
          </p:cNvSpPr>
          <p:nvPr/>
        </p:nvSpPr>
        <p:spPr bwMode="auto">
          <a:xfrm>
            <a:off x="5459444" y="5395237"/>
            <a:ext cx="2208244" cy="303155"/>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51" name="Rectangle 34"/>
          <p:cNvSpPr>
            <a:spLocks noChangeArrowheads="1"/>
          </p:cNvSpPr>
          <p:nvPr/>
        </p:nvSpPr>
        <p:spPr bwMode="auto">
          <a:xfrm>
            <a:off x="4352091" y="4965171"/>
            <a:ext cx="2718809" cy="280019"/>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52" name="Rectangle 34"/>
          <p:cNvSpPr>
            <a:spLocks noChangeArrowheads="1"/>
          </p:cNvSpPr>
          <p:nvPr/>
        </p:nvSpPr>
        <p:spPr bwMode="auto">
          <a:xfrm>
            <a:off x="2835441" y="5414691"/>
            <a:ext cx="2400267" cy="303156"/>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cxnSp>
        <p:nvCxnSpPr>
          <p:cNvPr id="24" name="直接箭头连接符 23"/>
          <p:cNvCxnSpPr/>
          <p:nvPr/>
        </p:nvCxnSpPr>
        <p:spPr>
          <a:xfrm>
            <a:off x="6990607" y="5560722"/>
            <a:ext cx="1313639" cy="186309"/>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6" name="直接箭头连接符 25"/>
          <p:cNvCxnSpPr/>
          <p:nvPr/>
        </p:nvCxnSpPr>
        <p:spPr>
          <a:xfrm flipV="1">
            <a:off x="4968407" y="4293097"/>
            <a:ext cx="2375732" cy="405447"/>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9" name="直接箭头连接符 28"/>
          <p:cNvCxnSpPr>
            <a:stCxn id="16" idx="3"/>
          </p:cNvCxnSpPr>
          <p:nvPr/>
        </p:nvCxnSpPr>
        <p:spPr>
          <a:xfrm flipV="1">
            <a:off x="5285516" y="3749243"/>
            <a:ext cx="2585647" cy="503013"/>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2" name="直接箭头连接符 31"/>
          <p:cNvCxnSpPr>
            <a:endCxn id="18" idx="1"/>
          </p:cNvCxnSpPr>
          <p:nvPr/>
        </p:nvCxnSpPr>
        <p:spPr>
          <a:xfrm flipV="1">
            <a:off x="5061779" y="2801427"/>
            <a:ext cx="1434075" cy="886436"/>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5" name="直接箭头连接符 34"/>
          <p:cNvCxnSpPr/>
          <p:nvPr/>
        </p:nvCxnSpPr>
        <p:spPr>
          <a:xfrm flipH="1">
            <a:off x="1730637" y="4396978"/>
            <a:ext cx="812968" cy="384500"/>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44" name="直接箭头连接符 43"/>
          <p:cNvCxnSpPr/>
          <p:nvPr/>
        </p:nvCxnSpPr>
        <p:spPr>
          <a:xfrm flipH="1">
            <a:off x="1730638" y="5204037"/>
            <a:ext cx="406484" cy="140009"/>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163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left)">
                                      <p:cBhvr>
                                        <p:cTn id="10" dur="500"/>
                                        <p:tgtEl>
                                          <p:spTgt spid="3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left)">
                                      <p:cBhvr>
                                        <p:cTn id="18" dur="500"/>
                                        <p:tgtEl>
                                          <p:spTgt spid="35"/>
                                        </p:tgtEl>
                                      </p:cBhvr>
                                    </p:animEffect>
                                  </p:childTnLst>
                                </p:cTn>
                              </p:par>
                              <p:par>
                                <p:cTn id="19" presetID="22" presetClass="entr" presetSubtype="8"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wipe(left)">
                                      <p:cBhvr>
                                        <p:cTn id="21" dur="500"/>
                                        <p:tgtEl>
                                          <p:spTgt spid="44"/>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left)">
                                      <p:cBhvr>
                                        <p:cTn id="24" dur="500"/>
                                        <p:tgtEl>
                                          <p:spTgt spid="3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left)">
                                      <p:cBhvr>
                                        <p:cTn id="35" dur="500"/>
                                        <p:tgtEl>
                                          <p:spTgt spid="51"/>
                                        </p:tgtEl>
                                      </p:cBhvr>
                                    </p:animEffect>
                                  </p:childTnLst>
                                </p:cTn>
                              </p:par>
                              <p:par>
                                <p:cTn id="36" presetID="22" presetClass="entr" presetSubtype="8"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left)">
                                      <p:cBhvr>
                                        <p:cTn id="38" dur="500"/>
                                        <p:tgtEl>
                                          <p:spTgt spid="29"/>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left)">
                                      <p:cBhvr>
                                        <p:cTn id="46" dur="500"/>
                                        <p:tgtEl>
                                          <p:spTgt spid="26"/>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wipe(left)">
                                      <p:cBhvr>
                                        <p:cTn id="52" dur="500"/>
                                        <p:tgtEl>
                                          <p:spTgt spid="52"/>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wipe(left)">
                                      <p:cBhvr>
                                        <p:cTn id="60" dur="500"/>
                                        <p:tgtEl>
                                          <p:spTgt spid="42"/>
                                        </p:tgtEl>
                                      </p:cBhvr>
                                    </p:animEffect>
                                  </p:childTnLst>
                                </p:cTn>
                              </p:par>
                              <p:par>
                                <p:cTn id="61" presetID="22" presetClass="entr" presetSubtype="8"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left)">
                                      <p:cBhvr>
                                        <p:cTn id="63" dur="500"/>
                                        <p:tgtEl>
                                          <p:spTgt spid="24"/>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left)">
                                      <p:cBhvr>
                                        <p:cTn id="6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9" grpId="0" animBg="1"/>
      <p:bldP spid="10" grpId="0" animBg="1"/>
      <p:bldP spid="11" grpId="0" animBg="1"/>
      <p:bldP spid="16" grpId="0" animBg="1"/>
      <p:bldP spid="18" grpId="0" animBg="1"/>
      <p:bldP spid="39" grpId="0" animBg="1"/>
      <p:bldP spid="40" grpId="0" animBg="1"/>
      <p:bldP spid="41" grpId="0" animBg="1"/>
      <p:bldP spid="42" grpId="0" animBg="1"/>
      <p:bldP spid="51" grpId="0" animBg="1"/>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idx="1"/>
          </p:nvPr>
        </p:nvSpPr>
        <p:spPr/>
        <p:txBody>
          <a:bodyPr/>
          <a:lstStyle/>
          <a:p>
            <a:r>
              <a:rPr lang="en-US" altLang="zh-CN" sz="2933" dirty="0">
                <a:solidFill>
                  <a:srgbClr val="FF0000"/>
                </a:solidFill>
                <a:cs typeface="Arial" charset="0"/>
              </a:rPr>
              <a:t>AOP</a:t>
            </a:r>
          </a:p>
          <a:p>
            <a:pPr lvl="1"/>
            <a:r>
              <a:rPr lang="zh-CN" altLang="en-US" sz="2667" dirty="0">
                <a:cs typeface="Arial" charset="0"/>
              </a:rPr>
              <a:t>面向切面编程：从系统中分离出切面，独立于业务逻辑实现，在程序执行时织入程序中运行（</a:t>
            </a:r>
            <a:r>
              <a:rPr lang="zh-CN" altLang="zh-CN" sz="2667" dirty="0">
                <a:solidFill>
                  <a:srgbClr val="FF0000"/>
                </a:solidFill>
                <a:cs typeface="Arial" charset="0"/>
              </a:rPr>
              <a:t>在什么位置，执行什么功能</a:t>
            </a:r>
            <a:r>
              <a:rPr lang="zh-CN" altLang="en-US" sz="2667" dirty="0">
                <a:cs typeface="Arial" charset="0"/>
              </a:rPr>
              <a:t>）</a:t>
            </a:r>
            <a:endParaRPr lang="en-US" altLang="zh-CN" sz="2667" dirty="0">
              <a:cs typeface="Arial" charset="0"/>
            </a:endParaRPr>
          </a:p>
          <a:p>
            <a:pPr lvl="1">
              <a:defRPr/>
            </a:pPr>
            <a:r>
              <a:rPr lang="zh-CN" altLang="en-US" sz="2667" dirty="0">
                <a:cs typeface="Arial" charset="0"/>
              </a:rPr>
              <a:t>配置</a:t>
            </a:r>
            <a:r>
              <a:rPr lang="en-US" altLang="zh-CN" sz="2667" dirty="0">
                <a:cs typeface="Arial" charset="0"/>
              </a:rPr>
              <a:t>AOP</a:t>
            </a:r>
            <a:r>
              <a:rPr lang="zh-CN" altLang="en-US" sz="2667" dirty="0">
                <a:cs typeface="Arial" charset="0"/>
              </a:rPr>
              <a:t>主要使用</a:t>
            </a:r>
            <a:r>
              <a:rPr lang="en-US" altLang="zh-CN" sz="2667" dirty="0" err="1">
                <a:cs typeface="Arial" charset="0"/>
              </a:rPr>
              <a:t>aop</a:t>
            </a:r>
            <a:r>
              <a:rPr lang="zh-CN" altLang="en-US" sz="2667" dirty="0">
                <a:cs typeface="Arial" charset="0"/>
              </a:rPr>
              <a:t>命名空间下的元素完成，可以实现定义切入点和织入增强等操作</a:t>
            </a:r>
            <a:endParaRPr lang="en-US" altLang="zh-CN" sz="2667" dirty="0">
              <a:cs typeface="Arial" charset="0"/>
            </a:endParaRPr>
          </a:p>
          <a:p>
            <a:pPr lvl="1">
              <a:defRPr/>
            </a:pPr>
            <a:r>
              <a:rPr lang="zh-CN" altLang="en-US" sz="2667" dirty="0">
                <a:cs typeface="Arial" charset="0"/>
              </a:rPr>
              <a:t>增强处理</a:t>
            </a:r>
            <a:endParaRPr lang="en-US" altLang="zh-CN" sz="2667" dirty="0">
              <a:cs typeface="Arial" charset="0"/>
            </a:endParaRPr>
          </a:p>
          <a:p>
            <a:pPr lvl="2"/>
            <a:r>
              <a:rPr lang="zh-CN" altLang="en-US" sz="2400" dirty="0">
                <a:cs typeface="Arial" charset="0"/>
              </a:rPr>
              <a:t>前置增强</a:t>
            </a:r>
            <a:endParaRPr lang="en-US" altLang="zh-CN" sz="2400" dirty="0">
              <a:cs typeface="Arial" charset="0"/>
            </a:endParaRPr>
          </a:p>
          <a:p>
            <a:pPr lvl="2"/>
            <a:r>
              <a:rPr lang="zh-CN" altLang="en-US" sz="2400" dirty="0">
                <a:cs typeface="Arial" charset="0"/>
              </a:rPr>
              <a:t>后置增强</a:t>
            </a:r>
          </a:p>
          <a:p>
            <a:pPr lvl="2">
              <a:defRPr/>
            </a:pPr>
            <a:endParaRPr lang="en-US" altLang="zh-CN" sz="1600" dirty="0">
              <a:cs typeface="Arial" charset="0"/>
            </a:endParaRPr>
          </a:p>
          <a:p>
            <a:pPr lvl="1"/>
            <a:endParaRPr lang="zh-CN" altLang="en-US" dirty="0">
              <a:solidFill>
                <a:srgbClr val="FF0000"/>
              </a:solidFill>
              <a:cs typeface="Arial" charset="0"/>
            </a:endParaRPr>
          </a:p>
          <a:p>
            <a:endParaRPr lang="zh-CN" altLang="en-US" dirty="0"/>
          </a:p>
        </p:txBody>
      </p:sp>
    </p:spTree>
    <p:extLst>
      <p:ext uri="{BB962C8B-B14F-4D97-AF65-F5344CB8AC3E}">
        <p14:creationId xmlns:p14="http://schemas.microsoft.com/office/powerpoint/2010/main" val="3296718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defRPr/>
            </a:pPr>
            <a:r>
              <a:rPr dirty="0"/>
              <a:t>异常抛出增强 </a:t>
            </a:r>
          </a:p>
        </p:txBody>
      </p:sp>
      <p:sp>
        <p:nvSpPr>
          <p:cNvPr id="21507" name="内容占位符 2"/>
          <p:cNvSpPr>
            <a:spLocks noGrp="1"/>
          </p:cNvSpPr>
          <p:nvPr>
            <p:ph idx="1"/>
          </p:nvPr>
        </p:nvSpPr>
        <p:spPr>
          <a:xfrm>
            <a:off x="903394" y="1220754"/>
            <a:ext cx="10350500" cy="4658500"/>
          </a:xfrm>
        </p:spPr>
        <p:txBody>
          <a:bodyPr/>
          <a:lstStyle/>
          <a:p>
            <a:pPr>
              <a:defRPr/>
            </a:pPr>
            <a:r>
              <a:rPr lang="zh-CN" altLang="en-US" dirty="0"/>
              <a:t>异常抛出增强的特点</a:t>
            </a:r>
            <a:endParaRPr lang="en-US" altLang="zh-CN" dirty="0"/>
          </a:p>
          <a:p>
            <a:pPr lvl="1">
              <a:defRPr/>
            </a:pPr>
            <a:r>
              <a:rPr lang="zh-CN" altLang="en-US" dirty="0"/>
              <a:t>在目标方法抛出异常时织入增强处理</a:t>
            </a:r>
            <a:endParaRPr lang="en-US" altLang="zh-CN" dirty="0"/>
          </a:p>
          <a:p>
            <a:pPr lvl="1">
              <a:defRPr/>
            </a:pPr>
            <a:r>
              <a:rPr lang="zh-CN" altLang="zh-CN" dirty="0"/>
              <a:t>可拔插的异常处理方案</a:t>
            </a:r>
            <a:endParaRPr lang="en-US" altLang="zh-CN" dirty="0"/>
          </a:p>
          <a:p>
            <a:pPr>
              <a:defRPr/>
            </a:pPr>
            <a:r>
              <a:rPr lang="en-US" altLang="zh-CN" dirty="0">
                <a:solidFill>
                  <a:srgbClr val="FF0000"/>
                </a:solidFill>
              </a:rPr>
              <a:t>&lt;</a:t>
            </a:r>
            <a:r>
              <a:rPr lang="en-US" altLang="zh-CN" dirty="0" err="1">
                <a:solidFill>
                  <a:srgbClr val="FF0000"/>
                </a:solidFill>
              </a:rPr>
              <a:t>aop:after-throwing</a:t>
            </a:r>
            <a:r>
              <a:rPr lang="en-US" altLang="zh-CN" dirty="0">
                <a:solidFill>
                  <a:srgbClr val="FF0000"/>
                </a:solidFill>
              </a:rPr>
              <a:t>&gt;</a:t>
            </a:r>
            <a:r>
              <a:rPr lang="zh-CN" altLang="en-US" dirty="0"/>
              <a:t>元素：</a:t>
            </a:r>
            <a:r>
              <a:rPr lang="zh-CN" altLang="zh-CN" dirty="0"/>
              <a:t>定义异常抛出增强</a:t>
            </a:r>
            <a:endParaRPr lang="zh-CN" altLang="en-US" dirty="0"/>
          </a:p>
        </p:txBody>
      </p:sp>
      <p:sp>
        <p:nvSpPr>
          <p:cNvPr id="24" name="AutoShape 5"/>
          <p:cNvSpPr>
            <a:spLocks noChangeArrowheads="1"/>
          </p:cNvSpPr>
          <p:nvPr/>
        </p:nvSpPr>
        <p:spPr bwMode="auto">
          <a:xfrm>
            <a:off x="1871531" y="3789040"/>
            <a:ext cx="6962907" cy="2011833"/>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lnSpc>
                <a:spcPct val="150000"/>
              </a:lnSpc>
              <a:buClr>
                <a:schemeClr val="folHlink"/>
              </a:buClr>
              <a:buSzPct val="60000"/>
            </a:pPr>
            <a:r>
              <a:rPr lang="en-US" altLang="zh-CN" sz="2133" b="1" dirty="0">
                <a:solidFill>
                  <a:schemeClr val="accent5">
                    <a:lumMod val="10000"/>
                  </a:schemeClr>
                </a:solidFill>
              </a:rPr>
              <a:t>&lt;</a:t>
            </a:r>
            <a:r>
              <a:rPr lang="en-US" altLang="zh-CN" sz="2133" b="1" dirty="0" err="1">
                <a:solidFill>
                  <a:schemeClr val="accent5">
                    <a:lumMod val="10000"/>
                  </a:schemeClr>
                </a:solidFill>
              </a:rPr>
              <a:t>aop:aspect</a:t>
            </a:r>
            <a:r>
              <a:rPr lang="en-US" altLang="zh-CN" sz="2133" b="1" dirty="0">
                <a:solidFill>
                  <a:schemeClr val="accent5">
                    <a:lumMod val="10000"/>
                  </a:schemeClr>
                </a:solidFill>
              </a:rPr>
              <a:t> ref="</a:t>
            </a:r>
            <a:r>
              <a:rPr lang="en-US" altLang="zh-CN" sz="2133" b="1" dirty="0" err="1">
                <a:solidFill>
                  <a:schemeClr val="accent5">
                    <a:lumMod val="10000"/>
                  </a:schemeClr>
                </a:solidFill>
              </a:rPr>
              <a:t>theLogger</a:t>
            </a:r>
            <a:r>
              <a:rPr lang="en-US" altLang="zh-CN" sz="2133" b="1" dirty="0">
                <a:solidFill>
                  <a:schemeClr val="accent5">
                    <a:lumMod val="10000"/>
                  </a:schemeClr>
                </a:solidFill>
              </a:rPr>
              <a:t>"&gt;</a:t>
            </a:r>
            <a:endParaRPr lang="zh-CN" altLang="zh-CN" sz="2133" b="1" dirty="0">
              <a:solidFill>
                <a:schemeClr val="accent5">
                  <a:lumMod val="10000"/>
                </a:schemeClr>
              </a:solidFill>
            </a:endParaRPr>
          </a:p>
          <a:p>
            <a:pPr indent="-457189" defTabSz="507987">
              <a:lnSpc>
                <a:spcPct val="150000"/>
              </a:lnSpc>
              <a:buClr>
                <a:schemeClr val="folHlink"/>
              </a:buClr>
              <a:buSzPct val="60000"/>
            </a:pPr>
            <a:r>
              <a:rPr lang="en-US" altLang="zh-CN" sz="2133" b="1" dirty="0">
                <a:solidFill>
                  <a:schemeClr val="accent5">
                    <a:lumMod val="10000"/>
                  </a:schemeClr>
                </a:solidFill>
              </a:rPr>
              <a:t>        &lt;</a:t>
            </a:r>
            <a:r>
              <a:rPr lang="en-US" altLang="zh-CN" sz="2133" b="1" dirty="0" err="1">
                <a:solidFill>
                  <a:srgbClr val="FF0000"/>
                </a:solidFill>
              </a:rPr>
              <a:t>aop:after-throwing</a:t>
            </a:r>
            <a:r>
              <a:rPr lang="en-US" altLang="zh-CN" sz="2133" b="1" dirty="0">
                <a:solidFill>
                  <a:schemeClr val="accent5">
                    <a:lumMod val="10000"/>
                  </a:schemeClr>
                </a:solidFill>
              </a:rPr>
              <a:t> method="</a:t>
            </a:r>
            <a:r>
              <a:rPr lang="en-US" altLang="zh-CN" sz="2133" b="1" dirty="0" err="1">
                <a:solidFill>
                  <a:schemeClr val="accent5">
                    <a:lumMod val="10000"/>
                  </a:schemeClr>
                </a:solidFill>
              </a:rPr>
              <a:t>afterThrowing</a:t>
            </a:r>
            <a:r>
              <a:rPr lang="en-US" altLang="zh-CN" sz="2133" b="1" dirty="0">
                <a:solidFill>
                  <a:schemeClr val="accent5">
                    <a:lumMod val="10000"/>
                  </a:schemeClr>
                </a:solidFill>
              </a:rPr>
              <a:t>"</a:t>
            </a:r>
            <a:endParaRPr lang="zh-CN" altLang="zh-CN" sz="2133" b="1" dirty="0">
              <a:solidFill>
                <a:schemeClr val="accent5">
                  <a:lumMod val="10000"/>
                </a:schemeClr>
              </a:solidFill>
            </a:endParaRPr>
          </a:p>
          <a:p>
            <a:pPr indent="-457189" defTabSz="507987">
              <a:lnSpc>
                <a:spcPct val="150000"/>
              </a:lnSpc>
              <a:buClr>
                <a:schemeClr val="folHlink"/>
              </a:buClr>
              <a:buSzPct val="60000"/>
            </a:pPr>
            <a:r>
              <a:rPr lang="en-US" altLang="zh-CN" sz="2133" b="1" dirty="0">
                <a:solidFill>
                  <a:schemeClr val="accent5">
                    <a:lumMod val="10000"/>
                  </a:schemeClr>
                </a:solidFill>
              </a:rPr>
              <a:t>                </a:t>
            </a:r>
            <a:r>
              <a:rPr lang="en-US" altLang="zh-CN" sz="2133" b="1" dirty="0" err="1">
                <a:solidFill>
                  <a:schemeClr val="accent5">
                    <a:lumMod val="10000"/>
                  </a:schemeClr>
                </a:solidFill>
              </a:rPr>
              <a:t>pointcut</a:t>
            </a:r>
            <a:r>
              <a:rPr lang="en-US" altLang="zh-CN" sz="2133" b="1" dirty="0">
                <a:solidFill>
                  <a:schemeClr val="accent5">
                    <a:lumMod val="10000"/>
                  </a:schemeClr>
                </a:solidFill>
              </a:rPr>
              <a:t>-ref="</a:t>
            </a:r>
            <a:r>
              <a:rPr lang="en-US" altLang="zh-CN" sz="2133" b="1" dirty="0" err="1">
                <a:solidFill>
                  <a:schemeClr val="accent5">
                    <a:lumMod val="10000"/>
                  </a:schemeClr>
                </a:solidFill>
              </a:rPr>
              <a:t>pointcut</a:t>
            </a:r>
            <a:r>
              <a:rPr lang="en-US" altLang="zh-CN" sz="2133" b="1" dirty="0">
                <a:solidFill>
                  <a:schemeClr val="accent5">
                    <a:lumMod val="10000"/>
                  </a:schemeClr>
                </a:solidFill>
              </a:rPr>
              <a:t>" throwing="e" /&gt;</a:t>
            </a:r>
          </a:p>
          <a:p>
            <a:pPr indent="-457189" defTabSz="507987">
              <a:lnSpc>
                <a:spcPct val="150000"/>
              </a:lnSpc>
              <a:buClr>
                <a:schemeClr val="folHlink"/>
              </a:buClr>
              <a:buSzPct val="60000"/>
            </a:pPr>
            <a:r>
              <a:rPr lang="en-US" altLang="zh-CN" sz="2133" b="1" dirty="0">
                <a:solidFill>
                  <a:schemeClr val="accent5">
                    <a:lumMod val="10000"/>
                  </a:schemeClr>
                </a:solidFill>
              </a:rPr>
              <a:t>&lt;/</a:t>
            </a:r>
            <a:r>
              <a:rPr lang="en-US" altLang="zh-CN" sz="2133" b="1" dirty="0" err="1">
                <a:solidFill>
                  <a:schemeClr val="accent5">
                    <a:lumMod val="10000"/>
                  </a:schemeClr>
                </a:solidFill>
              </a:rPr>
              <a:t>aop:aspect</a:t>
            </a:r>
            <a:r>
              <a:rPr lang="en-US" altLang="zh-CN" sz="2133" b="1" dirty="0">
                <a:solidFill>
                  <a:schemeClr val="accent5">
                    <a:lumMod val="10000"/>
                  </a:schemeClr>
                </a:solidFill>
              </a:rPr>
              <a:t>&gt;</a:t>
            </a:r>
          </a:p>
        </p:txBody>
      </p:sp>
      <p:sp>
        <p:nvSpPr>
          <p:cNvPr id="6" name="矩形标注 5"/>
          <p:cNvSpPr/>
          <p:nvPr/>
        </p:nvSpPr>
        <p:spPr bwMode="auto">
          <a:xfrm>
            <a:off x="6823836" y="3551531"/>
            <a:ext cx="3456384" cy="369332"/>
          </a:xfrm>
          <a:prstGeom prst="wedgeRectCallout">
            <a:avLst>
              <a:gd name="adj1" fmla="val -49910"/>
              <a:gd name="adj2" fmla="val 21933"/>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en-US" b="1" dirty="0">
                <a:solidFill>
                  <a:schemeClr val="bg1"/>
                </a:solidFill>
                <a:ea typeface="黑体" panose="02010609060101010101" pitchFamily="49" charset="-122"/>
              </a:rPr>
              <a:t>引用包含增强方法的</a:t>
            </a:r>
            <a:r>
              <a:rPr lang="en-US" altLang="zh-CN" b="1" dirty="0">
                <a:solidFill>
                  <a:schemeClr val="bg1"/>
                </a:solidFill>
                <a:ea typeface="黑体" panose="02010609060101010101" pitchFamily="49" charset="-122"/>
              </a:rPr>
              <a:t>Bean </a:t>
            </a:r>
            <a:endParaRPr lang="zh-CN" altLang="en-US" b="1" dirty="0">
              <a:solidFill>
                <a:schemeClr val="bg1"/>
              </a:solidFill>
              <a:ea typeface="黑体" panose="02010609060101010101" pitchFamily="49" charset="-122"/>
            </a:endParaRPr>
          </a:p>
        </p:txBody>
      </p:sp>
      <p:sp>
        <p:nvSpPr>
          <p:cNvPr id="7" name="Rectangle 5"/>
          <p:cNvSpPr>
            <a:spLocks noChangeArrowheads="1"/>
          </p:cNvSpPr>
          <p:nvPr/>
        </p:nvSpPr>
        <p:spPr bwMode="auto">
          <a:xfrm>
            <a:off x="1967544" y="4009937"/>
            <a:ext cx="3762047" cy="338552"/>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0" name="Rectangle 5"/>
          <p:cNvSpPr>
            <a:spLocks noChangeArrowheads="1"/>
          </p:cNvSpPr>
          <p:nvPr/>
        </p:nvSpPr>
        <p:spPr bwMode="auto">
          <a:xfrm>
            <a:off x="5213798" y="4454413"/>
            <a:ext cx="3074168" cy="381067"/>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1" name="Rectangle 5"/>
          <p:cNvSpPr>
            <a:spLocks noChangeArrowheads="1"/>
          </p:cNvSpPr>
          <p:nvPr/>
        </p:nvSpPr>
        <p:spPr bwMode="auto">
          <a:xfrm>
            <a:off x="3112519" y="4956611"/>
            <a:ext cx="2909055" cy="374792"/>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2" name="矩形标注 11"/>
          <p:cNvSpPr/>
          <p:nvPr/>
        </p:nvSpPr>
        <p:spPr bwMode="auto">
          <a:xfrm>
            <a:off x="9360363" y="4096041"/>
            <a:ext cx="2671365" cy="646331"/>
          </a:xfrm>
          <a:prstGeom prst="wedgeRectCallout">
            <a:avLst>
              <a:gd name="adj1" fmla="val -49910"/>
              <a:gd name="adj2" fmla="val 21933"/>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zh-CN" b="1" dirty="0">
                <a:solidFill>
                  <a:schemeClr val="bg1"/>
                </a:solidFill>
                <a:ea typeface="黑体" panose="02010609060101010101" pitchFamily="49" charset="-122"/>
              </a:rPr>
              <a:t>将</a:t>
            </a:r>
            <a:r>
              <a:rPr lang="en-US" altLang="zh-CN" b="1" dirty="0" err="1">
                <a:solidFill>
                  <a:schemeClr val="bg1"/>
                </a:solidFill>
                <a:ea typeface="黑体" panose="02010609060101010101" pitchFamily="49" charset="-122"/>
              </a:rPr>
              <a:t>afterThrowing</a:t>
            </a:r>
            <a:r>
              <a:rPr lang="en-US" altLang="zh-CN" b="1" dirty="0">
                <a:solidFill>
                  <a:schemeClr val="bg1"/>
                </a:solidFill>
                <a:ea typeface="黑体" panose="02010609060101010101" pitchFamily="49" charset="-122"/>
              </a:rPr>
              <a:t>()</a:t>
            </a:r>
            <a:r>
              <a:rPr lang="zh-CN" altLang="zh-CN" b="1" dirty="0">
                <a:solidFill>
                  <a:schemeClr val="bg1"/>
                </a:solidFill>
                <a:ea typeface="黑体" panose="02010609060101010101" pitchFamily="49" charset="-122"/>
              </a:rPr>
              <a:t>方法定义为异常抛出增强</a:t>
            </a:r>
            <a:endParaRPr lang="zh-CN" altLang="en-US" b="1" dirty="0">
              <a:solidFill>
                <a:schemeClr val="bg1"/>
              </a:solidFill>
              <a:ea typeface="黑体" panose="02010609060101010101" pitchFamily="49" charset="-122"/>
            </a:endParaRPr>
          </a:p>
        </p:txBody>
      </p:sp>
      <p:sp>
        <p:nvSpPr>
          <p:cNvPr id="14" name="矩形标注 13"/>
          <p:cNvSpPr/>
          <p:nvPr/>
        </p:nvSpPr>
        <p:spPr bwMode="auto">
          <a:xfrm>
            <a:off x="4807733" y="5445225"/>
            <a:ext cx="2887747" cy="369332"/>
          </a:xfrm>
          <a:prstGeom prst="wedgeRectCallout">
            <a:avLst>
              <a:gd name="adj1" fmla="val -49910"/>
              <a:gd name="adj2" fmla="val 21933"/>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zh-CN" b="1" dirty="0">
                <a:solidFill>
                  <a:schemeClr val="bg1"/>
                </a:solidFill>
                <a:ea typeface="黑体" panose="02010609060101010101" pitchFamily="49" charset="-122"/>
              </a:rPr>
              <a:t>引用</a:t>
            </a:r>
            <a:r>
              <a:rPr lang="en-US" altLang="zh-CN" b="1" dirty="0" err="1">
                <a:solidFill>
                  <a:schemeClr val="bg1"/>
                </a:solidFill>
                <a:ea typeface="黑体" panose="02010609060101010101" pitchFamily="49" charset="-122"/>
              </a:rPr>
              <a:t>pointcut</a:t>
            </a:r>
            <a:r>
              <a:rPr lang="zh-CN" altLang="zh-CN" b="1" dirty="0">
                <a:solidFill>
                  <a:schemeClr val="bg1"/>
                </a:solidFill>
                <a:ea typeface="黑体" panose="02010609060101010101" pitchFamily="49" charset="-122"/>
              </a:rPr>
              <a:t>切入点</a:t>
            </a:r>
            <a:endParaRPr lang="zh-CN" altLang="en-US" b="1" dirty="0">
              <a:solidFill>
                <a:schemeClr val="bg1"/>
              </a:solidFill>
              <a:ea typeface="黑体" panose="02010609060101010101" pitchFamily="49" charset="-122"/>
            </a:endParaRPr>
          </a:p>
        </p:txBody>
      </p:sp>
      <p:sp>
        <p:nvSpPr>
          <p:cNvPr id="18" name="Rectangle 5"/>
          <p:cNvSpPr>
            <a:spLocks noChangeArrowheads="1"/>
          </p:cNvSpPr>
          <p:nvPr/>
        </p:nvSpPr>
        <p:spPr bwMode="auto">
          <a:xfrm>
            <a:off x="6170426" y="4956611"/>
            <a:ext cx="1824203" cy="374792"/>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sz="2400">
              <a:solidFill>
                <a:srgbClr val="FF0000"/>
              </a:solidFill>
            </a:endParaRPr>
          </a:p>
        </p:txBody>
      </p:sp>
      <p:sp>
        <p:nvSpPr>
          <p:cNvPr id="19" name="矩形标注 18"/>
          <p:cNvSpPr/>
          <p:nvPr/>
        </p:nvSpPr>
        <p:spPr bwMode="auto">
          <a:xfrm>
            <a:off x="8392830" y="4992851"/>
            <a:ext cx="2320149" cy="646331"/>
          </a:xfrm>
          <a:prstGeom prst="wedgeRectCallout">
            <a:avLst>
              <a:gd name="adj1" fmla="val -49910"/>
              <a:gd name="adj2" fmla="val 21933"/>
            </a:avLst>
          </a:prstGeom>
          <a:solidFill>
            <a:srgbClr val="009ADA"/>
          </a:solidFill>
          <a:ln>
            <a:solidFill>
              <a:schemeClr val="bg1"/>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298866" indent="-298866" algn="ctr" fontAlgn="base"/>
            <a:r>
              <a:rPr lang="zh-CN" altLang="zh-CN" b="1" dirty="0">
                <a:solidFill>
                  <a:schemeClr val="bg1"/>
                </a:solidFill>
                <a:ea typeface="黑体" panose="02010609060101010101" pitchFamily="49" charset="-122"/>
              </a:rPr>
              <a:t>为</a:t>
            </a:r>
            <a:r>
              <a:rPr lang="en-US" altLang="zh-CN" b="1" dirty="0">
                <a:solidFill>
                  <a:schemeClr val="bg1"/>
                </a:solidFill>
                <a:ea typeface="黑体" panose="02010609060101010101" pitchFamily="49" charset="-122"/>
              </a:rPr>
              <a:t>e</a:t>
            </a:r>
            <a:r>
              <a:rPr lang="zh-CN" altLang="zh-CN" b="1" dirty="0">
                <a:solidFill>
                  <a:schemeClr val="bg1"/>
                </a:solidFill>
                <a:ea typeface="黑体" panose="02010609060101010101" pitchFamily="49" charset="-122"/>
              </a:rPr>
              <a:t>的参数</a:t>
            </a:r>
            <a:endParaRPr lang="en-US" altLang="zh-CN" b="1" dirty="0">
              <a:solidFill>
                <a:schemeClr val="bg1"/>
              </a:solidFill>
              <a:ea typeface="黑体" panose="02010609060101010101" pitchFamily="49" charset="-122"/>
            </a:endParaRPr>
          </a:p>
          <a:p>
            <a:pPr marL="298866" indent="-298866" algn="ctr" fontAlgn="base"/>
            <a:r>
              <a:rPr lang="zh-CN" altLang="zh-CN" b="1" dirty="0">
                <a:solidFill>
                  <a:schemeClr val="bg1"/>
                </a:solidFill>
                <a:ea typeface="黑体" panose="02010609060101010101" pitchFamily="49" charset="-122"/>
              </a:rPr>
              <a:t>注入异常实例</a:t>
            </a:r>
            <a:endParaRPr lang="zh-CN" altLang="en-US" b="1" dirty="0">
              <a:solidFill>
                <a:schemeClr val="bg1"/>
              </a:solidFill>
              <a:ea typeface="黑体" panose="02010609060101010101" pitchFamily="49" charset="-122"/>
            </a:endParaRPr>
          </a:p>
        </p:txBody>
      </p:sp>
      <p:grpSp>
        <p:nvGrpSpPr>
          <p:cNvPr id="28" name="组合 27"/>
          <p:cNvGrpSpPr/>
          <p:nvPr/>
        </p:nvGrpSpPr>
        <p:grpSpPr>
          <a:xfrm>
            <a:off x="2028651" y="6213309"/>
            <a:ext cx="7619744" cy="465013"/>
            <a:chOff x="1403648" y="3795886"/>
            <a:chExt cx="5714808" cy="348760"/>
          </a:xfrm>
        </p:grpSpPr>
        <p:sp>
          <p:nvSpPr>
            <p:cNvPr id="29" name="圆角矩形 28"/>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30" name="圆角矩形 29"/>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31"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Box 31"/>
            <p:cNvSpPr txBox="1"/>
            <p:nvPr/>
          </p:nvSpPr>
          <p:spPr bwMode="auto">
            <a:xfrm>
              <a:off x="2958145" y="3829223"/>
              <a:ext cx="3475952"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4</a:t>
              </a:r>
              <a:r>
                <a:rPr lang="zh-CN" altLang="en-US" sz="2133" b="1" spc="400" dirty="0">
                  <a:solidFill>
                    <a:srgbClr val="FBFFFE"/>
                  </a:solidFill>
                  <a:latin typeface="微软雅黑" pitchFamily="34" charset="-122"/>
                  <a:ea typeface="微软雅黑" pitchFamily="34" charset="-122"/>
                </a:rPr>
                <a:t>：实现异常抛出增强</a:t>
              </a:r>
            </a:p>
          </p:txBody>
        </p:sp>
      </p:grpSp>
      <p:cxnSp>
        <p:nvCxnSpPr>
          <p:cNvPr id="33" name="直接箭头连接符 32"/>
          <p:cNvCxnSpPr>
            <a:endCxn id="6" idx="4"/>
          </p:cNvCxnSpPr>
          <p:nvPr/>
        </p:nvCxnSpPr>
        <p:spPr>
          <a:xfrm flipV="1">
            <a:off x="5352984" y="3817203"/>
            <a:ext cx="1473963" cy="362012"/>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4" name="直接箭头连接符 33"/>
          <p:cNvCxnSpPr>
            <a:cxnSpLocks/>
            <a:stCxn id="11" idx="2"/>
          </p:cNvCxnSpPr>
          <p:nvPr/>
        </p:nvCxnSpPr>
        <p:spPr>
          <a:xfrm>
            <a:off x="4567047" y="5331403"/>
            <a:ext cx="376876" cy="313876"/>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5" name="直接箭头连接符 34"/>
          <p:cNvCxnSpPr>
            <a:endCxn id="19" idx="1"/>
          </p:cNvCxnSpPr>
          <p:nvPr/>
        </p:nvCxnSpPr>
        <p:spPr>
          <a:xfrm>
            <a:off x="7327264" y="5120816"/>
            <a:ext cx="1065566" cy="195201"/>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6" name="直接箭头连接符 35"/>
          <p:cNvCxnSpPr>
            <a:endCxn id="12" idx="4"/>
          </p:cNvCxnSpPr>
          <p:nvPr/>
        </p:nvCxnSpPr>
        <p:spPr>
          <a:xfrm flipV="1">
            <a:off x="7830727" y="4560966"/>
            <a:ext cx="1532040" cy="164116"/>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5773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wipe(left)">
                                      <p:cBhvr>
                                        <p:cTn id="24" dur="500"/>
                                        <p:tgtEl>
                                          <p:spTgt spid="36"/>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500"/>
                                        <p:tgtEl>
                                          <p:spTgt spid="35"/>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par>
                          <p:cTn id="55" fill="hold">
                            <p:stCondLst>
                              <p:cond delay="1500"/>
                            </p:stCondLst>
                            <p:childTnLst>
                              <p:par>
                                <p:cTn id="56" presetID="22" presetClass="entr" presetSubtype="8"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left)">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2" grpId="0" animBg="1"/>
      <p:bldP spid="14" grpId="0"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defRPr/>
            </a:pPr>
            <a:r>
              <a:rPr lang="zh-CN" altLang="en-US" dirty="0"/>
              <a:t>最终</a:t>
            </a:r>
            <a:r>
              <a:rPr dirty="0"/>
              <a:t>增强</a:t>
            </a:r>
          </a:p>
        </p:txBody>
      </p:sp>
      <p:sp>
        <p:nvSpPr>
          <p:cNvPr id="21507" name="内容占位符 2"/>
          <p:cNvSpPr>
            <a:spLocks noGrp="1"/>
          </p:cNvSpPr>
          <p:nvPr>
            <p:ph idx="1"/>
          </p:nvPr>
        </p:nvSpPr>
        <p:spPr/>
        <p:txBody>
          <a:bodyPr/>
          <a:lstStyle/>
          <a:p>
            <a:pPr>
              <a:defRPr/>
            </a:pPr>
            <a:r>
              <a:rPr lang="zh-CN" altLang="zh-CN" dirty="0"/>
              <a:t>最终增强的特点</a:t>
            </a:r>
            <a:endParaRPr lang="en-US" altLang="zh-CN" dirty="0"/>
          </a:p>
          <a:p>
            <a:pPr lvl="1">
              <a:defRPr/>
            </a:pPr>
            <a:r>
              <a:rPr lang="zh-CN" altLang="zh-CN" dirty="0"/>
              <a:t>无论方法</a:t>
            </a:r>
            <a:r>
              <a:rPr lang="zh-CN" altLang="en-US" dirty="0"/>
              <a:t>是否</a:t>
            </a:r>
            <a:r>
              <a:rPr lang="zh-CN" altLang="zh-CN" dirty="0"/>
              <a:t>抛出异常，</a:t>
            </a:r>
            <a:r>
              <a:rPr lang="zh-CN" altLang="en-US" dirty="0"/>
              <a:t>都会在目标方法最后织入增强处理，即：</a:t>
            </a:r>
            <a:r>
              <a:rPr lang="zh-CN" altLang="zh-CN" dirty="0">
                <a:solidFill>
                  <a:srgbClr val="FF0000"/>
                </a:solidFill>
              </a:rPr>
              <a:t>该增强都会得到执行</a:t>
            </a:r>
            <a:endParaRPr lang="en-US" altLang="zh-CN" dirty="0">
              <a:solidFill>
                <a:srgbClr val="FF0000"/>
              </a:solidFill>
            </a:endParaRPr>
          </a:p>
          <a:p>
            <a:pPr lvl="1">
              <a:defRPr/>
            </a:pPr>
            <a:r>
              <a:rPr lang="zh-CN" altLang="zh-CN" dirty="0"/>
              <a:t>类似于异常处理机制中</a:t>
            </a:r>
            <a:r>
              <a:rPr lang="en-US" altLang="zh-CN" dirty="0"/>
              <a:t>finally</a:t>
            </a:r>
            <a:r>
              <a:rPr lang="zh-CN" altLang="zh-CN" dirty="0"/>
              <a:t>块的作用，一般用于释放资源</a:t>
            </a:r>
            <a:endParaRPr lang="en-US" altLang="zh-CN" dirty="0"/>
          </a:p>
          <a:p>
            <a:pPr lvl="1">
              <a:defRPr/>
            </a:pPr>
            <a:r>
              <a:rPr lang="zh-CN" altLang="zh-CN" dirty="0"/>
              <a:t>可以为各功能模块提供统一的，可拔插的处理方案</a:t>
            </a:r>
            <a:endParaRPr lang="en-US" altLang="zh-CN" dirty="0"/>
          </a:p>
          <a:p>
            <a:pPr marL="609585" lvl="1" indent="-609585">
              <a:buFont typeface="Wingdings" panose="05000000000000000000" charset="0"/>
              <a:buChar char=""/>
              <a:defRPr/>
            </a:pPr>
            <a:r>
              <a:rPr lang="en-US" altLang="zh-CN" sz="3200" b="1" dirty="0">
                <a:solidFill>
                  <a:srgbClr val="FF0000"/>
                </a:solidFill>
              </a:rPr>
              <a:t>&lt;</a:t>
            </a:r>
            <a:r>
              <a:rPr lang="en-US" altLang="zh-CN" sz="3200" b="1" dirty="0" err="1">
                <a:solidFill>
                  <a:srgbClr val="FF0000"/>
                </a:solidFill>
              </a:rPr>
              <a:t>aop:after</a:t>
            </a:r>
            <a:r>
              <a:rPr lang="en-US" altLang="zh-CN" sz="3200" b="1" dirty="0">
                <a:solidFill>
                  <a:srgbClr val="FF0000"/>
                </a:solidFill>
              </a:rPr>
              <a:t>&gt;</a:t>
            </a:r>
            <a:r>
              <a:rPr lang="zh-CN" altLang="zh-CN" sz="3200" b="1" dirty="0">
                <a:solidFill>
                  <a:srgbClr val="0B9FDD"/>
                </a:solidFill>
              </a:rPr>
              <a:t>元素</a:t>
            </a:r>
            <a:r>
              <a:rPr lang="zh-CN" altLang="en-US" sz="3200" b="1" dirty="0">
                <a:solidFill>
                  <a:srgbClr val="0B9FDD"/>
                </a:solidFill>
              </a:rPr>
              <a:t>：</a:t>
            </a:r>
            <a:r>
              <a:rPr lang="zh-CN" altLang="zh-CN" sz="3200" b="1" dirty="0">
                <a:solidFill>
                  <a:srgbClr val="0B9FDD"/>
                </a:solidFill>
              </a:rPr>
              <a:t>定义最终增强</a:t>
            </a:r>
            <a:endParaRPr lang="en-US" altLang="zh-CN" sz="3200" b="1" dirty="0">
              <a:solidFill>
                <a:srgbClr val="0B9FDD"/>
              </a:solidFill>
            </a:endParaRPr>
          </a:p>
        </p:txBody>
      </p:sp>
      <p:grpSp>
        <p:nvGrpSpPr>
          <p:cNvPr id="10" name="组合 9"/>
          <p:cNvGrpSpPr/>
          <p:nvPr/>
        </p:nvGrpSpPr>
        <p:grpSpPr>
          <a:xfrm>
            <a:off x="1422032" y="5925277"/>
            <a:ext cx="7619744" cy="465013"/>
            <a:chOff x="1403648" y="3795886"/>
            <a:chExt cx="5714808" cy="348760"/>
          </a:xfrm>
        </p:grpSpPr>
        <p:sp>
          <p:nvSpPr>
            <p:cNvPr id="11" name="圆角矩形 10"/>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12" name="圆角矩形 11"/>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13"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bwMode="auto">
            <a:xfrm>
              <a:off x="3202203" y="3829223"/>
              <a:ext cx="2987837"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5</a:t>
              </a:r>
              <a:r>
                <a:rPr lang="zh-CN" altLang="en-US" sz="2133" b="1" spc="400" dirty="0">
                  <a:solidFill>
                    <a:srgbClr val="FBFFFE"/>
                  </a:solidFill>
                  <a:latin typeface="微软雅黑" pitchFamily="34" charset="-122"/>
                  <a:ea typeface="微软雅黑" pitchFamily="34" charset="-122"/>
                </a:rPr>
                <a:t>：实现最终增强</a:t>
              </a:r>
            </a:p>
          </p:txBody>
        </p:sp>
      </p:grpSp>
    </p:spTree>
    <p:extLst>
      <p:ext uri="{BB962C8B-B14F-4D97-AF65-F5344CB8AC3E}">
        <p14:creationId xmlns:p14="http://schemas.microsoft.com/office/powerpoint/2010/main" val="46436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A182BD-C1FE-7D2B-6243-FE3A318856D0}"/>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FD225536-6422-691B-47E4-BC2571F750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888" y="0"/>
            <a:ext cx="10010775" cy="3009900"/>
          </a:xfrm>
        </p:spPr>
      </p:pic>
      <p:pic>
        <p:nvPicPr>
          <p:cNvPr id="7" name="图片 6">
            <a:extLst>
              <a:ext uri="{FF2B5EF4-FFF2-40B4-BE49-F238E27FC236}">
                <a16:creationId xmlns:a16="http://schemas.microsoft.com/office/drawing/2014/main" id="{976DF5EC-2413-8C1B-B0B4-D6C352AE4B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88" y="3286761"/>
            <a:ext cx="11601450" cy="3438525"/>
          </a:xfrm>
          <a:prstGeom prst="rect">
            <a:avLst/>
          </a:prstGeom>
        </p:spPr>
      </p:pic>
    </p:spTree>
    <p:extLst>
      <p:ext uri="{BB962C8B-B14F-4D97-AF65-F5344CB8AC3E}">
        <p14:creationId xmlns:p14="http://schemas.microsoft.com/office/powerpoint/2010/main" val="29229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defRPr/>
            </a:pPr>
            <a:r>
              <a:rPr dirty="0"/>
              <a:t>环绕增强 </a:t>
            </a:r>
          </a:p>
        </p:txBody>
      </p:sp>
      <p:sp>
        <p:nvSpPr>
          <p:cNvPr id="21507" name="内容占位符 2"/>
          <p:cNvSpPr>
            <a:spLocks noGrp="1"/>
          </p:cNvSpPr>
          <p:nvPr>
            <p:ph idx="1"/>
          </p:nvPr>
        </p:nvSpPr>
        <p:spPr/>
        <p:txBody>
          <a:bodyPr/>
          <a:lstStyle/>
          <a:p>
            <a:pPr>
              <a:defRPr/>
            </a:pPr>
            <a:r>
              <a:rPr lang="zh-CN" altLang="en-US" dirty="0"/>
              <a:t>环绕增强的特点</a:t>
            </a:r>
            <a:endParaRPr lang="en-US" altLang="zh-CN" dirty="0"/>
          </a:p>
          <a:p>
            <a:pPr lvl="1">
              <a:defRPr/>
            </a:pPr>
            <a:r>
              <a:rPr lang="zh-CN" altLang="en-US" dirty="0"/>
              <a:t>目标方法前后都可织入增强处理</a:t>
            </a:r>
            <a:endParaRPr lang="en-US" altLang="zh-CN" dirty="0"/>
          </a:p>
          <a:p>
            <a:pPr lvl="1">
              <a:defRPr/>
            </a:pPr>
            <a:r>
              <a:rPr lang="zh-CN" altLang="en-US" dirty="0"/>
              <a:t>功能最强大的增强处理</a:t>
            </a:r>
            <a:endParaRPr lang="en-US" altLang="zh-CN" dirty="0"/>
          </a:p>
          <a:p>
            <a:pPr lvl="1">
              <a:defRPr/>
            </a:pPr>
            <a:r>
              <a:rPr lang="zh-CN" altLang="en-US" dirty="0"/>
              <a:t>可获取或修改目标方法的参数、返回值，可对它进行异常处理，甚至可以决定目标方法是否执行</a:t>
            </a:r>
            <a:endParaRPr lang="en-US" altLang="zh-CN" dirty="0"/>
          </a:p>
          <a:p>
            <a:pPr marL="609585" lvl="1" indent="-609585">
              <a:buFont typeface="Wingdings" panose="05000000000000000000" charset="0"/>
              <a:buChar char=""/>
              <a:defRPr/>
            </a:pPr>
            <a:r>
              <a:rPr lang="en-US" altLang="zh-CN" sz="3200" b="1" dirty="0">
                <a:solidFill>
                  <a:srgbClr val="FF0000"/>
                </a:solidFill>
              </a:rPr>
              <a:t>&lt;</a:t>
            </a:r>
            <a:r>
              <a:rPr lang="en-US" altLang="zh-CN" sz="3200" b="1" dirty="0" err="1">
                <a:solidFill>
                  <a:srgbClr val="FF0000"/>
                </a:solidFill>
              </a:rPr>
              <a:t>aop:around</a:t>
            </a:r>
            <a:r>
              <a:rPr lang="en-US" altLang="zh-CN" sz="3200" b="1" dirty="0">
                <a:solidFill>
                  <a:srgbClr val="FF0000"/>
                </a:solidFill>
              </a:rPr>
              <a:t>&gt;</a:t>
            </a:r>
            <a:r>
              <a:rPr lang="zh-CN" altLang="zh-CN" sz="3200" b="1" dirty="0">
                <a:solidFill>
                  <a:srgbClr val="0B9FDD"/>
                </a:solidFill>
              </a:rPr>
              <a:t>元素</a:t>
            </a:r>
            <a:r>
              <a:rPr lang="zh-CN" altLang="en-US" sz="3200" b="1" dirty="0">
                <a:solidFill>
                  <a:srgbClr val="0B9FDD"/>
                </a:solidFill>
              </a:rPr>
              <a:t>：</a:t>
            </a:r>
            <a:r>
              <a:rPr lang="zh-CN" altLang="zh-CN" sz="3200" b="1" dirty="0">
                <a:solidFill>
                  <a:srgbClr val="0B9FDD"/>
                </a:solidFill>
              </a:rPr>
              <a:t>定义环绕增强</a:t>
            </a:r>
            <a:endParaRPr lang="en-US" altLang="zh-CN" sz="3200" b="1" dirty="0">
              <a:solidFill>
                <a:srgbClr val="0B9FDD"/>
              </a:solidFill>
            </a:endParaRPr>
          </a:p>
        </p:txBody>
      </p:sp>
      <p:grpSp>
        <p:nvGrpSpPr>
          <p:cNvPr id="10" name="组合 9"/>
          <p:cNvGrpSpPr/>
          <p:nvPr/>
        </p:nvGrpSpPr>
        <p:grpSpPr>
          <a:xfrm>
            <a:off x="1836629" y="5733256"/>
            <a:ext cx="7619744" cy="465013"/>
            <a:chOff x="1403648" y="3795886"/>
            <a:chExt cx="5714808" cy="348760"/>
          </a:xfrm>
        </p:grpSpPr>
        <p:sp>
          <p:nvSpPr>
            <p:cNvPr id="11" name="圆角矩形 10"/>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12" name="圆角矩形 11"/>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13"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bwMode="auto">
            <a:xfrm>
              <a:off x="3202203" y="3829223"/>
              <a:ext cx="2987837"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6</a:t>
              </a:r>
              <a:r>
                <a:rPr lang="zh-CN" altLang="en-US" sz="2133" b="1" spc="400" dirty="0">
                  <a:solidFill>
                    <a:srgbClr val="FBFFFE"/>
                  </a:solidFill>
                  <a:latin typeface="微软雅黑" pitchFamily="34" charset="-122"/>
                  <a:ea typeface="微软雅黑" pitchFamily="34" charset="-122"/>
                </a:rPr>
                <a:t>：实现环绕增强</a:t>
              </a:r>
            </a:p>
          </p:txBody>
        </p:sp>
      </p:grpSp>
    </p:spTree>
    <p:extLst>
      <p:ext uri="{BB962C8B-B14F-4D97-AF65-F5344CB8AC3E}">
        <p14:creationId xmlns:p14="http://schemas.microsoft.com/office/powerpoint/2010/main" val="210252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49A0FD-BCF6-F24C-433E-DA07D05352CD}"/>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8EB86409-72F5-6E24-B333-4005C5C250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499" y="136478"/>
            <a:ext cx="8017770" cy="3981474"/>
          </a:xfrm>
        </p:spPr>
      </p:pic>
      <p:pic>
        <p:nvPicPr>
          <p:cNvPr id="7" name="图片 6">
            <a:extLst>
              <a:ext uri="{FF2B5EF4-FFF2-40B4-BE49-F238E27FC236}">
                <a16:creationId xmlns:a16="http://schemas.microsoft.com/office/drawing/2014/main" id="{97E7D13A-A538-F91D-0BA7-078A3DB9D9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71" y="4121431"/>
            <a:ext cx="11468100" cy="2600325"/>
          </a:xfrm>
          <a:prstGeom prst="rect">
            <a:avLst/>
          </a:prstGeom>
        </p:spPr>
      </p:pic>
    </p:spTree>
    <p:extLst>
      <p:ext uri="{BB962C8B-B14F-4D97-AF65-F5344CB8AC3E}">
        <p14:creationId xmlns:p14="http://schemas.microsoft.com/office/powerpoint/2010/main" val="938454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defRPr/>
            </a:pPr>
            <a:r>
              <a:rPr lang="zh-CN" altLang="en-US" dirty="0"/>
              <a:t>小结</a:t>
            </a:r>
            <a:r>
              <a:rPr lang="en-US" altLang="zh-CN" dirty="0"/>
              <a:t>1</a:t>
            </a:r>
            <a:endParaRPr dirty="0"/>
          </a:p>
        </p:txBody>
      </p:sp>
      <p:sp>
        <p:nvSpPr>
          <p:cNvPr id="12" name="内容占位符 2"/>
          <p:cNvSpPr>
            <a:spLocks noGrp="1"/>
          </p:cNvSpPr>
          <p:nvPr>
            <p:ph idx="1"/>
          </p:nvPr>
        </p:nvSpPr>
        <p:spPr/>
        <p:txBody>
          <a:bodyPr/>
          <a:lstStyle/>
          <a:p>
            <a:pPr>
              <a:defRPr/>
            </a:pPr>
            <a:r>
              <a:rPr lang="zh-CN" altLang="en-US" dirty="0"/>
              <a:t>常用增强处理类型</a:t>
            </a:r>
            <a:endParaRPr lang="en-US" altLang="zh-CN" dirty="0"/>
          </a:p>
        </p:txBody>
      </p:sp>
      <p:graphicFrame>
        <p:nvGraphicFramePr>
          <p:cNvPr id="11" name="Group 29"/>
          <p:cNvGraphicFramePr>
            <a:graphicFrameLocks noGrp="1"/>
          </p:cNvGraphicFramePr>
          <p:nvPr/>
        </p:nvGraphicFramePr>
        <p:xfrm>
          <a:off x="1103446" y="2111213"/>
          <a:ext cx="9985109" cy="3920784"/>
        </p:xfrm>
        <a:graphic>
          <a:graphicData uri="http://schemas.openxmlformats.org/drawingml/2006/table">
            <a:tbl>
              <a:tblPr firstRow="1" bandRow="1">
                <a:solidFill>
                  <a:schemeClr val="bg2">
                    <a:lumMod val="90000"/>
                  </a:schemeClr>
                </a:solidFill>
                <a:effectLst>
                  <a:outerShdw blurRad="50800" dist="50800" dir="5400000" algn="ctr" rotWithShape="0">
                    <a:schemeClr val="bg2"/>
                  </a:outerShdw>
                </a:effectLst>
                <a:tableStyleId>{5C22544A-7EE6-4342-B048-85BDC9FD1C3A}</a:tableStyleId>
              </a:tblPr>
              <a:tblGrid>
                <a:gridCol w="2880320">
                  <a:extLst>
                    <a:ext uri="{9D8B030D-6E8A-4147-A177-3AD203B41FA5}">
                      <a16:colId xmlns:a16="http://schemas.microsoft.com/office/drawing/2014/main" val="20000"/>
                    </a:ext>
                  </a:extLst>
                </a:gridCol>
                <a:gridCol w="7104789">
                  <a:extLst>
                    <a:ext uri="{9D8B030D-6E8A-4147-A177-3AD203B41FA5}">
                      <a16:colId xmlns:a16="http://schemas.microsoft.com/office/drawing/2014/main" val="20001"/>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增强处理类型</a:t>
                      </a:r>
                    </a:p>
                  </a:txBody>
                  <a:tcPr marL="121920" marR="12192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特  点</a:t>
                      </a:r>
                    </a:p>
                  </a:txBody>
                  <a:tcPr marL="121920" marR="12192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537504">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Before</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前置增强处理，在目标方法前织入增强处理</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AfterReturning</a:t>
                      </a:r>
                      <a:endParaRPr kumimoji="0" 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后置增强处理，在目标方法正常执行（不出现异常）后织入增强处理</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AfterThrowing</a:t>
                      </a:r>
                      <a:endParaRPr kumimoji="0" 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异常增强处理，在目标方法抛出异常后织入增强处理</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After</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最终增强处理，不论方法是否抛出异常，都会在目标方法最后织入增强处理</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4"/>
                  </a:ext>
                </a:extLst>
              </a:tr>
              <a:tr h="73152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Around</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环绕增强处理，在目标方法的前后都可以织入增强处理</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267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defRPr/>
            </a:pPr>
            <a:r>
              <a:rPr lang="zh-CN" altLang="en-US" dirty="0"/>
              <a:t>小结</a:t>
            </a:r>
            <a:r>
              <a:rPr lang="en-US" altLang="zh-CN" dirty="0"/>
              <a:t>2</a:t>
            </a:r>
            <a:endParaRPr dirty="0"/>
          </a:p>
        </p:txBody>
      </p:sp>
      <p:sp>
        <p:nvSpPr>
          <p:cNvPr id="12" name="内容占位符 2"/>
          <p:cNvSpPr>
            <a:spLocks noGrp="1"/>
          </p:cNvSpPr>
          <p:nvPr>
            <p:ph idx="1"/>
          </p:nvPr>
        </p:nvSpPr>
        <p:spPr>
          <a:xfrm>
            <a:off x="903394" y="1124745"/>
            <a:ext cx="10350500" cy="4525433"/>
          </a:xfrm>
        </p:spPr>
        <p:txBody>
          <a:bodyPr/>
          <a:lstStyle/>
          <a:p>
            <a:pPr>
              <a:defRPr/>
            </a:pPr>
            <a:r>
              <a:rPr lang="en-US" altLang="zh-CN" dirty="0"/>
              <a:t>Spring AOP</a:t>
            </a:r>
            <a:r>
              <a:rPr lang="zh-CN" altLang="en-US" dirty="0"/>
              <a:t>配置元素</a:t>
            </a:r>
            <a:endParaRPr lang="en-US" altLang="zh-CN" dirty="0"/>
          </a:p>
        </p:txBody>
      </p:sp>
      <p:graphicFrame>
        <p:nvGraphicFramePr>
          <p:cNvPr id="11" name="Group 29"/>
          <p:cNvGraphicFramePr>
            <a:graphicFrameLocks noGrp="1"/>
          </p:cNvGraphicFramePr>
          <p:nvPr>
            <p:extLst>
              <p:ext uri="{D42A27DB-BD31-4B8C-83A1-F6EECF244321}">
                <p14:modId xmlns:p14="http://schemas.microsoft.com/office/powerpoint/2010/main" val="3792653070"/>
              </p:ext>
            </p:extLst>
          </p:nvPr>
        </p:nvGraphicFramePr>
        <p:xfrm>
          <a:off x="623392" y="1841269"/>
          <a:ext cx="10753195" cy="4660072"/>
        </p:xfrm>
        <a:graphic>
          <a:graphicData uri="http://schemas.openxmlformats.org/drawingml/2006/table">
            <a:tbl>
              <a:tblPr firstRow="1" bandRow="1">
                <a:solidFill>
                  <a:schemeClr val="bg2">
                    <a:lumMod val="90000"/>
                  </a:schemeClr>
                </a:solidFill>
                <a:effectLst>
                  <a:outerShdw blurRad="50800" dist="50800" dir="5400000" algn="ctr" rotWithShape="0">
                    <a:schemeClr val="bg2"/>
                  </a:outerShdw>
                </a:effectLst>
                <a:tableStyleId>{5C22544A-7EE6-4342-B048-85BDC9FD1C3A}</a:tableStyleId>
              </a:tblPr>
              <a:tblGrid>
                <a:gridCol w="4320480">
                  <a:extLst>
                    <a:ext uri="{9D8B030D-6E8A-4147-A177-3AD203B41FA5}">
                      <a16:colId xmlns:a16="http://schemas.microsoft.com/office/drawing/2014/main" val="20000"/>
                    </a:ext>
                  </a:extLst>
                </a:gridCol>
                <a:gridCol w="6432715">
                  <a:extLst>
                    <a:ext uri="{9D8B030D-6E8A-4147-A177-3AD203B41FA5}">
                      <a16:colId xmlns:a16="http://schemas.microsoft.com/office/drawing/2014/main" val="20001"/>
                    </a:ext>
                  </a:extLst>
                </a:gridCol>
              </a:tblGrid>
              <a:tr h="41656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1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AOP</a:t>
                      </a:r>
                      <a:r>
                        <a:rPr kumimoji="0" lang="zh-CN" altLang="en-US" sz="21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配置元素</a:t>
                      </a:r>
                    </a:p>
                  </a:txBody>
                  <a:tcPr marL="121920" marR="12192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描  述</a:t>
                      </a:r>
                    </a:p>
                  </a:txBody>
                  <a:tcPr marL="121920" marR="12192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extLst>
                  <a:ext uri="{0D108BD9-81ED-4DB2-BD59-A6C34878D82A}">
                    <a16:rowId xmlns:a16="http://schemas.microsoft.com/office/drawing/2014/main" val="10000"/>
                  </a:ext>
                </a:extLst>
              </a:tr>
              <a:tr h="65024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aop:config</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t>
                      </a: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配置的顶层元素，大多数的</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元素必须包含在</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aop:config</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元素内</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42734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aop:pointcut</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定义切点</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734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aop:aspect</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定义切面</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aop:after</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定义最终增强（不管被增强的方法是否执行成功）</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734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aop:after-returning</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after-returning</a:t>
                      </a: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增强</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5"/>
                  </a:ext>
                </a:extLst>
              </a:tr>
              <a:tr h="42734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aop:after-throwing</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after-throwing</a:t>
                      </a: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增强</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9584">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aop:around</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定义环绕增强</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7"/>
                  </a:ext>
                </a:extLst>
              </a:tr>
              <a:tr h="42734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aop:before</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定义前置增强</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2734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&lt;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aop:aspectj-autoproxy</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&gt;</a:t>
                      </a:r>
                      <a:endPar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启动</a:t>
                      </a:r>
                      <a:r>
                        <a:rPr kumimoji="0" 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r>
                        <a:rPr kumimoji="0" lang="en-US" sz="21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AspectJ</a:t>
                      </a:r>
                      <a:r>
                        <a:rPr kumimoji="0" lang="zh-CN" altLang="en-US" sz="21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注解驱动的切面</a:t>
                      </a:r>
                    </a:p>
                  </a:txBody>
                  <a:tcPr marT="0" marB="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70682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a:defRPr/>
            </a:pPr>
            <a:r>
              <a:rPr dirty="0"/>
              <a:t>使用注解定义</a:t>
            </a:r>
            <a:r>
              <a:rPr lang="zh-CN" altLang="en-US" dirty="0"/>
              <a:t>切面</a:t>
            </a:r>
            <a:r>
              <a:rPr dirty="0"/>
              <a:t> </a:t>
            </a:r>
            <a:r>
              <a:rPr lang="en-US" altLang="zh-CN" dirty="0"/>
              <a:t>2-1</a:t>
            </a:r>
            <a:endParaRPr dirty="0"/>
          </a:p>
        </p:txBody>
      </p:sp>
      <p:sp>
        <p:nvSpPr>
          <p:cNvPr id="23555" name="内容占位符 2"/>
          <p:cNvSpPr>
            <a:spLocks noGrp="1"/>
          </p:cNvSpPr>
          <p:nvPr>
            <p:ph idx="1"/>
          </p:nvPr>
        </p:nvSpPr>
        <p:spPr>
          <a:xfrm>
            <a:off x="903394" y="1028735"/>
            <a:ext cx="10350500" cy="4624655"/>
          </a:xfrm>
        </p:spPr>
        <p:txBody>
          <a:bodyPr/>
          <a:lstStyle/>
          <a:p>
            <a:pPr>
              <a:defRPr/>
            </a:pPr>
            <a:r>
              <a:rPr lang="en-US" altLang="zh-CN" sz="2667" dirty="0" err="1"/>
              <a:t>AspectJ</a:t>
            </a:r>
            <a:endParaRPr lang="en-US" altLang="zh-CN" sz="2667" dirty="0"/>
          </a:p>
          <a:p>
            <a:pPr lvl="1">
              <a:defRPr/>
            </a:pPr>
            <a:r>
              <a:rPr lang="zh-CN" altLang="en-US" sz="2667" dirty="0"/>
              <a:t>面向切面的框架，它扩展了</a:t>
            </a:r>
            <a:r>
              <a:rPr lang="en-US" altLang="zh-CN" sz="2667" dirty="0"/>
              <a:t>Java</a:t>
            </a:r>
            <a:r>
              <a:rPr lang="zh-CN" altLang="en-US" sz="2667" dirty="0"/>
              <a:t>语言，定义了</a:t>
            </a:r>
            <a:r>
              <a:rPr lang="en-US" altLang="zh-CN" sz="2667" dirty="0"/>
              <a:t>AOP </a:t>
            </a:r>
            <a:r>
              <a:rPr lang="zh-CN" altLang="en-US" sz="2667" dirty="0"/>
              <a:t>语法，能够在编译期提供代码的织入</a:t>
            </a:r>
          </a:p>
          <a:p>
            <a:pPr>
              <a:defRPr/>
            </a:pPr>
            <a:r>
              <a:rPr lang="en-US" altLang="zh-CN" sz="2667" dirty="0"/>
              <a:t>@</a:t>
            </a:r>
            <a:r>
              <a:rPr lang="en-US" altLang="zh-CN" sz="2667" dirty="0" err="1"/>
              <a:t>AspectJ</a:t>
            </a:r>
            <a:endParaRPr lang="en-US" altLang="zh-CN" sz="2667" dirty="0"/>
          </a:p>
          <a:p>
            <a:pPr lvl="1">
              <a:defRPr/>
            </a:pPr>
            <a:r>
              <a:rPr lang="en-US" altLang="zh-CN" sz="2667" dirty="0" err="1"/>
              <a:t>AspectJ</a:t>
            </a:r>
            <a:r>
              <a:rPr lang="en-US" altLang="zh-CN" sz="2667" dirty="0"/>
              <a:t> 5</a:t>
            </a:r>
            <a:r>
              <a:rPr lang="zh-CN" altLang="en-US" sz="2667" dirty="0"/>
              <a:t>新增的功能，使用</a:t>
            </a:r>
            <a:r>
              <a:rPr lang="en-US" altLang="zh-CN" sz="2667" dirty="0"/>
              <a:t>JDK 5.0 </a:t>
            </a:r>
            <a:r>
              <a:rPr lang="zh-CN" altLang="en-US" sz="2667" dirty="0"/>
              <a:t>注解技术和正规的</a:t>
            </a:r>
            <a:r>
              <a:rPr lang="en-US" altLang="zh-CN" sz="2667" dirty="0" err="1"/>
              <a:t>AspectJ</a:t>
            </a:r>
            <a:r>
              <a:rPr lang="zh-CN" altLang="en-US" sz="2667" dirty="0"/>
              <a:t>切点表达式语言描述切面</a:t>
            </a:r>
          </a:p>
          <a:p>
            <a:pPr>
              <a:defRPr/>
            </a:pPr>
            <a:r>
              <a:rPr lang="en-US" altLang="zh-CN" sz="2667" dirty="0"/>
              <a:t>Spring</a:t>
            </a:r>
            <a:r>
              <a:rPr lang="zh-CN" altLang="en-US" sz="2667" dirty="0"/>
              <a:t>通过集成</a:t>
            </a:r>
            <a:r>
              <a:rPr lang="en-US" altLang="zh-CN" sz="2667" dirty="0" err="1"/>
              <a:t>AspectJ</a:t>
            </a:r>
            <a:r>
              <a:rPr lang="zh-CN" altLang="en-US" sz="2667" dirty="0"/>
              <a:t>实现了以注解的方式定义增强类，大大减少了配置文件中的工作量</a:t>
            </a:r>
            <a:endParaRPr lang="en-US" altLang="zh-CN" sz="2667" dirty="0"/>
          </a:p>
        </p:txBody>
      </p:sp>
      <p:grpSp>
        <p:nvGrpSpPr>
          <p:cNvPr id="6" name="组合 5"/>
          <p:cNvGrpSpPr>
            <a:grpSpLocks/>
          </p:cNvGrpSpPr>
          <p:nvPr/>
        </p:nvGrpSpPr>
        <p:grpSpPr bwMode="auto">
          <a:xfrm>
            <a:off x="1411123" y="5656402"/>
            <a:ext cx="9005357" cy="940951"/>
            <a:chOff x="1109775" y="3678185"/>
            <a:chExt cx="2781300" cy="2987257"/>
          </a:xfrm>
        </p:grpSpPr>
        <p:sp>
          <p:nvSpPr>
            <p:cNvPr id="7" name="AutoShape 4"/>
            <p:cNvSpPr>
              <a:spLocks noChangeArrowheads="1"/>
            </p:cNvSpPr>
            <p:nvPr/>
          </p:nvSpPr>
          <p:spPr bwMode="auto">
            <a:xfrm>
              <a:off x="1109775" y="4308003"/>
              <a:ext cx="2781300" cy="2357439"/>
            </a:xfrm>
            <a:prstGeom prst="roundRect">
              <a:avLst>
                <a:gd name="adj" fmla="val 1157"/>
              </a:avLst>
            </a:prstGeom>
            <a:solidFill>
              <a:schemeClr val="accent1">
                <a:lumMod val="20000"/>
                <a:lumOff val="80000"/>
              </a:schemeClr>
            </a:solidFill>
            <a:ln w="19050">
              <a:solidFill>
                <a:schemeClr val="accent1"/>
              </a:solidFill>
            </a:ln>
          </p:spPr>
          <p:txBody>
            <a:bodyPr anchor="ctr"/>
            <a:lstStyle/>
            <a:p>
              <a:pPr>
                <a:defRPr/>
              </a:pPr>
              <a:r>
                <a:rPr lang="zh-CN" altLang="en-US" sz="2667" b="1" dirty="0">
                  <a:latin typeface="微软雅黑" pitchFamily="34" charset="-122"/>
                  <a:ea typeface="微软雅黑" pitchFamily="34" charset="-122"/>
                </a:rPr>
                <a:t>使用</a:t>
              </a:r>
              <a:r>
                <a:rPr lang="en-US" altLang="zh-CN" sz="2667" b="1" dirty="0">
                  <a:latin typeface="微软雅黑" pitchFamily="34" charset="-122"/>
                  <a:ea typeface="微软雅黑" pitchFamily="34" charset="-122"/>
                </a:rPr>
                <a:t>@</a:t>
              </a:r>
              <a:r>
                <a:rPr lang="en-US" altLang="zh-CN" sz="2667" b="1" dirty="0" err="1">
                  <a:latin typeface="微软雅黑" pitchFamily="34" charset="-122"/>
                  <a:ea typeface="微软雅黑" pitchFamily="34" charset="-122"/>
                </a:rPr>
                <a:t>AspectJ</a:t>
              </a:r>
              <a:r>
                <a:rPr lang="zh-CN" altLang="en-US" sz="2667" b="1" dirty="0">
                  <a:latin typeface="微软雅黑" pitchFamily="34" charset="-122"/>
                  <a:ea typeface="微软雅黑" pitchFamily="34" charset="-122"/>
                </a:rPr>
                <a:t>，首先要保证所用的</a:t>
              </a:r>
              <a:r>
                <a:rPr lang="en-US" altLang="zh-CN" sz="2667" b="1" dirty="0">
                  <a:latin typeface="微软雅黑" pitchFamily="34" charset="-122"/>
                  <a:ea typeface="微软雅黑" pitchFamily="34" charset="-122"/>
                </a:rPr>
                <a:t>JDK </a:t>
              </a:r>
              <a:r>
                <a:rPr lang="zh-CN" altLang="en-US" sz="2667" b="1" dirty="0">
                  <a:latin typeface="微软雅黑" pitchFamily="34" charset="-122"/>
                  <a:ea typeface="微软雅黑" pitchFamily="34" charset="-122"/>
                </a:rPr>
                <a:t>是</a:t>
              </a:r>
              <a:r>
                <a:rPr lang="en-US" altLang="zh-CN" sz="2667" b="1" dirty="0">
                  <a:latin typeface="微软雅黑" pitchFamily="34" charset="-122"/>
                  <a:ea typeface="微软雅黑" pitchFamily="34" charset="-122"/>
                </a:rPr>
                <a:t>5.0</a:t>
              </a:r>
              <a:r>
                <a:rPr lang="zh-CN" altLang="en-US" sz="2667" b="1" dirty="0">
                  <a:latin typeface="微软雅黑" pitchFamily="34" charset="-122"/>
                  <a:ea typeface="微软雅黑" pitchFamily="34" charset="-122"/>
                </a:rPr>
                <a:t>或以上版本</a:t>
              </a:r>
              <a:endParaRPr lang="en-US" altLang="zh-CN" sz="2667" b="1" dirty="0">
                <a:latin typeface="微软雅黑" pitchFamily="34" charset="-122"/>
                <a:ea typeface="微软雅黑" pitchFamily="34" charset="-122"/>
              </a:endParaRPr>
            </a:p>
          </p:txBody>
        </p:sp>
        <p:sp>
          <p:nvSpPr>
            <p:cNvPr id="8" name="AutoShape 4"/>
            <p:cNvSpPr>
              <a:spLocks noChangeArrowheads="1"/>
            </p:cNvSpPr>
            <p:nvPr/>
          </p:nvSpPr>
          <p:spPr bwMode="gray">
            <a:xfrm>
              <a:off x="3662079" y="3678185"/>
              <a:ext cx="223101" cy="1170831"/>
            </a:xfrm>
            <a:prstGeom prst="ellipse">
              <a:avLst/>
            </a:prstGeom>
            <a:solidFill>
              <a:schemeClr val="bg1"/>
            </a:solidFill>
            <a:ln w="19050">
              <a:solidFill>
                <a:schemeClr val="accent1"/>
              </a:solidFill>
              <a:round/>
              <a:headEnd/>
              <a:tailEnd/>
            </a:ln>
          </p:spPr>
          <p:txBody>
            <a:bodyPr anchor="ctr"/>
            <a:lstStyle/>
            <a:p>
              <a:pPr algn="ctr"/>
              <a:r>
                <a:rPr lang="en-US" altLang="zh-CN" sz="2667" b="1" dirty="0">
                  <a:solidFill>
                    <a:srgbClr val="0C83B8"/>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54965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a:defRPr/>
            </a:pPr>
            <a:r>
              <a:rPr dirty="0"/>
              <a:t>使用注解定义</a:t>
            </a:r>
            <a:r>
              <a:rPr lang="zh-CN" altLang="en-US" dirty="0"/>
              <a:t>切面</a:t>
            </a:r>
            <a:r>
              <a:rPr dirty="0"/>
              <a:t> </a:t>
            </a:r>
            <a:r>
              <a:rPr lang="en-US" altLang="zh-CN" dirty="0"/>
              <a:t>2-2</a:t>
            </a:r>
            <a:endParaRPr dirty="0"/>
          </a:p>
        </p:txBody>
      </p:sp>
      <p:sp>
        <p:nvSpPr>
          <p:cNvPr id="23555" name="内容占位符 2"/>
          <p:cNvSpPr>
            <a:spLocks noGrp="1"/>
          </p:cNvSpPr>
          <p:nvPr>
            <p:ph idx="1"/>
          </p:nvPr>
        </p:nvSpPr>
        <p:spPr>
          <a:xfrm>
            <a:off x="903394" y="1124745"/>
            <a:ext cx="10350500" cy="4525433"/>
          </a:xfrm>
        </p:spPr>
        <p:txBody>
          <a:bodyPr/>
          <a:lstStyle/>
          <a:p>
            <a:pPr>
              <a:defRPr/>
            </a:pPr>
            <a:r>
              <a:rPr lang="zh-CN" altLang="en-US" sz="2667" dirty="0"/>
              <a:t>需求说明</a:t>
            </a:r>
            <a:endParaRPr lang="en-US" altLang="zh-CN" sz="2667" dirty="0"/>
          </a:p>
          <a:p>
            <a:pPr lvl="1">
              <a:defRPr/>
            </a:pPr>
            <a:r>
              <a:rPr lang="zh-CN" altLang="zh-CN" sz="2667" dirty="0"/>
              <a:t>使用注解来实现日志切面</a:t>
            </a:r>
            <a:endParaRPr lang="en-US" altLang="zh-CN" sz="2667" dirty="0"/>
          </a:p>
          <a:p>
            <a:pPr lvl="1">
              <a:defRPr/>
            </a:pPr>
            <a:endParaRPr lang="zh-CN" altLang="en-US" sz="2667" dirty="0"/>
          </a:p>
          <a:p>
            <a:pPr>
              <a:defRPr/>
            </a:pPr>
            <a:r>
              <a:rPr lang="zh-CN" altLang="zh-CN" sz="2667" dirty="0"/>
              <a:t>使用注解定义前置增强和后置增强实现日志功能</a:t>
            </a:r>
            <a:endParaRPr lang="en-US" altLang="zh-CN" sz="2667" dirty="0"/>
          </a:p>
          <a:p>
            <a:pPr lvl="1">
              <a:defRPr/>
            </a:pPr>
            <a:r>
              <a:rPr lang="en-US" altLang="zh-CN" sz="2667" dirty="0">
                <a:solidFill>
                  <a:srgbClr val="FF0000"/>
                </a:solidFill>
              </a:rPr>
              <a:t>@Aspect</a:t>
            </a:r>
          </a:p>
          <a:p>
            <a:pPr lvl="1">
              <a:defRPr/>
            </a:pPr>
            <a:r>
              <a:rPr lang="en-US" altLang="zh-CN" sz="2667" dirty="0">
                <a:solidFill>
                  <a:srgbClr val="FF0000"/>
                </a:solidFill>
              </a:rPr>
              <a:t>@Before</a:t>
            </a:r>
          </a:p>
          <a:p>
            <a:pPr lvl="1">
              <a:defRPr/>
            </a:pPr>
            <a:r>
              <a:rPr lang="en-US" altLang="zh-CN" sz="2667" dirty="0">
                <a:solidFill>
                  <a:srgbClr val="FF0000"/>
                </a:solidFill>
              </a:rPr>
              <a:t>@</a:t>
            </a:r>
            <a:r>
              <a:rPr lang="en-US" altLang="zh-CN" sz="2667" dirty="0" err="1">
                <a:solidFill>
                  <a:srgbClr val="FF0000"/>
                </a:solidFill>
              </a:rPr>
              <a:t>AfterReturning</a:t>
            </a:r>
            <a:endParaRPr lang="zh-CN" altLang="en-US" sz="2667" dirty="0">
              <a:solidFill>
                <a:srgbClr val="FF0000"/>
              </a:solidFill>
            </a:endParaRPr>
          </a:p>
          <a:p>
            <a:pPr>
              <a:defRPr/>
            </a:pPr>
            <a:r>
              <a:rPr lang="zh-CN" altLang="zh-CN" sz="2667" dirty="0"/>
              <a:t>编写</a:t>
            </a:r>
            <a:r>
              <a:rPr lang="en-US" altLang="zh-CN" sz="2667" dirty="0"/>
              <a:t>Spring</a:t>
            </a:r>
            <a:r>
              <a:rPr lang="zh-CN" altLang="zh-CN" sz="2667" dirty="0"/>
              <a:t>配置文件，完成切面织入</a:t>
            </a:r>
            <a:endParaRPr lang="en-US" altLang="zh-CN" sz="2667" dirty="0"/>
          </a:p>
          <a:p>
            <a:pPr lvl="1">
              <a:defRPr/>
            </a:pPr>
            <a:r>
              <a:rPr lang="en-US" altLang="zh-CN" sz="2667" dirty="0">
                <a:solidFill>
                  <a:srgbClr val="FF0000"/>
                </a:solidFill>
              </a:rPr>
              <a:t>&lt;</a:t>
            </a:r>
            <a:r>
              <a:rPr lang="en-US" altLang="zh-CN" sz="2667" dirty="0" err="1">
                <a:solidFill>
                  <a:srgbClr val="FF0000"/>
                </a:solidFill>
              </a:rPr>
              <a:t>aop:aspectj-autoproxy</a:t>
            </a:r>
            <a:r>
              <a:rPr lang="en-US" altLang="zh-CN" sz="2667" dirty="0">
                <a:solidFill>
                  <a:srgbClr val="FF0000"/>
                </a:solidFill>
              </a:rPr>
              <a:t> /&gt;</a:t>
            </a:r>
            <a:r>
              <a:rPr lang="zh-CN" altLang="en-US" sz="2667" dirty="0"/>
              <a:t>：</a:t>
            </a:r>
            <a:r>
              <a:rPr lang="zh-CN" altLang="zh-CN" sz="2667" dirty="0"/>
              <a:t>启用对于</a:t>
            </a:r>
            <a:r>
              <a:rPr lang="en-US" altLang="zh-CN" sz="2667" dirty="0"/>
              <a:t>@</a:t>
            </a:r>
            <a:r>
              <a:rPr lang="en-US" altLang="zh-CN" sz="2667" dirty="0" err="1"/>
              <a:t>AspectJ</a:t>
            </a:r>
            <a:r>
              <a:rPr lang="zh-CN" altLang="zh-CN" sz="2667" dirty="0"/>
              <a:t>注解的支持</a:t>
            </a:r>
            <a:endParaRPr lang="zh-CN" altLang="en-US" sz="2667" dirty="0"/>
          </a:p>
        </p:txBody>
      </p:sp>
      <p:grpSp>
        <p:nvGrpSpPr>
          <p:cNvPr id="17" name="组合 16"/>
          <p:cNvGrpSpPr/>
          <p:nvPr/>
        </p:nvGrpSpPr>
        <p:grpSpPr>
          <a:xfrm>
            <a:off x="1775520" y="6164496"/>
            <a:ext cx="7906317" cy="465013"/>
            <a:chOff x="1403648" y="3795886"/>
            <a:chExt cx="5929738" cy="348760"/>
          </a:xfrm>
        </p:grpSpPr>
        <p:sp>
          <p:nvSpPr>
            <p:cNvPr id="18" name="圆角矩形 17"/>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19" name="圆角矩形 18"/>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20"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bwMode="auto">
            <a:xfrm>
              <a:off x="2058865" y="3829223"/>
              <a:ext cx="5274521"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9</a:t>
              </a:r>
              <a:r>
                <a:rPr lang="zh-CN" altLang="en-US" sz="2133" b="1" spc="400" dirty="0">
                  <a:solidFill>
                    <a:srgbClr val="FBFFFE"/>
                  </a:solidFill>
                  <a:latin typeface="微软雅黑" pitchFamily="34" charset="-122"/>
                  <a:ea typeface="微软雅黑" pitchFamily="34" charset="-122"/>
                </a:rPr>
                <a:t>：使用注解实现切面（</a:t>
              </a:r>
              <a:r>
                <a:rPr lang="en-US" altLang="zh-CN" sz="2133" b="1" spc="400" dirty="0">
                  <a:solidFill>
                    <a:srgbClr val="FBFFFE"/>
                  </a:solidFill>
                  <a:latin typeface="微软雅黑" pitchFamily="34" charset="-122"/>
                  <a:ea typeface="微软雅黑" pitchFamily="34" charset="-122"/>
                </a:rPr>
                <a:t>example6</a:t>
              </a:r>
              <a:r>
                <a:rPr lang="zh-CN" altLang="en-US" sz="2133" b="1" spc="400" dirty="0">
                  <a:solidFill>
                    <a:srgbClr val="FBFFFE"/>
                  </a:solidFill>
                  <a:latin typeface="微软雅黑" pitchFamily="34" charset="-122"/>
                  <a:ea typeface="微软雅黑" pitchFamily="34" charset="-122"/>
                </a:rPr>
                <a:t>）</a:t>
              </a:r>
              <a:endParaRPr lang="en-US" altLang="zh-CN" sz="2133" b="1" spc="400" dirty="0">
                <a:solidFill>
                  <a:srgbClr val="FBFFFE"/>
                </a:solidFill>
                <a:latin typeface="微软雅黑" pitchFamily="34" charset="-122"/>
                <a:ea typeface="微软雅黑" pitchFamily="34" charset="-122"/>
              </a:endParaRPr>
            </a:p>
          </p:txBody>
        </p:sp>
      </p:grpSp>
      <p:grpSp>
        <p:nvGrpSpPr>
          <p:cNvPr id="30" name="组合 29"/>
          <p:cNvGrpSpPr/>
          <p:nvPr/>
        </p:nvGrpSpPr>
        <p:grpSpPr>
          <a:xfrm>
            <a:off x="272502" y="2468893"/>
            <a:ext cx="527709" cy="680147"/>
            <a:chOff x="2337982" y="1741805"/>
            <a:chExt cx="395782" cy="510110"/>
          </a:xfrm>
        </p:grpSpPr>
        <p:sp>
          <p:nvSpPr>
            <p:cNvPr id="31" name="TextBox 65"/>
            <p:cNvSpPr txBox="1"/>
            <p:nvPr/>
          </p:nvSpPr>
          <p:spPr>
            <a:xfrm>
              <a:off x="2337982" y="2028825"/>
              <a:ext cx="395782" cy="223090"/>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分析</a:t>
              </a:r>
            </a:p>
          </p:txBody>
        </p:sp>
        <p:pic>
          <p:nvPicPr>
            <p:cNvPr id="32" name="图片 31" descr="C:\Users\Lenovo\Desktop\icon\放大镜.png放大镜"/>
            <p:cNvPicPr>
              <a:picLocks noChangeAspect="1"/>
            </p:cNvPicPr>
            <p:nvPr/>
          </p:nvPicPr>
          <p:blipFill>
            <a:blip r:embed="rId4"/>
            <a:srcRect/>
            <a:stretch>
              <a:fillRect/>
            </a:stretch>
          </p:blipFill>
          <p:spPr>
            <a:xfrm>
              <a:off x="2396173" y="1741805"/>
              <a:ext cx="279400" cy="280035"/>
            </a:xfrm>
            <a:prstGeom prst="rect">
              <a:avLst/>
            </a:prstGeom>
          </p:spPr>
        </p:pic>
      </p:grpSp>
    </p:spTree>
    <p:extLst>
      <p:ext uri="{BB962C8B-B14F-4D97-AF65-F5344CB8AC3E}">
        <p14:creationId xmlns:p14="http://schemas.microsoft.com/office/powerpoint/2010/main" val="324911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par>
                                <p:cTn id="8" presetID="22" presetClass="entr" presetSubtype="8" fill="hold" nodeType="withEffect">
                                  <p:stCondLst>
                                    <p:cond delay="0"/>
                                  </p:stCondLst>
                                  <p:childTnLst>
                                    <p:set>
                                      <p:cBhvr>
                                        <p:cTn id="9" dur="1" fill="hold">
                                          <p:stCondLst>
                                            <p:cond delay="0"/>
                                          </p:stCondLst>
                                        </p:cTn>
                                        <p:tgtEl>
                                          <p:spTgt spid="23555">
                                            <p:txEl>
                                              <p:pRg st="3" end="3"/>
                                            </p:txEl>
                                          </p:spTgt>
                                        </p:tgtEl>
                                        <p:attrNameLst>
                                          <p:attrName>style.visibility</p:attrName>
                                        </p:attrNameLst>
                                      </p:cBhvr>
                                      <p:to>
                                        <p:strVal val="visible"/>
                                      </p:to>
                                    </p:set>
                                    <p:animEffect transition="in" filter="wipe(left)">
                                      <p:cBhvr>
                                        <p:cTn id="10" dur="500"/>
                                        <p:tgtEl>
                                          <p:spTgt spid="23555">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23555">
                                            <p:txEl>
                                              <p:pRg st="4" end="4"/>
                                            </p:txEl>
                                          </p:spTgt>
                                        </p:tgtEl>
                                        <p:attrNameLst>
                                          <p:attrName>style.visibility</p:attrName>
                                        </p:attrNameLst>
                                      </p:cBhvr>
                                      <p:to>
                                        <p:strVal val="visible"/>
                                      </p:to>
                                    </p:set>
                                    <p:animEffect transition="in" filter="wipe(left)">
                                      <p:cBhvr>
                                        <p:cTn id="13" dur="500"/>
                                        <p:tgtEl>
                                          <p:spTgt spid="23555">
                                            <p:txEl>
                                              <p:pRg st="4" end="4"/>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23555">
                                            <p:txEl>
                                              <p:pRg st="5" end="5"/>
                                            </p:txEl>
                                          </p:spTgt>
                                        </p:tgtEl>
                                        <p:attrNameLst>
                                          <p:attrName>style.visibility</p:attrName>
                                        </p:attrNameLst>
                                      </p:cBhvr>
                                      <p:to>
                                        <p:strVal val="visible"/>
                                      </p:to>
                                    </p:set>
                                    <p:animEffect transition="in" filter="wipe(left)">
                                      <p:cBhvr>
                                        <p:cTn id="16" dur="500"/>
                                        <p:tgtEl>
                                          <p:spTgt spid="23555">
                                            <p:txEl>
                                              <p:pRg st="5" end="5"/>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23555">
                                            <p:txEl>
                                              <p:pRg st="6" end="6"/>
                                            </p:txEl>
                                          </p:spTgt>
                                        </p:tgtEl>
                                        <p:attrNameLst>
                                          <p:attrName>style.visibility</p:attrName>
                                        </p:attrNameLst>
                                      </p:cBhvr>
                                      <p:to>
                                        <p:strVal val="visible"/>
                                      </p:to>
                                    </p:set>
                                    <p:animEffect transition="in" filter="wipe(left)">
                                      <p:cBhvr>
                                        <p:cTn id="19" dur="500"/>
                                        <p:tgtEl>
                                          <p:spTgt spid="23555">
                                            <p:txEl>
                                              <p:pRg st="6" end="6"/>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23555">
                                            <p:txEl>
                                              <p:pRg st="7" end="7"/>
                                            </p:txEl>
                                          </p:spTgt>
                                        </p:tgtEl>
                                        <p:attrNameLst>
                                          <p:attrName>style.visibility</p:attrName>
                                        </p:attrNameLst>
                                      </p:cBhvr>
                                      <p:to>
                                        <p:strVal val="visible"/>
                                      </p:to>
                                    </p:set>
                                    <p:animEffect transition="in" filter="wipe(left)">
                                      <p:cBhvr>
                                        <p:cTn id="22" dur="500"/>
                                        <p:tgtEl>
                                          <p:spTgt spid="23555">
                                            <p:txEl>
                                              <p:pRg st="7" end="7"/>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3555">
                                            <p:txEl>
                                              <p:pRg st="8" end="8"/>
                                            </p:txEl>
                                          </p:spTgt>
                                        </p:tgtEl>
                                        <p:attrNameLst>
                                          <p:attrName>style.visibility</p:attrName>
                                        </p:attrNameLst>
                                      </p:cBhvr>
                                      <p:to>
                                        <p:strVal val="visible"/>
                                      </p:to>
                                    </p:set>
                                    <p:animEffect transition="in" filter="wipe(left)">
                                      <p:cBhvr>
                                        <p:cTn id="25" dur="500"/>
                                        <p:tgtEl>
                                          <p:spTgt spid="23555">
                                            <p:txEl>
                                              <p:pRg st="8" end="8"/>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标题 1"/>
          <p:cNvSpPr>
            <a:spLocks noGrp="1"/>
          </p:cNvSpPr>
          <p:nvPr>
            <p:ph type="title"/>
          </p:nvPr>
        </p:nvSpPr>
        <p:spPr>
          <a:xfrm>
            <a:off x="239350" y="452670"/>
            <a:ext cx="10914380" cy="655863"/>
          </a:xfrm>
        </p:spPr>
        <p:txBody>
          <a:bodyPr/>
          <a:lstStyle/>
          <a:p>
            <a:pPr>
              <a:defRPr/>
            </a:pPr>
            <a:r>
              <a:rPr dirty="0"/>
              <a:t>使用注解定义</a:t>
            </a:r>
            <a:r>
              <a:rPr lang="zh-CN" altLang="en-US" dirty="0"/>
              <a:t>增强</a:t>
            </a:r>
            <a:r>
              <a:rPr lang="en-US" dirty="0"/>
              <a:t>3</a:t>
            </a:r>
            <a:r>
              <a:rPr lang="en-US" altLang="zh-CN" dirty="0"/>
              <a:t>-1</a:t>
            </a:r>
            <a:endParaRPr dirty="0"/>
          </a:p>
        </p:txBody>
      </p:sp>
      <p:sp>
        <p:nvSpPr>
          <p:cNvPr id="23555" name="内容占位符 2"/>
          <p:cNvSpPr>
            <a:spLocks noGrp="1"/>
          </p:cNvSpPr>
          <p:nvPr>
            <p:ph idx="1"/>
          </p:nvPr>
        </p:nvSpPr>
        <p:spPr/>
        <p:txBody>
          <a:bodyPr/>
          <a:lstStyle/>
          <a:p>
            <a:pPr>
              <a:defRPr/>
            </a:pPr>
            <a:r>
              <a:rPr lang="zh-CN" altLang="en-US" dirty="0"/>
              <a:t>需求说明</a:t>
            </a:r>
            <a:endParaRPr lang="en-US" altLang="zh-CN" dirty="0"/>
          </a:p>
          <a:p>
            <a:pPr lvl="1">
              <a:defRPr/>
            </a:pPr>
            <a:r>
              <a:rPr lang="zh-CN" altLang="zh-CN" dirty="0"/>
              <a:t>使用注解来定义异常抛出增强</a:t>
            </a:r>
            <a:endParaRPr lang="en-US" altLang="zh-CN" dirty="0"/>
          </a:p>
          <a:p>
            <a:pPr lvl="1">
              <a:defRPr/>
            </a:pPr>
            <a:endParaRPr lang="zh-CN" altLang="en-US" dirty="0"/>
          </a:p>
          <a:p>
            <a:pPr>
              <a:defRPr/>
            </a:pPr>
            <a:r>
              <a:rPr lang="zh-CN" altLang="en-US" dirty="0"/>
              <a:t>使用</a:t>
            </a:r>
            <a:r>
              <a:rPr lang="en-US" altLang="zh-CN" dirty="0">
                <a:solidFill>
                  <a:srgbClr val="FF0000"/>
                </a:solidFill>
              </a:rPr>
              <a:t>@</a:t>
            </a:r>
            <a:r>
              <a:rPr lang="en-US" altLang="zh-CN" dirty="0" err="1">
                <a:solidFill>
                  <a:srgbClr val="FF0000"/>
                </a:solidFill>
              </a:rPr>
              <a:t>AfterThrowing</a:t>
            </a:r>
            <a:r>
              <a:rPr lang="en-US" altLang="zh-CN" dirty="0">
                <a:solidFill>
                  <a:srgbClr val="FF0000"/>
                </a:solidFill>
              </a:rPr>
              <a:t> </a:t>
            </a:r>
            <a:r>
              <a:rPr lang="zh-CN" altLang="en-US" dirty="0"/>
              <a:t>注解</a:t>
            </a:r>
            <a:r>
              <a:rPr lang="zh-CN" altLang="zh-CN" dirty="0"/>
              <a:t>定义异常抛出增强</a:t>
            </a:r>
            <a:endParaRPr lang="zh-CN" altLang="en-US" dirty="0"/>
          </a:p>
        </p:txBody>
      </p:sp>
      <p:grpSp>
        <p:nvGrpSpPr>
          <p:cNvPr id="17" name="组合 16"/>
          <p:cNvGrpSpPr/>
          <p:nvPr/>
        </p:nvGrpSpPr>
        <p:grpSpPr>
          <a:xfrm>
            <a:off x="1813352" y="6117299"/>
            <a:ext cx="7619744" cy="465013"/>
            <a:chOff x="1403648" y="3795886"/>
            <a:chExt cx="5714808" cy="348760"/>
          </a:xfrm>
        </p:grpSpPr>
        <p:sp>
          <p:nvSpPr>
            <p:cNvPr id="18" name="圆角矩形 17"/>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19" name="圆角矩形 18"/>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20"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bwMode="auto">
            <a:xfrm>
              <a:off x="2387677" y="3829223"/>
              <a:ext cx="4616888"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10</a:t>
              </a:r>
              <a:r>
                <a:rPr lang="zh-CN" altLang="en-US" sz="2133" b="1" spc="400" dirty="0">
                  <a:solidFill>
                    <a:srgbClr val="FBFFFE"/>
                  </a:solidFill>
                  <a:latin typeface="微软雅黑" pitchFamily="34" charset="-122"/>
                  <a:ea typeface="微软雅黑" pitchFamily="34" charset="-122"/>
                </a:rPr>
                <a:t>：使用注解定义异常抛出增强</a:t>
              </a:r>
              <a:endParaRPr lang="en-US" altLang="zh-CN" sz="2133" b="1" spc="400" dirty="0">
                <a:solidFill>
                  <a:srgbClr val="FBFFFE"/>
                </a:solidFill>
                <a:latin typeface="微软雅黑" pitchFamily="34" charset="-122"/>
                <a:ea typeface="微软雅黑" pitchFamily="34" charset="-122"/>
              </a:endParaRPr>
            </a:p>
          </p:txBody>
        </p:sp>
      </p:grpSp>
      <p:grpSp>
        <p:nvGrpSpPr>
          <p:cNvPr id="22" name="组合 21"/>
          <p:cNvGrpSpPr/>
          <p:nvPr/>
        </p:nvGrpSpPr>
        <p:grpSpPr>
          <a:xfrm>
            <a:off x="484707" y="2660915"/>
            <a:ext cx="527709" cy="680147"/>
            <a:chOff x="2337982" y="1741805"/>
            <a:chExt cx="395782" cy="510110"/>
          </a:xfrm>
        </p:grpSpPr>
        <p:sp>
          <p:nvSpPr>
            <p:cNvPr id="23" name="TextBox 65"/>
            <p:cNvSpPr txBox="1"/>
            <p:nvPr/>
          </p:nvSpPr>
          <p:spPr>
            <a:xfrm>
              <a:off x="2337982" y="2028825"/>
              <a:ext cx="395782" cy="223090"/>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分析</a:t>
              </a:r>
            </a:p>
          </p:txBody>
        </p:sp>
        <p:pic>
          <p:nvPicPr>
            <p:cNvPr id="24" name="图片 23" descr="C:\Users\Lenovo\Desktop\icon\放大镜.png放大镜"/>
            <p:cNvPicPr>
              <a:picLocks noChangeAspect="1"/>
            </p:cNvPicPr>
            <p:nvPr/>
          </p:nvPicPr>
          <p:blipFill>
            <a:blip r:embed="rId4"/>
            <a:srcRect/>
            <a:stretch>
              <a:fillRect/>
            </a:stretch>
          </p:blipFill>
          <p:spPr>
            <a:xfrm>
              <a:off x="2396173" y="1741805"/>
              <a:ext cx="279400" cy="280035"/>
            </a:xfrm>
            <a:prstGeom prst="rect">
              <a:avLst/>
            </a:prstGeom>
          </p:spPr>
        </p:pic>
      </p:grpSp>
    </p:spTree>
    <p:extLst>
      <p:ext uri="{BB962C8B-B14F-4D97-AF65-F5344CB8AC3E}">
        <p14:creationId xmlns:p14="http://schemas.microsoft.com/office/powerpoint/2010/main" val="358127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nodeType="withEffect">
                                  <p:stCondLst>
                                    <p:cond delay="0"/>
                                  </p:stCondLst>
                                  <p:childTnLst>
                                    <p:set>
                                      <p:cBhvr>
                                        <p:cTn id="9" dur="1" fill="hold">
                                          <p:stCondLst>
                                            <p:cond delay="0"/>
                                          </p:stCondLst>
                                        </p:cTn>
                                        <p:tgtEl>
                                          <p:spTgt spid="23555">
                                            <p:txEl>
                                              <p:pRg st="3" end="3"/>
                                            </p:txEl>
                                          </p:spTgt>
                                        </p:tgtEl>
                                        <p:attrNameLst>
                                          <p:attrName>style.visibility</p:attrName>
                                        </p:attrNameLst>
                                      </p:cBhvr>
                                      <p:to>
                                        <p:strVal val="visible"/>
                                      </p:to>
                                    </p:set>
                                    <p:animEffect transition="in" filter="wipe(left)">
                                      <p:cBhvr>
                                        <p:cTn id="10" dur="500"/>
                                        <p:tgtEl>
                                          <p:spTgt spid="23555">
                                            <p:txEl>
                                              <p:pRg st="3" end="3"/>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left)">
                                      <p:cBhvr>
                                        <p:cTn id="1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标题 1"/>
          <p:cNvSpPr>
            <a:spLocks noGrp="1"/>
          </p:cNvSpPr>
          <p:nvPr>
            <p:ph type="title"/>
          </p:nvPr>
        </p:nvSpPr>
        <p:spPr>
          <a:xfrm>
            <a:off x="239350" y="452669"/>
            <a:ext cx="5183717" cy="523875"/>
          </a:xfrm>
        </p:spPr>
        <p:txBody>
          <a:bodyPr>
            <a:normAutofit fontScale="90000"/>
          </a:bodyPr>
          <a:lstStyle/>
          <a:p>
            <a:pPr>
              <a:defRPr/>
            </a:pPr>
            <a:r>
              <a:rPr dirty="0"/>
              <a:t>使用注解定义</a:t>
            </a:r>
            <a:r>
              <a:rPr lang="zh-CN" altLang="en-US" dirty="0"/>
              <a:t>增强</a:t>
            </a:r>
            <a:r>
              <a:rPr lang="en-US" dirty="0"/>
              <a:t>3</a:t>
            </a:r>
            <a:r>
              <a:rPr lang="en-US" altLang="zh-CN" dirty="0"/>
              <a:t>-2</a:t>
            </a:r>
            <a:endParaRPr dirty="0"/>
          </a:p>
        </p:txBody>
      </p:sp>
      <p:sp>
        <p:nvSpPr>
          <p:cNvPr id="23555" name="内容占位符 2"/>
          <p:cNvSpPr>
            <a:spLocks noGrp="1"/>
          </p:cNvSpPr>
          <p:nvPr>
            <p:ph idx="1"/>
          </p:nvPr>
        </p:nvSpPr>
        <p:spPr>
          <a:xfrm>
            <a:off x="1045634" y="1453853"/>
            <a:ext cx="10714996" cy="5143500"/>
          </a:xfrm>
        </p:spPr>
        <p:txBody>
          <a:bodyPr/>
          <a:lstStyle/>
          <a:p>
            <a:pPr>
              <a:defRPr/>
            </a:pPr>
            <a:r>
              <a:rPr lang="zh-CN" altLang="en-US" dirty="0"/>
              <a:t>需求说明</a:t>
            </a:r>
            <a:endParaRPr lang="en-US" altLang="zh-CN" dirty="0"/>
          </a:p>
          <a:p>
            <a:pPr lvl="1">
              <a:defRPr/>
            </a:pPr>
            <a:r>
              <a:rPr lang="zh-CN" altLang="zh-CN" dirty="0"/>
              <a:t>使用注解来定义最终增强</a:t>
            </a:r>
            <a:endParaRPr lang="en-US" altLang="zh-CN" dirty="0"/>
          </a:p>
          <a:p>
            <a:pPr lvl="1">
              <a:defRPr/>
            </a:pPr>
            <a:endParaRPr lang="zh-CN" altLang="en-US" dirty="0"/>
          </a:p>
          <a:p>
            <a:pPr>
              <a:defRPr/>
            </a:pPr>
            <a:r>
              <a:rPr lang="zh-CN" altLang="en-US" dirty="0"/>
              <a:t>使用</a:t>
            </a:r>
            <a:r>
              <a:rPr lang="en-US" altLang="zh-CN" dirty="0">
                <a:solidFill>
                  <a:srgbClr val="FF0000"/>
                </a:solidFill>
              </a:rPr>
              <a:t>@After</a:t>
            </a:r>
            <a:r>
              <a:rPr lang="zh-CN" altLang="en-US" dirty="0"/>
              <a:t>注解</a:t>
            </a:r>
            <a:r>
              <a:rPr lang="zh-CN" altLang="zh-CN" dirty="0"/>
              <a:t>定义最终增强</a:t>
            </a:r>
            <a:endParaRPr lang="zh-CN" altLang="en-US" dirty="0"/>
          </a:p>
        </p:txBody>
      </p:sp>
      <p:grpSp>
        <p:nvGrpSpPr>
          <p:cNvPr id="17" name="组合 16"/>
          <p:cNvGrpSpPr/>
          <p:nvPr/>
        </p:nvGrpSpPr>
        <p:grpSpPr>
          <a:xfrm>
            <a:off x="484707" y="2660915"/>
            <a:ext cx="527709" cy="680147"/>
            <a:chOff x="2337982" y="1741805"/>
            <a:chExt cx="395782" cy="510110"/>
          </a:xfrm>
        </p:grpSpPr>
        <p:sp>
          <p:nvSpPr>
            <p:cNvPr id="18" name="TextBox 65"/>
            <p:cNvSpPr txBox="1"/>
            <p:nvPr/>
          </p:nvSpPr>
          <p:spPr>
            <a:xfrm>
              <a:off x="2337982" y="2028825"/>
              <a:ext cx="395782" cy="223090"/>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分析</a:t>
              </a:r>
            </a:p>
          </p:txBody>
        </p:sp>
        <p:pic>
          <p:nvPicPr>
            <p:cNvPr id="19" name="图片 18" descr="C:\Users\Lenovo\Desktop\icon\放大镜.png放大镜"/>
            <p:cNvPicPr>
              <a:picLocks noChangeAspect="1"/>
            </p:cNvPicPr>
            <p:nvPr/>
          </p:nvPicPr>
          <p:blipFill>
            <a:blip r:embed="rId3"/>
            <a:srcRect/>
            <a:stretch>
              <a:fillRect/>
            </a:stretch>
          </p:blipFill>
          <p:spPr>
            <a:xfrm>
              <a:off x="2396173" y="1741805"/>
              <a:ext cx="279400" cy="280035"/>
            </a:xfrm>
            <a:prstGeom prst="rect">
              <a:avLst/>
            </a:prstGeom>
          </p:spPr>
        </p:pic>
      </p:grpSp>
      <p:grpSp>
        <p:nvGrpSpPr>
          <p:cNvPr id="20" name="组合 19"/>
          <p:cNvGrpSpPr/>
          <p:nvPr/>
        </p:nvGrpSpPr>
        <p:grpSpPr>
          <a:xfrm>
            <a:off x="1813352" y="6117299"/>
            <a:ext cx="7619744" cy="465013"/>
            <a:chOff x="1403648" y="3795886"/>
            <a:chExt cx="5714808" cy="348760"/>
          </a:xfrm>
        </p:grpSpPr>
        <p:sp>
          <p:nvSpPr>
            <p:cNvPr id="21" name="圆角矩形 20"/>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22" name="圆角矩形 21"/>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23" name="Picture 8" descr="说话气泡ne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3"/>
            <p:cNvSpPr txBox="1"/>
            <p:nvPr/>
          </p:nvSpPr>
          <p:spPr bwMode="auto">
            <a:xfrm>
              <a:off x="2631733" y="3829223"/>
              <a:ext cx="4128775"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11</a:t>
              </a:r>
              <a:r>
                <a:rPr lang="zh-CN" altLang="en-US" sz="2133" b="1" spc="400" dirty="0">
                  <a:solidFill>
                    <a:srgbClr val="FBFFFE"/>
                  </a:solidFill>
                  <a:latin typeface="微软雅黑" pitchFamily="34" charset="-122"/>
                  <a:ea typeface="微软雅黑" pitchFamily="34" charset="-122"/>
                </a:rPr>
                <a:t>：使用注解定义最终增强</a:t>
              </a:r>
              <a:endParaRPr lang="en-US" altLang="zh-CN" sz="2133" b="1" spc="400" dirty="0">
                <a:solidFill>
                  <a:srgbClr val="FBFFFE"/>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07288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nodeType="withEffect">
                                  <p:stCondLst>
                                    <p:cond delay="0"/>
                                  </p:stCondLst>
                                  <p:childTnLst>
                                    <p:set>
                                      <p:cBhvr>
                                        <p:cTn id="9" dur="1" fill="hold">
                                          <p:stCondLst>
                                            <p:cond delay="0"/>
                                          </p:stCondLst>
                                        </p:cTn>
                                        <p:tgtEl>
                                          <p:spTgt spid="23555">
                                            <p:txEl>
                                              <p:pRg st="3" end="3"/>
                                            </p:txEl>
                                          </p:spTgt>
                                        </p:tgtEl>
                                        <p:attrNameLst>
                                          <p:attrName>style.visibility</p:attrName>
                                        </p:attrNameLst>
                                      </p:cBhvr>
                                      <p:to>
                                        <p:strVal val="visible"/>
                                      </p:to>
                                    </p:set>
                                    <p:animEffect transition="in" filter="wipe(left)">
                                      <p:cBhvr>
                                        <p:cTn id="10" dur="500"/>
                                        <p:tgtEl>
                                          <p:spTgt spid="23555">
                                            <p:txEl>
                                              <p:pRg st="3" end="3"/>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标题 1"/>
          <p:cNvSpPr>
            <a:spLocks noGrp="1"/>
          </p:cNvSpPr>
          <p:nvPr>
            <p:ph type="title"/>
          </p:nvPr>
        </p:nvSpPr>
        <p:spPr>
          <a:xfrm>
            <a:off x="239350" y="452669"/>
            <a:ext cx="5183717" cy="523875"/>
          </a:xfrm>
        </p:spPr>
        <p:txBody>
          <a:bodyPr>
            <a:normAutofit fontScale="90000"/>
          </a:bodyPr>
          <a:lstStyle/>
          <a:p>
            <a:pPr>
              <a:defRPr/>
            </a:pPr>
            <a:r>
              <a:rPr dirty="0"/>
              <a:t>使用注解定义</a:t>
            </a:r>
            <a:r>
              <a:rPr lang="zh-CN" altLang="en-US" dirty="0"/>
              <a:t>增强</a:t>
            </a:r>
            <a:r>
              <a:rPr lang="en-US" dirty="0"/>
              <a:t>3</a:t>
            </a:r>
            <a:r>
              <a:rPr lang="en-US" altLang="zh-CN" dirty="0"/>
              <a:t>-3</a:t>
            </a:r>
            <a:endParaRPr dirty="0"/>
          </a:p>
        </p:txBody>
      </p:sp>
      <p:sp>
        <p:nvSpPr>
          <p:cNvPr id="23555" name="内容占位符 2"/>
          <p:cNvSpPr>
            <a:spLocks noGrp="1"/>
          </p:cNvSpPr>
          <p:nvPr>
            <p:ph idx="1"/>
          </p:nvPr>
        </p:nvSpPr>
        <p:spPr>
          <a:xfrm>
            <a:off x="1045634" y="1357842"/>
            <a:ext cx="10714996" cy="5143500"/>
          </a:xfrm>
        </p:spPr>
        <p:txBody>
          <a:bodyPr/>
          <a:lstStyle/>
          <a:p>
            <a:pPr>
              <a:defRPr/>
            </a:pPr>
            <a:r>
              <a:rPr lang="zh-CN" altLang="en-US" dirty="0"/>
              <a:t>需求说明</a:t>
            </a:r>
            <a:endParaRPr lang="en-US" altLang="zh-CN" dirty="0"/>
          </a:p>
          <a:p>
            <a:pPr lvl="1">
              <a:defRPr/>
            </a:pPr>
            <a:r>
              <a:rPr lang="zh-CN" altLang="zh-CN" dirty="0"/>
              <a:t>使用注解来定义</a:t>
            </a:r>
            <a:r>
              <a:rPr lang="zh-CN" altLang="en-US" dirty="0"/>
              <a:t>环绕</a:t>
            </a:r>
            <a:r>
              <a:rPr lang="zh-CN" altLang="zh-CN" dirty="0"/>
              <a:t>增强</a:t>
            </a:r>
            <a:endParaRPr lang="en-US" altLang="zh-CN" dirty="0"/>
          </a:p>
          <a:p>
            <a:pPr lvl="1">
              <a:defRPr/>
            </a:pPr>
            <a:endParaRPr lang="zh-CN" altLang="en-US" dirty="0"/>
          </a:p>
          <a:p>
            <a:pPr>
              <a:defRPr/>
            </a:pPr>
            <a:r>
              <a:rPr lang="zh-CN" altLang="en-US" dirty="0"/>
              <a:t>使用</a:t>
            </a:r>
            <a:r>
              <a:rPr lang="en-US" altLang="zh-CN" dirty="0">
                <a:solidFill>
                  <a:srgbClr val="FF0000"/>
                </a:solidFill>
              </a:rPr>
              <a:t>@Around</a:t>
            </a:r>
            <a:r>
              <a:rPr lang="zh-CN" altLang="en-US" dirty="0"/>
              <a:t>注解</a:t>
            </a:r>
            <a:r>
              <a:rPr lang="zh-CN" altLang="zh-CN" dirty="0"/>
              <a:t>定义</a:t>
            </a:r>
            <a:r>
              <a:rPr lang="zh-CN" altLang="en-US" dirty="0"/>
              <a:t>环绕</a:t>
            </a:r>
            <a:r>
              <a:rPr lang="zh-CN" altLang="zh-CN" dirty="0"/>
              <a:t>增强</a:t>
            </a:r>
            <a:endParaRPr lang="zh-CN" altLang="en-US" dirty="0"/>
          </a:p>
        </p:txBody>
      </p:sp>
      <p:grpSp>
        <p:nvGrpSpPr>
          <p:cNvPr id="17" name="组合 16"/>
          <p:cNvGrpSpPr/>
          <p:nvPr/>
        </p:nvGrpSpPr>
        <p:grpSpPr>
          <a:xfrm>
            <a:off x="479089" y="2691395"/>
            <a:ext cx="527709" cy="680147"/>
            <a:chOff x="2337982" y="1741805"/>
            <a:chExt cx="395782" cy="510110"/>
          </a:xfrm>
        </p:grpSpPr>
        <p:sp>
          <p:nvSpPr>
            <p:cNvPr id="18" name="TextBox 65"/>
            <p:cNvSpPr txBox="1"/>
            <p:nvPr/>
          </p:nvSpPr>
          <p:spPr>
            <a:xfrm>
              <a:off x="2337982" y="2028825"/>
              <a:ext cx="395782" cy="223090"/>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分析</a:t>
              </a:r>
            </a:p>
          </p:txBody>
        </p:sp>
        <p:pic>
          <p:nvPicPr>
            <p:cNvPr id="19" name="图片 18" descr="C:\Users\Lenovo\Desktop\icon\放大镜.png放大镜"/>
            <p:cNvPicPr>
              <a:picLocks noChangeAspect="1"/>
            </p:cNvPicPr>
            <p:nvPr/>
          </p:nvPicPr>
          <p:blipFill>
            <a:blip r:embed="rId3"/>
            <a:srcRect/>
            <a:stretch>
              <a:fillRect/>
            </a:stretch>
          </p:blipFill>
          <p:spPr>
            <a:xfrm>
              <a:off x="2396173" y="1741805"/>
              <a:ext cx="279400" cy="280035"/>
            </a:xfrm>
            <a:prstGeom prst="rect">
              <a:avLst/>
            </a:prstGeom>
          </p:spPr>
        </p:pic>
      </p:grpSp>
      <p:grpSp>
        <p:nvGrpSpPr>
          <p:cNvPr id="20" name="组合 19"/>
          <p:cNvGrpSpPr/>
          <p:nvPr/>
        </p:nvGrpSpPr>
        <p:grpSpPr>
          <a:xfrm>
            <a:off x="1813351" y="6117299"/>
            <a:ext cx="6778926" cy="465013"/>
            <a:chOff x="1403648" y="3795886"/>
            <a:chExt cx="5714808" cy="348760"/>
          </a:xfrm>
        </p:grpSpPr>
        <p:sp>
          <p:nvSpPr>
            <p:cNvPr id="21" name="圆角矩形 20"/>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sp>
          <p:nvSpPr>
            <p:cNvPr id="22" name="圆角矩形 21"/>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sz="2400"/>
            </a:p>
          </p:txBody>
        </p:sp>
        <p:pic>
          <p:nvPicPr>
            <p:cNvPr id="23" name="Picture 8" descr="说话气泡ne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3"/>
            <p:cNvSpPr txBox="1"/>
            <p:nvPr/>
          </p:nvSpPr>
          <p:spPr bwMode="auto">
            <a:xfrm>
              <a:off x="2375678" y="3829223"/>
              <a:ext cx="4640883" cy="315423"/>
            </a:xfrm>
            <a:prstGeom prst="rect">
              <a:avLst/>
            </a:prstGeom>
            <a:noFill/>
            <a:effectLst/>
          </p:spPr>
          <p:txBody>
            <a:bodyPr wrap="none">
              <a:spAutoFit/>
            </a:bodyPr>
            <a:lstStyle/>
            <a:p>
              <a:pPr algn="ctr">
                <a:defRPr/>
              </a:pPr>
              <a:r>
                <a:rPr lang="zh-CN" altLang="en-US" sz="2133" b="1" spc="400" dirty="0">
                  <a:solidFill>
                    <a:srgbClr val="FBFFFE"/>
                  </a:solidFill>
                  <a:latin typeface="微软雅黑" pitchFamily="34" charset="-122"/>
                  <a:ea typeface="微软雅黑" pitchFamily="34" charset="-122"/>
                </a:rPr>
                <a:t>演示示例</a:t>
              </a:r>
              <a:r>
                <a:rPr lang="en-US" altLang="zh-CN" sz="2133" b="1" spc="400" dirty="0">
                  <a:solidFill>
                    <a:srgbClr val="FBFFFE"/>
                  </a:solidFill>
                  <a:latin typeface="微软雅黑" pitchFamily="34" charset="-122"/>
                  <a:ea typeface="微软雅黑" pitchFamily="34" charset="-122"/>
                </a:rPr>
                <a:t>12</a:t>
              </a:r>
              <a:r>
                <a:rPr lang="zh-CN" altLang="en-US" sz="2133" b="1" spc="400" dirty="0">
                  <a:solidFill>
                    <a:srgbClr val="FBFFFE"/>
                  </a:solidFill>
                  <a:latin typeface="微软雅黑" pitchFamily="34" charset="-122"/>
                  <a:ea typeface="微软雅黑" pitchFamily="34" charset="-122"/>
                </a:rPr>
                <a:t>：使用注解定义环绕增强</a:t>
              </a:r>
              <a:endParaRPr lang="en-US" altLang="zh-CN" sz="2133" b="1" spc="400" dirty="0">
                <a:solidFill>
                  <a:srgbClr val="FBFFFE"/>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353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nodeType="withEffect">
                                  <p:stCondLst>
                                    <p:cond delay="0"/>
                                  </p:stCondLst>
                                  <p:childTnLst>
                                    <p:set>
                                      <p:cBhvr>
                                        <p:cTn id="9" dur="1" fill="hold">
                                          <p:stCondLst>
                                            <p:cond delay="0"/>
                                          </p:stCondLst>
                                        </p:cTn>
                                        <p:tgtEl>
                                          <p:spTgt spid="23555">
                                            <p:txEl>
                                              <p:pRg st="3" end="3"/>
                                            </p:txEl>
                                          </p:spTgt>
                                        </p:tgtEl>
                                        <p:attrNameLst>
                                          <p:attrName>style.visibility</p:attrName>
                                        </p:attrNameLst>
                                      </p:cBhvr>
                                      <p:to>
                                        <p:strVal val="visible"/>
                                      </p:to>
                                    </p:set>
                                    <p:animEffect transition="in" filter="wipe(left)">
                                      <p:cBhvr>
                                        <p:cTn id="10" dur="500"/>
                                        <p:tgtEl>
                                          <p:spTgt spid="23555">
                                            <p:txEl>
                                              <p:pRg st="3" end="3"/>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a:defRPr/>
            </a:pPr>
            <a:r>
              <a:rPr lang="en-US" altLang="zh-CN" dirty="0"/>
              <a:t>Spring</a:t>
            </a:r>
            <a:r>
              <a:rPr lang="zh-CN" altLang="en-US" dirty="0"/>
              <a:t>切面配置小结</a:t>
            </a:r>
            <a:endParaRPr dirty="0"/>
          </a:p>
        </p:txBody>
      </p:sp>
      <p:sp>
        <p:nvSpPr>
          <p:cNvPr id="23555" name="内容占位符 2"/>
          <p:cNvSpPr>
            <a:spLocks noGrp="1"/>
          </p:cNvSpPr>
          <p:nvPr>
            <p:ph idx="1"/>
          </p:nvPr>
        </p:nvSpPr>
        <p:spPr/>
        <p:txBody>
          <a:bodyPr/>
          <a:lstStyle/>
          <a:p>
            <a:pPr>
              <a:defRPr/>
            </a:pPr>
            <a:r>
              <a:rPr lang="zh-CN" altLang="en-US" sz="2667" dirty="0"/>
              <a:t>使用注解方式定义切面可以简化配置工作量</a:t>
            </a:r>
            <a:endParaRPr lang="en-US" altLang="zh-CN" sz="2667" dirty="0"/>
          </a:p>
          <a:p>
            <a:pPr>
              <a:defRPr/>
            </a:pPr>
            <a:r>
              <a:rPr lang="zh-CN" altLang="en-US" sz="2667" dirty="0"/>
              <a:t>常用注解有</a:t>
            </a:r>
            <a:r>
              <a:rPr lang="en-US" altLang="zh-CN" sz="2667" dirty="0"/>
              <a:t>@Aspect</a:t>
            </a:r>
            <a:r>
              <a:rPr lang="zh-CN" altLang="en-US" sz="2667" dirty="0"/>
              <a:t>、</a:t>
            </a:r>
            <a:r>
              <a:rPr lang="en-US" altLang="zh-CN" sz="2667" dirty="0"/>
              <a:t>@Before</a:t>
            </a:r>
            <a:r>
              <a:rPr lang="zh-CN" altLang="en-US" sz="2667" dirty="0"/>
              <a:t>、</a:t>
            </a:r>
            <a:r>
              <a:rPr lang="en-US" altLang="zh-CN" sz="2667" dirty="0"/>
              <a:t>@</a:t>
            </a:r>
            <a:r>
              <a:rPr lang="en-US" altLang="zh-CN" sz="2667" dirty="0" err="1"/>
              <a:t>AfterReturning</a:t>
            </a:r>
            <a:r>
              <a:rPr lang="zh-CN" altLang="en-US" sz="2667" dirty="0"/>
              <a:t>、</a:t>
            </a:r>
            <a:r>
              <a:rPr lang="en-US" altLang="zh-CN" sz="2667" dirty="0"/>
              <a:t>@Around</a:t>
            </a:r>
            <a:r>
              <a:rPr lang="zh-CN" altLang="en-US" sz="2667" dirty="0"/>
              <a:t>、</a:t>
            </a:r>
            <a:r>
              <a:rPr lang="en-US" altLang="zh-CN" sz="2667" dirty="0"/>
              <a:t>@</a:t>
            </a:r>
            <a:r>
              <a:rPr lang="en-US" altLang="zh-CN" sz="2667" dirty="0" err="1"/>
              <a:t>AfterThrowing</a:t>
            </a:r>
            <a:r>
              <a:rPr lang="zh-CN" altLang="en-US" sz="2667" dirty="0"/>
              <a:t>、</a:t>
            </a:r>
            <a:r>
              <a:rPr lang="en-US" altLang="zh-CN" sz="2667" dirty="0"/>
              <a:t>@After</a:t>
            </a:r>
            <a:r>
              <a:rPr lang="zh-CN" altLang="en-US" sz="2667" dirty="0"/>
              <a:t>等</a:t>
            </a:r>
            <a:endParaRPr lang="en-US" altLang="zh-CN" sz="2667" dirty="0"/>
          </a:p>
          <a:p>
            <a:pPr>
              <a:defRPr/>
            </a:pPr>
            <a:r>
              <a:rPr lang="zh-CN" altLang="en-US" sz="2667" dirty="0"/>
              <a:t>在配置文件中添加</a:t>
            </a:r>
            <a:r>
              <a:rPr lang="en-US" altLang="zh-CN" sz="2667" dirty="0"/>
              <a:t>&lt;</a:t>
            </a:r>
            <a:r>
              <a:rPr lang="en-US" altLang="zh-CN" sz="2667" dirty="0" err="1"/>
              <a:t>aop:aspectj-autoproxy</a:t>
            </a:r>
            <a:r>
              <a:rPr lang="en-US" altLang="zh-CN" sz="2667" dirty="0"/>
              <a:t> /&gt;</a:t>
            </a:r>
            <a:r>
              <a:rPr lang="zh-CN" altLang="en-US" sz="2667" dirty="0"/>
              <a:t>元素，启用对于</a:t>
            </a:r>
            <a:r>
              <a:rPr lang="en-US" altLang="zh-CN" sz="2667" dirty="0"/>
              <a:t>@</a:t>
            </a:r>
            <a:r>
              <a:rPr lang="en-US" altLang="zh-CN" sz="2667" dirty="0" err="1"/>
              <a:t>AspectJ</a:t>
            </a:r>
            <a:r>
              <a:rPr lang="zh-CN" altLang="en-US" sz="2667" dirty="0"/>
              <a:t>注解的支持</a:t>
            </a:r>
          </a:p>
          <a:p>
            <a:pPr lvl="1">
              <a:defRPr/>
            </a:pPr>
            <a:endParaRPr lang="en-US" altLang="zh-CN" sz="2667" dirty="0"/>
          </a:p>
          <a:p>
            <a:pPr lvl="1">
              <a:defRPr/>
            </a:pPr>
            <a:endParaRPr lang="en-US" altLang="zh-CN" sz="2667" dirty="0"/>
          </a:p>
        </p:txBody>
      </p:sp>
      <p:sp>
        <p:nvSpPr>
          <p:cNvPr id="25" name="AutoShape 4"/>
          <p:cNvSpPr>
            <a:spLocks noChangeArrowheads="1"/>
          </p:cNvSpPr>
          <p:nvPr/>
        </p:nvSpPr>
        <p:spPr bwMode="auto">
          <a:xfrm>
            <a:off x="911424" y="3813044"/>
            <a:ext cx="10369152" cy="2804101"/>
          </a:xfrm>
          <a:prstGeom prst="roundRect">
            <a:avLst>
              <a:gd name="adj" fmla="val 1157"/>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457189" defTabSz="507987">
              <a:lnSpc>
                <a:spcPct val="150000"/>
              </a:lnSpc>
              <a:buClr>
                <a:schemeClr val="folHlink"/>
              </a:buClr>
              <a:buSzPct val="60000"/>
            </a:pPr>
            <a:r>
              <a:rPr lang="en-US" altLang="zh-CN" sz="2400" b="1" dirty="0">
                <a:solidFill>
                  <a:schemeClr val="accent5">
                    <a:lumMod val="10000"/>
                  </a:schemeClr>
                </a:solidFill>
                <a:ea typeface="微软雅黑" panose="020B0503020204020204" pitchFamily="34" charset="-122"/>
              </a:rPr>
              <a:t>Spring</a:t>
            </a:r>
            <a:r>
              <a:rPr lang="zh-CN" altLang="en-US" sz="2400" b="1" dirty="0">
                <a:solidFill>
                  <a:schemeClr val="accent5">
                    <a:lumMod val="10000"/>
                  </a:schemeClr>
                </a:solidFill>
                <a:ea typeface="微软雅黑" panose="020B0503020204020204" pitchFamily="34" charset="-122"/>
              </a:rPr>
              <a:t>在定义切面时提供了多种选择，应根据项目的具体情况做出选择：</a:t>
            </a:r>
            <a:endParaRPr lang="en-US" altLang="zh-CN" sz="2400" b="1" dirty="0">
              <a:solidFill>
                <a:schemeClr val="accent5">
                  <a:lumMod val="10000"/>
                </a:schemeClr>
              </a:solidFill>
              <a:ea typeface="微软雅黑" panose="020B0503020204020204" pitchFamily="34" charset="-122"/>
            </a:endParaRPr>
          </a:p>
          <a:p>
            <a:pPr indent="-457189" defTabSz="507987">
              <a:lnSpc>
                <a:spcPct val="150000"/>
              </a:lnSpc>
              <a:buClr>
                <a:schemeClr val="folHlink"/>
              </a:buClr>
              <a:buSzPct val="60000"/>
            </a:pPr>
            <a:r>
              <a:rPr lang="en-US" altLang="zh-CN" sz="2400" b="1" dirty="0">
                <a:solidFill>
                  <a:schemeClr val="accent5">
                    <a:lumMod val="10000"/>
                  </a:schemeClr>
                </a:solidFill>
                <a:ea typeface="微软雅黑" panose="020B0503020204020204" pitchFamily="34" charset="-122"/>
              </a:rPr>
              <a:t>1</a:t>
            </a:r>
            <a:r>
              <a:rPr lang="zh-CN" altLang="en-US" sz="2400" b="1" dirty="0">
                <a:solidFill>
                  <a:schemeClr val="accent5">
                    <a:lumMod val="10000"/>
                  </a:schemeClr>
                </a:solidFill>
                <a:ea typeface="微软雅黑" panose="020B0503020204020204" pitchFamily="34" charset="-122"/>
              </a:rPr>
              <a:t>、如果项目采用</a:t>
            </a:r>
            <a:r>
              <a:rPr lang="en-US" altLang="zh-CN" sz="2400" b="1" dirty="0">
                <a:solidFill>
                  <a:schemeClr val="accent5">
                    <a:lumMod val="10000"/>
                  </a:schemeClr>
                </a:solidFill>
                <a:ea typeface="微软雅黑" panose="020B0503020204020204" pitchFamily="34" charset="-122"/>
              </a:rPr>
              <a:t>JDK 5.0</a:t>
            </a:r>
            <a:r>
              <a:rPr lang="zh-CN" altLang="en-US" sz="2400" b="1" dirty="0">
                <a:solidFill>
                  <a:schemeClr val="accent5">
                    <a:lumMod val="10000"/>
                  </a:schemeClr>
                </a:solidFill>
                <a:ea typeface="微软雅黑" panose="020B0503020204020204" pitchFamily="34" charset="-122"/>
              </a:rPr>
              <a:t>或以上版本，可以考虑使用</a:t>
            </a:r>
            <a:r>
              <a:rPr lang="en-US" altLang="zh-CN" sz="2400" b="1" dirty="0">
                <a:solidFill>
                  <a:schemeClr val="accent5">
                    <a:lumMod val="10000"/>
                  </a:schemeClr>
                </a:solidFill>
                <a:ea typeface="微软雅黑" panose="020B0503020204020204" pitchFamily="34" charset="-122"/>
              </a:rPr>
              <a:t>@</a:t>
            </a:r>
            <a:r>
              <a:rPr lang="en-US" altLang="zh-CN" sz="2400" b="1" dirty="0" err="1">
                <a:solidFill>
                  <a:schemeClr val="accent5">
                    <a:lumMod val="10000"/>
                  </a:schemeClr>
                </a:solidFill>
                <a:ea typeface="微软雅黑" panose="020B0503020204020204" pitchFamily="34" charset="-122"/>
              </a:rPr>
              <a:t>AspectJ</a:t>
            </a:r>
            <a:r>
              <a:rPr lang="zh-CN" altLang="en-US" sz="2400" b="1" dirty="0">
                <a:solidFill>
                  <a:schemeClr val="accent5">
                    <a:lumMod val="10000"/>
                  </a:schemeClr>
                </a:solidFill>
                <a:ea typeface="微软雅黑" panose="020B0503020204020204" pitchFamily="34" charset="-122"/>
              </a:rPr>
              <a:t>注解方式，减少配置的工作量</a:t>
            </a:r>
            <a:endParaRPr lang="en-US" altLang="zh-CN" sz="2400" b="1" dirty="0">
              <a:solidFill>
                <a:schemeClr val="accent5">
                  <a:lumMod val="10000"/>
                </a:schemeClr>
              </a:solidFill>
              <a:ea typeface="微软雅黑" panose="020B0503020204020204" pitchFamily="34" charset="-122"/>
            </a:endParaRPr>
          </a:p>
          <a:p>
            <a:pPr indent="-457189" defTabSz="507987">
              <a:lnSpc>
                <a:spcPct val="150000"/>
              </a:lnSpc>
              <a:buClr>
                <a:schemeClr val="folHlink"/>
              </a:buClr>
              <a:buSzPct val="60000"/>
            </a:pPr>
            <a:r>
              <a:rPr lang="en-US" altLang="zh-CN" sz="2400" b="1" dirty="0">
                <a:solidFill>
                  <a:schemeClr val="accent5">
                    <a:lumMod val="10000"/>
                  </a:schemeClr>
                </a:solidFill>
                <a:ea typeface="微软雅黑" panose="020B0503020204020204" pitchFamily="34" charset="-122"/>
              </a:rPr>
              <a:t>2</a:t>
            </a:r>
            <a:r>
              <a:rPr lang="zh-CN" altLang="en-US" sz="2400" b="1" dirty="0">
                <a:solidFill>
                  <a:schemeClr val="accent5">
                    <a:lumMod val="10000"/>
                  </a:schemeClr>
                </a:solidFill>
                <a:ea typeface="微软雅黑" panose="020B0503020204020204" pitchFamily="34" charset="-122"/>
              </a:rPr>
              <a:t>、如果不愿意使用注解或项目采用的</a:t>
            </a:r>
            <a:r>
              <a:rPr lang="en-US" altLang="zh-CN" sz="2400" b="1" dirty="0">
                <a:solidFill>
                  <a:schemeClr val="accent5">
                    <a:lumMod val="10000"/>
                  </a:schemeClr>
                </a:solidFill>
                <a:ea typeface="微软雅黑" panose="020B0503020204020204" pitchFamily="34" charset="-122"/>
              </a:rPr>
              <a:t>JDK</a:t>
            </a:r>
            <a:r>
              <a:rPr lang="zh-CN" altLang="en-US" sz="2400" b="1" dirty="0">
                <a:solidFill>
                  <a:schemeClr val="accent5">
                    <a:lumMod val="10000"/>
                  </a:schemeClr>
                </a:solidFill>
                <a:ea typeface="微软雅黑" panose="020B0503020204020204" pitchFamily="34" charset="-122"/>
              </a:rPr>
              <a:t>版本较低无法使用注解，则可以选择使用</a:t>
            </a:r>
            <a:r>
              <a:rPr lang="en-US" altLang="zh-CN" sz="2400" b="1" dirty="0">
                <a:solidFill>
                  <a:schemeClr val="accent5">
                    <a:lumMod val="10000"/>
                  </a:schemeClr>
                </a:solidFill>
                <a:ea typeface="微软雅黑" panose="020B0503020204020204" pitchFamily="34" charset="-122"/>
              </a:rPr>
              <a:t>&lt;</a:t>
            </a:r>
            <a:r>
              <a:rPr lang="en-US" altLang="zh-CN" sz="2400" b="1" dirty="0" err="1">
                <a:solidFill>
                  <a:schemeClr val="accent5">
                    <a:lumMod val="10000"/>
                  </a:schemeClr>
                </a:solidFill>
                <a:ea typeface="微软雅黑" panose="020B0503020204020204" pitchFamily="34" charset="-122"/>
              </a:rPr>
              <a:t>aop:aspect</a:t>
            </a:r>
            <a:r>
              <a:rPr lang="en-US" altLang="zh-CN" sz="2400" b="1" dirty="0">
                <a:solidFill>
                  <a:schemeClr val="accent5">
                    <a:lumMod val="10000"/>
                  </a:schemeClr>
                </a:solidFill>
                <a:ea typeface="微软雅黑" panose="020B0503020204020204" pitchFamily="34" charset="-122"/>
              </a:rPr>
              <a:t>&gt;</a:t>
            </a:r>
            <a:r>
              <a:rPr lang="zh-CN" altLang="en-US" sz="2400" b="1" dirty="0">
                <a:solidFill>
                  <a:schemeClr val="accent5">
                    <a:lumMod val="10000"/>
                  </a:schemeClr>
                </a:solidFill>
                <a:ea typeface="微软雅黑" panose="020B0503020204020204" pitchFamily="34" charset="-122"/>
              </a:rPr>
              <a:t>配合普通</a:t>
            </a:r>
            <a:r>
              <a:rPr lang="en-US" altLang="zh-CN" sz="2400" b="1" dirty="0" err="1">
                <a:solidFill>
                  <a:schemeClr val="accent5">
                    <a:lumMod val="10000"/>
                  </a:schemeClr>
                </a:solidFill>
                <a:ea typeface="微软雅黑" panose="020B0503020204020204" pitchFamily="34" charset="-122"/>
              </a:rPr>
              <a:t>JavaBean</a:t>
            </a:r>
            <a:r>
              <a:rPr lang="zh-CN" altLang="en-US" sz="2400" b="1" dirty="0">
                <a:solidFill>
                  <a:schemeClr val="accent5">
                    <a:lumMod val="10000"/>
                  </a:schemeClr>
                </a:solidFill>
                <a:ea typeface="微软雅黑" panose="020B0503020204020204" pitchFamily="34" charset="-122"/>
              </a:rPr>
              <a:t>的形式</a:t>
            </a:r>
          </a:p>
        </p:txBody>
      </p:sp>
      <p:grpSp>
        <p:nvGrpSpPr>
          <p:cNvPr id="9" name="组合 8"/>
          <p:cNvGrpSpPr/>
          <p:nvPr/>
        </p:nvGrpSpPr>
        <p:grpSpPr>
          <a:xfrm>
            <a:off x="221458" y="3717033"/>
            <a:ext cx="527709" cy="703007"/>
            <a:chOff x="318047" y="1711325"/>
            <a:chExt cx="395782" cy="527255"/>
          </a:xfrm>
        </p:grpSpPr>
        <p:sp>
          <p:nvSpPr>
            <p:cNvPr id="10" name="TextBox 65"/>
            <p:cNvSpPr txBox="1"/>
            <p:nvPr/>
          </p:nvSpPr>
          <p:spPr>
            <a:xfrm>
              <a:off x="318047" y="2015490"/>
              <a:ext cx="395782" cy="223090"/>
            </a:xfrm>
            <a:prstGeom prst="rect">
              <a:avLst/>
            </a:prstGeom>
            <a:noFill/>
            <a:effectLst/>
          </p:spPr>
          <p:txBody>
            <a:bodyPr wrap="none" rtlCol="0">
              <a:spAutoFit/>
            </a:bodyPr>
            <a:lstStyle/>
            <a:p>
              <a:pPr algn="ctr"/>
              <a:r>
                <a:rPr lang="zh-CN" altLang="en-US" sz="1333" b="1" dirty="0">
                  <a:solidFill>
                    <a:srgbClr val="0099D8"/>
                  </a:solidFill>
                  <a:latin typeface="Arial" panose="020B0604020202020204" pitchFamily="34" charset="0"/>
                  <a:ea typeface="微软雅黑" panose="020B0503020204020204" pitchFamily="34" charset="-122"/>
                </a:rPr>
                <a:t>经验</a:t>
              </a:r>
            </a:p>
          </p:txBody>
        </p:sp>
        <p:pic>
          <p:nvPicPr>
            <p:cNvPr id="11" name="图片 10" descr="C:\Users\Lenovo\Desktop\icon\经验值.png经验值"/>
            <p:cNvPicPr>
              <a:picLocks noChangeAspect="1"/>
            </p:cNvPicPr>
            <p:nvPr/>
          </p:nvPicPr>
          <p:blipFill>
            <a:blip r:embed="rId3"/>
            <a:srcRect/>
            <a:stretch>
              <a:fillRect/>
            </a:stretch>
          </p:blipFill>
          <p:spPr>
            <a:xfrm>
              <a:off x="358775" y="1711325"/>
              <a:ext cx="314325" cy="314325"/>
            </a:xfrm>
            <a:prstGeom prst="rect">
              <a:avLst/>
            </a:prstGeom>
          </p:spPr>
        </p:pic>
      </p:grpSp>
    </p:spTree>
    <p:extLst>
      <p:ext uri="{BB962C8B-B14F-4D97-AF65-F5344CB8AC3E}">
        <p14:creationId xmlns:p14="http://schemas.microsoft.com/office/powerpoint/2010/main" val="349629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52AEC0AB-A9B0-4B57-A9E3-0094F6F34F37}"/>
              </a:ext>
            </a:extLst>
          </p:cNvPr>
          <p:cNvSpPr>
            <a:spLocks noGrp="1" noChangeArrowheads="1"/>
          </p:cNvSpPr>
          <p:nvPr>
            <p:ph type="title"/>
          </p:nvPr>
        </p:nvSpPr>
        <p:spPr>
          <a:xfrm>
            <a:off x="1524000" y="115889"/>
            <a:ext cx="9144000" cy="720725"/>
          </a:xfrm>
        </p:spPr>
        <p:txBody>
          <a:bodyPr/>
          <a:lstStyle/>
          <a:p>
            <a:pPr eaLnBrk="1" hangingPunct="1">
              <a:defRPr/>
            </a:pPr>
            <a:r>
              <a:rPr lang="en-US" altLang="zh-CN" b="1" dirty="0">
                <a:latin typeface="宋体" pitchFamily="2" charset="-122"/>
                <a:sym typeface="Arial" pitchFamily="34" charset="0"/>
              </a:rPr>
              <a:t>AOP:</a:t>
            </a:r>
            <a:r>
              <a:rPr lang="zh-CN" altLang="zh-CN" b="1" dirty="0">
                <a:latin typeface="宋体" pitchFamily="2" charset="-122"/>
                <a:sym typeface="Arial" pitchFamily="34" charset="0"/>
              </a:rPr>
              <a:t>基于注解方式</a:t>
            </a:r>
            <a:endParaRPr lang="zh-CN" altLang="zh-CN" sz="4000" b="1" dirty="0"/>
          </a:p>
        </p:txBody>
      </p:sp>
      <p:sp>
        <p:nvSpPr>
          <p:cNvPr id="107523" name="Rectangle 3">
            <a:extLst>
              <a:ext uri="{FF2B5EF4-FFF2-40B4-BE49-F238E27FC236}">
                <a16:creationId xmlns:a16="http://schemas.microsoft.com/office/drawing/2014/main" id="{78A2A999-507E-4DB1-B260-D78D78850C66}"/>
              </a:ext>
            </a:extLst>
          </p:cNvPr>
          <p:cNvSpPr>
            <a:spLocks noGrp="1" noChangeArrowheads="1"/>
          </p:cNvSpPr>
          <p:nvPr/>
        </p:nvSpPr>
        <p:spPr bwMode="auto">
          <a:xfrm>
            <a:off x="1774825" y="1484314"/>
            <a:ext cx="8642350" cy="435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80000"/>
              </a:lnSpc>
              <a:spcAft>
                <a:spcPct val="20000"/>
              </a:spcAft>
              <a:buFont typeface="Wingdings" panose="05000000000000000000" pitchFamily="2" charset="2"/>
              <a:buNone/>
            </a:pPr>
            <a:r>
              <a:rPr lang="zh-CN" altLang="en-US" sz="2000" b="1" dirty="0">
                <a:latin typeface="Arial" panose="020B0604020202020204" pitchFamily="34" charset="0"/>
              </a:rPr>
              <a:t>      为了在</a:t>
            </a:r>
            <a:r>
              <a:rPr lang="en-US" altLang="zh-CN" sz="2000" b="1" dirty="0">
                <a:latin typeface="Arial" panose="020B0604020202020204" pitchFamily="34" charset="0"/>
              </a:rPr>
              <a:t>Spring</a:t>
            </a:r>
            <a:r>
              <a:rPr lang="zh-CN" altLang="en-US" sz="2000" b="1" dirty="0">
                <a:latin typeface="Arial" panose="020B0604020202020204" pitchFamily="34" charset="0"/>
              </a:rPr>
              <a:t>配置中使用</a:t>
            </a:r>
            <a:r>
              <a:rPr lang="en-US" altLang="zh-CN" sz="2000" b="1" dirty="0">
                <a:latin typeface="Arial" panose="020B0604020202020204" pitchFamily="34" charset="0"/>
              </a:rPr>
              <a:t>@AspectJ</a:t>
            </a:r>
            <a:r>
              <a:rPr lang="zh-CN" altLang="en-US" sz="2000" b="1" dirty="0">
                <a:latin typeface="Arial" panose="020B0604020202020204" pitchFamily="34" charset="0"/>
              </a:rPr>
              <a:t>切面，你首先必须启用</a:t>
            </a:r>
            <a:r>
              <a:rPr lang="en-US" altLang="zh-CN" sz="2000" b="1" dirty="0">
                <a:latin typeface="Arial" panose="020B0604020202020204" pitchFamily="34" charset="0"/>
              </a:rPr>
              <a:t>Spring</a:t>
            </a:r>
            <a:r>
              <a:rPr lang="zh-CN" altLang="en-US" sz="2000" b="1" dirty="0">
                <a:latin typeface="Arial" panose="020B0604020202020204" pitchFamily="34" charset="0"/>
              </a:rPr>
              <a:t>对</a:t>
            </a:r>
            <a:r>
              <a:rPr lang="en-US" altLang="zh-CN" sz="2000" b="1" dirty="0">
                <a:latin typeface="Arial" panose="020B0604020202020204" pitchFamily="34" charset="0"/>
              </a:rPr>
              <a:t>@AspectJ</a:t>
            </a:r>
            <a:r>
              <a:rPr lang="zh-CN" altLang="en-US" sz="2000" b="1" dirty="0">
                <a:latin typeface="Arial" panose="020B0604020202020204" pitchFamily="34" charset="0"/>
              </a:rPr>
              <a:t>切面配置的支持，并确保</a:t>
            </a:r>
            <a:r>
              <a:rPr lang="zh-CN" altLang="en-US" sz="2000" b="1" i="1" dirty="0">
                <a:latin typeface="Arial" panose="020B0604020202020204" pitchFamily="34" charset="0"/>
              </a:rPr>
              <a:t>自动代理</a:t>
            </a:r>
            <a:r>
              <a:rPr lang="zh-CN" altLang="en-US" sz="2000" dirty="0">
                <a:latin typeface="Arial" panose="020B0604020202020204" pitchFamily="34" charset="0"/>
              </a:rPr>
              <a:t> </a:t>
            </a:r>
            <a:r>
              <a:rPr lang="en-US" altLang="zh-CN" sz="2000" b="1" dirty="0">
                <a:latin typeface="华文中宋" panose="02010600040101010101" pitchFamily="2" charset="-122"/>
                <a:ea typeface="华文中宋" panose="02010600040101010101" pitchFamily="2" charset="-122"/>
              </a:rPr>
              <a:t>(</a:t>
            </a:r>
            <a:r>
              <a:rPr lang="zh-CN" altLang="en-US" sz="2000" b="1" dirty="0">
                <a:latin typeface="华文中宋" panose="02010600040101010101" pitchFamily="2" charset="-122"/>
                <a:ea typeface="华文中宋" panose="02010600040101010101" pitchFamily="2" charset="-122"/>
              </a:rPr>
              <a:t>蓝色部分</a:t>
            </a:r>
            <a:r>
              <a:rPr lang="en-US" altLang="zh-CN" sz="2000" b="1" dirty="0">
                <a:latin typeface="华文中宋" panose="02010600040101010101" pitchFamily="2" charset="-122"/>
                <a:ea typeface="华文中宋" panose="02010600040101010101" pitchFamily="2" charset="-122"/>
              </a:rPr>
              <a:t>)</a:t>
            </a:r>
            <a:r>
              <a:rPr lang="zh-CN" altLang="en-US" sz="2000" b="1" dirty="0">
                <a:latin typeface="华文中宋" panose="02010600040101010101" pitchFamily="2" charset="-122"/>
                <a:ea typeface="华文中宋" panose="02010600040101010101" pitchFamily="2" charset="-122"/>
              </a:rPr>
              <a:t>：</a:t>
            </a:r>
            <a:endParaRPr lang="en-US" altLang="zh-CN" sz="2000" b="1" dirty="0">
              <a:latin typeface="华文中宋" panose="02010600040101010101" pitchFamily="2" charset="-122"/>
              <a:ea typeface="华文中宋" panose="02010600040101010101" pitchFamily="2" charset="-122"/>
            </a:endParaRPr>
          </a:p>
          <a:p>
            <a:r>
              <a:rPr lang="en-US" altLang="zh-CN" sz="1400" dirty="0">
                <a:latin typeface="华文中宋" panose="02010600040101010101" pitchFamily="2" charset="-122"/>
                <a:ea typeface="华文中宋" panose="02010600040101010101" pitchFamily="2" charset="-122"/>
              </a:rPr>
              <a:t>   </a:t>
            </a:r>
            <a:r>
              <a:rPr lang="en-US" altLang="zh-CN" dirty="0"/>
              <a:t>&lt;?xml version=</a:t>
            </a:r>
            <a:r>
              <a:rPr lang="en-US" altLang="zh-CN" i="1" dirty="0"/>
              <a:t>"1.0" encoding="UTF-8"?&gt;</a:t>
            </a:r>
          </a:p>
          <a:p>
            <a:r>
              <a:rPr lang="en-US" altLang="zh-CN" dirty="0"/>
              <a:t>&lt;beans </a:t>
            </a:r>
            <a:r>
              <a:rPr lang="en-US" altLang="zh-CN" dirty="0" err="1"/>
              <a:t>xmlns</a:t>
            </a:r>
            <a:r>
              <a:rPr lang="en-US" altLang="zh-CN" dirty="0"/>
              <a:t>=</a:t>
            </a:r>
            <a:r>
              <a:rPr lang="en-US" altLang="zh-CN" i="1" dirty="0"/>
              <a:t>"http://www.springframework.org/schema/beans"</a:t>
            </a:r>
          </a:p>
          <a:p>
            <a:r>
              <a:rPr lang="en-US" altLang="zh-CN" dirty="0" err="1"/>
              <a:t>xmlns:xsi</a:t>
            </a:r>
            <a:r>
              <a:rPr lang="en-US" altLang="zh-CN" dirty="0"/>
              <a:t>=</a:t>
            </a:r>
            <a:r>
              <a:rPr lang="en-US" altLang="zh-CN" i="1" dirty="0"/>
              <a:t>"http://www.w3.org/2001/XMLSchema-instance"</a:t>
            </a:r>
          </a:p>
          <a:p>
            <a:r>
              <a:rPr lang="en-US" altLang="zh-CN" dirty="0" err="1"/>
              <a:t>xmlns:context</a:t>
            </a:r>
            <a:r>
              <a:rPr lang="en-US" altLang="zh-CN" dirty="0"/>
              <a:t>=</a:t>
            </a:r>
            <a:r>
              <a:rPr lang="en-US" altLang="zh-CN" i="1" dirty="0"/>
              <a:t>"http://www.springframework.org/schema/context"</a:t>
            </a:r>
          </a:p>
          <a:p>
            <a:r>
              <a:rPr lang="en-US" altLang="zh-CN" dirty="0" err="1"/>
              <a:t>xmlns:aop</a:t>
            </a:r>
            <a:r>
              <a:rPr lang="en-US" altLang="zh-CN" dirty="0"/>
              <a:t>=</a:t>
            </a:r>
            <a:r>
              <a:rPr lang="en-US" altLang="zh-CN" i="1" dirty="0"/>
              <a:t>"http://www.springframework.org/schema/aop"</a:t>
            </a:r>
          </a:p>
          <a:p>
            <a:r>
              <a:rPr lang="en-US" altLang="zh-CN" dirty="0" err="1"/>
              <a:t>xsi:schemaLocation</a:t>
            </a:r>
            <a:r>
              <a:rPr lang="en-US" altLang="zh-CN" dirty="0"/>
              <a:t>=</a:t>
            </a:r>
            <a:r>
              <a:rPr lang="en-US" altLang="zh-CN" i="1" dirty="0"/>
              <a:t>"http://www.springframework.org/schema/beans</a:t>
            </a:r>
          </a:p>
          <a:p>
            <a:r>
              <a:rPr lang="en-US" altLang="zh-CN" i="1" dirty="0"/>
              <a:t>http://www.springframework.org/schema/beans/spring-beans-3.2.xsd</a:t>
            </a:r>
          </a:p>
          <a:p>
            <a:r>
              <a:rPr lang="en-US" altLang="zh-CN" i="1" dirty="0"/>
              <a:t>http://www.springframework.org/schema/context</a:t>
            </a:r>
          </a:p>
          <a:p>
            <a:r>
              <a:rPr lang="en-US" altLang="zh-CN" i="1" dirty="0"/>
              <a:t>    http://www.springframework.org/schema/context/spring-context-3.2.xsd</a:t>
            </a:r>
          </a:p>
          <a:p>
            <a:r>
              <a:rPr lang="en-US" altLang="zh-CN" i="1" dirty="0"/>
              <a:t>    http://www.springframework.org/schema/aop</a:t>
            </a:r>
          </a:p>
          <a:p>
            <a:r>
              <a:rPr lang="en-US" altLang="zh-CN" i="1" dirty="0"/>
              <a:t>http://www.springframework.org/schema/aop/spring-aop-3.2.xsd"&gt;</a:t>
            </a:r>
            <a:r>
              <a:rPr lang="en-US" altLang="zh-CN" sz="1600" dirty="0">
                <a:latin typeface="Arial" panose="020B0604020202020204" pitchFamily="34" charset="0"/>
              </a:rPr>
              <a:t>   </a:t>
            </a:r>
          </a:p>
          <a:p>
            <a:r>
              <a:rPr lang="en-US" altLang="zh-CN" sz="1600" b="1" dirty="0">
                <a:latin typeface="Arial" panose="020B0604020202020204" pitchFamily="34" charset="0"/>
              </a:rPr>
              <a:t>&lt;!--</a:t>
            </a:r>
            <a:r>
              <a:rPr lang="zh-CN" altLang="en-US" sz="1600" b="1" dirty="0">
                <a:latin typeface="Arial" panose="020B0604020202020204" pitchFamily="34" charset="0"/>
              </a:rPr>
              <a:t>启用</a:t>
            </a:r>
            <a:r>
              <a:rPr lang="en-US" altLang="zh-CN" sz="1600" b="1" dirty="0">
                <a:latin typeface="Arial" panose="020B0604020202020204" pitchFamily="34" charset="0"/>
              </a:rPr>
              <a:t>Spring</a:t>
            </a:r>
            <a:r>
              <a:rPr lang="zh-CN" altLang="en-US" sz="1600" b="1" dirty="0">
                <a:latin typeface="Arial" panose="020B0604020202020204" pitchFamily="34" charset="0"/>
              </a:rPr>
              <a:t>对</a:t>
            </a:r>
            <a:r>
              <a:rPr lang="en-US" altLang="zh-CN" sz="1600" b="1" dirty="0">
                <a:latin typeface="Arial" panose="020B0604020202020204" pitchFamily="34" charset="0"/>
              </a:rPr>
              <a:t>@AspectJ</a:t>
            </a:r>
            <a:r>
              <a:rPr lang="zh-CN" altLang="en-US" sz="1600" b="1" dirty="0">
                <a:latin typeface="Arial" panose="020B0604020202020204" pitchFamily="34" charset="0"/>
              </a:rPr>
              <a:t>的支持 </a:t>
            </a:r>
            <a:r>
              <a:rPr lang="en-US" altLang="zh-CN" sz="1600" b="1" dirty="0">
                <a:latin typeface="Arial" panose="020B0604020202020204" pitchFamily="34" charset="0"/>
              </a:rPr>
              <a:t>--&gt;</a:t>
            </a:r>
            <a:endParaRPr lang="en-US" altLang="zh-CN" sz="1400" b="1" dirty="0">
              <a:latin typeface="华文中宋" panose="02010600040101010101" pitchFamily="2" charset="-122"/>
              <a:ea typeface="华文中宋" panose="02010600040101010101" pitchFamily="2" charset="-122"/>
            </a:endParaRPr>
          </a:p>
          <a:p>
            <a:pPr eaLnBrk="1" hangingPunct="1">
              <a:lnSpc>
                <a:spcPct val="80000"/>
              </a:lnSpc>
              <a:spcAft>
                <a:spcPct val="20000"/>
              </a:spcAft>
              <a:buFont typeface="Wingdings" panose="05000000000000000000" pitchFamily="2" charset="2"/>
              <a:buNone/>
            </a:pPr>
            <a:r>
              <a:rPr lang="en-US" altLang="zh-CN" sz="1400" dirty="0">
                <a:latin typeface="华文中宋" panose="02010600040101010101" pitchFamily="2" charset="-122"/>
                <a:ea typeface="华文中宋" panose="02010600040101010101" pitchFamily="2" charset="-122"/>
              </a:rPr>
              <a:t>  </a:t>
            </a:r>
            <a:r>
              <a:rPr lang="en-US" altLang="zh-CN" sz="1600" b="1" dirty="0">
                <a:solidFill>
                  <a:srgbClr val="0000FF"/>
                </a:solidFill>
                <a:latin typeface="华文中宋" panose="02010600040101010101" pitchFamily="2" charset="-122"/>
                <a:ea typeface="华文中宋" panose="02010600040101010101" pitchFamily="2" charset="-122"/>
              </a:rPr>
              <a:t>&lt;</a:t>
            </a:r>
            <a:r>
              <a:rPr lang="en-US" altLang="zh-CN" sz="1600" b="1" dirty="0" err="1">
                <a:solidFill>
                  <a:srgbClr val="0000FF"/>
                </a:solidFill>
                <a:latin typeface="华文中宋" panose="02010600040101010101" pitchFamily="2" charset="-122"/>
                <a:ea typeface="华文中宋" panose="02010600040101010101" pitchFamily="2" charset="-122"/>
              </a:rPr>
              <a:t>aop:aspectj-autoproxy</a:t>
            </a:r>
            <a:r>
              <a:rPr lang="en-US" altLang="zh-CN" sz="1600" b="1" dirty="0">
                <a:solidFill>
                  <a:srgbClr val="0000FF"/>
                </a:solidFill>
                <a:latin typeface="华文中宋" panose="02010600040101010101" pitchFamily="2" charset="-122"/>
                <a:ea typeface="华文中宋" panose="02010600040101010101" pitchFamily="2" charset="-122"/>
              </a:rPr>
              <a:t>/&gt;</a:t>
            </a:r>
          </a:p>
          <a:p>
            <a:pPr>
              <a:lnSpc>
                <a:spcPct val="80000"/>
              </a:lnSpc>
              <a:buFont typeface="Wingdings" panose="05000000000000000000" pitchFamily="2" charset="2"/>
              <a:buNone/>
            </a:pPr>
            <a:r>
              <a:rPr lang="en-US" altLang="zh-CN" sz="1600" dirty="0">
                <a:latin typeface="Arial" panose="020B0604020202020204" pitchFamily="34" charset="0"/>
              </a:rPr>
              <a:t>    </a:t>
            </a:r>
            <a:r>
              <a:rPr lang="en-US" altLang="zh-CN" sz="1600" b="1" dirty="0">
                <a:latin typeface="Arial" panose="020B0604020202020204" pitchFamily="34" charset="0"/>
              </a:rPr>
              <a:t>&lt;!-- </a:t>
            </a:r>
            <a:r>
              <a:rPr lang="zh-CN" altLang="en-US" sz="1600" b="1" dirty="0">
                <a:latin typeface="Arial" panose="020B0604020202020204" pitchFamily="34" charset="0"/>
              </a:rPr>
              <a:t>声明切面对象 </a:t>
            </a:r>
            <a:r>
              <a:rPr lang="en-US" altLang="zh-CN" sz="1600" b="1" dirty="0">
                <a:latin typeface="Arial" panose="020B0604020202020204" pitchFamily="34" charset="0"/>
              </a:rPr>
              <a:t>--&gt;</a:t>
            </a:r>
          </a:p>
          <a:p>
            <a:pPr>
              <a:lnSpc>
                <a:spcPct val="80000"/>
              </a:lnSpc>
              <a:buFont typeface="Wingdings" panose="05000000000000000000" pitchFamily="2" charset="2"/>
              <a:buNone/>
            </a:pPr>
            <a:r>
              <a:rPr lang="en-US" altLang="zh-CN" sz="1600" b="1" dirty="0">
                <a:latin typeface="Arial" panose="020B0604020202020204" pitchFamily="34" charset="0"/>
              </a:rPr>
              <a:t>    </a:t>
            </a:r>
            <a:r>
              <a:rPr lang="en-US" altLang="zh-CN" sz="1600" dirty="0">
                <a:latin typeface="Arial" panose="020B0604020202020204" pitchFamily="34" charset="0"/>
              </a:rPr>
              <a:t>&lt;bean id="security" class="</a:t>
            </a:r>
            <a:r>
              <a:rPr lang="en-US" altLang="zh-CN" sz="1600" dirty="0" err="1">
                <a:latin typeface="Arial" panose="020B0604020202020204" pitchFamily="34" charset="0"/>
              </a:rPr>
              <a:t>com.sysmaster.service.Security</a:t>
            </a:r>
            <a:r>
              <a:rPr lang="en-US" altLang="zh-CN" sz="1600" dirty="0">
                <a:latin typeface="Arial" panose="020B0604020202020204" pitchFamily="34" charset="0"/>
              </a:rPr>
              <a:t>" /&gt;</a:t>
            </a:r>
          </a:p>
          <a:p>
            <a:pPr>
              <a:lnSpc>
                <a:spcPct val="80000"/>
              </a:lnSpc>
              <a:buFont typeface="Wingdings" panose="05000000000000000000" pitchFamily="2" charset="2"/>
              <a:buNone/>
            </a:pPr>
            <a:r>
              <a:rPr lang="en-US" altLang="zh-CN" sz="1600" b="1" dirty="0">
                <a:latin typeface="Arial" panose="020B0604020202020204" pitchFamily="34" charset="0"/>
              </a:rPr>
              <a:t>    &lt;!-- </a:t>
            </a:r>
            <a:r>
              <a:rPr lang="zh-CN" altLang="en-US" sz="1600" b="1" dirty="0">
                <a:latin typeface="Arial" panose="020B0604020202020204" pitchFamily="34" charset="0"/>
              </a:rPr>
              <a:t>创建接口实现类对象 </a:t>
            </a:r>
            <a:r>
              <a:rPr lang="en-US" altLang="zh-CN" sz="1600" b="1" dirty="0">
                <a:latin typeface="Arial" panose="020B0604020202020204" pitchFamily="34" charset="0"/>
              </a:rPr>
              <a:t>--&gt;</a:t>
            </a:r>
          </a:p>
          <a:p>
            <a:pPr>
              <a:lnSpc>
                <a:spcPct val="80000"/>
              </a:lnSpc>
              <a:buFont typeface="Wingdings" panose="05000000000000000000" pitchFamily="2" charset="2"/>
              <a:buNone/>
            </a:pPr>
            <a:r>
              <a:rPr lang="en-US" altLang="zh-CN" sz="1600" b="1" dirty="0">
                <a:latin typeface="Arial" panose="020B0604020202020204" pitchFamily="34" charset="0"/>
              </a:rPr>
              <a:t>    </a:t>
            </a:r>
            <a:r>
              <a:rPr lang="en-US" altLang="zh-CN" sz="1600" dirty="0">
                <a:latin typeface="Arial" panose="020B0604020202020204" pitchFamily="34" charset="0"/>
              </a:rPr>
              <a:t>&lt;bean id="</a:t>
            </a:r>
            <a:r>
              <a:rPr lang="en-US" altLang="zh-CN" sz="1600" dirty="0" err="1">
                <a:latin typeface="Arial" panose="020B0604020202020204" pitchFamily="34" charset="0"/>
              </a:rPr>
              <a:t>userManager</a:t>
            </a:r>
            <a:r>
              <a:rPr lang="en-US" altLang="zh-CN" sz="1600" dirty="0">
                <a:latin typeface="Arial" panose="020B0604020202020204" pitchFamily="34" charset="0"/>
              </a:rPr>
              <a:t>" class="</a:t>
            </a:r>
            <a:r>
              <a:rPr lang="en-US" altLang="zh-CN" sz="1600" dirty="0" err="1">
                <a:latin typeface="Arial" panose="020B0604020202020204" pitchFamily="34" charset="0"/>
              </a:rPr>
              <a:t>com.sysmaster.service.UserManagerImpl</a:t>
            </a:r>
            <a:r>
              <a:rPr lang="en-US" altLang="zh-CN" sz="1600" dirty="0">
                <a:latin typeface="Arial" panose="020B0604020202020204" pitchFamily="34" charset="0"/>
              </a:rPr>
              <a:t>" /&gt;</a:t>
            </a:r>
            <a:endParaRPr lang="en-US" altLang="zh-CN" sz="1400" dirty="0">
              <a:solidFill>
                <a:srgbClr val="0000FF"/>
              </a:solidFill>
              <a:latin typeface="华文中宋" panose="02010600040101010101" pitchFamily="2" charset="-122"/>
              <a:ea typeface="华文中宋" panose="02010600040101010101" pitchFamily="2" charset="-122"/>
            </a:endParaRPr>
          </a:p>
          <a:p>
            <a:pPr eaLnBrk="1" hangingPunct="1">
              <a:lnSpc>
                <a:spcPct val="80000"/>
              </a:lnSpc>
              <a:spcAft>
                <a:spcPct val="20000"/>
              </a:spcAft>
              <a:buFont typeface="Wingdings" panose="05000000000000000000" pitchFamily="2" charset="2"/>
              <a:buNone/>
            </a:pPr>
            <a:r>
              <a:rPr lang="en-US" altLang="zh-CN" sz="1400" b="1" dirty="0">
                <a:latin typeface="华文中宋" panose="02010600040101010101" pitchFamily="2" charset="-122"/>
                <a:ea typeface="华文中宋" panose="02010600040101010101" pitchFamily="2" charset="-122"/>
              </a:rPr>
              <a:t>  &lt;/beans&gt;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a:extLst>
              <a:ext uri="{FF2B5EF4-FFF2-40B4-BE49-F238E27FC236}">
                <a16:creationId xmlns:a16="http://schemas.microsoft.com/office/drawing/2014/main" id="{B7C9DF11-A1B1-463F-8E20-426A5581400C}"/>
              </a:ext>
            </a:extLst>
          </p:cNvPr>
          <p:cNvSpPr>
            <a:spLocks noGrp="1" noChangeArrowheads="1"/>
          </p:cNvSpPr>
          <p:nvPr>
            <p:ph type="title"/>
          </p:nvPr>
        </p:nvSpPr>
        <p:spPr>
          <a:xfrm>
            <a:off x="2135188" y="722313"/>
            <a:ext cx="8229600" cy="857250"/>
          </a:xfrm>
        </p:spPr>
        <p:txBody>
          <a:bodyPr/>
          <a:lstStyle/>
          <a:p>
            <a:pPr>
              <a:defRPr/>
            </a:pPr>
            <a:r>
              <a:rPr lang="zh-CN" altLang="en-US" dirty="0">
                <a:latin typeface="Arial Unicode MS" pitchFamily="34" charset="-122"/>
                <a:ea typeface="Arial Unicode MS" pitchFamily="34" charset="-122"/>
                <a:cs typeface="Arial Unicode MS" pitchFamily="34" charset="-122"/>
              </a:rPr>
              <a:t>重用切入点定义</a:t>
            </a:r>
          </a:p>
        </p:txBody>
      </p:sp>
      <p:sp>
        <p:nvSpPr>
          <p:cNvPr id="123907" name="Rectangle 3">
            <a:extLst>
              <a:ext uri="{FF2B5EF4-FFF2-40B4-BE49-F238E27FC236}">
                <a16:creationId xmlns:a16="http://schemas.microsoft.com/office/drawing/2014/main" id="{6A25CBE1-586E-4CF0-982F-D09348FBAA88}"/>
              </a:ext>
            </a:extLst>
          </p:cNvPr>
          <p:cNvSpPr>
            <a:spLocks noGrp="1" noChangeArrowheads="1"/>
          </p:cNvSpPr>
          <p:nvPr>
            <p:ph sz="quarter" idx="1"/>
          </p:nvPr>
        </p:nvSpPr>
        <p:spPr>
          <a:xfrm>
            <a:off x="1847851" y="1628775"/>
            <a:ext cx="8424863" cy="4286250"/>
          </a:xfrm>
        </p:spPr>
        <p:txBody>
          <a:bodyPr/>
          <a:lstStyle/>
          <a:p>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在编写 </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AspectJ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切面时</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可以直接在增强注解中书写切入点表达式</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但同一个切点表达式可能会在多个增强中重复出现</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在 </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AspectJ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切面中</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可以</a:t>
            </a:r>
            <a:r>
              <a:rPr lang="zh-CN" altLang="en-US" sz="22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通过 </a:t>
            </a:r>
            <a:r>
              <a:rPr lang="en-US" altLang="zh-CN" sz="22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@Pointcut </a:t>
            </a:r>
            <a:r>
              <a:rPr lang="zh-CN" altLang="en-US" sz="22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注解将一个切入点声明成</a:t>
            </a:r>
            <a:r>
              <a:rPr lang="zh-CN" altLang="en-US" sz="22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简单的方法</a:t>
            </a:r>
            <a:r>
              <a:rPr lang="en-US" altLang="zh-CN" sz="22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切入点的方法体通常是空的</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因为将切入点定义与应用程序逻辑混在一起是不合理的</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p>
          <a:p>
            <a:r>
              <a:rPr lang="zh-CN" altLang="en-US" sz="22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切入点方法的访问控制符同时也控制着这个切入点的可见性</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如果切入点要在多个切面中共用</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最好将它们集中在一个公共的类中</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在这种情况下</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它们必须被声明为 </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public.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在引入这个切入点时</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必须将类名也包括在内</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如果类没有与这个切面放在同一个包中</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还必须包含包名</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200" dirty="0">
                <a:latin typeface="Arial Unicode MS" panose="020B0604020202020204" pitchFamily="34" charset="-122"/>
                <a:ea typeface="Arial Unicode MS" panose="020B0604020202020204" pitchFamily="34" charset="-122"/>
                <a:cs typeface="Arial Unicode MS" panose="020B0604020202020204" pitchFamily="34" charset="-122"/>
              </a:rPr>
              <a:t>其他增强可以通过方法名称引入该切入点</a:t>
            </a:r>
            <a:r>
              <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rPr>
              <a:t>.</a:t>
            </a:r>
          </a:p>
        </p:txBody>
      </p:sp>
    </p:spTree>
    <p:extLst>
      <p:ext uri="{BB962C8B-B14F-4D97-AF65-F5344CB8AC3E}">
        <p14:creationId xmlns:p14="http://schemas.microsoft.com/office/powerpoint/2010/main" val="2202549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9AD59FA3-C618-45F8-A647-9B1DBA0A66EA}"/>
              </a:ext>
            </a:extLst>
          </p:cNvPr>
          <p:cNvSpPr>
            <a:spLocks noGrp="1" noChangeArrowheads="1"/>
          </p:cNvSpPr>
          <p:nvPr>
            <p:ph type="title"/>
          </p:nvPr>
        </p:nvSpPr>
        <p:spPr>
          <a:xfrm>
            <a:off x="2063750" y="700088"/>
            <a:ext cx="8229600" cy="857250"/>
          </a:xfrm>
        </p:spPr>
        <p:txBody>
          <a:bodyPr/>
          <a:lstStyle/>
          <a:p>
            <a:pPr>
              <a:defRPr/>
            </a:pPr>
            <a:r>
              <a:rPr lang="zh-CN" altLang="en-US" dirty="0">
                <a:latin typeface="Arial Unicode MS" pitchFamily="34" charset="-122"/>
                <a:ea typeface="Arial Unicode MS" pitchFamily="34" charset="-122"/>
                <a:cs typeface="Arial Unicode MS" pitchFamily="34" charset="-122"/>
              </a:rPr>
              <a:t>重用切入点定义示例代码</a:t>
            </a:r>
          </a:p>
        </p:txBody>
      </p:sp>
      <p:pic>
        <p:nvPicPr>
          <p:cNvPr id="124931" name="Picture 4">
            <a:extLst>
              <a:ext uri="{FF2B5EF4-FFF2-40B4-BE49-F238E27FC236}">
                <a16:creationId xmlns:a16="http://schemas.microsoft.com/office/drawing/2014/main" id="{56BB7ECA-CFC4-4ACF-98F6-9F9C1A6097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4" y="1989138"/>
            <a:ext cx="6696075" cy="387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2" name="Line 5">
            <a:extLst>
              <a:ext uri="{FF2B5EF4-FFF2-40B4-BE49-F238E27FC236}">
                <a16:creationId xmlns:a16="http://schemas.microsoft.com/office/drawing/2014/main" id="{3314260E-B871-4543-A30A-738A2DD1DE6F}"/>
              </a:ext>
            </a:extLst>
          </p:cNvPr>
          <p:cNvSpPr>
            <a:spLocks noChangeShapeType="1"/>
          </p:cNvSpPr>
          <p:nvPr/>
        </p:nvSpPr>
        <p:spPr bwMode="auto">
          <a:xfrm>
            <a:off x="2927351" y="2768600"/>
            <a:ext cx="2016125"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33" name="Line 6">
            <a:extLst>
              <a:ext uri="{FF2B5EF4-FFF2-40B4-BE49-F238E27FC236}">
                <a16:creationId xmlns:a16="http://schemas.microsoft.com/office/drawing/2014/main" id="{E3ECDB4F-5CBF-4701-8839-3873B57370EB}"/>
              </a:ext>
            </a:extLst>
          </p:cNvPr>
          <p:cNvSpPr>
            <a:spLocks noChangeShapeType="1"/>
          </p:cNvSpPr>
          <p:nvPr/>
        </p:nvSpPr>
        <p:spPr bwMode="auto">
          <a:xfrm flipV="1">
            <a:off x="4448176" y="3908425"/>
            <a:ext cx="1838325" cy="1270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34" name="Line 7">
            <a:extLst>
              <a:ext uri="{FF2B5EF4-FFF2-40B4-BE49-F238E27FC236}">
                <a16:creationId xmlns:a16="http://schemas.microsoft.com/office/drawing/2014/main" id="{79C7DDCD-DB69-43C8-9E9E-F0D38DB9CF95}"/>
              </a:ext>
            </a:extLst>
          </p:cNvPr>
          <p:cNvSpPr>
            <a:spLocks noChangeShapeType="1"/>
          </p:cNvSpPr>
          <p:nvPr/>
        </p:nvSpPr>
        <p:spPr bwMode="auto">
          <a:xfrm flipV="1">
            <a:off x="4402139" y="5059363"/>
            <a:ext cx="1838325" cy="1270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16131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a:extLst>
              <a:ext uri="{FF2B5EF4-FFF2-40B4-BE49-F238E27FC236}">
                <a16:creationId xmlns:a16="http://schemas.microsoft.com/office/drawing/2014/main" id="{8D863260-072D-484B-B7F8-937F7FD9B669}"/>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前置通知</a:t>
            </a:r>
            <a:r>
              <a:rPr lang="en-US" altLang="zh-CN" dirty="0">
                <a:solidFill>
                  <a:srgbClr val="FF0000"/>
                </a:solidFill>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增强</a:t>
            </a:r>
            <a:r>
              <a:rPr lang="en-US" altLang="zh-CN" dirty="0">
                <a:solidFill>
                  <a:srgbClr val="FF0000"/>
                </a:solidFill>
                <a:latin typeface="华文中宋" pitchFamily="2" charset="-122"/>
                <a:ea typeface="华文中宋" pitchFamily="2" charset="-122"/>
              </a:rPr>
              <a:t>)</a:t>
            </a:r>
            <a:endParaRPr lang="zh-CN" altLang="en-US" b="1" dirty="0"/>
          </a:p>
        </p:txBody>
      </p:sp>
      <p:sp>
        <p:nvSpPr>
          <p:cNvPr id="108547" name="Rectangle 3">
            <a:extLst>
              <a:ext uri="{FF2B5EF4-FFF2-40B4-BE49-F238E27FC236}">
                <a16:creationId xmlns:a16="http://schemas.microsoft.com/office/drawing/2014/main" id="{8D8F145D-B9B8-412E-8A7E-B4905B11167A}"/>
              </a:ext>
            </a:extLst>
          </p:cNvPr>
          <p:cNvSpPr>
            <a:spLocks noGrp="1" noChangeArrowheads="1"/>
          </p:cNvSpPr>
          <p:nvPr/>
        </p:nvSpPr>
        <p:spPr bwMode="auto">
          <a:xfrm>
            <a:off x="1224410" y="476251"/>
            <a:ext cx="8642350" cy="435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endParaRPr lang="en-US" altLang="zh-CN" sz="1200" b="1" dirty="0">
              <a:latin typeface="Arial" panose="020B0604020202020204" pitchFamily="34" charset="0"/>
            </a:endParaRPr>
          </a:p>
          <a:p>
            <a:pPr>
              <a:lnSpc>
                <a:spcPct val="150000"/>
              </a:lnSpc>
              <a:buFont typeface="Wingdings" panose="05000000000000000000" pitchFamily="2" charset="2"/>
              <a:buNone/>
            </a:pPr>
            <a:r>
              <a:rPr lang="en-US" altLang="zh-CN" sz="1400" b="1" dirty="0">
                <a:latin typeface="Arial" panose="020B0604020202020204" pitchFamily="34" charset="0"/>
              </a:rPr>
              <a:t>@Aspect  </a:t>
            </a:r>
            <a:r>
              <a:rPr lang="en-US" altLang="zh-CN" sz="1400" b="1" dirty="0">
                <a:solidFill>
                  <a:srgbClr val="00CC00"/>
                </a:solidFill>
                <a:latin typeface="Arial" panose="020B0604020202020204" pitchFamily="34" charset="0"/>
              </a:rPr>
              <a:t>//</a:t>
            </a:r>
            <a:r>
              <a:rPr lang="zh-CN" altLang="en-US" sz="1400" b="1" dirty="0">
                <a:solidFill>
                  <a:srgbClr val="00CC00"/>
                </a:solidFill>
                <a:latin typeface="Arial" panose="020B0604020202020204" pitchFamily="34" charset="0"/>
              </a:rPr>
              <a:t>声明切面</a:t>
            </a:r>
          </a:p>
          <a:p>
            <a:pPr>
              <a:lnSpc>
                <a:spcPct val="150000"/>
              </a:lnSpc>
              <a:buFont typeface="Wingdings" panose="05000000000000000000" pitchFamily="2" charset="2"/>
              <a:buNone/>
            </a:pPr>
            <a:r>
              <a:rPr lang="en-US" altLang="zh-CN" sz="1400" b="1" dirty="0">
                <a:latin typeface="Arial" panose="020B0604020202020204" pitchFamily="34" charset="0"/>
              </a:rPr>
              <a:t>public class Security {</a:t>
            </a:r>
          </a:p>
          <a:p>
            <a:pPr lvl="1">
              <a:lnSpc>
                <a:spcPct val="150000"/>
              </a:lnSpc>
              <a:buClr>
                <a:schemeClr val="accent1"/>
              </a:buClr>
              <a:buSzPct val="150000"/>
            </a:pPr>
            <a:r>
              <a:rPr lang="en-US" altLang="zh-CN" sz="1400" b="1" dirty="0">
                <a:solidFill>
                  <a:srgbClr val="00CC00"/>
                </a:solidFill>
                <a:latin typeface="Arial" panose="020B0604020202020204" pitchFamily="34" charset="0"/>
              </a:rPr>
              <a:t>/**</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@Pointcut </a:t>
            </a:r>
            <a:r>
              <a:rPr lang="zh-CN" altLang="en-US" sz="1400" b="1" dirty="0">
                <a:solidFill>
                  <a:srgbClr val="00CC00"/>
                </a:solidFill>
                <a:latin typeface="Arial" panose="020B0604020202020204" pitchFamily="34" charset="0"/>
              </a:rPr>
              <a:t>用于声明切入点 </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在</a:t>
            </a:r>
            <a:r>
              <a:rPr lang="en-US" altLang="zh-CN" sz="1400" b="1" dirty="0">
                <a:solidFill>
                  <a:srgbClr val="00CC00"/>
                </a:solidFill>
                <a:latin typeface="Arial" panose="020B0604020202020204" pitchFamily="34" charset="0"/>
              </a:rPr>
              <a:t>@AspectJ</a:t>
            </a:r>
            <a:r>
              <a:rPr lang="zh-CN" altLang="en-US" sz="1400" b="1" dirty="0">
                <a:solidFill>
                  <a:srgbClr val="00CC00"/>
                </a:solidFill>
                <a:latin typeface="Arial" panose="020B0604020202020204" pitchFamily="34" charset="0"/>
              </a:rPr>
              <a:t>注解风格的</a:t>
            </a:r>
            <a:r>
              <a:rPr lang="en-US" altLang="zh-CN" sz="1400" b="1" dirty="0">
                <a:solidFill>
                  <a:srgbClr val="00CC00"/>
                </a:solidFill>
                <a:latin typeface="Arial" panose="020B0604020202020204" pitchFamily="34" charset="0"/>
              </a:rPr>
              <a:t>AOP</a:t>
            </a:r>
            <a:r>
              <a:rPr lang="zh-CN" altLang="en-US" sz="1400" b="1" dirty="0">
                <a:solidFill>
                  <a:srgbClr val="00CC00"/>
                </a:solidFill>
                <a:latin typeface="Arial" panose="020B0604020202020204" pitchFamily="34" charset="0"/>
              </a:rPr>
              <a:t>中 一个切入点签名通过一个普通的方法来定义</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1 </a:t>
            </a:r>
            <a:r>
              <a:rPr lang="zh-CN" altLang="en-US" sz="1400" b="1" dirty="0">
                <a:solidFill>
                  <a:srgbClr val="00CC00"/>
                </a:solidFill>
                <a:latin typeface="Arial" panose="020B0604020202020204" pitchFamily="34" charset="0"/>
              </a:rPr>
              <a:t>作为切入点签名的方法必须返回</a:t>
            </a:r>
            <a:r>
              <a:rPr lang="en-US" altLang="zh-CN" sz="1400" b="1" dirty="0">
                <a:solidFill>
                  <a:srgbClr val="00CC00"/>
                </a:solidFill>
                <a:latin typeface="Arial" panose="020B0604020202020204" pitchFamily="34" charset="0"/>
              </a:rPr>
              <a:t>void</a:t>
            </a:r>
            <a:r>
              <a:rPr lang="zh-CN" altLang="en-US" sz="1400" b="1" dirty="0">
                <a:solidFill>
                  <a:srgbClr val="00CC00"/>
                </a:solidFill>
                <a:latin typeface="Arial" panose="020B0604020202020204" pitchFamily="34" charset="0"/>
              </a:rPr>
              <a:t>类型</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2 </a:t>
            </a:r>
            <a:r>
              <a:rPr lang="zh-CN" altLang="en-US" sz="1400" b="1" dirty="0">
                <a:solidFill>
                  <a:srgbClr val="00CC00"/>
                </a:solidFill>
                <a:latin typeface="Arial" panose="020B0604020202020204" pitchFamily="34" charset="0"/>
              </a:rPr>
              <a:t>方法没有参数 用</a:t>
            </a:r>
            <a:r>
              <a:rPr lang="en-US" altLang="zh-CN" sz="1400" b="1" dirty="0">
                <a:solidFill>
                  <a:srgbClr val="00CC00"/>
                </a:solidFill>
                <a:latin typeface="Arial" panose="020B0604020202020204" pitchFamily="34" charset="0"/>
              </a:rPr>
              <a:t>private</a:t>
            </a:r>
            <a:r>
              <a:rPr lang="zh-CN" altLang="en-US" sz="1400" b="1" dirty="0">
                <a:solidFill>
                  <a:srgbClr val="00CC00"/>
                </a:solidFill>
                <a:latin typeface="Arial" panose="020B0604020202020204" pitchFamily="34" charset="0"/>
              </a:rPr>
              <a:t>修饰</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3 </a:t>
            </a:r>
            <a:r>
              <a:rPr lang="zh-CN" altLang="en-US" sz="1400" b="1" dirty="0">
                <a:solidFill>
                  <a:srgbClr val="00CC00"/>
                </a:solidFill>
                <a:latin typeface="Arial" panose="020B0604020202020204" pitchFamily="34" charset="0"/>
              </a:rPr>
              <a:t>方法体为空</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切入点表达式的写法</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execution(</a:t>
            </a:r>
            <a:r>
              <a:rPr lang="zh-CN" altLang="en-US" sz="1400" b="1" dirty="0">
                <a:solidFill>
                  <a:srgbClr val="00CC00"/>
                </a:solidFill>
                <a:latin typeface="Arial" panose="020B0604020202020204" pitchFamily="34" charset="0"/>
              </a:rPr>
              <a:t>主要</a:t>
            </a:r>
            <a:r>
              <a:rPr lang="en-US" altLang="zh-CN" sz="1400" b="1" dirty="0">
                <a:solidFill>
                  <a:srgbClr val="00CC00"/>
                </a:solidFill>
                <a:latin typeface="Arial" panose="020B0604020202020204" pitchFamily="34" charset="0"/>
              </a:rPr>
              <a:t>)</a:t>
            </a:r>
            <a:r>
              <a:rPr lang="zh-CN" altLang="en-US" sz="1400" b="1" dirty="0">
                <a:solidFill>
                  <a:srgbClr val="00CC00"/>
                </a:solidFill>
                <a:latin typeface="Arial" panose="020B0604020202020204" pitchFamily="34" charset="0"/>
              </a:rPr>
              <a:t>表示匹配方法执行的连接点 </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例如</a:t>
            </a: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com.sysmaster.service</a:t>
            </a:r>
            <a:r>
              <a:rPr lang="en-US" altLang="zh-CN" sz="1400" b="1" dirty="0">
                <a:solidFill>
                  <a:srgbClr val="00CC00"/>
                </a:solidFill>
                <a:latin typeface="Arial" panose="020B0604020202020204" pitchFamily="34" charset="0"/>
              </a:rPr>
              <a:t>..*.save*(..))</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1 "*"  </a:t>
            </a:r>
            <a:r>
              <a:rPr lang="zh-CN" altLang="en-US" sz="1400" b="1" dirty="0">
                <a:solidFill>
                  <a:srgbClr val="00CC00"/>
                </a:solidFill>
                <a:latin typeface="Arial" panose="020B0604020202020204" pitchFamily="34" charset="0"/>
              </a:rPr>
              <a:t>表示方法的返回类型任意</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2 </a:t>
            </a:r>
            <a:r>
              <a:rPr lang="en-US" altLang="zh-CN" sz="1400" b="1" dirty="0" err="1">
                <a:solidFill>
                  <a:srgbClr val="00CC00"/>
                </a:solidFill>
                <a:latin typeface="Arial" panose="020B0604020202020204" pitchFamily="34" charset="0"/>
              </a:rPr>
              <a:t>com.sysmaster.service</a:t>
            </a:r>
            <a:r>
              <a:rPr lang="en-US" altLang="zh-CN" sz="1400" b="1" dirty="0">
                <a:solidFill>
                  <a:srgbClr val="00CC00"/>
                </a:solidFill>
                <a:latin typeface="Arial" panose="020B0604020202020204" pitchFamily="34" charset="0"/>
              </a:rPr>
              <a:t>..*  </a:t>
            </a:r>
            <a:r>
              <a:rPr lang="zh-CN" altLang="en-US" sz="1400" b="1" dirty="0">
                <a:solidFill>
                  <a:srgbClr val="00CC00"/>
                </a:solidFill>
                <a:latin typeface="Arial" panose="020B0604020202020204" pitchFamily="34" charset="0"/>
              </a:rPr>
              <a:t>表示</a:t>
            </a:r>
            <a:r>
              <a:rPr lang="en-US" altLang="zh-CN" sz="1400" b="1" dirty="0">
                <a:solidFill>
                  <a:srgbClr val="00CC00"/>
                </a:solidFill>
                <a:latin typeface="Arial" panose="020B0604020202020204" pitchFamily="34" charset="0"/>
              </a:rPr>
              <a:t>service</a:t>
            </a:r>
            <a:r>
              <a:rPr lang="zh-CN" altLang="en-US" sz="1400" b="1" dirty="0">
                <a:solidFill>
                  <a:srgbClr val="00CC00"/>
                </a:solidFill>
                <a:latin typeface="Arial" panose="020B0604020202020204" pitchFamily="34" charset="0"/>
              </a:rPr>
              <a:t>包及其子包中所有的类</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3 .save* </a:t>
            </a:r>
            <a:r>
              <a:rPr lang="zh-CN" altLang="en-US" sz="1400" b="1" dirty="0">
                <a:solidFill>
                  <a:srgbClr val="00CC00"/>
                </a:solidFill>
                <a:latin typeface="Arial" panose="020B0604020202020204" pitchFamily="34" charset="0"/>
              </a:rPr>
              <a:t>表示类中所有以</a:t>
            </a:r>
            <a:r>
              <a:rPr lang="en-US" altLang="zh-CN" sz="1400" b="1" dirty="0">
                <a:solidFill>
                  <a:srgbClr val="00CC00"/>
                </a:solidFill>
                <a:latin typeface="Arial" panose="020B0604020202020204" pitchFamily="34" charset="0"/>
              </a:rPr>
              <a:t>save</a:t>
            </a:r>
            <a:r>
              <a:rPr lang="zh-CN" altLang="en-US" sz="1400" b="1" dirty="0">
                <a:solidFill>
                  <a:srgbClr val="00CC00"/>
                </a:solidFill>
                <a:latin typeface="Arial" panose="020B0604020202020204" pitchFamily="34" charset="0"/>
              </a:rPr>
              <a:t>开头的方法</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4 (..) </a:t>
            </a:r>
            <a:r>
              <a:rPr lang="zh-CN" altLang="en-US" sz="1400" b="1" dirty="0">
                <a:solidFill>
                  <a:srgbClr val="00CC00"/>
                </a:solidFill>
                <a:latin typeface="Arial" panose="020B0604020202020204" pitchFamily="34" charset="0"/>
              </a:rPr>
              <a:t>表示参数是任意数量</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a:t>
            </a:r>
            <a:r>
              <a:rPr lang="en-US" altLang="zh-CN" sz="1400" b="1" dirty="0">
                <a:solidFill>
                  <a:srgbClr val="00CC00"/>
                </a:solidFill>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@Pointcut("execution(* </a:t>
            </a:r>
            <a:r>
              <a:rPr lang="en-US" altLang="zh-CN" sz="1400" b="1" dirty="0" err="1">
                <a:latin typeface="Arial" panose="020B0604020202020204" pitchFamily="34" charset="0"/>
              </a:rPr>
              <a:t>com.sysmaster.service</a:t>
            </a:r>
            <a:r>
              <a:rPr lang="en-US" altLang="zh-CN" sz="1400" b="1" dirty="0">
                <a:latin typeface="Arial" panose="020B0604020202020204" pitchFamily="34" charset="0"/>
              </a:rPr>
              <a:t>..*.save*(..))")</a:t>
            </a:r>
          </a:p>
          <a:p>
            <a:pPr>
              <a:lnSpc>
                <a:spcPct val="150000"/>
              </a:lnSpc>
              <a:buFont typeface="Wingdings" panose="05000000000000000000" pitchFamily="2" charset="2"/>
              <a:buNone/>
            </a:pPr>
            <a:r>
              <a:rPr lang="en-US" altLang="zh-CN" sz="1400" b="1" dirty="0">
                <a:latin typeface="Arial" panose="020B0604020202020204" pitchFamily="34" charset="0"/>
              </a:rPr>
              <a:t>    private void </a:t>
            </a:r>
            <a:r>
              <a:rPr lang="en-US" altLang="zh-CN" sz="1400" b="1" dirty="0" err="1">
                <a:latin typeface="Arial" panose="020B0604020202020204" pitchFamily="34" charset="0"/>
              </a:rPr>
              <a:t>userManagerPointut</a:t>
            </a:r>
            <a:r>
              <a:rPr lang="en-US" altLang="zh-CN" sz="1400" b="1" dirty="0">
                <a:latin typeface="Arial" panose="020B0604020202020204" pitchFamily="34"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a:extLst>
              <a:ext uri="{FF2B5EF4-FFF2-40B4-BE49-F238E27FC236}">
                <a16:creationId xmlns:a16="http://schemas.microsoft.com/office/drawing/2014/main" id="{44EA8FD8-27ED-4287-8673-998AA53893C8}"/>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前置增强（通知）</a:t>
            </a:r>
          </a:p>
        </p:txBody>
      </p:sp>
      <p:sp>
        <p:nvSpPr>
          <p:cNvPr id="109571" name="Rectangle 3">
            <a:extLst>
              <a:ext uri="{FF2B5EF4-FFF2-40B4-BE49-F238E27FC236}">
                <a16:creationId xmlns:a16="http://schemas.microsoft.com/office/drawing/2014/main" id="{D286065A-676B-4CE0-9425-99C22F6A3685}"/>
              </a:ext>
            </a:extLst>
          </p:cNvPr>
          <p:cNvSpPr>
            <a:spLocks noGrp="1" noChangeArrowheads="1"/>
          </p:cNvSpPr>
          <p:nvPr/>
        </p:nvSpPr>
        <p:spPr bwMode="auto">
          <a:xfrm>
            <a:off x="1800225" y="1484314"/>
            <a:ext cx="8642350" cy="435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pPr>
            <a:endParaRPr lang="en-US" altLang="zh-CN" sz="1200" b="1" dirty="0">
              <a:latin typeface="Arial" panose="020B0604020202020204" pitchFamily="34" charset="0"/>
            </a:endParaRPr>
          </a:p>
          <a:p>
            <a:pPr lvl="1">
              <a:lnSpc>
                <a:spcPct val="150000"/>
              </a:lnSpc>
              <a:buClr>
                <a:schemeClr val="accent1"/>
              </a:buClr>
              <a:buSzPct val="150000"/>
            </a:pPr>
            <a:r>
              <a:rPr lang="en-US" altLang="zh-CN" sz="1600" b="1" dirty="0">
                <a:solidFill>
                  <a:srgbClr val="00CC00"/>
                </a:solidFill>
                <a:latin typeface="Arial" panose="020B0604020202020204" pitchFamily="34" charset="0"/>
              </a:rPr>
              <a:t>/**</a:t>
            </a:r>
          </a:p>
          <a:p>
            <a:pPr lvl="1">
              <a:lnSpc>
                <a:spcPct val="150000"/>
              </a:lnSpc>
              <a:buClr>
                <a:schemeClr val="accent1"/>
              </a:buClr>
              <a:buSzPct val="150000"/>
            </a:pPr>
            <a:r>
              <a:rPr lang="en-US" altLang="zh-CN" sz="1600" b="1" dirty="0">
                <a:solidFill>
                  <a:srgbClr val="00CC00"/>
                </a:solidFill>
                <a:latin typeface="Arial" panose="020B0604020202020204" pitchFamily="34" charset="0"/>
              </a:rPr>
              <a:t> * Before </a:t>
            </a:r>
            <a:r>
              <a:rPr lang="en-US" altLang="zh-CN" sz="1600" b="1" dirty="0" err="1">
                <a:solidFill>
                  <a:srgbClr val="00CC00"/>
                </a:solidFill>
                <a:latin typeface="Arial" panose="020B0604020202020204" pitchFamily="34" charset="0"/>
              </a:rPr>
              <a:t>前置</a:t>
            </a:r>
            <a:r>
              <a:rPr lang="zh-CN" altLang="en-US" sz="1600" b="1" dirty="0">
                <a:solidFill>
                  <a:srgbClr val="00CC00"/>
                </a:solidFill>
                <a:latin typeface="Arial" panose="020B0604020202020204" pitchFamily="34" charset="0"/>
              </a:rPr>
              <a:t>增强</a:t>
            </a:r>
            <a:r>
              <a:rPr lang="en-US" altLang="zh-CN" sz="1600" b="1" dirty="0">
                <a:solidFill>
                  <a:srgbClr val="00CC00"/>
                </a:solidFill>
                <a:latin typeface="Arial" panose="020B0604020202020204" pitchFamily="34" charset="0"/>
              </a:rPr>
              <a:t> </a:t>
            </a:r>
            <a:r>
              <a:rPr lang="en-US" altLang="zh-CN" sz="1600" b="1" dirty="0" err="1">
                <a:solidFill>
                  <a:srgbClr val="00CC00"/>
                </a:solidFill>
                <a:latin typeface="Arial" panose="020B0604020202020204" pitchFamily="34" charset="0"/>
              </a:rPr>
              <a:t>在方法调用前执行</a:t>
            </a:r>
            <a:endParaRPr lang="en-US" altLang="zh-CN" sz="1600" b="1" dirty="0">
              <a:solidFill>
                <a:srgbClr val="00CC00"/>
              </a:solidFill>
              <a:latin typeface="Arial" panose="020B0604020202020204" pitchFamily="34" charset="0"/>
            </a:endParaRPr>
          </a:p>
          <a:p>
            <a:pPr lvl="1">
              <a:lnSpc>
                <a:spcPct val="150000"/>
              </a:lnSpc>
              <a:buClr>
                <a:schemeClr val="accent1"/>
              </a:buClr>
              <a:buSzPct val="150000"/>
            </a:pPr>
            <a:r>
              <a:rPr lang="en-US" altLang="zh-CN" sz="1600" b="1" dirty="0">
                <a:solidFill>
                  <a:srgbClr val="00CC00"/>
                </a:solidFill>
                <a:latin typeface="Arial" panose="020B0604020202020204" pitchFamily="34" charset="0"/>
              </a:rPr>
              <a:t> * </a:t>
            </a:r>
            <a:r>
              <a:rPr lang="en-US" altLang="zh-CN" sz="1600" b="1" dirty="0" err="1">
                <a:solidFill>
                  <a:srgbClr val="00CC00"/>
                </a:solidFill>
                <a:latin typeface="Arial" panose="020B0604020202020204" pitchFamily="34" charset="0"/>
              </a:rPr>
              <a:t>userManagerPointut</a:t>
            </a:r>
            <a:r>
              <a:rPr lang="en-US" altLang="zh-CN" sz="1600" b="1" dirty="0">
                <a:solidFill>
                  <a:srgbClr val="00CC00"/>
                </a:solidFill>
                <a:latin typeface="Arial" panose="020B0604020202020204" pitchFamily="34" charset="0"/>
              </a:rPr>
              <a:t>() </a:t>
            </a:r>
            <a:r>
              <a:rPr lang="en-US" altLang="zh-CN" sz="1600" b="1" dirty="0" err="1">
                <a:solidFill>
                  <a:srgbClr val="00CC00"/>
                </a:solidFill>
                <a:latin typeface="Arial" panose="020B0604020202020204" pitchFamily="34" charset="0"/>
              </a:rPr>
              <a:t>表示前面定义的切入点</a:t>
            </a:r>
            <a:endParaRPr lang="en-US" altLang="zh-CN" sz="1600" b="1" dirty="0">
              <a:solidFill>
                <a:srgbClr val="00CC00"/>
              </a:solidFill>
              <a:latin typeface="Arial" panose="020B0604020202020204" pitchFamily="34" charset="0"/>
            </a:endParaRPr>
          </a:p>
          <a:p>
            <a:pPr lvl="1">
              <a:lnSpc>
                <a:spcPct val="150000"/>
              </a:lnSpc>
              <a:buClr>
                <a:schemeClr val="accent1"/>
              </a:buClr>
              <a:buSzPct val="150000"/>
            </a:pPr>
            <a:r>
              <a:rPr lang="en-US" altLang="zh-CN" sz="1600" b="1" dirty="0">
                <a:solidFill>
                  <a:srgbClr val="00CC00"/>
                </a:solidFill>
                <a:latin typeface="Arial" panose="020B0604020202020204" pitchFamily="34" charset="0"/>
              </a:rPr>
              <a:t> * </a:t>
            </a:r>
            <a:r>
              <a:rPr lang="en-US" altLang="zh-CN" sz="1600" b="1" dirty="0" err="1">
                <a:solidFill>
                  <a:srgbClr val="00CC00"/>
                </a:solidFill>
                <a:latin typeface="Arial" panose="020B0604020202020204" pitchFamily="34" charset="0"/>
              </a:rPr>
              <a:t>args</a:t>
            </a:r>
            <a:r>
              <a:rPr lang="en-US" altLang="zh-CN" sz="1600" b="1" dirty="0">
                <a:solidFill>
                  <a:srgbClr val="00CC00"/>
                </a:solidFill>
                <a:latin typeface="Arial" panose="020B0604020202020204" pitchFamily="34" charset="0"/>
              </a:rPr>
              <a:t> - </a:t>
            </a:r>
            <a:r>
              <a:rPr lang="en-US" altLang="zh-CN" sz="1600" b="1" dirty="0" err="1">
                <a:solidFill>
                  <a:srgbClr val="00CC00"/>
                </a:solidFill>
                <a:latin typeface="Arial" panose="020B0604020202020204" pitchFamily="34" charset="0"/>
              </a:rPr>
              <a:t>限定匹配特定的连接点（使用Spring</a:t>
            </a:r>
            <a:r>
              <a:rPr lang="en-US" altLang="zh-CN" sz="1600" b="1" dirty="0">
                <a:solidFill>
                  <a:srgbClr val="00CC00"/>
                </a:solidFill>
                <a:latin typeface="Arial" panose="020B0604020202020204" pitchFamily="34" charset="0"/>
              </a:rPr>
              <a:t> </a:t>
            </a:r>
            <a:r>
              <a:rPr lang="en-US" altLang="zh-CN" sz="1600" b="1" dirty="0" err="1">
                <a:solidFill>
                  <a:srgbClr val="00CC00"/>
                </a:solidFill>
                <a:latin typeface="Arial" panose="020B0604020202020204" pitchFamily="34" charset="0"/>
              </a:rPr>
              <a:t>AOP的时候方法的执行</a:t>
            </a:r>
            <a:r>
              <a:rPr lang="en-US" altLang="zh-CN" sz="1600" b="1" dirty="0">
                <a:solidFill>
                  <a:srgbClr val="00CC00"/>
                </a:solidFill>
                <a:latin typeface="Arial" panose="020B0604020202020204" pitchFamily="34" charset="0"/>
              </a:rPr>
              <a:t>），</a:t>
            </a:r>
            <a:r>
              <a:rPr lang="en-US" altLang="zh-CN" sz="1600" b="1" dirty="0" err="1">
                <a:solidFill>
                  <a:srgbClr val="00CC00"/>
                </a:solidFill>
                <a:latin typeface="Arial" panose="020B0604020202020204" pitchFamily="34" charset="0"/>
              </a:rPr>
              <a:t>其中参数是指定类型的实例</a:t>
            </a:r>
            <a:r>
              <a:rPr lang="en-US" altLang="zh-CN" sz="1600" b="1" dirty="0">
                <a:solidFill>
                  <a:srgbClr val="00CC00"/>
                </a:solidFill>
                <a:latin typeface="Arial" panose="020B0604020202020204" pitchFamily="34" charset="0"/>
              </a:rPr>
              <a:t>. </a:t>
            </a:r>
          </a:p>
          <a:p>
            <a:pPr lvl="1">
              <a:lnSpc>
                <a:spcPct val="150000"/>
              </a:lnSpc>
              <a:buClr>
                <a:schemeClr val="accent1"/>
              </a:buClr>
              <a:buSzPct val="150000"/>
            </a:pPr>
            <a:r>
              <a:rPr lang="en-US" altLang="zh-CN" sz="1600" b="1" dirty="0">
                <a:solidFill>
                  <a:srgbClr val="00CC00"/>
                </a:solidFill>
                <a:latin typeface="Arial" panose="020B0604020202020204" pitchFamily="34" charset="0"/>
              </a:rPr>
              <a:t> * </a:t>
            </a:r>
            <a:r>
              <a:rPr lang="en-US" altLang="zh-CN" sz="1600" b="1" dirty="0" err="1">
                <a:solidFill>
                  <a:srgbClr val="00CC00"/>
                </a:solidFill>
                <a:latin typeface="Arial" panose="020B0604020202020204" pitchFamily="34" charset="0"/>
              </a:rPr>
              <a:t>username,psw</a:t>
            </a:r>
            <a:r>
              <a:rPr lang="en-US" altLang="zh-CN" sz="1600" b="1" dirty="0">
                <a:solidFill>
                  <a:srgbClr val="00CC00"/>
                </a:solidFill>
                <a:latin typeface="Arial" panose="020B0604020202020204" pitchFamily="34" charset="0"/>
              </a:rPr>
              <a:t> </a:t>
            </a:r>
            <a:r>
              <a:rPr lang="en-US" altLang="zh-CN" sz="1600" b="1" dirty="0" err="1">
                <a:solidFill>
                  <a:srgbClr val="00CC00"/>
                </a:solidFill>
                <a:latin typeface="Arial" panose="020B0604020202020204" pitchFamily="34" charset="0"/>
              </a:rPr>
              <a:t>参数表示指定类型的实例</a:t>
            </a:r>
            <a:endParaRPr lang="en-US" altLang="zh-CN" sz="1600" b="1" dirty="0">
              <a:solidFill>
                <a:srgbClr val="00CC00"/>
              </a:solidFill>
              <a:latin typeface="Arial" panose="020B0604020202020204" pitchFamily="34" charset="0"/>
            </a:endParaRPr>
          </a:p>
          <a:p>
            <a:pPr lvl="1">
              <a:lnSpc>
                <a:spcPct val="150000"/>
              </a:lnSpc>
              <a:buClr>
                <a:schemeClr val="accent1"/>
              </a:buClr>
              <a:buSzPct val="150000"/>
            </a:pPr>
            <a:r>
              <a:rPr lang="en-US" altLang="zh-CN" sz="1600" b="1" dirty="0">
                <a:solidFill>
                  <a:srgbClr val="00CC00"/>
                </a:solidFill>
                <a:latin typeface="Arial" panose="020B0604020202020204" pitchFamily="34" charset="0"/>
              </a:rPr>
              <a:t> *    * </a:t>
            </a:r>
            <a:r>
              <a:rPr lang="en-US" altLang="zh-CN" sz="1600" b="1" dirty="0" err="1">
                <a:solidFill>
                  <a:srgbClr val="00CC00"/>
                </a:solidFill>
                <a:latin typeface="Arial" panose="020B0604020202020204" pitchFamily="34" charset="0"/>
              </a:rPr>
              <a:t>参数名称必须与</a:t>
            </a:r>
            <a:r>
              <a:rPr lang="zh-CN" altLang="en-US" sz="1600" b="1" dirty="0">
                <a:solidFill>
                  <a:srgbClr val="00CC00"/>
                </a:solidFill>
                <a:latin typeface="Arial" panose="020B0604020202020204" pitchFamily="34" charset="0"/>
              </a:rPr>
              <a:t>增强</a:t>
            </a:r>
            <a:r>
              <a:rPr lang="en-US" altLang="zh-CN" sz="1600" b="1" dirty="0" err="1">
                <a:solidFill>
                  <a:srgbClr val="00CC00"/>
                </a:solidFill>
                <a:latin typeface="Arial" panose="020B0604020202020204" pitchFamily="34" charset="0"/>
              </a:rPr>
              <a:t>的参数名称一致</a:t>
            </a:r>
            <a:endParaRPr lang="en-US" altLang="zh-CN" sz="1600" b="1" dirty="0">
              <a:solidFill>
                <a:srgbClr val="00CC00"/>
              </a:solidFill>
              <a:latin typeface="Arial" panose="020B0604020202020204" pitchFamily="34" charset="0"/>
            </a:endParaRPr>
          </a:p>
          <a:p>
            <a:pPr lvl="1">
              <a:lnSpc>
                <a:spcPct val="150000"/>
              </a:lnSpc>
              <a:buClr>
                <a:schemeClr val="accent1"/>
              </a:buClr>
              <a:buSzPct val="150000"/>
            </a:pPr>
            <a:r>
              <a:rPr lang="en-US" altLang="zh-CN" sz="1600" b="1" dirty="0">
                <a:solidFill>
                  <a:srgbClr val="00CC00"/>
                </a:solidFill>
                <a:latin typeface="Arial" panose="020B0604020202020204" pitchFamily="34" charset="0"/>
              </a:rPr>
              <a:t> *    * </a:t>
            </a:r>
            <a:r>
              <a:rPr lang="zh-CN" altLang="en-US" sz="1600" b="1" dirty="0">
                <a:solidFill>
                  <a:srgbClr val="00CC00"/>
                </a:solidFill>
                <a:latin typeface="Arial" panose="020B0604020202020204" pitchFamily="34" charset="0"/>
              </a:rPr>
              <a:t>增强</a:t>
            </a:r>
            <a:r>
              <a:rPr lang="en-US" altLang="zh-CN" sz="1600" b="1" dirty="0" err="1">
                <a:solidFill>
                  <a:srgbClr val="00CC00"/>
                </a:solidFill>
                <a:latin typeface="Arial" panose="020B0604020202020204" pitchFamily="34" charset="0"/>
              </a:rPr>
              <a:t>参数的类型必须与目标对象参数的类型一致,如不一致，拦截不到</a:t>
            </a:r>
            <a:endParaRPr lang="en-US" altLang="zh-CN" sz="1600" b="1" dirty="0">
              <a:solidFill>
                <a:srgbClr val="00CC00"/>
              </a:solidFill>
              <a:latin typeface="Arial" panose="020B0604020202020204" pitchFamily="34" charset="0"/>
            </a:endParaRPr>
          </a:p>
          <a:p>
            <a:pPr lvl="1">
              <a:lnSpc>
                <a:spcPct val="150000"/>
              </a:lnSpc>
              <a:buClr>
                <a:schemeClr val="accent1"/>
              </a:buClr>
              <a:buSzPct val="150000"/>
            </a:pPr>
            <a:r>
              <a:rPr lang="en-US" altLang="zh-CN" sz="1600" b="1" dirty="0">
                <a:solidFill>
                  <a:srgbClr val="00CC00"/>
                </a:solidFill>
                <a:latin typeface="Arial" panose="020B0604020202020204" pitchFamily="34" charset="0"/>
              </a:rPr>
              <a:t> */</a:t>
            </a:r>
          </a:p>
          <a:p>
            <a:pPr>
              <a:lnSpc>
                <a:spcPct val="150000"/>
              </a:lnSpc>
              <a:buFont typeface="Wingdings" panose="05000000000000000000" pitchFamily="2" charset="2"/>
              <a:buNone/>
            </a:pPr>
            <a:r>
              <a:rPr lang="en-US" altLang="zh-CN" sz="1600" b="1" dirty="0">
                <a:latin typeface="Arial" panose="020B0604020202020204" pitchFamily="34" charset="0"/>
              </a:rPr>
              <a:t>      @Before("</a:t>
            </a:r>
            <a:r>
              <a:rPr lang="en-US" altLang="zh-CN" sz="1600" b="1" dirty="0" err="1">
                <a:latin typeface="Arial" panose="020B0604020202020204" pitchFamily="34" charset="0"/>
              </a:rPr>
              <a:t>userManagerPointut</a:t>
            </a:r>
            <a:r>
              <a:rPr lang="en-US" altLang="zh-CN" sz="1600" b="1" dirty="0">
                <a:latin typeface="Arial" panose="020B0604020202020204" pitchFamily="34" charset="0"/>
              </a:rPr>
              <a:t>() &amp;&amp; </a:t>
            </a:r>
            <a:r>
              <a:rPr lang="en-US" altLang="zh-CN" sz="1600" b="1" dirty="0" err="1">
                <a:latin typeface="Arial" panose="020B0604020202020204" pitchFamily="34" charset="0"/>
              </a:rPr>
              <a:t>args</a:t>
            </a:r>
            <a:r>
              <a:rPr lang="en-US" altLang="zh-CN" sz="1600" b="1" dirty="0">
                <a:latin typeface="Arial" panose="020B0604020202020204" pitchFamily="34" charset="0"/>
              </a:rPr>
              <a:t>(username1,psw)")</a:t>
            </a:r>
          </a:p>
          <a:p>
            <a:pPr>
              <a:lnSpc>
                <a:spcPct val="150000"/>
              </a:lnSpc>
              <a:buFont typeface="Wingdings" panose="05000000000000000000" pitchFamily="2" charset="2"/>
              <a:buNone/>
            </a:pPr>
            <a:r>
              <a:rPr lang="en-US" altLang="zh-CN" sz="1600" b="1" dirty="0">
                <a:latin typeface="Arial" panose="020B0604020202020204" pitchFamily="34" charset="0"/>
              </a:rPr>
              <a:t>      public void </a:t>
            </a:r>
            <a:r>
              <a:rPr lang="en-US" altLang="zh-CN" sz="1600" b="1" dirty="0" err="1">
                <a:latin typeface="Arial" panose="020B0604020202020204" pitchFamily="34" charset="0"/>
              </a:rPr>
              <a:t>checkSecurity</a:t>
            </a:r>
            <a:r>
              <a:rPr lang="en-US" altLang="zh-CN" sz="1600" b="1" dirty="0">
                <a:latin typeface="Arial" panose="020B0604020202020204" pitchFamily="34" charset="0"/>
              </a:rPr>
              <a:t>(String username1,String </a:t>
            </a:r>
            <a:r>
              <a:rPr lang="en-US" altLang="zh-CN" sz="1600" b="1" dirty="0" err="1">
                <a:latin typeface="Arial" panose="020B0604020202020204" pitchFamily="34" charset="0"/>
              </a:rPr>
              <a:t>psw</a:t>
            </a:r>
            <a:r>
              <a:rPr lang="en-US" altLang="zh-CN" sz="1600" b="1" dirty="0">
                <a:latin typeface="Arial" panose="020B0604020202020204" pitchFamily="34" charset="0"/>
              </a:rPr>
              <a:t>){</a:t>
            </a:r>
          </a:p>
          <a:p>
            <a:pPr>
              <a:lnSpc>
                <a:spcPct val="150000"/>
              </a:lnSpc>
              <a:buFont typeface="Wingdings" panose="05000000000000000000" pitchFamily="2" charset="2"/>
              <a:buNone/>
            </a:pPr>
            <a:r>
              <a:rPr lang="en-US" altLang="zh-CN" sz="1600" b="1" dirty="0">
                <a:latin typeface="Arial" panose="020B0604020202020204" pitchFamily="34" charset="0"/>
              </a:rPr>
              <a:t>                </a:t>
            </a:r>
            <a:r>
              <a:rPr lang="en-US" altLang="zh-CN" sz="1600" b="1" dirty="0" err="1">
                <a:latin typeface="Arial" panose="020B0604020202020204" pitchFamily="34" charset="0"/>
              </a:rPr>
              <a:t>System.</a:t>
            </a:r>
            <a:r>
              <a:rPr lang="en-US" altLang="zh-CN" sz="1600" b="1" i="1" dirty="0" err="1">
                <a:latin typeface="Arial" panose="020B0604020202020204" pitchFamily="34" charset="0"/>
              </a:rPr>
              <a:t>out</a:t>
            </a:r>
            <a:r>
              <a:rPr lang="en-US" altLang="zh-CN" sz="1600" b="1" dirty="0" err="1">
                <a:latin typeface="Arial" panose="020B0604020202020204" pitchFamily="34" charset="0"/>
              </a:rPr>
              <a:t>.println</a:t>
            </a:r>
            <a:r>
              <a:rPr lang="en-US" altLang="zh-CN" sz="1600" b="1" dirty="0">
                <a:latin typeface="Arial" panose="020B0604020202020204" pitchFamily="34" charset="0"/>
              </a:rPr>
              <a:t>("</a:t>
            </a:r>
            <a:r>
              <a:rPr lang="en-US" altLang="zh-CN" sz="1600" b="1" dirty="0" err="1">
                <a:latin typeface="Arial" panose="020B0604020202020204" pitchFamily="34" charset="0"/>
              </a:rPr>
              <a:t>进行安全检查</a:t>
            </a:r>
            <a:r>
              <a:rPr lang="en-US" altLang="zh-CN" sz="1600" b="1" dirty="0">
                <a:latin typeface="Arial" panose="020B0604020202020204" pitchFamily="34" charset="0"/>
              </a:rPr>
              <a:t> "+username1+" "+</a:t>
            </a:r>
            <a:r>
              <a:rPr lang="en-US" altLang="zh-CN" sz="1600" b="1" dirty="0" err="1">
                <a:latin typeface="Arial" panose="020B0604020202020204" pitchFamily="34" charset="0"/>
              </a:rPr>
              <a:t>psw</a:t>
            </a:r>
            <a:r>
              <a:rPr lang="en-US" altLang="zh-CN" sz="1600" b="1" dirty="0">
                <a:latin typeface="Arial" panose="020B0604020202020204" pitchFamily="34" charset="0"/>
              </a:rPr>
              <a:t>);</a:t>
            </a:r>
          </a:p>
          <a:p>
            <a:pPr>
              <a:lnSpc>
                <a:spcPct val="150000"/>
              </a:lnSpc>
              <a:buFont typeface="Wingdings" panose="05000000000000000000" pitchFamily="2" charset="2"/>
              <a:buNone/>
            </a:pPr>
            <a:r>
              <a:rPr lang="en-US" altLang="zh-CN" sz="1600" b="1" dirty="0">
                <a:latin typeface="Arial" panose="020B0604020202020204" pitchFamily="34" charset="0"/>
              </a:rPr>
              <a:t>       }</a:t>
            </a:r>
          </a:p>
          <a:p>
            <a:pPr>
              <a:lnSpc>
                <a:spcPct val="150000"/>
              </a:lnSpc>
              <a:buFont typeface="Wingdings" panose="05000000000000000000" pitchFamily="2" charset="2"/>
              <a:buNone/>
            </a:pPr>
            <a:r>
              <a:rPr lang="en-US" altLang="zh-CN" sz="1600" b="1" dirty="0">
                <a:latin typeface="Arial" panose="020B0604020202020204" pitchFamily="34"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a:extLst>
              <a:ext uri="{FF2B5EF4-FFF2-40B4-BE49-F238E27FC236}">
                <a16:creationId xmlns:a16="http://schemas.microsoft.com/office/drawing/2014/main" id="{1A7EE571-AA05-4C80-B367-3D8F8C0C3DD0}"/>
              </a:ext>
            </a:extLst>
          </p:cNvPr>
          <p:cNvSpPr>
            <a:spLocks noGrp="1" noChangeArrowheads="1"/>
          </p:cNvSpPr>
          <p:nvPr>
            <p:ph type="title"/>
          </p:nvPr>
        </p:nvSpPr>
        <p:spPr>
          <a:xfrm>
            <a:off x="1524000" y="115889"/>
            <a:ext cx="9144000" cy="720725"/>
          </a:xfrm>
        </p:spPr>
        <p:txBody>
          <a:bodyPr>
            <a:normAutofit/>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latin typeface="华文中宋" pitchFamily="2" charset="-122"/>
                <a:ea typeface="华文中宋" pitchFamily="2" charset="-122"/>
              </a:rPr>
              <a:t>后置增强或返回增强</a:t>
            </a:r>
            <a:endParaRPr lang="zh-CN" altLang="en-US" dirty="0">
              <a:solidFill>
                <a:srgbClr val="FF0000"/>
              </a:solidFill>
              <a:latin typeface="华文中宋" pitchFamily="2" charset="-122"/>
              <a:ea typeface="华文中宋" pitchFamily="2" charset="-122"/>
            </a:endParaRPr>
          </a:p>
        </p:txBody>
      </p:sp>
      <p:sp>
        <p:nvSpPr>
          <p:cNvPr id="110595" name="Rectangle 3">
            <a:extLst>
              <a:ext uri="{FF2B5EF4-FFF2-40B4-BE49-F238E27FC236}">
                <a16:creationId xmlns:a16="http://schemas.microsoft.com/office/drawing/2014/main" id="{77AD38D6-BECC-48BD-88AC-BD1F9BEEBB84}"/>
              </a:ext>
            </a:extLst>
          </p:cNvPr>
          <p:cNvSpPr>
            <a:spLocks noGrp="1" noChangeArrowheads="1"/>
          </p:cNvSpPr>
          <p:nvPr/>
        </p:nvSpPr>
        <p:spPr bwMode="auto">
          <a:xfrm>
            <a:off x="1524000" y="551327"/>
            <a:ext cx="7994650" cy="435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pPr>
            <a:endParaRPr lang="en-US" altLang="zh-CN" sz="1200" b="1" dirty="0">
              <a:latin typeface="Arial" panose="020B0604020202020204" pitchFamily="34" charset="0"/>
            </a:endParaRPr>
          </a:p>
          <a:p>
            <a:pPr>
              <a:lnSpc>
                <a:spcPct val="150000"/>
              </a:lnSpc>
              <a:buFont typeface="Wingdings" panose="05000000000000000000" pitchFamily="2" charset="2"/>
              <a:buNone/>
            </a:pPr>
            <a:r>
              <a:rPr lang="en-US" altLang="zh-CN" sz="1400" b="1" dirty="0">
                <a:latin typeface="Arial" panose="020B0604020202020204" pitchFamily="34" charset="0"/>
              </a:rPr>
              <a:t>@Aspect  </a:t>
            </a:r>
            <a:r>
              <a:rPr lang="en-US" altLang="zh-CN" sz="1400" b="1" dirty="0">
                <a:solidFill>
                  <a:srgbClr val="00CC00"/>
                </a:solidFill>
                <a:latin typeface="Arial" panose="020B0604020202020204" pitchFamily="34" charset="0"/>
              </a:rPr>
              <a:t>//</a:t>
            </a:r>
            <a:r>
              <a:rPr lang="zh-CN" altLang="en-US" sz="1400" b="1" dirty="0">
                <a:solidFill>
                  <a:srgbClr val="00CC00"/>
                </a:solidFill>
                <a:latin typeface="Arial" panose="020B0604020202020204" pitchFamily="34" charset="0"/>
              </a:rPr>
              <a:t>声明切面</a:t>
            </a:r>
          </a:p>
          <a:p>
            <a:pPr>
              <a:lnSpc>
                <a:spcPct val="150000"/>
              </a:lnSpc>
              <a:buFont typeface="Wingdings" panose="05000000000000000000" pitchFamily="2" charset="2"/>
              <a:buNone/>
            </a:pPr>
            <a:r>
              <a:rPr lang="en-US" altLang="zh-CN" sz="1400" b="1" dirty="0">
                <a:latin typeface="Arial" panose="020B0604020202020204" pitchFamily="34" charset="0"/>
              </a:rPr>
              <a:t>public class Security {</a:t>
            </a:r>
          </a:p>
          <a:p>
            <a:pPr lvl="1">
              <a:lnSpc>
                <a:spcPct val="150000"/>
              </a:lnSpc>
              <a:buClr>
                <a:schemeClr val="accent1"/>
              </a:buClr>
              <a:buSzPct val="150000"/>
            </a:pPr>
            <a:r>
              <a:rPr lang="en-US" altLang="zh-CN" sz="1400" b="1" dirty="0">
                <a:solidFill>
                  <a:srgbClr val="00CC00"/>
                </a:solidFill>
                <a:latin typeface="Arial" panose="020B0604020202020204" pitchFamily="34" charset="0"/>
              </a:rPr>
              <a:t>/**</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@Pointcut </a:t>
            </a:r>
            <a:r>
              <a:rPr lang="zh-CN" altLang="en-US" sz="1400" b="1" dirty="0">
                <a:solidFill>
                  <a:srgbClr val="00CC00"/>
                </a:solidFill>
                <a:latin typeface="Arial" panose="020B0604020202020204" pitchFamily="34" charset="0"/>
              </a:rPr>
              <a:t>用于声明切入点 </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在</a:t>
            </a:r>
            <a:r>
              <a:rPr lang="en-US" altLang="zh-CN" sz="1400" b="1" dirty="0">
                <a:solidFill>
                  <a:srgbClr val="00CC00"/>
                </a:solidFill>
                <a:latin typeface="Arial" panose="020B0604020202020204" pitchFamily="34" charset="0"/>
              </a:rPr>
              <a:t>@AspectJ</a:t>
            </a:r>
            <a:r>
              <a:rPr lang="zh-CN" altLang="en-US" sz="1400" b="1" dirty="0">
                <a:solidFill>
                  <a:srgbClr val="00CC00"/>
                </a:solidFill>
                <a:latin typeface="Arial" panose="020B0604020202020204" pitchFamily="34" charset="0"/>
              </a:rPr>
              <a:t>注解风格的</a:t>
            </a:r>
            <a:r>
              <a:rPr lang="en-US" altLang="zh-CN" sz="1400" b="1" dirty="0">
                <a:solidFill>
                  <a:srgbClr val="00CC00"/>
                </a:solidFill>
                <a:latin typeface="Arial" panose="020B0604020202020204" pitchFamily="34" charset="0"/>
              </a:rPr>
              <a:t>AOP</a:t>
            </a:r>
            <a:r>
              <a:rPr lang="zh-CN" altLang="en-US" sz="1400" b="1" dirty="0">
                <a:solidFill>
                  <a:srgbClr val="00CC00"/>
                </a:solidFill>
                <a:latin typeface="Arial" panose="020B0604020202020204" pitchFamily="34" charset="0"/>
              </a:rPr>
              <a:t>中 一个切入点签名通过一个普通的方法来定义</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1 </a:t>
            </a:r>
            <a:r>
              <a:rPr lang="zh-CN" altLang="en-US" sz="1400" b="1" dirty="0">
                <a:solidFill>
                  <a:srgbClr val="00CC00"/>
                </a:solidFill>
                <a:latin typeface="Arial" panose="020B0604020202020204" pitchFamily="34" charset="0"/>
              </a:rPr>
              <a:t>作为切入点签名的方法必须返回</a:t>
            </a:r>
            <a:r>
              <a:rPr lang="en-US" altLang="zh-CN" sz="1400" b="1" dirty="0">
                <a:solidFill>
                  <a:srgbClr val="00CC00"/>
                </a:solidFill>
                <a:latin typeface="Arial" panose="020B0604020202020204" pitchFamily="34" charset="0"/>
              </a:rPr>
              <a:t>void</a:t>
            </a:r>
            <a:r>
              <a:rPr lang="zh-CN" altLang="en-US" sz="1400" b="1" dirty="0">
                <a:solidFill>
                  <a:srgbClr val="00CC00"/>
                </a:solidFill>
                <a:latin typeface="Arial" panose="020B0604020202020204" pitchFamily="34" charset="0"/>
              </a:rPr>
              <a:t>类型</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2 </a:t>
            </a:r>
            <a:r>
              <a:rPr lang="zh-CN" altLang="en-US" sz="1400" b="1" dirty="0">
                <a:solidFill>
                  <a:srgbClr val="00CC00"/>
                </a:solidFill>
                <a:latin typeface="Arial" panose="020B0604020202020204" pitchFamily="34" charset="0"/>
              </a:rPr>
              <a:t>方法没有参数 用</a:t>
            </a:r>
            <a:r>
              <a:rPr lang="en-US" altLang="zh-CN" sz="1400" b="1" dirty="0">
                <a:solidFill>
                  <a:srgbClr val="00CC00"/>
                </a:solidFill>
                <a:latin typeface="Arial" panose="020B0604020202020204" pitchFamily="34" charset="0"/>
              </a:rPr>
              <a:t>private</a:t>
            </a:r>
            <a:r>
              <a:rPr lang="zh-CN" altLang="en-US" sz="1400" b="1" dirty="0">
                <a:solidFill>
                  <a:srgbClr val="00CC00"/>
                </a:solidFill>
                <a:latin typeface="Arial" panose="020B0604020202020204" pitchFamily="34" charset="0"/>
              </a:rPr>
              <a:t>修饰</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3 </a:t>
            </a:r>
            <a:r>
              <a:rPr lang="zh-CN" altLang="en-US" sz="1400" b="1" dirty="0">
                <a:solidFill>
                  <a:srgbClr val="00CC00"/>
                </a:solidFill>
                <a:latin typeface="Arial" panose="020B0604020202020204" pitchFamily="34" charset="0"/>
              </a:rPr>
              <a:t>方法体为空</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切入点表达式的写法</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execution(</a:t>
            </a:r>
            <a:r>
              <a:rPr lang="zh-CN" altLang="en-US" sz="1400" b="1" dirty="0">
                <a:solidFill>
                  <a:srgbClr val="00CC00"/>
                </a:solidFill>
                <a:latin typeface="Arial" panose="020B0604020202020204" pitchFamily="34" charset="0"/>
              </a:rPr>
              <a:t>主要</a:t>
            </a:r>
            <a:r>
              <a:rPr lang="en-US" altLang="zh-CN" sz="1400" b="1" dirty="0">
                <a:solidFill>
                  <a:srgbClr val="00CC00"/>
                </a:solidFill>
                <a:latin typeface="Arial" panose="020B0604020202020204" pitchFamily="34" charset="0"/>
              </a:rPr>
              <a:t>)</a:t>
            </a:r>
            <a:r>
              <a:rPr lang="zh-CN" altLang="en-US" sz="1400" b="1" dirty="0">
                <a:solidFill>
                  <a:srgbClr val="00CC00"/>
                </a:solidFill>
                <a:latin typeface="Arial" panose="020B0604020202020204" pitchFamily="34" charset="0"/>
              </a:rPr>
              <a:t>表示匹配方法执行的连接点 </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例如</a:t>
            </a: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com.sysmaster.service</a:t>
            </a:r>
            <a:r>
              <a:rPr lang="en-US" altLang="zh-CN" sz="1400" b="1" dirty="0">
                <a:solidFill>
                  <a:srgbClr val="00CC00"/>
                </a:solidFill>
                <a:latin typeface="Arial" panose="020B0604020202020204" pitchFamily="34" charset="0"/>
              </a:rPr>
              <a:t>..*.save*(..))</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1 "*"  </a:t>
            </a:r>
            <a:r>
              <a:rPr lang="zh-CN" altLang="en-US" sz="1400" b="1" dirty="0">
                <a:solidFill>
                  <a:srgbClr val="00CC00"/>
                </a:solidFill>
                <a:latin typeface="Arial" panose="020B0604020202020204" pitchFamily="34" charset="0"/>
              </a:rPr>
              <a:t>表示方法的返回类型任意</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2 </a:t>
            </a:r>
            <a:r>
              <a:rPr lang="en-US" altLang="zh-CN" sz="1400" b="1" dirty="0" err="1">
                <a:solidFill>
                  <a:srgbClr val="00CC00"/>
                </a:solidFill>
                <a:latin typeface="Arial" panose="020B0604020202020204" pitchFamily="34" charset="0"/>
              </a:rPr>
              <a:t>com.sysmaster.service</a:t>
            </a:r>
            <a:r>
              <a:rPr lang="en-US" altLang="zh-CN" sz="1400" b="1" dirty="0">
                <a:solidFill>
                  <a:srgbClr val="00CC00"/>
                </a:solidFill>
                <a:latin typeface="Arial" panose="020B0604020202020204" pitchFamily="34" charset="0"/>
              </a:rPr>
              <a:t>..*  </a:t>
            </a:r>
            <a:r>
              <a:rPr lang="zh-CN" altLang="en-US" sz="1400" b="1" dirty="0">
                <a:solidFill>
                  <a:srgbClr val="00CC00"/>
                </a:solidFill>
                <a:latin typeface="Arial" panose="020B0604020202020204" pitchFamily="34" charset="0"/>
              </a:rPr>
              <a:t>表示</a:t>
            </a:r>
            <a:r>
              <a:rPr lang="en-US" altLang="zh-CN" sz="1400" b="1" dirty="0">
                <a:solidFill>
                  <a:srgbClr val="00CC00"/>
                </a:solidFill>
                <a:latin typeface="Arial" panose="020B0604020202020204" pitchFamily="34" charset="0"/>
              </a:rPr>
              <a:t>service</a:t>
            </a:r>
            <a:r>
              <a:rPr lang="zh-CN" altLang="en-US" sz="1400" b="1" dirty="0">
                <a:solidFill>
                  <a:srgbClr val="00CC00"/>
                </a:solidFill>
                <a:latin typeface="Arial" panose="020B0604020202020204" pitchFamily="34" charset="0"/>
              </a:rPr>
              <a:t>包及其子包中所有的类</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3 .save* </a:t>
            </a:r>
            <a:r>
              <a:rPr lang="zh-CN" altLang="en-US" sz="1400" b="1" dirty="0">
                <a:solidFill>
                  <a:srgbClr val="00CC00"/>
                </a:solidFill>
                <a:latin typeface="Arial" panose="020B0604020202020204" pitchFamily="34" charset="0"/>
              </a:rPr>
              <a:t>表示类中所有以</a:t>
            </a:r>
            <a:r>
              <a:rPr lang="en-US" altLang="zh-CN" sz="1400" b="1" dirty="0">
                <a:solidFill>
                  <a:srgbClr val="00CC00"/>
                </a:solidFill>
                <a:latin typeface="Arial" panose="020B0604020202020204" pitchFamily="34" charset="0"/>
              </a:rPr>
              <a:t>save</a:t>
            </a:r>
            <a:r>
              <a:rPr lang="zh-CN" altLang="en-US" sz="1400" b="1" dirty="0">
                <a:solidFill>
                  <a:srgbClr val="00CC00"/>
                </a:solidFill>
                <a:latin typeface="Arial" panose="020B0604020202020204" pitchFamily="34" charset="0"/>
              </a:rPr>
              <a:t>开头的方法</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4 (..) </a:t>
            </a:r>
            <a:r>
              <a:rPr lang="zh-CN" altLang="en-US" sz="1400" b="1" dirty="0">
                <a:solidFill>
                  <a:srgbClr val="00CC00"/>
                </a:solidFill>
                <a:latin typeface="Arial" panose="020B0604020202020204" pitchFamily="34" charset="0"/>
              </a:rPr>
              <a:t>表示参数是任意数量</a:t>
            </a:r>
          </a:p>
          <a:p>
            <a:pPr lvl="1">
              <a:lnSpc>
                <a:spcPct val="150000"/>
              </a:lnSpc>
              <a:buClr>
                <a:schemeClr val="accent1"/>
              </a:buClr>
              <a:buSzPct val="150000"/>
            </a:pPr>
            <a:r>
              <a:rPr lang="zh-CN" altLang="en-US" sz="1400" b="1" dirty="0">
                <a:solidFill>
                  <a:srgbClr val="00CC00"/>
                </a:solidFill>
                <a:latin typeface="Arial" panose="020B0604020202020204" pitchFamily="34" charset="0"/>
              </a:rPr>
              <a:t> *</a:t>
            </a:r>
            <a:r>
              <a:rPr lang="en-US" altLang="zh-CN" sz="1400" b="1" dirty="0">
                <a:solidFill>
                  <a:srgbClr val="00CC00"/>
                </a:solidFill>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@Pointcut("execution(* </a:t>
            </a:r>
            <a:r>
              <a:rPr lang="en-US" altLang="zh-CN" sz="1400" b="1" dirty="0" err="1">
                <a:latin typeface="Arial" panose="020B0604020202020204" pitchFamily="34" charset="0"/>
              </a:rPr>
              <a:t>com.sysmaster.service</a:t>
            </a:r>
            <a:r>
              <a:rPr lang="en-US" altLang="zh-CN" sz="1400" b="1" dirty="0">
                <a:latin typeface="Arial" panose="020B0604020202020204" pitchFamily="34" charset="0"/>
              </a:rPr>
              <a:t>..*.save*(..))")</a:t>
            </a:r>
          </a:p>
          <a:p>
            <a:pPr>
              <a:lnSpc>
                <a:spcPct val="150000"/>
              </a:lnSpc>
              <a:buFont typeface="Wingdings" panose="05000000000000000000" pitchFamily="2" charset="2"/>
              <a:buNone/>
            </a:pPr>
            <a:r>
              <a:rPr lang="en-US" altLang="zh-CN" sz="1400" b="1" dirty="0">
                <a:latin typeface="Arial" panose="020B0604020202020204" pitchFamily="34" charset="0"/>
              </a:rPr>
              <a:t>    private void </a:t>
            </a:r>
            <a:r>
              <a:rPr lang="en-US" altLang="zh-CN" sz="1400" b="1" dirty="0" err="1">
                <a:latin typeface="Arial" panose="020B0604020202020204" pitchFamily="34" charset="0"/>
              </a:rPr>
              <a:t>userManagerPointut</a:t>
            </a:r>
            <a:r>
              <a:rPr lang="en-US" altLang="zh-CN" sz="1400" b="1" dirty="0">
                <a:latin typeface="Arial" panose="020B0604020202020204" pitchFamily="34" charset="0"/>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a:extLst>
              <a:ext uri="{FF2B5EF4-FFF2-40B4-BE49-F238E27FC236}">
                <a16:creationId xmlns:a16="http://schemas.microsoft.com/office/drawing/2014/main" id="{9A3C17AF-91EF-45E3-83C1-C7B673C53EBB}"/>
              </a:ext>
            </a:extLst>
          </p:cNvPr>
          <p:cNvSpPr>
            <a:spLocks noGrp="1" noChangeArrowheads="1"/>
          </p:cNvSpPr>
          <p:nvPr>
            <p:ph type="title"/>
          </p:nvPr>
        </p:nvSpPr>
        <p:spPr>
          <a:xfrm>
            <a:off x="1524000" y="115889"/>
            <a:ext cx="9144000" cy="720725"/>
          </a:xfrm>
        </p:spPr>
        <p:txBody>
          <a:bodyPr>
            <a:normAutofit/>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latin typeface="华文中宋" pitchFamily="2" charset="-122"/>
                <a:ea typeface="华文中宋" pitchFamily="2" charset="-122"/>
              </a:rPr>
              <a:t>后置增强或返回增强</a:t>
            </a:r>
          </a:p>
        </p:txBody>
      </p:sp>
      <p:sp>
        <p:nvSpPr>
          <p:cNvPr id="111619" name="Rectangle 3">
            <a:extLst>
              <a:ext uri="{FF2B5EF4-FFF2-40B4-BE49-F238E27FC236}">
                <a16:creationId xmlns:a16="http://schemas.microsoft.com/office/drawing/2014/main" id="{DC915B1E-0D73-417D-87C0-F08E8700BF01}"/>
              </a:ext>
            </a:extLst>
          </p:cNvPr>
          <p:cNvSpPr>
            <a:spLocks noGrp="1" noChangeArrowheads="1"/>
          </p:cNvSpPr>
          <p:nvPr/>
        </p:nvSpPr>
        <p:spPr bwMode="auto">
          <a:xfrm>
            <a:off x="2025651" y="1341439"/>
            <a:ext cx="8031163" cy="435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pPr>
            <a:endParaRPr lang="en-US" altLang="zh-CN" sz="1200" b="1" dirty="0">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AfterReturning</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后置</a:t>
            </a:r>
            <a:r>
              <a:rPr lang="zh-CN" altLang="en-US" sz="1400" b="1" dirty="0">
                <a:solidFill>
                  <a:srgbClr val="00CC00"/>
                </a:solidFill>
                <a:latin typeface="Arial" panose="020B0604020202020204" pitchFamily="34" charset="0"/>
              </a:rPr>
              <a:t>增强</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在一个匹配的方法返回的时候执行</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   * pointcut </a:t>
            </a:r>
            <a:r>
              <a:rPr lang="en-US" altLang="zh-CN" sz="1400" b="1" dirty="0" err="1">
                <a:solidFill>
                  <a:srgbClr val="00CC00"/>
                </a:solidFill>
                <a:latin typeface="Arial" panose="020B0604020202020204" pitchFamily="34" charset="0"/>
              </a:rPr>
              <a:t>使用的切入点</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   * returning </a:t>
            </a:r>
            <a:r>
              <a:rPr lang="en-US" altLang="zh-CN" sz="1400" b="1" dirty="0" err="1">
                <a:solidFill>
                  <a:srgbClr val="00CC00"/>
                </a:solidFill>
                <a:latin typeface="Arial" panose="020B0604020202020204" pitchFamily="34" charset="0"/>
              </a:rPr>
              <a:t>表示方法的返回值.方法无返回值时,返回值为空</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   </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userManagerPointut</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表示前面定义的切入点</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AfterReturning</a:t>
            </a:r>
            <a:r>
              <a:rPr lang="en-US" altLang="zh-CN" sz="1400" b="1" dirty="0">
                <a:latin typeface="Arial" panose="020B0604020202020204" pitchFamily="34" charset="0"/>
              </a:rPr>
              <a:t>(pointcut="</a:t>
            </a:r>
            <a:r>
              <a:rPr lang="en-US" altLang="zh-CN" sz="1400" b="1" dirty="0" err="1">
                <a:latin typeface="Arial" panose="020B0604020202020204" pitchFamily="34" charset="0"/>
              </a:rPr>
              <a:t>userManagerPointut</a:t>
            </a:r>
            <a:r>
              <a:rPr lang="en-US" altLang="zh-CN" sz="1400" b="1" dirty="0">
                <a:latin typeface="Arial" panose="020B0604020202020204" pitchFamily="34" charset="0"/>
              </a:rPr>
              <a:t>()",returning="value")</a:t>
            </a:r>
          </a:p>
          <a:p>
            <a:pPr>
              <a:lnSpc>
                <a:spcPct val="150000"/>
              </a:lnSpc>
              <a:buFont typeface="Wingdings" panose="05000000000000000000" pitchFamily="2" charset="2"/>
              <a:buNone/>
            </a:pPr>
            <a:r>
              <a:rPr lang="en-US" altLang="zh-CN" sz="1400" b="1" dirty="0">
                <a:latin typeface="Arial" panose="020B0604020202020204" pitchFamily="34" charset="0"/>
              </a:rPr>
              <a:t>       public void </a:t>
            </a:r>
            <a:r>
              <a:rPr lang="en-US" altLang="zh-CN" sz="1400" b="1" dirty="0" err="1">
                <a:latin typeface="Arial" panose="020B0604020202020204" pitchFamily="34" charset="0"/>
              </a:rPr>
              <a:t>checkSecurity</a:t>
            </a:r>
            <a:r>
              <a:rPr lang="en-US" altLang="zh-CN" sz="1400" b="1" dirty="0">
                <a:latin typeface="Arial" panose="020B0604020202020204" pitchFamily="34" charset="0"/>
              </a:rPr>
              <a:t>(String value){</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进行安全检查</a:t>
            </a:r>
            <a:r>
              <a:rPr lang="en-US" altLang="zh-CN" sz="1400" b="1" dirty="0">
                <a:latin typeface="Arial" panose="020B0604020202020204" pitchFamily="34" charset="0"/>
              </a:rPr>
              <a:t> "+value);</a:t>
            </a:r>
          </a:p>
          <a:p>
            <a:pPr>
              <a:lnSpc>
                <a:spcPct val="150000"/>
              </a:lnSpc>
              <a:buFont typeface="Wingdings" panose="05000000000000000000" pitchFamily="2" charset="2"/>
              <a:buNone/>
            </a:pP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a:t>
            </a:r>
            <a:r>
              <a:rPr lang="zh-CN" altLang="en-US" sz="1400" b="1" dirty="0">
                <a:latin typeface="Arial" panose="020B0604020202020204" pitchFamily="34" charset="0"/>
              </a:rPr>
              <a:t> </a:t>
            </a:r>
            <a:endParaRPr lang="en-US" altLang="zh-CN" sz="1400" b="1" dirty="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a:extLst>
              <a:ext uri="{FF2B5EF4-FFF2-40B4-BE49-F238E27FC236}">
                <a16:creationId xmlns:a16="http://schemas.microsoft.com/office/drawing/2014/main" id="{34AF79E6-1C66-4CE3-9222-31BCADC1AB44}"/>
              </a:ext>
            </a:extLst>
          </p:cNvPr>
          <p:cNvSpPr>
            <a:spLocks noGrp="1" noChangeArrowheads="1"/>
          </p:cNvSpPr>
          <p:nvPr>
            <p:ph type="title"/>
          </p:nvPr>
        </p:nvSpPr>
        <p:spPr>
          <a:xfrm>
            <a:off x="2208213" y="722313"/>
            <a:ext cx="8229600" cy="857250"/>
          </a:xfrm>
        </p:spPr>
        <p:txBody>
          <a:bodyPr/>
          <a:lstStyle/>
          <a:p>
            <a:pPr>
              <a:defRPr/>
            </a:pPr>
            <a:r>
              <a:rPr lang="zh-CN" altLang="en-US" dirty="0">
                <a:latin typeface="Arial Unicode MS" pitchFamily="34" charset="-122"/>
                <a:ea typeface="Arial Unicode MS" pitchFamily="34" charset="-122"/>
                <a:cs typeface="Arial Unicode MS" pitchFamily="34" charset="-122"/>
              </a:rPr>
              <a:t>后置（返回）增强</a:t>
            </a:r>
          </a:p>
        </p:txBody>
      </p:sp>
      <p:sp>
        <p:nvSpPr>
          <p:cNvPr id="112643" name="Rectangle 3">
            <a:extLst>
              <a:ext uri="{FF2B5EF4-FFF2-40B4-BE49-F238E27FC236}">
                <a16:creationId xmlns:a16="http://schemas.microsoft.com/office/drawing/2014/main" id="{A8BFAC35-D472-4EA3-92A8-3C73BBAA097C}"/>
              </a:ext>
            </a:extLst>
          </p:cNvPr>
          <p:cNvSpPr>
            <a:spLocks noGrp="1" noChangeArrowheads="1"/>
          </p:cNvSpPr>
          <p:nvPr>
            <p:ph sz="quarter" idx="1"/>
          </p:nvPr>
        </p:nvSpPr>
        <p:spPr>
          <a:xfrm>
            <a:off x="2279650" y="1665288"/>
            <a:ext cx="7696200" cy="1250950"/>
          </a:xfrm>
        </p:spPr>
        <p:txBody>
          <a:bodyPr/>
          <a:lstStyle/>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无论连接点是正常返回还是抛出异常</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after</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增强都会执行</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如果只想在连接点返回的时候记录日志</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应使用</a:t>
            </a:r>
            <a:r>
              <a:rPr lang="en-US" altLang="zh-CN" sz="2400" b="1" dirty="0" err="1">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AfterReturning</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返回增强代替</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after</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增强</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t>
            </a:r>
          </a:p>
        </p:txBody>
      </p:sp>
      <p:pic>
        <p:nvPicPr>
          <p:cNvPr id="112644" name="Picture 4">
            <a:extLst>
              <a:ext uri="{FF2B5EF4-FFF2-40B4-BE49-F238E27FC236}">
                <a16:creationId xmlns:a16="http://schemas.microsoft.com/office/drawing/2014/main" id="{AB0ED813-1ED6-49D7-9A6A-564E1CDB6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1" y="2941638"/>
            <a:ext cx="7345363"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FCB61727-D81A-45A1-AFE0-BE2A4A3CDB31}"/>
              </a:ext>
            </a:extLst>
          </p:cNvPr>
          <p:cNvSpPr>
            <a:spLocks noGrp="1" noChangeArrowheads="1"/>
          </p:cNvSpPr>
          <p:nvPr>
            <p:ph type="title"/>
          </p:nvPr>
        </p:nvSpPr>
        <p:spPr>
          <a:xfrm>
            <a:off x="2063750" y="695325"/>
            <a:ext cx="8229600" cy="857250"/>
          </a:xfrm>
        </p:spPr>
        <p:txBody>
          <a:bodyPr>
            <a:normAutofit fontScale="90000"/>
          </a:bodyPr>
          <a:lstStyle/>
          <a:p>
            <a:pPr>
              <a:defRPr/>
            </a:pPr>
            <a:r>
              <a:rPr lang="zh-CN" altLang="en-US" dirty="0">
                <a:latin typeface="Arial Unicode MS" pitchFamily="34" charset="-122"/>
                <a:ea typeface="Arial Unicode MS" pitchFamily="34" charset="-122"/>
                <a:cs typeface="Arial Unicode MS" pitchFamily="34" charset="-122"/>
              </a:rPr>
              <a:t>在返回增强中访问连接点的返回值</a:t>
            </a:r>
          </a:p>
        </p:txBody>
      </p:sp>
      <p:sp>
        <p:nvSpPr>
          <p:cNvPr id="113667" name="Rectangle 3">
            <a:extLst>
              <a:ext uri="{FF2B5EF4-FFF2-40B4-BE49-F238E27FC236}">
                <a16:creationId xmlns:a16="http://schemas.microsoft.com/office/drawing/2014/main" id="{D3EF1A3B-080E-4BCE-AD79-08B2BF72FF26}"/>
              </a:ext>
            </a:extLst>
          </p:cNvPr>
          <p:cNvSpPr>
            <a:spLocks noGrp="1" noChangeArrowheads="1"/>
          </p:cNvSpPr>
          <p:nvPr>
            <p:ph sz="quarter" idx="1"/>
          </p:nvPr>
        </p:nvSpPr>
        <p:spPr>
          <a:xfrm>
            <a:off x="2135188" y="1628775"/>
            <a:ext cx="7993062" cy="2566988"/>
          </a:xfrm>
        </p:spPr>
        <p:txBody>
          <a:bodyPr/>
          <a:lstStyle/>
          <a:p>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在返回增强中</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只要将 </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returning</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属性添加到 </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@AfterReturning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注解中</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就可以访问连接点的返回值</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该属性的值即为用来传入返回值的参数名称</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p>
          <a:p>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必须在增强方法的签名中添加一个</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同名参数</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在运行时</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Spring AOP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会通过这个参数传递返回值</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原始的切点表达式需要出现在 </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pointcut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属性中</a:t>
            </a:r>
          </a:p>
        </p:txBody>
      </p:sp>
      <p:pic>
        <p:nvPicPr>
          <p:cNvPr id="113668" name="Picture 4">
            <a:extLst>
              <a:ext uri="{FF2B5EF4-FFF2-40B4-BE49-F238E27FC236}">
                <a16:creationId xmlns:a16="http://schemas.microsoft.com/office/drawing/2014/main" id="{85687BFD-368A-4655-B8B7-9F0498B9F4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839" y="4476751"/>
            <a:ext cx="7273925"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a:extLst>
              <a:ext uri="{FF2B5EF4-FFF2-40B4-BE49-F238E27FC236}">
                <a16:creationId xmlns:a16="http://schemas.microsoft.com/office/drawing/2014/main" id="{B6294EDA-C2DD-4812-87A8-2E609DA722A8}"/>
              </a:ext>
            </a:extLst>
          </p:cNvPr>
          <p:cNvSpPr>
            <a:spLocks noGrp="1" noChangeArrowheads="1"/>
          </p:cNvSpPr>
          <p:nvPr>
            <p:ph type="title"/>
          </p:nvPr>
        </p:nvSpPr>
        <p:spPr>
          <a:xfrm>
            <a:off x="1774825" y="692150"/>
            <a:ext cx="8229600" cy="857250"/>
          </a:xfrm>
        </p:spPr>
        <p:txBody>
          <a:bodyPr/>
          <a:lstStyle/>
          <a:p>
            <a:pPr>
              <a:defRPr/>
            </a:pPr>
            <a:r>
              <a:rPr lang="zh-CN" altLang="en-US" dirty="0">
                <a:latin typeface="Arial Unicode MS" pitchFamily="34" charset="-122"/>
                <a:ea typeface="Arial Unicode MS" pitchFamily="34" charset="-122"/>
                <a:cs typeface="Arial Unicode MS" pitchFamily="34" charset="-122"/>
              </a:rPr>
              <a:t>异常增强</a:t>
            </a:r>
          </a:p>
        </p:txBody>
      </p:sp>
      <p:sp>
        <p:nvSpPr>
          <p:cNvPr id="114691" name="Rectangle 3">
            <a:extLst>
              <a:ext uri="{FF2B5EF4-FFF2-40B4-BE49-F238E27FC236}">
                <a16:creationId xmlns:a16="http://schemas.microsoft.com/office/drawing/2014/main" id="{CA1CF587-BB89-4314-8371-6A3B3AE7F684}"/>
              </a:ext>
            </a:extLst>
          </p:cNvPr>
          <p:cNvSpPr>
            <a:spLocks noGrp="1" noChangeArrowheads="1"/>
          </p:cNvSpPr>
          <p:nvPr>
            <p:ph sz="quarter" idx="1"/>
          </p:nvPr>
        </p:nvSpPr>
        <p:spPr>
          <a:xfrm>
            <a:off x="1847851" y="1628775"/>
            <a:ext cx="8207375" cy="2617788"/>
          </a:xfrm>
        </p:spPr>
        <p:txBody>
          <a:bodyPr>
            <a:normAutofit lnSpcReduction="10000"/>
          </a:bodyPr>
          <a:lstStyle/>
          <a:p>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只在连接点抛出异常时才执行异常增强</a:t>
            </a:r>
          </a:p>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将 </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throwing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属性添加到 </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@AfterThrowing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注解中</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也可以访问连接点抛出的异常</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Throwable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是所有错误和异常类的超类</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所以在异常增强方法可以捕获到任何错误和异常</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如果只对某种特殊的异常类型感兴趣</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可以将参数声明为其他异常的参数类型</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然后增强就只在抛出这个类型及其子类的异常时才被执行</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t>
            </a:r>
          </a:p>
        </p:txBody>
      </p:sp>
      <p:pic>
        <p:nvPicPr>
          <p:cNvPr id="114692" name="Picture 4">
            <a:extLst>
              <a:ext uri="{FF2B5EF4-FFF2-40B4-BE49-F238E27FC236}">
                <a16:creationId xmlns:a16="http://schemas.microsoft.com/office/drawing/2014/main" id="{0A380AB9-5A9E-4A0E-A269-D6A757715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1" y="4548188"/>
            <a:ext cx="755967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a:extLst>
              <a:ext uri="{FF2B5EF4-FFF2-40B4-BE49-F238E27FC236}">
                <a16:creationId xmlns:a16="http://schemas.microsoft.com/office/drawing/2014/main" id="{3879CE5A-F815-4760-AF1E-FFA5AFAF02A6}"/>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异常增强</a:t>
            </a:r>
            <a:endParaRPr lang="zh-CN" altLang="en-US" dirty="0">
              <a:latin typeface="华文中宋" pitchFamily="2" charset="-122"/>
              <a:ea typeface="华文中宋" pitchFamily="2" charset="-122"/>
            </a:endParaRPr>
          </a:p>
        </p:txBody>
      </p:sp>
      <p:sp>
        <p:nvSpPr>
          <p:cNvPr id="115715" name="Rectangle 3">
            <a:extLst>
              <a:ext uri="{FF2B5EF4-FFF2-40B4-BE49-F238E27FC236}">
                <a16:creationId xmlns:a16="http://schemas.microsoft.com/office/drawing/2014/main" id="{2E797392-EB96-4850-B2C9-6FF4073B4A6D}"/>
              </a:ext>
            </a:extLst>
          </p:cNvPr>
          <p:cNvSpPr>
            <a:spLocks noGrp="1" noChangeArrowheads="1"/>
          </p:cNvSpPr>
          <p:nvPr/>
        </p:nvSpPr>
        <p:spPr bwMode="auto">
          <a:xfrm>
            <a:off x="1992314" y="1412875"/>
            <a:ext cx="7704137" cy="435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pPr>
            <a:endParaRPr lang="en-US" altLang="zh-CN" sz="1200" b="1">
              <a:latin typeface="Arial" panose="020B0604020202020204" pitchFamily="34" charset="0"/>
            </a:endParaRPr>
          </a:p>
          <a:p>
            <a:pPr>
              <a:lnSpc>
                <a:spcPct val="80000"/>
              </a:lnSpc>
              <a:buFont typeface="Wingdings" panose="05000000000000000000" pitchFamily="2" charset="2"/>
              <a:buNone/>
            </a:pPr>
            <a:r>
              <a:rPr lang="en-US" altLang="zh-CN" sz="1400" b="1">
                <a:latin typeface="Arial" panose="020B0604020202020204" pitchFamily="34" charset="0"/>
              </a:rPr>
              <a:t>@Aspect  </a:t>
            </a:r>
            <a:r>
              <a:rPr lang="en-US" altLang="zh-CN" sz="1400" b="1">
                <a:solidFill>
                  <a:srgbClr val="00CC00"/>
                </a:solidFill>
                <a:latin typeface="Arial" panose="020B0604020202020204" pitchFamily="34" charset="0"/>
              </a:rPr>
              <a:t>//</a:t>
            </a:r>
            <a:r>
              <a:rPr lang="zh-CN" altLang="en-US" sz="1400" b="1">
                <a:solidFill>
                  <a:srgbClr val="00CC00"/>
                </a:solidFill>
                <a:latin typeface="Arial" panose="020B0604020202020204" pitchFamily="34" charset="0"/>
              </a:rPr>
              <a:t>声明切面</a:t>
            </a:r>
          </a:p>
          <a:p>
            <a:pPr>
              <a:lnSpc>
                <a:spcPct val="80000"/>
              </a:lnSpc>
              <a:buFont typeface="Wingdings" panose="05000000000000000000" pitchFamily="2" charset="2"/>
              <a:buNone/>
            </a:pPr>
            <a:r>
              <a:rPr lang="en-US" altLang="zh-CN" sz="1400" b="1">
                <a:latin typeface="Arial" panose="020B0604020202020204" pitchFamily="34" charset="0"/>
              </a:rPr>
              <a:t>public class Security {</a:t>
            </a:r>
          </a:p>
          <a:p>
            <a:pPr lvl="1">
              <a:lnSpc>
                <a:spcPct val="80000"/>
              </a:lnSpc>
              <a:buClr>
                <a:schemeClr val="accent1"/>
              </a:buClr>
              <a:buSzPct val="150000"/>
            </a:pPr>
            <a:r>
              <a:rPr lang="en-US" altLang="zh-CN" sz="1400" b="1">
                <a:solidFill>
                  <a:srgbClr val="00CC00"/>
                </a:solidFill>
                <a:latin typeface="Arial" panose="020B0604020202020204" pitchFamily="34" charset="0"/>
              </a:rPr>
              <a:t>/**</a:t>
            </a:r>
          </a:p>
          <a:p>
            <a:pPr lvl="1">
              <a:lnSpc>
                <a:spcPct val="80000"/>
              </a:lnSpc>
              <a:buClr>
                <a:schemeClr val="accent1"/>
              </a:buClr>
              <a:buSzPct val="150000"/>
            </a:pPr>
            <a:r>
              <a:rPr lang="en-US" altLang="zh-CN" sz="1400" b="1">
                <a:solidFill>
                  <a:srgbClr val="00CC00"/>
                </a:solidFill>
                <a:latin typeface="Arial" panose="020B0604020202020204" pitchFamily="34" charset="0"/>
              </a:rPr>
              <a:t> *  @Pointcut </a:t>
            </a:r>
            <a:r>
              <a:rPr lang="zh-CN" altLang="en-US" sz="1400" b="1">
                <a:solidFill>
                  <a:srgbClr val="00CC00"/>
                </a:solidFill>
                <a:latin typeface="Arial" panose="020B0604020202020204" pitchFamily="34" charset="0"/>
              </a:rPr>
              <a:t>用于声明切入点 </a:t>
            </a:r>
          </a:p>
          <a:p>
            <a:pPr lvl="1">
              <a:lnSpc>
                <a:spcPct val="80000"/>
              </a:lnSpc>
              <a:buClr>
                <a:schemeClr val="accent1"/>
              </a:buClr>
              <a:buSzPct val="150000"/>
            </a:pPr>
            <a:r>
              <a:rPr lang="zh-CN" altLang="en-US" sz="1400" b="1">
                <a:solidFill>
                  <a:srgbClr val="00CC00"/>
                </a:solidFill>
                <a:latin typeface="Arial" panose="020B0604020202020204" pitchFamily="34" charset="0"/>
              </a:rPr>
              <a:t> *  在</a:t>
            </a:r>
            <a:r>
              <a:rPr lang="en-US" altLang="zh-CN" sz="1400" b="1">
                <a:solidFill>
                  <a:srgbClr val="00CC00"/>
                </a:solidFill>
                <a:latin typeface="Arial" panose="020B0604020202020204" pitchFamily="34" charset="0"/>
              </a:rPr>
              <a:t>@AspectJ</a:t>
            </a:r>
            <a:r>
              <a:rPr lang="zh-CN" altLang="en-US" sz="1400" b="1">
                <a:solidFill>
                  <a:srgbClr val="00CC00"/>
                </a:solidFill>
                <a:latin typeface="Arial" panose="020B0604020202020204" pitchFamily="34" charset="0"/>
              </a:rPr>
              <a:t>注解风格的</a:t>
            </a:r>
            <a:r>
              <a:rPr lang="en-US" altLang="zh-CN" sz="1400" b="1">
                <a:solidFill>
                  <a:srgbClr val="00CC00"/>
                </a:solidFill>
                <a:latin typeface="Arial" panose="020B0604020202020204" pitchFamily="34" charset="0"/>
              </a:rPr>
              <a:t>AOP</a:t>
            </a:r>
            <a:r>
              <a:rPr lang="zh-CN" altLang="en-US" sz="1400" b="1">
                <a:solidFill>
                  <a:srgbClr val="00CC00"/>
                </a:solidFill>
                <a:latin typeface="Arial" panose="020B0604020202020204" pitchFamily="34" charset="0"/>
              </a:rPr>
              <a:t>中 一个切入点签名通过一个普通的方法来定义</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1 </a:t>
            </a:r>
            <a:r>
              <a:rPr lang="zh-CN" altLang="en-US" sz="1400" b="1">
                <a:solidFill>
                  <a:srgbClr val="00CC00"/>
                </a:solidFill>
                <a:latin typeface="Arial" panose="020B0604020202020204" pitchFamily="34" charset="0"/>
              </a:rPr>
              <a:t>作为切入点签名的方法必须返回</a:t>
            </a:r>
            <a:r>
              <a:rPr lang="en-US" altLang="zh-CN" sz="1400" b="1">
                <a:solidFill>
                  <a:srgbClr val="00CC00"/>
                </a:solidFill>
                <a:latin typeface="Arial" panose="020B0604020202020204" pitchFamily="34" charset="0"/>
              </a:rPr>
              <a:t>void</a:t>
            </a:r>
            <a:r>
              <a:rPr lang="zh-CN" altLang="en-US" sz="1400" b="1">
                <a:solidFill>
                  <a:srgbClr val="00CC00"/>
                </a:solidFill>
                <a:latin typeface="Arial" panose="020B0604020202020204" pitchFamily="34" charset="0"/>
              </a:rPr>
              <a:t>类型</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2 </a:t>
            </a:r>
            <a:r>
              <a:rPr lang="zh-CN" altLang="en-US" sz="1400" b="1">
                <a:solidFill>
                  <a:srgbClr val="00CC00"/>
                </a:solidFill>
                <a:latin typeface="Arial" panose="020B0604020202020204" pitchFamily="34" charset="0"/>
              </a:rPr>
              <a:t>方法没有参数 用</a:t>
            </a:r>
            <a:r>
              <a:rPr lang="en-US" altLang="zh-CN" sz="1400" b="1">
                <a:solidFill>
                  <a:srgbClr val="00CC00"/>
                </a:solidFill>
                <a:latin typeface="Arial" panose="020B0604020202020204" pitchFamily="34" charset="0"/>
              </a:rPr>
              <a:t>private</a:t>
            </a:r>
            <a:r>
              <a:rPr lang="zh-CN" altLang="en-US" sz="1400" b="1">
                <a:solidFill>
                  <a:srgbClr val="00CC00"/>
                </a:solidFill>
                <a:latin typeface="Arial" panose="020B0604020202020204" pitchFamily="34" charset="0"/>
              </a:rPr>
              <a:t>修饰</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3 </a:t>
            </a:r>
            <a:r>
              <a:rPr lang="zh-CN" altLang="en-US" sz="1400" b="1">
                <a:solidFill>
                  <a:srgbClr val="00CC00"/>
                </a:solidFill>
                <a:latin typeface="Arial" panose="020B0604020202020204" pitchFamily="34" charset="0"/>
              </a:rPr>
              <a:t>方法体为空</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p>
          <a:p>
            <a:pPr lvl="1">
              <a:lnSpc>
                <a:spcPct val="80000"/>
              </a:lnSpc>
              <a:buClr>
                <a:schemeClr val="accent1"/>
              </a:buClr>
              <a:buSzPct val="150000"/>
            </a:pPr>
            <a:r>
              <a:rPr lang="zh-CN" altLang="en-US" sz="1400" b="1">
                <a:solidFill>
                  <a:srgbClr val="00CC00"/>
                </a:solidFill>
                <a:latin typeface="Arial" panose="020B0604020202020204" pitchFamily="34" charset="0"/>
              </a:rPr>
              <a:t> *    切入点表达式的写法</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execution(</a:t>
            </a:r>
            <a:r>
              <a:rPr lang="zh-CN" altLang="en-US" sz="1400" b="1">
                <a:solidFill>
                  <a:srgbClr val="00CC00"/>
                </a:solidFill>
                <a:latin typeface="Arial" panose="020B0604020202020204" pitchFamily="34" charset="0"/>
              </a:rPr>
              <a:t>主要</a:t>
            </a:r>
            <a:r>
              <a:rPr lang="en-US" altLang="zh-CN" sz="1400" b="1">
                <a:solidFill>
                  <a:srgbClr val="00CC00"/>
                </a:solidFill>
                <a:latin typeface="Arial" panose="020B0604020202020204" pitchFamily="34" charset="0"/>
              </a:rPr>
              <a:t>)</a:t>
            </a:r>
            <a:r>
              <a:rPr lang="zh-CN" altLang="en-US" sz="1400" b="1">
                <a:solidFill>
                  <a:srgbClr val="00CC00"/>
                </a:solidFill>
                <a:latin typeface="Arial" panose="020B0604020202020204" pitchFamily="34" charset="0"/>
              </a:rPr>
              <a:t>表示匹配方法执行的连接点 </a:t>
            </a:r>
          </a:p>
          <a:p>
            <a:pPr lvl="1">
              <a:lnSpc>
                <a:spcPct val="80000"/>
              </a:lnSpc>
              <a:buClr>
                <a:schemeClr val="accent1"/>
              </a:buClr>
              <a:buSzPct val="150000"/>
            </a:pPr>
            <a:r>
              <a:rPr lang="zh-CN" altLang="en-US" sz="1400" b="1">
                <a:solidFill>
                  <a:srgbClr val="00CC00"/>
                </a:solidFill>
                <a:latin typeface="Arial" panose="020B0604020202020204" pitchFamily="34" charset="0"/>
              </a:rPr>
              <a:t> *    例如</a:t>
            </a:r>
            <a:r>
              <a:rPr lang="en-US" altLang="zh-CN" sz="1400" b="1">
                <a:solidFill>
                  <a:srgbClr val="00CC00"/>
                </a:solidFill>
                <a:latin typeface="Arial" panose="020B0604020202020204" pitchFamily="34" charset="0"/>
              </a:rPr>
              <a:t>: * com.sysmaster.service..*.save*(..))</a:t>
            </a:r>
          </a:p>
          <a:p>
            <a:pPr lvl="1">
              <a:lnSpc>
                <a:spcPct val="80000"/>
              </a:lnSpc>
              <a:buClr>
                <a:schemeClr val="accent1"/>
              </a:buClr>
              <a:buSzPct val="150000"/>
            </a:pPr>
            <a:r>
              <a:rPr lang="en-US" altLang="zh-CN" sz="1400" b="1">
                <a:solidFill>
                  <a:srgbClr val="00CC00"/>
                </a:solidFill>
                <a:latin typeface="Arial" panose="020B0604020202020204" pitchFamily="34" charset="0"/>
              </a:rPr>
              <a:t> *         1 "*"  </a:t>
            </a:r>
            <a:r>
              <a:rPr lang="zh-CN" altLang="en-US" sz="1400" b="1">
                <a:solidFill>
                  <a:srgbClr val="00CC00"/>
                </a:solidFill>
                <a:latin typeface="Arial" panose="020B0604020202020204" pitchFamily="34" charset="0"/>
              </a:rPr>
              <a:t>表示方法的返回类型任意</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2 com.sysmaster.service..*  </a:t>
            </a:r>
            <a:r>
              <a:rPr lang="zh-CN" altLang="en-US" sz="1400" b="1">
                <a:solidFill>
                  <a:srgbClr val="00CC00"/>
                </a:solidFill>
                <a:latin typeface="Arial" panose="020B0604020202020204" pitchFamily="34" charset="0"/>
              </a:rPr>
              <a:t>表示</a:t>
            </a:r>
            <a:r>
              <a:rPr lang="en-US" altLang="zh-CN" sz="1400" b="1">
                <a:solidFill>
                  <a:srgbClr val="00CC00"/>
                </a:solidFill>
                <a:latin typeface="Arial" panose="020B0604020202020204" pitchFamily="34" charset="0"/>
              </a:rPr>
              <a:t>service</a:t>
            </a:r>
            <a:r>
              <a:rPr lang="zh-CN" altLang="en-US" sz="1400" b="1">
                <a:solidFill>
                  <a:srgbClr val="00CC00"/>
                </a:solidFill>
                <a:latin typeface="Arial" panose="020B0604020202020204" pitchFamily="34" charset="0"/>
              </a:rPr>
              <a:t>包及其子包中所有的类</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3 .save* </a:t>
            </a:r>
            <a:r>
              <a:rPr lang="zh-CN" altLang="en-US" sz="1400" b="1">
                <a:solidFill>
                  <a:srgbClr val="00CC00"/>
                </a:solidFill>
                <a:latin typeface="Arial" panose="020B0604020202020204" pitchFamily="34" charset="0"/>
              </a:rPr>
              <a:t>表示类中所有以</a:t>
            </a:r>
            <a:r>
              <a:rPr lang="en-US" altLang="zh-CN" sz="1400" b="1">
                <a:solidFill>
                  <a:srgbClr val="00CC00"/>
                </a:solidFill>
                <a:latin typeface="Arial" panose="020B0604020202020204" pitchFamily="34" charset="0"/>
              </a:rPr>
              <a:t>save</a:t>
            </a:r>
            <a:r>
              <a:rPr lang="zh-CN" altLang="en-US" sz="1400" b="1">
                <a:solidFill>
                  <a:srgbClr val="00CC00"/>
                </a:solidFill>
                <a:latin typeface="Arial" panose="020B0604020202020204" pitchFamily="34" charset="0"/>
              </a:rPr>
              <a:t>开头的方法</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4 (..) </a:t>
            </a:r>
            <a:r>
              <a:rPr lang="zh-CN" altLang="en-US" sz="1400" b="1">
                <a:solidFill>
                  <a:srgbClr val="00CC00"/>
                </a:solidFill>
                <a:latin typeface="Arial" panose="020B0604020202020204" pitchFamily="34" charset="0"/>
              </a:rPr>
              <a:t>表示参数是任意数量</a:t>
            </a:r>
          </a:p>
          <a:p>
            <a:pPr lvl="1">
              <a:lnSpc>
                <a:spcPct val="80000"/>
              </a:lnSpc>
              <a:buClr>
                <a:schemeClr val="accent1"/>
              </a:buClr>
              <a:buSzPct val="150000"/>
            </a:pPr>
            <a:r>
              <a:rPr lang="zh-CN" altLang="en-US" sz="1400" b="1">
                <a:solidFill>
                  <a:srgbClr val="00CC00"/>
                </a:solidFill>
                <a:latin typeface="Arial" panose="020B0604020202020204" pitchFamily="34" charset="0"/>
              </a:rPr>
              <a:t> *</a:t>
            </a:r>
            <a:r>
              <a:rPr lang="en-US" altLang="zh-CN" sz="1400" b="1">
                <a:solidFill>
                  <a:srgbClr val="00CC00"/>
                </a:solidFill>
                <a:latin typeface="Arial" panose="020B0604020202020204" pitchFamily="34" charset="0"/>
              </a:rPr>
              <a:t>/</a:t>
            </a:r>
          </a:p>
          <a:p>
            <a:pPr>
              <a:lnSpc>
                <a:spcPct val="80000"/>
              </a:lnSpc>
              <a:buFont typeface="Wingdings" panose="05000000000000000000" pitchFamily="2" charset="2"/>
              <a:buNone/>
            </a:pPr>
            <a:r>
              <a:rPr lang="en-US" altLang="zh-CN" sz="1400" b="1">
                <a:latin typeface="Arial" panose="020B0604020202020204" pitchFamily="34" charset="0"/>
              </a:rPr>
              <a:t>    @Pointcut("execution(* com.sysmaster.service..*.save*(..))")</a:t>
            </a:r>
          </a:p>
          <a:p>
            <a:pPr>
              <a:lnSpc>
                <a:spcPct val="80000"/>
              </a:lnSpc>
              <a:buFont typeface="Wingdings" panose="05000000000000000000" pitchFamily="2" charset="2"/>
              <a:buNone/>
            </a:pPr>
            <a:r>
              <a:rPr lang="en-US" altLang="zh-CN" sz="1400" b="1">
                <a:latin typeface="Arial" panose="020B0604020202020204" pitchFamily="34" charset="0"/>
              </a:rPr>
              <a:t>    private void userManagerPointut(){}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a:extLst>
              <a:ext uri="{FF2B5EF4-FFF2-40B4-BE49-F238E27FC236}">
                <a16:creationId xmlns:a16="http://schemas.microsoft.com/office/drawing/2014/main" id="{8DD4BDB8-F161-46B3-A52E-E85E4DC0A983}"/>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异常增强</a:t>
            </a:r>
            <a:endParaRPr lang="zh-CN" altLang="en-US" dirty="0">
              <a:latin typeface="华文中宋" pitchFamily="2" charset="-122"/>
              <a:ea typeface="华文中宋" pitchFamily="2" charset="-122"/>
            </a:endParaRPr>
          </a:p>
        </p:txBody>
      </p:sp>
      <p:sp>
        <p:nvSpPr>
          <p:cNvPr id="116739" name="Rectangle 3">
            <a:extLst>
              <a:ext uri="{FF2B5EF4-FFF2-40B4-BE49-F238E27FC236}">
                <a16:creationId xmlns:a16="http://schemas.microsoft.com/office/drawing/2014/main" id="{7C8A1E42-5A95-4B54-9808-35C237BD2DCC}"/>
              </a:ext>
            </a:extLst>
          </p:cNvPr>
          <p:cNvSpPr>
            <a:spLocks noGrp="1" noChangeArrowheads="1"/>
          </p:cNvSpPr>
          <p:nvPr/>
        </p:nvSpPr>
        <p:spPr bwMode="auto">
          <a:xfrm>
            <a:off x="1919288" y="1484314"/>
            <a:ext cx="8642350" cy="435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endParaRPr lang="en-US" altLang="zh-CN" sz="1200" b="1" dirty="0">
              <a:latin typeface="Arial" panose="020B0604020202020204" pitchFamily="34" charset="0"/>
            </a:endParaRPr>
          </a:p>
          <a:p>
            <a:pPr lvl="1">
              <a:lnSpc>
                <a:spcPct val="150000"/>
              </a:lnSpc>
              <a:buClr>
                <a:schemeClr val="accent1"/>
              </a:buClr>
              <a:buSzPct val="150000"/>
            </a:pPr>
            <a:r>
              <a:rPr lang="en-US" altLang="zh-CN" sz="1300" b="1" dirty="0">
                <a:solidFill>
                  <a:srgbClr val="00CC00"/>
                </a:solidFill>
                <a:latin typeface="Arial" panose="020B0604020202020204" pitchFamily="34" charset="0"/>
              </a:rPr>
              <a:t>/**</a:t>
            </a:r>
          </a:p>
          <a:p>
            <a:pPr lvl="1">
              <a:lnSpc>
                <a:spcPct val="150000"/>
              </a:lnSpc>
              <a:buClr>
                <a:schemeClr val="accent1"/>
              </a:buClr>
              <a:buSzPct val="150000"/>
            </a:pPr>
            <a:r>
              <a:rPr lang="en-US" altLang="zh-CN" sz="1300" b="1" dirty="0">
                <a:solidFill>
                  <a:srgbClr val="00CC00"/>
                </a:solidFill>
                <a:latin typeface="Arial" panose="020B0604020202020204" pitchFamily="34" charset="0"/>
              </a:rPr>
              <a:t> * </a:t>
            </a:r>
            <a:r>
              <a:rPr lang="en-US" altLang="zh-CN" sz="1300" b="1" dirty="0" err="1">
                <a:solidFill>
                  <a:srgbClr val="00CC00"/>
                </a:solidFill>
                <a:latin typeface="Arial" panose="020B0604020202020204" pitchFamily="34" charset="0"/>
              </a:rPr>
              <a:t>AfterThrowing</a:t>
            </a:r>
            <a:r>
              <a:rPr lang="en-US" altLang="zh-CN" sz="1300" b="1" dirty="0">
                <a:solidFill>
                  <a:srgbClr val="00CC00"/>
                </a:solidFill>
                <a:latin typeface="Arial" panose="020B0604020202020204" pitchFamily="34" charset="0"/>
              </a:rPr>
              <a:t> </a:t>
            </a:r>
            <a:r>
              <a:rPr lang="en-US" altLang="zh-CN" sz="1300" b="1" dirty="0" err="1">
                <a:solidFill>
                  <a:srgbClr val="00CC00"/>
                </a:solidFill>
                <a:latin typeface="Arial" panose="020B0604020202020204" pitchFamily="34" charset="0"/>
              </a:rPr>
              <a:t>异常</a:t>
            </a:r>
            <a:r>
              <a:rPr lang="zh-CN" altLang="en-US" sz="1300" b="1" dirty="0">
                <a:solidFill>
                  <a:srgbClr val="00CC00"/>
                </a:solidFill>
                <a:latin typeface="Arial" panose="020B0604020202020204" pitchFamily="34" charset="0"/>
              </a:rPr>
              <a:t>增强</a:t>
            </a:r>
            <a:r>
              <a:rPr lang="en-US" altLang="zh-CN" sz="1300" b="1" dirty="0">
                <a:solidFill>
                  <a:srgbClr val="00CC00"/>
                </a:solidFill>
                <a:latin typeface="Arial" panose="020B0604020202020204" pitchFamily="34" charset="0"/>
              </a:rPr>
              <a:t>，</a:t>
            </a:r>
            <a:r>
              <a:rPr lang="en-US" altLang="zh-CN" sz="1300" b="1" dirty="0" err="1">
                <a:solidFill>
                  <a:srgbClr val="00CC00"/>
                </a:solidFill>
                <a:latin typeface="Arial" panose="020B0604020202020204" pitchFamily="34" charset="0"/>
              </a:rPr>
              <a:t>在一个方法抛出异常后执行</a:t>
            </a:r>
            <a:endParaRPr lang="en-US" altLang="zh-CN" sz="1300" b="1" dirty="0">
              <a:solidFill>
                <a:srgbClr val="00CC00"/>
              </a:solidFill>
              <a:latin typeface="Arial" panose="020B0604020202020204" pitchFamily="34" charset="0"/>
            </a:endParaRPr>
          </a:p>
          <a:p>
            <a:pPr lvl="1">
              <a:lnSpc>
                <a:spcPct val="150000"/>
              </a:lnSpc>
              <a:buClr>
                <a:schemeClr val="accent1"/>
              </a:buClr>
              <a:buSzPct val="150000"/>
            </a:pPr>
            <a:r>
              <a:rPr lang="en-US" altLang="zh-CN" sz="1300" b="1" dirty="0">
                <a:solidFill>
                  <a:srgbClr val="00CC00"/>
                </a:solidFill>
                <a:latin typeface="Arial" panose="020B0604020202020204" pitchFamily="34" charset="0"/>
              </a:rPr>
              <a:t> *   * pointcut </a:t>
            </a:r>
            <a:r>
              <a:rPr lang="en-US" altLang="zh-CN" sz="1300" b="1" dirty="0" err="1">
                <a:solidFill>
                  <a:srgbClr val="00CC00"/>
                </a:solidFill>
                <a:latin typeface="Arial" panose="020B0604020202020204" pitchFamily="34" charset="0"/>
              </a:rPr>
              <a:t>使用的切入点</a:t>
            </a:r>
            <a:endParaRPr lang="en-US" altLang="zh-CN" sz="1300" b="1" dirty="0">
              <a:solidFill>
                <a:srgbClr val="00CC00"/>
              </a:solidFill>
              <a:latin typeface="Arial" panose="020B0604020202020204" pitchFamily="34" charset="0"/>
            </a:endParaRPr>
          </a:p>
          <a:p>
            <a:pPr lvl="1">
              <a:lnSpc>
                <a:spcPct val="150000"/>
              </a:lnSpc>
              <a:buClr>
                <a:schemeClr val="accent1"/>
              </a:buClr>
              <a:buSzPct val="150000"/>
            </a:pPr>
            <a:r>
              <a:rPr lang="en-US" altLang="zh-CN" sz="1300" b="1" dirty="0">
                <a:solidFill>
                  <a:srgbClr val="00CC00"/>
                </a:solidFill>
                <a:latin typeface="Arial" panose="020B0604020202020204" pitchFamily="34" charset="0"/>
              </a:rPr>
              <a:t> *   * throwing </a:t>
            </a:r>
            <a:r>
              <a:rPr lang="en-US" altLang="zh-CN" sz="1300" b="1" dirty="0" err="1">
                <a:solidFill>
                  <a:srgbClr val="00CC00"/>
                </a:solidFill>
                <a:latin typeface="Arial" panose="020B0604020202020204" pitchFamily="34" charset="0"/>
              </a:rPr>
              <a:t>表示抛出的异常</a:t>
            </a:r>
            <a:endParaRPr lang="en-US" altLang="zh-CN" sz="1300" b="1" dirty="0">
              <a:solidFill>
                <a:srgbClr val="00CC00"/>
              </a:solidFill>
              <a:latin typeface="Arial" panose="020B0604020202020204" pitchFamily="34" charset="0"/>
            </a:endParaRPr>
          </a:p>
          <a:p>
            <a:pPr lvl="1">
              <a:lnSpc>
                <a:spcPct val="150000"/>
              </a:lnSpc>
              <a:buClr>
                <a:schemeClr val="accent1"/>
              </a:buClr>
              <a:buSzPct val="150000"/>
            </a:pPr>
            <a:r>
              <a:rPr lang="en-US" altLang="zh-CN" sz="1300" b="1" dirty="0">
                <a:solidFill>
                  <a:srgbClr val="00CC00"/>
                </a:solidFill>
                <a:latin typeface="Arial" panose="020B0604020202020204" pitchFamily="34" charset="0"/>
              </a:rPr>
              <a:t> *   </a:t>
            </a:r>
          </a:p>
          <a:p>
            <a:pPr lvl="1">
              <a:lnSpc>
                <a:spcPct val="150000"/>
              </a:lnSpc>
              <a:buClr>
                <a:schemeClr val="accent1"/>
              </a:buClr>
              <a:buSzPct val="150000"/>
            </a:pPr>
            <a:r>
              <a:rPr lang="en-US" altLang="zh-CN" sz="1300" b="1" dirty="0">
                <a:solidFill>
                  <a:srgbClr val="00CC00"/>
                </a:solidFill>
                <a:latin typeface="Arial" panose="020B0604020202020204" pitchFamily="34" charset="0"/>
              </a:rPr>
              <a:t> * </a:t>
            </a:r>
            <a:r>
              <a:rPr lang="en-US" altLang="zh-CN" sz="1300" b="1" dirty="0" err="1">
                <a:solidFill>
                  <a:srgbClr val="00CC00"/>
                </a:solidFill>
                <a:latin typeface="Arial" panose="020B0604020202020204" pitchFamily="34" charset="0"/>
              </a:rPr>
              <a:t>userManagerPointut</a:t>
            </a:r>
            <a:r>
              <a:rPr lang="en-US" altLang="zh-CN" sz="1300" b="1" dirty="0">
                <a:solidFill>
                  <a:srgbClr val="00CC00"/>
                </a:solidFill>
                <a:latin typeface="Arial" panose="020B0604020202020204" pitchFamily="34" charset="0"/>
              </a:rPr>
              <a:t>() </a:t>
            </a:r>
            <a:r>
              <a:rPr lang="en-US" altLang="zh-CN" sz="1300" b="1" dirty="0" err="1">
                <a:solidFill>
                  <a:srgbClr val="00CC00"/>
                </a:solidFill>
                <a:latin typeface="Arial" panose="020B0604020202020204" pitchFamily="34" charset="0"/>
              </a:rPr>
              <a:t>表示前面定义的切入点</a:t>
            </a:r>
            <a:endParaRPr lang="en-US" altLang="zh-CN" sz="1300" b="1" dirty="0">
              <a:solidFill>
                <a:srgbClr val="00CC00"/>
              </a:solidFill>
              <a:latin typeface="Arial" panose="020B0604020202020204" pitchFamily="34" charset="0"/>
            </a:endParaRPr>
          </a:p>
          <a:p>
            <a:pPr lvl="1">
              <a:lnSpc>
                <a:spcPct val="150000"/>
              </a:lnSpc>
              <a:buClr>
                <a:schemeClr val="accent1"/>
              </a:buClr>
              <a:buSzPct val="150000"/>
            </a:pPr>
            <a:r>
              <a:rPr lang="en-US" altLang="zh-CN" sz="1300" b="1" dirty="0">
                <a:solidFill>
                  <a:srgbClr val="00CC00"/>
                </a:solidFill>
                <a:latin typeface="Arial" panose="020B0604020202020204" pitchFamily="34" charset="0"/>
              </a:rPr>
              <a:t> */</a:t>
            </a:r>
          </a:p>
          <a:p>
            <a:pPr lvl="1">
              <a:lnSpc>
                <a:spcPct val="150000"/>
              </a:lnSpc>
              <a:buClr>
                <a:schemeClr val="accent1"/>
              </a:buClr>
              <a:buSzPct val="150000"/>
            </a:pPr>
            <a:r>
              <a:rPr lang="en-US" altLang="zh-CN" sz="1300" b="1" dirty="0">
                <a:latin typeface="Arial" panose="020B0604020202020204" pitchFamily="34" charset="0"/>
              </a:rPr>
              <a:t>@</a:t>
            </a:r>
            <a:r>
              <a:rPr lang="en-US" altLang="zh-CN" sz="1300" b="1" dirty="0" err="1">
                <a:latin typeface="Arial" panose="020B0604020202020204" pitchFamily="34" charset="0"/>
              </a:rPr>
              <a:t>AfterThrowing</a:t>
            </a:r>
            <a:r>
              <a:rPr lang="en-US" altLang="zh-CN" sz="1300" b="1" dirty="0">
                <a:latin typeface="Arial" panose="020B0604020202020204" pitchFamily="34" charset="0"/>
              </a:rPr>
              <a:t>(pointcut="</a:t>
            </a:r>
            <a:r>
              <a:rPr lang="en-US" altLang="zh-CN" sz="1300" b="1" dirty="0" err="1">
                <a:latin typeface="Arial" panose="020B0604020202020204" pitchFamily="34" charset="0"/>
              </a:rPr>
              <a:t>userManagerPointut</a:t>
            </a:r>
            <a:r>
              <a:rPr lang="en-US" altLang="zh-CN" sz="1300" b="1" dirty="0">
                <a:latin typeface="Arial" panose="020B0604020202020204" pitchFamily="34" charset="0"/>
              </a:rPr>
              <a:t>()",throwing="ex")</a:t>
            </a:r>
          </a:p>
          <a:p>
            <a:pPr lvl="1">
              <a:lnSpc>
                <a:spcPct val="150000"/>
              </a:lnSpc>
              <a:buClr>
                <a:schemeClr val="accent1"/>
              </a:buClr>
              <a:buSzPct val="150000"/>
            </a:pPr>
            <a:r>
              <a:rPr lang="en-US" altLang="zh-CN" sz="1300" b="1" dirty="0">
                <a:latin typeface="Arial" panose="020B0604020202020204" pitchFamily="34" charset="0"/>
              </a:rPr>
              <a:t>             public void </a:t>
            </a:r>
            <a:r>
              <a:rPr lang="en-US" altLang="zh-CN" sz="1300" b="1" dirty="0" err="1">
                <a:latin typeface="Arial" panose="020B0604020202020204" pitchFamily="34" charset="0"/>
              </a:rPr>
              <a:t>checkSecurity</a:t>
            </a:r>
            <a:r>
              <a:rPr lang="en-US" altLang="zh-CN" sz="1300" b="1" dirty="0">
                <a:latin typeface="Arial" panose="020B0604020202020204" pitchFamily="34" charset="0"/>
              </a:rPr>
              <a:t>(Exception ex){</a:t>
            </a:r>
          </a:p>
          <a:p>
            <a:pPr lvl="1">
              <a:lnSpc>
                <a:spcPct val="150000"/>
              </a:lnSpc>
              <a:buClr>
                <a:schemeClr val="accent1"/>
              </a:buClr>
              <a:buSzPct val="150000"/>
            </a:pPr>
            <a:r>
              <a:rPr lang="en-US" altLang="zh-CN" sz="1300" b="1" dirty="0">
                <a:latin typeface="Arial" panose="020B0604020202020204" pitchFamily="34" charset="0"/>
              </a:rPr>
              <a:t>                   </a:t>
            </a:r>
            <a:r>
              <a:rPr lang="en-US" altLang="zh-CN" sz="1300" b="1" dirty="0" err="1">
                <a:latin typeface="Arial" panose="020B0604020202020204" pitchFamily="34" charset="0"/>
              </a:rPr>
              <a:t>System.</a:t>
            </a:r>
            <a:r>
              <a:rPr lang="en-US" altLang="zh-CN" sz="1300" b="1" i="1" dirty="0" err="1">
                <a:latin typeface="Arial" panose="020B0604020202020204" pitchFamily="34" charset="0"/>
              </a:rPr>
              <a:t>out</a:t>
            </a:r>
            <a:r>
              <a:rPr lang="en-US" altLang="zh-CN" sz="1300" b="1" dirty="0" err="1">
                <a:latin typeface="Arial" panose="020B0604020202020204" pitchFamily="34" charset="0"/>
              </a:rPr>
              <a:t>.println</a:t>
            </a:r>
            <a:r>
              <a:rPr lang="en-US" altLang="zh-CN" sz="1300" b="1" dirty="0">
                <a:latin typeface="Arial" panose="020B0604020202020204" pitchFamily="34" charset="0"/>
              </a:rPr>
              <a:t>("</a:t>
            </a:r>
            <a:r>
              <a:rPr lang="en-US" altLang="zh-CN" sz="1300" b="1" dirty="0" err="1">
                <a:latin typeface="Arial" panose="020B0604020202020204" pitchFamily="34" charset="0"/>
              </a:rPr>
              <a:t>进行安全检查</a:t>
            </a:r>
            <a:r>
              <a:rPr lang="en-US" altLang="zh-CN" sz="1300" b="1" dirty="0">
                <a:latin typeface="Arial" panose="020B0604020202020204" pitchFamily="34" charset="0"/>
              </a:rPr>
              <a:t> "+ex);</a:t>
            </a:r>
          </a:p>
          <a:p>
            <a:pPr lvl="1">
              <a:lnSpc>
                <a:spcPct val="150000"/>
              </a:lnSpc>
              <a:buClr>
                <a:schemeClr val="accent1"/>
              </a:buClr>
              <a:buSzPct val="150000"/>
            </a:pPr>
            <a:r>
              <a:rPr lang="en-US" altLang="zh-CN" sz="1300" b="1" dirty="0">
                <a:latin typeface="Arial" panose="020B0604020202020204" pitchFamily="34" charset="0"/>
              </a:rPr>
              <a:t>}</a:t>
            </a:r>
          </a:p>
          <a:p>
            <a:pPr lvl="1">
              <a:lnSpc>
                <a:spcPct val="150000"/>
              </a:lnSpc>
              <a:buClr>
                <a:schemeClr val="accent1"/>
              </a:buClr>
              <a:buSzPct val="150000"/>
            </a:pPr>
            <a:r>
              <a:rPr lang="en-US" altLang="zh-CN" sz="1300" b="1" dirty="0">
                <a:latin typeface="Arial" panose="020B0604020202020204" pitchFamily="34"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a:extLst>
              <a:ext uri="{FF2B5EF4-FFF2-40B4-BE49-F238E27FC236}">
                <a16:creationId xmlns:a16="http://schemas.microsoft.com/office/drawing/2014/main" id="{DCCCB7F1-20BB-4C11-AF18-0D7193DA2B16}"/>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latin typeface="华文中宋" pitchFamily="2" charset="-122"/>
                <a:ea typeface="华文中宋" pitchFamily="2" charset="-122"/>
              </a:rPr>
              <a:t>最终增强</a:t>
            </a:r>
          </a:p>
        </p:txBody>
      </p:sp>
      <p:sp>
        <p:nvSpPr>
          <p:cNvPr id="117763" name="Rectangle 3">
            <a:extLst>
              <a:ext uri="{FF2B5EF4-FFF2-40B4-BE49-F238E27FC236}">
                <a16:creationId xmlns:a16="http://schemas.microsoft.com/office/drawing/2014/main" id="{E91D0A0B-64D2-4636-A307-D07ECC051CAD}"/>
              </a:ext>
            </a:extLst>
          </p:cNvPr>
          <p:cNvSpPr>
            <a:spLocks noGrp="1" noChangeArrowheads="1"/>
          </p:cNvSpPr>
          <p:nvPr/>
        </p:nvSpPr>
        <p:spPr bwMode="auto">
          <a:xfrm>
            <a:off x="2003426" y="1412875"/>
            <a:ext cx="7764463" cy="435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pPr>
            <a:endParaRPr lang="en-US" altLang="zh-CN" sz="1200" b="1" dirty="0">
              <a:latin typeface="Arial" panose="020B0604020202020204" pitchFamily="34" charset="0"/>
            </a:endParaRPr>
          </a:p>
          <a:p>
            <a:pPr>
              <a:lnSpc>
                <a:spcPct val="80000"/>
              </a:lnSpc>
              <a:buFont typeface="Wingdings" panose="05000000000000000000" pitchFamily="2" charset="2"/>
              <a:buNone/>
            </a:pPr>
            <a:r>
              <a:rPr lang="en-US" altLang="zh-CN" sz="1400" b="1" dirty="0">
                <a:latin typeface="Arial" panose="020B0604020202020204" pitchFamily="34" charset="0"/>
              </a:rPr>
              <a:t>@Aspect  </a:t>
            </a:r>
            <a:r>
              <a:rPr lang="en-US" altLang="zh-CN" sz="1400" b="1" dirty="0">
                <a:solidFill>
                  <a:srgbClr val="00CC00"/>
                </a:solidFill>
                <a:latin typeface="Arial" panose="020B0604020202020204" pitchFamily="34" charset="0"/>
              </a:rPr>
              <a:t>//</a:t>
            </a:r>
            <a:r>
              <a:rPr lang="zh-CN" altLang="en-US" sz="1400" b="1" dirty="0">
                <a:solidFill>
                  <a:srgbClr val="00CC00"/>
                </a:solidFill>
                <a:latin typeface="Arial" panose="020B0604020202020204" pitchFamily="34" charset="0"/>
              </a:rPr>
              <a:t>声明切面</a:t>
            </a:r>
          </a:p>
          <a:p>
            <a:pPr>
              <a:lnSpc>
                <a:spcPct val="80000"/>
              </a:lnSpc>
              <a:buFont typeface="Wingdings" panose="05000000000000000000" pitchFamily="2" charset="2"/>
              <a:buNone/>
            </a:pPr>
            <a:r>
              <a:rPr lang="en-US" altLang="zh-CN" sz="1400" b="1" dirty="0">
                <a:latin typeface="Arial" panose="020B0604020202020204" pitchFamily="34" charset="0"/>
              </a:rPr>
              <a:t>public class Security {</a:t>
            </a:r>
          </a:p>
          <a:p>
            <a:pPr lvl="1">
              <a:lnSpc>
                <a:spcPct val="80000"/>
              </a:lnSpc>
              <a:buClr>
                <a:schemeClr val="accent1"/>
              </a:buClr>
              <a:buSzPct val="150000"/>
            </a:pPr>
            <a:r>
              <a:rPr lang="en-US" altLang="zh-CN" sz="1400" b="1" dirty="0">
                <a:solidFill>
                  <a:srgbClr val="00CC00"/>
                </a:solidFill>
                <a:latin typeface="Arial" panose="020B0604020202020204" pitchFamily="34" charset="0"/>
              </a:rPr>
              <a:t>/**</a:t>
            </a:r>
          </a:p>
          <a:p>
            <a:pPr lvl="1">
              <a:lnSpc>
                <a:spcPct val="80000"/>
              </a:lnSpc>
              <a:buClr>
                <a:schemeClr val="accent1"/>
              </a:buClr>
              <a:buSzPct val="150000"/>
            </a:pPr>
            <a:r>
              <a:rPr lang="en-US" altLang="zh-CN" sz="1400" b="1" dirty="0">
                <a:solidFill>
                  <a:srgbClr val="00CC00"/>
                </a:solidFill>
                <a:latin typeface="Arial" panose="020B0604020202020204" pitchFamily="34" charset="0"/>
              </a:rPr>
              <a:t> *  @Pointcut </a:t>
            </a:r>
            <a:r>
              <a:rPr lang="zh-CN" altLang="en-US" sz="1400" b="1" dirty="0">
                <a:solidFill>
                  <a:srgbClr val="00CC00"/>
                </a:solidFill>
                <a:latin typeface="Arial" panose="020B0604020202020204" pitchFamily="34" charset="0"/>
              </a:rPr>
              <a:t>用于声明切入点 </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在</a:t>
            </a:r>
            <a:r>
              <a:rPr lang="en-US" altLang="zh-CN" sz="1400" b="1" dirty="0">
                <a:solidFill>
                  <a:srgbClr val="00CC00"/>
                </a:solidFill>
                <a:latin typeface="Arial" panose="020B0604020202020204" pitchFamily="34" charset="0"/>
              </a:rPr>
              <a:t>@AspectJ</a:t>
            </a:r>
            <a:r>
              <a:rPr lang="zh-CN" altLang="en-US" sz="1400" b="1" dirty="0">
                <a:solidFill>
                  <a:srgbClr val="00CC00"/>
                </a:solidFill>
                <a:latin typeface="Arial" panose="020B0604020202020204" pitchFamily="34" charset="0"/>
              </a:rPr>
              <a:t>注解风格的</a:t>
            </a:r>
            <a:r>
              <a:rPr lang="en-US" altLang="zh-CN" sz="1400" b="1" dirty="0">
                <a:solidFill>
                  <a:srgbClr val="00CC00"/>
                </a:solidFill>
                <a:latin typeface="Arial" panose="020B0604020202020204" pitchFamily="34" charset="0"/>
              </a:rPr>
              <a:t>AOP</a:t>
            </a:r>
            <a:r>
              <a:rPr lang="zh-CN" altLang="en-US" sz="1400" b="1" dirty="0">
                <a:solidFill>
                  <a:srgbClr val="00CC00"/>
                </a:solidFill>
                <a:latin typeface="Arial" panose="020B0604020202020204" pitchFamily="34" charset="0"/>
              </a:rPr>
              <a:t>中 一个切入点签名通过一个普通的方法来定义</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1 </a:t>
            </a:r>
            <a:r>
              <a:rPr lang="zh-CN" altLang="en-US" sz="1400" b="1" dirty="0">
                <a:solidFill>
                  <a:srgbClr val="00CC00"/>
                </a:solidFill>
                <a:latin typeface="Arial" panose="020B0604020202020204" pitchFamily="34" charset="0"/>
              </a:rPr>
              <a:t>作为切入点签名的方法必须返回</a:t>
            </a:r>
            <a:r>
              <a:rPr lang="en-US" altLang="zh-CN" sz="1400" b="1" dirty="0">
                <a:solidFill>
                  <a:srgbClr val="00CC00"/>
                </a:solidFill>
                <a:latin typeface="Arial" panose="020B0604020202020204" pitchFamily="34" charset="0"/>
              </a:rPr>
              <a:t>void</a:t>
            </a:r>
            <a:r>
              <a:rPr lang="zh-CN" altLang="en-US" sz="1400" b="1" dirty="0">
                <a:solidFill>
                  <a:srgbClr val="00CC00"/>
                </a:solidFill>
                <a:latin typeface="Arial" panose="020B0604020202020204" pitchFamily="34" charset="0"/>
              </a:rPr>
              <a:t>类型</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2 </a:t>
            </a:r>
            <a:r>
              <a:rPr lang="zh-CN" altLang="en-US" sz="1400" b="1" dirty="0">
                <a:solidFill>
                  <a:srgbClr val="00CC00"/>
                </a:solidFill>
                <a:latin typeface="Arial" panose="020B0604020202020204" pitchFamily="34" charset="0"/>
              </a:rPr>
              <a:t>方法没有参数 用</a:t>
            </a:r>
            <a:r>
              <a:rPr lang="en-US" altLang="zh-CN" sz="1400" b="1" dirty="0">
                <a:solidFill>
                  <a:srgbClr val="00CC00"/>
                </a:solidFill>
                <a:latin typeface="Arial" panose="020B0604020202020204" pitchFamily="34" charset="0"/>
              </a:rPr>
              <a:t>private</a:t>
            </a:r>
            <a:r>
              <a:rPr lang="zh-CN" altLang="en-US" sz="1400" b="1" dirty="0">
                <a:solidFill>
                  <a:srgbClr val="00CC00"/>
                </a:solidFill>
                <a:latin typeface="Arial" panose="020B0604020202020204" pitchFamily="34" charset="0"/>
              </a:rPr>
              <a:t>修饰</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3 </a:t>
            </a:r>
            <a:r>
              <a:rPr lang="zh-CN" altLang="en-US" sz="1400" b="1" dirty="0">
                <a:solidFill>
                  <a:srgbClr val="00CC00"/>
                </a:solidFill>
                <a:latin typeface="Arial" panose="020B0604020202020204" pitchFamily="34" charset="0"/>
              </a:rPr>
              <a:t>方法体为空</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切入点表达式的写法</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execution(</a:t>
            </a:r>
            <a:r>
              <a:rPr lang="zh-CN" altLang="en-US" sz="1400" b="1" dirty="0">
                <a:solidFill>
                  <a:srgbClr val="00CC00"/>
                </a:solidFill>
                <a:latin typeface="Arial" panose="020B0604020202020204" pitchFamily="34" charset="0"/>
              </a:rPr>
              <a:t>主要</a:t>
            </a:r>
            <a:r>
              <a:rPr lang="en-US" altLang="zh-CN" sz="1400" b="1" dirty="0">
                <a:solidFill>
                  <a:srgbClr val="00CC00"/>
                </a:solidFill>
                <a:latin typeface="Arial" panose="020B0604020202020204" pitchFamily="34" charset="0"/>
              </a:rPr>
              <a:t>)</a:t>
            </a:r>
            <a:r>
              <a:rPr lang="zh-CN" altLang="en-US" sz="1400" b="1" dirty="0">
                <a:solidFill>
                  <a:srgbClr val="00CC00"/>
                </a:solidFill>
                <a:latin typeface="Arial" panose="020B0604020202020204" pitchFamily="34" charset="0"/>
              </a:rPr>
              <a:t>表示匹配方法执行的连接点 </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例如</a:t>
            </a: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com.sysmaster.service</a:t>
            </a:r>
            <a:r>
              <a:rPr lang="en-US" altLang="zh-CN" sz="1400" b="1" dirty="0">
                <a:solidFill>
                  <a:srgbClr val="00CC00"/>
                </a:solidFill>
                <a:latin typeface="Arial" panose="020B0604020202020204" pitchFamily="34" charset="0"/>
              </a:rPr>
              <a:t>..*.save*(..))</a:t>
            </a:r>
          </a:p>
          <a:p>
            <a:pPr lvl="1">
              <a:lnSpc>
                <a:spcPct val="80000"/>
              </a:lnSpc>
              <a:buClr>
                <a:schemeClr val="accent1"/>
              </a:buClr>
              <a:buSzPct val="150000"/>
            </a:pPr>
            <a:r>
              <a:rPr lang="en-US" altLang="zh-CN" sz="1400" b="1" dirty="0">
                <a:solidFill>
                  <a:srgbClr val="00CC00"/>
                </a:solidFill>
                <a:latin typeface="Arial" panose="020B0604020202020204" pitchFamily="34" charset="0"/>
              </a:rPr>
              <a:t> *         1 "*"  </a:t>
            </a:r>
            <a:r>
              <a:rPr lang="zh-CN" altLang="en-US" sz="1400" b="1" dirty="0">
                <a:solidFill>
                  <a:srgbClr val="00CC00"/>
                </a:solidFill>
                <a:latin typeface="Arial" panose="020B0604020202020204" pitchFamily="34" charset="0"/>
              </a:rPr>
              <a:t>表示方法的返回类型任意</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2 </a:t>
            </a:r>
            <a:r>
              <a:rPr lang="en-US" altLang="zh-CN" sz="1400" b="1" dirty="0" err="1">
                <a:solidFill>
                  <a:srgbClr val="00CC00"/>
                </a:solidFill>
                <a:latin typeface="Arial" panose="020B0604020202020204" pitchFamily="34" charset="0"/>
              </a:rPr>
              <a:t>com.sysmaster.service</a:t>
            </a:r>
            <a:r>
              <a:rPr lang="en-US" altLang="zh-CN" sz="1400" b="1" dirty="0">
                <a:solidFill>
                  <a:srgbClr val="00CC00"/>
                </a:solidFill>
                <a:latin typeface="Arial" panose="020B0604020202020204" pitchFamily="34" charset="0"/>
              </a:rPr>
              <a:t>..*  </a:t>
            </a:r>
            <a:r>
              <a:rPr lang="zh-CN" altLang="en-US" sz="1400" b="1" dirty="0">
                <a:solidFill>
                  <a:srgbClr val="00CC00"/>
                </a:solidFill>
                <a:latin typeface="Arial" panose="020B0604020202020204" pitchFamily="34" charset="0"/>
              </a:rPr>
              <a:t>表示</a:t>
            </a:r>
            <a:r>
              <a:rPr lang="en-US" altLang="zh-CN" sz="1400" b="1" dirty="0">
                <a:solidFill>
                  <a:srgbClr val="00CC00"/>
                </a:solidFill>
                <a:latin typeface="Arial" panose="020B0604020202020204" pitchFamily="34" charset="0"/>
              </a:rPr>
              <a:t>service</a:t>
            </a:r>
            <a:r>
              <a:rPr lang="zh-CN" altLang="en-US" sz="1400" b="1" dirty="0">
                <a:solidFill>
                  <a:srgbClr val="00CC00"/>
                </a:solidFill>
                <a:latin typeface="Arial" panose="020B0604020202020204" pitchFamily="34" charset="0"/>
              </a:rPr>
              <a:t>包及其子包中所有的类</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3 .save* </a:t>
            </a:r>
            <a:r>
              <a:rPr lang="zh-CN" altLang="en-US" sz="1400" b="1" dirty="0">
                <a:solidFill>
                  <a:srgbClr val="00CC00"/>
                </a:solidFill>
                <a:latin typeface="Arial" panose="020B0604020202020204" pitchFamily="34" charset="0"/>
              </a:rPr>
              <a:t>表示类中所有以</a:t>
            </a:r>
            <a:r>
              <a:rPr lang="en-US" altLang="zh-CN" sz="1400" b="1" dirty="0">
                <a:solidFill>
                  <a:srgbClr val="00CC00"/>
                </a:solidFill>
                <a:latin typeface="Arial" panose="020B0604020202020204" pitchFamily="34" charset="0"/>
              </a:rPr>
              <a:t>save</a:t>
            </a:r>
            <a:r>
              <a:rPr lang="zh-CN" altLang="en-US" sz="1400" b="1" dirty="0">
                <a:solidFill>
                  <a:srgbClr val="00CC00"/>
                </a:solidFill>
                <a:latin typeface="Arial" panose="020B0604020202020204" pitchFamily="34" charset="0"/>
              </a:rPr>
              <a:t>开头的方法</a:t>
            </a:r>
          </a:p>
          <a:p>
            <a:pPr lvl="1">
              <a:lnSpc>
                <a:spcPct val="80000"/>
              </a:lnSpc>
              <a:buClr>
                <a:schemeClr val="accent1"/>
              </a:buClr>
              <a:buSzPct val="150000"/>
            </a:pPr>
            <a:r>
              <a:rPr lang="zh-CN" altLang="en-US" sz="1400" b="1" dirty="0">
                <a:solidFill>
                  <a:srgbClr val="00CC00"/>
                </a:solidFill>
                <a:latin typeface="Arial" panose="020B0604020202020204" pitchFamily="34" charset="0"/>
              </a:rPr>
              <a:t> *         </a:t>
            </a:r>
            <a:r>
              <a:rPr lang="en-US" altLang="zh-CN" sz="1400" b="1" dirty="0">
                <a:solidFill>
                  <a:srgbClr val="00CC00"/>
                </a:solidFill>
                <a:latin typeface="Arial" panose="020B0604020202020204" pitchFamily="34" charset="0"/>
              </a:rPr>
              <a:t>4 (..) </a:t>
            </a:r>
            <a:r>
              <a:rPr lang="zh-CN" altLang="en-US" sz="1400" b="1" dirty="0">
                <a:solidFill>
                  <a:srgbClr val="00CC00"/>
                </a:solidFill>
                <a:latin typeface="Arial" panose="020B0604020202020204" pitchFamily="34" charset="0"/>
              </a:rPr>
              <a:t>表示参数是任意数量</a:t>
            </a:r>
          </a:p>
          <a:p>
            <a:pPr lvl="1">
              <a:lnSpc>
                <a:spcPct val="80000"/>
              </a:lnSpc>
              <a:buClr>
                <a:schemeClr val="accent1"/>
              </a:buClr>
              <a:buSzPct val="150000"/>
            </a:pPr>
            <a:r>
              <a:rPr lang="zh-CN" altLang="en-US" sz="1400" b="1" dirty="0">
                <a:solidFill>
                  <a:srgbClr val="00CC00"/>
                </a:solidFill>
                <a:latin typeface="Arial" panose="020B0604020202020204" pitchFamily="34" charset="0"/>
              </a:rPr>
              <a:t> *</a:t>
            </a:r>
            <a:r>
              <a:rPr lang="en-US" altLang="zh-CN" sz="1400" b="1" dirty="0">
                <a:solidFill>
                  <a:srgbClr val="00CC00"/>
                </a:solidFill>
                <a:latin typeface="Arial" panose="020B0604020202020204" pitchFamily="34" charset="0"/>
              </a:rPr>
              <a:t>/</a:t>
            </a:r>
          </a:p>
          <a:p>
            <a:pPr>
              <a:lnSpc>
                <a:spcPct val="200000"/>
              </a:lnSpc>
              <a:buFont typeface="Wingdings" panose="05000000000000000000" pitchFamily="2" charset="2"/>
              <a:buNone/>
            </a:pPr>
            <a:r>
              <a:rPr lang="en-US" altLang="zh-CN" sz="1400" b="1" dirty="0">
                <a:latin typeface="Arial" panose="020B0604020202020204" pitchFamily="34" charset="0"/>
              </a:rPr>
              <a:t>    @Pointcut("execution(* </a:t>
            </a:r>
            <a:r>
              <a:rPr lang="en-US" altLang="zh-CN" sz="1400" b="1" dirty="0" err="1">
                <a:latin typeface="Arial" panose="020B0604020202020204" pitchFamily="34" charset="0"/>
              </a:rPr>
              <a:t>com.sysmaster.service</a:t>
            </a:r>
            <a:r>
              <a:rPr lang="en-US" altLang="zh-CN" sz="1400" b="1" dirty="0">
                <a:latin typeface="Arial" panose="020B0604020202020204" pitchFamily="34" charset="0"/>
              </a:rPr>
              <a:t>..*.save*(..))")</a:t>
            </a:r>
          </a:p>
          <a:p>
            <a:pPr>
              <a:lnSpc>
                <a:spcPct val="200000"/>
              </a:lnSpc>
              <a:buFont typeface="Wingdings" panose="05000000000000000000" pitchFamily="2" charset="2"/>
              <a:buNone/>
            </a:pPr>
            <a:r>
              <a:rPr lang="en-US" altLang="zh-CN" sz="1400" b="1" dirty="0">
                <a:latin typeface="Arial" panose="020B0604020202020204" pitchFamily="34" charset="0"/>
              </a:rPr>
              <a:t>    private void </a:t>
            </a:r>
            <a:r>
              <a:rPr lang="en-US" altLang="zh-CN" sz="1400" b="1" dirty="0" err="1">
                <a:latin typeface="Arial" panose="020B0604020202020204" pitchFamily="34" charset="0"/>
              </a:rPr>
              <a:t>userManagerPointut</a:t>
            </a:r>
            <a:r>
              <a:rPr lang="en-US" altLang="zh-CN" sz="1400" b="1" dirty="0">
                <a:latin typeface="Arial" panose="020B0604020202020204" pitchFamily="34"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a:extLst>
              <a:ext uri="{FF2B5EF4-FFF2-40B4-BE49-F238E27FC236}">
                <a16:creationId xmlns:a16="http://schemas.microsoft.com/office/drawing/2014/main" id="{C8149126-3B4E-4677-AD2A-3914E64D04AD}"/>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latin typeface="华文中宋" pitchFamily="2" charset="-122"/>
                <a:ea typeface="华文中宋" pitchFamily="2" charset="-122"/>
              </a:rPr>
              <a:t>最终增强</a:t>
            </a:r>
          </a:p>
        </p:txBody>
      </p:sp>
      <p:sp>
        <p:nvSpPr>
          <p:cNvPr id="118787" name="Rectangle 3">
            <a:extLst>
              <a:ext uri="{FF2B5EF4-FFF2-40B4-BE49-F238E27FC236}">
                <a16:creationId xmlns:a16="http://schemas.microsoft.com/office/drawing/2014/main" id="{5A3258F0-B1D6-4921-AB09-40345B918136}"/>
              </a:ext>
            </a:extLst>
          </p:cNvPr>
          <p:cNvSpPr>
            <a:spLocks noGrp="1" noChangeArrowheads="1"/>
          </p:cNvSpPr>
          <p:nvPr/>
        </p:nvSpPr>
        <p:spPr bwMode="auto">
          <a:xfrm>
            <a:off x="2208214" y="1196975"/>
            <a:ext cx="7343775" cy="435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endParaRPr lang="en-US" altLang="zh-CN" sz="1200" b="1" dirty="0">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a:t>
            </a:r>
          </a:p>
          <a:p>
            <a:pPr lvl="1">
              <a:lnSpc>
                <a:spcPct val="150000"/>
              </a:lnSpc>
              <a:buClr>
                <a:schemeClr val="accent1"/>
              </a:buClr>
              <a:buSzPct val="150000"/>
            </a:pPr>
            <a:r>
              <a:rPr lang="en-US" altLang="zh-CN" sz="1400" b="1" dirty="0">
                <a:solidFill>
                  <a:srgbClr val="00CC00"/>
                </a:solidFill>
                <a:latin typeface="Arial" panose="020B0604020202020204" pitchFamily="34" charset="0"/>
              </a:rPr>
              <a:t> * @After </a:t>
            </a:r>
            <a:r>
              <a:rPr lang="en-US" altLang="zh-CN" sz="1400" b="1" dirty="0" err="1">
                <a:solidFill>
                  <a:srgbClr val="00CC00"/>
                </a:solidFill>
                <a:latin typeface="Arial" panose="020B0604020202020204" pitchFamily="34" charset="0"/>
              </a:rPr>
              <a:t>最终</a:t>
            </a:r>
            <a:r>
              <a:rPr lang="zh-CN" altLang="en-US" sz="1400" b="1" dirty="0">
                <a:solidFill>
                  <a:srgbClr val="00CC00"/>
                </a:solidFill>
                <a:latin typeface="Arial" panose="020B0604020202020204" pitchFamily="34" charset="0"/>
              </a:rPr>
              <a:t>增强</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不论一个方法如何结束，最终</a:t>
            </a:r>
            <a:r>
              <a:rPr lang="zh-CN" altLang="en-US" sz="1400" b="1" dirty="0">
                <a:solidFill>
                  <a:srgbClr val="00CC00"/>
                </a:solidFill>
                <a:latin typeface="Arial" panose="020B0604020202020204" pitchFamily="34" charset="0"/>
              </a:rPr>
              <a:t>增强</a:t>
            </a:r>
            <a:r>
              <a:rPr lang="en-US" altLang="zh-CN" sz="1400" b="1" dirty="0" err="1">
                <a:solidFill>
                  <a:srgbClr val="00CC00"/>
                </a:solidFill>
                <a:latin typeface="Arial" panose="020B0604020202020204" pitchFamily="34" charset="0"/>
              </a:rPr>
              <a:t>都会执行</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最终</a:t>
            </a:r>
            <a:r>
              <a:rPr lang="zh-CN" altLang="en-US" sz="1400" b="1" dirty="0">
                <a:solidFill>
                  <a:srgbClr val="00CC00"/>
                </a:solidFill>
                <a:latin typeface="Arial" panose="020B0604020202020204" pitchFamily="34" charset="0"/>
              </a:rPr>
              <a:t>增强</a:t>
            </a:r>
            <a:r>
              <a:rPr lang="en-US" altLang="zh-CN" sz="1400" b="1" dirty="0" err="1">
                <a:solidFill>
                  <a:srgbClr val="00CC00"/>
                </a:solidFill>
                <a:latin typeface="Arial" panose="020B0604020202020204" pitchFamily="34" charset="0"/>
              </a:rPr>
              <a:t>必须准备处理正常和异常两种情况，通常用它来释放资源</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userManagerPointut</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表示前面定义的切入点</a:t>
            </a:r>
            <a:endParaRPr lang="en-US" altLang="zh-CN" sz="1400" b="1" dirty="0">
              <a:solidFill>
                <a:srgbClr val="00CC00"/>
              </a:solidFill>
              <a:latin typeface="Arial" panose="020B0604020202020204" pitchFamily="34" charset="0"/>
            </a:endParaRPr>
          </a:p>
          <a:p>
            <a:pPr lvl="1">
              <a:lnSpc>
                <a:spcPct val="150000"/>
              </a:lnSpc>
              <a:buClr>
                <a:schemeClr val="accent1"/>
              </a:buClr>
              <a:buSzPct val="150000"/>
            </a:pPr>
            <a:r>
              <a:rPr lang="en-US" altLang="zh-CN" sz="1400" b="1" dirty="0">
                <a:solidFill>
                  <a:srgbClr val="00CC00"/>
                </a:solidFill>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       @After("</a:t>
            </a:r>
            <a:r>
              <a:rPr lang="en-US" altLang="zh-CN" sz="1400" b="1" dirty="0" err="1">
                <a:latin typeface="Arial" panose="020B0604020202020204" pitchFamily="34" charset="0"/>
              </a:rPr>
              <a:t>userManagerPointut</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public void </a:t>
            </a:r>
            <a:r>
              <a:rPr lang="en-US" altLang="zh-CN" sz="1400" b="1" dirty="0" err="1">
                <a:latin typeface="Arial" panose="020B0604020202020204" pitchFamily="34" charset="0"/>
              </a:rPr>
              <a:t>checkSecurity</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进行安全检查</a:t>
            </a: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B5F1D24A-8F27-42A1-ACDC-CA1C40269FFF}"/>
              </a:ext>
            </a:extLst>
          </p:cNvPr>
          <p:cNvSpPr>
            <a:spLocks noGrp="1" noChangeArrowheads="1"/>
          </p:cNvSpPr>
          <p:nvPr>
            <p:ph type="title"/>
          </p:nvPr>
        </p:nvSpPr>
        <p:spPr>
          <a:xfrm>
            <a:off x="2208213" y="711201"/>
            <a:ext cx="5903912" cy="792163"/>
          </a:xfrm>
        </p:spPr>
        <p:txBody>
          <a:bodyPr>
            <a:normAutofit fontScale="90000"/>
          </a:bodyPr>
          <a:lstStyle/>
          <a:p>
            <a:pPr>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latin typeface="Arial Unicode MS" pitchFamily="34" charset="-122"/>
                <a:ea typeface="Arial Unicode MS" pitchFamily="34" charset="-122"/>
                <a:cs typeface="Arial Unicode MS" pitchFamily="34" charset="-122"/>
              </a:rPr>
              <a:t>环绕增强</a:t>
            </a:r>
          </a:p>
        </p:txBody>
      </p:sp>
      <p:sp>
        <p:nvSpPr>
          <p:cNvPr id="119811" name="Rectangle 3">
            <a:extLst>
              <a:ext uri="{FF2B5EF4-FFF2-40B4-BE49-F238E27FC236}">
                <a16:creationId xmlns:a16="http://schemas.microsoft.com/office/drawing/2014/main" id="{BDF94471-ACB3-4E23-AB6E-9CA1B14553F8}"/>
              </a:ext>
            </a:extLst>
          </p:cNvPr>
          <p:cNvSpPr>
            <a:spLocks noGrp="1" noChangeArrowheads="1"/>
          </p:cNvSpPr>
          <p:nvPr>
            <p:ph sz="quarter" idx="1"/>
          </p:nvPr>
        </p:nvSpPr>
        <p:spPr>
          <a:xfrm>
            <a:off x="1847850" y="1628776"/>
            <a:ext cx="8351838" cy="4786313"/>
          </a:xfrm>
        </p:spPr>
        <p:txBody>
          <a:bodyPr/>
          <a:lstStyle/>
          <a:p>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环绕增强是所有增强类型中功能最为强大的</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能够全面地控制连接点</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甚至</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可以控制是否执行连接点</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对于环绕增强来说</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连接点的参数类型必须是 </a:t>
            </a:r>
            <a:r>
              <a:rPr lang="en-US" altLang="zh-CN" sz="2400" b="1" dirty="0" err="1">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ProceedingJoinPoint</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它是 </a:t>
            </a:r>
            <a:r>
              <a:rPr lang="en-US" altLang="zh-CN" sz="2400" dirty="0" err="1">
                <a:latin typeface="Arial Unicode MS" panose="020B0604020202020204" pitchFamily="34" charset="-122"/>
                <a:ea typeface="Arial Unicode MS" panose="020B0604020202020204" pitchFamily="34" charset="-122"/>
                <a:cs typeface="Arial Unicode MS" panose="020B0604020202020204" pitchFamily="34" charset="-122"/>
              </a:rPr>
              <a:t>JoinPoint</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rPr>
              <a:t>的子接口</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允许控制何时执行</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是否执行连接点</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在环绕增强中需要明确调用 </a:t>
            </a:r>
            <a:r>
              <a:rPr lang="en-US" altLang="zh-CN" sz="2400" b="1" dirty="0" err="1">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ProceedingJoinPoint</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的 </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proceed()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方法来执行被代理的方法</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如果忘记这样做就会导致增强被执行了</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但目标方法没有被执行</a:t>
            </a:r>
            <a:r>
              <a:rPr lang="en-US" altLang="zh-CN" sz="24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注意</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环绕增强的方法需要返回目标方法执行之后的结果</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即调用 </a:t>
            </a:r>
            <a:r>
              <a:rPr lang="en-US" altLang="zh-CN" sz="2400" b="1" dirty="0" err="1">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joinPoint.proceed</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的返回值</a:t>
            </a:r>
            <a:r>
              <a:rPr lang="en-US" altLang="zh-CN"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否则会出现空指针异常</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a:extLst>
              <a:ext uri="{FF2B5EF4-FFF2-40B4-BE49-F238E27FC236}">
                <a16:creationId xmlns:a16="http://schemas.microsoft.com/office/drawing/2014/main" id="{E47262E4-CF41-41A7-8ED2-30932B0D84D9}"/>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环绕增强</a:t>
            </a:r>
            <a:endParaRPr lang="zh-CN" altLang="en-US" dirty="0">
              <a:latin typeface="华文中宋" pitchFamily="2" charset="-122"/>
              <a:ea typeface="华文中宋" pitchFamily="2" charset="-122"/>
            </a:endParaRPr>
          </a:p>
        </p:txBody>
      </p:sp>
      <p:sp>
        <p:nvSpPr>
          <p:cNvPr id="120835" name="Rectangle 3">
            <a:extLst>
              <a:ext uri="{FF2B5EF4-FFF2-40B4-BE49-F238E27FC236}">
                <a16:creationId xmlns:a16="http://schemas.microsoft.com/office/drawing/2014/main" id="{34FA3D56-BEBD-47AF-B7FA-AFB5B61A47CE}"/>
              </a:ext>
            </a:extLst>
          </p:cNvPr>
          <p:cNvSpPr>
            <a:spLocks noGrp="1" noChangeArrowheads="1"/>
          </p:cNvSpPr>
          <p:nvPr/>
        </p:nvSpPr>
        <p:spPr bwMode="auto">
          <a:xfrm>
            <a:off x="2003426" y="1484314"/>
            <a:ext cx="7477125" cy="435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pPr>
            <a:endParaRPr lang="en-US" altLang="zh-CN" sz="1200" b="1">
              <a:latin typeface="Arial" panose="020B0604020202020204" pitchFamily="34" charset="0"/>
            </a:endParaRPr>
          </a:p>
          <a:p>
            <a:pPr>
              <a:lnSpc>
                <a:spcPct val="80000"/>
              </a:lnSpc>
              <a:buFont typeface="Wingdings" panose="05000000000000000000" pitchFamily="2" charset="2"/>
              <a:buNone/>
            </a:pPr>
            <a:r>
              <a:rPr lang="en-US" altLang="zh-CN" sz="1400" b="1">
                <a:latin typeface="Arial" panose="020B0604020202020204" pitchFamily="34" charset="0"/>
              </a:rPr>
              <a:t>@Aspect  </a:t>
            </a:r>
            <a:r>
              <a:rPr lang="en-US" altLang="zh-CN" sz="1400" b="1">
                <a:solidFill>
                  <a:srgbClr val="00CC00"/>
                </a:solidFill>
                <a:latin typeface="Arial" panose="020B0604020202020204" pitchFamily="34" charset="0"/>
              </a:rPr>
              <a:t>//</a:t>
            </a:r>
            <a:r>
              <a:rPr lang="zh-CN" altLang="en-US" sz="1400" b="1">
                <a:solidFill>
                  <a:srgbClr val="00CC00"/>
                </a:solidFill>
                <a:latin typeface="Arial" panose="020B0604020202020204" pitchFamily="34" charset="0"/>
              </a:rPr>
              <a:t>声明切面</a:t>
            </a:r>
          </a:p>
          <a:p>
            <a:pPr>
              <a:lnSpc>
                <a:spcPct val="80000"/>
              </a:lnSpc>
              <a:buFont typeface="Wingdings" panose="05000000000000000000" pitchFamily="2" charset="2"/>
              <a:buNone/>
            </a:pPr>
            <a:r>
              <a:rPr lang="en-US" altLang="zh-CN" sz="1400" b="1">
                <a:latin typeface="Arial" panose="020B0604020202020204" pitchFamily="34" charset="0"/>
              </a:rPr>
              <a:t>public class Security {</a:t>
            </a:r>
          </a:p>
          <a:p>
            <a:pPr lvl="1">
              <a:lnSpc>
                <a:spcPct val="80000"/>
              </a:lnSpc>
              <a:buClr>
                <a:schemeClr val="accent1"/>
              </a:buClr>
              <a:buSzPct val="150000"/>
            </a:pPr>
            <a:r>
              <a:rPr lang="en-US" altLang="zh-CN" sz="1400" b="1">
                <a:solidFill>
                  <a:srgbClr val="00CC00"/>
                </a:solidFill>
                <a:latin typeface="Arial" panose="020B0604020202020204" pitchFamily="34" charset="0"/>
              </a:rPr>
              <a:t>/**</a:t>
            </a:r>
          </a:p>
          <a:p>
            <a:pPr lvl="1">
              <a:lnSpc>
                <a:spcPct val="80000"/>
              </a:lnSpc>
              <a:buClr>
                <a:schemeClr val="accent1"/>
              </a:buClr>
              <a:buSzPct val="150000"/>
            </a:pPr>
            <a:r>
              <a:rPr lang="en-US" altLang="zh-CN" sz="1400" b="1">
                <a:solidFill>
                  <a:srgbClr val="00CC00"/>
                </a:solidFill>
                <a:latin typeface="Arial" panose="020B0604020202020204" pitchFamily="34" charset="0"/>
              </a:rPr>
              <a:t> *  @Pointcut </a:t>
            </a:r>
            <a:r>
              <a:rPr lang="zh-CN" altLang="en-US" sz="1400" b="1">
                <a:solidFill>
                  <a:srgbClr val="00CC00"/>
                </a:solidFill>
                <a:latin typeface="Arial" panose="020B0604020202020204" pitchFamily="34" charset="0"/>
              </a:rPr>
              <a:t>用于声明切入点 </a:t>
            </a:r>
          </a:p>
          <a:p>
            <a:pPr lvl="1">
              <a:lnSpc>
                <a:spcPct val="80000"/>
              </a:lnSpc>
              <a:buClr>
                <a:schemeClr val="accent1"/>
              </a:buClr>
              <a:buSzPct val="150000"/>
            </a:pPr>
            <a:r>
              <a:rPr lang="zh-CN" altLang="en-US" sz="1400" b="1">
                <a:solidFill>
                  <a:srgbClr val="00CC00"/>
                </a:solidFill>
                <a:latin typeface="Arial" panose="020B0604020202020204" pitchFamily="34" charset="0"/>
              </a:rPr>
              <a:t> *  在</a:t>
            </a:r>
            <a:r>
              <a:rPr lang="en-US" altLang="zh-CN" sz="1400" b="1">
                <a:solidFill>
                  <a:srgbClr val="00CC00"/>
                </a:solidFill>
                <a:latin typeface="Arial" panose="020B0604020202020204" pitchFamily="34" charset="0"/>
              </a:rPr>
              <a:t>@AspectJ</a:t>
            </a:r>
            <a:r>
              <a:rPr lang="zh-CN" altLang="en-US" sz="1400" b="1">
                <a:solidFill>
                  <a:srgbClr val="00CC00"/>
                </a:solidFill>
                <a:latin typeface="Arial" panose="020B0604020202020204" pitchFamily="34" charset="0"/>
              </a:rPr>
              <a:t>注解风格的</a:t>
            </a:r>
            <a:r>
              <a:rPr lang="en-US" altLang="zh-CN" sz="1400" b="1">
                <a:solidFill>
                  <a:srgbClr val="00CC00"/>
                </a:solidFill>
                <a:latin typeface="Arial" panose="020B0604020202020204" pitchFamily="34" charset="0"/>
              </a:rPr>
              <a:t>AOP</a:t>
            </a:r>
            <a:r>
              <a:rPr lang="zh-CN" altLang="en-US" sz="1400" b="1">
                <a:solidFill>
                  <a:srgbClr val="00CC00"/>
                </a:solidFill>
                <a:latin typeface="Arial" panose="020B0604020202020204" pitchFamily="34" charset="0"/>
              </a:rPr>
              <a:t>中 一个切入点签名通过一个普通的方法来定义</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1 </a:t>
            </a:r>
            <a:r>
              <a:rPr lang="zh-CN" altLang="en-US" sz="1400" b="1">
                <a:solidFill>
                  <a:srgbClr val="00CC00"/>
                </a:solidFill>
                <a:latin typeface="Arial" panose="020B0604020202020204" pitchFamily="34" charset="0"/>
              </a:rPr>
              <a:t>作为切入点签名的方法必须返回</a:t>
            </a:r>
            <a:r>
              <a:rPr lang="en-US" altLang="zh-CN" sz="1400" b="1">
                <a:solidFill>
                  <a:srgbClr val="00CC00"/>
                </a:solidFill>
                <a:latin typeface="Arial" panose="020B0604020202020204" pitchFamily="34" charset="0"/>
              </a:rPr>
              <a:t>void</a:t>
            </a:r>
            <a:r>
              <a:rPr lang="zh-CN" altLang="en-US" sz="1400" b="1">
                <a:solidFill>
                  <a:srgbClr val="00CC00"/>
                </a:solidFill>
                <a:latin typeface="Arial" panose="020B0604020202020204" pitchFamily="34" charset="0"/>
              </a:rPr>
              <a:t>类型</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2 </a:t>
            </a:r>
            <a:r>
              <a:rPr lang="zh-CN" altLang="en-US" sz="1400" b="1">
                <a:solidFill>
                  <a:srgbClr val="00CC00"/>
                </a:solidFill>
                <a:latin typeface="Arial" panose="020B0604020202020204" pitchFamily="34" charset="0"/>
              </a:rPr>
              <a:t>方法没有参数 用</a:t>
            </a:r>
            <a:r>
              <a:rPr lang="en-US" altLang="zh-CN" sz="1400" b="1">
                <a:solidFill>
                  <a:srgbClr val="00CC00"/>
                </a:solidFill>
                <a:latin typeface="Arial" panose="020B0604020202020204" pitchFamily="34" charset="0"/>
              </a:rPr>
              <a:t>private</a:t>
            </a:r>
            <a:r>
              <a:rPr lang="zh-CN" altLang="en-US" sz="1400" b="1">
                <a:solidFill>
                  <a:srgbClr val="00CC00"/>
                </a:solidFill>
                <a:latin typeface="Arial" panose="020B0604020202020204" pitchFamily="34" charset="0"/>
              </a:rPr>
              <a:t>修饰</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3 </a:t>
            </a:r>
            <a:r>
              <a:rPr lang="zh-CN" altLang="en-US" sz="1400" b="1">
                <a:solidFill>
                  <a:srgbClr val="00CC00"/>
                </a:solidFill>
                <a:latin typeface="Arial" panose="020B0604020202020204" pitchFamily="34" charset="0"/>
              </a:rPr>
              <a:t>方法体为空</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p>
          <a:p>
            <a:pPr lvl="1">
              <a:lnSpc>
                <a:spcPct val="80000"/>
              </a:lnSpc>
              <a:buClr>
                <a:schemeClr val="accent1"/>
              </a:buClr>
              <a:buSzPct val="150000"/>
            </a:pPr>
            <a:r>
              <a:rPr lang="zh-CN" altLang="en-US" sz="1400" b="1">
                <a:solidFill>
                  <a:srgbClr val="00CC00"/>
                </a:solidFill>
                <a:latin typeface="Arial" panose="020B0604020202020204" pitchFamily="34" charset="0"/>
              </a:rPr>
              <a:t> *    切入点表达式的写法</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execution(</a:t>
            </a:r>
            <a:r>
              <a:rPr lang="zh-CN" altLang="en-US" sz="1400" b="1">
                <a:solidFill>
                  <a:srgbClr val="00CC00"/>
                </a:solidFill>
                <a:latin typeface="Arial" panose="020B0604020202020204" pitchFamily="34" charset="0"/>
              </a:rPr>
              <a:t>主要</a:t>
            </a:r>
            <a:r>
              <a:rPr lang="en-US" altLang="zh-CN" sz="1400" b="1">
                <a:solidFill>
                  <a:srgbClr val="00CC00"/>
                </a:solidFill>
                <a:latin typeface="Arial" panose="020B0604020202020204" pitchFamily="34" charset="0"/>
              </a:rPr>
              <a:t>)</a:t>
            </a:r>
            <a:r>
              <a:rPr lang="zh-CN" altLang="en-US" sz="1400" b="1">
                <a:solidFill>
                  <a:srgbClr val="00CC00"/>
                </a:solidFill>
                <a:latin typeface="Arial" panose="020B0604020202020204" pitchFamily="34" charset="0"/>
              </a:rPr>
              <a:t>表示匹配方法执行的连接点 </a:t>
            </a:r>
          </a:p>
          <a:p>
            <a:pPr lvl="1">
              <a:lnSpc>
                <a:spcPct val="80000"/>
              </a:lnSpc>
              <a:buClr>
                <a:schemeClr val="accent1"/>
              </a:buClr>
              <a:buSzPct val="150000"/>
            </a:pPr>
            <a:r>
              <a:rPr lang="zh-CN" altLang="en-US" sz="1400" b="1">
                <a:solidFill>
                  <a:srgbClr val="00CC00"/>
                </a:solidFill>
                <a:latin typeface="Arial" panose="020B0604020202020204" pitchFamily="34" charset="0"/>
              </a:rPr>
              <a:t> *    例如</a:t>
            </a:r>
            <a:r>
              <a:rPr lang="en-US" altLang="zh-CN" sz="1400" b="1">
                <a:solidFill>
                  <a:srgbClr val="00CC00"/>
                </a:solidFill>
                <a:latin typeface="Arial" panose="020B0604020202020204" pitchFamily="34" charset="0"/>
              </a:rPr>
              <a:t>: * com.sysmaster.service..*.save*(..))</a:t>
            </a:r>
          </a:p>
          <a:p>
            <a:pPr lvl="1">
              <a:lnSpc>
                <a:spcPct val="80000"/>
              </a:lnSpc>
              <a:buClr>
                <a:schemeClr val="accent1"/>
              </a:buClr>
              <a:buSzPct val="150000"/>
            </a:pPr>
            <a:r>
              <a:rPr lang="en-US" altLang="zh-CN" sz="1400" b="1">
                <a:solidFill>
                  <a:srgbClr val="00CC00"/>
                </a:solidFill>
                <a:latin typeface="Arial" panose="020B0604020202020204" pitchFamily="34" charset="0"/>
              </a:rPr>
              <a:t> *         1 "*"  </a:t>
            </a:r>
            <a:r>
              <a:rPr lang="zh-CN" altLang="en-US" sz="1400" b="1">
                <a:solidFill>
                  <a:srgbClr val="00CC00"/>
                </a:solidFill>
                <a:latin typeface="Arial" panose="020B0604020202020204" pitchFamily="34" charset="0"/>
              </a:rPr>
              <a:t>表示方法的返回类型任意</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2 com.sysmaster.service..*  </a:t>
            </a:r>
            <a:r>
              <a:rPr lang="zh-CN" altLang="en-US" sz="1400" b="1">
                <a:solidFill>
                  <a:srgbClr val="00CC00"/>
                </a:solidFill>
                <a:latin typeface="Arial" panose="020B0604020202020204" pitchFamily="34" charset="0"/>
              </a:rPr>
              <a:t>表示</a:t>
            </a:r>
            <a:r>
              <a:rPr lang="en-US" altLang="zh-CN" sz="1400" b="1">
                <a:solidFill>
                  <a:srgbClr val="00CC00"/>
                </a:solidFill>
                <a:latin typeface="Arial" panose="020B0604020202020204" pitchFamily="34" charset="0"/>
              </a:rPr>
              <a:t>service</a:t>
            </a:r>
            <a:r>
              <a:rPr lang="zh-CN" altLang="en-US" sz="1400" b="1">
                <a:solidFill>
                  <a:srgbClr val="00CC00"/>
                </a:solidFill>
                <a:latin typeface="Arial" panose="020B0604020202020204" pitchFamily="34" charset="0"/>
              </a:rPr>
              <a:t>包及其子包中所有的类</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3 .save* </a:t>
            </a:r>
            <a:r>
              <a:rPr lang="zh-CN" altLang="en-US" sz="1400" b="1">
                <a:solidFill>
                  <a:srgbClr val="00CC00"/>
                </a:solidFill>
                <a:latin typeface="Arial" panose="020B0604020202020204" pitchFamily="34" charset="0"/>
              </a:rPr>
              <a:t>表示类中所有以</a:t>
            </a:r>
            <a:r>
              <a:rPr lang="en-US" altLang="zh-CN" sz="1400" b="1">
                <a:solidFill>
                  <a:srgbClr val="00CC00"/>
                </a:solidFill>
                <a:latin typeface="Arial" panose="020B0604020202020204" pitchFamily="34" charset="0"/>
              </a:rPr>
              <a:t>save</a:t>
            </a:r>
            <a:r>
              <a:rPr lang="zh-CN" altLang="en-US" sz="1400" b="1">
                <a:solidFill>
                  <a:srgbClr val="00CC00"/>
                </a:solidFill>
                <a:latin typeface="Arial" panose="020B0604020202020204" pitchFamily="34" charset="0"/>
              </a:rPr>
              <a:t>开头的方法</a:t>
            </a:r>
          </a:p>
          <a:p>
            <a:pPr lvl="1">
              <a:lnSpc>
                <a:spcPct val="80000"/>
              </a:lnSpc>
              <a:buClr>
                <a:schemeClr val="accent1"/>
              </a:buClr>
              <a:buSzPct val="150000"/>
            </a:pPr>
            <a:r>
              <a:rPr lang="zh-CN" altLang="en-US" sz="1400" b="1">
                <a:solidFill>
                  <a:srgbClr val="00CC00"/>
                </a:solidFill>
                <a:latin typeface="Arial" panose="020B0604020202020204" pitchFamily="34" charset="0"/>
              </a:rPr>
              <a:t> *         </a:t>
            </a:r>
            <a:r>
              <a:rPr lang="en-US" altLang="zh-CN" sz="1400" b="1">
                <a:solidFill>
                  <a:srgbClr val="00CC00"/>
                </a:solidFill>
                <a:latin typeface="Arial" panose="020B0604020202020204" pitchFamily="34" charset="0"/>
              </a:rPr>
              <a:t>4 (..) </a:t>
            </a:r>
            <a:r>
              <a:rPr lang="zh-CN" altLang="en-US" sz="1400" b="1">
                <a:solidFill>
                  <a:srgbClr val="00CC00"/>
                </a:solidFill>
                <a:latin typeface="Arial" panose="020B0604020202020204" pitchFamily="34" charset="0"/>
              </a:rPr>
              <a:t>表示参数是任意数量</a:t>
            </a:r>
          </a:p>
          <a:p>
            <a:pPr lvl="1">
              <a:lnSpc>
                <a:spcPct val="80000"/>
              </a:lnSpc>
              <a:buClr>
                <a:schemeClr val="accent1"/>
              </a:buClr>
              <a:buSzPct val="150000"/>
            </a:pPr>
            <a:r>
              <a:rPr lang="zh-CN" altLang="en-US" sz="1400" b="1">
                <a:solidFill>
                  <a:srgbClr val="00CC00"/>
                </a:solidFill>
                <a:latin typeface="Arial" panose="020B0604020202020204" pitchFamily="34" charset="0"/>
              </a:rPr>
              <a:t> *</a:t>
            </a:r>
            <a:r>
              <a:rPr lang="en-US" altLang="zh-CN" sz="1400" b="1">
                <a:solidFill>
                  <a:srgbClr val="00CC00"/>
                </a:solidFill>
                <a:latin typeface="Arial" panose="020B0604020202020204" pitchFamily="34" charset="0"/>
              </a:rPr>
              <a:t>/</a:t>
            </a:r>
          </a:p>
          <a:p>
            <a:pPr>
              <a:lnSpc>
                <a:spcPct val="80000"/>
              </a:lnSpc>
              <a:buFont typeface="Wingdings" panose="05000000000000000000" pitchFamily="2" charset="2"/>
              <a:buNone/>
            </a:pPr>
            <a:r>
              <a:rPr lang="en-US" altLang="zh-CN" sz="1400" b="1">
                <a:latin typeface="Arial" panose="020B0604020202020204" pitchFamily="34" charset="0"/>
              </a:rPr>
              <a:t>    @Pointcut("execution(* com.sysmaster.service..*.save*(..))")</a:t>
            </a:r>
          </a:p>
          <a:p>
            <a:pPr>
              <a:lnSpc>
                <a:spcPct val="80000"/>
              </a:lnSpc>
              <a:buFont typeface="Wingdings" panose="05000000000000000000" pitchFamily="2" charset="2"/>
              <a:buNone/>
            </a:pPr>
            <a:r>
              <a:rPr lang="en-US" altLang="zh-CN" sz="1400" b="1">
                <a:latin typeface="Arial" panose="020B0604020202020204" pitchFamily="34" charset="0"/>
              </a:rPr>
              <a:t>    private void userManagerPointut(){}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a:extLst>
              <a:ext uri="{FF2B5EF4-FFF2-40B4-BE49-F238E27FC236}">
                <a16:creationId xmlns:a16="http://schemas.microsoft.com/office/drawing/2014/main" id="{3DC88103-97FE-4F77-A70D-E9C819ABE14C}"/>
              </a:ext>
            </a:extLst>
          </p:cNvPr>
          <p:cNvSpPr>
            <a:spLocks noGrp="1" noChangeArrowheads="1"/>
          </p:cNvSpPr>
          <p:nvPr>
            <p:ph type="title"/>
          </p:nvPr>
        </p:nvSpPr>
        <p:spPr>
          <a:xfrm>
            <a:off x="1524000" y="115889"/>
            <a:ext cx="9144000" cy="720725"/>
          </a:xfrm>
        </p:spPr>
        <p:txBody>
          <a:bodyPr/>
          <a:lstStyle/>
          <a:p>
            <a:pPr eaLnBrk="1" hangingPunct="1">
              <a:defRPr/>
            </a:pPr>
            <a:r>
              <a:rPr lang="zh-CN" altLang="en-US" dirty="0">
                <a:latin typeface="华文中宋" pitchFamily="2" charset="-122"/>
                <a:ea typeface="华文中宋" pitchFamily="2" charset="-122"/>
              </a:rPr>
              <a:t>基于注解方式</a:t>
            </a:r>
            <a:r>
              <a:rPr lang="en-US" altLang="zh-CN" dirty="0">
                <a:latin typeface="华文中宋" pitchFamily="2" charset="-122"/>
                <a:ea typeface="华文中宋" pitchFamily="2" charset="-122"/>
              </a:rPr>
              <a:t>-</a:t>
            </a:r>
            <a:r>
              <a:rPr lang="zh-CN" altLang="en-US" dirty="0">
                <a:solidFill>
                  <a:srgbClr val="FF0000"/>
                </a:solidFill>
                <a:latin typeface="华文中宋" pitchFamily="2" charset="-122"/>
                <a:ea typeface="华文中宋" pitchFamily="2" charset="-122"/>
              </a:rPr>
              <a:t>环绕增强</a:t>
            </a:r>
            <a:endParaRPr lang="zh-CN" altLang="en-US" dirty="0">
              <a:latin typeface="华文中宋" pitchFamily="2" charset="-122"/>
              <a:ea typeface="华文中宋" pitchFamily="2" charset="-122"/>
            </a:endParaRPr>
          </a:p>
        </p:txBody>
      </p:sp>
      <p:sp>
        <p:nvSpPr>
          <p:cNvPr id="121859" name="Rectangle 3">
            <a:extLst>
              <a:ext uri="{FF2B5EF4-FFF2-40B4-BE49-F238E27FC236}">
                <a16:creationId xmlns:a16="http://schemas.microsoft.com/office/drawing/2014/main" id="{2213DC24-372B-4EA2-8DC8-E9DBBF1ED9B9}"/>
              </a:ext>
            </a:extLst>
          </p:cNvPr>
          <p:cNvSpPr>
            <a:spLocks noGrp="1" noChangeArrowheads="1"/>
          </p:cNvSpPr>
          <p:nvPr/>
        </p:nvSpPr>
        <p:spPr bwMode="auto">
          <a:xfrm>
            <a:off x="2041526" y="1196975"/>
            <a:ext cx="7510463" cy="435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a:t>
            </a:r>
          </a:p>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 * @Around </a:t>
            </a:r>
            <a:r>
              <a:rPr lang="en-US" altLang="zh-CN" sz="1400" b="1" dirty="0" err="1">
                <a:solidFill>
                  <a:srgbClr val="00CC00"/>
                </a:solidFill>
                <a:latin typeface="Arial" panose="020B0604020202020204" pitchFamily="34" charset="0"/>
              </a:rPr>
              <a:t>环绕</a:t>
            </a:r>
            <a:r>
              <a:rPr lang="zh-CN" altLang="en-US" sz="1400" b="1" dirty="0">
                <a:solidFill>
                  <a:srgbClr val="00CC00"/>
                </a:solidFill>
                <a:latin typeface="Arial" panose="020B0604020202020204" pitchFamily="34" charset="0"/>
              </a:rPr>
              <a:t>增强</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可以控制方法的执行</a:t>
            </a:r>
            <a:endParaRPr lang="en-US" altLang="zh-CN" sz="1400" b="1" dirty="0">
              <a:solidFill>
                <a:srgbClr val="00CC00"/>
              </a:solidFill>
              <a:latin typeface="Arial" panose="020B0604020202020204" pitchFamily="34" charset="0"/>
            </a:endParaRPr>
          </a:p>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 *    * </a:t>
            </a:r>
            <a:r>
              <a:rPr lang="zh-CN" altLang="en-US" sz="1400" b="1" dirty="0">
                <a:solidFill>
                  <a:srgbClr val="00CC00"/>
                </a:solidFill>
                <a:latin typeface="Arial" panose="020B0604020202020204" pitchFamily="34" charset="0"/>
              </a:rPr>
              <a:t>增强</a:t>
            </a:r>
            <a:r>
              <a:rPr lang="en-US" altLang="zh-CN" sz="1400" b="1" dirty="0" err="1">
                <a:solidFill>
                  <a:srgbClr val="00CC00"/>
                </a:solidFill>
                <a:latin typeface="Arial" panose="020B0604020202020204" pitchFamily="34" charset="0"/>
              </a:rPr>
              <a:t>的第一个参数必须是</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ProceedingJoinPoint类型</a:t>
            </a:r>
            <a:endParaRPr lang="en-US" altLang="zh-CN" sz="1400" b="1" dirty="0">
              <a:solidFill>
                <a:srgbClr val="00CC00"/>
              </a:solidFill>
              <a:latin typeface="Arial" panose="020B0604020202020204" pitchFamily="34" charset="0"/>
            </a:endParaRPr>
          </a:p>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 *    * </a:t>
            </a:r>
            <a:r>
              <a:rPr lang="en-US" altLang="zh-CN" sz="1400" b="1" dirty="0" err="1">
                <a:solidFill>
                  <a:srgbClr val="00CC00"/>
                </a:solidFill>
                <a:latin typeface="Arial" panose="020B0604020202020204" pitchFamily="34" charset="0"/>
              </a:rPr>
              <a:t>调用ProceedingJoinPoint的proceed</a:t>
            </a:r>
            <a:r>
              <a:rPr lang="en-US" altLang="zh-CN" sz="1400" b="1" dirty="0">
                <a:solidFill>
                  <a:srgbClr val="00CC00"/>
                </a:solidFill>
                <a:latin typeface="Arial" panose="020B0604020202020204" pitchFamily="34" charset="0"/>
              </a:rPr>
              <a:t>()</a:t>
            </a:r>
            <a:r>
              <a:rPr lang="en-US" altLang="zh-CN" sz="1400" b="1" dirty="0" err="1">
                <a:solidFill>
                  <a:srgbClr val="00CC00"/>
                </a:solidFill>
                <a:latin typeface="Arial" panose="020B0604020202020204" pitchFamily="34" charset="0"/>
              </a:rPr>
              <a:t>方法会导致</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后台的连接点方法执行</a:t>
            </a:r>
            <a:endParaRPr lang="en-US" altLang="zh-CN" sz="1400" b="1" dirty="0">
              <a:solidFill>
                <a:srgbClr val="00CC00"/>
              </a:solidFill>
              <a:latin typeface="Arial" panose="020B0604020202020204" pitchFamily="34" charset="0"/>
            </a:endParaRPr>
          </a:p>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 * </a:t>
            </a:r>
            <a:r>
              <a:rPr lang="en-US" altLang="zh-CN" sz="1400" b="1" dirty="0" err="1">
                <a:solidFill>
                  <a:srgbClr val="00CC00"/>
                </a:solidFill>
                <a:latin typeface="Arial" panose="020B0604020202020204" pitchFamily="34" charset="0"/>
              </a:rPr>
              <a:t>userManagerPointut</a:t>
            </a:r>
            <a:r>
              <a:rPr lang="en-US" altLang="zh-CN" sz="1400" b="1" dirty="0">
                <a:solidFill>
                  <a:srgbClr val="00CC00"/>
                </a:solidFill>
                <a:latin typeface="Arial" panose="020B0604020202020204" pitchFamily="34" charset="0"/>
              </a:rPr>
              <a:t>() </a:t>
            </a:r>
            <a:r>
              <a:rPr lang="en-US" altLang="zh-CN" sz="1400" b="1" dirty="0" err="1">
                <a:solidFill>
                  <a:srgbClr val="00CC00"/>
                </a:solidFill>
                <a:latin typeface="Arial" panose="020B0604020202020204" pitchFamily="34" charset="0"/>
              </a:rPr>
              <a:t>表示前面定义的切入点</a:t>
            </a:r>
            <a:endParaRPr lang="en-US" altLang="zh-CN" sz="1400" b="1" dirty="0">
              <a:solidFill>
                <a:srgbClr val="00CC00"/>
              </a:solidFill>
              <a:latin typeface="Arial" panose="020B0604020202020204" pitchFamily="34" charset="0"/>
            </a:endParaRPr>
          </a:p>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 * @throws Throwable </a:t>
            </a:r>
          </a:p>
          <a:p>
            <a:pPr>
              <a:lnSpc>
                <a:spcPct val="80000"/>
              </a:lnSpc>
              <a:buFont typeface="Wingdings" panose="05000000000000000000" pitchFamily="2" charset="2"/>
              <a:buNone/>
            </a:pPr>
            <a:r>
              <a:rPr lang="en-US" altLang="zh-CN" sz="1400" b="1" dirty="0">
                <a:solidFill>
                  <a:srgbClr val="00CC00"/>
                </a:solidFill>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@Around("</a:t>
            </a:r>
            <a:r>
              <a:rPr lang="en-US" altLang="zh-CN" sz="1400" b="1" dirty="0" err="1">
                <a:latin typeface="Arial" panose="020B0604020202020204" pitchFamily="34" charset="0"/>
              </a:rPr>
              <a:t>userManagerPointut</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public Object </a:t>
            </a:r>
            <a:r>
              <a:rPr lang="en-US" altLang="zh-CN" sz="1400" b="1" dirty="0" err="1">
                <a:latin typeface="Arial" panose="020B0604020202020204" pitchFamily="34" charset="0"/>
              </a:rPr>
              <a:t>checkSecurity</a:t>
            </a:r>
            <a:r>
              <a:rPr lang="en-US" altLang="zh-CN" sz="1400" b="1" dirty="0">
                <a:latin typeface="Arial" panose="020B0604020202020204" pitchFamily="34" charset="0"/>
              </a:rPr>
              <a:t>(</a:t>
            </a:r>
            <a:r>
              <a:rPr lang="en-US" altLang="zh-CN" sz="1400" b="1" dirty="0" err="1">
                <a:latin typeface="Arial" panose="020B0604020202020204" pitchFamily="34" charset="0"/>
              </a:rPr>
              <a:t>ProceedingJoinPoint</a:t>
            </a:r>
            <a:r>
              <a:rPr lang="en-US" altLang="zh-CN" sz="1400" b="1" dirty="0">
                <a:latin typeface="Arial" panose="020B0604020202020204" pitchFamily="34" charset="0"/>
              </a:rPr>
              <a:t> point) throws Throwable{</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方法的名称</a:t>
            </a:r>
            <a:r>
              <a:rPr lang="en-US" altLang="zh-CN" sz="1400" b="1" dirty="0">
                <a:latin typeface="Arial" panose="020B0604020202020204" pitchFamily="34" charset="0"/>
              </a:rPr>
              <a:t> "+</a:t>
            </a:r>
            <a:r>
              <a:rPr lang="en-US" altLang="zh-CN" sz="1400" b="1" dirty="0" err="1">
                <a:latin typeface="Arial" panose="020B0604020202020204" pitchFamily="34" charset="0"/>
              </a:rPr>
              <a:t>point.getSignature</a:t>
            </a:r>
            <a:r>
              <a:rPr lang="en-US" altLang="zh-CN" sz="1400" b="1" dirty="0">
                <a:latin typeface="Arial" panose="020B0604020202020204" pitchFamily="34" charset="0"/>
              </a:rPr>
              <a:t>().</a:t>
            </a:r>
            <a:r>
              <a:rPr lang="en-US" altLang="zh-CN" sz="1400" b="1" dirty="0" err="1">
                <a:latin typeface="Arial" panose="020B0604020202020204" pitchFamily="34" charset="0"/>
              </a:rPr>
              <a:t>getName</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测试参数对象是否为空</a:t>
            </a:r>
            <a:r>
              <a:rPr lang="en-US" altLang="zh-CN" sz="1400" b="1" dirty="0">
                <a:latin typeface="Arial" panose="020B0604020202020204" pitchFamily="34" charset="0"/>
              </a:rPr>
              <a:t>  "+</a:t>
            </a:r>
            <a:r>
              <a:rPr lang="en-US" altLang="zh-CN" sz="1400" b="1" dirty="0" err="1">
                <a:latin typeface="Arial" panose="020B0604020202020204" pitchFamily="34" charset="0"/>
              </a:rPr>
              <a:t>point.getArgs</a:t>
            </a:r>
            <a:r>
              <a:rPr lang="en-US" altLang="zh-CN" sz="1400" b="1" dirty="0">
                <a:latin typeface="Arial" panose="020B0604020202020204" pitchFamily="34" charset="0"/>
              </a:rPr>
              <a:t>().</a:t>
            </a:r>
            <a:r>
              <a:rPr lang="en-US" altLang="zh-CN" sz="1400" b="1" dirty="0" err="1">
                <a:latin typeface="Arial" panose="020B0604020202020204" pitchFamily="34" charset="0"/>
              </a:rPr>
              <a:t>toString</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if(</a:t>
            </a:r>
            <a:r>
              <a:rPr lang="en-US" altLang="zh-CN" sz="1400" b="1" dirty="0" err="1">
                <a:latin typeface="Arial" panose="020B0604020202020204" pitchFamily="34" charset="0"/>
              </a:rPr>
              <a:t>point.getArgs</a:t>
            </a:r>
            <a:r>
              <a:rPr lang="en-US" altLang="zh-CN" sz="1400" b="1" dirty="0">
                <a:latin typeface="Arial" panose="020B0604020202020204" pitchFamily="34" charset="0"/>
              </a:rPr>
              <a:t>().length&gt;0);{</a:t>
            </a:r>
          </a:p>
          <a:p>
            <a:pPr>
              <a:lnSpc>
                <a:spcPct val="150000"/>
              </a:lnSpc>
              <a:buFont typeface="Wingdings" panose="05000000000000000000" pitchFamily="2" charset="2"/>
              <a:buNone/>
            </a:pPr>
            <a:r>
              <a:rPr lang="en-US" altLang="zh-CN" sz="1400" b="1" dirty="0">
                <a:latin typeface="Arial" panose="020B0604020202020204" pitchFamily="34" charset="0"/>
              </a:rPr>
              <a:t>        for(int </a:t>
            </a:r>
            <a:r>
              <a:rPr lang="en-US" altLang="zh-CN" sz="1400" b="1" dirty="0" err="1">
                <a:latin typeface="Arial" panose="020B0604020202020204" pitchFamily="34" charset="0"/>
              </a:rPr>
              <a:t>i</a:t>
            </a:r>
            <a:r>
              <a:rPr lang="en-US" altLang="zh-CN" sz="1400" b="1" dirty="0">
                <a:latin typeface="Arial" panose="020B0604020202020204" pitchFamily="34" charset="0"/>
              </a:rPr>
              <a:t>=0;i&lt;</a:t>
            </a:r>
            <a:r>
              <a:rPr lang="en-US" altLang="zh-CN" sz="1400" b="1" dirty="0" err="1">
                <a:latin typeface="Arial" panose="020B0604020202020204" pitchFamily="34" charset="0"/>
              </a:rPr>
              <a:t>point.getArgs</a:t>
            </a:r>
            <a:r>
              <a:rPr lang="en-US" altLang="zh-CN" sz="1400" b="1" dirty="0">
                <a:latin typeface="Arial" panose="020B0604020202020204" pitchFamily="34" charset="0"/>
              </a:rPr>
              <a:t>().</a:t>
            </a:r>
            <a:r>
              <a:rPr lang="en-US" altLang="zh-CN" sz="1400" b="1" dirty="0" err="1">
                <a:latin typeface="Arial" panose="020B0604020202020204" pitchFamily="34" charset="0"/>
              </a:rPr>
              <a:t>length;i</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方法的参数值</a:t>
            </a:r>
            <a:r>
              <a:rPr lang="en-US" altLang="zh-CN" sz="1400" b="1" dirty="0">
                <a:latin typeface="Arial" panose="020B0604020202020204" pitchFamily="34" charset="0"/>
              </a:rPr>
              <a:t> "+</a:t>
            </a:r>
            <a:r>
              <a:rPr lang="en-US" altLang="zh-CN" sz="1400" b="1" dirty="0" err="1">
                <a:latin typeface="Arial" panose="020B0604020202020204" pitchFamily="34" charset="0"/>
              </a:rPr>
              <a:t>point.getArgs</a:t>
            </a:r>
            <a:r>
              <a:rPr lang="en-US" altLang="zh-CN" sz="1400" b="1" dirty="0">
                <a:latin typeface="Arial" panose="020B0604020202020204" pitchFamily="34" charset="0"/>
              </a:rPr>
              <a:t>()[</a:t>
            </a:r>
            <a:r>
              <a:rPr lang="en-US" altLang="zh-CN" sz="1400" b="1" dirty="0" err="1">
                <a:latin typeface="Arial" panose="020B0604020202020204" pitchFamily="34" charset="0"/>
              </a:rPr>
              <a:t>i</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  Object </a:t>
            </a:r>
            <a:r>
              <a:rPr lang="en-US" altLang="zh-CN" sz="1400" b="1" dirty="0" err="1">
                <a:latin typeface="Arial" panose="020B0604020202020204" pitchFamily="34" charset="0"/>
              </a:rPr>
              <a:t>returnvalue</a:t>
            </a:r>
            <a:r>
              <a:rPr lang="en-US" altLang="zh-CN" sz="1400" b="1" dirty="0">
                <a:latin typeface="Arial" panose="020B0604020202020204" pitchFamily="34" charset="0"/>
              </a:rPr>
              <a:t>=null;//</a:t>
            </a:r>
            <a:r>
              <a:rPr lang="en-US" altLang="zh-CN" sz="1400" b="1" dirty="0" err="1">
                <a:latin typeface="Arial" panose="020B0604020202020204" pitchFamily="34" charset="0"/>
              </a:rPr>
              <a:t>调用方法的返回值,方法无返回值时是null</a:t>
            </a:r>
            <a:endParaRPr lang="en-US" altLang="zh-CN" sz="1400" b="1" dirty="0">
              <a:latin typeface="Arial" panose="020B0604020202020204" pitchFamily="34" charset="0"/>
            </a:endParaRP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returnvalue</a:t>
            </a:r>
            <a:r>
              <a:rPr lang="en-US" altLang="zh-CN" sz="1400" b="1" dirty="0">
                <a:latin typeface="Arial" panose="020B0604020202020204" pitchFamily="34" charset="0"/>
              </a:rPr>
              <a:t>=</a:t>
            </a:r>
            <a:r>
              <a:rPr lang="en-US" altLang="zh-CN" sz="1400" b="1" dirty="0" err="1">
                <a:latin typeface="Arial" panose="020B0604020202020204" pitchFamily="34" charset="0"/>
              </a:rPr>
              <a:t>point.proceed</a:t>
            </a:r>
            <a:r>
              <a:rPr lang="en-US" altLang="zh-CN" sz="1400" b="1" dirty="0">
                <a:latin typeface="Arial" panose="020B0604020202020204" pitchFamily="34" charset="0"/>
              </a:rPr>
              <a:t>(); //</a:t>
            </a:r>
            <a:r>
              <a:rPr lang="en-US" altLang="zh-CN" sz="1400" b="1" dirty="0" err="1">
                <a:latin typeface="Arial" panose="020B0604020202020204" pitchFamily="34" charset="0"/>
              </a:rPr>
              <a:t>调用目标对象的方法</a:t>
            </a:r>
            <a:endParaRPr lang="en-US" altLang="zh-CN" sz="1400" b="1" dirty="0">
              <a:latin typeface="Arial" panose="020B0604020202020204" pitchFamily="34" charset="0"/>
            </a:endParaRP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returnvalue</a:t>
            </a:r>
            <a:r>
              <a:rPr lang="en-US" altLang="zh-CN" sz="1400" b="1" dirty="0">
                <a:latin typeface="Arial" panose="020B0604020202020204" pitchFamily="34" charset="0"/>
              </a:rPr>
              <a:t> "+</a:t>
            </a:r>
            <a:r>
              <a:rPr lang="en-US" altLang="zh-CN" sz="1400" b="1" dirty="0" err="1">
                <a:latin typeface="Arial" panose="020B0604020202020204" pitchFamily="34" charset="0"/>
              </a:rPr>
              <a:t>returnvalue</a:t>
            </a:r>
            <a:r>
              <a:rPr lang="en-US" altLang="zh-CN" sz="1400" b="1" dirty="0">
                <a:latin typeface="Arial" panose="020B0604020202020204" pitchFamily="34" charset="0"/>
              </a:rPr>
              <a:t>);</a:t>
            </a:r>
          </a:p>
          <a:p>
            <a:pPr>
              <a:lnSpc>
                <a:spcPct val="150000"/>
              </a:lnSpc>
              <a:buFont typeface="Wingdings" panose="05000000000000000000" pitchFamily="2" charset="2"/>
              <a:buNone/>
            </a:pPr>
            <a:r>
              <a:rPr lang="en-US" altLang="zh-CN" sz="1400" b="1" dirty="0">
                <a:latin typeface="Arial" panose="020B0604020202020204" pitchFamily="34" charset="0"/>
              </a:rPr>
              <a:t>   </a:t>
            </a:r>
            <a:r>
              <a:rPr lang="en-US" altLang="zh-CN" sz="1400" b="1" dirty="0" err="1">
                <a:latin typeface="Arial" panose="020B0604020202020204" pitchFamily="34" charset="0"/>
              </a:rPr>
              <a:t>System.</a:t>
            </a:r>
            <a:r>
              <a:rPr lang="en-US" altLang="zh-CN" sz="1400" b="1" i="1" dirty="0" err="1">
                <a:latin typeface="Arial" panose="020B0604020202020204" pitchFamily="34" charset="0"/>
              </a:rPr>
              <a:t>out</a:t>
            </a:r>
            <a:r>
              <a:rPr lang="en-US" altLang="zh-CN" sz="1400" b="1" dirty="0" err="1">
                <a:latin typeface="Arial" panose="020B0604020202020204" pitchFamily="34" charset="0"/>
              </a:rPr>
              <a:t>.println</a:t>
            </a:r>
            <a:r>
              <a:rPr lang="en-US" altLang="zh-CN" sz="1400" b="1" dirty="0">
                <a:latin typeface="Arial" panose="020B0604020202020204" pitchFamily="34" charset="0"/>
              </a:rPr>
              <a:t>("</a:t>
            </a:r>
            <a:r>
              <a:rPr lang="en-US" altLang="zh-CN" sz="1400" b="1" dirty="0" err="1">
                <a:latin typeface="Arial" panose="020B0604020202020204" pitchFamily="34" charset="0"/>
              </a:rPr>
              <a:t>进行安全检查</a:t>
            </a: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   return </a:t>
            </a:r>
            <a:r>
              <a:rPr lang="en-US" altLang="zh-CN" sz="1400" b="1" dirty="0" err="1">
                <a:latin typeface="Arial" panose="020B0604020202020204" pitchFamily="34" charset="0"/>
              </a:rPr>
              <a:t>returnvalue</a:t>
            </a:r>
            <a:r>
              <a:rPr lang="en-US" altLang="zh-CN" sz="1400" b="1" dirty="0">
                <a:latin typeface="Arial" panose="020B0604020202020204" pitchFamily="34" charset="0"/>
              </a:rPr>
              <a:t>; }</a:t>
            </a:r>
          </a:p>
          <a:p>
            <a:pPr>
              <a:lnSpc>
                <a:spcPct val="150000"/>
              </a:lnSpc>
              <a:buFont typeface="Wingdings" panose="05000000000000000000" pitchFamily="2" charset="2"/>
              <a:buNone/>
            </a:pPr>
            <a:r>
              <a:rPr lang="en-US" altLang="zh-CN" sz="1400" b="1" dirty="0">
                <a:latin typeface="Arial" panose="020B0604020202020204" pitchFamily="34"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a:extLst>
              <a:ext uri="{FF2B5EF4-FFF2-40B4-BE49-F238E27FC236}">
                <a16:creationId xmlns:a16="http://schemas.microsoft.com/office/drawing/2014/main" id="{FE6D4ECB-86E3-46F1-93B6-AF04C639A81E}"/>
              </a:ext>
            </a:extLst>
          </p:cNvPr>
          <p:cNvSpPr>
            <a:spLocks noGrp="1" noChangeArrowheads="1"/>
          </p:cNvSpPr>
          <p:nvPr>
            <p:ph type="title"/>
          </p:nvPr>
        </p:nvSpPr>
        <p:spPr>
          <a:xfrm>
            <a:off x="2279650" y="692150"/>
            <a:ext cx="8229600" cy="857250"/>
          </a:xfrm>
        </p:spPr>
        <p:txBody>
          <a:bodyPr/>
          <a:lstStyle/>
          <a:p>
            <a:pPr>
              <a:defRPr/>
            </a:pPr>
            <a:r>
              <a:rPr lang="zh-CN" altLang="en-US" b="1" dirty="0">
                <a:latin typeface="Arial Unicode MS" pitchFamily="34" charset="-122"/>
                <a:ea typeface="Arial Unicode MS" pitchFamily="34" charset="-122"/>
                <a:cs typeface="Arial Unicode MS" pitchFamily="34" charset="-122"/>
              </a:rPr>
              <a:t>指定切面的优先级</a:t>
            </a:r>
          </a:p>
        </p:txBody>
      </p:sp>
      <p:sp>
        <p:nvSpPr>
          <p:cNvPr id="122883" name="Rectangle 3">
            <a:extLst>
              <a:ext uri="{FF2B5EF4-FFF2-40B4-BE49-F238E27FC236}">
                <a16:creationId xmlns:a16="http://schemas.microsoft.com/office/drawing/2014/main" id="{29111454-28FF-4550-B99E-C7CCBB2AAACD}"/>
              </a:ext>
            </a:extLst>
          </p:cNvPr>
          <p:cNvSpPr>
            <a:spLocks noGrp="1" noChangeArrowheads="1"/>
          </p:cNvSpPr>
          <p:nvPr>
            <p:ph sz="quarter" idx="1"/>
          </p:nvPr>
        </p:nvSpPr>
        <p:spPr>
          <a:xfrm>
            <a:off x="1992314" y="1706564"/>
            <a:ext cx="7983537" cy="2973387"/>
          </a:xfrm>
        </p:spPr>
        <p:txBody>
          <a:bodyPr/>
          <a:lstStyle/>
          <a:p>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在同一个连接点上应用不止一个切面时</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除非明确指定</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否则它们的优先级是不确定的</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切面的优先级可以通过实现 </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Ordered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接口或利用 </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@Order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注解指定</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实现 </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Ordered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接口</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 getOrder()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方法的返回值越小</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优先级越高</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a:t>
            </a:r>
          </a:p>
          <a:p>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若使用 </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@Order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注解</a:t>
            </a: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latin typeface="Arial Unicode MS" panose="020B0604020202020204" pitchFamily="34" charset="-122"/>
                <a:ea typeface="Arial Unicode MS" panose="020B0604020202020204" pitchFamily="34" charset="-122"/>
                <a:cs typeface="Arial Unicode MS" panose="020B0604020202020204" pitchFamily="34" charset="-122"/>
              </a:rPr>
              <a:t>序号出现在注解中</a:t>
            </a:r>
          </a:p>
        </p:txBody>
      </p:sp>
      <p:pic>
        <p:nvPicPr>
          <p:cNvPr id="122884" name="Picture 4">
            <a:extLst>
              <a:ext uri="{FF2B5EF4-FFF2-40B4-BE49-F238E27FC236}">
                <a16:creationId xmlns:a16="http://schemas.microsoft.com/office/drawing/2014/main" id="{2EF3C72E-C63E-4B23-B754-A06D6E718F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4679951"/>
            <a:ext cx="403225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5" name="Picture 5">
            <a:extLst>
              <a:ext uri="{FF2B5EF4-FFF2-40B4-BE49-F238E27FC236}">
                <a16:creationId xmlns:a16="http://schemas.microsoft.com/office/drawing/2014/main" id="{3B2BEB6E-BBD5-42B2-8E84-1A8177B89F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5400676"/>
            <a:ext cx="388937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BC3284-923D-41FC-A571-F54A024F65D3}"/>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4BE2FD93-9700-4BBD-81B8-403072A25AC6}"/>
              </a:ext>
            </a:extLst>
          </p:cNvPr>
          <p:cNvSpPr>
            <a:spLocks noGrp="1"/>
          </p:cNvSpPr>
          <p:nvPr>
            <p:ph idx="1"/>
          </p:nvPr>
        </p:nvSpPr>
        <p:spPr/>
        <p:txBody>
          <a:bodyPr>
            <a:normAutofit lnSpcReduction="10000"/>
          </a:bodyPr>
          <a:lstStyle/>
          <a:p>
            <a:r>
              <a:rPr lang="en-US" altLang="zh-CN" dirty="0"/>
              <a:t>1. </a:t>
            </a:r>
            <a:r>
              <a:rPr lang="zh-CN" altLang="en-US" dirty="0"/>
              <a:t>什么是</a:t>
            </a:r>
            <a:r>
              <a:rPr lang="en-US" altLang="zh-CN" dirty="0"/>
              <a:t>Spring IOC </a:t>
            </a:r>
            <a:r>
              <a:rPr lang="zh-CN" altLang="en-US" dirty="0"/>
              <a:t>容器？ 控制反转</a:t>
            </a:r>
            <a:r>
              <a:rPr lang="en-US" altLang="zh-CN" dirty="0"/>
              <a:t>(IoC)</a:t>
            </a:r>
            <a:r>
              <a:rPr lang="zh-CN" altLang="en-US" dirty="0"/>
              <a:t>有什么作用？</a:t>
            </a:r>
          </a:p>
          <a:p>
            <a:r>
              <a:rPr lang="en-US" altLang="zh-CN" dirty="0"/>
              <a:t>2. Spring</a:t>
            </a:r>
            <a:r>
              <a:rPr lang="zh-CN" altLang="en-US" dirty="0"/>
              <a:t>注解实现依赖注入时，这几个注解</a:t>
            </a:r>
            <a:r>
              <a:rPr lang="en-US" altLang="zh-CN" dirty="0"/>
              <a:t>@Repository, @Service </a:t>
            </a:r>
            <a:r>
              <a:rPr lang="zh-CN" altLang="en-US" dirty="0"/>
              <a:t>，</a:t>
            </a:r>
            <a:r>
              <a:rPr lang="en-US" altLang="zh-CN" dirty="0"/>
              <a:t>@Autowired </a:t>
            </a:r>
            <a:r>
              <a:rPr lang="zh-CN" altLang="en-US" dirty="0"/>
              <a:t>，</a:t>
            </a:r>
            <a:r>
              <a:rPr lang="en-US" altLang="zh-CN" dirty="0"/>
              <a:t>@Resource</a:t>
            </a:r>
            <a:r>
              <a:rPr lang="zh-CN" altLang="en-US" dirty="0"/>
              <a:t>注解的作用是什么？</a:t>
            </a:r>
            <a:r>
              <a:rPr lang="en-US" altLang="zh-CN" dirty="0"/>
              <a:t>@Autowired </a:t>
            </a:r>
            <a:r>
              <a:rPr lang="zh-CN" altLang="en-US" dirty="0"/>
              <a:t>，</a:t>
            </a:r>
            <a:r>
              <a:rPr lang="en-US" altLang="zh-CN" dirty="0"/>
              <a:t>@Resource</a:t>
            </a:r>
            <a:r>
              <a:rPr lang="zh-CN" altLang="en-US" dirty="0"/>
              <a:t>有什么区别？</a:t>
            </a:r>
          </a:p>
          <a:p>
            <a:r>
              <a:rPr lang="en-US" altLang="zh-CN" dirty="0"/>
              <a:t>3. </a:t>
            </a:r>
            <a:r>
              <a:rPr lang="zh-CN" altLang="en-US" dirty="0"/>
              <a:t>什么是面向切面编程</a:t>
            </a:r>
            <a:r>
              <a:rPr lang="en-US" altLang="zh-CN" dirty="0"/>
              <a:t>AOP</a:t>
            </a:r>
            <a:r>
              <a:rPr lang="zh-CN" altLang="en-US" dirty="0"/>
              <a:t>？常用增强处理类型</a:t>
            </a:r>
            <a:r>
              <a:rPr lang="en-US" altLang="zh-CN" dirty="0"/>
              <a:t>(advice)</a:t>
            </a:r>
            <a:r>
              <a:rPr lang="zh-CN" altLang="en-US" dirty="0"/>
              <a:t>有哪些？</a:t>
            </a:r>
          </a:p>
          <a:p>
            <a:r>
              <a:rPr lang="en-US" altLang="zh-CN" dirty="0"/>
              <a:t>4. </a:t>
            </a:r>
            <a:r>
              <a:rPr lang="zh-CN" altLang="en-US" dirty="0"/>
              <a:t>有哪些注解可实现</a:t>
            </a:r>
            <a:r>
              <a:rPr lang="en-US" altLang="zh-CN" dirty="0"/>
              <a:t>AOP</a:t>
            </a:r>
            <a:r>
              <a:rPr lang="zh-CN" altLang="en-US" dirty="0"/>
              <a:t>？其基本含义和用法是什么？</a:t>
            </a:r>
          </a:p>
        </p:txBody>
      </p:sp>
    </p:spTree>
    <p:extLst>
      <p:ext uri="{BB962C8B-B14F-4D97-AF65-F5344CB8AC3E}">
        <p14:creationId xmlns:p14="http://schemas.microsoft.com/office/powerpoint/2010/main" val="127348846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3302</TotalTime>
  <Words>6236</Words>
  <Application>Microsoft Office PowerPoint</Application>
  <PresentationFormat>宽屏</PresentationFormat>
  <Paragraphs>588</Paragraphs>
  <Slides>51</Slides>
  <Notes>28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51</vt:i4>
      </vt:variant>
    </vt:vector>
  </HeadingPairs>
  <TitlesOfParts>
    <vt:vector size="64" baseType="lpstr">
      <vt:lpstr>Arial Unicode MS</vt:lpstr>
      <vt:lpstr>等线</vt:lpstr>
      <vt:lpstr>等线 Light</vt:lpstr>
      <vt:lpstr>黑体</vt:lpstr>
      <vt:lpstr>华文中宋</vt:lpstr>
      <vt:lpstr>宋体</vt:lpstr>
      <vt:lpstr>微软雅黑</vt:lpstr>
      <vt:lpstr>Arial</vt:lpstr>
      <vt:lpstr>Calibri</vt:lpstr>
      <vt:lpstr>Times New Roman</vt:lpstr>
      <vt:lpstr>Webdings</vt:lpstr>
      <vt:lpstr>Wingdings</vt:lpstr>
      <vt:lpstr>Office 主题​​</vt:lpstr>
      <vt:lpstr>Spring AOP</vt:lpstr>
      <vt:lpstr>目标</vt:lpstr>
      <vt:lpstr>面向切面编程（AOP）</vt:lpstr>
      <vt:lpstr>面向切面编程（AOP）</vt:lpstr>
      <vt:lpstr>AOP中的横切关注点</vt:lpstr>
      <vt:lpstr>横切关注点：Cross-cutting concern </vt:lpstr>
      <vt:lpstr>Aspect 切面</vt:lpstr>
      <vt:lpstr>面向切面编程（AOP）</vt:lpstr>
      <vt:lpstr>Advice ：增强处理（通知）</vt:lpstr>
      <vt:lpstr>Joinpoint：连接点 </vt:lpstr>
      <vt:lpstr>Pointcut：切入点 </vt:lpstr>
      <vt:lpstr>PowerPoint 演示文稿</vt:lpstr>
      <vt:lpstr>AOP的各个名词示意 </vt:lpstr>
      <vt:lpstr>怎样使用AOP </vt:lpstr>
      <vt:lpstr>或利用Maven添加Spring依赖</vt:lpstr>
      <vt:lpstr>怎样使用AOP </vt:lpstr>
      <vt:lpstr>怎样使用AOP </vt:lpstr>
      <vt:lpstr>怎样使用AOP </vt:lpstr>
      <vt:lpstr>总结</vt:lpstr>
      <vt:lpstr>异常抛出增强 </vt:lpstr>
      <vt:lpstr>最终增强</vt:lpstr>
      <vt:lpstr>PowerPoint 演示文稿</vt:lpstr>
      <vt:lpstr>环绕增强 </vt:lpstr>
      <vt:lpstr>PowerPoint 演示文稿</vt:lpstr>
      <vt:lpstr>小结1</vt:lpstr>
      <vt:lpstr>小结2</vt:lpstr>
      <vt:lpstr>使用注解定义切面 2-1</vt:lpstr>
      <vt:lpstr>使用注解定义切面 2-2</vt:lpstr>
      <vt:lpstr>使用注解定义增强3-1</vt:lpstr>
      <vt:lpstr>使用注解定义增强3-2</vt:lpstr>
      <vt:lpstr>使用注解定义增强3-3</vt:lpstr>
      <vt:lpstr>Spring切面配置小结</vt:lpstr>
      <vt:lpstr>AOP:基于注解方式</vt:lpstr>
      <vt:lpstr>重用切入点定义</vt:lpstr>
      <vt:lpstr>重用切入点定义示例代码</vt:lpstr>
      <vt:lpstr>基于注解方式-前置通知(增强)</vt:lpstr>
      <vt:lpstr>基于注解方式-前置增强（通知）</vt:lpstr>
      <vt:lpstr>基于注解方式-后置增强或返回增强</vt:lpstr>
      <vt:lpstr>基于注解方式-后置增强或返回增强</vt:lpstr>
      <vt:lpstr>后置（返回）增强</vt:lpstr>
      <vt:lpstr>在返回增强中访问连接点的返回值</vt:lpstr>
      <vt:lpstr>异常增强</vt:lpstr>
      <vt:lpstr>基于注解方式-异常增强</vt:lpstr>
      <vt:lpstr>基于注解方式-异常增强</vt:lpstr>
      <vt:lpstr>基于注解方式-最终增强</vt:lpstr>
      <vt:lpstr>基于注解方式-最终增强</vt:lpstr>
      <vt:lpstr>基于注解方式:环绕增强</vt:lpstr>
      <vt:lpstr>基于注解方式-环绕增强</vt:lpstr>
      <vt:lpstr>基于注解方式-环绕增强</vt:lpstr>
      <vt:lpstr>指定切面的优先级</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CHONG LI</dc:creator>
  <cp:lastModifiedBy>CHONG LI</cp:lastModifiedBy>
  <cp:revision>67</cp:revision>
  <dcterms:created xsi:type="dcterms:W3CDTF">2020-04-06T11:13:40Z</dcterms:created>
  <dcterms:modified xsi:type="dcterms:W3CDTF">2024-04-02T23:47:21Z</dcterms:modified>
</cp:coreProperties>
</file>