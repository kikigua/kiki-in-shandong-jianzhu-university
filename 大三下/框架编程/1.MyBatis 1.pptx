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83" r:id="rId2"/>
    <p:sldId id="377" r:id="rId3"/>
    <p:sldId id="318" r:id="rId4"/>
    <p:sldId id="319" r:id="rId5"/>
    <p:sldId id="374" r:id="rId6"/>
    <p:sldId id="375" r:id="rId7"/>
    <p:sldId id="320" r:id="rId8"/>
    <p:sldId id="321" r:id="rId9"/>
    <p:sldId id="322" r:id="rId10"/>
    <p:sldId id="364" r:id="rId11"/>
    <p:sldId id="369" r:id="rId12"/>
    <p:sldId id="370" r:id="rId13"/>
    <p:sldId id="371" r:id="rId14"/>
    <p:sldId id="372" r:id="rId15"/>
    <p:sldId id="373" r:id="rId16"/>
    <p:sldId id="315" r:id="rId17"/>
    <p:sldId id="317" r:id="rId18"/>
    <p:sldId id="323" r:id="rId19"/>
    <p:sldId id="360" r:id="rId20"/>
    <p:sldId id="324" r:id="rId21"/>
    <p:sldId id="325" r:id="rId22"/>
    <p:sldId id="365" r:id="rId23"/>
    <p:sldId id="260" r:id="rId24"/>
    <p:sldId id="262" r:id="rId25"/>
    <p:sldId id="263" r:id="rId26"/>
    <p:sldId id="332" r:id="rId27"/>
    <p:sldId id="331" r:id="rId28"/>
    <p:sldId id="326" r:id="rId29"/>
    <p:sldId id="327" r:id="rId30"/>
    <p:sldId id="328" r:id="rId31"/>
    <p:sldId id="359" r:id="rId32"/>
    <p:sldId id="366" r:id="rId33"/>
    <p:sldId id="367" r:id="rId34"/>
    <p:sldId id="333" r:id="rId35"/>
    <p:sldId id="334" r:id="rId36"/>
    <p:sldId id="376" r:id="rId37"/>
    <p:sldId id="335" r:id="rId38"/>
    <p:sldId id="336" r:id="rId39"/>
    <p:sldId id="337" r:id="rId40"/>
    <p:sldId id="338" r:id="rId41"/>
    <p:sldId id="339" r:id="rId42"/>
    <p:sldId id="340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276" r:id="rId51"/>
    <p:sldId id="277" r:id="rId52"/>
    <p:sldId id="350" r:id="rId53"/>
    <p:sldId id="351" r:id="rId54"/>
    <p:sldId id="352" r:id="rId55"/>
    <p:sldId id="353" r:id="rId56"/>
    <p:sldId id="354" r:id="rId57"/>
    <p:sldId id="358" r:id="rId58"/>
    <p:sldId id="312" r:id="rId5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7">
          <p15:clr>
            <a:srgbClr val="A4A3A4"/>
          </p15:clr>
        </p15:guide>
        <p15:guide id="2" pos="28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6">
          <p15:clr>
            <a:srgbClr val="A4A3A4"/>
          </p15:clr>
        </p15:guide>
        <p15:guide id="2" pos="215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9D8"/>
    <a:srgbClr val="6C6C6C"/>
    <a:srgbClr val="92D050"/>
    <a:srgbClr val="E5E5E5"/>
    <a:srgbClr val="009ADA"/>
    <a:srgbClr val="238CBB"/>
    <a:srgbClr val="2BAEE9"/>
    <a:srgbClr val="0B9FDD"/>
    <a:srgbClr val="56B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7484" autoAdjust="0"/>
  </p:normalViewPr>
  <p:slideViewPr>
    <p:cSldViewPr>
      <p:cViewPr varScale="1">
        <p:scale>
          <a:sx n="100" d="100"/>
          <a:sy n="100" d="100"/>
        </p:scale>
        <p:origin x="946" y="58"/>
      </p:cViewPr>
      <p:guideLst>
        <p:guide orient="horz" pos="1657"/>
        <p:guide pos="2871"/>
      </p:guideLst>
    </p:cSldViewPr>
  </p:slideViewPr>
  <p:outlineViewPr>
    <p:cViewPr>
      <p:scale>
        <a:sx n="33" d="100"/>
        <a:sy n="33" d="100"/>
      </p:scale>
      <p:origin x="0" y="141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876" y="-90"/>
      </p:cViewPr>
      <p:guideLst>
        <p:guide orient="horz" pos="2946"/>
        <p:guide pos="215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5F6AE-2A9C-4C1F-879E-3928AA6E32CC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F4CAB-82FF-4C6F-A859-CAD40DD826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463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0AFA2-8F2F-4EE5-AEC6-84D8330F4D06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5495B-CF7F-4BEC-B2E8-B1A8532E7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86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D769FD-E2BE-4142-B462-D2B82E3475C4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32C53B-833A-4483-BA01-4181B57D9DBA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4E168B-A85C-433D-8AAA-69D774E4BC25}" type="slidenum">
              <a:rPr lang="zh-CN" altLang="en-US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836B65-FF66-4539-9D6D-565182C1207D}" type="slidenum">
              <a:rPr lang="zh-CN" altLang="en-US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D77065-9A77-4217-B06B-1742CE4BC6A5}" type="slidenum">
              <a:rPr lang="zh-CN" altLang="en-US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主要介绍后端框架技术，不涉及前端框架如</a:t>
            </a:r>
            <a:r>
              <a:rPr lang="en-US" altLang="zh-CN" dirty="0" err="1"/>
              <a:t>vue</a:t>
            </a:r>
            <a:r>
              <a:rPr lang="zh-CN" altLang="en-US" dirty="0"/>
              <a:t>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C75D36-F797-4C33-8E02-842F3B1B7B07}" type="slidenum">
              <a:rPr lang="zh-CN" altLang="en-US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040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介绍本书的项目贯穿案例：超市订单管理系统</a:t>
            </a:r>
            <a:endParaRPr lang="en-US" altLang="zh-CN" dirty="0"/>
          </a:p>
          <a:p>
            <a:r>
              <a:rPr lang="zh-CN" altLang="en-US" dirty="0"/>
              <a:t>业务需求以及功能效果展示（本书主要是进行框架的改造升级</a:t>
            </a:r>
            <a:r>
              <a:rPr lang="en-US" altLang="zh-CN" dirty="0"/>
              <a:t>——</a:t>
            </a:r>
            <a:r>
              <a:rPr lang="zh-CN" altLang="en-US" dirty="0"/>
              <a:t>由</a:t>
            </a:r>
            <a:r>
              <a:rPr lang="en-US" altLang="zh-CN" dirty="0" err="1"/>
              <a:t>jsp</a:t>
            </a:r>
            <a:r>
              <a:rPr lang="zh-CN" altLang="en-US" dirty="0"/>
              <a:t>、</a:t>
            </a:r>
            <a:r>
              <a:rPr lang="en-US" altLang="zh-CN" dirty="0"/>
              <a:t>servlet</a:t>
            </a:r>
            <a:r>
              <a:rPr lang="zh-CN" altLang="en-US" dirty="0"/>
              <a:t>、</a:t>
            </a:r>
            <a:r>
              <a:rPr lang="en-US" altLang="zh-CN" dirty="0" err="1"/>
              <a:t>javaBean</a:t>
            </a:r>
            <a:r>
              <a:rPr lang="zh-CN" altLang="en-US" dirty="0"/>
              <a:t>、</a:t>
            </a:r>
            <a:r>
              <a:rPr lang="en-US" altLang="zh-CN" dirty="0" err="1"/>
              <a:t>jdbc</a:t>
            </a:r>
            <a:r>
              <a:rPr lang="zh-CN" altLang="en-US" dirty="0"/>
              <a:t>升级改造为</a:t>
            </a:r>
            <a:r>
              <a:rPr lang="en-US" altLang="zh-CN" dirty="0"/>
              <a:t>SSM</a:t>
            </a:r>
            <a:r>
              <a:rPr lang="zh-CN" altLang="en-US" dirty="0"/>
              <a:t>框架级实现）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4D8869-F590-422E-84C6-D0F1229F592F}" type="slidenum">
              <a:rPr lang="zh-CN" altLang="en-US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81B5AA-C3E3-40B6-97EB-239DB0F5738A}" type="slidenum">
              <a:rPr lang="zh-CN" altLang="en-US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后来卖给谷歌。</a:t>
            </a:r>
            <a:r>
              <a:rPr lang="en-US" altLang="zh-CN" dirty="0"/>
              <a:t>2013</a:t>
            </a:r>
            <a:r>
              <a:rPr lang="zh-CN" altLang="en-US" dirty="0"/>
              <a:t>年迁移到</a:t>
            </a:r>
            <a:r>
              <a:rPr lang="en-US" altLang="zh-CN" dirty="0" err="1"/>
              <a:t>github</a:t>
            </a:r>
            <a:r>
              <a:rPr lang="zh-CN" altLang="en-US" dirty="0"/>
              <a:t>上。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22172C-B889-4F73-84E5-7FFA1EF27723}" type="slidenum">
              <a:rPr lang="zh-CN" altLang="en-US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泛化（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generalized</a:t>
            </a:r>
            <a:r>
              <a:rPr lang="zh-CN" altLang="en-US" dirty="0"/>
              <a:t>）：将可以自动生成的代码抽离出来，形成框架。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5495B-CF7F-4BEC-B2E8-B1A8532E7D6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27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通过刚刚的案例，和之前</a:t>
            </a:r>
            <a:r>
              <a:rPr lang="en-US" altLang="zh-CN" dirty="0"/>
              <a:t>JDBC</a:t>
            </a:r>
            <a:r>
              <a:rPr lang="zh-CN" altLang="en-US" dirty="0"/>
              <a:t>实现进行对比总结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87B59C-B5BE-421A-A8C6-7397D12804AC}" type="slidenum">
              <a:rPr lang="zh-CN" altLang="en-US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aseline="0" dirty="0">
                <a:sym typeface="Wingdings" panose="05000000000000000000" pitchFamily="2" charset="2"/>
              </a:rPr>
              <a:t>  ：   （详细演示功能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/>
          </a:p>
          <a:p>
            <a:r>
              <a:rPr lang="zh-CN" altLang="en-US" dirty="0"/>
              <a:t>介绍本书的项目贯穿案例：超市订单管理系统</a:t>
            </a:r>
            <a:endParaRPr lang="en-US" altLang="zh-CN" dirty="0"/>
          </a:p>
          <a:p>
            <a:r>
              <a:rPr lang="zh-CN" altLang="en-US" dirty="0"/>
              <a:t>业务需求以及功能效果展示（本书主要是进行框架的改造升级</a:t>
            </a:r>
            <a:r>
              <a:rPr lang="en-US" altLang="zh-CN" dirty="0"/>
              <a:t>——</a:t>
            </a:r>
            <a:r>
              <a:rPr lang="zh-CN" altLang="en-US" dirty="0"/>
              <a:t>由</a:t>
            </a:r>
            <a:r>
              <a:rPr lang="en-US" altLang="zh-CN" dirty="0" err="1"/>
              <a:t>jsp</a:t>
            </a:r>
            <a:r>
              <a:rPr lang="zh-CN" altLang="en-US" dirty="0"/>
              <a:t>、</a:t>
            </a:r>
            <a:r>
              <a:rPr lang="en-US" altLang="zh-CN" dirty="0"/>
              <a:t>servlet</a:t>
            </a:r>
            <a:r>
              <a:rPr lang="zh-CN" altLang="en-US" dirty="0"/>
              <a:t>、</a:t>
            </a:r>
            <a:r>
              <a:rPr lang="en-US" altLang="zh-CN" dirty="0" err="1"/>
              <a:t>javaBean</a:t>
            </a:r>
            <a:r>
              <a:rPr lang="zh-CN" altLang="en-US" dirty="0"/>
              <a:t>、</a:t>
            </a:r>
            <a:r>
              <a:rPr lang="en-US" altLang="zh-CN" dirty="0" err="1"/>
              <a:t>jdbc</a:t>
            </a:r>
            <a:r>
              <a:rPr lang="zh-CN" altLang="en-US" dirty="0"/>
              <a:t>升级改造为</a:t>
            </a:r>
            <a:r>
              <a:rPr lang="en-US" altLang="zh-CN" dirty="0"/>
              <a:t>SSM</a:t>
            </a:r>
            <a:r>
              <a:rPr lang="zh-CN" altLang="en-US" dirty="0"/>
              <a:t>框架级实现）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CB0038-1B5C-44DC-B18B-7370990D2FC3}" type="slidenum">
              <a:rPr lang="zh-CN" altLang="en-US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aseline="0" dirty="0">
                <a:sym typeface="Wingdings" panose="05000000000000000000" pitchFamily="2" charset="2"/>
              </a:rPr>
              <a:t>（详细演示功能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/>
          </a:p>
          <a:p>
            <a:r>
              <a:rPr lang="zh-CN" altLang="en-US" dirty="0"/>
              <a:t>介绍本书的项目贯穿案例：超市订单管理系统</a:t>
            </a:r>
            <a:endParaRPr lang="en-US" altLang="zh-CN" dirty="0"/>
          </a:p>
          <a:p>
            <a:r>
              <a:rPr lang="zh-CN" altLang="en-US" dirty="0"/>
              <a:t>讲解该项目的数据库设计，并演示具体的表结构</a:t>
            </a:r>
            <a:endParaRPr lang="en-US" altLang="zh-CN" dirty="0"/>
          </a:p>
          <a:p>
            <a:r>
              <a:rPr lang="zh-CN" altLang="en-US" dirty="0"/>
              <a:t>要点：逻辑外键关联。</a:t>
            </a:r>
            <a:r>
              <a:rPr lang="en-US" altLang="zh-CN" dirty="0"/>
              <a:t>User</a:t>
            </a:r>
            <a:r>
              <a:rPr lang="zh-CN" altLang="en-US" dirty="0"/>
              <a:t>表中的</a:t>
            </a:r>
            <a:r>
              <a:rPr lang="en-US" altLang="zh-CN" dirty="0" err="1"/>
              <a:t>userRole</a:t>
            </a:r>
            <a:r>
              <a:rPr lang="zh-CN" altLang="en-US" dirty="0"/>
              <a:t>与角色表中</a:t>
            </a:r>
            <a:r>
              <a:rPr lang="en-US" altLang="zh-CN" dirty="0"/>
              <a:t>id</a:t>
            </a:r>
            <a:r>
              <a:rPr lang="zh-CN" altLang="en-US" dirty="0"/>
              <a:t>是逻辑外键关联。即，不在数据库设计中强制设计外键关联。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CB0038-1B5C-44DC-B18B-7370990D2FC3}" type="slidenum">
              <a:rPr lang="zh-CN" altLang="en-US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搭建</a:t>
            </a:r>
            <a:r>
              <a:rPr lang="en-US" altLang="zh-CN" dirty="0" err="1"/>
              <a:t>MyBatis</a:t>
            </a:r>
            <a:r>
              <a:rPr lang="zh-CN" altLang="en-US" dirty="0"/>
              <a:t>环境，做出基于</a:t>
            </a:r>
            <a:r>
              <a:rPr lang="en-US" altLang="zh-CN" dirty="0" err="1"/>
              <a:t>Mybatis</a:t>
            </a:r>
            <a:r>
              <a:rPr lang="zh-CN" altLang="en-US" dirty="0"/>
              <a:t>实现的</a:t>
            </a:r>
            <a:r>
              <a:rPr lang="en-US" altLang="zh-CN" dirty="0"/>
              <a:t>SMBMS</a:t>
            </a:r>
            <a:r>
              <a:rPr lang="zh-CN" altLang="en-US" dirty="0"/>
              <a:t>系统的用户表记录数的查询</a:t>
            </a:r>
            <a:endParaRPr lang="en-US" altLang="zh-CN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、本次采用</a:t>
            </a:r>
            <a:r>
              <a:rPr lang="en-US" altLang="zh-CN" dirty="0"/>
              <a:t>maven</a:t>
            </a:r>
            <a:r>
              <a:rPr lang="zh-CN" altLang="en-US" dirty="0"/>
              <a:t>进行包管理。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、在</a:t>
            </a:r>
            <a:r>
              <a:rPr lang="en-US" altLang="zh-CN" dirty="0" err="1"/>
              <a:t>src</a:t>
            </a:r>
            <a:r>
              <a:rPr lang="zh-CN" altLang="en-US" dirty="0"/>
              <a:t>同级目录建立</a:t>
            </a:r>
            <a:r>
              <a:rPr lang="en-US" altLang="zh-CN" dirty="0"/>
              <a:t>resource</a:t>
            </a:r>
            <a:r>
              <a:rPr lang="zh-CN" altLang="en-US" dirty="0"/>
              <a:t>目录，存放</a:t>
            </a:r>
            <a:r>
              <a:rPr lang="en-US" altLang="zh-CN" dirty="0"/>
              <a:t>mybatis-config.xml</a:t>
            </a:r>
            <a:r>
              <a:rPr lang="zh-CN" altLang="en-US" dirty="0"/>
              <a:t>，</a:t>
            </a:r>
            <a:r>
              <a:rPr lang="en-US" altLang="zh-CN" dirty="0" err="1"/>
              <a:t>database.properties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通过这个案例总结：</a:t>
            </a:r>
            <a:endParaRPr lang="en-US" altLang="zh-CN" dirty="0"/>
          </a:p>
          <a:p>
            <a:r>
              <a:rPr lang="zh-CN" altLang="en-US" dirty="0"/>
              <a:t>总体来说 </a:t>
            </a:r>
            <a:r>
              <a:rPr lang="en-US" altLang="zh-CN" dirty="0" err="1"/>
              <a:t>MyBatis</a:t>
            </a:r>
            <a:r>
              <a:rPr lang="en-US" altLang="zh-CN" dirty="0"/>
              <a:t> </a:t>
            </a:r>
            <a:r>
              <a:rPr lang="zh-CN" altLang="en-US" dirty="0"/>
              <a:t>主要完成两件事情</a:t>
            </a:r>
          </a:p>
          <a:p>
            <a:r>
              <a:rPr lang="zh-CN" altLang="en-US" dirty="0"/>
              <a:t>根据 </a:t>
            </a:r>
            <a:r>
              <a:rPr lang="en-US" altLang="zh-CN" dirty="0"/>
              <a:t>JDBC </a:t>
            </a:r>
            <a:r>
              <a:rPr lang="zh-CN" altLang="en-US" dirty="0"/>
              <a:t>规范建立与数据库的连接； </a:t>
            </a:r>
          </a:p>
          <a:p>
            <a:r>
              <a:rPr lang="zh-CN" altLang="en-US" dirty="0"/>
              <a:t>通过</a:t>
            </a:r>
            <a:r>
              <a:rPr lang="en-US" altLang="zh-CN" dirty="0" err="1"/>
              <a:t>Annotaion</a:t>
            </a:r>
            <a:r>
              <a:rPr lang="en-US" altLang="zh-CN" dirty="0"/>
              <a:t>/XML+JAVA</a:t>
            </a:r>
            <a:r>
              <a:rPr lang="zh-CN" altLang="en-US" dirty="0"/>
              <a:t>反射技术，实现 </a:t>
            </a:r>
            <a:r>
              <a:rPr lang="en-US" altLang="zh-CN" dirty="0"/>
              <a:t>Java </a:t>
            </a:r>
            <a:r>
              <a:rPr lang="zh-CN" altLang="en-US" dirty="0"/>
              <a:t>对象与关系数据库之间相互转化。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CB0038-1B5C-44DC-B18B-7370990D2FC3}" type="slidenum">
              <a:rPr lang="zh-CN" altLang="en-US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第二次课内容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5495B-CF7F-4BEC-B2E8-B1A8532E7D67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2429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ED62BA-004E-4E19-B5A0-8301DB922C26}" type="slidenum">
              <a:rPr lang="zh-CN" altLang="en-US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3F8539-419C-4CA7-923A-F81EC4F46061}" type="slidenum">
              <a:rPr lang="zh-CN" altLang="en-US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 err="1"/>
              <a:t>SqlSessionFactoryBuilder</a:t>
            </a:r>
            <a:r>
              <a:rPr lang="zh-CN" altLang="en-US" dirty="0"/>
              <a:t>类的</a:t>
            </a:r>
            <a:r>
              <a:rPr lang="en-US" altLang="zh-CN" dirty="0"/>
              <a:t>Outline</a:t>
            </a:r>
            <a:r>
              <a:rPr lang="zh-CN" altLang="en-US" dirty="0"/>
              <a:t>视图，发现：</a:t>
            </a:r>
            <a:r>
              <a:rPr lang="en-US" altLang="zh-CN" dirty="0" err="1"/>
              <a:t>SqlSessionFactoryBuilder</a:t>
            </a:r>
            <a:r>
              <a:rPr lang="zh-CN" altLang="en-US" dirty="0"/>
              <a:t>类负责构建</a:t>
            </a:r>
            <a:r>
              <a:rPr lang="en-US" altLang="zh-CN" dirty="0" err="1"/>
              <a:t>SqlSessionFactory</a:t>
            </a:r>
            <a:r>
              <a:rPr lang="en-US" altLang="zh-CN" dirty="0"/>
              <a:t>,</a:t>
            </a:r>
            <a:r>
              <a:rPr lang="zh-CN" altLang="en-US" dirty="0"/>
              <a:t>并且提供了多个</a:t>
            </a:r>
            <a:r>
              <a:rPr lang="en-US" altLang="zh-CN" dirty="0"/>
              <a:t>build</a:t>
            </a:r>
            <a:r>
              <a:rPr lang="zh-CN" altLang="en-US" dirty="0"/>
              <a:t>的重载方法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E6F62-82AB-440F-B7FF-5E2F4D6FBA4D}" type="slidenum">
              <a:rPr lang="zh-CN" altLang="en-US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不再查看代码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跟</a:t>
            </a:r>
            <a:r>
              <a:rPr lang="en-US" altLang="zh-CN" dirty="0" err="1"/>
              <a:t>sqlSessionFactory</a:t>
            </a:r>
            <a:r>
              <a:rPr lang="zh-CN" altLang="en-US" dirty="0"/>
              <a:t>的生命周期，抛出问题：获取</a:t>
            </a:r>
            <a:r>
              <a:rPr lang="en-US" altLang="zh-CN" dirty="0" err="1"/>
              <a:t>sqlSessionFactory</a:t>
            </a:r>
            <a:r>
              <a:rPr lang="zh-CN" altLang="en-US" dirty="0"/>
              <a:t>的代码是否可以进行优化？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写在静态代码块下，</a:t>
            </a:r>
            <a:r>
              <a:rPr lang="en-US" altLang="zh-CN" b="1" spc="300" dirty="0" err="1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dirty="0" err="1"/>
              <a:t>qlSessionFactory</a:t>
            </a: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对象只会被创建一次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演示示例：</a:t>
            </a: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b="1" spc="300" dirty="0" err="1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MyBatisUtil</a:t>
            </a: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b="1" spc="300" dirty="0">
              <a:solidFill>
                <a:srgbClr val="FBFF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把获取</a:t>
            </a:r>
            <a:r>
              <a:rPr lang="en-US" altLang="zh-CN" b="1" spc="300" dirty="0" err="1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dirty="0" err="1"/>
              <a:t>qlSessionFactory</a:t>
            </a: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对象的内容抽取到一个工具类中，</a:t>
            </a:r>
            <a:endParaRPr lang="en-US" altLang="zh-CN" b="1" spc="300" dirty="0">
              <a:solidFill>
                <a:srgbClr val="FBFF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en-US" altLang="zh-CN" b="1" spc="300" dirty="0" err="1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factory.openSession</a:t>
            </a:r>
            <a:r>
              <a:rPr lang="en-US" altLang="zh-CN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(false); //true </a:t>
            </a:r>
            <a:r>
              <a:rPr lang="zh-CN" altLang="en-US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为自动提交事物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67EE7E-EF14-4C89-80FD-08A403626BF3}" type="slidenum">
              <a:rPr lang="zh-CN" altLang="en-US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强调</a:t>
            </a:r>
            <a:r>
              <a:rPr lang="en-US" altLang="zh-CN" dirty="0" err="1"/>
              <a:t>sqlSession</a:t>
            </a:r>
            <a:r>
              <a:rPr lang="zh-CN" altLang="en-US" dirty="0"/>
              <a:t>的关闭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72FF97-80C7-45DC-A9DE-43F1BCCC469A}" type="slidenum">
              <a:rPr lang="zh-CN" altLang="en-US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通过演示示例进行实际代码演示，扩展出使用</a:t>
            </a:r>
            <a:r>
              <a:rPr lang="en-US" altLang="zh-CN" dirty="0"/>
              <a:t>mapper</a:t>
            </a:r>
            <a:r>
              <a:rPr lang="zh-CN" altLang="en-US" dirty="0"/>
              <a:t>方式进行数据的查询。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B1436-376B-4CCD-B232-67713154E56A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查看代码课本案例：</a:t>
            </a:r>
            <a:r>
              <a:rPr lang="en-US" altLang="zh-CN" dirty="0"/>
              <a:t>C_02_03</a:t>
            </a:r>
          </a:p>
          <a:p>
            <a:r>
              <a:rPr lang="zh-CN" altLang="en-US" dirty="0"/>
              <a:t>通过演示示例进行实际代码演示，扩展出使用</a:t>
            </a:r>
            <a:r>
              <a:rPr lang="en-US" altLang="zh-CN" dirty="0"/>
              <a:t>mapper</a:t>
            </a:r>
            <a:r>
              <a:rPr lang="zh-CN" altLang="en-US" dirty="0"/>
              <a:t>方式进行数据的查询。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B1436-376B-4CCD-B232-67713154E56A}" type="slidenum">
              <a:rPr lang="zh-CN" altLang="en-US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非集成环境，非</a:t>
            </a:r>
            <a:r>
              <a:rPr lang="en-US" altLang="zh-CN" dirty="0"/>
              <a:t>SSM</a:t>
            </a:r>
            <a:r>
              <a:rPr lang="zh-CN" altLang="en-US" dirty="0"/>
              <a:t>这样的集成框架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BB1436-376B-4CCD-B232-67713154E56A}" type="slidenum">
              <a:rPr lang="zh-CN" altLang="en-US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结合</a:t>
            </a:r>
            <a:r>
              <a:rPr lang="en-US" altLang="zh-CN" dirty="0"/>
              <a:t>demo</a:t>
            </a:r>
            <a:r>
              <a:rPr lang="zh-CN" altLang="en-US" dirty="0"/>
              <a:t>的</a:t>
            </a:r>
            <a:r>
              <a:rPr lang="en-US" altLang="zh-CN" dirty="0"/>
              <a:t>mybatis-config.xml</a:t>
            </a:r>
            <a:r>
              <a:rPr lang="zh-CN" altLang="en-US" dirty="0"/>
              <a:t>讲解</a:t>
            </a:r>
            <a:r>
              <a:rPr lang="en-US" altLang="zh-CN" dirty="0"/>
              <a:t>XML</a:t>
            </a:r>
            <a:r>
              <a:rPr lang="zh-CN" altLang="en-US" dirty="0"/>
              <a:t>文档结构</a:t>
            </a:r>
            <a:endParaRPr lang="en-US" altLang="zh-CN" dirty="0"/>
          </a:p>
          <a:p>
            <a:r>
              <a:rPr lang="zh-CN" altLang="en-US" dirty="0"/>
              <a:t>（讲解时须强调：注意顺序！）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BCECEB-8062-4A87-980B-051BDB97CBE9}" type="slidenum">
              <a:rPr lang="zh-CN" altLang="en-US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3BACAA-9F59-4CAB-A4DB-510FBD554DEE}" type="slidenum">
              <a:rPr lang="zh-CN" altLang="en-US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3BACAA-9F59-4CAB-A4DB-510FBD554DEE}" type="slidenum">
              <a:rPr lang="zh-CN" altLang="en-US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不再查看代码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3BACAA-9F59-4CAB-A4DB-510FBD554DEE}" type="slidenum">
              <a:rPr lang="zh-CN" altLang="en-US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演示示例</a:t>
            </a:r>
            <a:r>
              <a:rPr lang="en-US" altLang="zh-CN" dirty="0"/>
              <a:t>5</a:t>
            </a:r>
            <a:r>
              <a:rPr lang="zh-CN" altLang="en-US" dirty="0"/>
              <a:t>中，需要通过设置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&lt;property name=</a:t>
            </a:r>
            <a:r>
              <a:rPr lang="en-US" altLang="zh-CN" sz="12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“password” value=“123456”/&gt;</a:t>
            </a:r>
            <a:r>
              <a:rPr lang="zh-CN" altLang="en-US" sz="12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密码的不同取值，并运行查询记录数</a:t>
            </a:r>
            <a:r>
              <a:rPr lang="en-US" altLang="zh-CN" sz="12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testCount</a:t>
            </a:r>
            <a:r>
              <a:rPr lang="en-US" altLang="zh-CN" sz="12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的测试方法，来验证优先级问题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3BACAA-9F59-4CAB-A4DB-510FBD554DEE}" type="slidenum">
              <a:rPr lang="zh-CN" altLang="en-US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了解即可，简单介绍，需要的时候，可以查阅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autoMappingBehavior  :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此设置项，下次课讲解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resultMap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2" charset="-122"/>
                <a:cs typeface="Times New Roman" panose="02020603050405020304" pitchFamily="18" charset="0"/>
              </a:rPr>
              <a:t>的时候会用到，需要强调一下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1D5726-3E75-4A2A-9128-7CF3F545D1F2}" type="slidenum">
              <a:rPr lang="zh-CN" altLang="en-US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AC0390-3241-4846-AD0A-4A9B3CD4232F}" type="slidenum">
              <a:rPr lang="zh-CN" altLang="en-US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Javabean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和数据库表字段不同时，就需要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TypeHandler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来处理转换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4F2D31-302B-4758-9C1C-1451A943A3B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735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b="1" dirty="0"/>
          </a:p>
          <a:p>
            <a:r>
              <a:rPr lang="zh-CN" altLang="en-US" b="1" dirty="0"/>
              <a:t>强调：每个数据库对应一个</a:t>
            </a:r>
            <a:r>
              <a:rPr lang="en-US" altLang="zh-CN" b="1" dirty="0" err="1"/>
              <a:t>SqlSessionFactory</a:t>
            </a:r>
            <a:r>
              <a:rPr lang="en-US" altLang="zh-CN" b="1" dirty="0"/>
              <a:t> </a:t>
            </a:r>
            <a:r>
              <a:rPr lang="zh-CN" altLang="en-US" b="1" dirty="0"/>
              <a:t>实例。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BD6360-3FBB-43C5-AFD0-DE4343EA2D0C}" type="slidenum">
              <a:rPr lang="zh-CN" altLang="en-US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EF54F7-EC6D-43A4-B6B5-C9CC10FC4491}" type="slidenum">
              <a:rPr lang="zh-CN" altLang="en-US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ManagedTransaction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：通过容器来进行事务管理，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mybatis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不对事务进行提交和回滚。例如由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springManagedTransaction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调用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jdbc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Mybatis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的事务管理机制还是比较简单的，其并没有做过多的操作，只是封装一下方便别人调用而已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CD6F1F-FF9A-414E-B11D-76D5F77F4CC0}" type="slidenum">
              <a:rPr lang="zh-CN" altLang="en-US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err="1"/>
              <a:t>Jndi</a:t>
            </a:r>
            <a:r>
              <a:rPr lang="zh-CN" altLang="en-US" dirty="0"/>
              <a:t>数据源信息可配置在</a:t>
            </a:r>
            <a:r>
              <a:rPr lang="en-US" altLang="zh-CN" dirty="0"/>
              <a:t>tomcat</a:t>
            </a:r>
            <a:r>
              <a:rPr lang="zh-CN" altLang="en-US" dirty="0"/>
              <a:t>容器的配置文件中。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928148-7673-47BA-97FC-284D41B9FE2E}" type="slidenum">
              <a:rPr lang="zh-CN" altLang="en-US" smtClean="0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方式一</a:t>
            </a:r>
            <a:r>
              <a:rPr lang="zh-CN" altLang="en-US" baseline="0" dirty="0"/>
              <a:t> 较为常用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3775F4-DA73-4821-8074-E4F8CC0F847D}" type="slidenum">
              <a:rPr lang="zh-CN" altLang="en-US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194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195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/>
          <a:p>
            <a:fld id="{2A9EA4B5-9757-45FA-ACB3-9257ADA8891B}" type="slidenum">
              <a:rPr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58</a:t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394075"/>
          </a:xfr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99D8"/>
              </a:buClr>
              <a:buFont typeface="Wingdings" panose="05000000000000000000" charset="0"/>
              <a:buChar char=""/>
              <a:defRPr sz="2400" b="1">
                <a:solidFill>
                  <a:srgbClr val="0B9FDD"/>
                </a:solidFill>
                <a:latin typeface="+mn-lt"/>
              </a:defRPr>
            </a:lvl1pPr>
            <a:lvl2pPr marL="800100" indent="-342900">
              <a:lnSpc>
                <a:spcPct val="100000"/>
              </a:lnSpc>
              <a:buClr>
                <a:srgbClr val="0099D8"/>
              </a:buClr>
              <a:buSzPct val="90000"/>
              <a:buFont typeface="Wingdings" panose="05000000000000000000" charset="0"/>
              <a:buChar char=""/>
              <a:defRPr sz="2200">
                <a:solidFill>
                  <a:schemeClr val="tx1"/>
                </a:solidFill>
                <a:latin typeface="+mn-lt"/>
              </a:defRPr>
            </a:lvl2pPr>
            <a:lvl3pPr marL="1200150" indent="-285750">
              <a:lnSpc>
                <a:spcPct val="100000"/>
              </a:lnSpc>
              <a:buClr>
                <a:srgbClr val="0099D8"/>
              </a:buClr>
              <a:buSzPct val="85000"/>
              <a:buFont typeface="Wingdings" panose="05000000000000000000" charset="0"/>
              <a:buChar char=""/>
              <a:defRPr sz="2000">
                <a:latin typeface="+mn-lt"/>
              </a:defRPr>
            </a:lvl3pPr>
            <a:lvl4pPr marL="1657350" indent="-285750">
              <a:lnSpc>
                <a:spcPct val="100000"/>
              </a:lnSpc>
              <a:buClr>
                <a:srgbClr val="0099D8"/>
              </a:buClr>
              <a:buFont typeface="Webdings" panose="05030102010509060703" charset="0"/>
              <a:buChar char="4"/>
              <a:defRPr>
                <a:latin typeface="+mn-lt"/>
              </a:defRPr>
            </a:lvl4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r>
              <a:rPr lang="en-US" altLang="zh-CN" dirty="0"/>
              <a:t>/49</a:t>
            </a:r>
            <a:endParaRPr 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43840" y="207645"/>
            <a:ext cx="8185785" cy="706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0" tIns="0"/>
          <a:lstStyle>
            <a:lvl1pPr>
              <a:defRPr sz="2400" b="1">
                <a:solidFill>
                  <a:srgbClr val="0099D9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" y="207645"/>
            <a:ext cx="8185785" cy="7067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0" tIns="0"/>
          <a:lstStyle>
            <a:lvl1pPr>
              <a:defRPr sz="2400" b="1">
                <a:solidFill>
                  <a:srgbClr val="0099D9"/>
                </a:solidFill>
                <a:latin typeface="+mj-lt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394075"/>
          </a:xfrm>
        </p:spPr>
        <p:txBody>
          <a:bodyPr/>
          <a:lstStyle>
            <a:lvl1pPr marL="457200" indent="-457200">
              <a:lnSpc>
                <a:spcPct val="100000"/>
              </a:lnSpc>
              <a:buClr>
                <a:srgbClr val="0099D8"/>
              </a:buClr>
              <a:buFont typeface="Wingdings" panose="05000000000000000000" charset="0"/>
              <a:buChar char=""/>
              <a:defRPr sz="2400" b="1">
                <a:solidFill>
                  <a:srgbClr val="0B9FDD"/>
                </a:solidFill>
                <a:latin typeface="+mn-lt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buClr>
                <a:srgbClr val="0099D8"/>
              </a:buClr>
              <a:buSzPct val="90000"/>
              <a:buFont typeface="Wingdings" panose="05000000000000000000" charset="0"/>
              <a:buChar char=""/>
              <a:defRPr sz="2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200150" indent="-285750">
              <a:lnSpc>
                <a:spcPct val="100000"/>
              </a:lnSpc>
              <a:buClr>
                <a:srgbClr val="0099D8"/>
              </a:buClr>
              <a:buSzPct val="85000"/>
              <a:buFont typeface="Wingdings" panose="05000000000000000000" charset="0"/>
              <a:buChar char=""/>
              <a:defRPr sz="2000">
                <a:latin typeface="+mn-lt"/>
                <a:cs typeface="Arial" panose="020B0604020202020204" pitchFamily="34" charset="0"/>
              </a:defRPr>
            </a:lvl3pPr>
            <a:lvl4pPr marL="1657350" indent="-285750">
              <a:lnSpc>
                <a:spcPct val="100000"/>
              </a:lnSpc>
              <a:buClr>
                <a:srgbClr val="0099D8"/>
              </a:buClr>
              <a:buFont typeface="Webdings" panose="05030102010509060703" charset="0"/>
              <a:buChar char="4"/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  <a:lvl6pPr>
              <a:defRPr>
                <a:latin typeface="+mn-lt"/>
                <a:cs typeface="Arial" panose="020B0604020202020204" pitchFamily="34" charset="0"/>
              </a:defRPr>
            </a:lvl6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  <a:p>
            <a:pPr lvl="5" fontAlgn="base"/>
            <a:r>
              <a:rPr lang="zh-CN" altLang="en-US" strike="noStrike" noProof="1"/>
              <a:t>６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49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buFont typeface="Wingdings" panose="05000000000000000000" charset="0"/>
              <a:buChar char=""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anose="05000000000000000000" charset="0"/>
              <a:buChar char="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anose="05000000000000000000" charset="0"/>
              <a:buChar char="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ebdings" panose="05030102010509060703" charset="0"/>
              <a:buChar char="4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anose="05000000000000000000" charset="0"/>
              <a:buChar char="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49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49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6380" y="349251"/>
            <a:ext cx="3429024" cy="43654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6260" y="797560"/>
            <a:ext cx="8422640" cy="3394075"/>
          </a:xfrm>
        </p:spPr>
        <p:txBody>
          <a:bodyPr vert="eaVert"/>
          <a:lstStyle>
            <a:lvl1pPr>
              <a:buFont typeface="Wingdings" panose="05000000000000000000" charset="0"/>
              <a:buChar char=""/>
              <a:defRPr/>
            </a:lvl1pPr>
            <a:lvl2pPr>
              <a:buFont typeface="Wingdings" panose="05000000000000000000" charset="0"/>
              <a:buChar char=""/>
              <a:defRPr/>
            </a:lvl2pPr>
            <a:lvl3pPr>
              <a:buFont typeface="Wingdings" panose="05000000000000000000" charset="0"/>
              <a:buChar char=""/>
              <a:defRPr/>
            </a:lvl3pPr>
            <a:lvl4pPr>
              <a:buFont typeface="Webdings" panose="05030102010509060703" charset="0"/>
              <a:buChar char="4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49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>
            <a:lvl1pPr>
              <a:buFont typeface="Wingdings" panose="05000000000000000000" charset="0"/>
              <a:buChar char=""/>
              <a:defRPr/>
            </a:lvl1pPr>
            <a:lvl2pPr>
              <a:buFont typeface="Wingdings" panose="05000000000000000000" charset="0"/>
              <a:buChar char=""/>
              <a:defRPr/>
            </a:lvl2pPr>
            <a:lvl3pPr>
              <a:buFont typeface="Wingdings" panose="05000000000000000000" charset="0"/>
              <a:buChar char=""/>
              <a:defRPr/>
            </a:lvl3pPr>
            <a:lvl4pPr>
              <a:buFont typeface="Webdings" panose="05030102010509060703" charset="0"/>
              <a:buChar char="4"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49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1538" y="857238"/>
            <a:ext cx="6643734" cy="3643338"/>
          </a:xfrm>
        </p:spPr>
        <p:txBody>
          <a:bodyPr>
            <a:normAutofit/>
          </a:bodyPr>
          <a:lstStyle>
            <a:lvl1pPr>
              <a:buClr>
                <a:srgbClr val="7CC049"/>
              </a:buClr>
              <a:buSzPct val="100000"/>
              <a:buFont typeface="Wingdings" panose="05000000000000000000" pitchFamily="2" charset="2"/>
              <a:buChar char="n"/>
              <a:defRPr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Clr>
                <a:srgbClr val="7CC049"/>
              </a:buClr>
              <a:buSzPct val="80000"/>
              <a:buFont typeface="Wingdings" panose="05000000000000000000" pitchFamily="2" charset="2"/>
              <a:buChar char="u"/>
              <a:defRPr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buSzPct val="80000"/>
              <a:buFontTx/>
              <a:buBlip>
                <a:blip r:embed="rId2"/>
              </a:buBlip>
              <a:defRPr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7164288" y="285734"/>
            <a:ext cx="1622554" cy="357190"/>
          </a:xfrm>
          <a:solidFill>
            <a:srgbClr val="30383A"/>
          </a:solidFill>
        </p:spPr>
        <p:txBody>
          <a:bodyPr>
            <a:noAutofit/>
          </a:bodyPr>
          <a:lstStyle>
            <a:lvl1pPr algn="r">
              <a:defRPr sz="2000" b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添加标题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r>
              <a:rPr lang="zh-CN" altLang="en-US" dirty="0"/>
              <a:t>/</a:t>
            </a:r>
            <a:r>
              <a:rPr lang="en-US" altLang="zh-CN" dirty="0"/>
              <a:t>49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>
            <p:ph type="ctrTitle" hasCustomPrompt="1"/>
          </p:nvPr>
        </p:nvSpPr>
        <p:spPr>
          <a:xfrm>
            <a:off x="685800" y="1094105"/>
            <a:ext cx="7772400" cy="11049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anchor="ctr">
            <a:normAutofit/>
          </a:bodyPr>
          <a:lstStyle>
            <a:lvl1pPr lvl="0" algn="ctr">
              <a:defRPr sz="4600" b="1" kern="1200"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en-US" altLang="zh-CN" strike="noStrike" noProof="1"/>
              <a:t>16/9</a:t>
            </a:r>
            <a:r>
              <a:rPr lang="zh-CN" altLang="en-US" strike="noStrike" noProof="1"/>
              <a:t>录屏模板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957263"/>
            <a:ext cx="3889375" cy="393620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7426" y="957263"/>
            <a:ext cx="3889375" cy="393620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EF789D-B952-40EE-B811-A7BFF45CE7B3}" type="slidenum">
              <a:rPr lang="zh-CN" altLang="en-US"/>
              <a:t>‹#›</a:t>
            </a:fld>
            <a:r>
              <a:rPr lang="en-US" altLang="zh-CN" dirty="0"/>
              <a:t>/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82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1" name="标题占位符 1"/>
          <p:cNvSpPr>
            <a:spLocks noGrp="1"/>
          </p:cNvSpPr>
          <p:nvPr>
            <p:ph type="title"/>
          </p:nvPr>
        </p:nvSpPr>
        <p:spPr bwMode="auto">
          <a:xfrm>
            <a:off x="48260" y="286385"/>
            <a:ext cx="5874385" cy="511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73735" y="977900"/>
            <a:ext cx="7797165" cy="318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r>
              <a:rPr lang="en-US" altLang="zh-CN" dirty="0"/>
              <a:t>/49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0B9FDD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"/>
        <a:defRPr sz="2400" b="1" kern="1200">
          <a:solidFill>
            <a:srgbClr val="009ADA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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"/>
        <a:defRPr sz="16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ebdings" panose="05030102010509060703" charset="0"/>
        <a:buChar char="4"/>
        <a:defRPr sz="1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9ADA"/>
        </a:buClr>
        <a:buFont typeface="Wingdings" panose="05000000000000000000" charset="0"/>
        <a:buChar char=""/>
        <a:defRPr sz="12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uejun1996@sdjzu.edu.cn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ybatis.org/mybatis-3/zh_CN/index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121"/>
          <p:cNvSpPr>
            <a:spLocks noGrp="1"/>
          </p:cNvSpPr>
          <p:nvPr>
            <p:ph type="ctrTitle"/>
          </p:nvPr>
        </p:nvSpPr>
        <p:spPr>
          <a:xfrm>
            <a:off x="1256983" y="1283335"/>
            <a:ext cx="6858000" cy="1184275"/>
          </a:xfrm>
        </p:spPr>
        <p:txBody>
          <a:bodyPr wrap="square" anchor="ctr">
            <a:normAutofit fontScale="90000"/>
          </a:bodyPr>
          <a:lstStyle/>
          <a:p>
            <a:br>
              <a:rPr lang="en-US" altLang="zh-CN" dirty="0">
                <a:sym typeface="+mn-ea"/>
              </a:rPr>
            </a:br>
            <a:r>
              <a:rPr lang="zh-CN" altLang="en-US" dirty="0">
                <a:solidFill>
                  <a:schemeClr val="tx1"/>
                </a:solidFill>
                <a:sym typeface="+mn-ea"/>
              </a:rPr>
              <a:t>框架编程技术</a:t>
            </a:r>
            <a:br>
              <a:rPr lang="zh-CN" altLang="en-US" dirty="0">
                <a:sym typeface="+mn-ea"/>
              </a:rPr>
            </a:br>
            <a:endParaRPr lang="zh-CN" altLang="en-US" strike="noStrike" kern="1200" noProof="1">
              <a:solidFill>
                <a:srgbClr val="0099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5AE0C0-B768-4372-8982-6FBBE75E8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" y="207645"/>
            <a:ext cx="8185785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2500" lnSpcReduction="10000"/>
          </a:bodyPr>
          <a:lstStyle>
            <a:lvl1pPr lvl="0" algn="ctr" rtl="0" eaLnBrk="1" fontAlgn="base" hangingPunct="1">
              <a:spcBef>
                <a:spcPct val="0"/>
              </a:spcBef>
              <a:spcAft>
                <a:spcPct val="0"/>
              </a:spcAft>
              <a:defRPr sz="46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/>
              <a:t>程项目展示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08B5C8-573D-30A7-6882-EF1AE152B6AB}"/>
              </a:ext>
            </a:extLst>
          </p:cNvPr>
          <p:cNvSpPr txBox="1"/>
          <p:nvPr/>
        </p:nvSpPr>
        <p:spPr>
          <a:xfrm>
            <a:off x="3419872" y="2571750"/>
            <a:ext cx="27771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主讲：李跃军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liyuejun1996@sdjzu.edu.cn</a:t>
            </a:r>
            <a:endParaRPr lang="en-US" altLang="zh-CN" dirty="0"/>
          </a:p>
          <a:p>
            <a:r>
              <a:rPr lang="en-US" altLang="zh-CN" dirty="0"/>
              <a:t>QQ:273253612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039C3-19EC-DAEB-072C-C12BB39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考试考核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5560DF-D43B-3D38-B6F7-4F756AD5A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课程性质：专业限选课</a:t>
            </a:r>
            <a:endParaRPr lang="en-US" altLang="zh-CN" dirty="0"/>
          </a:p>
          <a:p>
            <a:r>
              <a:rPr lang="zh-CN" altLang="en-US" dirty="0"/>
              <a:t>框架编程技术</a:t>
            </a:r>
            <a:r>
              <a:rPr lang="en-US" altLang="zh-CN" dirty="0"/>
              <a:t>+</a:t>
            </a:r>
            <a:r>
              <a:rPr lang="zh-CN" altLang="en-US" dirty="0"/>
              <a:t>框架编程技术课程设计</a:t>
            </a:r>
            <a:endParaRPr lang="en-US" altLang="zh-CN" dirty="0"/>
          </a:p>
          <a:p>
            <a:r>
              <a:rPr lang="zh-CN" altLang="en-US" dirty="0"/>
              <a:t>考试与考核</a:t>
            </a:r>
            <a:endParaRPr lang="en-US" altLang="zh-CN" dirty="0"/>
          </a:p>
          <a:p>
            <a:pPr lvl="1"/>
            <a:r>
              <a:rPr lang="zh-CN" altLang="en-US" dirty="0"/>
              <a:t>平时：</a:t>
            </a:r>
            <a:r>
              <a:rPr lang="en-US" altLang="zh-CN" dirty="0"/>
              <a:t>10%</a:t>
            </a:r>
          </a:p>
          <a:p>
            <a:pPr lvl="1"/>
            <a:r>
              <a:rPr lang="zh-CN" altLang="en-US" dirty="0"/>
              <a:t>实验：</a:t>
            </a:r>
            <a:r>
              <a:rPr lang="en-US" altLang="zh-CN" dirty="0"/>
              <a:t>30%</a:t>
            </a:r>
          </a:p>
          <a:p>
            <a:pPr lvl="1"/>
            <a:r>
              <a:rPr lang="zh-CN" altLang="en-US" dirty="0"/>
              <a:t>期末考试：</a:t>
            </a:r>
            <a:r>
              <a:rPr lang="en-US" altLang="zh-CN" dirty="0"/>
              <a:t>60%</a:t>
            </a:r>
            <a:r>
              <a:rPr lang="zh-CN" altLang="en-US" dirty="0"/>
              <a:t>，机试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63A5B-5FAD-091D-6E3D-4437FA41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1340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28" y="135515"/>
            <a:ext cx="8239097" cy="778886"/>
          </a:xfrm>
        </p:spPr>
        <p:txBody>
          <a:bodyPr/>
          <a:lstStyle/>
          <a:p>
            <a:r>
              <a:rPr lang="zh-CN" altLang="en-US" dirty="0"/>
              <a:t>为什么需要框架技术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829257"/>
            <a:ext cx="7762875" cy="3902733"/>
          </a:xfrm>
        </p:spPr>
        <p:txBody>
          <a:bodyPr/>
          <a:lstStyle/>
          <a:p>
            <a:r>
              <a:rPr lang="zh-CN" altLang="en-US" dirty="0"/>
              <a:t>如何更快更好地写简历？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word</a:t>
            </a:r>
            <a:r>
              <a:rPr lang="zh-CN" altLang="en-US" dirty="0"/>
              <a:t>简历模板</a:t>
            </a:r>
            <a:endParaRPr lang="en-US" altLang="zh-CN" dirty="0"/>
          </a:p>
          <a:p>
            <a:r>
              <a:rPr lang="zh-CN" altLang="en-US" dirty="0"/>
              <a:t>思考</a:t>
            </a:r>
            <a:endParaRPr lang="en-US" altLang="zh-CN" dirty="0"/>
          </a:p>
          <a:p>
            <a:pPr lvl="1"/>
            <a:r>
              <a:rPr lang="zh-CN" altLang="en-US" dirty="0"/>
              <a:t>使用模板有什么好处呢？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8" name="Picture 4" descr="Sna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1114424"/>
            <a:ext cx="4032250" cy="35531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4"/>
          <p:cNvSpPr>
            <a:spLocks noChangeArrowheads="1"/>
          </p:cNvSpPr>
          <p:nvPr/>
        </p:nvSpPr>
        <p:spPr bwMode="gray">
          <a:xfrm>
            <a:off x="1042988" y="2631281"/>
            <a:ext cx="3816350" cy="510778"/>
          </a:xfrm>
          <a:prstGeom prst="roundRect">
            <a:avLst>
              <a:gd name="adj" fmla="val 16667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不用考虑布局、排版等，提高效率</a:t>
            </a:r>
          </a:p>
        </p:txBody>
      </p:sp>
      <p:sp>
        <p:nvSpPr>
          <p:cNvPr id="15" name="AutoShape 4"/>
          <p:cNvSpPr>
            <a:spLocks noChangeArrowheads="1"/>
          </p:cNvSpPr>
          <p:nvPr/>
        </p:nvSpPr>
        <p:spPr bwMode="gray">
          <a:xfrm>
            <a:off x="1042988" y="3139678"/>
            <a:ext cx="3816350" cy="510778"/>
          </a:xfrm>
          <a:prstGeom prst="roundRect">
            <a:avLst>
              <a:gd name="adj" fmla="val 16667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可专心在简历内容上</a:t>
            </a:r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gray">
          <a:xfrm>
            <a:off x="1042988" y="3639741"/>
            <a:ext cx="3816350" cy="510778"/>
          </a:xfrm>
          <a:prstGeom prst="roundRect">
            <a:avLst>
              <a:gd name="adj" fmla="val 16667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结构统一，便于人事阅读</a:t>
            </a:r>
          </a:p>
        </p:txBody>
      </p:sp>
      <p:sp>
        <p:nvSpPr>
          <p:cNvPr id="17" name="AutoShape 4"/>
          <p:cNvSpPr>
            <a:spLocks noChangeArrowheads="1"/>
          </p:cNvSpPr>
          <p:nvPr/>
        </p:nvSpPr>
        <p:spPr bwMode="gray">
          <a:xfrm>
            <a:off x="1042988" y="4156812"/>
            <a:ext cx="3816350" cy="510778"/>
          </a:xfrm>
          <a:prstGeom prst="roundRect">
            <a:avLst>
              <a:gd name="adj" fmla="val 16667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新手也可以作出专业的简历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74680" y="843558"/>
            <a:ext cx="436880" cy="549275"/>
            <a:chOff x="314008" y="938530"/>
            <a:chExt cx="436880" cy="549275"/>
          </a:xfrm>
        </p:grpSpPr>
        <p:sp>
          <p:nvSpPr>
            <p:cNvPr id="19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20" name="图片 19" descr="疑问 gray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A508-9298-4215-A7B7-C8C0F11DE429}" type="slidenum">
              <a:rPr lang="zh-CN" altLang="en-US" smtClean="0"/>
              <a:t>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框架技术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框架技术</a:t>
            </a:r>
            <a:endParaRPr lang="en-US" altLang="zh-CN" dirty="0"/>
          </a:p>
          <a:p>
            <a:pPr lvl="1"/>
            <a:r>
              <a:rPr lang="zh-CN" altLang="en-US" dirty="0"/>
              <a:t>是一个应用程序的半成品</a:t>
            </a:r>
            <a:endParaRPr lang="en-US" altLang="zh-CN" dirty="0"/>
          </a:p>
          <a:p>
            <a:pPr lvl="1"/>
            <a:r>
              <a:rPr lang="zh-CN" altLang="en-US" dirty="0"/>
              <a:t>提供可重用的公共结构</a:t>
            </a:r>
            <a:endParaRPr lang="en-US" altLang="zh-CN" dirty="0"/>
          </a:p>
          <a:p>
            <a:pPr lvl="1"/>
            <a:r>
              <a:rPr lang="zh-CN" altLang="en-US" dirty="0"/>
              <a:t>按一定规则组织的一组组件</a:t>
            </a:r>
            <a:endParaRPr lang="en-US" altLang="zh-CN" dirty="0"/>
          </a:p>
          <a:p>
            <a:pPr lvl="3"/>
            <a:endParaRPr lang="en-US" altLang="zh-CN" dirty="0"/>
          </a:p>
          <a:p>
            <a:r>
              <a:rPr lang="zh-CN" altLang="en-US" dirty="0"/>
              <a:t>分析优势</a:t>
            </a:r>
            <a:endParaRPr lang="en-US" altLang="zh-CN" dirty="0"/>
          </a:p>
          <a:p>
            <a:pPr lvl="1"/>
            <a:r>
              <a:rPr lang="zh-CN" altLang="en-US" dirty="0"/>
              <a:t>不用再考虑公共问题</a:t>
            </a:r>
            <a:endParaRPr lang="en-US" altLang="zh-CN" dirty="0"/>
          </a:p>
          <a:p>
            <a:pPr lvl="1"/>
            <a:r>
              <a:rPr lang="zh-CN" altLang="en-US" dirty="0"/>
              <a:t>专心在业务实现上</a:t>
            </a:r>
            <a:endParaRPr lang="en-US" altLang="zh-CN" dirty="0"/>
          </a:p>
          <a:p>
            <a:pPr lvl="1"/>
            <a:r>
              <a:rPr lang="zh-CN" altLang="en-US" dirty="0"/>
              <a:t>结构统一，易于学习、维护</a:t>
            </a:r>
            <a:endParaRPr lang="en-US" altLang="zh-CN" dirty="0"/>
          </a:p>
          <a:p>
            <a:pPr lvl="1"/>
            <a:r>
              <a:rPr lang="zh-CN" altLang="en-US" dirty="0"/>
              <a:t>新手也可写出好程序 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8614-E070-472A-9488-EDDC5DA0A4E5}" type="slidenum">
              <a:rPr lang="zh-CN" altLang="en-US" smtClean="0"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EBB63-CDBD-5AFB-4E44-B5A66793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常用框架编程技术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DCA227-25CD-D2BA-A481-491FA9520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</a:p>
          <a:p>
            <a:pPr lvl="1"/>
            <a:r>
              <a:rPr lang="en-US" altLang="zh-CN" dirty="0"/>
              <a:t>Django</a:t>
            </a:r>
            <a:r>
              <a:rPr lang="zh-CN" altLang="en-US" dirty="0"/>
              <a:t>：快速开发复杂的信息管理系统</a:t>
            </a:r>
            <a:endParaRPr lang="en-US" altLang="zh-CN" dirty="0"/>
          </a:p>
          <a:p>
            <a:pPr lvl="1"/>
            <a:r>
              <a:rPr lang="en-US" altLang="zh-CN" dirty="0"/>
              <a:t>Flask</a:t>
            </a:r>
            <a:r>
              <a:rPr lang="zh-CN" altLang="en-US" dirty="0"/>
              <a:t>：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易于学习和使用，适合小型和中型系统</a:t>
            </a:r>
            <a:endParaRPr lang="en-US" altLang="zh-CN" dirty="0"/>
          </a:p>
          <a:p>
            <a:r>
              <a:rPr lang="en-US" altLang="zh-CN" dirty="0"/>
              <a:t>C#</a:t>
            </a:r>
          </a:p>
          <a:p>
            <a:r>
              <a:rPr lang="en-US" altLang="zh-CN" dirty="0"/>
              <a:t>PHP</a:t>
            </a:r>
          </a:p>
          <a:p>
            <a:r>
              <a:rPr lang="en-US" altLang="zh-CN" dirty="0"/>
              <a:t>Java</a:t>
            </a:r>
          </a:p>
          <a:p>
            <a:pPr lvl="1"/>
            <a:r>
              <a:rPr lang="en-US" altLang="zh-CN" dirty="0"/>
              <a:t>Spring</a:t>
            </a:r>
            <a:r>
              <a:rPr lang="zh-CN" altLang="en-US" dirty="0"/>
              <a:t>、</a:t>
            </a:r>
            <a:r>
              <a:rPr lang="en-US" altLang="zh-CN" dirty="0"/>
              <a:t>Spring Boot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MyBatis</a:t>
            </a:r>
            <a:r>
              <a:rPr lang="zh-CN" altLang="en-US" dirty="0"/>
              <a:t>、</a:t>
            </a:r>
            <a:r>
              <a:rPr lang="en-US" altLang="zh-CN" dirty="0"/>
              <a:t>Hibernate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D4AC7-3BCB-EDE5-ED34-544A232A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0795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9BDF9-D33D-3462-CEF9-DB5ABD65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常用框架编程技术</a:t>
            </a:r>
            <a:r>
              <a:rPr lang="en-US" altLang="zh-CN" dirty="0"/>
              <a:t>-</a:t>
            </a:r>
            <a:r>
              <a:rPr lang="zh-CN" altLang="en-US" dirty="0"/>
              <a:t>前端框架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5B65D-7559-ECC2-CFC8-D0A00755D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0" dirty="0">
                <a:effectLst/>
                <a:latin typeface="Söhne"/>
              </a:rPr>
              <a:t>React.js: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由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Facebook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开发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zh-CN" b="1" i="0" dirty="0">
                <a:effectLst/>
                <a:latin typeface="Söhne"/>
              </a:rPr>
              <a:t>Angular: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由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Google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维护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zh-CN" b="1" i="0" dirty="0">
                <a:effectLst/>
                <a:latin typeface="Söhne"/>
              </a:rPr>
              <a:t>Vue.js</a:t>
            </a:r>
          </a:p>
          <a:p>
            <a:r>
              <a:rPr lang="en-US" altLang="zh-CN" dirty="0">
                <a:latin typeface="Söhne"/>
              </a:rPr>
              <a:t>…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4E3614-21E5-F19A-2553-059AF641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A346706-1D98-9990-90E1-EC40A0BB3FBF}"/>
              </a:ext>
            </a:extLst>
          </p:cNvPr>
          <p:cNvSpPr txBox="1">
            <a:spLocks/>
          </p:cNvSpPr>
          <p:nvPr/>
        </p:nvSpPr>
        <p:spPr bwMode="auto">
          <a:xfrm>
            <a:off x="755576" y="3219822"/>
            <a:ext cx="8185785" cy="70675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square" lIns="0" tIns="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99D9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dirty="0"/>
              <a:t>本课程重点放在</a:t>
            </a:r>
            <a:r>
              <a:rPr lang="en-US" altLang="zh-CN" dirty="0"/>
              <a:t>Java</a:t>
            </a:r>
            <a:r>
              <a:rPr lang="zh-CN" altLang="en-US" dirty="0"/>
              <a:t>语言的</a:t>
            </a:r>
            <a:r>
              <a:rPr lang="zh-CN" altLang="en-US" dirty="0">
                <a:solidFill>
                  <a:srgbClr val="FF0000"/>
                </a:solidFill>
              </a:rPr>
              <a:t>后端框架编程技术</a:t>
            </a:r>
          </a:p>
        </p:txBody>
      </p:sp>
    </p:spTree>
    <p:extLst>
      <p:ext uri="{BB962C8B-B14F-4D97-AF65-F5344CB8AC3E}">
        <p14:creationId xmlns:p14="http://schemas.microsoft.com/office/powerpoint/2010/main" val="75807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主流框架介绍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644617"/>
          </a:xfrm>
        </p:spPr>
        <p:txBody>
          <a:bodyPr/>
          <a:lstStyle/>
          <a:p>
            <a:endParaRPr lang="en-US" altLang="zh-CN" dirty="0"/>
          </a:p>
          <a:p>
            <a:pPr lvl="1"/>
            <a:r>
              <a:rPr lang="en-US" altLang="zh-CN" dirty="0"/>
              <a:t>MVC</a:t>
            </a:r>
            <a:r>
              <a:rPr lang="zh-CN" altLang="en-US" dirty="0"/>
              <a:t>设计模式的实现</a:t>
            </a:r>
            <a:endParaRPr lang="en-US" altLang="zh-CN" dirty="0"/>
          </a:p>
          <a:p>
            <a:pPr lvl="1"/>
            <a:r>
              <a:rPr lang="zh-CN" altLang="en-US" dirty="0"/>
              <a:t>拦截器</a:t>
            </a:r>
            <a:endParaRPr lang="en-US" altLang="zh-CN" dirty="0"/>
          </a:p>
          <a:p>
            <a:pPr lvl="1"/>
            <a:r>
              <a:rPr lang="zh-CN" altLang="en-US" dirty="0"/>
              <a:t>可变和可重用的标签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ORM</a:t>
            </a:r>
            <a:r>
              <a:rPr lang="zh-CN" altLang="en-US" dirty="0"/>
              <a:t>，简化数据库操作</a:t>
            </a:r>
            <a:endParaRPr lang="en-US" altLang="zh-CN" dirty="0"/>
          </a:p>
          <a:p>
            <a:pPr lvl="1"/>
            <a:r>
              <a:rPr lang="en-US" altLang="zh-CN" dirty="0"/>
              <a:t>DAO</a:t>
            </a:r>
            <a:r>
              <a:rPr lang="zh-CN" altLang="en-US" dirty="0"/>
              <a:t>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2458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9" y="826346"/>
            <a:ext cx="28241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4" descr="01_oben_logo"/>
          <p:cNvPicPr>
            <a:picLocks noChangeAspect="1" noChangeArrowheads="1"/>
          </p:cNvPicPr>
          <p:nvPr/>
        </p:nvPicPr>
        <p:blipFill>
          <a:blip r:embed="rId4">
            <a:lum bright="-18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2698700"/>
            <a:ext cx="4787900" cy="1169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8605-7855-4F31-A931-81115798BC1A}" type="slidenum">
              <a:rPr lang="zh-CN" altLang="en-US" smtClean="0"/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主流框架介绍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750" y="1059582"/>
            <a:ext cx="7762875" cy="3312368"/>
          </a:xfrm>
        </p:spPr>
        <p:txBody>
          <a:bodyPr/>
          <a:lstStyle/>
          <a:p>
            <a:r>
              <a:rPr lang="en-US" altLang="zh-CN" dirty="0"/>
              <a:t>Spring</a:t>
            </a:r>
          </a:p>
          <a:p>
            <a:pPr lvl="1"/>
            <a:r>
              <a:rPr lang="zh-CN" altLang="en-US" dirty="0"/>
              <a:t>依赖注入容器 </a:t>
            </a:r>
            <a:r>
              <a:rPr lang="en-US" altLang="zh-CN" dirty="0"/>
              <a:t>/ AOP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声明式事务</a:t>
            </a:r>
            <a:endParaRPr lang="en-US" altLang="zh-CN" dirty="0"/>
          </a:p>
          <a:p>
            <a:pPr lvl="1"/>
            <a:r>
              <a:rPr lang="zh-CN" altLang="en-US" dirty="0"/>
              <a:t>简化</a:t>
            </a:r>
            <a:r>
              <a:rPr lang="en-US" altLang="zh-CN" dirty="0"/>
              <a:t>Java EE</a:t>
            </a:r>
            <a:r>
              <a:rPr lang="zh-CN" altLang="en-US" dirty="0"/>
              <a:t>应用</a:t>
            </a:r>
            <a:endParaRPr lang="en-US" altLang="zh-CN" dirty="0"/>
          </a:p>
          <a:p>
            <a:pPr lvl="1"/>
            <a:r>
              <a:rPr lang="zh-CN" altLang="en-US" dirty="0"/>
              <a:t>黏合剂，将大家组装到一起</a:t>
            </a:r>
            <a:endParaRPr lang="en-US" altLang="zh-CN" dirty="0"/>
          </a:p>
          <a:p>
            <a:r>
              <a:rPr lang="en-US" altLang="zh-CN" dirty="0"/>
              <a:t>Spring MVC</a:t>
            </a:r>
          </a:p>
          <a:p>
            <a:pPr lvl="1"/>
            <a:r>
              <a:rPr lang="zh-CN" altLang="en-US" dirty="0"/>
              <a:t>结构最清晰的</a:t>
            </a:r>
            <a:r>
              <a:rPr lang="en-US" altLang="zh-CN" dirty="0"/>
              <a:t>MVC Model2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高度可配置，支持多种视图技术</a:t>
            </a:r>
            <a:endParaRPr lang="en-US" altLang="zh-CN" dirty="0"/>
          </a:p>
          <a:p>
            <a:pPr lvl="1"/>
            <a:r>
              <a:rPr lang="zh-CN" altLang="en-US" dirty="0"/>
              <a:t>定制化开发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25604" name="Picture 5" descr="spri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714" y="-199975"/>
            <a:ext cx="3600450" cy="1691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58F99-A9F1-42A9-8694-5B9E2C286372}" type="slidenum">
              <a:rPr lang="zh-CN" altLang="en-US" smtClean="0"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主流框架介绍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4814" y="480798"/>
            <a:ext cx="7762875" cy="3394075"/>
          </a:xfrm>
        </p:spPr>
        <p:txBody>
          <a:bodyPr/>
          <a:lstStyle/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半自动化的</a:t>
            </a:r>
            <a:r>
              <a:rPr lang="en-US" altLang="zh-CN" dirty="0"/>
              <a:t>ORM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en-US" altLang="zh-CN" dirty="0"/>
              <a:t>DAO</a:t>
            </a:r>
            <a:r>
              <a:rPr lang="zh-CN" altLang="en-US" dirty="0"/>
              <a:t>层</a:t>
            </a:r>
            <a:endParaRPr lang="en-US" altLang="zh-CN" dirty="0"/>
          </a:p>
          <a:p>
            <a:pPr lvl="1"/>
            <a:r>
              <a:rPr lang="zh-CN" altLang="en-US" dirty="0"/>
              <a:t>动态</a:t>
            </a:r>
            <a:r>
              <a:rPr lang="en-US" altLang="zh-CN" dirty="0"/>
              <a:t>SQL</a:t>
            </a:r>
          </a:p>
          <a:p>
            <a:pPr lvl="1"/>
            <a:r>
              <a:rPr lang="zh-CN" altLang="en-US" dirty="0"/>
              <a:t>小巧灵活、简单易学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26628" name="Picture 2" descr="E:\work\A8\mybatis-PPT\mybatis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14" y="777292"/>
            <a:ext cx="33353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0B208-4083-4823-963C-561ECAB6BF38}" type="slidenum">
              <a:rPr lang="zh-CN" altLang="en-US" smtClean="0"/>
              <a:t>9</a:t>
            </a:fld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CCF8DA-0D86-4A7F-A591-CB5265ED5301}"/>
              </a:ext>
            </a:extLst>
          </p:cNvPr>
          <p:cNvSpPr txBox="1"/>
          <p:nvPr/>
        </p:nvSpPr>
        <p:spPr>
          <a:xfrm>
            <a:off x="169116" y="3196005"/>
            <a:ext cx="83352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What is </a:t>
            </a:r>
            <a:r>
              <a:rPr lang="en-US" altLang="zh-CN" b="1" dirty="0" err="1"/>
              <a:t>MyBatis</a:t>
            </a:r>
            <a:r>
              <a:rPr lang="en-US" altLang="zh-CN" b="1" dirty="0"/>
              <a:t>?</a:t>
            </a:r>
          </a:p>
          <a:p>
            <a:r>
              <a:rPr lang="en-US" altLang="zh-CN" dirty="0" err="1"/>
              <a:t>MyBatis</a:t>
            </a:r>
            <a:r>
              <a:rPr lang="en-US" altLang="zh-CN" dirty="0"/>
              <a:t> is a first class persistence framework with support for custom SQL, stored </a:t>
            </a:r>
          </a:p>
          <a:p>
            <a:r>
              <a:rPr lang="en-US" altLang="zh-CN" dirty="0"/>
              <a:t>Procedures and advanced mappings. </a:t>
            </a:r>
            <a:r>
              <a:rPr lang="en-US" altLang="zh-CN" dirty="0" err="1"/>
              <a:t>MyBatis</a:t>
            </a:r>
            <a:r>
              <a:rPr lang="en-US" altLang="zh-CN" dirty="0"/>
              <a:t> eliminates almost all of the JDBC code</a:t>
            </a:r>
          </a:p>
          <a:p>
            <a:r>
              <a:rPr lang="en-US" altLang="zh-CN" dirty="0"/>
              <a:t> and manual setting of parameters and retrieval of results. </a:t>
            </a:r>
            <a:r>
              <a:rPr lang="en-US" altLang="zh-CN" dirty="0" err="1"/>
              <a:t>MyBatis</a:t>
            </a:r>
            <a:r>
              <a:rPr lang="en-US" altLang="zh-CN" dirty="0"/>
              <a:t> can use simple XML</a:t>
            </a:r>
          </a:p>
          <a:p>
            <a:r>
              <a:rPr lang="en-US" altLang="zh-CN" dirty="0"/>
              <a:t> or Annotations for configuration and map primitives, Map interfaces and Java POJOs </a:t>
            </a:r>
          </a:p>
          <a:p>
            <a:r>
              <a:rPr lang="en-US" altLang="zh-CN" dirty="0"/>
              <a:t>(Plain Old Java Objects) to database records.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本课目标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学完本门课程后，你能够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1285876" y="1590626"/>
            <a:ext cx="6786563" cy="837108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lvl="1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掌握</a:t>
            </a:r>
            <a:r>
              <a:rPr lang="en-US" altLang="zh-CN" sz="2400" b="1" kern="0" dirty="0" err="1">
                <a:solidFill>
                  <a:schemeClr val="bg1"/>
                </a:solidFill>
                <a:ea typeface="微软雅黑" panose="020B0503020204020204" pitchFamily="34" charset="-122"/>
              </a:rPr>
              <a:t>MyBatis</a:t>
            </a: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Spring</a:t>
            </a: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2400" b="1" kern="0" dirty="0" err="1">
                <a:solidFill>
                  <a:schemeClr val="bg1"/>
                </a:solidFill>
                <a:ea typeface="微软雅黑" panose="020B0503020204020204" pitchFamily="34" charset="-122"/>
              </a:rPr>
              <a:t>SpringMVC</a:t>
            </a: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三大框架技术</a:t>
            </a:r>
            <a:endParaRPr lang="zh-CN" altLang="en-US" sz="135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285876" y="2555603"/>
            <a:ext cx="6786563" cy="880243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92075" lvl="1" indent="7938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搭建基于</a:t>
            </a:r>
            <a:r>
              <a:rPr lang="en-US" altLang="zh-CN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Spring Boot</a:t>
            </a: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的</a:t>
            </a:r>
            <a:r>
              <a:rPr lang="en-US" altLang="zh-CN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Web</a:t>
            </a: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框架，并在此框架上熟练进行项目开发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1E2A-123B-4EC2-AAD4-18598BE6FD3E}" type="slidenum">
              <a:rPr lang="zh-CN" altLang="en-US"/>
              <a:t>10</a:t>
            </a:fld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236D6D-57D2-4A78-9B04-C989F116662F}"/>
              </a:ext>
            </a:extLst>
          </p:cNvPr>
          <p:cNvSpPr/>
          <p:nvPr/>
        </p:nvSpPr>
        <p:spPr bwMode="auto">
          <a:xfrm>
            <a:off x="1285876" y="3572332"/>
            <a:ext cx="6786563" cy="837108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lvl="1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24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了解其他流行开源框架</a:t>
            </a:r>
            <a:endParaRPr lang="zh-CN" altLang="en-US" sz="135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411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91B7DA-042C-ECB3-359E-D5AB420C2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Gradle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是两种流行的 构建工具，广泛用于项目管理和自动化构建过程。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：基于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XML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的配置管理，强调约定优于配置，适合中小型项目。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优点：稳定、广泛的插件生态；局限性：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XML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配置繁琐。</a:t>
            </a:r>
            <a:endParaRPr lang="en-US" altLang="zh-CN" b="0" dirty="0">
              <a:solidFill>
                <a:srgbClr val="374151"/>
              </a:solidFill>
              <a:latin typeface="Söhne"/>
            </a:endParaRPr>
          </a:p>
          <a:p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Gradle: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结合了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Ant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的优点，引入基于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Groovy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Kotlin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的领域特定语言（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DSL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）来声明项目配置，提供了更灵活和强大的构建脚本能力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优点：构建速度快、自定义灵活；局限性：学习曲线较陡峭。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7619E49-4B64-D5EA-D1DE-ED2CA9A43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预备知识：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Gradle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09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FED96-D0D2-0AE9-588C-9BB5D2A8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effectLst/>
                <a:latin typeface="Söhne"/>
              </a:rPr>
              <a:t>Maven </a:t>
            </a:r>
            <a:r>
              <a:rPr lang="zh-CN" altLang="en-US" b="1" i="0" dirty="0">
                <a:effectLst/>
                <a:latin typeface="Söhne"/>
              </a:rPr>
              <a:t>的主要特点</a:t>
            </a:r>
            <a:r>
              <a:rPr lang="en-US" altLang="zh-CN" b="1" i="0" dirty="0">
                <a:effectLst/>
                <a:latin typeface="Söhne"/>
              </a:rPr>
              <a:t>-1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29AA7-9538-818B-8797-D6EC83E96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约定优于配置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使用了“约定优于配置”的原则，这意味着如果开发者遵循了默认约定（如源代码和资源的标准目录结构），那么他们只需很少的配置就能开始工作。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项目对象模型（</a:t>
            </a:r>
            <a:r>
              <a:rPr lang="en-US" altLang="zh-CN" sz="2000" b="1" i="0" dirty="0">
                <a:solidFill>
                  <a:srgbClr val="374151"/>
                </a:solidFill>
                <a:effectLst/>
                <a:latin typeface="Söhne"/>
              </a:rPr>
              <a:t>POM</a:t>
            </a: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）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使用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POM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（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pom.xml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文件）来描述项目信息和配置详细信息，如依赖、插件、目标、版本等。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依赖管理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提供了强大的依赖管理功能。开发者可以在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POM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中声明所需依赖，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将自动下载并管理这些依赖及其子依赖。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6B4CB-16DC-BCBF-917D-5E15F077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861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05447-6208-04FE-C424-7460FC49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effectLst/>
                <a:latin typeface="Söhne"/>
              </a:rPr>
              <a:t>Maven </a:t>
            </a:r>
            <a:r>
              <a:rPr lang="zh-CN" altLang="en-US" b="1" i="0" dirty="0">
                <a:effectLst/>
                <a:latin typeface="Söhne"/>
              </a:rPr>
              <a:t>的主要特点</a:t>
            </a:r>
            <a:r>
              <a:rPr lang="en-US" altLang="zh-CN" b="1" i="0" dirty="0">
                <a:effectLst/>
                <a:latin typeface="Söhne"/>
              </a:rPr>
              <a:t>-2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9A3B9-385F-0612-38B8-0A6158450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 startAt="4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生命周期管理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基于生命周期概念，这些生命周期定义了构建过程的不同阶段（如编译、测试、打包和部署）。每个阶段（或“目标”）都有一组可执行的任务。</a:t>
            </a:r>
          </a:p>
          <a:p>
            <a:pPr algn="l">
              <a:buFont typeface="+mj-lt"/>
              <a:buAutoNum type="arabicPeriod" startAt="4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仓库管理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与远程仓库协同工作，可以从中检索依赖，并将项目构建的输出存储在本地和远程仓库中。</a:t>
            </a:r>
            <a:endParaRPr lang="en-US" altLang="zh-CN" dirty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 startAt="4"/>
            </a:pPr>
            <a:r>
              <a:rPr lang="zh-CN" altLang="en-US" dirty="0">
                <a:solidFill>
                  <a:srgbClr val="374151"/>
                </a:solidFill>
                <a:latin typeface="Söhne"/>
              </a:rPr>
              <a:t>项目模板</a:t>
            </a:r>
            <a:endParaRPr lang="en-US" altLang="zh-CN" dirty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 startAt="4"/>
            </a:pPr>
            <a:r>
              <a:rPr lang="zh-CN" altLang="en-US" dirty="0">
                <a:solidFill>
                  <a:srgbClr val="374151"/>
                </a:solidFill>
                <a:latin typeface="Söhne"/>
              </a:rPr>
              <a:t>跨平台性和工具集成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B67F7-A8C0-CEFB-CFB2-2E484D24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8687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C0A2F-0F99-D5DE-40D2-FA4E1588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effectLst/>
                <a:latin typeface="Söhne"/>
              </a:rPr>
              <a:t>Gradle </a:t>
            </a:r>
            <a:r>
              <a:rPr lang="zh-CN" altLang="en-US" b="1" i="0" dirty="0">
                <a:effectLst/>
                <a:latin typeface="Söhne"/>
              </a:rPr>
              <a:t>的主要特点</a:t>
            </a:r>
            <a:r>
              <a:rPr lang="en-US" altLang="zh-CN" b="1" i="0" dirty="0">
                <a:effectLst/>
                <a:latin typeface="Söhne"/>
              </a:rPr>
              <a:t>-1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FA97B0-BABE-10FD-67D0-F5EB9AA6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灵活性和可扩展性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Gradle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允许开发者编写自定义逻辑来满足构建需求，提供了比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更高的灵活性和可扩展性。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基于 </a:t>
            </a:r>
            <a:r>
              <a:rPr lang="en-US" altLang="zh-CN" b="1" i="0" dirty="0">
                <a:solidFill>
                  <a:srgbClr val="374151"/>
                </a:solidFill>
                <a:effectLst/>
                <a:latin typeface="Söhne"/>
              </a:rPr>
              <a:t>Groovy </a:t>
            </a: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b="1" i="0" dirty="0">
                <a:solidFill>
                  <a:srgbClr val="374151"/>
                </a:solidFill>
                <a:effectLst/>
                <a:latin typeface="Söhne"/>
              </a:rPr>
              <a:t>Kotlin </a:t>
            </a: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的 </a:t>
            </a:r>
            <a:r>
              <a:rPr lang="en-US" altLang="zh-CN" b="1" i="0" dirty="0">
                <a:solidFill>
                  <a:srgbClr val="374151"/>
                </a:solidFill>
                <a:effectLst/>
                <a:latin typeface="Söhne"/>
              </a:rPr>
              <a:t>DSL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性能优化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多项目构建支持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丰富的插件生态系统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263F1-2F47-E022-ED96-B904DEAB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6283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4A95E-14EF-A527-CCBA-2B6ECF02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effectLst/>
                <a:latin typeface="Söhne"/>
              </a:rPr>
              <a:t>Gradle </a:t>
            </a:r>
            <a:r>
              <a:rPr lang="zh-CN" altLang="en-US" b="1" i="0" dirty="0">
                <a:effectLst/>
                <a:latin typeface="Söhne"/>
              </a:rPr>
              <a:t>的主要特点</a:t>
            </a:r>
            <a:r>
              <a:rPr lang="en-US" altLang="zh-CN" b="1" i="0" dirty="0">
                <a:effectLst/>
                <a:latin typeface="Söhne"/>
              </a:rPr>
              <a:t>-2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D87782-3714-E595-4E01-37F7B5FBA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强大的依赖管理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Gradle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的依赖管理机制既灵活又强大，支持从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Maven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Ivy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仓库中解析依赖。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易于集成</a:t>
            </a:r>
            <a:endParaRPr lang="zh-CN" alt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indent="0" algn="l">
              <a:buNone/>
            </a:pP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Gradle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可以很容易地集成到各种持续集成系统和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IDE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中，如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Jenkins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、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TeamCity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IntelliJ IDEA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适用于多种语言和平台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</a:p>
          <a:p>
            <a:pPr marL="457200" lvl="1" indent="0" algn="l">
              <a:buNone/>
            </a:pP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Gradle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不仅支持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Java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，还支持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C/C++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、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Python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、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Android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Söhne"/>
              </a:rPr>
              <a:t>Web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Söhne"/>
              </a:rPr>
              <a:t>项目等，这使其成为一个多用途的构建工具。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社区支持</a:t>
            </a:r>
            <a:endParaRPr lang="zh-CN" alt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首选于 </a:t>
            </a:r>
            <a:r>
              <a:rPr lang="en-US" altLang="zh-CN" sz="2000" b="1" i="0" dirty="0">
                <a:solidFill>
                  <a:srgbClr val="374151"/>
                </a:solidFill>
                <a:effectLst/>
                <a:latin typeface="Söhne"/>
              </a:rPr>
              <a:t>Android </a:t>
            </a:r>
            <a:r>
              <a:rPr lang="zh-CN" altLang="en-US" sz="2000" b="1" i="0" dirty="0">
                <a:solidFill>
                  <a:srgbClr val="374151"/>
                </a:solidFill>
                <a:effectLst/>
                <a:latin typeface="Söhne"/>
              </a:rPr>
              <a:t>开发</a:t>
            </a:r>
            <a:endParaRPr lang="zh-CN" alt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583EB4-54E6-7EEA-E3C5-D1162DB5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r>
              <a:rPr lang="zh-CN" altLang="en-US"/>
              <a:t>/</a:t>
            </a:r>
            <a:r>
              <a:rPr lang="en-US" altLang="zh-CN"/>
              <a:t>49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2138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课程项目展示</a:t>
            </a:r>
          </a:p>
        </p:txBody>
      </p:sp>
      <p:sp>
        <p:nvSpPr>
          <p:cNvPr id="556035" name="Rectangle 3"/>
          <p:cNvSpPr>
            <a:spLocks noGrp="1" noChangeArrowheads="1"/>
          </p:cNvSpPr>
          <p:nvPr>
            <p:ph idx="1"/>
          </p:nvPr>
        </p:nvSpPr>
        <p:spPr>
          <a:xfrm>
            <a:off x="677545" y="915567"/>
            <a:ext cx="7762875" cy="3493874"/>
          </a:xfrm>
        </p:spPr>
        <p:txBody>
          <a:bodyPr/>
          <a:lstStyle/>
          <a:p>
            <a:r>
              <a:rPr lang="zh-CN" altLang="en-US" dirty="0"/>
              <a:t>贯穿案例：超市订单管理系统</a:t>
            </a:r>
            <a:endParaRPr lang="en-US" altLang="zh-CN" dirty="0"/>
          </a:p>
          <a:p>
            <a:r>
              <a:rPr lang="zh-CN" altLang="en-US" dirty="0"/>
              <a:t>项目案例：</a:t>
            </a:r>
            <a:r>
              <a:rPr lang="en-US" altLang="zh-CN" dirty="0"/>
              <a:t>APP</a:t>
            </a:r>
            <a:r>
              <a:rPr lang="zh-CN" altLang="en-US" dirty="0"/>
              <a:t>信息管理平台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 bwMode="auto">
          <a:xfrm>
            <a:off x="3859305" y="4767896"/>
            <a:ext cx="2133918" cy="338554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示：演示课程项目</a:t>
            </a:r>
          </a:p>
        </p:txBody>
      </p:sp>
      <p:pic>
        <p:nvPicPr>
          <p:cNvPr id="17427" name="Picture 19" descr="E:\work\A8\mybatis-PPT\PPT用图\SMBMS_用户管理_用户列表页面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88" y="1383618"/>
            <a:ext cx="6761888" cy="27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E:\work\A8\Y2-SpringMVC\PPT\PPT14-pic\21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918" y="1668493"/>
            <a:ext cx="6559578" cy="300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1102241" y="4731990"/>
            <a:ext cx="5815935" cy="347748"/>
            <a:chOff x="1439365" y="4734558"/>
            <a:chExt cx="5815935" cy="347748"/>
          </a:xfrm>
        </p:grpSpPr>
        <p:sp>
          <p:nvSpPr>
            <p:cNvPr id="14" name="圆角矩形 13"/>
            <p:cNvSpPr/>
            <p:nvPr/>
          </p:nvSpPr>
          <p:spPr bwMode="auto">
            <a:xfrm>
              <a:off x="1439365" y="4734558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 bwMode="auto">
            <a:xfrm>
              <a:off x="2111970" y="4734559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6" name="Picture 8" descr="说话气泡new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365" y="4784752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/>
            <p:cNvSpPr txBox="1"/>
            <p:nvPr/>
          </p:nvSpPr>
          <p:spPr bwMode="auto">
            <a:xfrm>
              <a:off x="3180932" y="4743752"/>
              <a:ext cx="2377574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演示：演示课程项目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4562-9CFE-4D91-8812-793490805ED7}" type="slidenum">
              <a:rPr lang="en-US" altLang="zh-CN" smtClean="0"/>
              <a:t>16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本次课目标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理解数据持久化概念和</a:t>
            </a:r>
            <a:r>
              <a:rPr lang="en-US" altLang="zh-CN" dirty="0"/>
              <a:t>ORM</a:t>
            </a:r>
            <a:r>
              <a:rPr lang="zh-CN" altLang="en-US" dirty="0"/>
              <a:t>原理</a:t>
            </a:r>
          </a:p>
          <a:p>
            <a:r>
              <a:rPr lang="zh-CN" altLang="en-US" dirty="0"/>
              <a:t>理解</a:t>
            </a:r>
            <a:r>
              <a:rPr lang="en-US" altLang="zh-CN" dirty="0" err="1"/>
              <a:t>MyBatis</a:t>
            </a:r>
            <a:r>
              <a:rPr lang="zh-CN" altLang="en-US" dirty="0"/>
              <a:t>及优点特性</a:t>
            </a:r>
          </a:p>
          <a:p>
            <a:r>
              <a:rPr lang="zh-CN" altLang="en-US" dirty="0"/>
              <a:t>搭建</a:t>
            </a:r>
            <a:r>
              <a:rPr lang="en-US" altLang="zh-CN" dirty="0" err="1"/>
              <a:t>MyBatis</a:t>
            </a:r>
            <a:r>
              <a:rPr lang="zh-CN" altLang="en-US" dirty="0"/>
              <a:t>环境</a:t>
            </a:r>
          </a:p>
          <a:p>
            <a:r>
              <a:rPr lang="zh-CN" altLang="en-US" dirty="0"/>
              <a:t>了解</a:t>
            </a:r>
            <a:r>
              <a:rPr lang="en-US" altLang="zh-CN" dirty="0" err="1"/>
              <a:t>MyBatis</a:t>
            </a:r>
            <a:r>
              <a:rPr lang="zh-CN" altLang="en-US" dirty="0"/>
              <a:t>与</a:t>
            </a:r>
            <a:r>
              <a:rPr lang="en-US" altLang="zh-CN" dirty="0"/>
              <a:t>JDBC</a:t>
            </a:r>
            <a:r>
              <a:rPr lang="zh-CN" altLang="en-US" dirty="0"/>
              <a:t>的区别与联系</a:t>
            </a:r>
          </a:p>
          <a:p>
            <a:r>
              <a:rPr lang="zh-CN" altLang="en-US" dirty="0"/>
              <a:t>理解核心类的作用域和生命周期</a:t>
            </a:r>
            <a:endParaRPr lang="en-US" altLang="zh-CN" dirty="0"/>
          </a:p>
          <a:p>
            <a:r>
              <a:rPr lang="zh-CN" altLang="en-US" dirty="0"/>
              <a:t>掌握全局配置文件结构内容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12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9" y="1888604"/>
            <a:ext cx="714375" cy="539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9" y="2680468"/>
            <a:ext cx="714375" cy="53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C:\Users\meng.zhang\Desktop\ACCP7.0模版图标规范\是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964" y="3184524"/>
            <a:ext cx="714375" cy="53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 descr="C:\Users\Lenovo\Desktop\修改版\难点.png难点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73939" y="930798"/>
            <a:ext cx="534035" cy="5372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Picture 3" descr="C:\Users\Lenovo\Desktop\修改版\难点.png难点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50333" y="2682612"/>
            <a:ext cx="534035" cy="5372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382C6-0787-4B28-A3EE-E4FBE039D2A9}" type="slidenum">
              <a:rPr lang="zh-CN" altLang="en-US" smtClean="0"/>
              <a:t>17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持久化与对象关系映射</a:t>
            </a:r>
            <a:r>
              <a:rPr lang="en-US" altLang="zh-CN" dirty="0"/>
              <a:t>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771525"/>
            <a:ext cx="8008620" cy="3637915"/>
          </a:xfrm>
        </p:spPr>
        <p:txBody>
          <a:bodyPr/>
          <a:lstStyle/>
          <a:p>
            <a:r>
              <a:rPr lang="zh-CN" altLang="en-US" dirty="0"/>
              <a:t>持久化是程序数据在瞬时状态和持久状态间转换的过程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grpSp>
        <p:nvGrpSpPr>
          <p:cNvPr id="27652" name="组合 4"/>
          <p:cNvGrpSpPr/>
          <p:nvPr/>
        </p:nvGrpSpPr>
        <p:grpSpPr bwMode="auto">
          <a:xfrm>
            <a:off x="3635895" y="1203598"/>
            <a:ext cx="1728193" cy="1379202"/>
            <a:chOff x="6243945" y="1477907"/>
            <a:chExt cx="1728205" cy="1838718"/>
          </a:xfrm>
        </p:grpSpPr>
        <p:sp>
          <p:nvSpPr>
            <p:cNvPr id="6" name="AutoShape 27"/>
            <p:cNvSpPr>
              <a:spLocks noChangeArrowheads="1"/>
            </p:cNvSpPr>
            <p:nvPr/>
          </p:nvSpPr>
          <p:spPr bwMode="gray">
            <a:xfrm>
              <a:off x="6787722" y="1477907"/>
              <a:ext cx="714378" cy="953339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3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7" name="AutoShape 27"/>
            <p:cNvSpPr>
              <a:spLocks noChangeArrowheads="1"/>
            </p:cNvSpPr>
            <p:nvPr/>
          </p:nvSpPr>
          <p:spPr bwMode="gray">
            <a:xfrm>
              <a:off x="6243945" y="1954445"/>
              <a:ext cx="1728205" cy="1362180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 cap="flat" cmpd="sng" algn="ctr">
              <a:solidFill>
                <a:schemeClr val="accent3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姓名：小颖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性别：女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特长：英语</a:t>
              </a:r>
            </a:p>
          </p:txBody>
        </p:sp>
      </p:grpSp>
      <p:sp>
        <p:nvSpPr>
          <p:cNvPr id="8" name="AutoShape 27"/>
          <p:cNvSpPr>
            <a:spLocks noChangeArrowheads="1"/>
          </p:cNvSpPr>
          <p:nvPr/>
        </p:nvSpPr>
        <p:spPr bwMode="gray">
          <a:xfrm>
            <a:off x="3091598" y="2655606"/>
            <a:ext cx="2776546" cy="1328586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rPr>
              <a:t>JDBC</a:t>
            </a:r>
          </a:p>
          <a:p>
            <a:pPr>
              <a:defRPr/>
            </a:pPr>
            <a:r>
              <a: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rPr>
              <a:t>…</a:t>
            </a:r>
          </a:p>
          <a:p>
            <a:pPr>
              <a:defRPr/>
            </a:pPr>
            <a:r>
              <a:rPr lang="en-US" altLang="zh-CN" b="1" dirty="0" err="1">
                <a:solidFill>
                  <a:schemeClr val="bg1"/>
                </a:solidFill>
                <a:ea typeface="微软雅黑" panose="020B0503020204020204" pitchFamily="34" charset="-122"/>
              </a:rPr>
              <a:t>stmt.execute</a:t>
            </a:r>
            <a:r>
              <a: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ea typeface="微软雅黑" panose="020B0503020204020204" pitchFamily="34" charset="-122"/>
              </a:rPr>
              <a:t>＂</a:t>
            </a:r>
            <a:r>
              <a: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ea typeface="微软雅黑" panose="020B0503020204020204" pitchFamily="34" charset="-122"/>
              </a:rPr>
              <a:t>＂</a:t>
            </a:r>
            <a:r>
              <a: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rPr>
              <a:t>)</a:t>
            </a:r>
          </a:p>
          <a:p>
            <a:pPr>
              <a:defRPr/>
            </a:pPr>
            <a:r>
              <a: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rPr>
              <a:t>…</a:t>
            </a:r>
          </a:p>
        </p:txBody>
      </p:sp>
      <p:grpSp>
        <p:nvGrpSpPr>
          <p:cNvPr id="27654" name="组合 8"/>
          <p:cNvGrpSpPr/>
          <p:nvPr/>
        </p:nvGrpSpPr>
        <p:grpSpPr bwMode="auto">
          <a:xfrm>
            <a:off x="2858368" y="4099271"/>
            <a:ext cx="3225800" cy="963096"/>
            <a:chOff x="5572132" y="5000636"/>
            <a:chExt cx="3225813" cy="1500198"/>
          </a:xfrm>
        </p:grpSpPr>
        <p:sp>
          <p:nvSpPr>
            <p:cNvPr id="27659" name="AutoShape 45"/>
            <p:cNvSpPr>
              <a:spLocks noChangeArrowheads="1"/>
            </p:cNvSpPr>
            <p:nvPr/>
          </p:nvSpPr>
          <p:spPr bwMode="auto">
            <a:xfrm>
              <a:off x="5572132" y="5000636"/>
              <a:ext cx="3225813" cy="1500198"/>
            </a:xfrm>
            <a:prstGeom prst="can">
              <a:avLst>
                <a:gd name="adj" fmla="val 20218"/>
              </a:avLst>
            </a:prstGeom>
            <a:gradFill rotWithShape="0">
              <a:gsLst>
                <a:gs pos="0">
                  <a:srgbClr val="0099CC"/>
                </a:gs>
                <a:gs pos="50000">
                  <a:srgbClr val="66CCFF"/>
                </a:gs>
                <a:gs pos="100000">
                  <a:srgbClr val="0099CC"/>
                </a:gs>
              </a:gsLst>
              <a:lin ang="0" scaled="1"/>
            </a:gradFill>
            <a:ln w="1270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altLang="zh-CN" b="1"/>
            </a:p>
          </p:txBody>
        </p:sp>
        <p:pic>
          <p:nvPicPr>
            <p:cNvPr id="2766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4" t="76743" r="29755" b="3094"/>
            <a:stretch>
              <a:fillRect/>
            </a:stretch>
          </p:blipFill>
          <p:spPr bwMode="auto">
            <a:xfrm>
              <a:off x="5857884" y="5500702"/>
              <a:ext cx="2776557" cy="78581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下箭头 11"/>
          <p:cNvSpPr/>
          <p:nvPr/>
        </p:nvSpPr>
        <p:spPr bwMode="auto">
          <a:xfrm>
            <a:off x="4287962" y="3738522"/>
            <a:ext cx="500062" cy="490776"/>
          </a:xfrm>
          <a:prstGeom prst="downArrow">
            <a:avLst/>
          </a:pr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1"/>
            <a:tileRect/>
          </a:gradFill>
          <a:ln w="9525" algn="ctr">
            <a:solidFill>
              <a:schemeClr val="accent5">
                <a:lumMod val="50000"/>
                <a:alpha val="31000"/>
              </a:schemeClr>
            </a:solidFill>
            <a:miter lim="800000"/>
          </a:ln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" name="内容占位符 2"/>
          <p:cNvSpPr txBox="1"/>
          <p:nvPr/>
        </p:nvSpPr>
        <p:spPr bwMode="auto">
          <a:xfrm>
            <a:off x="6108080" y="4196954"/>
            <a:ext cx="1992312" cy="4822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持久状态</a:t>
            </a:r>
          </a:p>
        </p:txBody>
      </p:sp>
      <p:sp>
        <p:nvSpPr>
          <p:cNvPr id="14" name="下箭头 13"/>
          <p:cNvSpPr/>
          <p:nvPr/>
        </p:nvSpPr>
        <p:spPr bwMode="auto">
          <a:xfrm flipV="1">
            <a:off x="4287962" y="2445209"/>
            <a:ext cx="500062" cy="490776"/>
          </a:xfrm>
          <a:prstGeom prst="downArrow">
            <a:avLst/>
          </a:pr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1"/>
            <a:tileRect/>
          </a:gradFill>
          <a:ln w="9525" algn="ctr">
            <a:solidFill>
              <a:schemeClr val="accent5">
                <a:lumMod val="50000"/>
                <a:alpha val="31000"/>
              </a:schemeClr>
            </a:solidFill>
            <a:miter lim="800000"/>
          </a:ln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5E1D-451A-4AB6-BCFA-BFC1C45FC7B1}" type="slidenum">
              <a:rPr lang="zh-CN" altLang="en-US" smtClean="0"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48778-C90C-43C9-84D6-995CBC01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持久化与对象关系映射</a:t>
            </a:r>
            <a:r>
              <a:rPr lang="en-US" altLang="zh-CN" dirty="0"/>
              <a:t>ORM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05337-B1E1-41FD-BBC2-4B00EB8C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9D286-0FD8-4BDD-B072-8AB225275C32}" type="slidenum">
              <a:rPr lang="zh-CN" altLang="en-US" smtClean="0"/>
              <a:t>19</a:t>
            </a:fld>
            <a:endParaRPr lang="en-US" altLang="zh-CN" dirty="0"/>
          </a:p>
        </p:txBody>
      </p:sp>
      <p:graphicFrame>
        <p:nvGraphicFramePr>
          <p:cNvPr id="5" name="Group 29">
            <a:extLst>
              <a:ext uri="{FF2B5EF4-FFF2-40B4-BE49-F238E27FC236}">
                <a16:creationId xmlns:a16="http://schemas.microsoft.com/office/drawing/2014/main" id="{29461F61-C34F-42D4-8144-A972C7CE0A03}"/>
              </a:ext>
            </a:extLst>
          </p:cNvPr>
          <p:cNvGraphicFramePr>
            <a:graphicFrameLocks noGrp="1"/>
          </p:cNvGraphicFramePr>
          <p:nvPr/>
        </p:nvGraphicFramePr>
        <p:xfrm>
          <a:off x="2412970" y="2652117"/>
          <a:ext cx="3671198" cy="1030856"/>
        </p:xfrm>
        <a:graphic>
          <a:graphicData uri="http://schemas.openxmlformats.org/drawingml/2006/table">
            <a:tbl>
              <a:tblPr firstRow="1" bandRow="1">
                <a:solidFill>
                  <a:schemeClr val="bg2">
                    <a:lumMod val="90000"/>
                  </a:schemeClr>
                </a:solidFill>
                <a:effectLst>
                  <a:outerShdw blurRad="50800" dist="50800" dir="5400000" algn="ctr" rotWithShape="0">
                    <a:schemeClr val="bg2"/>
                  </a:outerShdw>
                </a:effectLst>
                <a:tableStyleId>{5C22544A-7EE6-4342-B048-85BDC9FD1C3A}</a:tableStyleId>
              </a:tblPr>
              <a:tblGrid>
                <a:gridCol w="157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71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属性</a:t>
                      </a: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D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字段</a:t>
                      </a: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1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name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user_name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71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sex</a:t>
                      </a: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user_Sex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1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skill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user_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skill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80110" marR="80110" marT="30041" marB="30041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78A93D08-A0EC-41EC-AC2C-68E56B15B333}"/>
              </a:ext>
            </a:extLst>
          </p:cNvPr>
          <p:cNvGrpSpPr/>
          <p:nvPr/>
        </p:nvGrpSpPr>
        <p:grpSpPr bwMode="auto">
          <a:xfrm>
            <a:off x="3070392" y="748158"/>
            <a:ext cx="2357438" cy="1736647"/>
            <a:chOff x="5999339" y="2108057"/>
            <a:chExt cx="2357454" cy="2314681"/>
          </a:xfrm>
        </p:grpSpPr>
        <p:sp>
          <p:nvSpPr>
            <p:cNvPr id="7" name="AutoShape 27">
              <a:extLst>
                <a:ext uri="{FF2B5EF4-FFF2-40B4-BE49-F238E27FC236}">
                  <a16:creationId xmlns:a16="http://schemas.microsoft.com/office/drawing/2014/main" id="{7CFA4B2B-9422-44FA-9C79-AC11D18C3AC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537686" y="2108057"/>
              <a:ext cx="1251305" cy="544631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3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ea typeface="微软雅黑" panose="020B0503020204020204" pitchFamily="34" charset="-122"/>
                </a:rPr>
                <a:t>User</a:t>
              </a:r>
              <a:r>
                <a:rPr lang="zh-CN" altLang="en-US" b="1" dirty="0">
                  <a:ea typeface="微软雅黑" panose="020B0503020204020204" pitchFamily="34" charset="-122"/>
                </a:rPr>
                <a:t>对象</a:t>
              </a:r>
            </a:p>
          </p:txBody>
        </p:sp>
        <p:sp>
          <p:nvSpPr>
            <p:cNvPr id="8" name="AutoShape 27">
              <a:extLst>
                <a:ext uri="{FF2B5EF4-FFF2-40B4-BE49-F238E27FC236}">
                  <a16:creationId xmlns:a16="http://schemas.microsoft.com/office/drawing/2014/main" id="{2D864839-5354-4B13-AC69-9130F2E19E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99339" y="2652688"/>
              <a:ext cx="2357454" cy="1770050"/>
            </a:xfrm>
            <a:prstGeom prst="roundRect">
              <a:avLst>
                <a:gd name="adj" fmla="val 16667"/>
              </a:avLst>
            </a:prstGeom>
            <a:solidFill>
              <a:srgbClr val="0070C0"/>
            </a:solidFill>
            <a:ln w="9525" cap="flat" cmpd="sng" algn="ctr">
              <a:solidFill>
                <a:schemeClr val="accent3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name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：小颖</a:t>
              </a:r>
              <a:endPara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sex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：女</a:t>
              </a:r>
              <a:endParaRPr lang="en-US" altLang="zh-CN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en-US" altLang="zh-CN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skill</a:t>
              </a:r>
              <a:r>
                <a:rPr lang="zh-CN" altLang="en-US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：英语、程序设计</a:t>
              </a:r>
            </a:p>
          </p:txBody>
        </p:sp>
      </p:grpSp>
      <p:sp>
        <p:nvSpPr>
          <p:cNvPr id="9" name="AutoShape 45">
            <a:extLst>
              <a:ext uri="{FF2B5EF4-FFF2-40B4-BE49-F238E27FC236}">
                <a16:creationId xmlns:a16="http://schemas.microsoft.com/office/drawing/2014/main" id="{37B7CF90-6FC5-4D00-B1E3-193A5CEBE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11" y="3933707"/>
            <a:ext cx="3225800" cy="1125140"/>
          </a:xfrm>
          <a:prstGeom prst="can">
            <a:avLst>
              <a:gd name="adj" fmla="val 20218"/>
            </a:avLst>
          </a:prstGeom>
          <a:gradFill rotWithShape="0">
            <a:gsLst>
              <a:gs pos="0">
                <a:srgbClr val="0099CC"/>
              </a:gs>
              <a:gs pos="50000">
                <a:srgbClr val="66CCFF"/>
              </a:gs>
              <a:gs pos="100000">
                <a:srgbClr val="0099CC"/>
              </a:gs>
            </a:gsLst>
            <a:lin ang="0" scaled="1"/>
          </a:gradFill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n-US" altLang="zh-CN" b="1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197B050-6648-4866-B09D-BC0741974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4" t="76743" r="29755" b="3094"/>
          <a:stretch>
            <a:fillRect/>
          </a:stretch>
        </p:blipFill>
        <p:spPr bwMode="auto">
          <a:xfrm>
            <a:off x="2860296" y="4366011"/>
            <a:ext cx="2776546" cy="50447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B4421AE-E8E3-4C06-A4AF-D953F641B5B4}"/>
              </a:ext>
            </a:extLst>
          </p:cNvPr>
          <p:cNvSpPr txBox="1"/>
          <p:nvPr/>
        </p:nvSpPr>
        <p:spPr bwMode="auto">
          <a:xfrm>
            <a:off x="6444208" y="2893219"/>
            <a:ext cx="2286000" cy="4822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80000"/>
              <a:defRPr/>
            </a:pPr>
            <a:r>
              <a:rPr lang="zh-CN" altLang="en-US" sz="2400" b="1" kern="0" dirty="0">
                <a:latin typeface="+mn-lt"/>
                <a:ea typeface="+mn-ea"/>
              </a:rPr>
              <a:t>对象</a:t>
            </a:r>
            <a:r>
              <a:rPr lang="en-US" altLang="zh-CN" sz="2400" b="1" kern="0" dirty="0">
                <a:latin typeface="+mn-lt"/>
                <a:ea typeface="+mn-ea"/>
              </a:rPr>
              <a:t>-</a:t>
            </a:r>
            <a:r>
              <a:rPr lang="zh-CN" altLang="en-US" sz="2400" b="1" kern="0" dirty="0">
                <a:latin typeface="+mn-lt"/>
                <a:ea typeface="+mn-ea"/>
              </a:rPr>
              <a:t>关系映射</a:t>
            </a:r>
          </a:p>
        </p:txBody>
      </p:sp>
    </p:spTree>
    <p:extLst>
      <p:ext uri="{BB962C8B-B14F-4D97-AF65-F5344CB8AC3E}">
        <p14:creationId xmlns:p14="http://schemas.microsoft.com/office/powerpoint/2010/main" val="380402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持久化与对象关系映射</a:t>
            </a:r>
            <a:r>
              <a:rPr lang="en-US" altLang="zh-CN" dirty="0"/>
              <a:t>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ORM</a:t>
            </a:r>
            <a:r>
              <a:rPr lang="zh-CN" altLang="en-US" dirty="0"/>
              <a:t>（</a:t>
            </a:r>
            <a:r>
              <a:rPr lang="en-US" altLang="zh-CN" dirty="0"/>
              <a:t>Object Relational Mapping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编写程序的时候，以面向对象的方式处理数据</a:t>
            </a:r>
          </a:p>
          <a:p>
            <a:pPr lvl="1"/>
            <a:r>
              <a:rPr lang="zh-CN" altLang="en-US" dirty="0"/>
              <a:t>保存数据的时候，却以关系型数据库的方式存储</a:t>
            </a:r>
          </a:p>
          <a:p>
            <a:r>
              <a:rPr lang="en-US" altLang="zh-CN" dirty="0"/>
              <a:t>ORM</a:t>
            </a:r>
            <a:r>
              <a:rPr lang="zh-CN" altLang="en-US" dirty="0"/>
              <a:t>解决方案包含下面四个部分</a:t>
            </a:r>
          </a:p>
          <a:p>
            <a:pPr lvl="1"/>
            <a:r>
              <a:rPr lang="zh-CN" altLang="en-US" dirty="0"/>
              <a:t>在持久化对象上执行基本的增、删、改、查操作</a:t>
            </a:r>
          </a:p>
          <a:p>
            <a:pPr lvl="1"/>
            <a:r>
              <a:rPr lang="zh-CN" altLang="en-US" dirty="0"/>
              <a:t>对持久化对象提供一种查询语言或者</a:t>
            </a:r>
            <a:r>
              <a:rPr lang="en-US" altLang="zh-CN" dirty="0"/>
              <a:t>API</a:t>
            </a:r>
          </a:p>
          <a:p>
            <a:pPr lvl="1"/>
            <a:r>
              <a:rPr lang="zh-CN" altLang="en-US" dirty="0"/>
              <a:t>对象关系映射工具</a:t>
            </a:r>
          </a:p>
          <a:p>
            <a:pPr lvl="1"/>
            <a:r>
              <a:rPr lang="zh-CN" altLang="en-US" dirty="0"/>
              <a:t>提供与事务对象交互、执行检查、延迟加载以及其他优化功能</a:t>
            </a:r>
            <a:r>
              <a:rPr lang="en-US" altLang="zh-CN" dirty="0"/>
              <a:t>	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FF602-DAF0-4AEE-A872-C519B4A845E5}" type="slidenum">
              <a:rPr lang="zh-CN" altLang="en-US" smtClean="0"/>
              <a:t>20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主流框架介绍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843558"/>
            <a:ext cx="7762875" cy="4299942"/>
          </a:xfrm>
        </p:spPr>
        <p:txBody>
          <a:bodyPr/>
          <a:lstStyle/>
          <a:p>
            <a:r>
              <a:rPr lang="en-US" altLang="zh-CN" sz="2000" dirty="0" err="1"/>
              <a:t>MyBatis</a:t>
            </a:r>
            <a:r>
              <a:rPr lang="zh-CN" altLang="en-US" sz="2000" dirty="0"/>
              <a:t>前身是</a:t>
            </a:r>
            <a:r>
              <a:rPr lang="en-US" altLang="zh-CN" sz="2000" dirty="0" err="1"/>
              <a:t>iBatis</a:t>
            </a:r>
            <a:r>
              <a:rPr lang="zh-CN" altLang="en-US" sz="2000" dirty="0"/>
              <a:t>，本是</a:t>
            </a:r>
            <a:r>
              <a:rPr lang="en-US" altLang="zh-CN" sz="2000" dirty="0"/>
              <a:t>Apache</a:t>
            </a:r>
            <a:r>
              <a:rPr lang="zh-CN" altLang="en-US" sz="2000" dirty="0"/>
              <a:t>的一个开源的项目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en-US" altLang="zh-CN" sz="2000" dirty="0" err="1">
                <a:sym typeface="Wingdings" panose="05000000000000000000" pitchFamily="2" charset="2"/>
              </a:rPr>
              <a:t>googlegithub</a:t>
            </a:r>
            <a:endParaRPr lang="en-US" altLang="zh-CN" sz="2000" dirty="0"/>
          </a:p>
          <a:p>
            <a:r>
              <a:rPr lang="zh-CN" altLang="en-US" sz="2000" dirty="0"/>
              <a:t>官方网站</a:t>
            </a:r>
            <a:endParaRPr lang="en-US" altLang="zh-CN" sz="2000" dirty="0"/>
          </a:p>
          <a:p>
            <a:pPr lvl="1"/>
            <a:r>
              <a:rPr lang="en-US" altLang="zh-CN" sz="2000" dirty="0">
                <a:hlinkClick r:id="rId3"/>
              </a:rPr>
              <a:t>https://mybatis.org/mybatis-3/zh_CN/index.html</a:t>
            </a:r>
            <a:endParaRPr lang="en-US" altLang="zh-CN" sz="2000" dirty="0"/>
          </a:p>
          <a:p>
            <a:pPr lvl="1"/>
            <a:r>
              <a:rPr lang="zh-CN" altLang="en-US" sz="2000" dirty="0"/>
              <a:t>源码：</a:t>
            </a:r>
            <a:r>
              <a:rPr lang="en-US" altLang="zh-CN" sz="2000" dirty="0"/>
              <a:t>https://github.com/mybatis/mybatis-3</a:t>
            </a:r>
          </a:p>
          <a:p>
            <a:r>
              <a:rPr lang="zh-CN" altLang="en-US" sz="2000" dirty="0"/>
              <a:t>半自动的</a:t>
            </a:r>
            <a:r>
              <a:rPr lang="en-US" altLang="zh-CN" sz="2000" dirty="0"/>
              <a:t>ORM</a:t>
            </a:r>
            <a:r>
              <a:rPr lang="zh-CN" altLang="en-US" sz="2000" dirty="0"/>
              <a:t>框架</a:t>
            </a:r>
            <a:endParaRPr lang="en-US" altLang="zh-CN" sz="2000" dirty="0"/>
          </a:p>
          <a:p>
            <a:pPr lvl="1"/>
            <a:r>
              <a:rPr lang="zh-CN" altLang="en-US" sz="1800" dirty="0"/>
              <a:t>实现了</a:t>
            </a:r>
            <a:r>
              <a:rPr lang="en-US" altLang="zh-CN" sz="1800" dirty="0"/>
              <a:t>Relation-&gt;Object</a:t>
            </a:r>
          </a:p>
          <a:p>
            <a:pPr lvl="1"/>
            <a:r>
              <a:rPr lang="zh-CN" altLang="en-US" sz="1800" dirty="0"/>
              <a:t>实体类和</a:t>
            </a:r>
            <a:r>
              <a:rPr lang="en-US" altLang="zh-CN" sz="1800" dirty="0"/>
              <a:t>SQL</a:t>
            </a:r>
            <a:r>
              <a:rPr lang="zh-CN" altLang="en-US" sz="1800" dirty="0"/>
              <a:t>语句之间建立映射关系</a:t>
            </a:r>
            <a:endParaRPr lang="en-US" altLang="zh-CN" sz="1800" dirty="0"/>
          </a:p>
          <a:p>
            <a:r>
              <a:rPr lang="zh-CN" altLang="en-US" sz="2000" dirty="0"/>
              <a:t>特点</a:t>
            </a:r>
            <a:endParaRPr lang="en-US" altLang="zh-CN" sz="2000" dirty="0"/>
          </a:p>
          <a:p>
            <a:pPr lvl="1"/>
            <a:r>
              <a:rPr lang="zh-CN" altLang="en-US" sz="1600" dirty="0"/>
              <a:t>基于</a:t>
            </a:r>
            <a:r>
              <a:rPr lang="en-US" altLang="zh-CN" sz="1600" dirty="0"/>
              <a:t>SQL</a:t>
            </a:r>
            <a:r>
              <a:rPr lang="zh-CN" altLang="en-US" sz="1600" dirty="0"/>
              <a:t>语法，简单易学</a:t>
            </a:r>
            <a:endParaRPr lang="en-US" altLang="zh-CN" sz="1600" dirty="0"/>
          </a:p>
          <a:p>
            <a:pPr lvl="1"/>
            <a:r>
              <a:rPr lang="zh-CN" altLang="en-US" sz="1600" dirty="0"/>
              <a:t>能了解底层封装过程</a:t>
            </a:r>
            <a:endParaRPr lang="en-US" altLang="zh-CN" sz="1600" dirty="0"/>
          </a:p>
          <a:p>
            <a:pPr lvl="1"/>
            <a:r>
              <a:rPr lang="en-US" altLang="zh-CN" sz="1600" dirty="0"/>
              <a:t>SQL</a:t>
            </a:r>
            <a:r>
              <a:rPr lang="zh-CN" altLang="en-US" sz="1600" dirty="0"/>
              <a:t>语句封装在配置文件中，便于统一管理与维护，降低程序的耦合度</a:t>
            </a:r>
            <a:endParaRPr lang="en-US" altLang="zh-CN" sz="1600" dirty="0"/>
          </a:p>
          <a:p>
            <a:pPr lvl="1"/>
            <a:r>
              <a:rPr lang="zh-CN" altLang="en-US" sz="1600" dirty="0"/>
              <a:t>方便程序代码调试</a:t>
            </a:r>
            <a:endParaRPr lang="en-US" altLang="zh-CN" sz="1600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9B54-233C-4716-AC68-1A34512C7B90}" type="slidenum">
              <a:rPr lang="zh-CN" altLang="en-US" smtClean="0"/>
              <a:t>21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86B20D-9B46-F454-2AEC-BF24D414D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51470"/>
            <a:ext cx="2270438" cy="5869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2F5CC-D619-44D5-A27A-683AF754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iBATIS</a:t>
            </a:r>
            <a:r>
              <a:rPr lang="zh-CN" altLang="en-US" dirty="0"/>
              <a:t>（</a:t>
            </a:r>
            <a:r>
              <a:rPr lang="en-US" altLang="zh-CN" dirty="0" err="1"/>
              <a:t>mybatis</a:t>
            </a:r>
            <a:r>
              <a:rPr lang="zh-CN" altLang="en-US" dirty="0"/>
              <a:t>）之父</a:t>
            </a:r>
            <a:r>
              <a:rPr lang="en-US" altLang="zh-CN" dirty="0"/>
              <a:t>: Clinton Begin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0ED61-80B2-45CD-8157-25A9ED80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 err="1"/>
              <a:t>iBATIS</a:t>
            </a:r>
            <a:r>
              <a:rPr lang="zh-CN" altLang="en-US" b="0" dirty="0"/>
              <a:t>只不过是工具箱中的一种普通工具。当我不得不手写</a:t>
            </a:r>
            <a:r>
              <a:rPr lang="en-US" altLang="zh-CN" b="0" dirty="0"/>
              <a:t>JDBC</a:t>
            </a:r>
            <a:r>
              <a:rPr lang="zh-CN" altLang="en-US" b="0" dirty="0"/>
              <a:t>代码时，它可以帮我节省很多时间</a:t>
            </a:r>
            <a:endParaRPr lang="en-US" altLang="zh-CN" b="0" dirty="0"/>
          </a:p>
          <a:p>
            <a:r>
              <a:rPr lang="en-US" altLang="zh-CN" b="0" dirty="0" err="1"/>
              <a:t>iBATIS</a:t>
            </a:r>
            <a:r>
              <a:rPr lang="zh-CN" altLang="en-US" b="0" dirty="0"/>
              <a:t>的本质：一个用于加快</a:t>
            </a:r>
            <a:r>
              <a:rPr lang="en-US" altLang="zh-CN" b="0" dirty="0"/>
              <a:t>JDBC</a:t>
            </a:r>
            <a:r>
              <a:rPr lang="zh-CN" altLang="en-US" b="0" dirty="0"/>
              <a:t>编程的经过泛化的框架</a:t>
            </a:r>
            <a:endParaRPr lang="en-US" altLang="zh-CN" b="0" dirty="0"/>
          </a:p>
          <a:p>
            <a:r>
              <a:rPr lang="zh-CN" altLang="en-US" b="0" dirty="0"/>
              <a:t>可以完全控制数据库和对象模型时，</a:t>
            </a:r>
            <a:r>
              <a:rPr lang="en-US" altLang="zh-CN" b="0" dirty="0"/>
              <a:t>O/RM</a:t>
            </a:r>
            <a:r>
              <a:rPr lang="zh-CN" altLang="en-US" b="0" dirty="0"/>
              <a:t>工具就非常有效。当两者之间存在不匹配时（这几乎是肯定的），使用</a:t>
            </a:r>
            <a:r>
              <a:rPr lang="en-US" altLang="zh-CN" b="0" dirty="0"/>
              <a:t>O/RM</a:t>
            </a:r>
            <a:r>
              <a:rPr lang="zh-CN" altLang="en-US" b="0" dirty="0"/>
              <a:t>就会成为一场噩梦</a:t>
            </a:r>
            <a:endParaRPr lang="en-US" altLang="zh-CN" b="0" dirty="0"/>
          </a:p>
          <a:p>
            <a:r>
              <a:rPr lang="zh-CN" altLang="en-US" b="0" dirty="0"/>
              <a:t>不要因为拿着锤子就把所有的东西都看作钉子。不同的环境需要不同的工具。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1B80A3-0F8C-4EA7-8A0D-074FD9E30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7E3AF-0406-4F8F-9F44-B4BB0A6B7DCF}" type="slidenum">
              <a:rPr lang="zh-CN" altLang="en-US" smtClean="0"/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336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1188112" y="903767"/>
            <a:ext cx="6403997" cy="171329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lnSpc>
                <a:spcPts val="2625"/>
              </a:lnSpc>
              <a:buClr>
                <a:srgbClr val="56BEEE"/>
              </a:buClr>
              <a:buFont typeface="Wingdings" panose="05000000000000000000" pitchFamily="2" charset="2"/>
              <a:buChar char="u"/>
            </a:pPr>
            <a:r>
              <a:rPr lang="en-US" altLang="zh-CN" sz="2400" dirty="0" err="1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MyBatis是一个半自动化的持久化层框架</a:t>
            </a:r>
            <a:r>
              <a:rPr lang="en-US" altLang="zh-CN" sz="2400" dirty="0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342900" indent="-342900">
              <a:lnSpc>
                <a:spcPts val="2625"/>
              </a:lnSpc>
              <a:buClr>
                <a:srgbClr val="56BEEE"/>
              </a:buClr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JDBC</a:t>
            </a:r>
          </a:p>
          <a:p>
            <a:pPr marL="800100" lvl="1" indent="-342900">
              <a:lnSpc>
                <a:spcPts val="2625"/>
              </a:lnSpc>
              <a:buClr>
                <a:srgbClr val="56BEEE"/>
              </a:buClr>
              <a:buFont typeface="Wingdings" panose="05000000000000000000" pitchFamily="2" charset="2"/>
              <a:buChar char="u"/>
            </a:pP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SQL夹在Java代码块里，耦合度高导致硬编码内伤</a:t>
            </a:r>
            <a:endParaRPr lang="en-US" altLang="zh-CN" sz="1600" dirty="0">
              <a:solidFill>
                <a:srgbClr val="000000"/>
              </a:solidFill>
              <a:latin typeface="Arial Unicode MS" pitchFamily="18" charset="0"/>
              <a:cs typeface="Arial Unicode MS" pitchFamily="18" charset="0"/>
            </a:endParaRPr>
          </a:p>
          <a:p>
            <a:pPr marL="800100" lvl="1" indent="-342900">
              <a:lnSpc>
                <a:spcPts val="2625"/>
              </a:lnSpc>
              <a:buClr>
                <a:srgbClr val="56BEEE"/>
              </a:buClr>
              <a:buFont typeface="Wingdings" panose="05000000000000000000" pitchFamily="2" charset="2"/>
              <a:buChar char="u"/>
            </a:pP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维护不易且实际开发需求中sql</a:t>
            </a:r>
            <a:r>
              <a:rPr lang="zh-CN" altLang="en-US" sz="1600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时</a:t>
            </a: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有变化，频繁修改的情况多见</a:t>
            </a:r>
            <a:endParaRPr lang="en-US" altLang="zh-CN" sz="1600" dirty="0">
              <a:solidFill>
                <a:srgbClr val="000000"/>
              </a:solidFill>
              <a:latin typeface="Arial Unicode MS" pitchFamily="18" charset="0"/>
              <a:cs typeface="Arial Unicode MS" pitchFamily="18" charset="0"/>
            </a:endParaRPr>
          </a:p>
          <a:p>
            <a:pPr marL="800100" lvl="1" indent="-342900">
              <a:lnSpc>
                <a:spcPts val="2625"/>
              </a:lnSpc>
              <a:buClr>
                <a:srgbClr val="56BEEE"/>
              </a:buClr>
              <a:buFont typeface="Wingdings" panose="05000000000000000000" pitchFamily="2" charset="2"/>
              <a:buChar char="u"/>
            </a:pPr>
            <a:endParaRPr lang="en-US" altLang="zh-CN" sz="2400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1312193" y="2245873"/>
            <a:ext cx="6639496" cy="204671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marL="342900" indent="-342900">
              <a:lnSpc>
                <a:spcPts val="2625"/>
              </a:lnSpc>
              <a:buClr>
                <a:srgbClr val="0B9FDD"/>
              </a:buClr>
              <a:buFont typeface="Wingdings" panose="05000000000000000000" pitchFamily="2" charset="2"/>
              <a:buChar char="u"/>
            </a:pPr>
            <a:r>
              <a:rPr lang="en-US" altLang="zh-CN" sz="20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 err="1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Hibernate和JPA</a:t>
            </a:r>
            <a:endParaRPr lang="en-US" altLang="zh-CN" sz="2400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ts val="2625"/>
              </a:lnSpc>
              <a:buClr>
                <a:srgbClr val="0B9FDD"/>
              </a:buClr>
              <a:buFont typeface="Wingdings" panose="05000000000000000000" pitchFamily="2" charset="2"/>
              <a:buChar char="u"/>
            </a:pP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长难复杂SQL，对于Hibernate而言处理也不容易</a:t>
            </a:r>
            <a:endParaRPr lang="en-US" altLang="zh-CN" sz="1600" dirty="0">
              <a:solidFill>
                <a:srgbClr val="000000"/>
              </a:solidFill>
              <a:latin typeface="Arial Unicode MS" pitchFamily="18" charset="0"/>
              <a:cs typeface="Arial Unicode MS" pitchFamily="18" charset="0"/>
            </a:endParaRPr>
          </a:p>
          <a:p>
            <a:pPr marL="800100" lvl="1" indent="-342900">
              <a:lnSpc>
                <a:spcPts val="2625"/>
              </a:lnSpc>
              <a:buClr>
                <a:srgbClr val="0B9FDD"/>
              </a:buClr>
              <a:buFont typeface="Wingdings" panose="05000000000000000000" pitchFamily="2" charset="2"/>
              <a:buChar char="u"/>
            </a:pP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内部自动生产的SQL，不容易做特殊优化</a:t>
            </a:r>
            <a:r>
              <a:rPr lang="en-US" altLang="zh-CN" sz="1600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。</a:t>
            </a:r>
          </a:p>
          <a:p>
            <a:pPr marL="800100" lvl="1" indent="-342900">
              <a:lnSpc>
                <a:spcPts val="2625"/>
              </a:lnSpc>
              <a:buClr>
                <a:srgbClr val="0B9FDD"/>
              </a:buClr>
              <a:buFont typeface="Wingdings" panose="05000000000000000000" pitchFamily="2" charset="2"/>
              <a:buChar char="u"/>
            </a:pP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基于全映射的全自动框架，大量字段的POJO进行部分映射时比较困难</a:t>
            </a:r>
            <a:r>
              <a:rPr lang="zh-CN" altLang="en-US" sz="1600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，</a:t>
            </a:r>
            <a:r>
              <a:rPr lang="en-US" altLang="zh-CN" sz="1600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导致数据库性能下降</a:t>
            </a:r>
            <a:r>
              <a:rPr lang="zh-CN" altLang="en-US" sz="1600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。</a:t>
            </a:r>
            <a:endParaRPr lang="en-US" altLang="zh-CN" sz="2400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2625"/>
              </a:lnSpc>
              <a:buClr>
                <a:srgbClr val="0B9FDD"/>
              </a:buClr>
              <a:buFont typeface="Wingdings" panose="05000000000000000000" pitchFamily="2" charset="2"/>
              <a:buChar char="u"/>
            </a:pPr>
            <a:endParaRPr lang="en-US" altLang="zh-CN" sz="2400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1685925" y="2876550"/>
            <a:ext cx="192360" cy="53828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75"/>
              </a:lnSpc>
            </a:pPr>
            <a:r>
              <a:rPr lang="en-US" altLang="zh-CN" sz="1503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1503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CN" sz="1503" dirty="0">
              <a:solidFill>
                <a:srgbClr val="000000"/>
              </a:solidFill>
              <a:latin typeface="Arial Unicode MS" pitchFamily="18" charset="0"/>
              <a:cs typeface="Arial Unicode MS" pitchFamily="18" charset="0"/>
            </a:endParaRPr>
          </a:p>
          <a:p>
            <a:pPr>
              <a:lnSpc>
                <a:spcPts val="2100"/>
              </a:lnSpc>
            </a:pPr>
            <a:r>
              <a:rPr lang="en-US" altLang="zh-CN" sz="1503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zh-CN" sz="1503" dirty="0">
                <a:latin typeface="Times New Roman" pitchFamily="18" charset="0"/>
                <a:cs typeface="Times New Roman" pitchFamily="18" charset="0"/>
              </a:rPr>
              <a:t>  </a:t>
            </a:r>
            <a:endParaRPr lang="en-US" altLang="zh-CN" sz="1503" dirty="0">
              <a:solidFill>
                <a:srgbClr val="000000"/>
              </a:solidFill>
              <a:latin typeface="Arial Unicode MS" pitchFamily="18" charset="0"/>
              <a:cs typeface="Arial Unicode MS" pitchFamily="18" charset="0"/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1312193" y="3933825"/>
            <a:ext cx="6238887" cy="37959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lnSpc>
                <a:spcPts val="2625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对开发人员而言，核心sql还是需要自己优化</a:t>
            </a:r>
            <a:endParaRPr lang="en-US" altLang="zh-CN" sz="2400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1312193" y="4315943"/>
            <a:ext cx="7352975" cy="104644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marL="342900" indent="-342900">
              <a:lnSpc>
                <a:spcPts val="2625"/>
              </a:lnSpc>
              <a:buFont typeface="Wingdings" panose="05000000000000000000" pitchFamily="2" charset="2"/>
              <a:buChar char="u"/>
            </a:pPr>
            <a:r>
              <a:rPr lang="en-US" altLang="zh-CN" sz="2400" dirty="0" err="1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sql和java编码分开，功能边界清晰，一个专注业务</a:t>
            </a:r>
            <a:r>
              <a:rPr lang="en-US" altLang="zh-CN" sz="2400" dirty="0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</a:p>
          <a:p>
            <a:pPr>
              <a:lnSpc>
                <a:spcPts val="2625"/>
              </a:lnSpc>
            </a:pPr>
            <a:r>
              <a:rPr lang="en-US" altLang="zh-CN" sz="2400" dirty="0" err="1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一个专注数据</a:t>
            </a:r>
            <a:r>
              <a:rPr lang="en-US" altLang="zh-CN" sz="2400" dirty="0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ts val="2625"/>
              </a:lnSpc>
            </a:pPr>
            <a:endParaRPr lang="en-US" altLang="zh-CN" sz="2400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90E543B-BB66-451E-AC77-39AB0C9D23F1}"/>
              </a:ext>
            </a:extLst>
          </p:cNvPr>
          <p:cNvSpPr txBox="1">
            <a:spLocks/>
          </p:cNvSpPr>
          <p:nvPr/>
        </p:nvSpPr>
        <p:spPr bwMode="auto">
          <a:xfrm>
            <a:off x="179512" y="222350"/>
            <a:ext cx="8185785" cy="70675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B9F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 err="1"/>
              <a:t>MyBatis</a:t>
            </a:r>
            <a:r>
              <a:rPr lang="zh-CN" altLang="en-US" dirty="0"/>
              <a:t>与其他持久层框架比较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AD7646E2-7407-4E78-B396-813EA30C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3E86A6-CCFA-4554-8908-1DA01882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6C840D1-F55B-04F6-6F4E-76E24C3B1C7F}"/>
              </a:ext>
            </a:extLst>
          </p:cNvPr>
          <p:cNvSpPr txBox="1">
            <a:spLocks/>
          </p:cNvSpPr>
          <p:nvPr/>
        </p:nvSpPr>
        <p:spPr bwMode="auto">
          <a:xfrm>
            <a:off x="251520" y="0"/>
            <a:ext cx="8185785" cy="70675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B9F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 err="1"/>
              <a:t>Mybatis</a:t>
            </a:r>
            <a:r>
              <a:rPr lang="zh-CN" altLang="en-US" dirty="0"/>
              <a:t>文档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2D0D66-2602-EDC7-4023-F2F844E0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388"/>
            <a:ext cx="9144000" cy="45065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BC800F-98F0-462B-82E0-BC8E0EB9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155C72-95BE-F1A9-2503-8DDC3F94671C}"/>
              </a:ext>
            </a:extLst>
          </p:cNvPr>
          <p:cNvSpPr txBox="1"/>
          <p:nvPr/>
        </p:nvSpPr>
        <p:spPr>
          <a:xfrm>
            <a:off x="35496" y="24746"/>
            <a:ext cx="50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B9F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源</a:t>
            </a:r>
            <a:endParaRPr lang="en-US" altLang="zh-CN" sz="2400" b="1" dirty="0">
              <a:solidFill>
                <a:srgbClr val="0B9F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r>
              <a:rPr lang="zh-CN" altLang="en-US" sz="2400" b="1" dirty="0">
                <a:solidFill>
                  <a:srgbClr val="0B9F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0E0A7F-AB83-F1F1-E47B-1BF0755CFE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4452"/>
            <a:ext cx="5490720" cy="37529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BEAC92-041A-0BA5-0C87-479B32EB9A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277376"/>
            <a:ext cx="5292080" cy="275270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" y="207645"/>
            <a:ext cx="8185785" cy="491897"/>
          </a:xfrm>
        </p:spPr>
        <p:txBody>
          <a:bodyPr/>
          <a:lstStyle/>
          <a:p>
            <a:r>
              <a:rPr lang="en-US" dirty="0" err="1"/>
              <a:t>MyBatis</a:t>
            </a:r>
            <a:r>
              <a:rPr lang="zh-CN" altLang="en-US" dirty="0"/>
              <a:t>框架优缺点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9" y="771550"/>
            <a:ext cx="7344816" cy="4392488"/>
          </a:xfrm>
        </p:spPr>
        <p:txBody>
          <a:bodyPr/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sz="2000" dirty="0"/>
              <a:t>与</a:t>
            </a:r>
            <a:r>
              <a:rPr lang="en-US" altLang="zh-CN" sz="2000" dirty="0"/>
              <a:t>JDBC</a:t>
            </a:r>
            <a:r>
              <a:rPr lang="zh-CN" altLang="en-US" sz="2000" dirty="0"/>
              <a:t>相比，减少了</a:t>
            </a:r>
            <a:r>
              <a:rPr lang="en-US" altLang="zh-CN" sz="2000" dirty="0"/>
              <a:t>50%</a:t>
            </a:r>
            <a:r>
              <a:rPr lang="zh-CN" altLang="en-US" sz="2000" dirty="0"/>
              <a:t>以上的代码量</a:t>
            </a:r>
            <a:endParaRPr lang="en-US" altLang="zh-CN" sz="2000" dirty="0"/>
          </a:p>
          <a:p>
            <a:pPr lvl="1"/>
            <a:r>
              <a:rPr lang="zh-CN" altLang="en-US" sz="2000" dirty="0"/>
              <a:t>最简单的持久化框架，小巧并简单易学</a:t>
            </a:r>
            <a:endParaRPr lang="en-US" altLang="zh-CN" sz="2000" dirty="0"/>
          </a:p>
          <a:p>
            <a:pPr lvl="1"/>
            <a:r>
              <a:rPr lang="en-US" altLang="zh-CN" sz="2000" dirty="0"/>
              <a:t>SQL</a:t>
            </a:r>
            <a:r>
              <a:rPr lang="zh-CN" altLang="en-US" sz="2000" dirty="0"/>
              <a:t>代码从程序代码中彻底分离，可重用</a:t>
            </a:r>
            <a:endParaRPr lang="en-US" altLang="zh-CN" sz="2000" dirty="0"/>
          </a:p>
          <a:p>
            <a:pPr lvl="1"/>
            <a:r>
              <a:rPr lang="zh-CN" altLang="en-US" sz="2000" dirty="0"/>
              <a:t>提供</a:t>
            </a:r>
            <a:r>
              <a:rPr lang="en-US" altLang="zh-CN" sz="2000" dirty="0"/>
              <a:t>XML</a:t>
            </a:r>
            <a:r>
              <a:rPr lang="zh-CN" altLang="en-US" sz="2000" dirty="0"/>
              <a:t>标签，支持编写动态</a:t>
            </a:r>
            <a:r>
              <a:rPr lang="en-US" altLang="zh-CN" sz="2000" dirty="0"/>
              <a:t>SQL</a:t>
            </a:r>
          </a:p>
          <a:p>
            <a:pPr lvl="1"/>
            <a:r>
              <a:rPr lang="zh-CN" altLang="en-US" sz="2000" dirty="0"/>
              <a:t>提供映射标签，支持对象与数据库的</a:t>
            </a:r>
            <a:r>
              <a:rPr lang="en-US" altLang="zh-CN" sz="2000" dirty="0"/>
              <a:t>ORM</a:t>
            </a:r>
            <a:r>
              <a:rPr lang="zh-CN" altLang="en-US" sz="2000" dirty="0"/>
              <a:t>字段映射</a:t>
            </a:r>
            <a:endParaRPr lang="en-US" altLang="zh-CN" sz="2000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en-US" altLang="zh-CN" sz="2000" dirty="0"/>
              <a:t>SQL</a:t>
            </a:r>
            <a:r>
              <a:rPr lang="zh-CN" altLang="en-US" sz="2000" dirty="0"/>
              <a:t>语句编写工作量大，对开发人员有一定要求</a:t>
            </a:r>
            <a:endParaRPr lang="en-US" altLang="zh-CN" sz="2000" dirty="0"/>
          </a:p>
          <a:p>
            <a:pPr lvl="1"/>
            <a:r>
              <a:rPr lang="zh-CN" altLang="en-US" sz="2000" dirty="0"/>
              <a:t>数据库移植性差</a:t>
            </a:r>
            <a:endParaRPr lang="en-US" altLang="zh-CN" sz="2000" dirty="0"/>
          </a:p>
        </p:txBody>
      </p:sp>
      <p:grpSp>
        <p:nvGrpSpPr>
          <p:cNvPr id="6" name="组合 21"/>
          <p:cNvGrpSpPr/>
          <p:nvPr/>
        </p:nvGrpSpPr>
        <p:grpSpPr bwMode="auto">
          <a:xfrm>
            <a:off x="1331640" y="4200602"/>
            <a:ext cx="6696744" cy="747412"/>
            <a:chOff x="1908175" y="4423064"/>
            <a:chExt cx="4306888" cy="1050302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>
              <a:off x="1908175" y="4656940"/>
              <a:ext cx="4306888" cy="81642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txBody>
            <a:bodyPr anchor="ctr"/>
            <a:lstStyle/>
            <a:p>
              <a:pPr algn="ctr">
                <a:defRPr/>
              </a:pPr>
              <a:r>
                <a:rPr lang="en-US" altLang="zh-CN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MyBatis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专注于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本身，是一个足够灵活的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DAO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层解决方案，适用于性能要求较高或者需求多变的互联网项目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utoShape 4"/>
            <p:cNvSpPr>
              <a:spLocks noChangeArrowheads="1"/>
            </p:cNvSpPr>
            <p:nvPr/>
          </p:nvSpPr>
          <p:spPr bwMode="gray">
            <a:xfrm>
              <a:off x="5981491" y="4423064"/>
              <a:ext cx="233572" cy="36036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round/>
            </a:ln>
          </p:spPr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rgbClr val="0C83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613D3-FD6F-409F-BC09-B37027B28D15}" type="slidenum">
              <a:rPr lang="zh-CN" altLang="en-US" smtClean="0"/>
              <a:t>26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与</a:t>
            </a:r>
            <a:r>
              <a:rPr lang="en-US" altLang="zh-CN"/>
              <a:t>JDBC</a:t>
            </a:r>
            <a:r>
              <a:rPr lang="zh-CN" altLang="en-US"/>
              <a:t>直观对比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将代码分解包装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6" descr="E:\work\A8\mybatis-PPT\PPT用图\JDBC-MyBatis对比.bmp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1955800"/>
            <a:ext cx="8162925" cy="25844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971964" y="1955898"/>
            <a:ext cx="8136540" cy="351000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4500562" y="1313595"/>
            <a:ext cx="2500330" cy="561856"/>
          </a:xfrm>
          <a:prstGeom prst="wedgeRoundRectCallout">
            <a:avLst>
              <a:gd name="adj1" fmla="val 1872"/>
              <a:gd name="adj2" fmla="val 48604"/>
              <a:gd name="adj3" fmla="val 16667"/>
            </a:avLst>
          </a:prstGeom>
          <a:solidFill>
            <a:srgbClr val="009ADA"/>
          </a:solidFill>
          <a:ln w="381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对数据库的数据源的管理包括事务管理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971964" y="2472615"/>
            <a:ext cx="7800810" cy="351000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 bwMode="auto">
          <a:xfrm>
            <a:off x="971964" y="2839643"/>
            <a:ext cx="7800810" cy="642942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5929322" y="3148344"/>
            <a:ext cx="2928958" cy="561856"/>
          </a:xfrm>
          <a:prstGeom prst="wedgeRoundRectCallout">
            <a:avLst>
              <a:gd name="adj1" fmla="val 1872"/>
              <a:gd name="adj2" fmla="val 48604"/>
              <a:gd name="adj3" fmla="val 16667"/>
            </a:avLst>
          </a:prstGeom>
          <a:solidFill>
            <a:srgbClr val="009ADA"/>
          </a:solidFill>
          <a:ln w="381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通过配置文件，获取返回结果到 </a:t>
            </a:r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Java </a:t>
            </a:r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对象的映射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6286512" y="2451292"/>
            <a:ext cx="2714644" cy="561856"/>
          </a:xfrm>
          <a:prstGeom prst="wedgeRoundRectCallout">
            <a:avLst>
              <a:gd name="adj1" fmla="val 1872"/>
              <a:gd name="adj2" fmla="val 48604"/>
              <a:gd name="adj3" fmla="val 16667"/>
            </a:avLst>
          </a:prstGeom>
          <a:solidFill>
            <a:srgbClr val="009ADA"/>
          </a:solidFill>
          <a:ln w="381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通过配置文件，管理 </a:t>
            </a:r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SQL </a:t>
            </a:r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及输入参数的映射</a:t>
            </a:r>
          </a:p>
        </p:txBody>
      </p:sp>
      <p:cxnSp>
        <p:nvCxnSpPr>
          <p:cNvPr id="20" name="直接箭头连接符 19"/>
          <p:cNvCxnSpPr>
            <a:endCxn id="7" idx="1"/>
          </p:cNvCxnSpPr>
          <p:nvPr/>
        </p:nvCxnSpPr>
        <p:spPr>
          <a:xfrm flipV="1">
            <a:off x="3563888" y="1594523"/>
            <a:ext cx="936674" cy="361375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261589" y="2719802"/>
            <a:ext cx="894587" cy="12418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618647" y="3148344"/>
            <a:ext cx="1285884" cy="144677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3775-9F99-4497-8BE7-A971D5101439}" type="slidenum">
              <a:rPr lang="zh-CN" altLang="en-US" smtClean="0"/>
              <a:t>27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animBg="1"/>
      <p:bldP spid="10" grpId="0" animBg="1"/>
      <p:bldP spid="13" grpId="0" animBg="1"/>
      <p:bldP spid="14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教材超市订单管理系统介绍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859881"/>
            <a:ext cx="7762875" cy="4376165"/>
          </a:xfrm>
        </p:spPr>
        <p:txBody>
          <a:bodyPr/>
          <a:lstStyle/>
          <a:p>
            <a:r>
              <a:rPr lang="zh-CN" altLang="en-US" dirty="0"/>
              <a:t>总体功能模块</a:t>
            </a:r>
          </a:p>
          <a:p>
            <a:pPr lvl="1"/>
            <a:endParaRPr lang="zh-CN" altLang="en-US" dirty="0"/>
          </a:p>
        </p:txBody>
      </p:sp>
      <p:pic>
        <p:nvPicPr>
          <p:cNvPr id="1026" name="Picture 2" descr="E:\work\A8\Y2-MyBatis\教学用书\MyBatis01图例\图1.17　超市订单管理系统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21600"/>
            <a:ext cx="6408712" cy="366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/>
          <p:cNvGrpSpPr/>
          <p:nvPr/>
        </p:nvGrpSpPr>
        <p:grpSpPr>
          <a:xfrm>
            <a:off x="971601" y="4587974"/>
            <a:ext cx="4752527" cy="487733"/>
            <a:chOff x="1403648" y="3795886"/>
            <a:chExt cx="5714808" cy="371891"/>
          </a:xfrm>
        </p:grpSpPr>
        <p:sp>
          <p:nvSpPr>
            <p:cNvPr id="14" name="圆角矩形 13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0" name="Picture 8" descr="说话气泡n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20"/>
            <p:cNvSpPr txBox="1"/>
            <p:nvPr/>
          </p:nvSpPr>
          <p:spPr bwMode="auto">
            <a:xfrm>
              <a:off x="3507334" y="3829223"/>
              <a:ext cx="2377574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演示：演示课程项目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F585-3144-4AE4-B24B-649B359A0488}" type="slidenum">
              <a:rPr lang="zh-CN" altLang="en-US" smtClean="0"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work\A8\Y2-MyBatis\教学用书\MyBatis01图例\图1.18　超市订单管理系统数据库表及关系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54" y="721702"/>
            <a:ext cx="5760640" cy="408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超市订单管理系统介绍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3859"/>
            <a:ext cx="7762875" cy="3394075"/>
          </a:xfrm>
        </p:spPr>
        <p:txBody>
          <a:bodyPr/>
          <a:lstStyle/>
          <a:p>
            <a:r>
              <a:rPr lang="zh-CN" altLang="en-US" dirty="0"/>
              <a:t>数据库设计</a:t>
            </a:r>
            <a:endParaRPr lang="en-US" altLang="zh-CN" dirty="0"/>
          </a:p>
          <a:p>
            <a:pPr lvl="1"/>
            <a:r>
              <a:rPr lang="zh-CN" altLang="en-US" dirty="0"/>
              <a:t>表</a:t>
            </a:r>
            <a:endParaRPr lang="en-US" altLang="zh-CN" dirty="0"/>
          </a:p>
          <a:p>
            <a:pPr lvl="2"/>
            <a:r>
              <a:rPr lang="zh-CN" altLang="en-US" dirty="0"/>
              <a:t>用户表</a:t>
            </a:r>
            <a:endParaRPr lang="en-US" altLang="zh-CN" dirty="0"/>
          </a:p>
          <a:p>
            <a:pPr lvl="2"/>
            <a:r>
              <a:rPr lang="zh-CN" altLang="en-US" dirty="0"/>
              <a:t>角色表</a:t>
            </a:r>
            <a:endParaRPr lang="en-US" altLang="zh-CN" dirty="0"/>
          </a:p>
          <a:p>
            <a:pPr lvl="2"/>
            <a:r>
              <a:rPr lang="zh-CN" altLang="en-US" dirty="0"/>
              <a:t>供应商表</a:t>
            </a:r>
            <a:endParaRPr lang="en-US" altLang="zh-CN" dirty="0"/>
          </a:p>
          <a:p>
            <a:pPr lvl="2"/>
            <a:r>
              <a:rPr lang="zh-CN" altLang="en-US" dirty="0"/>
              <a:t>订单表</a:t>
            </a:r>
            <a:endParaRPr lang="en-US" altLang="zh-CN" dirty="0"/>
          </a:p>
          <a:p>
            <a:pPr lvl="2"/>
            <a:r>
              <a:rPr lang="zh-CN" altLang="en-US" dirty="0"/>
              <a:t>地址信息表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逻辑外键关联</a:t>
            </a:r>
          </a:p>
          <a:p>
            <a:pPr lvl="1"/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1017275" y="4711972"/>
            <a:ext cx="4481260" cy="371891"/>
            <a:chOff x="1403648" y="3795886"/>
            <a:chExt cx="5714808" cy="371891"/>
          </a:xfrm>
        </p:grpSpPr>
        <p:sp>
          <p:nvSpPr>
            <p:cNvPr id="19" name="圆角矩形 18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1" name="Picture 8" descr="说话气泡n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/>
            <p:cNvSpPr txBox="1"/>
            <p:nvPr/>
          </p:nvSpPr>
          <p:spPr bwMode="auto">
            <a:xfrm>
              <a:off x="3507334" y="3829223"/>
              <a:ext cx="2377574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演示：数据库表结构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E195-0834-4E07-B14E-1413E138E0E4}" type="slidenum">
              <a:rPr lang="zh-CN" altLang="en-US" smtClean="0"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搭建</a:t>
            </a:r>
            <a:r>
              <a:rPr lang="en-US" altLang="zh-CN"/>
              <a:t>MyBatis</a:t>
            </a:r>
            <a:r>
              <a:rPr lang="zh-CN" altLang="en-US"/>
              <a:t>开发环境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699543"/>
            <a:ext cx="7762875" cy="3709898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MyBatis</a:t>
            </a:r>
            <a:r>
              <a:rPr lang="zh-CN" altLang="en-US" dirty="0"/>
              <a:t>的开发步骤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下载</a:t>
            </a:r>
            <a:r>
              <a:rPr lang="en-US" altLang="zh-CN" dirty="0" err="1"/>
              <a:t>mybatis</a:t>
            </a:r>
            <a:r>
              <a:rPr lang="en-US" altLang="zh-CN" dirty="0"/>
              <a:t> jar</a:t>
            </a:r>
            <a:r>
              <a:rPr lang="zh-CN" altLang="en-US" dirty="0"/>
              <a:t>包并导入工程</a:t>
            </a:r>
            <a:endParaRPr lang="en-US" altLang="zh-CN" dirty="0"/>
          </a:p>
          <a:p>
            <a:pPr marL="857250" lvl="2" indent="0">
              <a:buNone/>
            </a:pP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使用</a:t>
            </a:r>
            <a:r>
              <a:rPr lang="en-US" altLang="zh-CN" dirty="0">
                <a:solidFill>
                  <a:srgbClr val="FF0000"/>
                </a:solidFill>
              </a:rPr>
              <a:t>maven</a:t>
            </a:r>
            <a:r>
              <a:rPr lang="zh-CN" altLang="en-US" dirty="0">
                <a:solidFill>
                  <a:srgbClr val="FF0000"/>
                </a:solidFill>
              </a:rPr>
              <a:t>引入</a:t>
            </a:r>
            <a:r>
              <a:rPr lang="en-US" altLang="zh-CN" dirty="0" err="1">
                <a:solidFill>
                  <a:srgbClr val="FF0000"/>
                </a:solidFill>
              </a:rPr>
              <a:t>mybatis</a:t>
            </a:r>
            <a:r>
              <a:rPr lang="zh-CN" altLang="en-US" dirty="0">
                <a:solidFill>
                  <a:srgbClr val="FF0000"/>
                </a:solidFill>
              </a:rPr>
              <a:t>依赖</a:t>
            </a:r>
            <a:endParaRPr lang="en-US" altLang="zh-CN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编写</a:t>
            </a:r>
            <a:r>
              <a:rPr lang="en-US" altLang="zh-CN" dirty="0" err="1"/>
              <a:t>MyBatis</a:t>
            </a:r>
            <a:r>
              <a:rPr lang="zh-CN" altLang="en-US" dirty="0"/>
              <a:t>核心配置文件</a:t>
            </a:r>
            <a:r>
              <a:rPr lang="en-US" altLang="zh-CN" dirty="0"/>
              <a:t>(configuration.xml)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创建实体类</a:t>
            </a:r>
            <a:r>
              <a:rPr lang="en-US" altLang="zh-CN" dirty="0"/>
              <a:t>-POJO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DAO</a:t>
            </a:r>
            <a:r>
              <a:rPr lang="zh-CN" altLang="en-US" dirty="0"/>
              <a:t>层</a:t>
            </a:r>
            <a:r>
              <a:rPr lang="en-US" altLang="zh-CN" dirty="0"/>
              <a:t>-SQL</a:t>
            </a:r>
            <a:r>
              <a:rPr lang="zh-CN" altLang="en-US" dirty="0"/>
              <a:t>映射文件</a:t>
            </a:r>
            <a:r>
              <a:rPr lang="en-US" altLang="zh-CN" dirty="0"/>
              <a:t>(mapper.xml)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创建测试类</a:t>
            </a:r>
            <a:endParaRPr lang="en-US" altLang="zh-CN" dirty="0"/>
          </a:p>
          <a:p>
            <a:pPr lvl="2"/>
            <a:r>
              <a:rPr lang="zh-CN" altLang="en-US" sz="1600" dirty="0"/>
              <a:t>读取核心配置文件</a:t>
            </a:r>
            <a:r>
              <a:rPr lang="en-US" altLang="zh-CN" sz="1600" dirty="0"/>
              <a:t>mybatis-config.xml</a:t>
            </a:r>
            <a:endParaRPr lang="zh-CN" altLang="en-US" sz="1600" dirty="0"/>
          </a:p>
          <a:p>
            <a:pPr lvl="2"/>
            <a:r>
              <a:rPr lang="zh-CN" altLang="en-US" sz="1600" dirty="0"/>
              <a:t>创建</a:t>
            </a:r>
            <a:r>
              <a:rPr lang="en-US" altLang="zh-CN" sz="1600" dirty="0" err="1"/>
              <a:t>SqlSessionFactory</a:t>
            </a:r>
            <a:r>
              <a:rPr lang="zh-CN" altLang="en-US" sz="1600" dirty="0"/>
              <a:t>对象，读取配置文件</a:t>
            </a:r>
            <a:endParaRPr lang="en-US" altLang="zh-CN" sz="1600" dirty="0"/>
          </a:p>
          <a:p>
            <a:pPr lvl="2"/>
            <a:r>
              <a:rPr lang="zh-CN" altLang="en-US" sz="1600" dirty="0"/>
              <a:t>创建</a:t>
            </a:r>
            <a:r>
              <a:rPr lang="en-US" altLang="zh-CN" sz="1600" dirty="0" err="1"/>
              <a:t>SqlSession</a:t>
            </a:r>
            <a:r>
              <a:rPr lang="zh-CN" altLang="en-US" sz="1600" dirty="0"/>
              <a:t>对象</a:t>
            </a:r>
            <a:endParaRPr lang="en-US" altLang="zh-CN" sz="1600" dirty="0"/>
          </a:p>
          <a:p>
            <a:pPr lvl="2"/>
            <a:r>
              <a:rPr lang="zh-CN" altLang="en-US" sz="1600" dirty="0"/>
              <a:t>调用</a:t>
            </a:r>
            <a:r>
              <a:rPr lang="en-US" altLang="zh-CN" sz="1600" dirty="0"/>
              <a:t>mapper</a:t>
            </a:r>
            <a:r>
              <a:rPr lang="zh-CN" altLang="en-US" sz="1600" dirty="0"/>
              <a:t>文件进行数据操作</a:t>
            </a:r>
            <a:endParaRPr lang="en-US" altLang="zh-CN" sz="1600" dirty="0"/>
          </a:p>
          <a:p>
            <a:pPr lvl="1"/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691680" y="4646709"/>
            <a:ext cx="4900701" cy="469143"/>
            <a:chOff x="1403648" y="3795886"/>
            <a:chExt cx="5714808" cy="371891"/>
          </a:xfrm>
        </p:grpSpPr>
        <p:sp>
          <p:nvSpPr>
            <p:cNvPr id="16" name="圆角矩形 15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8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Box 18"/>
            <p:cNvSpPr txBox="1"/>
            <p:nvPr/>
          </p:nvSpPr>
          <p:spPr bwMode="auto">
            <a:xfrm>
              <a:off x="2937466" y="3829223"/>
              <a:ext cx="3517310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：查询用户表记录数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B5BB7-1872-44D4-8CD0-ABC6B0C28464}" type="slidenum">
              <a:rPr lang="zh-CN" altLang="en-US" smtClean="0"/>
              <a:t>30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" y="339502"/>
            <a:ext cx="8185785" cy="574898"/>
          </a:xfrm>
        </p:spPr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71550"/>
            <a:ext cx="8116892" cy="4104455"/>
          </a:xfrm>
        </p:spPr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入门</a:t>
            </a:r>
            <a:endParaRPr lang="en-US" altLang="zh-CN" dirty="0"/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优秀持久层框架</a:t>
            </a:r>
            <a:endParaRPr lang="en-US" altLang="zh-CN" dirty="0">
              <a:cs typeface="Arial" panose="020B0604020202020204" pitchFamily="34" charset="0"/>
            </a:endParaRPr>
          </a:p>
          <a:p>
            <a:pPr lvl="2"/>
            <a:r>
              <a:rPr lang="zh-CN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实体类和</a:t>
            </a:r>
            <a:r>
              <a:rPr lang="en-US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SQL</a:t>
            </a:r>
            <a:r>
              <a:rPr lang="zh-CN" altLang="zh-CN" b="1" dirty="0">
                <a:solidFill>
                  <a:srgbClr val="FF0000"/>
                </a:solidFill>
                <a:cs typeface="Arial" panose="020B0604020202020204" pitchFamily="34" charset="0"/>
              </a:rPr>
              <a:t>语句之间建立映射关系</a:t>
            </a:r>
            <a:endParaRPr lang="en-US" altLang="zh-CN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cs typeface="Arial" panose="020B0604020202020204" pitchFamily="34" charset="0"/>
              </a:rPr>
              <a:t>搭建</a:t>
            </a:r>
            <a:r>
              <a:rPr lang="en-US" altLang="zh-CN" dirty="0" err="1">
                <a:cs typeface="Arial" panose="020B0604020202020204" pitchFamily="34" charset="0"/>
              </a:rPr>
              <a:t>MyBatis</a:t>
            </a:r>
            <a:r>
              <a:rPr lang="zh-CN" altLang="en-US" dirty="0">
                <a:cs typeface="Arial" panose="020B0604020202020204" pitchFamily="34" charset="0"/>
              </a:rPr>
              <a:t>开发环境</a:t>
            </a:r>
            <a:endParaRPr lang="en-US" altLang="zh-CN" dirty="0">
              <a:cs typeface="Arial" panose="020B060402020202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  <a:cs typeface="Arial" panose="020B0604020202020204" pitchFamily="34" charset="0"/>
              </a:rPr>
              <a:t>利用</a:t>
            </a:r>
            <a:r>
              <a:rPr lang="en-US" altLang="zh-CN" dirty="0">
                <a:solidFill>
                  <a:srgbClr val="FF0000"/>
                </a:solidFill>
                <a:cs typeface="Arial" panose="020B0604020202020204" pitchFamily="34" charset="0"/>
              </a:rPr>
              <a:t>maven</a:t>
            </a:r>
            <a:r>
              <a:rPr lang="zh-CN" altLang="en-US" dirty="0">
                <a:solidFill>
                  <a:srgbClr val="FF0000"/>
                </a:solidFill>
                <a:cs typeface="Arial" panose="020B0604020202020204" pitchFamily="34" charset="0"/>
              </a:rPr>
              <a:t>引入</a:t>
            </a:r>
            <a:r>
              <a:rPr lang="en-US" altLang="zh-CN" dirty="0" err="1">
                <a:solidFill>
                  <a:srgbClr val="FF0000"/>
                </a:solidFill>
                <a:cs typeface="Arial" panose="020B0604020202020204" pitchFamily="34" charset="0"/>
              </a:rPr>
              <a:t>mybatis</a:t>
            </a:r>
            <a:r>
              <a:rPr lang="zh-CN" altLang="en-US" dirty="0"/>
              <a:t>，或者直接</a:t>
            </a:r>
            <a:r>
              <a:rPr lang="zh-CN" altLang="en-US" dirty="0">
                <a:cs typeface="Arial" panose="020B0604020202020204" pitchFamily="34" charset="0"/>
              </a:rPr>
              <a:t>下载</a:t>
            </a:r>
            <a:r>
              <a:rPr lang="en-US" altLang="zh-CN" dirty="0">
                <a:cs typeface="Arial" panose="020B0604020202020204" pitchFamily="34" charset="0"/>
              </a:rPr>
              <a:t>mybatis-3.2.2.jar</a:t>
            </a:r>
            <a:r>
              <a:rPr lang="zh-CN" altLang="en-US" dirty="0">
                <a:cs typeface="Arial" panose="020B0604020202020204" pitchFamily="34" charset="0"/>
              </a:rPr>
              <a:t>包并导入工程。</a:t>
            </a:r>
            <a:endParaRPr lang="en-US" altLang="zh-CN" dirty="0">
              <a:cs typeface="Arial" panose="020B060402020202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编写</a:t>
            </a:r>
            <a:r>
              <a:rPr lang="en-US" altLang="zh-CN" dirty="0" err="1">
                <a:cs typeface="Arial" panose="020B0604020202020204" pitchFamily="34" charset="0"/>
              </a:rPr>
              <a:t>MyBatis</a:t>
            </a:r>
            <a:r>
              <a:rPr lang="zh-CN" altLang="en-US" dirty="0">
                <a:cs typeface="Arial" panose="020B0604020202020204" pitchFamily="34" charset="0"/>
              </a:rPr>
              <a:t>核心配置文件</a:t>
            </a:r>
            <a:r>
              <a:rPr lang="en-US" altLang="zh-CN" dirty="0">
                <a:cs typeface="Arial" panose="020B0604020202020204" pitchFamily="34" charset="0"/>
              </a:rPr>
              <a:t>(mybatis-config.xml)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创建实体类</a:t>
            </a:r>
            <a:r>
              <a:rPr lang="en-US" altLang="zh-CN" dirty="0">
                <a:cs typeface="Arial" panose="020B0604020202020204" pitchFamily="34" charset="0"/>
              </a:rPr>
              <a:t>-POJO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altLang="zh-CN" dirty="0">
                <a:cs typeface="Arial" panose="020B0604020202020204" pitchFamily="34" charset="0"/>
              </a:rPr>
              <a:t>DAO</a:t>
            </a:r>
            <a:r>
              <a:rPr lang="zh-CN" altLang="en-US" dirty="0">
                <a:cs typeface="Arial" panose="020B0604020202020204" pitchFamily="34" charset="0"/>
              </a:rPr>
              <a:t>层</a:t>
            </a:r>
            <a:r>
              <a:rPr lang="en-US" altLang="zh-CN" dirty="0">
                <a:cs typeface="Arial" panose="020B0604020202020204" pitchFamily="34" charset="0"/>
              </a:rPr>
              <a:t>-SQL</a:t>
            </a:r>
            <a:r>
              <a:rPr lang="zh-CN" altLang="en-US" dirty="0">
                <a:cs typeface="Arial" panose="020B0604020202020204" pitchFamily="34" charset="0"/>
              </a:rPr>
              <a:t>映射文件</a:t>
            </a:r>
            <a:endParaRPr lang="en-US" altLang="zh-CN" dirty="0">
              <a:cs typeface="Arial" panose="020B060402020202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创建测试类</a:t>
            </a:r>
            <a:endParaRPr lang="zh-CN" altLang="en-US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/>
            <a:endParaRPr lang="en-US" altLang="zh-CN" sz="900" dirty="0"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EB31-DEFE-40F2-9843-2A35F41A5EF3}" type="slidenum">
              <a:rPr lang="zh-CN" altLang="en-US" smtClean="0"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0001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EEC5A-29FA-4E4F-A502-DB5FEAF6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1C70B-E6C8-44A0-A078-2A2CB4F0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95C6-4660-4F9F-B935-4B3BEBCDBA0D}" type="slidenum">
              <a:rPr lang="zh-CN" altLang="en-US" smtClean="0"/>
              <a:t>32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61C880-5CDB-4CBB-886E-A4D627ADA49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215" y="969962"/>
            <a:ext cx="4179570" cy="3203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9729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0FB74-63B4-4786-B356-E71B38DD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以下内容学习目标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CD353-AC45-45DD-8043-58C8330C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掌握</a:t>
            </a:r>
            <a:r>
              <a:rPr lang="en-US" altLang="zh-CN" dirty="0" err="1"/>
              <a:t>MyBatis</a:t>
            </a:r>
            <a:r>
              <a:rPr lang="zh-CN" altLang="en-US" dirty="0"/>
              <a:t>的三个基本要素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理解核心类和接口的作用域和生命周期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掌握</a:t>
            </a:r>
            <a:r>
              <a:rPr lang="en-US" altLang="zh-CN" dirty="0" err="1">
                <a:solidFill>
                  <a:srgbClr val="FF0000"/>
                </a:solidFill>
              </a:rPr>
              <a:t>SqlSession</a:t>
            </a:r>
            <a:r>
              <a:rPr lang="zh-CN" altLang="en-US" dirty="0">
                <a:solidFill>
                  <a:srgbClr val="FF0000"/>
                </a:solidFill>
              </a:rPr>
              <a:t>的两种使用方式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FD574A-51A1-4632-B89A-953B1413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BB24-6912-419A-843F-5B529B736F19}" type="slidenum">
              <a:rPr lang="zh-CN" altLang="en-US" smtClean="0"/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8608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基本要素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MyBatis</a:t>
            </a:r>
            <a:r>
              <a:rPr lang="zh-CN" altLang="en-US" dirty="0"/>
              <a:t>的核心对象</a:t>
            </a:r>
            <a:endParaRPr lang="en-US" altLang="zh-CN" dirty="0"/>
          </a:p>
          <a:p>
            <a:pPr lvl="1"/>
            <a:r>
              <a:rPr lang="en-US" altLang="zh-CN" dirty="0" err="1"/>
              <a:t>SqlSessionFactoryBuilder</a:t>
            </a:r>
            <a:endParaRPr lang="en-US" altLang="zh-CN" dirty="0"/>
          </a:p>
          <a:p>
            <a:pPr lvl="1"/>
            <a:r>
              <a:rPr lang="en-US" altLang="zh-CN" dirty="0" err="1"/>
              <a:t>SqlSessionFactory</a:t>
            </a:r>
            <a:endParaRPr lang="en-US" altLang="zh-CN" dirty="0"/>
          </a:p>
          <a:p>
            <a:pPr lvl="1"/>
            <a:r>
              <a:rPr lang="en-US" altLang="zh-CN" dirty="0" err="1"/>
              <a:t>SqlSession</a:t>
            </a:r>
            <a:endParaRPr lang="en-US" altLang="zh-CN" dirty="0"/>
          </a:p>
          <a:p>
            <a:r>
              <a:rPr lang="en-US" altLang="zh-CN" dirty="0"/>
              <a:t>mybatis-config.xml  </a:t>
            </a:r>
            <a:r>
              <a:rPr lang="zh-CN" altLang="en-US" dirty="0"/>
              <a:t>系统核心配置文件</a:t>
            </a:r>
            <a:endParaRPr lang="en-US" altLang="zh-CN" dirty="0"/>
          </a:p>
          <a:p>
            <a:r>
              <a:rPr lang="en-US" altLang="zh-CN" dirty="0"/>
              <a:t>mapper.xml  SQL</a:t>
            </a:r>
            <a:r>
              <a:rPr lang="zh-CN" altLang="en-US" dirty="0"/>
              <a:t>映射文件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5E56-08CB-435D-A16A-C93005E72D94}" type="slidenum">
              <a:rPr lang="zh-CN" altLang="en-US" smtClean="0"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核心对象的结构</a:t>
            </a:r>
          </a:p>
        </p:txBody>
      </p:sp>
      <p:sp>
        <p:nvSpPr>
          <p:cNvPr id="5" name="矩形 4"/>
          <p:cNvSpPr/>
          <p:nvPr/>
        </p:nvSpPr>
        <p:spPr>
          <a:xfrm>
            <a:off x="1015805" y="1406614"/>
            <a:ext cx="3694310" cy="589072"/>
          </a:xfrm>
          <a:prstGeom prst="rect">
            <a:avLst/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algn="ctr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400" b="1" dirty="0" err="1">
                <a:solidFill>
                  <a:schemeClr val="accent5">
                    <a:lumMod val="10000"/>
                  </a:schemeClr>
                </a:solidFill>
              </a:rPr>
              <a:t>SqlSessionFactoryBuilder</a:t>
            </a:r>
            <a:endParaRPr lang="zh-CN" altLang="en-US" sz="2400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1640" y="3184475"/>
            <a:ext cx="2839204" cy="646331"/>
          </a:xfrm>
          <a:prstGeom prst="rect">
            <a:avLst/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algn="ctr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400" b="1" dirty="0" err="1">
                <a:solidFill>
                  <a:schemeClr val="accent5">
                    <a:lumMod val="10000"/>
                  </a:schemeClr>
                </a:solidFill>
              </a:rPr>
              <a:t>SqlSessionFactory</a:t>
            </a:r>
            <a:endParaRPr lang="zh-CN" altLang="en-US" sz="2400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00250" y="2143125"/>
            <a:ext cx="928688" cy="321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773239" y="2464594"/>
            <a:ext cx="1285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+mn-lt"/>
              </a:rPr>
              <a:t>build()</a:t>
            </a:r>
            <a:endParaRPr lang="zh-CN" altLang="en-US" sz="2400" b="1" dirty="0">
              <a:latin typeface="+mn-lt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355753" y="3107531"/>
            <a:ext cx="2071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 err="1">
                <a:latin typeface="+mn-lt"/>
              </a:rPr>
              <a:t>openSession</a:t>
            </a:r>
            <a:r>
              <a:rPr lang="en-US" altLang="zh-CN" sz="2000" b="1" dirty="0">
                <a:latin typeface="+mn-lt"/>
              </a:rPr>
              <a:t>()</a:t>
            </a:r>
            <a:endParaRPr lang="zh-CN" altLang="en-US" sz="2000" b="1" dirty="0">
              <a:latin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61671" y="3155157"/>
            <a:ext cx="1638498" cy="589072"/>
          </a:xfrm>
          <a:prstGeom prst="rect">
            <a:avLst/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algn="ctr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2400" b="1" dirty="0">
                <a:solidFill>
                  <a:schemeClr val="accent5">
                    <a:lumMod val="10000"/>
                  </a:schemeClr>
                </a:solidFill>
              </a:rPr>
              <a:t>SqlSession</a:t>
            </a:r>
            <a:endParaRPr lang="zh-CN" altLang="en-US" sz="2400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843808" y="1995686"/>
            <a:ext cx="0" cy="1177941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4211960" y="3506450"/>
            <a:ext cx="2232025" cy="1191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B8103-88B4-4781-8AFD-FC9DCDE3A950}" type="slidenum">
              <a:rPr lang="zh-CN" altLang="en-US" smtClean="0"/>
              <a:t>35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04762-9A3D-1DD4-6E4C-9E09F416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 dirty="0"/>
              <a:t>MyBatis</a:t>
            </a:r>
            <a:r>
              <a:rPr lang="zh-CN" altLang="zh-CN" dirty="0"/>
              <a:t>核心类关联结构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86EBC-C344-3752-9958-CB9ABB6D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2CEABB-D378-06C1-1DA8-03DFB5D1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C3647-7771-46D2-9FDE-881F7412B7B5}" type="slidenum">
              <a:rPr lang="en-US" altLang="zh-CN" smtClean="0"/>
              <a:t>36</a:t>
            </a:fld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03779C-362B-5084-E25D-C573F831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9662"/>
            <a:ext cx="9144000" cy="20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20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771551"/>
            <a:ext cx="7762875" cy="4176464"/>
          </a:xfrm>
        </p:spPr>
        <p:txBody>
          <a:bodyPr/>
          <a:lstStyle/>
          <a:p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SqlSessionFactoryBuilder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用过即丢，其生命周期只存在于方法体内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可重用其来创建多个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SqlSessionFactory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实例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负责构建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SqlSessionFactory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，并提供多个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方法的重载</a:t>
            </a:r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062038" y="2283718"/>
            <a:ext cx="7542410" cy="2308324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build(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InputStream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inputStream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, String environment, Properties properties) 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build(Reader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reader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, String environment, Properties properties)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build(Configuration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config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)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endParaRPr lang="en-US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配置信息以三种形式提供给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的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build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方法：</a:t>
            </a:r>
            <a:endParaRPr lang="en-US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 err="1">
                <a:solidFill>
                  <a:srgbClr val="FF0000"/>
                </a:solidFill>
              </a:rPr>
              <a:t>InputStream</a:t>
            </a:r>
            <a:r>
              <a:rPr lang="en-US" altLang="zh-CN" sz="1600" b="1" dirty="0">
                <a:solidFill>
                  <a:srgbClr val="FF0000"/>
                </a:solidFill>
              </a:rPr>
              <a:t> （</a:t>
            </a:r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字节流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</a:rPr>
              <a:t>Reader（</a:t>
            </a:r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字符流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</a:rPr>
              <a:t>Configuration（</a:t>
            </a:r>
            <a:r>
              <a:rPr lang="zh-CN" altLang="en-US" sz="1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>
            <a:off x="1043608" y="2653050"/>
            <a:ext cx="7497390" cy="156966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读取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XML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文件构造方式：</a:t>
            </a:r>
            <a:endParaRPr lang="en-US" altLang="zh-CN" sz="1600" b="1" dirty="0">
              <a:solidFill>
                <a:schemeClr val="accent5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String resource = "mybatis-config.xml"; 　　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InputStream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is =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Resources.getResourceAsStream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(resource); 　　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= new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SqlSessionFactoryBuilder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().build(is);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61D56-9416-433C-A40B-D9B59EEBEB10}" type="slidenum">
              <a:rPr lang="zh-CN" altLang="en-US" smtClean="0"/>
              <a:t>37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702592"/>
            <a:ext cx="8640960" cy="4185265"/>
          </a:xfrm>
        </p:spPr>
        <p:txBody>
          <a:bodyPr/>
          <a:lstStyle/>
          <a:p>
            <a:r>
              <a:rPr lang="en-US" altLang="zh-CN" dirty="0" err="1"/>
              <a:t>SqlSessionFactory</a:t>
            </a:r>
            <a:endParaRPr lang="en-US" altLang="zh-CN" dirty="0"/>
          </a:p>
          <a:p>
            <a:pPr lvl="1"/>
            <a:r>
              <a:rPr lang="en-US" altLang="zh-CN" dirty="0" err="1"/>
              <a:t>SqlSessionFactory</a:t>
            </a:r>
            <a:r>
              <a:rPr lang="zh-CN" altLang="en-US" dirty="0"/>
              <a:t>是每个</a:t>
            </a:r>
            <a:r>
              <a:rPr lang="en-US" altLang="zh-CN" dirty="0" err="1"/>
              <a:t>MyBatis</a:t>
            </a:r>
            <a:r>
              <a:rPr lang="zh-CN" altLang="en-US" dirty="0"/>
              <a:t>应用的核心</a:t>
            </a:r>
            <a:endParaRPr lang="en-US" altLang="zh-CN" dirty="0"/>
          </a:p>
          <a:p>
            <a:pPr lvl="1"/>
            <a:r>
              <a:rPr lang="zh-CN" altLang="en-US" dirty="0"/>
              <a:t>作用：创建</a:t>
            </a:r>
            <a:r>
              <a:rPr lang="en-US" altLang="zh-CN" dirty="0" err="1"/>
              <a:t>SqlSession</a:t>
            </a:r>
            <a:r>
              <a:rPr lang="zh-CN" altLang="en-US" dirty="0"/>
              <a:t>实例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作用域：</a:t>
            </a:r>
            <a:r>
              <a:rPr lang="en-US" altLang="zh-CN" dirty="0"/>
              <a:t>Application</a:t>
            </a:r>
          </a:p>
          <a:p>
            <a:pPr lvl="1"/>
            <a:r>
              <a:rPr lang="zh-CN" altLang="en-US" dirty="0"/>
              <a:t>生命周期与应用的生命周期相同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单例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存在于整个应用运行时，并且同时只存在一个对象实例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683568" y="2022689"/>
            <a:ext cx="7776864" cy="40504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SqlSession session =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sqlSessionFactory.</a:t>
            </a:r>
            <a:r>
              <a:rPr lang="en-US" altLang="zh-CN" sz="1600" b="1" dirty="0" err="1">
                <a:solidFill>
                  <a:srgbClr val="FF0000"/>
                </a:solidFill>
              </a:rPr>
              <a:t>openSession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</a:rPr>
              <a:t>boolean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 err="1">
                <a:solidFill>
                  <a:srgbClr val="FF0000"/>
                </a:solidFill>
              </a:rPr>
              <a:t>autoCommit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);</a:t>
            </a:r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5508104" y="2648749"/>
            <a:ext cx="3384376" cy="715089"/>
          </a:xfrm>
          <a:prstGeom prst="wedgeRoundRectCallout">
            <a:avLst>
              <a:gd name="adj1" fmla="val 283"/>
              <a:gd name="adj2" fmla="val -47326"/>
              <a:gd name="adj3" fmla="val 16667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：开启自动提交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：关闭自动提交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224112" y="4432107"/>
            <a:ext cx="5714808" cy="371891"/>
            <a:chOff x="1403648" y="3795886"/>
            <a:chExt cx="5714808" cy="371891"/>
          </a:xfrm>
        </p:grpSpPr>
        <p:sp>
          <p:nvSpPr>
            <p:cNvPr id="15" name="圆角矩形 14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7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/>
          </p:nvSpPr>
          <p:spPr bwMode="auto">
            <a:xfrm>
              <a:off x="2733885" y="3829223"/>
              <a:ext cx="3924472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：编写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MyBatisUtil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</a:t>
              </a:r>
            </a:p>
          </p:txBody>
        </p:sp>
      </p:grpSp>
      <p:cxnSp>
        <p:nvCxnSpPr>
          <p:cNvPr id="19" name="直接箭头连接符 18"/>
          <p:cNvCxnSpPr>
            <a:endCxn id="11" idx="4"/>
          </p:cNvCxnSpPr>
          <p:nvPr/>
        </p:nvCxnSpPr>
        <p:spPr>
          <a:xfrm>
            <a:off x="6300192" y="2355726"/>
            <a:ext cx="909678" cy="312144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D04D-5C82-4E23-8995-07BB3B6CA1D9}" type="slidenum">
              <a:rPr lang="zh-CN" altLang="en-US" smtClean="0"/>
              <a:t>38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0832" y="697589"/>
            <a:ext cx="7762875" cy="4443957"/>
          </a:xfrm>
        </p:spPr>
        <p:txBody>
          <a:bodyPr/>
          <a:lstStyle/>
          <a:p>
            <a:r>
              <a:rPr lang="en-US" altLang="zh-CN" dirty="0" err="1"/>
              <a:t>SqlSession</a:t>
            </a:r>
            <a:endParaRPr lang="en-US" altLang="zh-CN" dirty="0"/>
          </a:p>
          <a:p>
            <a:pPr lvl="1"/>
            <a:r>
              <a:rPr lang="zh-CN" altLang="en-US" dirty="0"/>
              <a:t>包含了执行</a:t>
            </a:r>
            <a:r>
              <a:rPr lang="en-US" altLang="zh-CN" dirty="0"/>
              <a:t>SQL</a:t>
            </a:r>
            <a:r>
              <a:rPr lang="zh-CN" altLang="en-US" dirty="0"/>
              <a:t>所需的所有方法</a:t>
            </a:r>
            <a:endParaRPr lang="en-US" altLang="zh-CN" dirty="0"/>
          </a:p>
          <a:p>
            <a:pPr lvl="1"/>
            <a:r>
              <a:rPr lang="zh-CN" altLang="en-US" dirty="0"/>
              <a:t>对应一次数据库会话，会话结束必须关闭</a:t>
            </a:r>
            <a:endParaRPr lang="en-US" altLang="zh-CN" dirty="0"/>
          </a:p>
          <a:p>
            <a:pPr lvl="1"/>
            <a:r>
              <a:rPr lang="zh-CN" altLang="en-US" dirty="0"/>
              <a:t>线程级别，不能共享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971550" y="2441259"/>
            <a:ext cx="7416800" cy="1566163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SqlSession session =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sqlSessionFactory.openSession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();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try {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     // do work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} finally {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    </a:t>
            </a:r>
            <a:r>
              <a:rPr lang="en-US" altLang="zh-CN" sz="1600" b="1" dirty="0" err="1">
                <a:solidFill>
                  <a:srgbClr val="FF0000"/>
                </a:solidFill>
              </a:rPr>
              <a:t>session.close</a:t>
            </a:r>
            <a:r>
              <a:rPr lang="en-US" altLang="zh-CN" sz="1600" b="1" dirty="0">
                <a:solidFill>
                  <a:srgbClr val="FF0000"/>
                </a:solidFill>
              </a:rPr>
              <a:t>();</a:t>
            </a:r>
          </a:p>
          <a:p>
            <a:pPr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}</a:t>
            </a:r>
          </a:p>
        </p:txBody>
      </p:sp>
      <p:grpSp>
        <p:nvGrpSpPr>
          <p:cNvPr id="9" name="组合 21"/>
          <p:cNvGrpSpPr/>
          <p:nvPr/>
        </p:nvGrpSpPr>
        <p:grpSpPr bwMode="auto">
          <a:xfrm>
            <a:off x="827608" y="3896959"/>
            <a:ext cx="7481685" cy="907042"/>
            <a:chOff x="1824589" y="4813179"/>
            <a:chExt cx="4344567" cy="447064"/>
          </a:xfrm>
        </p:grpSpPr>
        <p:sp>
          <p:nvSpPr>
            <p:cNvPr id="10" name="AutoShape 4"/>
            <p:cNvSpPr>
              <a:spLocks noChangeArrowheads="1"/>
            </p:cNvSpPr>
            <p:nvPr/>
          </p:nvSpPr>
          <p:spPr bwMode="gray">
            <a:xfrm>
              <a:off x="1824589" y="4945208"/>
              <a:ext cx="4306888" cy="31503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txBody>
            <a:bodyPr anchor="ctr"/>
            <a:lstStyle/>
            <a:p>
              <a:pPr>
                <a:defRPr/>
              </a:pPr>
              <a:r>
                <a:rPr lang="zh-CN" altLang="en-US" b="1" dirty="0">
                  <a:ea typeface="微软雅黑" panose="020B0503020204020204" pitchFamily="34" charset="-122"/>
                  <a:cs typeface="Arial" panose="020B0604020202020204" pitchFamily="34" charset="0"/>
                </a:rPr>
                <a:t>在</a:t>
              </a:r>
              <a:r>
                <a:rPr lang="en-US" altLang="zh-CN" b="1" dirty="0">
                  <a:ea typeface="微软雅黑" panose="020B0503020204020204" pitchFamily="34" charset="-122"/>
                  <a:cs typeface="Arial" panose="020B0604020202020204" pitchFamily="34" charset="0"/>
                </a:rPr>
                <a:t>SqlSession</a:t>
              </a:r>
              <a:r>
                <a:rPr lang="zh-CN" altLang="en-US" b="1" dirty="0">
                  <a:ea typeface="微软雅黑" panose="020B0503020204020204" pitchFamily="34" charset="-122"/>
                  <a:cs typeface="Arial" panose="020B0604020202020204" pitchFamily="34" charset="0"/>
                </a:rPr>
                <a:t>里可以执行多次</a:t>
              </a:r>
              <a:r>
                <a:rPr lang="en-US" altLang="zh-CN" b="1" dirty="0">
                  <a:ea typeface="微软雅黑" panose="020B0503020204020204" pitchFamily="34" charset="-122"/>
                  <a:cs typeface="Arial" panose="020B0604020202020204" pitchFamily="34" charset="0"/>
                </a:rPr>
                <a:t>SQL</a:t>
              </a:r>
              <a:r>
                <a:rPr lang="zh-CN" altLang="en-US" b="1" dirty="0">
                  <a:ea typeface="微软雅黑" panose="020B0503020204020204" pitchFamily="34" charset="-122"/>
                  <a:cs typeface="Arial" panose="020B0604020202020204" pitchFamily="34" charset="0"/>
                </a:rPr>
                <a:t>语句，但一旦关闭了</a:t>
              </a:r>
              <a:r>
                <a:rPr lang="en-US" altLang="zh-CN" b="1" dirty="0">
                  <a:ea typeface="微软雅黑" panose="020B0503020204020204" pitchFamily="34" charset="-122"/>
                  <a:cs typeface="Arial" panose="020B0604020202020204" pitchFamily="34" charset="0"/>
                </a:rPr>
                <a:t>SqlSession</a:t>
              </a:r>
              <a:r>
                <a:rPr lang="zh-CN" altLang="en-US" b="1" dirty="0">
                  <a:ea typeface="微软雅黑" panose="020B0503020204020204" pitchFamily="34" charset="-122"/>
                  <a:cs typeface="Arial" panose="020B0604020202020204" pitchFamily="34" charset="0"/>
                </a:rPr>
                <a:t>就需要重新创建</a:t>
              </a:r>
              <a:endParaRPr lang="en-US" altLang="zh-CN" b="1" dirty="0"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9948" name="AutoShape 4"/>
            <p:cNvSpPr>
              <a:spLocks noChangeArrowheads="1"/>
            </p:cNvSpPr>
            <p:nvPr/>
          </p:nvSpPr>
          <p:spPr bwMode="gray">
            <a:xfrm>
              <a:off x="5885775" y="4813179"/>
              <a:ext cx="283381" cy="1519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round/>
            </a:ln>
          </p:spPr>
          <p:txBody>
            <a:bodyPr anchor="ctr"/>
            <a:lstStyle/>
            <a:p>
              <a:pPr algn="ctr"/>
              <a:r>
                <a:rPr lang="en-US" altLang="zh-CN" sz="2000" b="1" dirty="0">
                  <a:solidFill>
                    <a:srgbClr val="0C83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</a:t>
              </a:r>
            </a:p>
          </p:txBody>
        </p:sp>
      </p:grp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3635377" y="2767136"/>
            <a:ext cx="4609032" cy="715089"/>
          </a:xfrm>
          <a:prstGeom prst="wedgeRoundRectCallout">
            <a:avLst>
              <a:gd name="adj1" fmla="val 283"/>
              <a:gd name="adj2" fmla="val -47326"/>
              <a:gd name="adj3" fmla="val 16667"/>
            </a:avLst>
          </a:prstGeom>
          <a:solidFill>
            <a:srgbClr val="009ADA"/>
          </a:solidFill>
          <a:ln w="381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2075" lvl="1"/>
            <a:r>
              <a:rPr lang="zh-CN" altLang="en-US" b="1" dirty="0">
                <a:solidFill>
                  <a:schemeClr val="lt1"/>
                </a:solidFill>
                <a:ea typeface="黑体" panose="02010609060101010101" pitchFamily="49" charset="-122"/>
              </a:rPr>
              <a:t>关闭</a:t>
            </a:r>
            <a:r>
              <a:rPr lang="en-US" altLang="zh-CN" b="1" dirty="0">
                <a:solidFill>
                  <a:schemeClr val="lt1"/>
                </a:solidFill>
                <a:ea typeface="黑体" panose="02010609060101010101" pitchFamily="49" charset="-122"/>
              </a:rPr>
              <a:t>SqlSession</a:t>
            </a:r>
            <a:r>
              <a:rPr lang="zh-CN" altLang="en-US" b="1" dirty="0">
                <a:solidFill>
                  <a:schemeClr val="lt1"/>
                </a:solidFill>
                <a:ea typeface="黑体" panose="02010609060101010101" pitchFamily="49" charset="-122"/>
              </a:rPr>
              <a:t>非常重要，必须要确保在</a:t>
            </a:r>
            <a:r>
              <a:rPr lang="en-US" altLang="zh-CN" b="1" dirty="0">
                <a:solidFill>
                  <a:schemeClr val="lt1"/>
                </a:solidFill>
                <a:ea typeface="黑体" panose="02010609060101010101" pitchFamily="49" charset="-122"/>
              </a:rPr>
              <a:t>finally</a:t>
            </a:r>
            <a:r>
              <a:rPr lang="zh-CN" altLang="en-US" b="1" dirty="0">
                <a:solidFill>
                  <a:schemeClr val="lt1"/>
                </a:solidFill>
                <a:ea typeface="黑体" panose="02010609060101010101" pitchFamily="49" charset="-122"/>
              </a:rPr>
              <a:t>方法体中正常关闭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2627784" y="3124680"/>
            <a:ext cx="1007593" cy="311166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5E8F0-9092-4E70-B1F6-211E23DD81DF}" type="slidenum">
              <a:rPr lang="zh-CN" altLang="en-US" smtClean="0"/>
              <a:t>39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1015365"/>
            <a:ext cx="7762875" cy="3932649"/>
          </a:xfrm>
        </p:spPr>
        <p:txBody>
          <a:bodyPr/>
          <a:lstStyle/>
          <a:p>
            <a:r>
              <a:rPr lang="en-US" altLang="zh-CN" dirty="0" err="1"/>
              <a:t>SqlSession</a:t>
            </a:r>
            <a:r>
              <a:rPr lang="zh-CN" altLang="en-US" dirty="0"/>
              <a:t>的获取方式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 err="1"/>
              <a:t>SqlSession</a:t>
            </a:r>
            <a:r>
              <a:rPr lang="zh-CN" altLang="en-US" dirty="0"/>
              <a:t>的两种使用方式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 err="1"/>
              <a:t>SqlSession</a:t>
            </a:r>
            <a:r>
              <a:rPr lang="zh-CN" altLang="en-US" dirty="0"/>
              <a:t>实例直接运行映射的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基于</a:t>
            </a:r>
            <a:r>
              <a:rPr lang="en-US" altLang="zh-CN" dirty="0">
                <a:solidFill>
                  <a:srgbClr val="FF0000"/>
                </a:solidFill>
              </a:rPr>
              <a:t>Mapper</a:t>
            </a:r>
            <a:r>
              <a:rPr lang="zh-CN" altLang="en-US" dirty="0">
                <a:solidFill>
                  <a:srgbClr val="FF0000"/>
                </a:solidFill>
              </a:rPr>
              <a:t>接口方式操作数据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900113" y="1623302"/>
            <a:ext cx="7416800" cy="1524512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String resource = "mybatis-config.xml"; 　　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InputStream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 is =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Resources.getResourceAsStream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(resource); 　　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factory = new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SqlSessionFactoryBuilder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().build(is) ;</a:t>
            </a:r>
          </a:p>
          <a:p>
            <a:pPr defTabSz="723900">
              <a:lnSpc>
                <a:spcPct val="15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SqlSession</a:t>
            </a:r>
            <a:r>
              <a:rPr lang="en-US" altLang="zh-CN" sz="1600" dirty="0"/>
              <a:t>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sqlSession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=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factory.openSession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();</a:t>
            </a:r>
            <a:endParaRPr lang="zh-CN" altLang="zh-CN" sz="1600" b="1" dirty="0" err="1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3A688-BC99-407E-9C3F-810A3691390D}" type="slidenum">
              <a:rPr lang="zh-CN" altLang="en-US" smtClean="0"/>
              <a:t>40</a:t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需求说明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SqlSession</a:t>
            </a:r>
            <a:r>
              <a:rPr lang="zh-CN" altLang="en-US" dirty="0"/>
              <a:t>的两种使用方式实现用户表的查询操作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调用</a:t>
            </a:r>
            <a:r>
              <a:rPr lang="en-US" altLang="zh-CN" dirty="0" err="1"/>
              <a:t>sqlSession.selectList</a:t>
            </a:r>
            <a:r>
              <a:rPr lang="en-US" altLang="zh-CN" dirty="0"/>
              <a:t>()</a:t>
            </a:r>
            <a:r>
              <a:rPr lang="zh-CN" altLang="en-US" dirty="0"/>
              <a:t>执行查询操作</a:t>
            </a:r>
            <a:endParaRPr lang="en-US" altLang="zh-CN" dirty="0"/>
          </a:p>
          <a:p>
            <a:r>
              <a:rPr lang="zh-CN" altLang="en-US" dirty="0"/>
              <a:t>调用</a:t>
            </a:r>
            <a:r>
              <a:rPr lang="en-US" altLang="zh-CN" dirty="0" err="1"/>
              <a:t>sqlSession.getMapper</a:t>
            </a:r>
            <a:r>
              <a:rPr lang="en-US" altLang="zh-CN" dirty="0"/>
              <a:t>(</a:t>
            </a:r>
            <a:r>
              <a:rPr lang="en-US" altLang="zh-CN" dirty="0" err="1"/>
              <a:t>Mapper.class</a:t>
            </a:r>
            <a:r>
              <a:rPr lang="en-US" altLang="zh-CN" dirty="0"/>
              <a:t>)</a:t>
            </a:r>
            <a:r>
              <a:rPr lang="zh-CN" altLang="en-US" dirty="0"/>
              <a:t>执行</a:t>
            </a:r>
            <a:r>
              <a:rPr lang="en-US" altLang="zh-CN" dirty="0"/>
              <a:t>DAO</a:t>
            </a:r>
            <a:r>
              <a:rPr lang="zh-CN" altLang="en-US" dirty="0"/>
              <a:t>接口方法来实现对数据的查询操作</a:t>
            </a:r>
            <a:r>
              <a:rPr lang="en-US" altLang="zh-CN" dirty="0"/>
              <a:t>	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066524" y="4587974"/>
            <a:ext cx="5714808" cy="371891"/>
            <a:chOff x="1403648" y="3795886"/>
            <a:chExt cx="5714808" cy="371891"/>
          </a:xfrm>
        </p:grpSpPr>
        <p:sp>
          <p:nvSpPr>
            <p:cNvPr id="19" name="圆角矩形 18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1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/>
            <p:cNvSpPr txBox="1"/>
            <p:nvPr/>
          </p:nvSpPr>
          <p:spPr bwMode="auto">
            <a:xfrm>
              <a:off x="2693810" y="3829223"/>
              <a:ext cx="4004622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：实现用户表的查询操作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5496" y="2098338"/>
            <a:ext cx="722253" cy="773016"/>
            <a:chOff x="2317433" y="1741805"/>
            <a:chExt cx="436880" cy="532130"/>
          </a:xfrm>
        </p:grpSpPr>
        <p:sp>
          <p:nvSpPr>
            <p:cNvPr id="24" name="TextBox 65"/>
            <p:cNvSpPr txBox="1"/>
            <p:nvPr/>
          </p:nvSpPr>
          <p:spPr>
            <a:xfrm>
              <a:off x="2317433" y="202882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分析</a:t>
              </a:r>
            </a:p>
          </p:txBody>
        </p:sp>
        <p:pic>
          <p:nvPicPr>
            <p:cNvPr id="25" name="图片 24" descr="C:\Users\Lenovo\Desktop\icon\放大镜.png放大镜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396173" y="1741805"/>
              <a:ext cx="279400" cy="280035"/>
            </a:xfrm>
            <a:prstGeom prst="rect">
              <a:avLst/>
            </a:prstGeom>
          </p:spPr>
        </p:pic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93367-7158-4097-8C21-1DD890A032D2}" type="slidenum">
              <a:rPr lang="zh-CN" altLang="en-US" smtClean="0"/>
              <a:t>41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非集成环境下的最佳实践</a:t>
            </a:r>
            <a:endParaRPr lang="en-US" altLang="zh-CN" dirty="0"/>
          </a:p>
          <a:p>
            <a:pPr lvl="1"/>
            <a:r>
              <a:rPr lang="en-US" altLang="zh-CN" dirty="0" err="1"/>
              <a:t>SqlSessionFactoryBuilder</a:t>
            </a:r>
            <a:endParaRPr lang="en-US" altLang="zh-CN" dirty="0"/>
          </a:p>
          <a:p>
            <a:pPr lvl="2"/>
            <a:r>
              <a:rPr lang="zh-CN" altLang="en-US" dirty="0"/>
              <a:t>用过即丢，推荐作用域范围：方法体内</a:t>
            </a:r>
            <a:endParaRPr lang="en-US" altLang="zh-CN" dirty="0"/>
          </a:p>
          <a:p>
            <a:pPr lvl="1"/>
            <a:r>
              <a:rPr lang="en-US" altLang="zh-CN" dirty="0" err="1"/>
              <a:t>SqlSessionFactory</a:t>
            </a:r>
            <a:endParaRPr lang="en-US" altLang="zh-CN" dirty="0"/>
          </a:p>
          <a:p>
            <a:pPr lvl="2"/>
            <a:r>
              <a:rPr lang="zh-CN" altLang="en-US" dirty="0"/>
              <a:t>最佳作用域范围：应用的全局作用域</a:t>
            </a:r>
            <a:endParaRPr lang="en-US" altLang="zh-CN" dirty="0"/>
          </a:p>
          <a:p>
            <a:pPr lvl="2"/>
            <a:r>
              <a:rPr lang="zh-CN" altLang="en-US" dirty="0"/>
              <a:t>生命周期与应用的生命周期相同</a:t>
            </a:r>
            <a:endParaRPr lang="en-US" altLang="zh-CN" dirty="0"/>
          </a:p>
          <a:p>
            <a:pPr lvl="1"/>
            <a:r>
              <a:rPr lang="en-US" altLang="zh-CN" dirty="0" err="1"/>
              <a:t>SqlSession</a:t>
            </a:r>
            <a:endParaRPr lang="en-US" altLang="zh-CN" dirty="0"/>
          </a:p>
          <a:p>
            <a:pPr lvl="2"/>
            <a:r>
              <a:rPr lang="zh-CN" altLang="en-US" dirty="0"/>
              <a:t>线程级</a:t>
            </a:r>
            <a:endParaRPr lang="en-US" altLang="zh-CN" dirty="0"/>
          </a:p>
          <a:p>
            <a:pPr lvl="2"/>
            <a:r>
              <a:rPr lang="zh-CN" altLang="en-US" dirty="0"/>
              <a:t>一个</a:t>
            </a:r>
            <a:r>
              <a:rPr lang="en-US" altLang="zh-CN" dirty="0"/>
              <a:t>request</a:t>
            </a:r>
            <a:r>
              <a:rPr lang="zh-CN" altLang="en-US" dirty="0"/>
              <a:t>请求期间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86442-9878-45BC-8354-07E7B4ED3EEC}" type="slidenum">
              <a:rPr lang="zh-CN" altLang="en-US" smtClean="0"/>
              <a:t>42</a:t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系统核心配置文件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699543"/>
            <a:ext cx="7762875" cy="3709898"/>
          </a:xfrm>
        </p:spPr>
        <p:txBody>
          <a:bodyPr/>
          <a:lstStyle/>
          <a:p>
            <a:r>
              <a:rPr lang="en-US" altLang="zh-CN" dirty="0"/>
              <a:t>mybatis-config.xml </a:t>
            </a:r>
            <a:r>
              <a:rPr lang="zh-CN" altLang="en-US" dirty="0"/>
              <a:t>系统核心配置文件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899592" y="1203598"/>
            <a:ext cx="6237522" cy="363791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rgbClr val="0B9FDD"/>
              </a:buClr>
              <a:buSzPct val="100000"/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configuration </a:t>
            </a: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配置</a:t>
            </a:r>
            <a:endParaRPr lang="en-US" altLang="zh-CN" sz="200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ea typeface="微软雅黑" panose="020B0503020204020204" pitchFamily="34" charset="-122"/>
              </a:rPr>
              <a:t>properties    </a:t>
            </a:r>
            <a:r>
              <a:rPr lang="zh-CN" altLang="en-US" dirty="0">
                <a:ea typeface="微软雅黑" panose="020B0503020204020204" pitchFamily="34" charset="-122"/>
              </a:rPr>
              <a:t>可以配置在</a:t>
            </a:r>
            <a:r>
              <a:rPr lang="en-US" altLang="zh-CN" dirty="0">
                <a:ea typeface="微软雅黑" panose="020B0503020204020204" pitchFamily="34" charset="-122"/>
              </a:rPr>
              <a:t>Java </a:t>
            </a:r>
            <a:r>
              <a:rPr lang="zh-CN" altLang="en-US" dirty="0">
                <a:ea typeface="微软雅黑" panose="020B0503020204020204" pitchFamily="34" charset="-122"/>
              </a:rPr>
              <a:t>属性配置文件中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ea typeface="微软雅黑" panose="020B0503020204020204" pitchFamily="34" charset="-122"/>
              </a:rPr>
              <a:t>settings    </a:t>
            </a:r>
            <a:r>
              <a:rPr lang="zh-CN" altLang="en-US" dirty="0">
                <a:ea typeface="微软雅黑" panose="020B0503020204020204" pitchFamily="34" charset="-122"/>
              </a:rPr>
              <a:t>修改 </a:t>
            </a:r>
            <a:r>
              <a:rPr lang="en-US" altLang="zh-CN" dirty="0" err="1">
                <a:ea typeface="微软雅黑" panose="020B0503020204020204" pitchFamily="34" charset="-122"/>
              </a:rPr>
              <a:t>MyBatis</a:t>
            </a:r>
            <a:r>
              <a:rPr lang="en-US" altLang="zh-CN" dirty="0">
                <a:ea typeface="微软雅黑" panose="020B0503020204020204" pitchFamily="34" charset="-122"/>
              </a:rPr>
              <a:t> </a:t>
            </a:r>
            <a:r>
              <a:rPr lang="zh-CN" altLang="en-US" dirty="0">
                <a:ea typeface="微软雅黑" panose="020B0503020204020204" pitchFamily="34" charset="-122"/>
              </a:rPr>
              <a:t>在运行时的行为方式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 err="1">
                <a:ea typeface="微软雅黑" panose="020B0503020204020204" pitchFamily="34" charset="-122"/>
              </a:rPr>
              <a:t>typeAliases</a:t>
            </a:r>
            <a:r>
              <a:rPr lang="en-US" altLang="zh-CN" dirty="0"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ea typeface="微软雅黑" panose="020B0503020204020204" pitchFamily="34" charset="-122"/>
              </a:rPr>
              <a:t>为 </a:t>
            </a:r>
            <a:r>
              <a:rPr lang="en-US" altLang="zh-CN" dirty="0">
                <a:ea typeface="微软雅黑" panose="020B0503020204020204" pitchFamily="34" charset="-122"/>
              </a:rPr>
              <a:t>Java </a:t>
            </a:r>
            <a:r>
              <a:rPr lang="zh-CN" altLang="en-US" dirty="0">
                <a:ea typeface="微软雅黑" panose="020B0503020204020204" pitchFamily="34" charset="-122"/>
              </a:rPr>
              <a:t>类型命名一个别名（简称）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 err="1">
                <a:ea typeface="微软雅黑" panose="020B0503020204020204" pitchFamily="34" charset="-122"/>
              </a:rPr>
              <a:t>typeHandlers</a:t>
            </a:r>
            <a:r>
              <a:rPr lang="en-US" altLang="zh-CN" dirty="0"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ea typeface="微软雅黑" panose="020B0503020204020204" pitchFamily="34" charset="-122"/>
              </a:rPr>
              <a:t>类型处理器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 err="1">
                <a:ea typeface="微软雅黑" panose="020B0503020204020204" pitchFamily="34" charset="-122"/>
              </a:rPr>
              <a:t>objectFactory</a:t>
            </a:r>
            <a:r>
              <a:rPr lang="en-US" altLang="zh-CN" dirty="0">
                <a:ea typeface="微软雅黑" panose="020B0503020204020204" pitchFamily="34" charset="-122"/>
              </a:rPr>
              <a:t>   </a:t>
            </a:r>
            <a:r>
              <a:rPr lang="zh-CN" altLang="en-US" dirty="0">
                <a:ea typeface="微软雅黑" panose="020B0503020204020204" pitchFamily="34" charset="-122"/>
              </a:rPr>
              <a:t>对象工厂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ea typeface="微软雅黑" panose="020B0503020204020204" pitchFamily="34" charset="-122"/>
              </a:rPr>
              <a:t>plugins   </a:t>
            </a:r>
            <a:r>
              <a:rPr lang="zh-CN" altLang="en-US" dirty="0">
                <a:ea typeface="微软雅黑" panose="020B0503020204020204" pitchFamily="34" charset="-122"/>
              </a:rPr>
              <a:t>插件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ea typeface="微软雅黑" panose="020B0503020204020204" pitchFamily="34" charset="-122"/>
              </a:rPr>
              <a:t>environments   </a:t>
            </a:r>
            <a:r>
              <a:rPr lang="zh-CN" altLang="en-US" dirty="0">
                <a:ea typeface="微软雅黑" panose="020B0503020204020204" pitchFamily="34" charset="-122"/>
              </a:rPr>
              <a:t>环境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ea typeface="微软雅黑" panose="020B0503020204020204" pitchFamily="34" charset="-122"/>
              </a:rPr>
              <a:t>environment   </a:t>
            </a:r>
            <a:r>
              <a:rPr lang="zh-CN" altLang="en-US" dirty="0">
                <a:solidFill>
                  <a:srgbClr val="FF0000"/>
                </a:solidFill>
                <a:ea typeface="微软雅黑" panose="020B0503020204020204" pitchFamily="34" charset="-122"/>
              </a:rPr>
              <a:t>环境变量</a:t>
            </a:r>
            <a:endParaRPr lang="en-US" altLang="zh-CN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1200150" lvl="2" indent="-285750" fontAlgn="base">
              <a:spcBef>
                <a:spcPct val="20000"/>
              </a:spcBef>
              <a:spcAft>
                <a:spcPct val="0"/>
              </a:spcAft>
              <a:buClr>
                <a:srgbClr val="0099D8"/>
              </a:buClr>
              <a:buFont typeface="Webdings" panose="05030102010509060703" charset="0"/>
              <a:buChar char="4"/>
              <a:defRPr/>
            </a:pPr>
            <a:r>
              <a:rPr lang="en-US" altLang="zh-CN" sz="1600" dirty="0" err="1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transactionManager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事务管理器</a:t>
            </a:r>
            <a:endParaRPr lang="en-US" altLang="zh-CN" sz="1600" dirty="0">
              <a:solidFill>
                <a:schemeClr val="accent5">
                  <a:lumMod val="10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00150" lvl="2" indent="-285750" fontAlgn="base">
              <a:spcBef>
                <a:spcPct val="20000"/>
              </a:spcBef>
              <a:spcAft>
                <a:spcPct val="0"/>
              </a:spcAft>
              <a:buClr>
                <a:srgbClr val="0099D8"/>
              </a:buClr>
              <a:buFont typeface="Webdings" panose="05030102010509060703" charset="0"/>
              <a:buChar char="4"/>
              <a:defRPr/>
            </a:pPr>
            <a:r>
              <a:rPr lang="en-US" altLang="zh-CN" sz="1600" dirty="0" err="1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dataSource</a:t>
            </a:r>
            <a:r>
              <a:rPr lang="en-US" altLang="zh-CN" sz="1600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en-US" sz="1600" dirty="0">
                <a:solidFill>
                  <a:schemeClr val="accent5">
                    <a:lumMod val="10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数据源</a:t>
            </a:r>
            <a:endParaRPr lang="en-US" altLang="zh-CN" sz="1600" dirty="0">
              <a:solidFill>
                <a:schemeClr val="accent5">
                  <a:lumMod val="10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ea typeface="微软雅黑" panose="020B0503020204020204" pitchFamily="34" charset="-122"/>
              </a:rPr>
              <a:t>mappers    </a:t>
            </a:r>
            <a:r>
              <a:rPr lang="zh-CN" altLang="en-US" dirty="0">
                <a:ea typeface="微软雅黑" panose="020B0503020204020204" pitchFamily="34" charset="-122"/>
              </a:rPr>
              <a:t>映射器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7308304" y="1980734"/>
            <a:ext cx="1835696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  <a:ln w="3810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注意元素节点的顺序！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462644" y="2113242"/>
            <a:ext cx="845660" cy="209080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BDB80-7C5C-4AC2-850F-268809040802}" type="slidenum">
              <a:rPr lang="zh-CN" altLang="en-US" smtClean="0"/>
              <a:t>43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  <a:r>
              <a:rPr lang="en-US" altLang="zh-CN"/>
              <a:t>properties</a:t>
            </a:r>
            <a:r>
              <a:rPr lang="zh-CN" altLang="en-US"/>
              <a:t>元素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配置</a:t>
            </a:r>
            <a:r>
              <a:rPr lang="en-US" altLang="zh-CN" dirty="0"/>
              <a:t>properties</a:t>
            </a:r>
            <a:r>
              <a:rPr lang="zh-CN" altLang="en-US" dirty="0"/>
              <a:t>元素的两种方式</a:t>
            </a:r>
            <a:endParaRPr lang="en-US" altLang="zh-CN" dirty="0"/>
          </a:p>
          <a:p>
            <a:pPr lvl="1"/>
            <a:r>
              <a:rPr lang="zh-CN" altLang="zh-CN" dirty="0"/>
              <a:t>通过外部指定的方式</a:t>
            </a:r>
            <a:r>
              <a:rPr lang="zh-CN" altLang="en-US" dirty="0"/>
              <a:t>（</a:t>
            </a:r>
            <a:r>
              <a:rPr lang="en-US" altLang="zh-CN" dirty="0" err="1"/>
              <a:t>database.properties</a:t>
            </a:r>
            <a:r>
              <a:rPr lang="zh-CN" altLang="en-US" dirty="0"/>
              <a:t>），</a:t>
            </a:r>
            <a:r>
              <a:rPr lang="zh-CN" altLang="zh-CN" dirty="0"/>
              <a:t>实现动态配置</a:t>
            </a:r>
            <a:endParaRPr lang="en-US" altLang="zh-CN" dirty="0"/>
          </a:p>
          <a:p>
            <a:pPr lvl="1"/>
            <a:r>
              <a:rPr lang="zh-CN" altLang="zh-CN" dirty="0"/>
              <a:t>直接配置为</a:t>
            </a:r>
            <a:r>
              <a:rPr lang="en-US" altLang="zh-CN" dirty="0"/>
              <a:t>xml</a:t>
            </a:r>
            <a:r>
              <a:rPr lang="zh-CN" altLang="en-US" dirty="0"/>
              <a:t>，</a:t>
            </a:r>
            <a:r>
              <a:rPr lang="zh-CN" altLang="zh-CN" dirty="0"/>
              <a:t>实现动态配置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ADFDB9-28DD-4BB7-B558-E6ED82024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44</a:t>
            </a:fld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properties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771550"/>
            <a:ext cx="7762875" cy="4271123"/>
          </a:xfrm>
        </p:spPr>
        <p:txBody>
          <a:bodyPr/>
          <a:lstStyle/>
          <a:p>
            <a:r>
              <a:rPr lang="zh-CN" altLang="zh-CN" dirty="0"/>
              <a:t>通过外部指定的方式</a:t>
            </a:r>
            <a:r>
              <a:rPr lang="zh-CN" altLang="en-US" dirty="0"/>
              <a:t>（</a:t>
            </a:r>
            <a:r>
              <a:rPr lang="en-US" altLang="zh-CN" dirty="0" err="1"/>
              <a:t>database.properties</a:t>
            </a:r>
            <a:r>
              <a:rPr lang="zh-CN" altLang="en-US" dirty="0"/>
              <a:t>），</a:t>
            </a:r>
            <a:r>
              <a:rPr lang="zh-CN" altLang="zh-CN" dirty="0"/>
              <a:t>实现动态配置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properties</a:t>
            </a:r>
            <a:r>
              <a:rPr lang="zh-CN" altLang="en-US" dirty="0"/>
              <a:t>的</a:t>
            </a:r>
            <a:r>
              <a:rPr lang="en-US" altLang="zh-CN" dirty="0"/>
              <a:t>resource</a:t>
            </a:r>
            <a:r>
              <a:rPr lang="zh-CN" altLang="en-US" dirty="0"/>
              <a:t>属性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928662" y="1995686"/>
            <a:ext cx="7171730" cy="304698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en-US" sz="1600" b="1" dirty="0">
                <a:solidFill>
                  <a:schemeClr val="accent5">
                    <a:lumMod val="10000"/>
                  </a:schemeClr>
                </a:solidFill>
              </a:rPr>
              <a:t>properties resource="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database</a:t>
            </a:r>
            <a:r>
              <a:rPr lang="en-US" altLang="en-US" sz="1600" b="1" dirty="0" err="1">
                <a:solidFill>
                  <a:schemeClr val="accent5">
                    <a:lumMod val="10000"/>
                  </a:schemeClr>
                </a:solidFill>
              </a:rPr>
              <a:t>.properties</a:t>
            </a:r>
            <a:r>
              <a:rPr lang="en-US" altLang="en-US" sz="1600" b="1" dirty="0">
                <a:solidFill>
                  <a:schemeClr val="accent5">
                    <a:lumMod val="10000"/>
                  </a:schemeClr>
                </a:solidFill>
              </a:rPr>
              <a:t>"/&gt;      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......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type="POOLED"&gt;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name="driver" value="${driver}"/&gt;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 value="${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name="username" value="${user}"/&gt;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name="password" value="${password}"/&gt;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  <a:endParaRPr lang="en-US" altLang="en-US" sz="1600" b="1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102" y="249423"/>
            <a:ext cx="8185785" cy="491897"/>
          </a:xfrm>
        </p:spPr>
        <p:txBody>
          <a:bodyPr/>
          <a:lstStyle/>
          <a:p>
            <a:r>
              <a:rPr lang="en-US" altLang="zh-CN" dirty="0"/>
              <a:t>properties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627534"/>
            <a:ext cx="7762875" cy="4515965"/>
          </a:xfrm>
        </p:spPr>
        <p:txBody>
          <a:bodyPr/>
          <a:lstStyle/>
          <a:p>
            <a:r>
              <a:rPr lang="zh-CN" altLang="zh-CN" sz="1600" dirty="0"/>
              <a:t>直接配置为</a:t>
            </a:r>
            <a:r>
              <a:rPr lang="en-US" altLang="zh-CN" sz="1600" dirty="0"/>
              <a:t>xml</a:t>
            </a:r>
            <a:r>
              <a:rPr lang="zh-CN" altLang="en-US" sz="1600" dirty="0"/>
              <a:t>，</a:t>
            </a:r>
            <a:r>
              <a:rPr lang="zh-CN" altLang="zh-CN" sz="1600" dirty="0"/>
              <a:t>实现动态配置</a:t>
            </a:r>
            <a:endParaRPr lang="en-US" altLang="zh-CN" sz="1600" dirty="0"/>
          </a:p>
          <a:p>
            <a:pPr lvl="1"/>
            <a:r>
              <a:rPr lang="zh-CN" altLang="en-US" sz="1600" dirty="0"/>
              <a:t>配置</a:t>
            </a:r>
            <a:r>
              <a:rPr lang="en-US" altLang="zh-CN" sz="1600" dirty="0"/>
              <a:t>property</a:t>
            </a:r>
            <a:r>
              <a:rPr lang="zh-CN" altLang="en-US" sz="1600" dirty="0"/>
              <a:t>的</a:t>
            </a:r>
            <a:r>
              <a:rPr lang="en-US" altLang="zh-CN" sz="1600" dirty="0"/>
              <a:t>name</a:t>
            </a:r>
            <a:r>
              <a:rPr lang="zh-CN" altLang="en-US" sz="1600" dirty="0"/>
              <a:t>和</a:t>
            </a:r>
            <a:r>
              <a:rPr lang="en-US" altLang="zh-CN" sz="1600" dirty="0"/>
              <a:t>value</a:t>
            </a:r>
          </a:p>
          <a:p>
            <a:pPr lvl="1"/>
            <a:endParaRPr lang="zh-CN" altLang="en-US" sz="2000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>
            <a:off x="777318" y="1366773"/>
            <a:ext cx="7696992" cy="329320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buClr>
                <a:schemeClr val="folHlink"/>
              </a:buClr>
              <a:buSzPct val="60000"/>
            </a:pPr>
            <a:r>
              <a:rPr lang="fr-FR" altLang="zh-CN" sz="1600" b="1" dirty="0">
                <a:solidFill>
                  <a:schemeClr val="accent5">
                    <a:lumMod val="10000"/>
                  </a:schemeClr>
                </a:solidFill>
              </a:rPr>
              <a:t>&lt;properties&gt;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fr-FR" altLang="zh-CN" sz="1600" b="1" dirty="0">
                <a:solidFill>
                  <a:schemeClr val="accent5">
                    <a:lumMod val="10000"/>
                  </a:schemeClr>
                </a:solidFill>
              </a:rPr>
              <a:t>		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&lt;property name="driver" value="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com.mysql.jdbc.Driver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 value="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jdbc:mysql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://127.0.0.1:3306/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smbms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name="user" value="root"/&gt;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name="password" value="root"/&gt;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&lt;/properties&gt;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......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type="POOLED"&gt;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name="driver" value="${driver}"/&gt;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 value="${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name="username" value="${user}"/&gt;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	&lt;property name="password" value="${password}"/&gt;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  <a:endParaRPr lang="zh-CN" altLang="zh-CN" sz="1600" b="1" dirty="0" err="1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4034808" y="156818"/>
            <a:ext cx="4363566" cy="338554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演示示例</a:t>
            </a:r>
            <a:r>
              <a:rPr lang="en-US" altLang="zh-CN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spc="300" dirty="0" err="1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popertie</a:t>
            </a:r>
            <a:r>
              <a:rPr lang="zh-CN" altLang="en-US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元素配置</a:t>
            </a:r>
            <a:r>
              <a:rPr lang="en-US" altLang="zh-CN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-xml</a:t>
            </a:r>
            <a:endParaRPr lang="zh-CN" altLang="en-US" sz="1600" b="1" spc="300" dirty="0">
              <a:solidFill>
                <a:srgbClr val="FBFF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08705" y="4720139"/>
            <a:ext cx="5714808" cy="371891"/>
            <a:chOff x="1403648" y="3795886"/>
            <a:chExt cx="5714808" cy="371891"/>
          </a:xfrm>
        </p:grpSpPr>
        <p:sp>
          <p:nvSpPr>
            <p:cNvPr id="14" name="圆角矩形 13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6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/>
            <p:cNvSpPr txBox="1"/>
            <p:nvPr/>
          </p:nvSpPr>
          <p:spPr bwMode="auto">
            <a:xfrm>
              <a:off x="2382603" y="3829223"/>
              <a:ext cx="4627036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properties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元素配置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-xml</a:t>
              </a:r>
              <a:endParaRPr lang="zh-CN" altLang="en-US" sz="1600" b="1" spc="300" dirty="0">
                <a:solidFill>
                  <a:srgbClr val="FBFFF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844" y="120097"/>
            <a:ext cx="8185785" cy="706755"/>
          </a:xfrm>
        </p:spPr>
        <p:txBody>
          <a:bodyPr/>
          <a:lstStyle/>
          <a:p>
            <a:r>
              <a:rPr lang="en-US" altLang="zh-CN" dirty="0"/>
              <a:t>properties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843558"/>
            <a:ext cx="7762875" cy="3518883"/>
          </a:xfrm>
        </p:spPr>
        <p:txBody>
          <a:bodyPr/>
          <a:lstStyle/>
          <a:p>
            <a:r>
              <a:rPr lang="zh-CN" altLang="zh-CN" sz="1800" dirty="0"/>
              <a:t>若两种方式同时都用了，那么哪种方式优先？</a:t>
            </a:r>
            <a:endParaRPr lang="en-US" altLang="zh-CN" sz="1800" dirty="0"/>
          </a:p>
          <a:p>
            <a:pPr lvl="1"/>
            <a:r>
              <a:rPr lang="zh-CN" altLang="en-US" sz="1600" dirty="0"/>
              <a:t>配置</a:t>
            </a:r>
            <a:r>
              <a:rPr lang="en-US" altLang="zh-CN" sz="1600" dirty="0"/>
              <a:t>properties</a:t>
            </a:r>
            <a:r>
              <a:rPr lang="zh-CN" altLang="en-US" sz="1600" dirty="0"/>
              <a:t>的</a:t>
            </a:r>
            <a:r>
              <a:rPr lang="en-US" altLang="zh-CN" sz="1600" dirty="0"/>
              <a:t>resource</a:t>
            </a:r>
            <a:r>
              <a:rPr lang="zh-CN" altLang="en-US" sz="1600" dirty="0"/>
              <a:t>指定</a:t>
            </a:r>
            <a:endParaRPr lang="en-US" altLang="zh-CN" sz="1600" dirty="0"/>
          </a:p>
          <a:p>
            <a:pPr lvl="1"/>
            <a:r>
              <a:rPr lang="zh-CN" altLang="en-US" sz="1600" dirty="0"/>
              <a:t>配置</a:t>
            </a:r>
            <a:r>
              <a:rPr lang="en-US" altLang="zh-CN" sz="1600" dirty="0"/>
              <a:t>property</a:t>
            </a:r>
            <a:r>
              <a:rPr lang="zh-CN" altLang="en-US" sz="1600" dirty="0"/>
              <a:t>的</a:t>
            </a:r>
            <a:r>
              <a:rPr lang="en-US" altLang="zh-CN" sz="1600" dirty="0"/>
              <a:t>name</a:t>
            </a:r>
            <a:r>
              <a:rPr lang="zh-CN" altLang="en-US" sz="1600" dirty="0"/>
              <a:t>和</a:t>
            </a:r>
            <a:r>
              <a:rPr lang="en-US" altLang="zh-CN" sz="1600" dirty="0"/>
              <a:t>value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813407" y="1828820"/>
            <a:ext cx="7128792" cy="2308324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&lt;properties resource="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database.properties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name="driver" value="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com.mysql.jdbc.Driver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"/&gt;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 value="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jdbc:mysql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://127.0.0.1:3306/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smbms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"/&gt;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name="user" value="root"/&gt;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name="password" value="root"/&gt;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&lt;/properties&gt;</a:t>
            </a:r>
            <a:endParaRPr lang="zh-CN" altLang="zh-CN" sz="1600" b="1" dirty="0" err="1">
              <a:solidFill>
                <a:schemeClr val="accent5">
                  <a:lumMod val="10000"/>
                </a:schemeClr>
              </a:solidFill>
            </a:endParaRPr>
          </a:p>
        </p:txBody>
      </p:sp>
      <p:grpSp>
        <p:nvGrpSpPr>
          <p:cNvPr id="15" name="组合 21"/>
          <p:cNvGrpSpPr/>
          <p:nvPr/>
        </p:nvGrpSpPr>
        <p:grpSpPr bwMode="auto">
          <a:xfrm>
            <a:off x="803123" y="4098315"/>
            <a:ext cx="6937229" cy="583753"/>
            <a:chOff x="1908175" y="4932804"/>
            <a:chExt cx="4306888" cy="345183"/>
          </a:xfrm>
        </p:grpSpPr>
        <p:sp>
          <p:nvSpPr>
            <p:cNvPr id="16" name="AutoShape 4"/>
            <p:cNvSpPr>
              <a:spLocks noChangeArrowheads="1"/>
            </p:cNvSpPr>
            <p:nvPr/>
          </p:nvSpPr>
          <p:spPr bwMode="gray">
            <a:xfrm>
              <a:off x="1908175" y="5012643"/>
              <a:ext cx="4306888" cy="26534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txBody>
            <a:bodyPr anchor="ctr"/>
            <a:lstStyle/>
            <a:p>
              <a:pPr>
                <a:defRPr/>
              </a:pPr>
              <a:r>
                <a:rPr lang="zh-CN" altLang="en-US" sz="1600" b="1" dirty="0">
                  <a:ea typeface="微软雅黑" panose="020B0503020204020204" pitchFamily="34" charset="-122"/>
                </a:rPr>
                <a:t>结论：</a:t>
              </a:r>
              <a:r>
                <a:rPr lang="en-US" altLang="zh-CN" sz="1600" b="1" dirty="0">
                  <a:ea typeface="微软雅黑" panose="020B0503020204020204" pitchFamily="34" charset="-122"/>
                </a:rPr>
                <a:t>resource</a:t>
              </a:r>
              <a:r>
                <a:rPr lang="zh-CN" altLang="en-US" sz="1600" b="1" dirty="0">
                  <a:ea typeface="微软雅黑" panose="020B0503020204020204" pitchFamily="34" charset="-122"/>
                </a:rPr>
                <a:t>属性值的优先级高于</a:t>
              </a:r>
              <a:r>
                <a:rPr lang="en-US" altLang="zh-CN" sz="1600" b="1" dirty="0">
                  <a:ea typeface="微软雅黑" panose="020B0503020204020204" pitchFamily="34" charset="-122"/>
                </a:rPr>
                <a:t>property</a:t>
              </a:r>
              <a:r>
                <a:rPr lang="zh-CN" altLang="en-US" sz="1600" b="1" dirty="0">
                  <a:ea typeface="微软雅黑" panose="020B0503020204020204" pitchFamily="34" charset="-122"/>
                </a:rPr>
                <a:t>子节点配置的值</a:t>
              </a:r>
            </a:p>
          </p:txBody>
        </p:sp>
        <p:sp>
          <p:nvSpPr>
            <p:cNvPr id="17" name="AutoShape 4"/>
            <p:cNvSpPr>
              <a:spLocks noChangeArrowheads="1"/>
            </p:cNvSpPr>
            <p:nvPr/>
          </p:nvSpPr>
          <p:spPr bwMode="gray">
            <a:xfrm>
              <a:off x="5246788" y="4932804"/>
              <a:ext cx="283381" cy="15967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round/>
            </a:ln>
          </p:spPr>
          <p:txBody>
            <a:bodyPr anchor="ctr"/>
            <a:lstStyle/>
            <a:p>
              <a:pPr algn="ctr"/>
              <a:r>
                <a:rPr lang="en-US" altLang="zh-CN" sz="2000" b="1">
                  <a:solidFill>
                    <a:srgbClr val="0C83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68193" y="774014"/>
            <a:ext cx="467544" cy="587110"/>
            <a:chOff x="314008" y="938530"/>
            <a:chExt cx="436880" cy="549275"/>
          </a:xfrm>
        </p:grpSpPr>
        <p:sp>
          <p:nvSpPr>
            <p:cNvPr id="20" name="TextBox 65"/>
            <p:cNvSpPr txBox="1"/>
            <p:nvPr/>
          </p:nvSpPr>
          <p:spPr>
            <a:xfrm>
              <a:off x="314008" y="124269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问题</a:t>
              </a:r>
            </a:p>
          </p:txBody>
        </p:sp>
        <p:pic>
          <p:nvPicPr>
            <p:cNvPr id="21" name="图片 20" descr="疑问 gra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285" y="938530"/>
              <a:ext cx="314325" cy="314325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1377472" y="4720139"/>
            <a:ext cx="5714808" cy="371891"/>
            <a:chOff x="1403648" y="3795886"/>
            <a:chExt cx="5714808" cy="371891"/>
          </a:xfrm>
        </p:grpSpPr>
        <p:sp>
          <p:nvSpPr>
            <p:cNvPr id="23" name="圆角矩形 22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25" name="Picture 8" descr="说话气泡n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Box 25"/>
            <p:cNvSpPr txBox="1"/>
            <p:nvPr/>
          </p:nvSpPr>
          <p:spPr bwMode="auto">
            <a:xfrm>
              <a:off x="2388214" y="3829223"/>
              <a:ext cx="4615815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properties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元素配置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</a:t>
              </a: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settings</a:t>
            </a:r>
            <a:r>
              <a:rPr lang="zh-CN" altLang="en-US" dirty="0"/>
              <a:t>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用来修改</a:t>
            </a:r>
            <a:r>
              <a:rPr lang="en-US" altLang="zh-CN" dirty="0" err="1"/>
              <a:t>MyBatis</a:t>
            </a:r>
            <a:r>
              <a:rPr lang="zh-CN" altLang="en-US" dirty="0"/>
              <a:t>运行时的行为方式</a:t>
            </a:r>
            <a:endParaRPr lang="en-US" altLang="zh-CN" dirty="0"/>
          </a:p>
          <a:p>
            <a:r>
              <a:rPr lang="zh-CN" altLang="en-US" dirty="0"/>
              <a:t>主要是</a:t>
            </a:r>
            <a:r>
              <a:rPr lang="en-US" altLang="zh-CN" dirty="0" err="1"/>
              <a:t>MyBatis</a:t>
            </a:r>
            <a:r>
              <a:rPr lang="zh-CN" altLang="en-US" dirty="0"/>
              <a:t>的一些全局配置属性的设置</a:t>
            </a:r>
            <a:endParaRPr lang="en-US" altLang="zh-CN" dirty="0"/>
          </a:p>
          <a:p>
            <a:pPr lvl="1"/>
            <a:endParaRPr lang="zh-CN" altLang="en-US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971551" y="2247900"/>
            <a:ext cx="6913563" cy="1547986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&lt;settings&gt;  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	&lt;!--</a:t>
            </a:r>
            <a:r>
              <a:rPr lang="zh-CN" altLang="en-US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是否启用延迟加载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--&gt;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	&lt;setting name="</a:t>
            </a:r>
            <a:r>
              <a:rPr lang="en-US" altLang="zh-CN" b="1" dirty="0" err="1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lazyLoadingEnabled</a:t>
            </a: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" value="false" /&gt;  </a:t>
            </a:r>
          </a:p>
          <a:p>
            <a:pPr defTabSz="723900">
              <a:lnSpc>
                <a:spcPct val="130000"/>
              </a:lnSpc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b="1" dirty="0">
                <a:solidFill>
                  <a:schemeClr val="accent5">
                    <a:lumMod val="10000"/>
                  </a:schemeClr>
                </a:solidFill>
                <a:latin typeface="Arial" panose="020B0604020202020204" pitchFamily="34" charset="0"/>
              </a:rPr>
              <a:t>&lt;/settings&gt;</a:t>
            </a:r>
          </a:p>
        </p:txBody>
      </p:sp>
      <p:graphicFrame>
        <p:nvGraphicFramePr>
          <p:cNvPr id="7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30573"/>
              </p:ext>
            </p:extLst>
          </p:nvPr>
        </p:nvGraphicFramePr>
        <p:xfrm>
          <a:off x="467544" y="2067694"/>
          <a:ext cx="8353424" cy="229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zh-CN" altLang="en-US" sz="15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设置项</a:t>
                      </a:r>
                      <a:endParaRPr lang="en-US" altLang="zh-CN" sz="15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描述</a:t>
                      </a:r>
                    </a:p>
                  </a:txBody>
                  <a:tcPr marT="34289" marB="34289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允许值</a:t>
                      </a:r>
                    </a:p>
                  </a:txBody>
                  <a:tcPr marT="34289" marB="34289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默认值</a:t>
                      </a:r>
                    </a:p>
                  </a:txBody>
                  <a:tcPr marT="34289" marB="34289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cacheEnabled</a:t>
                      </a:r>
                      <a:endParaRPr kumimoji="0" lang="en-US" altLang="zh-CN" sz="12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对在此配置文件下的所有</a:t>
                      </a: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cache </a:t>
                      </a:r>
                      <a:r>
                        <a:rPr kumimoji="0" lang="zh-CN" alt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进行全局性开</a:t>
                      </a: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zh-CN" alt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关设置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true | false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true</a:t>
                      </a:r>
                      <a:endParaRPr kumimoji="0" lang="zh-CN" altLang="en-US" sz="12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lazyLoadingEnabled</a:t>
                      </a:r>
                      <a:endParaRPr kumimoji="0" lang="en-US" altLang="zh-CN" sz="12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全局性设置懒加载。如果设为‘</a:t>
                      </a: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false’</a:t>
                      </a:r>
                      <a:r>
                        <a:rPr kumimoji="0" lang="zh-CN" altLang="en-US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，则所有相关联的都会被初始化加载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true | false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true</a:t>
                      </a:r>
                      <a:endParaRPr kumimoji="0" lang="zh-CN" altLang="en-US" sz="12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3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autoMappingBehavior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MyBatis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对于</a:t>
                      </a:r>
                      <a:r>
                        <a:rPr kumimoji="0" lang="en-US" altLang="zh-CN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resultMap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自动映射匹配级别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NONE |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PARTIAL |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FULL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PARTIAL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5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……(9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个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......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......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......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34289" marB="34289" anchor="ctr" horzOverflow="overflow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48</a:t>
            </a:fld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BF9D91-01AB-336E-BCC7-CFD5467F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409075"/>
            <a:ext cx="6448425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typeAliases</a:t>
            </a:r>
            <a:r>
              <a:rPr lang="zh-CN" altLang="en-US" dirty="0"/>
              <a:t>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699543"/>
            <a:ext cx="7762875" cy="3709898"/>
          </a:xfrm>
        </p:spPr>
        <p:txBody>
          <a:bodyPr/>
          <a:lstStyle/>
          <a:p>
            <a:r>
              <a:rPr lang="zh-CN" altLang="en-US" sz="2000" dirty="0"/>
              <a:t>类型别名</a:t>
            </a:r>
            <a:endParaRPr lang="en-US" altLang="zh-CN" sz="2000" dirty="0"/>
          </a:p>
          <a:p>
            <a:r>
              <a:rPr lang="zh-CN" altLang="en-US" sz="2000" dirty="0"/>
              <a:t>仅仅只关联</a:t>
            </a:r>
            <a:r>
              <a:rPr lang="en-US" altLang="zh-CN" sz="2000" dirty="0"/>
              <a:t>XML</a:t>
            </a:r>
            <a:r>
              <a:rPr lang="zh-CN" altLang="en-US" sz="2000" dirty="0"/>
              <a:t>配置，简写冗长的</a:t>
            </a:r>
            <a:r>
              <a:rPr lang="en-US" altLang="zh-CN" sz="2000" dirty="0"/>
              <a:t>Java</a:t>
            </a:r>
            <a:r>
              <a:rPr lang="zh-CN" altLang="en-US" sz="2000" dirty="0"/>
              <a:t>类名</a:t>
            </a:r>
            <a:endParaRPr lang="en-US" altLang="zh-CN" sz="2000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998877" y="1491630"/>
            <a:ext cx="7272338" cy="120032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typeAliases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typeAlias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alias="User" type="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cn.smbms.pojo.User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"/&gt;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typeAliases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>
            <a:off x="998877" y="2715766"/>
            <a:ext cx="7272338" cy="1200329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typeAliases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&lt;package name 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cn.smbms.pojo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 /&gt;</a:t>
            </a:r>
          </a:p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typeAliases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</p:txBody>
      </p:sp>
      <p:sp>
        <p:nvSpPr>
          <p:cNvPr id="12" name="AutoShape 2"/>
          <p:cNvSpPr>
            <a:spLocks noChangeArrowheads="1"/>
          </p:cNvSpPr>
          <p:nvPr/>
        </p:nvSpPr>
        <p:spPr bwMode="auto">
          <a:xfrm>
            <a:off x="5076056" y="4212984"/>
            <a:ext cx="3888432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默认名称：指定包下</a:t>
            </a:r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JavaBean</a:t>
            </a:r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的非限定类名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1366952" y="3214876"/>
            <a:ext cx="3414796" cy="364985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081212" y="4610241"/>
            <a:ext cx="5867052" cy="365686"/>
            <a:chOff x="1418336" y="4626645"/>
            <a:chExt cx="5867052" cy="338554"/>
          </a:xfrm>
        </p:grpSpPr>
        <p:sp>
          <p:nvSpPr>
            <p:cNvPr id="17" name="圆角矩形 16"/>
            <p:cNvSpPr/>
            <p:nvPr/>
          </p:nvSpPr>
          <p:spPr bwMode="auto">
            <a:xfrm>
              <a:off x="1418336" y="46351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 bwMode="auto">
            <a:xfrm>
              <a:off x="2142058" y="4626646"/>
              <a:ext cx="5143330" cy="338553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9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8336" y="4626646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9"/>
            <p:cNvSpPr txBox="1"/>
            <p:nvPr/>
          </p:nvSpPr>
          <p:spPr bwMode="auto">
            <a:xfrm>
              <a:off x="2231894" y="4626645"/>
              <a:ext cx="4629794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演示示例</a:t>
              </a:r>
              <a:r>
                <a:rPr lang="en-US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：优化</a:t>
              </a:r>
              <a:r>
                <a:rPr lang="en-US" altLang="zh-CN" sz="1600" b="1" spc="300" dirty="0" err="1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typeAliases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元素配置</a:t>
              </a:r>
            </a:p>
          </p:txBody>
        </p:sp>
      </p:grpSp>
      <p:cxnSp>
        <p:nvCxnSpPr>
          <p:cNvPr id="21" name="直接箭头连接符 20"/>
          <p:cNvCxnSpPr/>
          <p:nvPr/>
        </p:nvCxnSpPr>
        <p:spPr>
          <a:xfrm>
            <a:off x="4067944" y="3579861"/>
            <a:ext cx="1427607" cy="633123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49</a:t>
            </a:fld>
            <a:endParaRPr lang="en-US" altLang="zh-CN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F30A3392-0184-4BA0-9687-83556AF1D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2817" y="4205164"/>
            <a:ext cx="2404616" cy="467564"/>
          </a:xfrm>
          <a:prstGeom prst="rect">
            <a:avLst/>
          </a:prstGeom>
          <a:noFill/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69AFFFA4-1002-44EA-8F89-289F5589C2FC}"/>
              </a:ext>
            </a:extLst>
          </p:cNvPr>
          <p:cNvSpPr txBox="1"/>
          <p:nvPr/>
        </p:nvSpPr>
        <p:spPr>
          <a:xfrm>
            <a:off x="540071" y="3943589"/>
            <a:ext cx="4664739" cy="40684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000"/>
              </a:lnSpc>
              <a:tabLst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0" b="1" dirty="0" err="1">
                <a:solidFill>
                  <a:srgbClr val="0B9FDD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也可以使用@Alias注解为其指定一个别名</a:t>
            </a:r>
            <a:endParaRPr lang="en-US" altLang="zh-CN" sz="2000" b="1" dirty="0">
              <a:solidFill>
                <a:srgbClr val="0B9FDD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762000"/>
            <a:ext cx="9587732" cy="6104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250"/>
              </a:lnSpc>
            </a:pPr>
            <a:r>
              <a:rPr lang="en-US" altLang="zh-CN" sz="1802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值得注意的是，MyBatis已经为许多常见的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Java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类型内建</a:t>
            </a:r>
            <a:r>
              <a:rPr lang="en-US" altLang="zh-CN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了相应的类型别名</a:t>
            </a:r>
            <a:r>
              <a:rPr lang="en-US" altLang="zh-CN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。</a:t>
            </a:r>
          </a:p>
          <a:p>
            <a:pPr>
              <a:lnSpc>
                <a:spcPts val="2250"/>
              </a:lnSpc>
            </a:pPr>
            <a:r>
              <a:rPr lang="en-US" altLang="zh-CN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它们都是</a:t>
            </a:r>
            <a:r>
              <a:rPr lang="en-US" altLang="zh-CN" dirty="0" err="1">
                <a:solidFill>
                  <a:srgbClr val="FF0000"/>
                </a:solidFill>
                <a:latin typeface="Arial Unicode MS" pitchFamily="18" charset="0"/>
                <a:cs typeface="Arial Unicode MS" pitchFamily="18" charset="0"/>
              </a:rPr>
              <a:t>大小写不敏感</a:t>
            </a:r>
            <a:r>
              <a:rPr lang="en-US" altLang="zh-CN" dirty="0" err="1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的，起别名的时候不要占用已有的别名</a:t>
            </a:r>
            <a:r>
              <a:rPr lang="en-US" altLang="zh-CN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。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1514475" y="1857375"/>
            <a:ext cx="662041" cy="25220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微软雅黑" pitchFamily="18" charset="0"/>
                <a:cs typeface="微软雅黑" pitchFamily="18" charset="0"/>
              </a:rPr>
              <a:t>别名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_byte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_long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_short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_int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_double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_float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_boolean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438400" y="1857375"/>
            <a:ext cx="865622" cy="25220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微软雅黑" pitchFamily="18" charset="0"/>
                <a:cs typeface="微软雅黑" pitchFamily="18" charset="0"/>
              </a:rPr>
              <a:t>映射的类型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short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double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float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boolean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5695950" y="4581525"/>
            <a:ext cx="529953" cy="2265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iterator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6781801" y="4581525"/>
            <a:ext cx="533159" cy="2265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Iterator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3714751" y="1876425"/>
            <a:ext cx="575479" cy="277851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微软雅黑" pitchFamily="18" charset="0"/>
                <a:cs typeface="微软雅黑" pitchFamily="18" charset="0"/>
              </a:rPr>
              <a:t>别名</a:t>
            </a:r>
          </a:p>
          <a:p>
            <a:pPr>
              <a:lnSpc>
                <a:spcPts val="20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string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short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double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float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boolean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4581525" y="1876425"/>
            <a:ext cx="865622" cy="2778518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微软雅黑" pitchFamily="18" charset="0"/>
                <a:cs typeface="微软雅黑" pitchFamily="18" charset="0"/>
              </a:rPr>
              <a:t>映射的类型</a:t>
            </a:r>
          </a:p>
          <a:p>
            <a:pPr>
              <a:lnSpc>
                <a:spcPts val="20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String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Short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Double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Float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Boolean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5695950" y="1866900"/>
            <a:ext cx="764633" cy="280416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微软雅黑" pitchFamily="18" charset="0"/>
                <a:cs typeface="微软雅黑" pitchFamily="18" charset="0"/>
              </a:rPr>
              <a:t>别名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decimal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bigdecimal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object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map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hashmap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list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arraylist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collection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6629400" y="1866900"/>
            <a:ext cx="939360" cy="280416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725"/>
              </a:lnSpc>
              <a:tabLst>
                <a:tab pos="152400" algn="l"/>
              </a:tabLst>
            </a:pPr>
            <a:r>
              <a:rPr lang="en-US" altLang="zh-CN" sz="1350" dirty="0">
                <a:solidFill>
                  <a:srgbClr val="000000"/>
                </a:solidFill>
                <a:latin typeface="微软雅黑" pitchFamily="18" charset="0"/>
                <a:cs typeface="微软雅黑" pitchFamily="18" charset="0"/>
              </a:rPr>
              <a:t>映射的类型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BigDecimal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BigDecimal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Object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Map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HashMap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List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ArrayList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  <a:tabLst>
                <a:tab pos="152400" algn="l"/>
              </a:tabLst>
            </a:pPr>
            <a:r>
              <a:rPr lang="en-US" altLang="zh-CN" sz="1350" dirty="0"/>
              <a:t>	</a:t>
            </a:r>
            <a:r>
              <a:rPr lang="en-US" altLang="zh-CN" sz="135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Collection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E8C9964D-46A5-4FBF-9632-B6D269FC8BC8}"/>
              </a:ext>
            </a:extLst>
          </p:cNvPr>
          <p:cNvSpPr txBox="1">
            <a:spLocks/>
          </p:cNvSpPr>
          <p:nvPr/>
        </p:nvSpPr>
        <p:spPr bwMode="auto">
          <a:xfrm>
            <a:off x="197337" y="55245"/>
            <a:ext cx="8185785" cy="70675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B9F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 err="1"/>
              <a:t>typeAliases</a:t>
            </a:r>
            <a:r>
              <a:rPr lang="zh-CN" altLang="en-US" dirty="0"/>
              <a:t>元素：注意事项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E5163E2-0D3B-4926-B25C-FB4B8993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3691" y="2010737"/>
            <a:ext cx="1401025" cy="282898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类型处理器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50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BooleanTypeHandler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ByteTypeHandler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7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ShortTypeHandler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LongTypeHandler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FloatTypeHandler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DoubleTypeHandler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BigDecimalTypeHandler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20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StringTypeHandler</a:t>
            </a:r>
          </a:p>
        </p:txBody>
      </p:sp>
      <p:sp>
        <p:nvSpPr>
          <p:cNvPr id="3" name="TextBox 1"/>
          <p:cNvSpPr txBox="1"/>
          <p:nvPr/>
        </p:nvSpPr>
        <p:spPr>
          <a:xfrm>
            <a:off x="2915816" y="2010737"/>
            <a:ext cx="1548501" cy="282898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类型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3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java.lang.Boolean,boolean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java.lang.Byte,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7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java.lang.Short,</a:t>
            </a:r>
            <a:r>
              <a:rPr lang="en-US" altLang="zh-CN" sz="1127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7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short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java.lang.Integer,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java.lang.Long,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long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java.lang.Float,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float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java.lang.Double,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double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java.math.BigDecimal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20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java.lang.String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4668416" y="2010737"/>
            <a:ext cx="2641749" cy="282898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JDBC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类型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BOOLEAN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BYTE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7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7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7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7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7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7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7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SHORT</a:t>
            </a:r>
            <a:r>
              <a:rPr lang="en-US" altLang="zh-CN" sz="1127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7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65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LONG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INTEGER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FLOAT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DOUBLE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425"/>
              </a:lnSpc>
            </a:pP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数据库兼容的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NUMERIC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DECIMAL</a:t>
            </a: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1200"/>
              </a:lnSpc>
            </a:pP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CHAR,</a:t>
            </a:r>
            <a:r>
              <a:rPr lang="en-US" altLang="zh-CN" sz="1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125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VARCHAR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760878" y="339502"/>
            <a:ext cx="6171561" cy="145680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450"/>
              </a:lnSpc>
              <a:tabLst>
                <a:tab pos="257175" algn="l"/>
                <a:tab pos="1295400" algn="l"/>
              </a:tabLst>
            </a:pPr>
            <a:r>
              <a:rPr lang="en-US" altLang="zh-CN" sz="1350" dirty="0"/>
              <a:t>		</a:t>
            </a:r>
            <a:endParaRPr lang="en-US" altLang="zh-CN" sz="2700" dirty="0">
              <a:solidFill>
                <a:srgbClr val="000000"/>
              </a:solidFill>
              <a:latin typeface="Arial Unicode MS" pitchFamily="18" charset="0"/>
              <a:cs typeface="Arial Unicode MS" pitchFamily="18" charset="0"/>
            </a:endParaRPr>
          </a:p>
          <a:p>
            <a:pPr>
              <a:lnSpc>
                <a:spcPts val="750"/>
              </a:lnSpc>
            </a:pPr>
            <a:endParaRPr lang="en-US" altLang="zh-CN" sz="1350" dirty="0"/>
          </a:p>
          <a:p>
            <a:pPr>
              <a:lnSpc>
                <a:spcPts val="2475"/>
              </a:lnSpc>
              <a:tabLst>
                <a:tab pos="257175" algn="l"/>
                <a:tab pos="1295400" algn="l"/>
              </a:tabLst>
            </a:pPr>
            <a:r>
              <a:rPr lang="en-US" altLang="zh-CN" sz="1802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2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无论是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MyBatis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在预处理语句（PreparedStatement）中</a:t>
            </a:r>
          </a:p>
          <a:p>
            <a:pPr>
              <a:lnSpc>
                <a:spcPts val="2100"/>
              </a:lnSpc>
              <a:tabLst>
                <a:tab pos="257175" algn="l"/>
                <a:tab pos="1295400" algn="l"/>
              </a:tabLst>
            </a:pPr>
            <a:r>
              <a:rPr lang="en-US" altLang="zh-CN" sz="1350" dirty="0"/>
              <a:t>	</a:t>
            </a:r>
            <a:r>
              <a:rPr lang="en-US" altLang="zh-CN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设置一个参数时，还是从结果集中取出一个值时，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都会</a:t>
            </a:r>
          </a:p>
          <a:p>
            <a:pPr>
              <a:lnSpc>
                <a:spcPts val="2100"/>
              </a:lnSpc>
              <a:tabLst>
                <a:tab pos="257175" algn="l"/>
                <a:tab pos="1295400" algn="l"/>
              </a:tabLst>
            </a:pPr>
            <a:r>
              <a:rPr lang="en-US" altLang="zh-CN" sz="1350" dirty="0"/>
              <a:t>	</a:t>
            </a:r>
            <a:r>
              <a:rPr lang="en-US" altLang="zh-CN" dirty="0">
                <a:solidFill>
                  <a:srgbClr val="FF0000"/>
                </a:solidFill>
                <a:latin typeface="Arial Unicode MS" pitchFamily="18" charset="0"/>
                <a:cs typeface="Arial Unicode MS" pitchFamily="18" charset="0"/>
              </a:rPr>
              <a:t>用类型处理器将获取的值以合适的方式转换成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 Unicode MS" pitchFamily="18" charset="0"/>
                <a:cs typeface="Arial Unicode MS" pitchFamily="18" charset="0"/>
              </a:rPr>
              <a:t>Java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 Unicode MS" pitchFamily="18" charset="0"/>
                <a:cs typeface="Arial Unicode MS" pitchFamily="18" charset="0"/>
              </a:rPr>
              <a:t>类型</a:t>
            </a:r>
            <a:r>
              <a:rPr lang="en-US" altLang="zh-CN" dirty="0">
                <a:solidFill>
                  <a:srgbClr val="000000"/>
                </a:solidFill>
                <a:latin typeface="Arial Unicode MS" pitchFamily="18" charset="0"/>
                <a:cs typeface="Arial Unicode MS" pitchFamily="18" charset="0"/>
              </a:rPr>
              <a:t>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21CF870-CC57-43B1-87A4-B6E966AB6B2A}"/>
              </a:ext>
            </a:extLst>
          </p:cNvPr>
          <p:cNvSpPr txBox="1">
            <a:spLocks/>
          </p:cNvSpPr>
          <p:nvPr/>
        </p:nvSpPr>
        <p:spPr bwMode="auto">
          <a:xfrm>
            <a:off x="197337" y="55245"/>
            <a:ext cx="8185785" cy="70675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B9F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 err="1"/>
              <a:t>typeHandlers</a:t>
            </a:r>
            <a:r>
              <a:rPr lang="zh-CN" altLang="en-US" dirty="0"/>
              <a:t>类型处理器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AC78F51-1898-4765-AA0C-4AF696EB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environments</a:t>
            </a:r>
            <a:r>
              <a:rPr lang="zh-CN" altLang="en-US" dirty="0"/>
              <a:t>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environments</a:t>
            </a:r>
            <a:r>
              <a:rPr lang="zh-CN" altLang="en-US" dirty="0"/>
              <a:t>元素</a:t>
            </a:r>
            <a:endParaRPr lang="en-US" altLang="zh-CN" dirty="0"/>
          </a:p>
          <a:p>
            <a:pPr lvl="1"/>
            <a:r>
              <a:rPr lang="zh-CN" altLang="zh-CN" dirty="0"/>
              <a:t>表示配置</a:t>
            </a:r>
            <a:r>
              <a:rPr lang="fr-FR" altLang="zh-CN" dirty="0"/>
              <a:t>MyBatis</a:t>
            </a:r>
            <a:r>
              <a:rPr lang="zh-CN" altLang="zh-CN" dirty="0"/>
              <a:t>的多套运行环境，将</a:t>
            </a:r>
            <a:r>
              <a:rPr lang="fr-FR" altLang="zh-CN" dirty="0"/>
              <a:t>SQL</a:t>
            </a:r>
            <a:r>
              <a:rPr lang="zh-CN" altLang="zh-CN" dirty="0"/>
              <a:t>映射到多个不同的数据库上</a:t>
            </a:r>
            <a:endParaRPr lang="en-US" altLang="zh-CN" dirty="0"/>
          </a:p>
          <a:p>
            <a:pPr lvl="1"/>
            <a:r>
              <a:rPr lang="zh-CN" altLang="en-US" dirty="0"/>
              <a:t>子元素节点：</a:t>
            </a:r>
            <a:r>
              <a:rPr lang="fr-FR" altLang="zh-CN" dirty="0"/>
              <a:t>environment</a:t>
            </a:r>
            <a:r>
              <a:rPr lang="zh-CN" altLang="zh-CN" dirty="0"/>
              <a:t>，但是必须指定其中一个</a:t>
            </a:r>
            <a:r>
              <a:rPr lang="zh-CN" altLang="en-US" dirty="0"/>
              <a:t>为</a:t>
            </a:r>
            <a:r>
              <a:rPr lang="zh-CN" altLang="zh-CN" dirty="0"/>
              <a:t>默认运行环境（通过</a:t>
            </a:r>
            <a:r>
              <a:rPr lang="en-US" altLang="zh-CN" dirty="0"/>
              <a:t>default</a:t>
            </a:r>
            <a:r>
              <a:rPr lang="zh-CN" altLang="zh-CN" dirty="0"/>
              <a:t>指定）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grpSp>
        <p:nvGrpSpPr>
          <p:cNvPr id="5" name="组合 21"/>
          <p:cNvGrpSpPr/>
          <p:nvPr/>
        </p:nvGrpSpPr>
        <p:grpSpPr bwMode="auto">
          <a:xfrm>
            <a:off x="1403648" y="3765085"/>
            <a:ext cx="6421746" cy="696873"/>
            <a:chOff x="1908175" y="4643448"/>
            <a:chExt cx="4306888" cy="1073191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gray">
            <a:xfrm>
              <a:off x="1908175" y="4837129"/>
              <a:ext cx="4306888" cy="87951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每个</a:t>
              </a:r>
              <a:r>
                <a:rPr lang="en-US" altLang="zh-CN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SqlSessionFactory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实例只能选择一个运行环境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>
              <a:off x="5838626" y="4643448"/>
              <a:ext cx="233572" cy="36036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  <a:round/>
            </a:ln>
          </p:spPr>
          <p:txBody>
            <a:bodyPr anchor="ctr"/>
            <a:lstStyle/>
            <a:p>
              <a:pPr algn="ctr"/>
              <a:r>
                <a:rPr lang="en-US" altLang="zh-CN" sz="2000" b="1">
                  <a:solidFill>
                    <a:srgbClr val="0C83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</a:t>
              </a: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environments</a:t>
            </a:r>
            <a:r>
              <a:rPr lang="zh-CN" altLang="en-US" dirty="0"/>
              <a:t>元素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755650" y="1203598"/>
            <a:ext cx="7786688" cy="353943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&lt;environments default="development"&gt;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&lt;environment id="development"&gt;</a:t>
            </a:r>
          </a:p>
          <a:p>
            <a:pPr lvl="2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transactionManager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type="JDBC"/&gt;</a:t>
            </a:r>
          </a:p>
          <a:p>
            <a:pPr lvl="2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type="POOLED"&gt;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		&lt;property name="driver" value="${driver}"/&gt;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		 &lt;property name="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" value="${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}"/&gt;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		&lt;property name="username" value="${user}"/&gt;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    		&lt;property name="password" value="${password}"/&gt;</a:t>
            </a:r>
          </a:p>
          <a:p>
            <a:pPr lvl="2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  <a:latin typeface="+mn-lt"/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&lt;/environment&gt;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&lt;environment id="test"&gt;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……</a:t>
            </a:r>
          </a:p>
          <a:p>
            <a:pPr lvl="1"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&lt;/environment&gt;</a:t>
            </a:r>
          </a:p>
          <a:p>
            <a:pPr defTabSz="723900">
              <a:spcAft>
                <a:spcPts val="0"/>
              </a:spcAft>
              <a:buClr>
                <a:schemeClr val="folHlink"/>
              </a:buClr>
              <a:buSzPct val="60000"/>
              <a:tabLst>
                <a:tab pos="444500" algn="l"/>
              </a:tabLst>
              <a:defRPr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  <a:latin typeface="+mn-lt"/>
              </a:rPr>
              <a:t>&lt;/environments&gt;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807790" y="1491630"/>
            <a:ext cx="140417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37493" y="1715012"/>
            <a:ext cx="1283022" cy="119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712914" y="3939902"/>
            <a:ext cx="5629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568773" y="1967775"/>
            <a:ext cx="110614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2843808" y="2184226"/>
            <a:ext cx="1367731" cy="16884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6096000" y="822157"/>
            <a:ext cx="2446338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默认的运行环境 </a:t>
            </a:r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ID</a:t>
            </a:r>
            <a:endParaRPr lang="zh-CN" altLang="en-US" sz="135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p:sp>
        <p:nvSpPr>
          <p:cNvPr id="15" name="AutoShape 2"/>
          <p:cNvSpPr>
            <a:spLocks noChangeArrowheads="1"/>
          </p:cNvSpPr>
          <p:nvPr/>
        </p:nvSpPr>
        <p:spPr bwMode="auto">
          <a:xfrm>
            <a:off x="6582171" y="1332662"/>
            <a:ext cx="1446213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运行环境 </a:t>
            </a:r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ID</a:t>
            </a:r>
            <a:endParaRPr lang="zh-CN" altLang="en-US" sz="135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p:sp>
        <p:nvSpPr>
          <p:cNvPr id="17" name="AutoShape 2"/>
          <p:cNvSpPr>
            <a:spLocks noChangeArrowheads="1"/>
          </p:cNvSpPr>
          <p:nvPr/>
        </p:nvSpPr>
        <p:spPr bwMode="auto">
          <a:xfrm>
            <a:off x="5431184" y="3564910"/>
            <a:ext cx="1589088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运行环境 </a:t>
            </a:r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ID</a:t>
            </a:r>
            <a:endParaRPr lang="zh-CN" altLang="en-US" sz="135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p:sp>
        <p:nvSpPr>
          <p:cNvPr id="19" name="AutoShape 2"/>
          <p:cNvSpPr>
            <a:spLocks noChangeArrowheads="1"/>
          </p:cNvSpPr>
          <p:nvPr/>
        </p:nvSpPr>
        <p:spPr bwMode="auto">
          <a:xfrm>
            <a:off x="6875338" y="1707654"/>
            <a:ext cx="2089150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事务管理器配置</a:t>
            </a:r>
          </a:p>
        </p:txBody>
      </p:sp>
      <p:sp>
        <p:nvSpPr>
          <p:cNvPr id="21" name="AutoShape 2"/>
          <p:cNvSpPr>
            <a:spLocks noChangeArrowheads="1"/>
          </p:cNvSpPr>
          <p:nvPr/>
        </p:nvSpPr>
        <p:spPr bwMode="auto">
          <a:xfrm>
            <a:off x="6371779" y="2067694"/>
            <a:ext cx="1944637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数据源配置</a:t>
            </a:r>
          </a:p>
        </p:txBody>
      </p:sp>
      <p:cxnSp>
        <p:nvCxnSpPr>
          <p:cNvPr id="25" name="直接箭头连接符 24"/>
          <p:cNvCxnSpPr>
            <a:endCxn id="13" idx="1"/>
          </p:cNvCxnSpPr>
          <p:nvPr/>
        </p:nvCxnSpPr>
        <p:spPr>
          <a:xfrm flipV="1">
            <a:off x="4320232" y="973649"/>
            <a:ext cx="1775768" cy="359013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4320232" y="1484154"/>
            <a:ext cx="2261939" cy="158968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4864769" y="1860337"/>
            <a:ext cx="1898479" cy="0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225711" y="2183035"/>
            <a:ext cx="2074060" cy="36151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3400151" y="3721945"/>
            <a:ext cx="1890533" cy="145949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environments</a:t>
            </a:r>
            <a:r>
              <a:rPr lang="zh-CN" altLang="en-US" dirty="0"/>
              <a:t>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transactionManager</a:t>
            </a:r>
            <a:r>
              <a:rPr lang="en-US" altLang="zh-CN" dirty="0"/>
              <a:t>-</a:t>
            </a:r>
            <a:r>
              <a:rPr lang="zh-CN" altLang="en-US" dirty="0"/>
              <a:t>事务管理器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866397" y="2092146"/>
            <a:ext cx="7272338" cy="46166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transactionManager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type="[ JDBC | MANAGED ]" /&gt;</a:t>
            </a:r>
          </a:p>
        </p:txBody>
      </p:sp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2964695" y="2852306"/>
            <a:ext cx="928694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JDBC</a:t>
            </a:r>
            <a:endParaRPr lang="zh-CN" altLang="en-US" sz="135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347864" y="2241794"/>
            <a:ext cx="642942" cy="214314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AutoShape 2"/>
          <p:cNvSpPr>
            <a:spLocks noChangeArrowheads="1"/>
          </p:cNvSpPr>
          <p:nvPr/>
        </p:nvSpPr>
        <p:spPr bwMode="auto">
          <a:xfrm>
            <a:off x="4390747" y="2724001"/>
            <a:ext cx="1802430" cy="302984"/>
          </a:xfrm>
          <a:prstGeom prst="roundRect">
            <a:avLst>
              <a:gd name="adj" fmla="val 2593"/>
            </a:avLst>
          </a:prstGeom>
          <a:solidFill>
            <a:srgbClr val="009ADA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24155" indent="-224155" algn="ctr" fontAlgn="base"/>
            <a:r>
              <a:rPr lang="en-US" altLang="zh-CN" sz="1350" b="1" dirty="0">
                <a:solidFill>
                  <a:schemeClr val="bg1"/>
                </a:solidFill>
                <a:ea typeface="黑体" panose="02010609060101010101" pitchFamily="2" charset="-122"/>
              </a:rPr>
              <a:t>MANAGED</a:t>
            </a:r>
            <a:r>
              <a:rPr lang="zh-CN" altLang="en-US" sz="1350" b="1" dirty="0">
                <a:solidFill>
                  <a:schemeClr val="bg1"/>
                </a:solidFill>
                <a:ea typeface="黑体" panose="02010609060101010101" pitchFamily="2" charset="-122"/>
              </a:rPr>
              <a:t>（托管）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4067944" y="2241794"/>
            <a:ext cx="1214446" cy="214314"/>
          </a:xfrm>
          <a:prstGeom prst="rect">
            <a:avLst/>
          </a:prstGeom>
          <a:ln cmpd="sng">
            <a:solidFill>
              <a:srgbClr val="FF0000"/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179512" y="1347614"/>
            <a:ext cx="792088" cy="744532"/>
            <a:chOff x="2960053" y="2405380"/>
            <a:chExt cx="436880" cy="549275"/>
          </a:xfrm>
        </p:grpSpPr>
        <p:sp>
          <p:nvSpPr>
            <p:cNvPr id="20" name="TextBox 65"/>
            <p:cNvSpPr txBox="1"/>
            <p:nvPr/>
          </p:nvSpPr>
          <p:spPr>
            <a:xfrm>
              <a:off x="2960053" y="270954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语法</a:t>
              </a:r>
            </a:p>
          </p:txBody>
        </p:sp>
        <p:pic>
          <p:nvPicPr>
            <p:cNvPr id="21" name="图片 20" descr="C:\Users\Lenovo\Desktop\icon\书籍.png书籍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021330" y="2405380"/>
              <a:ext cx="314325" cy="314325"/>
            </a:xfrm>
            <a:prstGeom prst="rect">
              <a:avLst/>
            </a:prstGeom>
          </p:spPr>
        </p:pic>
      </p:grpSp>
      <p:cxnSp>
        <p:nvCxnSpPr>
          <p:cNvPr id="22" name="直接箭头连接符 21"/>
          <p:cNvCxnSpPr>
            <a:stCxn id="14" idx="2"/>
            <a:endCxn id="9" idx="0"/>
          </p:cNvCxnSpPr>
          <p:nvPr/>
        </p:nvCxnSpPr>
        <p:spPr>
          <a:xfrm flipH="1">
            <a:off x="3429042" y="2456108"/>
            <a:ext cx="240293" cy="396198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5076056" y="2456108"/>
            <a:ext cx="1" cy="396198"/>
          </a:xfrm>
          <a:prstGeom prst="straightConnector1">
            <a:avLst/>
          </a:prstGeom>
          <a:ln cmpd="sng">
            <a:solidFill>
              <a:srgbClr val="0099D8"/>
            </a:solidFill>
            <a:headEnd type="none"/>
            <a:tailEnd type="triangle"/>
          </a:ln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  <p:bldP spid="1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environments</a:t>
            </a:r>
            <a:r>
              <a:rPr lang="zh-CN" altLang="en-US" dirty="0"/>
              <a:t>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699543"/>
            <a:ext cx="7762875" cy="3709898"/>
          </a:xfrm>
        </p:spPr>
        <p:txBody>
          <a:bodyPr/>
          <a:lstStyle/>
          <a:p>
            <a:r>
              <a:rPr lang="en-US" altLang="zh-CN" dirty="0" err="1"/>
              <a:t>dataSource</a:t>
            </a:r>
            <a:endParaRPr lang="en-US" altLang="zh-CN" dirty="0"/>
          </a:p>
          <a:p>
            <a:pPr lvl="1"/>
            <a:r>
              <a:rPr lang="en-US" altLang="zh-CN" sz="1800" dirty="0" err="1"/>
              <a:t>dataSource</a:t>
            </a:r>
            <a:r>
              <a:rPr lang="zh-CN" altLang="en-US" sz="1800" dirty="0"/>
              <a:t>元素使用基本的</a:t>
            </a:r>
            <a:r>
              <a:rPr lang="en-US" altLang="zh-CN" sz="1800" dirty="0"/>
              <a:t>JDBC</a:t>
            </a:r>
            <a:r>
              <a:rPr lang="zh-CN" altLang="en-US" sz="1800" dirty="0"/>
              <a:t>数据源接口来配置</a:t>
            </a:r>
            <a:r>
              <a:rPr lang="en-US" altLang="zh-CN" sz="1800" dirty="0"/>
              <a:t>JDBC</a:t>
            </a:r>
            <a:r>
              <a:rPr lang="zh-CN" altLang="en-US" sz="1800" dirty="0"/>
              <a:t>连接对象的资源</a:t>
            </a:r>
            <a:endParaRPr lang="en-US" altLang="zh-CN" sz="1800" dirty="0"/>
          </a:p>
          <a:p>
            <a:pPr lvl="1"/>
            <a:r>
              <a:rPr lang="zh-CN" altLang="en-US" sz="1800" dirty="0"/>
              <a:t>有三种内建的数据源类型</a:t>
            </a:r>
            <a:endParaRPr lang="en-US" altLang="zh-CN" sz="1800" dirty="0"/>
          </a:p>
          <a:p>
            <a:pPr lvl="3"/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036460" y="3090322"/>
            <a:ext cx="7272338" cy="1569660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type="POOLED"&gt;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name="driver" value="${driver}"/&gt;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	&lt;property name="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" value="${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}"/&gt;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name="username" value="${user}"/&gt;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&lt;property name="password" value="${password}"/&gt;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>
            <a:off x="1036460" y="2101411"/>
            <a:ext cx="7272338" cy="461665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dataSource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type=" [</a:t>
            </a:r>
            <a:r>
              <a:rPr lang="en-US" altLang="zh-CN" sz="1600" b="1" dirty="0">
                <a:solidFill>
                  <a:srgbClr val="FF0000"/>
                </a:solidFill>
              </a:rPr>
              <a:t>UNPOOLED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| </a:t>
            </a:r>
            <a:r>
              <a:rPr lang="en-US" altLang="zh-CN" sz="1600" b="1" dirty="0">
                <a:solidFill>
                  <a:srgbClr val="FF0000"/>
                </a:solidFill>
              </a:rPr>
              <a:t>POOLED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 | </a:t>
            </a:r>
            <a:r>
              <a:rPr lang="en-US" altLang="zh-CN" sz="1600" b="1" dirty="0">
                <a:solidFill>
                  <a:srgbClr val="FF0000"/>
                </a:solidFill>
              </a:rPr>
              <a:t>JNDI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]" /&gt;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7504" y="1779662"/>
            <a:ext cx="746587" cy="740369"/>
            <a:chOff x="2960053" y="2405380"/>
            <a:chExt cx="436880" cy="549275"/>
          </a:xfrm>
        </p:grpSpPr>
        <p:sp>
          <p:nvSpPr>
            <p:cNvPr id="15" name="TextBox 65"/>
            <p:cNvSpPr txBox="1"/>
            <p:nvPr/>
          </p:nvSpPr>
          <p:spPr>
            <a:xfrm>
              <a:off x="2960053" y="2709545"/>
              <a:ext cx="436880" cy="24511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99D8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语法</a:t>
              </a:r>
            </a:p>
          </p:txBody>
        </p:sp>
        <p:pic>
          <p:nvPicPr>
            <p:cNvPr id="16" name="图片 15" descr="C:\Users\Lenovo\Desktop\icon\书籍.png书籍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021330" y="2405380"/>
              <a:ext cx="314325" cy="314325"/>
            </a:xfrm>
            <a:prstGeom prst="rect">
              <a:avLst/>
            </a:prstGeom>
          </p:spPr>
        </p:pic>
      </p:grpSp>
      <p:sp>
        <p:nvSpPr>
          <p:cNvPr id="17" name="TextBox 65"/>
          <p:cNvSpPr txBox="1"/>
          <p:nvPr/>
        </p:nvSpPr>
        <p:spPr>
          <a:xfrm>
            <a:off x="251520" y="3218175"/>
            <a:ext cx="436880" cy="245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0099D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示例</a:t>
            </a:r>
          </a:p>
        </p:txBody>
      </p:sp>
      <p:pic>
        <p:nvPicPr>
          <p:cNvPr id="18" name="图片 17" descr="C:\Users\Lenovo\Desktop\icon\电脑.png电脑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0260" y="2931790"/>
            <a:ext cx="279400" cy="27876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55</a:t>
            </a:fld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" y="207645"/>
            <a:ext cx="8185785" cy="563905"/>
          </a:xfrm>
        </p:spPr>
        <p:txBody>
          <a:bodyPr/>
          <a:lstStyle/>
          <a:p>
            <a:r>
              <a:rPr lang="en-US" dirty="0"/>
              <a:t>mappers</a:t>
            </a:r>
            <a:r>
              <a:rPr lang="zh-CN" altLang="en-US" dirty="0"/>
              <a:t>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806067"/>
            <a:ext cx="7762875" cy="3781907"/>
          </a:xfrm>
        </p:spPr>
        <p:txBody>
          <a:bodyPr/>
          <a:lstStyle/>
          <a:p>
            <a:r>
              <a:rPr lang="zh-CN" altLang="en-US" sz="2000" dirty="0"/>
              <a:t>映射器，定义</a:t>
            </a:r>
            <a:r>
              <a:rPr lang="en-US" altLang="zh-CN" sz="2000" dirty="0"/>
              <a:t>SQL</a:t>
            </a:r>
            <a:r>
              <a:rPr lang="zh-CN" altLang="en-US" sz="2000" dirty="0"/>
              <a:t>映射语句</a:t>
            </a:r>
            <a:endParaRPr lang="en-US" altLang="zh-CN" sz="2000" dirty="0"/>
          </a:p>
          <a:p>
            <a:r>
              <a:rPr lang="zh-CN" altLang="en-US" sz="2000" dirty="0"/>
              <a:t>须在配置中引用</a:t>
            </a:r>
            <a:r>
              <a:rPr lang="en-US" altLang="zh-CN" sz="2000" dirty="0"/>
              <a:t>mapper</a:t>
            </a:r>
            <a:r>
              <a:rPr lang="zh-CN" altLang="en-US" sz="2000" dirty="0"/>
              <a:t>映射文件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方式一：</a:t>
            </a:r>
            <a:r>
              <a:rPr lang="zh-CN" altLang="zh-CN" sz="2000" dirty="0">
                <a:solidFill>
                  <a:srgbClr val="FF0000"/>
                </a:solidFill>
              </a:rPr>
              <a:t>使用类资源路径获取资源</a:t>
            </a:r>
            <a:endParaRPr lang="en-US" altLang="zh-CN" sz="200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sz="2000" dirty="0"/>
              <a:t>方式二：</a:t>
            </a:r>
            <a:r>
              <a:rPr lang="zh-CN" altLang="zh-CN" sz="2000" dirty="0"/>
              <a:t>使用</a:t>
            </a:r>
            <a:r>
              <a:rPr lang="fr-FR" altLang="zh-CN" sz="2000" dirty="0"/>
              <a:t>URL</a:t>
            </a:r>
            <a:r>
              <a:rPr lang="zh-CN" altLang="zh-CN" sz="2000" dirty="0"/>
              <a:t>获取资源</a:t>
            </a:r>
            <a:endParaRPr lang="en-US" altLang="zh-CN" sz="2000" dirty="0"/>
          </a:p>
          <a:p>
            <a:pPr lvl="1"/>
            <a:endParaRPr lang="zh-CN" altLang="en-US" dirty="0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836834" y="1926580"/>
            <a:ext cx="7572375" cy="107721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&lt;!-- 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将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mapper</a:t>
            </a:r>
            <a:r>
              <a:rPr lang="zh-CN" altLang="en-US" sz="1600" b="1" dirty="0">
                <a:solidFill>
                  <a:schemeClr val="accent5">
                    <a:lumMod val="10000"/>
                  </a:schemeClr>
                </a:solidFill>
              </a:rPr>
              <a:t>映射文件加入到系统核心配置文件中 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--&gt;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mappers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	&lt;mapper  resource="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cn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smbms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dao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/user/UserMapper.xml"/&gt;</a:t>
            </a: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mappers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836834" y="3510756"/>
            <a:ext cx="7572375" cy="1077218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38100" cap="flat" cmpd="sng" algn="ctr">
            <a:solidFill>
              <a:srgbClr val="0099D8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spAutoFit/>
          </a:bodyPr>
          <a:lstStyle/>
          <a:p>
            <a:pPr indent="-342900" defTabSz="381000">
              <a:buClr>
                <a:schemeClr val="folHlink"/>
              </a:buClr>
              <a:buSzPct val="60000"/>
            </a:pPr>
            <a:r>
              <a:rPr lang="fr-FR" altLang="zh-CN" sz="1600" b="1" dirty="0">
                <a:solidFill>
                  <a:schemeClr val="accent5">
                    <a:lumMod val="10000"/>
                  </a:schemeClr>
                </a:solidFill>
              </a:rPr>
              <a:t>&lt;mappers&gt;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fr-FR" altLang="zh-CN" sz="1600" b="1" dirty="0">
                <a:solidFill>
                  <a:schemeClr val="accent5">
                    <a:lumMod val="10000"/>
                  </a:schemeClr>
                </a:solidFill>
              </a:rPr>
              <a:t>		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&lt;mapper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="file:///E:/sqlmappers/UserMapper.xml"/&gt;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fr-FR" altLang="zh-CN" sz="1600" b="1" dirty="0">
                <a:solidFill>
                  <a:schemeClr val="accent5">
                    <a:lumMod val="10000"/>
                  </a:schemeClr>
                </a:solidFill>
              </a:rPr>
              <a:t>		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&lt;mapper </a:t>
            </a:r>
            <a:r>
              <a:rPr lang="en-US" altLang="zh-CN" sz="1600" b="1" dirty="0" err="1">
                <a:solidFill>
                  <a:schemeClr val="accent5">
                    <a:lumMod val="10000"/>
                  </a:schemeClr>
                </a:solidFill>
              </a:rPr>
              <a:t>url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="file:///E:/sqlmappers/ProviderMapper.xml"/&gt;</a:t>
            </a:r>
            <a:endParaRPr lang="zh-CN" altLang="zh-CN" sz="1600" b="1" dirty="0">
              <a:solidFill>
                <a:schemeClr val="accent5">
                  <a:lumMod val="10000"/>
                </a:schemeClr>
              </a:solidFill>
            </a:endParaRPr>
          </a:p>
          <a:p>
            <a:pPr indent="-342900" defTabSz="381000">
              <a:buClr>
                <a:schemeClr val="folHlink"/>
              </a:buClr>
              <a:buSzPct val="60000"/>
            </a:pP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&lt;/</a:t>
            </a:r>
            <a:r>
              <a:rPr lang="fr-FR" altLang="zh-CN" sz="1600" b="1" dirty="0">
                <a:solidFill>
                  <a:schemeClr val="accent5">
                    <a:lumMod val="10000"/>
                  </a:schemeClr>
                </a:solidFill>
              </a:rPr>
              <a:t>mappers</a:t>
            </a:r>
            <a:r>
              <a:rPr lang="en-US" altLang="zh-CN" sz="1600" b="1" dirty="0">
                <a:solidFill>
                  <a:schemeClr val="accent5">
                    <a:lumMod val="10000"/>
                  </a:schemeClr>
                </a:solidFill>
              </a:rPr>
              <a:t>&gt;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282462" y="4731990"/>
            <a:ext cx="5714808" cy="371891"/>
            <a:chOff x="1403648" y="3795886"/>
            <a:chExt cx="5714808" cy="371891"/>
          </a:xfrm>
        </p:grpSpPr>
        <p:sp>
          <p:nvSpPr>
            <p:cNvPr id="14" name="圆角矩形 13"/>
            <p:cNvSpPr/>
            <p:nvPr/>
          </p:nvSpPr>
          <p:spPr bwMode="auto">
            <a:xfrm>
              <a:off x="1403648" y="3795886"/>
              <a:ext cx="500044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 bwMode="auto">
            <a:xfrm>
              <a:off x="1975126" y="3795886"/>
              <a:ext cx="5143330" cy="321469"/>
            </a:xfrm>
            <a:prstGeom prst="roundRect">
              <a:avLst/>
            </a:prstGeom>
            <a:solidFill>
              <a:srgbClr val="00B0F0"/>
            </a:solidFill>
            <a:ln cmpd="sng">
              <a:noFill/>
              <a:headEnd type="none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flood" dir="t">
                <a:rot lat="0" lon="0" rev="5400000"/>
              </a:lightRig>
            </a:scene3d>
            <a:sp3d prstMaterial="dkEdge">
              <a:bevelT w="0" h="0"/>
              <a:contourClr>
                <a:schemeClr val="accent1">
                  <a:satMod val="110000"/>
                </a:schemeClr>
              </a:contourClr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pic>
          <p:nvPicPr>
            <p:cNvPr id="16" name="Picture 8" descr="说话气泡n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3827363"/>
              <a:ext cx="571479" cy="256555"/>
            </a:xfrm>
            <a:prstGeom prst="rect">
              <a:avLst/>
            </a:prstGeom>
            <a:noFill/>
            <a:ln>
              <a:noFill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/>
            <p:cNvSpPr txBox="1"/>
            <p:nvPr/>
          </p:nvSpPr>
          <p:spPr bwMode="auto">
            <a:xfrm>
              <a:off x="2999182" y="3829223"/>
              <a:ext cx="3393878" cy="338554"/>
            </a:xfrm>
            <a:prstGeom prst="rect">
              <a:avLst/>
            </a:prstGeom>
            <a:noFill/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演示：</a:t>
              </a:r>
              <a:r>
                <a:rPr lang="zh-CN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fr-FR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URL</a:t>
              </a:r>
              <a:r>
                <a:rPr lang="zh-CN" altLang="zh-CN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获取资源</a:t>
              </a:r>
              <a:r>
                <a:rPr lang="zh-CN" altLang="en-US" sz="1600" b="1" spc="300" dirty="0">
                  <a:solidFill>
                    <a:srgbClr val="FBFF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</a:t>
              </a: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" y="339502"/>
            <a:ext cx="8185785" cy="574898"/>
          </a:xfrm>
        </p:spPr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71550"/>
            <a:ext cx="8116892" cy="4104455"/>
          </a:xfrm>
        </p:spPr>
        <p:txBody>
          <a:bodyPr/>
          <a:lstStyle/>
          <a:p>
            <a:pPr lvl="1"/>
            <a:r>
              <a:rPr lang="en-US" altLang="zh-CN" dirty="0" err="1">
                <a:cs typeface="Arial" panose="020B0604020202020204" pitchFamily="34" charset="0"/>
              </a:rPr>
              <a:t>MyBatis</a:t>
            </a:r>
            <a:r>
              <a:rPr lang="zh-CN" altLang="en-US" dirty="0">
                <a:cs typeface="Arial" panose="020B0604020202020204" pitchFamily="34" charset="0"/>
              </a:rPr>
              <a:t>基本要素</a:t>
            </a:r>
            <a:endParaRPr lang="en-US" altLang="zh-CN" dirty="0">
              <a:cs typeface="Arial" panose="020B0604020202020204" pitchFamily="34" charset="0"/>
            </a:endParaRPr>
          </a:p>
          <a:p>
            <a:pPr lvl="2"/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核心对象</a:t>
            </a:r>
            <a:endParaRPr lang="en-US" altLang="zh-CN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3"/>
            <a:r>
              <a:rPr lang="en-US" altLang="zh-CN" sz="1800" dirty="0" err="1">
                <a:cs typeface="Arial" panose="020B0604020202020204" pitchFamily="34" charset="0"/>
              </a:rPr>
              <a:t>SqlSessionFactoryBuilder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3"/>
            <a:r>
              <a:rPr lang="en-US" altLang="zh-CN" sz="1800" dirty="0" err="1">
                <a:cs typeface="Arial" panose="020B0604020202020204" pitchFamily="34" charset="0"/>
              </a:rPr>
              <a:t>SqlSessionFactory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3"/>
            <a:r>
              <a:rPr lang="en-US" altLang="zh-CN" sz="1800" dirty="0" err="1">
                <a:cs typeface="Arial" panose="020B0604020202020204" pitchFamily="34" charset="0"/>
              </a:rPr>
              <a:t>SqlSession</a:t>
            </a:r>
            <a:endParaRPr lang="en-US" altLang="zh-CN" sz="9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2"/>
            <a:r>
              <a:rPr lang="zh-CN" altLang="en-US" b="1" dirty="0">
                <a:cs typeface="Arial" panose="020B0604020202020204" pitchFamily="34" charset="0"/>
              </a:rPr>
              <a:t>系统核心配置文件</a:t>
            </a:r>
            <a:endParaRPr lang="en-US" altLang="zh-CN" b="1" dirty="0">
              <a:cs typeface="Arial" panose="020B0604020202020204" pitchFamily="34" charset="0"/>
            </a:endParaRPr>
          </a:p>
          <a:p>
            <a:pPr lvl="3">
              <a:defRPr/>
            </a:pP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</a:rPr>
              <a:t>properties</a:t>
            </a:r>
            <a:endParaRPr lang="en-US" altLang="zh-CN" sz="1800" dirty="0">
              <a:cs typeface="Arial" panose="020B0604020202020204" pitchFamily="34" charset="0"/>
            </a:endParaRPr>
          </a:p>
          <a:p>
            <a:pPr lvl="3">
              <a:defRPr/>
            </a:pP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</a:rPr>
              <a:t>settings</a:t>
            </a:r>
          </a:p>
          <a:p>
            <a:pPr lvl="3">
              <a:defRPr/>
            </a:pPr>
            <a:r>
              <a:rPr lang="en-US" altLang="zh-CN" sz="1800" dirty="0" err="1">
                <a:solidFill>
                  <a:schemeClr val="accent5">
                    <a:lumMod val="10000"/>
                  </a:schemeClr>
                </a:solidFill>
              </a:rPr>
              <a:t>typeAliases</a:t>
            </a:r>
            <a:endParaRPr lang="en-US" altLang="zh-CN" sz="1800" dirty="0">
              <a:solidFill>
                <a:schemeClr val="accent5">
                  <a:lumMod val="10000"/>
                </a:schemeClr>
              </a:solidFill>
            </a:endParaRPr>
          </a:p>
          <a:p>
            <a:pPr lvl="3">
              <a:defRPr/>
            </a:pP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</a:rPr>
              <a:t>environments</a:t>
            </a:r>
          </a:p>
          <a:p>
            <a:pPr lvl="3">
              <a:defRPr/>
            </a:pPr>
            <a:r>
              <a:rPr lang="en-US" altLang="zh-CN" sz="1800" dirty="0">
                <a:solidFill>
                  <a:schemeClr val="accent5">
                    <a:lumMod val="10000"/>
                  </a:schemeClr>
                </a:solidFill>
              </a:rPr>
              <a:t>mappers</a:t>
            </a:r>
            <a:endParaRPr lang="en-US" altLang="zh-CN" sz="900" b="1" dirty="0">
              <a:cs typeface="Arial" panose="020B0604020202020204" pitchFamily="34" charset="0"/>
            </a:endParaRPr>
          </a:p>
          <a:p>
            <a:pPr lvl="5"/>
            <a:endParaRPr lang="zh-CN" altLang="en-US" sz="900" b="1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lvl="1"/>
            <a:endParaRPr lang="en-US" altLang="zh-CN" sz="900" b="1" dirty="0">
              <a:cs typeface="Arial" panose="020B0604020202020204" pitchFamily="34" charset="0"/>
            </a:endParaRPr>
          </a:p>
          <a:p>
            <a:pPr lvl="1"/>
            <a:endParaRPr lang="en-US" altLang="zh-CN" sz="24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/>
            <a:endParaRPr lang="en-US" altLang="zh-CN" dirty="0"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1203598"/>
            <a:ext cx="2717411" cy="1311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00150" lvl="2" indent="-285750">
              <a:buClr>
                <a:srgbClr val="0B9FDD"/>
              </a:buClr>
              <a:buFont typeface="Wingdings" panose="05000000000000000000" pitchFamily="2" charset="2"/>
              <a:buChar char="l"/>
            </a:pPr>
            <a:r>
              <a:rPr lang="en-US" altLang="zh-CN" b="1" dirty="0">
                <a:cs typeface="Arial" panose="020B0604020202020204" pitchFamily="34" charset="0"/>
              </a:rPr>
              <a:t>SQL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映射文件</a:t>
            </a:r>
            <a:endParaRPr lang="en-US" altLang="zh-CN" b="1" dirty="0"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  <a:p>
            <a:pPr marL="1657350" lvl="3" indent="-285750" fontAlgn="base">
              <a:spcBef>
                <a:spcPct val="20000"/>
              </a:spcBef>
              <a:spcAft>
                <a:spcPct val="0"/>
              </a:spcAft>
              <a:buClr>
                <a:srgbClr val="0099D8"/>
              </a:buClr>
              <a:buFont typeface="Webdings" panose="05030102010509060703" charset="0"/>
              <a:buChar char="4"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mapper</a:t>
            </a:r>
          </a:p>
          <a:p>
            <a:pPr marL="1657350" lvl="3" indent="-285750" fontAlgn="base">
              <a:spcBef>
                <a:spcPct val="20000"/>
              </a:spcBef>
              <a:spcAft>
                <a:spcPct val="0"/>
              </a:spcAft>
              <a:buClr>
                <a:srgbClr val="0099D8"/>
              </a:buClr>
              <a:buFont typeface="Webdings" panose="05030102010509060703" charset="0"/>
              <a:buChar char="4"/>
              <a:defRPr/>
            </a:pPr>
            <a:r>
              <a:rPr lang="en-US" altLang="zh-CN" dirty="0">
                <a:solidFill>
                  <a:schemeClr val="accent5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57</a:t>
            </a:fld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361440"/>
            <a:ext cx="9144000" cy="2232025"/>
          </a:xfrm>
          <a:prstGeom prst="rect">
            <a:avLst/>
          </a:prstGeom>
          <a:solidFill>
            <a:srgbClr val="0099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2_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190" y="1599565"/>
            <a:ext cx="5252720" cy="12934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75790" y="1892935"/>
            <a:ext cx="52419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/>
            <a:r>
              <a:rPr lang="zh-CN" altLang="zh-CN" sz="4000" b="1" kern="1400" spc="30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Calibri" panose="020F0502020204030204" pitchFamily="34" charset="0"/>
              </a:rPr>
              <a:t>问题及作业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62555" y="2835910"/>
            <a:ext cx="3811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/>
            <a:r>
              <a:rPr lang="zh-CN" altLang="en-US" sz="2800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集中问题</a:t>
            </a:r>
            <a:r>
              <a:rPr lang="en-US" altLang="zh-CN" sz="2800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&amp;</a:t>
            </a:r>
            <a:r>
              <a:rPr lang="zh-CN" altLang="en-US" sz="2800" spc="3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课后作业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2661170</TotalTime>
  <Words>4263</Words>
  <Application>Microsoft Office PowerPoint</Application>
  <PresentationFormat>全屏显示(16:9)</PresentationFormat>
  <Paragraphs>892</Paragraphs>
  <Slides>58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8" baseType="lpstr">
      <vt:lpstr>Arial Unicode MS</vt:lpstr>
      <vt:lpstr>Söhne</vt:lpstr>
      <vt:lpstr>黑体</vt:lpstr>
      <vt:lpstr>微软雅黑</vt:lpstr>
      <vt:lpstr>Arial</vt:lpstr>
      <vt:lpstr>Calibri</vt:lpstr>
      <vt:lpstr>Times New Roman</vt:lpstr>
      <vt:lpstr>Webdings</vt:lpstr>
      <vt:lpstr>Wingdings</vt:lpstr>
      <vt:lpstr>自定义设计方案</vt:lpstr>
      <vt:lpstr> 框架编程技术 </vt:lpstr>
      <vt:lpstr>考试考核</vt:lpstr>
      <vt:lpstr>为什么需要框架技术</vt:lpstr>
      <vt:lpstr>框架技术</vt:lpstr>
      <vt:lpstr>常用框架编程技术1</vt:lpstr>
      <vt:lpstr>常用框架编程技术-前端框架</vt:lpstr>
      <vt:lpstr>主流框架介绍</vt:lpstr>
      <vt:lpstr>主流框架介绍</vt:lpstr>
      <vt:lpstr>主流框架介绍</vt:lpstr>
      <vt:lpstr>本课目标</vt:lpstr>
      <vt:lpstr>预备知识：Maven 和 Gradle</vt:lpstr>
      <vt:lpstr>Maven 的主要特点-1</vt:lpstr>
      <vt:lpstr>Maven 的主要特点-2</vt:lpstr>
      <vt:lpstr>Gradle 的主要特点-1</vt:lpstr>
      <vt:lpstr>Gradle 的主要特点-2</vt:lpstr>
      <vt:lpstr>课程项目展示</vt:lpstr>
      <vt:lpstr>本次课目标</vt:lpstr>
      <vt:lpstr>持久化与对象关系映射ORM</vt:lpstr>
      <vt:lpstr>持久化与对象关系映射ORM</vt:lpstr>
      <vt:lpstr>持久化与对象关系映射ORM</vt:lpstr>
      <vt:lpstr>主流框架介绍</vt:lpstr>
      <vt:lpstr>iBATIS（mybatis）之父: Clinton Begin</vt:lpstr>
      <vt:lpstr>PowerPoint 演示文稿</vt:lpstr>
      <vt:lpstr>PowerPoint 演示文稿</vt:lpstr>
      <vt:lpstr>PowerPoint 演示文稿</vt:lpstr>
      <vt:lpstr>MyBatis框架优缺点</vt:lpstr>
      <vt:lpstr>与JDBC直观对比</vt:lpstr>
      <vt:lpstr>教材超市订单管理系统介绍</vt:lpstr>
      <vt:lpstr>超市订单管理系统介绍</vt:lpstr>
      <vt:lpstr>搭建MyBatis开发环境</vt:lpstr>
      <vt:lpstr>总结</vt:lpstr>
      <vt:lpstr>学习方法</vt:lpstr>
      <vt:lpstr>以下内容学习目标</vt:lpstr>
      <vt:lpstr>MyBatis基本要素</vt:lpstr>
      <vt:lpstr>核心对象的结构</vt:lpstr>
      <vt:lpstr>MyBatis核心类关联结构</vt:lpstr>
      <vt:lpstr>核心对象</vt:lpstr>
      <vt:lpstr>核心对象</vt:lpstr>
      <vt:lpstr>核心对象</vt:lpstr>
      <vt:lpstr>核心对象</vt:lpstr>
      <vt:lpstr>核心对象</vt:lpstr>
      <vt:lpstr>小结</vt:lpstr>
      <vt:lpstr>系统核心配置文件</vt:lpstr>
      <vt:lpstr>配置properties元素</vt:lpstr>
      <vt:lpstr>properties</vt:lpstr>
      <vt:lpstr>properties</vt:lpstr>
      <vt:lpstr>properties</vt:lpstr>
      <vt:lpstr>settings元素</vt:lpstr>
      <vt:lpstr>typeAliases元素</vt:lpstr>
      <vt:lpstr>PowerPoint 演示文稿</vt:lpstr>
      <vt:lpstr>PowerPoint 演示文稿</vt:lpstr>
      <vt:lpstr>environments元素</vt:lpstr>
      <vt:lpstr>environments元素</vt:lpstr>
      <vt:lpstr>environments元素</vt:lpstr>
      <vt:lpstr>environments元素</vt:lpstr>
      <vt:lpstr>mappers元素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meng.zhang(张萌)</dc:creator>
  <cp:lastModifiedBy>CHONG LI</cp:lastModifiedBy>
  <cp:revision>803</cp:revision>
  <dcterms:created xsi:type="dcterms:W3CDTF">2013-09-17T02:35:00Z</dcterms:created>
  <dcterms:modified xsi:type="dcterms:W3CDTF">2024-03-05T14:01:50Z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