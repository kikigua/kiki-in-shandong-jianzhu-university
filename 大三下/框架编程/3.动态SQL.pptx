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83" r:id="rId2"/>
    <p:sldId id="314" r:id="rId3"/>
    <p:sldId id="358" r:id="rId4"/>
    <p:sldId id="359" r:id="rId5"/>
    <p:sldId id="316" r:id="rId6"/>
    <p:sldId id="317" r:id="rId7"/>
    <p:sldId id="349" r:id="rId8"/>
    <p:sldId id="318" r:id="rId9"/>
    <p:sldId id="350" r:id="rId10"/>
    <p:sldId id="364" r:id="rId11"/>
    <p:sldId id="319" r:id="rId12"/>
    <p:sldId id="320" r:id="rId13"/>
    <p:sldId id="351" r:id="rId14"/>
    <p:sldId id="324" r:id="rId15"/>
    <p:sldId id="352" r:id="rId16"/>
    <p:sldId id="327" r:id="rId17"/>
    <p:sldId id="328" r:id="rId18"/>
    <p:sldId id="331" r:id="rId19"/>
    <p:sldId id="332" r:id="rId20"/>
    <p:sldId id="353" r:id="rId21"/>
    <p:sldId id="333" r:id="rId22"/>
    <p:sldId id="354" r:id="rId23"/>
    <p:sldId id="336" r:id="rId24"/>
    <p:sldId id="355" r:id="rId25"/>
    <p:sldId id="356" r:id="rId26"/>
    <p:sldId id="362" r:id="rId27"/>
    <p:sldId id="363" r:id="rId28"/>
    <p:sldId id="339" r:id="rId29"/>
    <p:sldId id="357" r:id="rId30"/>
    <p:sldId id="360" r:id="rId31"/>
    <p:sldId id="361" r:id="rId32"/>
    <p:sldId id="342" r:id="rId33"/>
    <p:sldId id="347" r:id="rId34"/>
    <p:sldId id="348" r:id="rId35"/>
    <p:sldId id="312" r:id="rId36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37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11">
          <p15:clr>
            <a:srgbClr val="A4A3A4"/>
          </p15:clr>
        </p15:guide>
        <p15:guide id="2" pos="215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D8"/>
    <a:srgbClr val="000000"/>
    <a:srgbClr val="6C6C6C"/>
    <a:srgbClr val="92D050"/>
    <a:srgbClr val="E5E5E5"/>
    <a:srgbClr val="009ADA"/>
    <a:srgbClr val="238CBB"/>
    <a:srgbClr val="2BAEE9"/>
    <a:srgbClr val="0B9FDD"/>
    <a:srgbClr val="56B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0738" autoAdjust="0"/>
  </p:normalViewPr>
  <p:slideViewPr>
    <p:cSldViewPr>
      <p:cViewPr varScale="1">
        <p:scale>
          <a:sx n="103" d="100"/>
          <a:sy n="103" d="100"/>
        </p:scale>
        <p:origin x="874" y="82"/>
      </p:cViewPr>
      <p:guideLst>
        <p:guide orient="horz" pos="1637"/>
        <p:guide pos="2878"/>
      </p:guideLst>
    </p:cSldViewPr>
  </p:slideViewPr>
  <p:outlineViewPr>
    <p:cViewPr>
      <p:scale>
        <a:sx n="33" d="100"/>
        <a:sy n="33" d="100"/>
      </p:scale>
      <p:origin x="0" y="141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-3876" y="-90"/>
      </p:cViewPr>
      <p:guideLst>
        <p:guide orient="horz" pos="2911"/>
        <p:guide pos="215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F5F6AE-2A9C-4C1F-879E-3928AA6E32CC}" type="datetimeFigureOut">
              <a:rPr lang="zh-CN" altLang="en-US" smtClean="0"/>
              <a:t>2024/3/19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EF4CAB-82FF-4C6F-A859-CAD40DD826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9767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A0AFA2-8F2F-4EE5-AEC6-84D8330F4D06}" type="datetimeFigureOut">
              <a:rPr lang="zh-CN" altLang="en-US" smtClean="0"/>
              <a:t>2024/3/19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85495B-CF7F-4BEC-B2E8-B1A8532E7D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3275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zh-CN" b="0" i="0" dirty="0">
                <a:solidFill>
                  <a:srgbClr val="B4B4B4"/>
                </a:solidFill>
                <a:effectLst/>
                <a:latin typeface="-apple-system"/>
              </a:rPr>
              <a:t>Executor</a:t>
            </a:r>
            <a:r>
              <a:rPr lang="zh-CN" altLang="pt-BR" b="0" i="0" dirty="0">
                <a:solidFill>
                  <a:srgbClr val="B4B4B4"/>
                </a:solidFill>
                <a:effectLst/>
                <a:latin typeface="-apple-system"/>
              </a:rPr>
              <a:t>的主要功能包括：</a:t>
            </a:r>
            <a:endParaRPr lang="en-US" altLang="zh-CN" b="0" i="0" dirty="0">
              <a:solidFill>
                <a:srgbClr val="B4B4B4"/>
              </a:solidFill>
              <a:effectLst/>
              <a:latin typeface="-apple-system"/>
            </a:endParaRPr>
          </a:p>
          <a:p>
            <a:r>
              <a:rPr lang="en-US" altLang="zh-CN" dirty="0"/>
              <a:t>SQL</a:t>
            </a:r>
            <a:r>
              <a:rPr lang="zh-CN" altLang="en-US" dirty="0"/>
              <a:t>的预处理和参数绑定：</a:t>
            </a:r>
            <a:r>
              <a:rPr lang="en-US" altLang="zh-CN" dirty="0"/>
              <a:t>Executor</a:t>
            </a:r>
            <a:r>
              <a:rPr lang="zh-CN" altLang="en-US" dirty="0"/>
              <a:t>负责将</a:t>
            </a:r>
            <a:r>
              <a:rPr lang="en-US" altLang="zh-CN" dirty="0"/>
              <a:t>XML</a:t>
            </a:r>
            <a:r>
              <a:rPr lang="zh-CN" altLang="en-US" dirty="0"/>
              <a:t>配置文件中的</a:t>
            </a:r>
            <a:r>
              <a:rPr lang="en-US" altLang="zh-CN" dirty="0"/>
              <a:t>SQL</a:t>
            </a:r>
            <a:r>
              <a:rPr lang="zh-CN" altLang="en-US" dirty="0"/>
              <a:t>语句解析成可执行的</a:t>
            </a:r>
            <a:r>
              <a:rPr lang="en-US" altLang="zh-CN" dirty="0" err="1"/>
              <a:t>PreparedStatement</a:t>
            </a:r>
            <a:r>
              <a:rPr lang="zh-CN" altLang="en-US" dirty="0"/>
              <a:t>对象，并将参数绑定到</a:t>
            </a:r>
            <a:r>
              <a:rPr lang="en-US" altLang="zh-CN" dirty="0"/>
              <a:t>SQL</a:t>
            </a:r>
            <a:r>
              <a:rPr lang="zh-CN" altLang="en-US" dirty="0"/>
              <a:t>语句中。</a:t>
            </a:r>
            <a:endParaRPr lang="en-US" altLang="zh-CN" dirty="0"/>
          </a:p>
          <a:p>
            <a:r>
              <a:rPr lang="en-US" altLang="zh-CN" dirty="0"/>
              <a:t>SQL</a:t>
            </a:r>
            <a:r>
              <a:rPr lang="zh-CN" altLang="en-US" dirty="0"/>
              <a:t>的执行：</a:t>
            </a:r>
            <a:r>
              <a:rPr lang="en-US" altLang="zh-CN" dirty="0"/>
              <a:t>Executor</a:t>
            </a:r>
            <a:r>
              <a:rPr lang="zh-CN" altLang="en-US" dirty="0"/>
              <a:t>负责执行</a:t>
            </a:r>
            <a:r>
              <a:rPr lang="en-US" altLang="zh-CN" dirty="0"/>
              <a:t>SQL</a:t>
            </a:r>
            <a:r>
              <a:rPr lang="zh-CN" altLang="en-US" dirty="0"/>
              <a:t>语句，并将结果返回给调用者。在执行</a:t>
            </a:r>
            <a:r>
              <a:rPr lang="en-US" altLang="zh-CN" dirty="0"/>
              <a:t>SQL</a:t>
            </a:r>
            <a:r>
              <a:rPr lang="zh-CN" altLang="en-US" dirty="0"/>
              <a:t>语句之前，</a:t>
            </a:r>
            <a:r>
              <a:rPr lang="en-US" altLang="zh-CN" dirty="0"/>
              <a:t>Executor</a:t>
            </a:r>
            <a:r>
              <a:rPr lang="zh-CN" altLang="en-US" dirty="0"/>
              <a:t>还会进行一些额外的处理，例如，设置事务的隔离级别、设置参数等。</a:t>
            </a:r>
            <a:endParaRPr lang="en-US" altLang="zh-CN" dirty="0"/>
          </a:p>
          <a:p>
            <a:r>
              <a:rPr lang="zh-CN" altLang="en-US" dirty="0"/>
              <a:t>结果的映射：</a:t>
            </a:r>
            <a:r>
              <a:rPr lang="en-US" altLang="zh-CN" dirty="0"/>
              <a:t>Executor</a:t>
            </a:r>
            <a:r>
              <a:rPr lang="zh-CN" altLang="en-US" dirty="0"/>
              <a:t>负责将</a:t>
            </a:r>
            <a:r>
              <a:rPr lang="en-US" altLang="zh-CN" dirty="0"/>
              <a:t>SQL</a:t>
            </a:r>
            <a:r>
              <a:rPr lang="zh-CN" altLang="en-US" dirty="0"/>
              <a:t>查询的结果映射到</a:t>
            </a:r>
            <a:r>
              <a:rPr lang="en-US" altLang="zh-CN" dirty="0"/>
              <a:t>Java</a:t>
            </a:r>
            <a:r>
              <a:rPr lang="zh-CN" altLang="en-US" dirty="0"/>
              <a:t>对象上。在</a:t>
            </a:r>
            <a:r>
              <a:rPr lang="en-US" altLang="zh-CN" dirty="0" err="1"/>
              <a:t>MyBatis</a:t>
            </a:r>
            <a:r>
              <a:rPr lang="zh-CN" altLang="en-US" dirty="0"/>
              <a:t>中，可以通过</a:t>
            </a:r>
            <a:r>
              <a:rPr lang="en-US" altLang="zh-CN" dirty="0"/>
              <a:t>XML</a:t>
            </a:r>
            <a:r>
              <a:rPr lang="zh-CN" altLang="en-US" dirty="0"/>
              <a:t>配置文件或注解来定义结果的映射关系。</a:t>
            </a:r>
            <a:endParaRPr lang="en-US" altLang="zh-CN" dirty="0"/>
          </a:p>
          <a:p>
            <a:r>
              <a:rPr lang="zh-CN" altLang="en-US" dirty="0"/>
              <a:t>缓存的管理：在执行</a:t>
            </a:r>
            <a:r>
              <a:rPr lang="en-US" altLang="zh-CN" dirty="0"/>
              <a:t>SQL</a:t>
            </a:r>
            <a:r>
              <a:rPr lang="zh-CN" altLang="en-US" dirty="0"/>
              <a:t>语句时，</a:t>
            </a:r>
            <a:r>
              <a:rPr lang="en-US" altLang="zh-CN" dirty="0"/>
              <a:t>Executor</a:t>
            </a:r>
            <a:r>
              <a:rPr lang="zh-CN" altLang="en-US" dirty="0"/>
              <a:t>还会对查询结果进行缓存管理。当发现查询结果已经存在于缓存中时，</a:t>
            </a:r>
            <a:r>
              <a:rPr lang="en-US" altLang="zh-CN" dirty="0"/>
              <a:t>Executor</a:t>
            </a:r>
            <a:r>
              <a:rPr lang="zh-CN" altLang="en-US" dirty="0"/>
              <a:t>会直接从缓存中读取结果，而不再执行</a:t>
            </a:r>
            <a:r>
              <a:rPr lang="en-US" altLang="zh-CN" dirty="0"/>
              <a:t>SQL</a:t>
            </a:r>
            <a:r>
              <a:rPr lang="zh-CN" altLang="en-US" dirty="0"/>
              <a:t>语句。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8972DC2-8E17-4BC6-9054-80CB2FBAE8F5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可设置一个问题，</a:t>
            </a:r>
            <a:r>
              <a:rPr lang="en-US" altLang="zh-CN" dirty="0"/>
              <a:t>where</a:t>
            </a:r>
            <a:r>
              <a:rPr lang="zh-CN" altLang="en-US" dirty="0"/>
              <a:t>条件后面的</a:t>
            </a:r>
            <a:r>
              <a:rPr lang="en-US" altLang="zh-CN" dirty="0"/>
              <a:t>1=1</a:t>
            </a:r>
            <a:r>
              <a:rPr lang="zh-CN" altLang="en-US" dirty="0"/>
              <a:t>什么作用，可以删掉吗？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5495B-CF7F-4BEC-B2E8-B1A8532E7D6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5399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/>
              <a:t>OGNL</a:t>
            </a:r>
            <a:r>
              <a:rPr lang="zh-CN" altLang="en-US" dirty="0"/>
              <a:t>支持对象方法调用，赋值和表达式，页面取值等。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8803E90-0F82-42AA-A7F3-B3E9BF08FBC8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3160243-E31B-467B-B76E-B92C94238842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/>
            <a:endParaRPr lang="en-US" altLang="zh-CN" dirty="0"/>
          </a:p>
          <a:p>
            <a:pPr lvl="1"/>
            <a:r>
              <a:rPr lang="zh-CN" altLang="en-US" dirty="0"/>
              <a:t>上一个演示实例存在的问题描述</a:t>
            </a:r>
            <a:endParaRPr lang="en-US" altLang="zh-CN" dirty="0"/>
          </a:p>
          <a:p>
            <a:pPr lvl="1"/>
            <a:r>
              <a:rPr lang="zh-CN" altLang="en-US" dirty="0"/>
              <a:t>在多条件查询用户信息列表的演示示例中，若用户没有完全输入所有条件，比如按照用户角色检索</a:t>
            </a:r>
            <a:r>
              <a:rPr lang="en-US" altLang="zh-CN" dirty="0"/>
              <a:t>(</a:t>
            </a:r>
            <a:r>
              <a:rPr lang="zh-CN" altLang="en-US" dirty="0"/>
              <a:t>根据类型</a:t>
            </a:r>
            <a:r>
              <a:rPr lang="en-US" altLang="zh-CN" dirty="0"/>
              <a:t>ID</a:t>
            </a:r>
            <a:r>
              <a:rPr lang="zh-CN" altLang="en-US" dirty="0"/>
              <a:t>查询，此检索并不是模糊查询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endParaRPr lang="en-US" altLang="zh-CN" dirty="0"/>
          </a:p>
          <a:p>
            <a:pPr lvl="1"/>
            <a:r>
              <a:rPr lang="zh-CN" altLang="en-US" dirty="0"/>
              <a:t>若传入的参数是空的，那么此时查询出来的结果很可能也是空的，但是我们需要参数为空的时候，是查出来全部用户角色下的用户信息，那么如何处理？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dirty="0"/>
              <a:t>      </a:t>
            </a:r>
            <a:r>
              <a:rPr lang="zh-CN" altLang="en-US" dirty="0"/>
              <a:t>分析原因：</a:t>
            </a:r>
            <a:r>
              <a:rPr lang="en-US" altLang="zh-CN" dirty="0" err="1"/>
              <a:t>sql</a:t>
            </a:r>
            <a:r>
              <a:rPr lang="zh-CN" altLang="en-US" dirty="0"/>
              <a:t>语句</a:t>
            </a:r>
            <a:endParaRPr lang="en-US" altLang="zh-CN" dirty="0"/>
          </a:p>
          <a:p>
            <a:r>
              <a:rPr lang="en-US" altLang="zh-CN" dirty="0"/>
              <a:t>      </a:t>
            </a:r>
            <a:r>
              <a:rPr lang="zh-CN" altLang="en-US" dirty="0"/>
              <a:t>如何处理：改造</a:t>
            </a:r>
            <a:r>
              <a:rPr lang="en-US" altLang="zh-CN" dirty="0"/>
              <a:t>-if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EADB80-95AC-4B6A-A2A7-A964ED87705B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lnSpcReduction="10000"/>
          </a:bodyPr>
          <a:lstStyle/>
          <a:p>
            <a:pPr lvl="1"/>
            <a:endParaRPr lang="en-US" altLang="zh-CN" dirty="0"/>
          </a:p>
          <a:p>
            <a:pPr lvl="1"/>
            <a:r>
              <a:rPr lang="zh-CN" altLang="en-US" dirty="0"/>
              <a:t>上一个演示实例（简单改造</a:t>
            </a:r>
            <a:r>
              <a:rPr lang="en-US" altLang="zh-CN" dirty="0" err="1"/>
              <a:t>getUserList</a:t>
            </a:r>
            <a:r>
              <a:rPr lang="zh-CN" altLang="en-US" dirty="0"/>
              <a:t>，当没有固定条件：</a:t>
            </a:r>
            <a:r>
              <a:rPr lang="en-US" altLang="zh-CN" dirty="0"/>
              <a:t>u.userRole=r.id </a:t>
            </a:r>
            <a:r>
              <a:rPr lang="zh-CN" altLang="en-US" dirty="0"/>
              <a:t>时候，说明存在问题）存在的问题描述：</a:t>
            </a:r>
            <a:endParaRPr lang="en-US" altLang="zh-CN" dirty="0"/>
          </a:p>
          <a:p>
            <a:pPr lvl="1"/>
            <a:r>
              <a:rPr lang="en-US" altLang="zh-CN" dirty="0"/>
              <a:t>&lt;select id=“</a:t>
            </a:r>
            <a:r>
              <a:rPr lang="en-US" altLang="zh-CN" dirty="0" err="1"/>
              <a:t>getUserList”resultType</a:t>
            </a:r>
            <a:r>
              <a:rPr lang="en-US" altLang="zh-CN" dirty="0"/>
              <a:t>=“User”&gt;</a:t>
            </a:r>
          </a:p>
          <a:p>
            <a:pPr lvl="1"/>
            <a:r>
              <a:rPr lang="en-US" altLang="zh-CN" dirty="0"/>
              <a:t>	select * from </a:t>
            </a:r>
            <a:r>
              <a:rPr lang="en-US" altLang="zh-CN" dirty="0" err="1"/>
              <a:t>smbms_user</a:t>
            </a:r>
            <a:r>
              <a:rPr lang="en-US" altLang="zh-CN" dirty="0"/>
              <a:t> where</a:t>
            </a:r>
          </a:p>
          <a:p>
            <a:pPr lvl="1"/>
            <a:r>
              <a:rPr lang="en-US" altLang="zh-CN" dirty="0"/>
              <a:t>         &lt;if test=“</a:t>
            </a:r>
            <a:r>
              <a:rPr lang="en-US" altLang="zh-CN" dirty="0" err="1"/>
              <a:t>userName</a:t>
            </a:r>
            <a:r>
              <a:rPr lang="en-US" altLang="zh-CN" dirty="0"/>
              <a:t>!=null”&gt;</a:t>
            </a:r>
          </a:p>
          <a:p>
            <a:pPr lvl="1"/>
            <a:r>
              <a:rPr lang="en-US" altLang="zh-CN" dirty="0"/>
              <a:t>		</a:t>
            </a:r>
            <a:r>
              <a:rPr lang="en-US" altLang="zh-CN" dirty="0" err="1"/>
              <a:t>userName</a:t>
            </a:r>
            <a:r>
              <a:rPr lang="en-US" altLang="zh-CN" dirty="0"/>
              <a:t> like CONCAT (‘%’,#{</a:t>
            </a:r>
            <a:r>
              <a:rPr lang="en-US" altLang="zh-CN" dirty="0" err="1"/>
              <a:t>userName</a:t>
            </a:r>
            <a:r>
              <a:rPr lang="en-US" altLang="zh-CN" dirty="0"/>
              <a:t>},’%’)</a:t>
            </a:r>
          </a:p>
          <a:p>
            <a:pPr lvl="1"/>
            <a:r>
              <a:rPr lang="en-US" altLang="zh-CN" dirty="0"/>
              <a:t>         &lt;/if&gt;</a:t>
            </a:r>
          </a:p>
          <a:p>
            <a:pPr lvl="1"/>
            <a:r>
              <a:rPr lang="en-US" altLang="zh-CN" dirty="0"/>
              <a:t>	   &lt;if test=“</a:t>
            </a:r>
            <a:r>
              <a:rPr lang="en-US" altLang="zh-CN" dirty="0" err="1"/>
              <a:t>userRole</a:t>
            </a:r>
            <a:r>
              <a:rPr lang="en-US" altLang="zh-CN" dirty="0"/>
              <a:t>!=null”&gt;</a:t>
            </a:r>
          </a:p>
          <a:p>
            <a:pPr lvl="1"/>
            <a:r>
              <a:rPr lang="en-US" altLang="zh-CN" dirty="0"/>
              <a:t>		and </a:t>
            </a:r>
            <a:r>
              <a:rPr lang="en-US" altLang="zh-CN" dirty="0" err="1"/>
              <a:t>userRole</a:t>
            </a:r>
            <a:r>
              <a:rPr lang="en-US" altLang="zh-CN" dirty="0"/>
              <a:t> = #{</a:t>
            </a:r>
            <a:r>
              <a:rPr lang="en-US" altLang="zh-CN" dirty="0" err="1"/>
              <a:t>userRole</a:t>
            </a:r>
            <a:r>
              <a:rPr lang="en-US" altLang="zh-CN" dirty="0"/>
              <a:t>}</a:t>
            </a:r>
          </a:p>
          <a:p>
            <a:pPr lvl="1"/>
            <a:r>
              <a:rPr lang="en-US" altLang="zh-CN" dirty="0"/>
              <a:t>         &lt;/if&gt;</a:t>
            </a:r>
          </a:p>
          <a:p>
            <a:pPr lvl="1"/>
            <a:r>
              <a:rPr lang="en-US" altLang="zh-CN" dirty="0"/>
              <a:t>&lt;/select&gt;</a:t>
            </a:r>
          </a:p>
          <a:p>
            <a:pPr lvl="1"/>
            <a:r>
              <a:rPr lang="zh-CN" altLang="en-US" dirty="0"/>
              <a:t>若只传入一个参数：</a:t>
            </a:r>
            <a:r>
              <a:rPr lang="en-US" altLang="zh-CN" dirty="0" err="1"/>
              <a:t>useRole</a:t>
            </a:r>
            <a:r>
              <a:rPr lang="zh-CN" altLang="en-US" dirty="0"/>
              <a:t>，而不传入</a:t>
            </a:r>
            <a:r>
              <a:rPr lang="en-US" altLang="zh-CN" dirty="0" err="1"/>
              <a:t>userName</a:t>
            </a:r>
            <a:r>
              <a:rPr lang="zh-CN" altLang="en-US" dirty="0"/>
              <a:t>的时候，控制台报</a:t>
            </a:r>
            <a:r>
              <a:rPr lang="en-US" altLang="zh-CN" dirty="0" err="1"/>
              <a:t>sql</a:t>
            </a:r>
            <a:r>
              <a:rPr lang="zh-CN" altLang="en-US" dirty="0"/>
              <a:t>异常错误</a:t>
            </a:r>
            <a:endParaRPr lang="en-US" altLang="zh-CN" dirty="0"/>
          </a:p>
          <a:p>
            <a:pPr>
              <a:lnSpc>
                <a:spcPct val="130000"/>
              </a:lnSpc>
              <a:buClr>
                <a:schemeClr val="folHlink"/>
              </a:buClr>
              <a:buSzPct val="60000"/>
            </a:pPr>
            <a:r>
              <a:rPr lang="en-US" altLang="zh-CN" dirty="0"/>
              <a:t>	</a:t>
            </a:r>
            <a:r>
              <a:rPr lang="zh-CN" altLang="en-US" dirty="0"/>
              <a:t>查看日志中</a:t>
            </a:r>
            <a:r>
              <a:rPr lang="en-US" altLang="zh-CN" dirty="0" err="1"/>
              <a:t>sql</a:t>
            </a:r>
            <a:r>
              <a:rPr lang="zh-CN" altLang="en-US" dirty="0"/>
              <a:t>语句：</a:t>
            </a:r>
            <a:r>
              <a:rPr lang="en-US" altLang="zh-CN" b="1" dirty="0">
                <a:solidFill>
                  <a:srgbClr val="0A1E15"/>
                </a:solidFill>
              </a:rPr>
              <a:t>select * from </a:t>
            </a:r>
            <a:r>
              <a:rPr lang="en-US" altLang="zh-CN" b="1" dirty="0" err="1">
                <a:solidFill>
                  <a:srgbClr val="0A1E15"/>
                </a:solidFill>
              </a:rPr>
              <a:t>smbms_user</a:t>
            </a:r>
            <a:r>
              <a:rPr lang="en-US" altLang="zh-CN" b="1" dirty="0">
                <a:solidFill>
                  <a:srgbClr val="0A1E15"/>
                </a:solidFill>
              </a:rPr>
              <a:t>  where and  </a:t>
            </a:r>
            <a:r>
              <a:rPr lang="en-US" altLang="zh-CN" b="1" dirty="0" err="1">
                <a:solidFill>
                  <a:srgbClr val="0A1E15"/>
                </a:solidFill>
              </a:rPr>
              <a:t>userRole</a:t>
            </a:r>
            <a:r>
              <a:rPr lang="en-US" altLang="zh-CN" b="1" dirty="0">
                <a:solidFill>
                  <a:srgbClr val="0A1E15"/>
                </a:solidFill>
              </a:rPr>
              <a:t> = ?</a:t>
            </a:r>
          </a:p>
          <a:p>
            <a:pPr>
              <a:lnSpc>
                <a:spcPct val="130000"/>
              </a:lnSpc>
              <a:buClr>
                <a:schemeClr val="folHlink"/>
              </a:buClr>
              <a:buSzPct val="60000"/>
            </a:pPr>
            <a:endParaRPr lang="en-US" altLang="zh-CN" b="1" dirty="0">
              <a:solidFill>
                <a:srgbClr val="0A1E15"/>
              </a:solidFill>
            </a:endParaRPr>
          </a:p>
          <a:p>
            <a:pPr lvl="1"/>
            <a:r>
              <a:rPr lang="zh-CN" altLang="en-US" dirty="0"/>
              <a:t>若不传入任何参数，控制台报</a:t>
            </a:r>
            <a:r>
              <a:rPr lang="en-US" altLang="zh-CN" dirty="0" err="1"/>
              <a:t>sql</a:t>
            </a:r>
            <a:r>
              <a:rPr lang="zh-CN" altLang="en-US" dirty="0"/>
              <a:t>异常错误</a:t>
            </a:r>
            <a:endParaRPr lang="en-US" altLang="zh-CN" dirty="0"/>
          </a:p>
          <a:p>
            <a:pPr>
              <a:lnSpc>
                <a:spcPct val="130000"/>
              </a:lnSpc>
              <a:buClr>
                <a:schemeClr val="folHlink"/>
              </a:buClr>
              <a:buSzPct val="60000"/>
            </a:pPr>
            <a:r>
              <a:rPr lang="en-US" altLang="zh-CN" dirty="0"/>
              <a:t>	</a:t>
            </a:r>
            <a:r>
              <a:rPr lang="zh-CN" altLang="en-US" dirty="0"/>
              <a:t>查看日志中</a:t>
            </a:r>
            <a:r>
              <a:rPr lang="en-US" altLang="zh-CN" dirty="0" err="1"/>
              <a:t>sql</a:t>
            </a:r>
            <a:r>
              <a:rPr lang="zh-CN" altLang="en-US" dirty="0"/>
              <a:t>语句：</a:t>
            </a:r>
            <a:r>
              <a:rPr lang="en-US" altLang="zh-CN" b="1" dirty="0">
                <a:solidFill>
                  <a:srgbClr val="0A1E15"/>
                </a:solidFill>
              </a:rPr>
              <a:t>select * from </a:t>
            </a:r>
            <a:r>
              <a:rPr lang="en-US" altLang="zh-CN" b="1" dirty="0" err="1">
                <a:solidFill>
                  <a:srgbClr val="0A1E15"/>
                </a:solidFill>
              </a:rPr>
              <a:t>smbms_user</a:t>
            </a:r>
            <a:r>
              <a:rPr lang="en-US" altLang="zh-CN" b="1" dirty="0">
                <a:solidFill>
                  <a:srgbClr val="0A1E15"/>
                </a:solidFill>
              </a:rPr>
              <a:t>  where</a:t>
            </a:r>
          </a:p>
          <a:p>
            <a:pPr>
              <a:lnSpc>
                <a:spcPct val="130000"/>
              </a:lnSpc>
              <a:buClr>
                <a:schemeClr val="folHlink"/>
              </a:buClr>
              <a:buSzPct val="60000"/>
            </a:pPr>
            <a:endParaRPr lang="en-US" altLang="zh-CN" b="1" dirty="0">
              <a:solidFill>
                <a:srgbClr val="0A1E15"/>
              </a:solidFill>
            </a:endParaRPr>
          </a:p>
          <a:p>
            <a:r>
              <a:rPr lang="en-US" altLang="zh-CN" dirty="0"/>
              <a:t>      </a:t>
            </a:r>
            <a:r>
              <a:rPr lang="zh-CN" altLang="en-US" dirty="0"/>
              <a:t>分析原因：</a:t>
            </a:r>
            <a:r>
              <a:rPr lang="en-US" altLang="zh-CN" dirty="0" err="1"/>
              <a:t>sql</a:t>
            </a:r>
            <a:r>
              <a:rPr lang="zh-CN" altLang="en-US" dirty="0"/>
              <a:t>语句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      </a:t>
            </a:r>
            <a:r>
              <a:rPr lang="zh-CN" altLang="en-US" dirty="0"/>
              <a:t>如何处理：</a:t>
            </a:r>
            <a:r>
              <a:rPr lang="en-US" altLang="zh-CN" dirty="0"/>
              <a:t>where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F8FFC5-5157-448D-967A-371EE69E86CE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53B7F6-A69A-4B93-8AA4-35F39EA933F3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/>
            <a:endParaRPr lang="en-US" altLang="zh-CN" dirty="0"/>
          </a:p>
          <a:p>
            <a:pPr lvl="1"/>
            <a:r>
              <a:rPr lang="zh-CN" altLang="en-US" dirty="0"/>
              <a:t>上一个演示实例存在的问题描述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zh-CN" altLang="en-US" dirty="0"/>
              <a:t>更新用户</a:t>
            </a:r>
          </a:p>
          <a:p>
            <a:r>
              <a:rPr lang="en-US" altLang="zh-CN" dirty="0"/>
              <a:t>      </a:t>
            </a:r>
            <a:r>
              <a:rPr lang="zh-CN" altLang="en-US" dirty="0"/>
              <a:t>分析原因：</a:t>
            </a:r>
            <a:r>
              <a:rPr lang="en-US" altLang="zh-CN" dirty="0" err="1"/>
              <a:t>sql</a:t>
            </a:r>
            <a:r>
              <a:rPr lang="zh-CN" altLang="en-US" dirty="0"/>
              <a:t>语句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      </a:t>
            </a:r>
            <a:r>
              <a:rPr lang="zh-CN" altLang="en-US" dirty="0"/>
              <a:t>如何处理：</a:t>
            </a:r>
            <a:endParaRPr lang="en-US" altLang="zh-CN" dirty="0"/>
          </a:p>
          <a:p>
            <a:r>
              <a:rPr lang="en-US" altLang="zh-CN" dirty="0"/>
              <a:t>     set if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060BA51-83B7-4DE8-9102-309C3ABDAC8D}" type="slidenum">
              <a:rPr lang="zh-CN" altLang="en-US" smtClean="0"/>
              <a:pPr>
                <a:defRPr/>
              </a:pPr>
              <a:t>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CBBA5EF-463E-42F3-9AC1-BA359F942504}" type="slidenum">
              <a:rPr lang="zh-CN" altLang="en-US" smtClean="0"/>
              <a:pPr>
                <a:defRPr/>
              </a:pPr>
              <a:t>16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/>
            <a:endParaRPr lang="en-US" altLang="zh-CN" dirty="0"/>
          </a:p>
          <a:p>
            <a:r>
              <a:rPr lang="zh-CN" altLang="zh-CN" dirty="0"/>
              <a:t>在实际项目中，用户的操作行为多种多样，比如说：当用户进入修改界面而不进行任何数据的修改，但是同样点击了保存按钮，那么是不是就不需要进行字段的更新操作 </a:t>
            </a:r>
          </a:p>
          <a:p>
            <a:r>
              <a:rPr lang="zh-CN" altLang="zh-CN" dirty="0"/>
              <a:t>经验</a:t>
            </a:r>
          </a:p>
          <a:p>
            <a:r>
              <a:rPr lang="zh-CN" altLang="zh-CN" dirty="0"/>
              <a:t>？答案是否定的，这是由于但凡用户点击了修改按钮，进入修改页面，我们就认为用户要进行修改的行为操作，无论他是否进行字段信息的修改，系统设计都需要进行全部字段的更新操作。当然，实际上还有一种用户操作，即：用户清空了某些字段信息，按照我们之前的讲解，根据</a:t>
            </a:r>
            <a:r>
              <a:rPr lang="en-US" altLang="zh-CN" dirty="0"/>
              <a:t>if</a:t>
            </a:r>
            <a:r>
              <a:rPr lang="zh-CN" altLang="zh-CN" dirty="0"/>
              <a:t>标签的判断，程序不会进行相应的更新操作，这显然也是跟用户的实际需求相悖。那么实际项目到底如何操作呢？一般设计</a:t>
            </a:r>
            <a:r>
              <a:rPr lang="en-US" altLang="zh-CN" dirty="0" err="1"/>
              <a:t>dao</a:t>
            </a:r>
            <a:r>
              <a:rPr lang="zh-CN" altLang="zh-CN" dirty="0"/>
              <a:t>层的更新操作，</a:t>
            </a:r>
            <a:r>
              <a:rPr lang="en-US" altLang="zh-CN" dirty="0"/>
              <a:t>update</a:t>
            </a:r>
            <a:r>
              <a:rPr lang="zh-CN" altLang="zh-CN" dirty="0"/>
              <a:t>的</a:t>
            </a:r>
            <a:r>
              <a:rPr lang="en-US" altLang="zh-CN" dirty="0"/>
              <a:t>set</a:t>
            </a:r>
            <a:r>
              <a:rPr lang="zh-CN" altLang="zh-CN" dirty="0"/>
              <a:t>中不会出现</a:t>
            </a:r>
            <a:r>
              <a:rPr lang="en-US" altLang="zh-CN" dirty="0"/>
              <a:t>if</a:t>
            </a:r>
            <a:r>
              <a:rPr lang="zh-CN" altLang="zh-CN" dirty="0"/>
              <a:t>标签，即无论用户是否修改全部，我们都要更新所有字段信息（注意：前端</a:t>
            </a:r>
            <a:r>
              <a:rPr lang="en-US" altLang="zh-CN" dirty="0"/>
              <a:t>POST</a:t>
            </a:r>
            <a:r>
              <a:rPr lang="zh-CN" altLang="zh-CN" dirty="0"/>
              <a:t>请求传到后台的</a:t>
            </a:r>
            <a:r>
              <a:rPr lang="en-US" altLang="zh-CN" dirty="0"/>
              <a:t>User</a:t>
            </a:r>
            <a:r>
              <a:rPr lang="zh-CN" altLang="zh-CN" dirty="0"/>
              <a:t>对象内的所有属性都进行了</a:t>
            </a:r>
            <a:r>
              <a:rPr lang="en-US" altLang="zh-CN" dirty="0"/>
              <a:t>set</a:t>
            </a:r>
            <a:r>
              <a:rPr lang="zh-CN" altLang="zh-CN" dirty="0"/>
              <a:t>设值，所以不存在我们写的测试类中出现的某些属性未</a:t>
            </a:r>
            <a:r>
              <a:rPr lang="en-US" altLang="zh-CN" dirty="0"/>
              <a:t>set</a:t>
            </a:r>
            <a:r>
              <a:rPr lang="zh-CN" altLang="zh-CN" dirty="0"/>
              <a:t>值的情况）。实际运用中，</a:t>
            </a:r>
            <a:r>
              <a:rPr lang="en-US" altLang="zh-CN" dirty="0"/>
              <a:t>if</a:t>
            </a:r>
            <a:r>
              <a:rPr lang="zh-CN" altLang="zh-CN" dirty="0"/>
              <a:t>标签一般都是用在</a:t>
            </a:r>
            <a:r>
              <a:rPr lang="en-US" altLang="zh-CN" dirty="0"/>
              <a:t>where</a:t>
            </a:r>
            <a:r>
              <a:rPr lang="zh-CN" altLang="zh-CN" dirty="0"/>
              <a:t>标签中。本书中</a:t>
            </a:r>
            <a:r>
              <a:rPr lang="en-US" altLang="zh-CN" dirty="0"/>
              <a:t>set</a:t>
            </a:r>
            <a:r>
              <a:rPr lang="zh-CN" altLang="zh-CN" dirty="0"/>
              <a:t>中设置</a:t>
            </a:r>
            <a:r>
              <a:rPr lang="en-US" altLang="zh-CN" dirty="0"/>
              <a:t>if</a:t>
            </a:r>
            <a:r>
              <a:rPr lang="zh-CN" altLang="zh-CN" dirty="0"/>
              <a:t>标签，目的是为初学者进行相应的练习和加深对</a:t>
            </a:r>
            <a:r>
              <a:rPr lang="en-US" altLang="zh-CN" dirty="0"/>
              <a:t>if</a:t>
            </a:r>
            <a:r>
              <a:rPr lang="zh-CN" altLang="zh-CN" dirty="0"/>
              <a:t>的理解。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3322192-DC7A-413B-898A-F45DA2C2870C}" type="slidenum">
              <a:rPr lang="zh-CN" altLang="en-US" smtClean="0"/>
              <a:pPr>
                <a:defRPr/>
              </a:pPr>
              <a:t>17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/>
            <a:endParaRPr lang="en-US" altLang="zh-CN" dirty="0"/>
          </a:p>
          <a:p>
            <a:pPr lvl="1"/>
            <a:r>
              <a:rPr lang="zh-CN" altLang="en-US" dirty="0"/>
              <a:t>强调 </a:t>
            </a:r>
            <a:r>
              <a:rPr lang="en-US" altLang="zh-CN" dirty="0"/>
              <a:t>Collection</a:t>
            </a:r>
            <a:r>
              <a:rPr lang="zh-CN" altLang="en-US" dirty="0"/>
              <a:t>最关键，最容易出错的就是</a:t>
            </a:r>
            <a:r>
              <a:rPr lang="en-US" altLang="zh-CN" dirty="0"/>
              <a:t>collection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33E9EC6-2EB0-4496-829B-B7BFC1A343B8}" type="slidenum">
              <a:rPr lang="zh-CN" altLang="en-US" smtClean="0"/>
              <a:pPr>
                <a:defRPr/>
              </a:pPr>
              <a:t>18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/>
            <a:endParaRPr lang="en-US" altLang="zh-CN" dirty="0"/>
          </a:p>
          <a:p>
            <a:pPr lvl="1"/>
            <a:r>
              <a:rPr lang="zh-CN" altLang="en-US" dirty="0"/>
              <a:t>注意：配置文件中的</a:t>
            </a:r>
            <a:r>
              <a:rPr lang="en-US" altLang="zh-CN" dirty="0" err="1"/>
              <a:t>parameterType</a:t>
            </a:r>
            <a:r>
              <a:rPr lang="zh-CN" altLang="en-US" dirty="0"/>
              <a:t>是可以不配置的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A5D095F-DD70-4DA4-A716-C627D68B7EAC}" type="slidenum">
              <a:rPr lang="zh-CN" altLang="en-US" smtClean="0"/>
              <a:pPr>
                <a:defRPr/>
              </a:pPr>
              <a:t>19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89AA0E0-E826-4D7A-9548-93C4A77CE0B1}" type="slidenum">
              <a:rPr lang="zh-CN" altLang="en-US" smtClean="0"/>
              <a:pPr>
                <a:defRPr/>
              </a:pPr>
              <a:t>21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可以在</a:t>
            </a:r>
            <a:r>
              <a:rPr lang="en-US" altLang="zh-CN" dirty="0"/>
              <a:t>mapper.java</a:t>
            </a:r>
            <a:r>
              <a:rPr lang="zh-CN" altLang="en-US" dirty="0"/>
              <a:t>接口中用</a:t>
            </a:r>
            <a:r>
              <a:rPr lang="en-US" altLang="zh-CN" dirty="0"/>
              <a:t>@param</a:t>
            </a:r>
            <a:r>
              <a:rPr lang="zh-CN" altLang="en-US" dirty="0"/>
              <a:t>取别名，</a:t>
            </a:r>
            <a:r>
              <a:rPr lang="en-US" altLang="zh-CN" dirty="0" err="1"/>
              <a:t>sql</a:t>
            </a:r>
            <a:r>
              <a:rPr lang="zh-CN" altLang="en-US" dirty="0"/>
              <a:t>中</a:t>
            </a:r>
            <a:r>
              <a:rPr lang="en-US" altLang="zh-CN" dirty="0"/>
              <a:t>collection</a:t>
            </a:r>
            <a:r>
              <a:rPr lang="zh-CN" altLang="en-US" dirty="0"/>
              <a:t>也取别名。相当于</a:t>
            </a:r>
            <a:r>
              <a:rPr lang="en-US" altLang="zh-CN" dirty="0"/>
              <a:t>map</a:t>
            </a:r>
            <a:r>
              <a:rPr lang="zh-CN" altLang="en-US" dirty="0"/>
              <a:t>结构</a:t>
            </a:r>
            <a:endParaRPr lang="en-US" altLang="zh-CN" dirty="0"/>
          </a:p>
          <a:p>
            <a:r>
              <a:rPr lang="en-US" altLang="zh-CN" dirty="0"/>
              <a:t>Array</a:t>
            </a:r>
            <a:r>
              <a:rPr lang="zh-CN" altLang="en-US" dirty="0"/>
              <a:t>，</a:t>
            </a:r>
            <a:r>
              <a:rPr lang="en-US" altLang="zh-CN" dirty="0"/>
              <a:t>list</a:t>
            </a:r>
            <a:r>
              <a:rPr lang="zh-CN" altLang="en-US" dirty="0"/>
              <a:t>，</a:t>
            </a:r>
            <a:r>
              <a:rPr lang="en-US" altLang="zh-CN" dirty="0"/>
              <a:t>collection</a:t>
            </a:r>
            <a:r>
              <a:rPr lang="zh-CN" altLang="en-US" dirty="0"/>
              <a:t>相当于</a:t>
            </a:r>
            <a:r>
              <a:rPr lang="en-US" altLang="zh-CN" dirty="0"/>
              <a:t>map</a:t>
            </a:r>
            <a:r>
              <a:rPr lang="zh-CN" altLang="en-US"/>
              <a:t>的</a:t>
            </a:r>
            <a:r>
              <a:rPr lang="en-US" altLang="zh-CN"/>
              <a:t>key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5495B-CF7F-4BEC-B2E8-B1A8532E7D67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5221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/>
            <a:endParaRPr lang="en-US" altLang="zh-CN" dirty="0"/>
          </a:p>
          <a:p>
            <a:pPr lvl="1"/>
            <a:r>
              <a:rPr lang="zh-CN" altLang="en-US" dirty="0"/>
              <a:t>演示示例：</a:t>
            </a:r>
            <a:endParaRPr lang="en-US" altLang="zh-CN" dirty="0"/>
          </a:p>
          <a:p>
            <a:pPr lvl="1"/>
            <a:r>
              <a:rPr lang="en-US" altLang="zh-CN" dirty="0"/>
              <a:t>	</a:t>
            </a:r>
            <a:r>
              <a:rPr lang="zh-CN" altLang="en-US" dirty="0"/>
              <a:t>多参数封装成</a:t>
            </a:r>
            <a:r>
              <a:rPr lang="en-US" altLang="zh-CN" dirty="0"/>
              <a:t>map</a:t>
            </a:r>
          </a:p>
          <a:p>
            <a:pPr lvl="1"/>
            <a:r>
              <a:rPr lang="en-US" altLang="zh-CN" dirty="0"/>
              <a:t>	</a:t>
            </a:r>
            <a:r>
              <a:rPr lang="zh-CN" altLang="en-US" dirty="0"/>
              <a:t>单参数封装成</a:t>
            </a:r>
            <a:r>
              <a:rPr lang="en-US" altLang="zh-CN" dirty="0"/>
              <a:t>map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31F12A5-B0A4-4A5F-9B48-C7A5298922EB}" type="slidenum">
              <a:rPr lang="zh-CN" altLang="en-US" smtClean="0"/>
              <a:pPr>
                <a:defRPr/>
              </a:pPr>
              <a:t>23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defRPr/>
            </a:pPr>
            <a:endParaRPr lang="en-US" altLang="zh-CN" dirty="0"/>
          </a:p>
          <a:p>
            <a:pPr lvl="1">
              <a:defRPr/>
            </a:pPr>
            <a:r>
              <a:rPr lang="zh-CN" altLang="en-US" dirty="0"/>
              <a:t>演示示例：</a:t>
            </a:r>
            <a:r>
              <a:rPr lang="zh-CN" altLang="en-US" b="1" spc="300" dirty="0">
                <a:solidFill>
                  <a:srgbClr val="FBFFFE"/>
                </a:solidFill>
                <a:latin typeface="微软雅黑" pitchFamily="34" charset="-122"/>
                <a:ea typeface="微软雅黑" pitchFamily="34" charset="-122"/>
              </a:rPr>
              <a:t>改造用户表的查询操作</a:t>
            </a:r>
            <a:r>
              <a:rPr lang="en-US" altLang="zh-CN" b="1" spc="300" dirty="0">
                <a:solidFill>
                  <a:srgbClr val="FBFFFE"/>
                </a:solidFill>
                <a:latin typeface="微软雅黑" pitchFamily="34" charset="-122"/>
                <a:ea typeface="微软雅黑" pitchFamily="34" charset="-122"/>
              </a:rPr>
              <a:t>-choose</a:t>
            </a:r>
            <a:endParaRPr lang="zh-CN" altLang="en-US" b="1" spc="300" dirty="0">
              <a:solidFill>
                <a:srgbClr val="FBFFFE"/>
              </a:solidFill>
              <a:latin typeface="微软雅黑" pitchFamily="34" charset="-122"/>
              <a:ea typeface="微软雅黑" pitchFamily="34" charset="-122"/>
            </a:endParaRPr>
          </a:p>
          <a:p>
            <a:pPr lvl="1">
              <a:defRPr/>
            </a:pPr>
            <a:r>
              <a:rPr lang="zh-CN" altLang="en-US" dirty="0"/>
              <a:t>增加用户表的查询方法测试（参数：用户类型、用户名称、用户编码、创建时间在本年内或者在指定的年份内）</a:t>
            </a:r>
            <a:endParaRPr lang="en-US" altLang="zh-CN" dirty="0"/>
          </a:p>
          <a:p>
            <a:pPr lvl="1"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FB9A0D4-EB31-4850-BA36-DDF5AE4DD528}" type="slidenum">
              <a:rPr lang="zh-CN" altLang="en-US" smtClean="0"/>
              <a:pPr>
                <a:defRPr/>
              </a:pPr>
              <a:t>28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12AA56-D9AC-4734-9553-921AEA9BF371}" type="slidenum">
              <a:rPr lang="zh-CN" altLang="en-US" smtClean="0"/>
              <a:pPr>
                <a:defRPr/>
              </a:pPr>
              <a:t>32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8194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195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/>
          <a:p>
            <a:fld id="{2A9EA4B5-9757-45FA-ACB3-9257ADA8891B}" type="slidenum"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35</a:t>
            </a:fld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 descr="C:\Users\Lenovo\Desktop\全栈大数据PPT模板设计\ppt模板\切图\压缩后\压缩后\3_04.png3_04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7965440" y="207328"/>
            <a:ext cx="1105535" cy="448945"/>
          </a:xfrm>
          <a:prstGeom prst="rect">
            <a:avLst/>
          </a:prstGeom>
        </p:spPr>
      </p:pic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77545" y="1015365"/>
            <a:ext cx="7762875" cy="3394075"/>
          </a:xfrm>
        </p:spPr>
        <p:txBody>
          <a:bodyPr/>
          <a:lstStyle>
            <a:lvl1pPr marL="457200" indent="-457200">
              <a:lnSpc>
                <a:spcPct val="100000"/>
              </a:lnSpc>
              <a:buClr>
                <a:srgbClr val="0099D8"/>
              </a:buClr>
              <a:buFont typeface="Wingdings" panose="05000000000000000000" charset="0"/>
              <a:buChar char=""/>
              <a:defRPr sz="2400" b="1">
                <a:solidFill>
                  <a:srgbClr val="0B9FDD"/>
                </a:solidFill>
              </a:defRPr>
            </a:lvl1pPr>
            <a:lvl2pPr marL="800100" indent="-342900">
              <a:lnSpc>
                <a:spcPct val="100000"/>
              </a:lnSpc>
              <a:buClr>
                <a:srgbClr val="0099D8"/>
              </a:buClr>
              <a:buSzPct val="90000"/>
              <a:buFont typeface="Wingdings" panose="05000000000000000000" charset="0"/>
              <a:buChar char=""/>
              <a:defRPr sz="2200">
                <a:solidFill>
                  <a:schemeClr val="tx1"/>
                </a:solidFill>
              </a:defRPr>
            </a:lvl2pPr>
            <a:lvl3pPr marL="1200150" indent="-285750">
              <a:lnSpc>
                <a:spcPct val="100000"/>
              </a:lnSpc>
              <a:buClr>
                <a:srgbClr val="0099D8"/>
              </a:buClr>
              <a:buSzPct val="85000"/>
              <a:buFont typeface="Wingdings" panose="05000000000000000000" charset="0"/>
              <a:buChar char=""/>
              <a:defRPr sz="2000"/>
            </a:lvl3pPr>
            <a:lvl4pPr marL="1657350" indent="-285750">
              <a:lnSpc>
                <a:spcPct val="100000"/>
              </a:lnSpc>
              <a:buClr>
                <a:srgbClr val="0099D8"/>
              </a:buClr>
              <a:buFont typeface="Webdings" panose="05030102010509060703" charset="0"/>
              <a:buChar char="4"/>
              <a:defRPr/>
            </a:lvl4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r>
              <a:rPr lang="en-US" altLang="zh-CN" dirty="0"/>
              <a:t>/37</a:t>
            </a:r>
            <a:endParaRPr lang="en-US" dirty="0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243840" y="207645"/>
            <a:ext cx="8185785" cy="70675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lIns="0" tIns="0"/>
          <a:lstStyle>
            <a:lvl1pPr>
              <a:defRPr sz="2400" b="1">
                <a:solidFill>
                  <a:srgbClr val="0099D9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3840" y="207645"/>
            <a:ext cx="8185785" cy="70675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lIns="0" tIns="0"/>
          <a:lstStyle>
            <a:lvl1pPr>
              <a:defRPr sz="2400" b="1">
                <a:solidFill>
                  <a:srgbClr val="0099D9"/>
                </a:solidFill>
                <a:latin typeface="+mj-lt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pic>
        <p:nvPicPr>
          <p:cNvPr id="8" name="图片 7" descr="C:\Users\Lenovo\Desktop\全栈大数据PPT模板设计\ppt模板\切图\压缩后\压缩后\3_04.png3_04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7965440" y="207328"/>
            <a:ext cx="1105535" cy="448945"/>
          </a:xfrm>
          <a:prstGeom prst="rect">
            <a:avLst/>
          </a:prstGeom>
        </p:spPr>
      </p:pic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677545" y="1015365"/>
            <a:ext cx="7762875" cy="3394075"/>
          </a:xfrm>
        </p:spPr>
        <p:txBody>
          <a:bodyPr/>
          <a:lstStyle>
            <a:lvl1pPr marL="457200" indent="-457200">
              <a:lnSpc>
                <a:spcPct val="100000"/>
              </a:lnSpc>
              <a:buClr>
                <a:srgbClr val="0099D8"/>
              </a:buClr>
              <a:buFont typeface="Wingdings" panose="05000000000000000000" charset="0"/>
              <a:buChar char=""/>
              <a:defRPr sz="2400" b="1">
                <a:solidFill>
                  <a:srgbClr val="0B9FDD"/>
                </a:solidFill>
                <a:latin typeface="+mn-lt"/>
                <a:ea typeface="微软雅黑" panose="020B0503020204020204" pitchFamily="34" charset="-122"/>
              </a:defRPr>
            </a:lvl1pPr>
            <a:lvl2pPr marL="800100" indent="-342900">
              <a:lnSpc>
                <a:spcPct val="100000"/>
              </a:lnSpc>
              <a:buClr>
                <a:srgbClr val="0099D8"/>
              </a:buClr>
              <a:buSzPct val="90000"/>
              <a:buFont typeface="Wingdings" panose="05000000000000000000" charset="0"/>
              <a:buChar char=""/>
              <a:defRPr sz="22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200150" indent="-285750">
              <a:lnSpc>
                <a:spcPct val="100000"/>
              </a:lnSpc>
              <a:buClr>
                <a:srgbClr val="0099D8"/>
              </a:buClr>
              <a:buSzPct val="85000"/>
              <a:buFont typeface="Wingdings" panose="05000000000000000000" charset="0"/>
              <a:buChar char=""/>
              <a:defRPr sz="2000">
                <a:latin typeface="+mn-lt"/>
                <a:ea typeface="微软雅黑" panose="020B0503020204020204" pitchFamily="34" charset="-122"/>
              </a:defRPr>
            </a:lvl3pPr>
            <a:lvl4pPr marL="1657350" indent="-285750">
              <a:lnSpc>
                <a:spcPct val="100000"/>
              </a:lnSpc>
              <a:buClr>
                <a:srgbClr val="0099D8"/>
              </a:buClr>
              <a:buFont typeface="Webdings" panose="05030102010509060703" charset="0"/>
              <a:buChar char="4"/>
              <a:defRPr>
                <a:latin typeface="+mn-lt"/>
                <a:ea typeface="微软雅黑" panose="020B0503020204020204" pitchFamily="34" charset="-122"/>
              </a:defRPr>
            </a:lvl4pPr>
            <a:lvl5pPr>
              <a:defRPr>
                <a:latin typeface="+mn-lt"/>
                <a:ea typeface="微软雅黑" panose="020B0503020204020204" pitchFamily="34" charset="-122"/>
              </a:defRPr>
            </a:lvl5pPr>
            <a:lvl6pPr>
              <a:defRPr>
                <a:latin typeface="+mn-lt"/>
                <a:ea typeface="微软雅黑" panose="020B0503020204020204" pitchFamily="34" charset="-122"/>
              </a:defRPr>
            </a:lvl6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  <a:p>
            <a:pPr lvl="5" fontAlgn="base"/>
            <a:r>
              <a:rPr lang="zh-CN" altLang="en-US" strike="noStrike" noProof="1"/>
              <a:t>６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r>
              <a:rPr lang="zh-CN" altLang="en-US" dirty="0"/>
              <a:t>/</a:t>
            </a:r>
            <a:r>
              <a:rPr lang="en-US" altLang="zh-CN" dirty="0"/>
              <a:t>37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</p:spPr>
        <p:txBody>
          <a:bodyPr/>
          <a:lstStyle>
            <a:lvl1pPr>
              <a:buFont typeface="Wingdings" panose="05000000000000000000" charset="0"/>
              <a:buChar char=""/>
              <a:defRPr sz="3200"/>
            </a:lvl1pPr>
            <a:lvl2pPr>
              <a:buFont typeface="Wingdings" panose="05000000000000000000" charset="0"/>
              <a:buChar char=""/>
              <a:defRPr sz="2800"/>
            </a:lvl2pPr>
            <a:lvl3pPr>
              <a:buFont typeface="Wingdings" panose="05000000000000000000" charset="0"/>
              <a:buChar char=""/>
              <a:defRPr sz="2400"/>
            </a:lvl3pPr>
            <a:lvl4pPr>
              <a:buFont typeface="Webdings" panose="05030102010509060703" charset="0"/>
              <a:buChar char="4"/>
              <a:defRPr sz="2000"/>
            </a:lvl4pPr>
            <a:lvl5pPr>
              <a:buFont typeface="Wingdings" panose="05000000000000000000" charset="0"/>
              <a:buChar char="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r>
              <a:rPr lang="zh-CN" altLang="en-US" dirty="0"/>
              <a:t>/</a:t>
            </a:r>
            <a:r>
              <a:rPr lang="en-US" altLang="zh-CN" dirty="0"/>
              <a:t>38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r>
              <a:rPr lang="zh-CN" altLang="en-US" dirty="0"/>
              <a:t>/</a:t>
            </a:r>
            <a:r>
              <a:rPr lang="en-US" altLang="zh-CN" dirty="0"/>
              <a:t>38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86380" y="349251"/>
            <a:ext cx="3429024" cy="43654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56260" y="797560"/>
            <a:ext cx="8422640" cy="3394075"/>
          </a:xfrm>
        </p:spPr>
        <p:txBody>
          <a:bodyPr vert="eaVert"/>
          <a:lstStyle>
            <a:lvl1pPr>
              <a:buFont typeface="Wingdings" panose="05000000000000000000" charset="0"/>
              <a:buChar char=""/>
              <a:defRPr/>
            </a:lvl1pPr>
            <a:lvl2pPr>
              <a:buFont typeface="Wingdings" panose="05000000000000000000" charset="0"/>
              <a:buChar char=""/>
              <a:defRPr/>
            </a:lvl2pPr>
            <a:lvl3pPr>
              <a:buFont typeface="Wingdings" panose="05000000000000000000" charset="0"/>
              <a:buChar char=""/>
              <a:defRPr/>
            </a:lvl3pPr>
            <a:lvl4pPr>
              <a:buFont typeface="Webdings" panose="05030102010509060703" charset="0"/>
              <a:buChar char="4"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r>
              <a:rPr lang="zh-CN" altLang="en-US" dirty="0"/>
              <a:t>/</a:t>
            </a:r>
            <a:r>
              <a:rPr lang="en-US" altLang="zh-CN" dirty="0"/>
              <a:t>38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>
            <a:lvl1pPr>
              <a:buFont typeface="Wingdings" panose="05000000000000000000" charset="0"/>
              <a:buChar char=""/>
              <a:defRPr/>
            </a:lvl1pPr>
            <a:lvl2pPr>
              <a:buFont typeface="Wingdings" panose="05000000000000000000" charset="0"/>
              <a:buChar char=""/>
              <a:defRPr/>
            </a:lvl2pPr>
            <a:lvl3pPr>
              <a:buFont typeface="Wingdings" panose="05000000000000000000" charset="0"/>
              <a:buChar char=""/>
              <a:defRPr/>
            </a:lvl3pPr>
            <a:lvl4pPr>
              <a:buFont typeface="Webdings" panose="05030102010509060703" charset="0"/>
              <a:buChar char="4"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r>
              <a:rPr lang="zh-CN" altLang="en-US" dirty="0"/>
              <a:t>/</a:t>
            </a:r>
            <a:r>
              <a:rPr lang="en-US" altLang="zh-CN" dirty="0"/>
              <a:t>38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1538" y="857238"/>
            <a:ext cx="6643734" cy="3643338"/>
          </a:xfrm>
        </p:spPr>
        <p:txBody>
          <a:bodyPr>
            <a:normAutofit/>
          </a:bodyPr>
          <a:lstStyle>
            <a:lvl1pPr>
              <a:buClr>
                <a:srgbClr val="7CC049"/>
              </a:buClr>
              <a:buSzPct val="100000"/>
              <a:buFont typeface="Wingdings" panose="05000000000000000000" pitchFamily="2" charset="2"/>
              <a:buChar char="n"/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Clr>
                <a:srgbClr val="7CC049"/>
              </a:buClr>
              <a:buSzPct val="80000"/>
              <a:buFont typeface="Wingdings" panose="05000000000000000000" pitchFamily="2" charset="2"/>
              <a:buChar char="u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buSzPct val="80000"/>
              <a:buFontTx/>
              <a:buBlip>
                <a:blip r:embed="rId2"/>
              </a:buBlip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 hasCustomPrompt="1"/>
          </p:nvPr>
        </p:nvSpPr>
        <p:spPr>
          <a:xfrm>
            <a:off x="7164288" y="285734"/>
            <a:ext cx="1622554" cy="357190"/>
          </a:xfrm>
          <a:solidFill>
            <a:srgbClr val="30383A"/>
          </a:solidFill>
        </p:spPr>
        <p:txBody>
          <a:bodyPr>
            <a:noAutofit/>
          </a:bodyPr>
          <a:lstStyle>
            <a:lvl1pPr algn="r"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添加标题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r>
              <a:rPr lang="zh-CN" altLang="en-US" dirty="0"/>
              <a:t>/</a:t>
            </a:r>
            <a:r>
              <a:rPr lang="en-US" altLang="zh-CN" dirty="0"/>
              <a:t>38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C:\Users\Lenovo\Desktop\全栈大数据PPT模板设计\最小压缩后\封面背景图.png封面背景图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905" y="2223"/>
            <a:ext cx="9189720" cy="516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 descr="C:\Users\Lenovo\Desktop\images\1_03.png1_03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3274695" y="2535555"/>
            <a:ext cx="2839720" cy="6610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标题 1"/>
          <p:cNvSpPr>
            <a:spLocks noGrp="1"/>
          </p:cNvSpPr>
          <p:nvPr>
            <p:ph type="ctrTitle" hasCustomPrompt="1"/>
          </p:nvPr>
        </p:nvSpPr>
        <p:spPr>
          <a:xfrm>
            <a:off x="685800" y="1094105"/>
            <a:ext cx="7772400" cy="11049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anchor="ctr">
            <a:normAutofit/>
          </a:bodyPr>
          <a:lstStyle>
            <a:lvl1pPr lvl="0" algn="ctr">
              <a:defRPr sz="4600" b="1" kern="1200">
                <a:solidFill>
                  <a:schemeClr val="bg1"/>
                </a:solidFill>
              </a:defRPr>
            </a:lvl1pPr>
          </a:lstStyle>
          <a:p>
            <a:pPr lvl="0" fontAlgn="base"/>
            <a:r>
              <a:rPr lang="en-US" altLang="zh-CN" strike="noStrike" noProof="1"/>
              <a:t>16/9</a:t>
            </a:r>
            <a:r>
              <a:rPr lang="zh-CN" altLang="en-US" strike="noStrike" noProof="1"/>
              <a:t>录屏模板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1031" name="标题占位符 1"/>
          <p:cNvSpPr>
            <a:spLocks noGrp="1"/>
          </p:cNvSpPr>
          <p:nvPr>
            <p:ph type="title"/>
          </p:nvPr>
        </p:nvSpPr>
        <p:spPr bwMode="auto">
          <a:xfrm>
            <a:off x="48260" y="286385"/>
            <a:ext cx="5874385" cy="5111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6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73735" y="977900"/>
            <a:ext cx="7797165" cy="31877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r>
              <a:rPr lang="en-US" altLang="zh-CN" dirty="0"/>
              <a:t>/38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rgbClr val="0B9FDD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r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r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r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r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r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r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r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r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009ADA"/>
        </a:buClr>
        <a:buFont typeface="Wingdings" panose="05000000000000000000" charset="0"/>
        <a:buChar char=""/>
        <a:defRPr sz="2400" b="1" kern="1200">
          <a:solidFill>
            <a:srgbClr val="009ADA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9ADA"/>
        </a:buClr>
        <a:buFont typeface="Wingdings" panose="05000000000000000000" charset="0"/>
        <a:buChar char="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9ADA"/>
        </a:buClr>
        <a:buFont typeface="Wingdings" panose="05000000000000000000" charset="0"/>
        <a:buChar char="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009ADA"/>
        </a:buClr>
        <a:buFont typeface="Webdings" panose="05030102010509060703" charset="0"/>
        <a:buChar char="4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009ADA"/>
        </a:buClr>
        <a:buFont typeface="Wingdings" panose="05000000000000000000" charset="0"/>
        <a:buChar char=""/>
        <a:defRPr sz="1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5121"/>
          <p:cNvSpPr>
            <a:spLocks noGrp="1"/>
          </p:cNvSpPr>
          <p:nvPr>
            <p:ph type="ctrTitle"/>
          </p:nvPr>
        </p:nvSpPr>
        <p:spPr>
          <a:xfrm>
            <a:off x="1256983" y="1283335"/>
            <a:ext cx="6858000" cy="1184275"/>
          </a:xfrm>
        </p:spPr>
        <p:txBody>
          <a:bodyPr wrap="square" anchor="ctr">
            <a:normAutofit fontScale="90000"/>
          </a:bodyPr>
          <a:lstStyle/>
          <a:p>
            <a:br>
              <a:rPr lang="en-US" altLang="zh-CN" dirty="0">
                <a:sym typeface="+mn-ea"/>
              </a:rPr>
            </a:br>
            <a:r>
              <a:rPr lang="en-US" altLang="zh-CN" dirty="0">
                <a:solidFill>
                  <a:schemeClr val="tx1"/>
                </a:solidFill>
                <a:sym typeface="+mn-ea"/>
              </a:rPr>
              <a:t>3 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动态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SQL</a:t>
            </a:r>
            <a:br>
              <a:rPr lang="zh-CN" altLang="en-US" dirty="0"/>
            </a:br>
            <a:endParaRPr lang="zh-CN" altLang="en-US" strike="noStrike" kern="1200" noProof="1">
              <a:solidFill>
                <a:srgbClr val="0099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MyBatis</a:t>
            </a:r>
            <a:r>
              <a:rPr lang="zh-CN" altLang="en-US" dirty="0"/>
              <a:t>执行流程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</a:t>
            </a:fld>
            <a:r>
              <a:rPr lang="zh-CN" altLang="en-US"/>
              <a:t>/</a:t>
            </a:r>
            <a:r>
              <a:rPr lang="en-US" altLang="zh-CN"/>
              <a:t>37</a:t>
            </a:r>
            <a:endParaRPr lang="en-US" altLang="zh-CN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AFF9358-C558-8D56-C06A-4B279FDE1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03DF4B9-02B9-AD1D-2100-E204D18AB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3129" y="0"/>
            <a:ext cx="47498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7406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4F80E5-63E2-B806-6E55-14CF294D5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问题引人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43DAB17C-9280-CEE0-F3EE-00F6FF8923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317" y="1016000"/>
            <a:ext cx="7719967" cy="3394075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C18D67-8574-3D6F-3319-CDAE039D9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</a:t>
            </a:fld>
            <a:r>
              <a:rPr lang="zh-CN" altLang="en-US"/>
              <a:t>/</a:t>
            </a:r>
            <a:r>
              <a:rPr lang="en-US" altLang="zh-CN"/>
              <a:t>37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95181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E89DBA-7C88-BE91-CC19-3C4F8FE4B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2A8D0A16-A49A-8809-A341-2115859FF2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75" y="1016000"/>
            <a:ext cx="7750333" cy="3499966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9632D3-18FA-C3C0-98F2-AA5DFAE6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</a:t>
            </a:fld>
            <a:r>
              <a:rPr lang="zh-CN" altLang="en-US"/>
              <a:t>/</a:t>
            </a:r>
            <a:r>
              <a:rPr lang="en-US" altLang="zh-CN"/>
              <a:t>37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0354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</a:t>
            </a:r>
            <a:r>
              <a:rPr lang="en-US" altLang="zh-CN" dirty="0"/>
              <a:t>SQL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基于</a:t>
            </a:r>
            <a:r>
              <a:rPr lang="en-US" altLang="zh-CN" dirty="0"/>
              <a:t>OGNL</a:t>
            </a:r>
            <a:r>
              <a:rPr lang="zh-CN" altLang="en-US" dirty="0"/>
              <a:t>表达式</a:t>
            </a:r>
            <a:endParaRPr lang="en-US" altLang="zh-CN" dirty="0"/>
          </a:p>
          <a:p>
            <a:r>
              <a:rPr lang="zh-CN" altLang="en-US" dirty="0"/>
              <a:t>完成多条件查询等逻辑实现</a:t>
            </a:r>
            <a:endParaRPr lang="en-US" altLang="zh-CN" dirty="0"/>
          </a:p>
          <a:p>
            <a:r>
              <a:rPr lang="zh-CN" altLang="en-US" dirty="0"/>
              <a:t>用于实现动态</a:t>
            </a:r>
            <a:r>
              <a:rPr lang="en-US" altLang="zh-CN" dirty="0"/>
              <a:t>SQL</a:t>
            </a:r>
            <a:r>
              <a:rPr lang="zh-CN" altLang="en-US" dirty="0"/>
              <a:t>的元素主要有</a:t>
            </a:r>
            <a:endParaRPr lang="en-US" altLang="zh-CN" dirty="0"/>
          </a:p>
          <a:p>
            <a:pPr lvl="1"/>
            <a:r>
              <a:rPr lang="en-US" altLang="zh-CN" dirty="0"/>
              <a:t>if</a:t>
            </a:r>
          </a:p>
          <a:p>
            <a:pPr lvl="1"/>
            <a:r>
              <a:rPr lang="en-US" altLang="zh-CN" dirty="0"/>
              <a:t>trim</a:t>
            </a:r>
          </a:p>
          <a:p>
            <a:pPr lvl="1"/>
            <a:r>
              <a:rPr lang="en-US" altLang="zh-CN" dirty="0"/>
              <a:t>where</a:t>
            </a:r>
          </a:p>
          <a:p>
            <a:pPr lvl="1"/>
            <a:r>
              <a:rPr lang="en-US" altLang="zh-CN" dirty="0"/>
              <a:t>set</a:t>
            </a:r>
          </a:p>
          <a:p>
            <a:pPr lvl="1"/>
            <a:r>
              <a:rPr lang="en-US" altLang="zh-CN" dirty="0"/>
              <a:t>choose</a:t>
            </a:r>
            <a:r>
              <a:rPr lang="zh-CN" altLang="en-US" dirty="0"/>
              <a:t>（</a:t>
            </a:r>
            <a:r>
              <a:rPr lang="en-US" altLang="zh-CN" dirty="0"/>
              <a:t>when</a:t>
            </a:r>
            <a:r>
              <a:rPr lang="zh-CN" altLang="en-US" dirty="0"/>
              <a:t>、</a:t>
            </a:r>
            <a:r>
              <a:rPr lang="en-US" altLang="zh-CN" dirty="0"/>
              <a:t>otherwise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 err="1"/>
              <a:t>foreach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</a:t>
            </a:fld>
            <a:r>
              <a:rPr lang="zh-CN" altLang="en-US"/>
              <a:t>/</a:t>
            </a:r>
            <a:r>
              <a:rPr lang="en-US" altLang="zh-CN"/>
              <a:t>37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13206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if</a:t>
            </a:r>
            <a:r>
              <a:rPr lang="zh-CN" altLang="en-US" dirty="0"/>
              <a:t>元素</a:t>
            </a: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需求说明</a:t>
            </a:r>
            <a:endParaRPr lang="en-US" altLang="zh-CN" dirty="0"/>
          </a:p>
          <a:p>
            <a:pPr lvl="1"/>
            <a:r>
              <a:rPr lang="zh-CN" altLang="en-US" dirty="0"/>
              <a:t>改造查询用户信息列表的演示示例，增加查询条件</a:t>
            </a:r>
            <a:endParaRPr lang="en-US" altLang="zh-CN" dirty="0"/>
          </a:p>
          <a:p>
            <a:pPr lvl="2"/>
            <a:r>
              <a:rPr lang="zh-CN" altLang="en-US" dirty="0"/>
              <a:t>用户角色（根据角色</a:t>
            </a:r>
            <a:r>
              <a:rPr lang="en-US" altLang="zh-CN" dirty="0"/>
              <a:t>id</a:t>
            </a:r>
            <a:r>
              <a:rPr lang="zh-CN" altLang="en-US" dirty="0"/>
              <a:t>查询）</a:t>
            </a:r>
            <a:endParaRPr lang="en-US" altLang="zh-CN" dirty="0"/>
          </a:p>
          <a:p>
            <a:pPr lvl="2"/>
            <a:r>
              <a:rPr lang="zh-CN" altLang="en-US" dirty="0"/>
              <a:t>用户名称（模糊查询）</a:t>
            </a:r>
            <a:endParaRPr lang="en-US" altLang="zh-CN" dirty="0"/>
          </a:p>
          <a:p>
            <a:pPr lvl="2"/>
            <a:endParaRPr lang="en-US" altLang="zh-CN" dirty="0"/>
          </a:p>
        </p:txBody>
      </p:sp>
      <p:grpSp>
        <p:nvGrpSpPr>
          <p:cNvPr id="13" name="组合 12"/>
          <p:cNvGrpSpPr/>
          <p:nvPr/>
        </p:nvGrpSpPr>
        <p:grpSpPr>
          <a:xfrm>
            <a:off x="789449" y="4371950"/>
            <a:ext cx="6529812" cy="554578"/>
            <a:chOff x="1403648" y="3795886"/>
            <a:chExt cx="5968046" cy="371891"/>
          </a:xfrm>
        </p:grpSpPr>
        <p:sp>
          <p:nvSpPr>
            <p:cNvPr id="14" name="圆角矩形 13"/>
            <p:cNvSpPr/>
            <p:nvPr/>
          </p:nvSpPr>
          <p:spPr bwMode="auto">
            <a:xfrm>
              <a:off x="1403648" y="3795886"/>
              <a:ext cx="500044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5" name="圆角矩形 14"/>
            <p:cNvSpPr/>
            <p:nvPr/>
          </p:nvSpPr>
          <p:spPr bwMode="auto">
            <a:xfrm>
              <a:off x="1975126" y="3795886"/>
              <a:ext cx="5143330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pic>
          <p:nvPicPr>
            <p:cNvPr id="16" name="Picture 8" descr="说话气泡new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648" y="3827363"/>
              <a:ext cx="571479" cy="256555"/>
            </a:xfrm>
            <a:prstGeom prst="rect">
              <a:avLst/>
            </a:prstGeom>
            <a:noFill/>
            <a:ln>
              <a:noFill/>
            </a:ln>
            <a:effectLst>
              <a:prstShdw prst="shdw13" dist="12700" dir="10800000">
                <a:srgbClr val="0099FF">
                  <a:alpha val="50000"/>
                </a:srgb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TextBox 16"/>
            <p:cNvSpPr txBox="1"/>
            <p:nvPr/>
          </p:nvSpPr>
          <p:spPr bwMode="auto">
            <a:xfrm>
              <a:off x="2020549" y="3829223"/>
              <a:ext cx="5351145" cy="338554"/>
            </a:xfrm>
            <a:prstGeom prst="rect">
              <a:avLst/>
            </a:prstGeom>
            <a:noFill/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演示示例</a:t>
              </a:r>
              <a:r>
                <a:rPr lang="en-US" altLang="zh-CN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r>
                <a:rPr lang="zh-CN" altLang="en-US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：改造用户表的查询操作</a:t>
              </a:r>
              <a:r>
                <a:rPr lang="en-US" altLang="zh-CN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-</a:t>
              </a:r>
              <a:r>
                <a:rPr lang="zh-CN" altLang="en-US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多条件查询</a:t>
              </a: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</a:t>
            </a:fld>
            <a:r>
              <a:rPr lang="zh-CN" altLang="en-US"/>
              <a:t>/</a:t>
            </a:r>
            <a:r>
              <a:rPr lang="en-US" altLang="zh-CN"/>
              <a:t>37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76945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1FFA32-3FA9-427B-BB57-5776FB0CE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根据角色</a:t>
            </a:r>
            <a:r>
              <a:rPr lang="en-US" altLang="zh-CN" dirty="0"/>
              <a:t>id</a:t>
            </a:r>
            <a:r>
              <a:rPr lang="zh-CN" altLang="en-US" dirty="0"/>
              <a:t>查询用户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170DA750-1195-4D70-A602-EA65FCF46E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45" y="862855"/>
            <a:ext cx="7762875" cy="1511196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293263-09EB-4295-B65A-9884FCD7D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</a:t>
            </a:fld>
            <a:r>
              <a:rPr lang="zh-CN" altLang="en-US"/>
              <a:t>/</a:t>
            </a:r>
            <a:r>
              <a:rPr lang="en-US" altLang="zh-CN"/>
              <a:t>37</a:t>
            </a:r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F2DB090-3145-436F-807D-8ACABC1A7B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924" y="2494177"/>
            <a:ext cx="6943725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64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if</a:t>
            </a:r>
            <a:r>
              <a:rPr lang="zh-CN" altLang="en-US" dirty="0"/>
              <a:t>元素</a:t>
            </a: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545" y="411510"/>
            <a:ext cx="7762875" cy="2736303"/>
          </a:xfrm>
        </p:spPr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当传入用户角色参数为空的时候，检索结果为空？</a:t>
            </a:r>
            <a:endParaRPr lang="en-US" altLang="zh-CN" dirty="0"/>
          </a:p>
          <a:p>
            <a:pPr lvl="2"/>
            <a:endParaRPr lang="en-US" altLang="zh-CN" sz="1400" dirty="0"/>
          </a:p>
          <a:p>
            <a:r>
              <a:rPr lang="zh-CN" altLang="en-US" dirty="0"/>
              <a:t>正确结果</a:t>
            </a:r>
            <a:endParaRPr lang="en-US" altLang="zh-CN" dirty="0"/>
          </a:p>
          <a:p>
            <a:pPr lvl="1"/>
            <a:r>
              <a:rPr lang="zh-CN" altLang="en-US" dirty="0"/>
              <a:t>所有用户角色下的用户数据</a:t>
            </a:r>
            <a:endParaRPr lang="en-US" altLang="zh-CN" dirty="0"/>
          </a:p>
          <a:p>
            <a:r>
              <a:rPr lang="zh-CN" altLang="en-US" dirty="0"/>
              <a:t>原因</a:t>
            </a:r>
            <a:endParaRPr lang="en-US" altLang="zh-CN" dirty="0"/>
          </a:p>
          <a:p>
            <a:pPr lvl="2"/>
            <a:endParaRPr lang="en-US" altLang="zh-CN" sz="1400" dirty="0"/>
          </a:p>
          <a:p>
            <a:endParaRPr lang="en-US" altLang="zh-CN" sz="1800" dirty="0"/>
          </a:p>
          <a:p>
            <a:endParaRPr lang="en-US" altLang="zh-CN" sz="1600" dirty="0"/>
          </a:p>
          <a:p>
            <a:r>
              <a:rPr lang="zh-CN" altLang="en-US" dirty="0"/>
              <a:t>如何处理</a:t>
            </a:r>
            <a:endParaRPr lang="en-US" altLang="zh-CN" dirty="0"/>
          </a:p>
          <a:p>
            <a:pPr lvl="1"/>
            <a:r>
              <a:rPr lang="en-US" altLang="zh-CN" dirty="0"/>
              <a:t>if(</a:t>
            </a:r>
            <a:r>
              <a:rPr lang="zh-CN" altLang="en-US" dirty="0"/>
              <a:t>判断参数</a:t>
            </a:r>
            <a:r>
              <a:rPr lang="en-US" altLang="zh-CN" dirty="0"/>
              <a:t>)</a:t>
            </a:r>
            <a:r>
              <a:rPr lang="zh-CN" altLang="en-US" dirty="0"/>
              <a:t>：实现简单的条件判断</a:t>
            </a:r>
            <a:endParaRPr lang="en-US" altLang="zh-CN" dirty="0"/>
          </a:p>
          <a:p>
            <a:endParaRPr lang="en-US" altLang="zh-CN" sz="1600" dirty="0"/>
          </a:p>
        </p:txBody>
      </p:sp>
      <p:sp>
        <p:nvSpPr>
          <p:cNvPr id="12" name="AutoShape 12"/>
          <p:cNvSpPr>
            <a:spLocks noChangeArrowheads="1"/>
          </p:cNvSpPr>
          <p:nvPr/>
        </p:nvSpPr>
        <p:spPr bwMode="auto">
          <a:xfrm>
            <a:off x="755576" y="2859782"/>
            <a:ext cx="7920483" cy="830997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38100" cap="flat" cmpd="sng" algn="ctr">
            <a:solidFill>
              <a:srgbClr val="0099D8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select * from 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smbms_user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 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u,smbms_role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 r </a:t>
            </a:r>
          </a:p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	where 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u.userRole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 = r.id and 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u.userName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 like  CONCAT (‘%’, ‘’, ‘%’) and  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u.userRole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 = null;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1066524" y="4720139"/>
            <a:ext cx="5714808" cy="371891"/>
            <a:chOff x="1403648" y="3795886"/>
            <a:chExt cx="5714808" cy="371891"/>
          </a:xfrm>
        </p:grpSpPr>
        <p:sp>
          <p:nvSpPr>
            <p:cNvPr id="21" name="圆角矩形 20"/>
            <p:cNvSpPr/>
            <p:nvPr/>
          </p:nvSpPr>
          <p:spPr bwMode="auto">
            <a:xfrm>
              <a:off x="1403648" y="3795886"/>
              <a:ext cx="500044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" name="圆角矩形 21"/>
            <p:cNvSpPr/>
            <p:nvPr/>
          </p:nvSpPr>
          <p:spPr bwMode="auto">
            <a:xfrm>
              <a:off x="1975126" y="3795886"/>
              <a:ext cx="5143330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pic>
          <p:nvPicPr>
            <p:cNvPr id="23" name="Picture 8" descr="说话气泡new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648" y="3827363"/>
              <a:ext cx="571479" cy="256555"/>
            </a:xfrm>
            <a:prstGeom prst="rect">
              <a:avLst/>
            </a:prstGeom>
            <a:noFill/>
            <a:ln>
              <a:noFill/>
            </a:ln>
            <a:effectLst>
              <a:prstShdw prst="shdw13" dist="12700" dir="10800000">
                <a:srgbClr val="0099FF">
                  <a:alpha val="50000"/>
                </a:srgb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" name="TextBox 23"/>
            <p:cNvSpPr txBox="1"/>
            <p:nvPr/>
          </p:nvSpPr>
          <p:spPr bwMode="auto">
            <a:xfrm>
              <a:off x="2469390" y="3829223"/>
              <a:ext cx="4453463" cy="338554"/>
            </a:xfrm>
            <a:prstGeom prst="rect">
              <a:avLst/>
            </a:prstGeom>
            <a:noFill/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演示示例</a:t>
              </a:r>
              <a:r>
                <a:rPr lang="en-US" altLang="zh-CN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2 </a:t>
              </a:r>
              <a:r>
                <a:rPr lang="zh-CN" altLang="en-US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：改造用户表的查询操作</a:t>
              </a:r>
              <a:r>
                <a:rPr lang="en-US" altLang="zh-CN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-if</a:t>
              </a:r>
              <a:endParaRPr lang="zh-CN" altLang="en-US" sz="1600" b="1" spc="300" dirty="0">
                <a:solidFill>
                  <a:srgbClr val="FBFFF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79512" y="771550"/>
            <a:ext cx="436880" cy="549275"/>
            <a:chOff x="314008" y="938530"/>
            <a:chExt cx="436880" cy="549275"/>
          </a:xfrm>
        </p:grpSpPr>
        <p:sp>
          <p:nvSpPr>
            <p:cNvPr id="26" name="TextBox 65"/>
            <p:cNvSpPr txBox="1"/>
            <p:nvPr/>
          </p:nvSpPr>
          <p:spPr>
            <a:xfrm>
              <a:off x="314008" y="1242695"/>
              <a:ext cx="436880" cy="245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rgbClr val="0099D8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问题</a:t>
              </a:r>
            </a:p>
          </p:txBody>
        </p:sp>
        <p:pic>
          <p:nvPicPr>
            <p:cNvPr id="27" name="图片 26" descr="疑问 gray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5285" y="938530"/>
              <a:ext cx="314325" cy="314325"/>
            </a:xfrm>
            <a:prstGeom prst="rect">
              <a:avLst/>
            </a:prstGeom>
          </p:spPr>
        </p:pic>
      </p:grpSp>
      <p:grpSp>
        <p:nvGrpSpPr>
          <p:cNvPr id="28" name="组合 27"/>
          <p:cNvGrpSpPr/>
          <p:nvPr/>
        </p:nvGrpSpPr>
        <p:grpSpPr>
          <a:xfrm>
            <a:off x="179512" y="1535564"/>
            <a:ext cx="436880" cy="532130"/>
            <a:chOff x="2317433" y="1741805"/>
            <a:chExt cx="436880" cy="532130"/>
          </a:xfrm>
        </p:grpSpPr>
        <p:sp>
          <p:nvSpPr>
            <p:cNvPr id="29" name="TextBox 65"/>
            <p:cNvSpPr txBox="1"/>
            <p:nvPr/>
          </p:nvSpPr>
          <p:spPr>
            <a:xfrm>
              <a:off x="2317433" y="2028825"/>
              <a:ext cx="436880" cy="245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rgbClr val="0099D8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分析</a:t>
              </a:r>
            </a:p>
          </p:txBody>
        </p:sp>
        <p:pic>
          <p:nvPicPr>
            <p:cNvPr id="30" name="图片 29" descr="C:\Users\Lenovo\Desktop\icon\放大镜.png放大镜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>
            <a:xfrm>
              <a:off x="2396173" y="1741805"/>
              <a:ext cx="279400" cy="280035"/>
            </a:xfrm>
            <a:prstGeom prst="rect">
              <a:avLst/>
            </a:prstGeom>
          </p:spPr>
        </p:pic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</a:t>
            </a:fld>
            <a:r>
              <a:rPr lang="zh-CN" altLang="en-US"/>
              <a:t>/</a:t>
            </a:r>
            <a:r>
              <a:rPr lang="en-US" altLang="zh-CN"/>
              <a:t>37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65338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D38612-982E-478D-B1E0-C6CACFE9C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66EAE9BA-CBED-4881-9E23-C22CE544F6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228" y="1455626"/>
            <a:ext cx="8518005" cy="223224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F2AF4A-F0D4-4230-B663-CEEB98CDF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</a:t>
            </a:fld>
            <a:r>
              <a:rPr lang="zh-CN" altLang="en-US"/>
              <a:t>/</a:t>
            </a:r>
            <a:r>
              <a:rPr lang="en-US" altLang="zh-CN"/>
              <a:t>37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68649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EE4528-E3C3-CCD5-3FE1-780F4AF52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Mybatis</a:t>
            </a:r>
            <a:r>
              <a:rPr lang="zh-CN" altLang="en-US" dirty="0"/>
              <a:t>常用的</a:t>
            </a:r>
            <a:r>
              <a:rPr lang="en-US" altLang="zh-CN" dirty="0"/>
              <a:t>OGNL</a:t>
            </a:r>
            <a:r>
              <a:rPr lang="zh-CN" altLang="en-US" dirty="0"/>
              <a:t>表达式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9AB0E2B4-C7C5-552A-CE56-0317412D08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140" y="1059583"/>
            <a:ext cx="3693460" cy="316835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D9471E-B433-5ED8-E9B7-197658F94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</a:t>
            </a:fld>
            <a:r>
              <a:rPr lang="zh-CN" altLang="en-US"/>
              <a:t>/</a:t>
            </a:r>
            <a:r>
              <a:rPr lang="en-US" altLang="zh-CN"/>
              <a:t>37</a:t>
            </a:r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7B9C941-1FB3-5D3D-B58E-0C9486B22F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60" y="1157234"/>
            <a:ext cx="4787056" cy="339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004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Where</a:t>
            </a:r>
            <a:r>
              <a:rPr lang="zh-CN" altLang="en-US" dirty="0"/>
              <a:t>元素</a:t>
            </a: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545" y="555526"/>
            <a:ext cx="7762875" cy="4128135"/>
          </a:xfrm>
        </p:spPr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当只传入参数：用户角色，而不传入参数：用户名称的时候，控制台报</a:t>
            </a:r>
            <a:r>
              <a:rPr lang="en-US" altLang="zh-CN" dirty="0"/>
              <a:t>SQL</a:t>
            </a:r>
            <a:r>
              <a:rPr lang="zh-CN" altLang="en-US" dirty="0"/>
              <a:t>异常错误？ </a:t>
            </a:r>
            <a:endParaRPr lang="en-US" altLang="zh-CN" dirty="0"/>
          </a:p>
          <a:p>
            <a:endParaRPr lang="en-US" altLang="zh-CN" sz="1800" dirty="0"/>
          </a:p>
          <a:p>
            <a:r>
              <a:rPr lang="zh-CN" altLang="en-US" dirty="0"/>
              <a:t>正确结果</a:t>
            </a:r>
            <a:endParaRPr lang="en-US" altLang="zh-CN" dirty="0"/>
          </a:p>
          <a:p>
            <a:pPr lvl="1"/>
            <a:r>
              <a:rPr lang="zh-CN" altLang="en-US" dirty="0"/>
              <a:t>指定用户角色下的所有用户数据</a:t>
            </a:r>
            <a:endParaRPr lang="en-US" altLang="zh-CN" dirty="0"/>
          </a:p>
          <a:p>
            <a:r>
              <a:rPr lang="zh-CN" altLang="en-US" dirty="0"/>
              <a:t>原因</a:t>
            </a:r>
            <a:endParaRPr lang="en-US" altLang="zh-CN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r>
              <a:rPr lang="zh-CN" altLang="en-US" dirty="0"/>
              <a:t>如何处理</a:t>
            </a:r>
            <a:endParaRPr lang="en-US" altLang="zh-CN" dirty="0"/>
          </a:p>
          <a:p>
            <a:pPr lvl="1"/>
            <a:r>
              <a:rPr lang="en-US" altLang="zh-CN" dirty="0"/>
              <a:t>where</a:t>
            </a:r>
          </a:p>
        </p:txBody>
      </p:sp>
      <p:sp>
        <p:nvSpPr>
          <p:cNvPr id="12" name="AutoShape 12"/>
          <p:cNvSpPr>
            <a:spLocks noChangeArrowheads="1"/>
          </p:cNvSpPr>
          <p:nvPr/>
        </p:nvSpPr>
        <p:spPr bwMode="auto">
          <a:xfrm>
            <a:off x="1237408" y="3435846"/>
            <a:ext cx="6821488" cy="461665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38100" cap="flat" cmpd="sng" algn="ctr">
            <a:solidFill>
              <a:srgbClr val="0099D8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select * from 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smbms_user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  where and  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userRole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 = ?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179512" y="938530"/>
            <a:ext cx="436880" cy="549275"/>
            <a:chOff x="314008" y="938530"/>
            <a:chExt cx="436880" cy="549275"/>
          </a:xfrm>
        </p:grpSpPr>
        <p:sp>
          <p:nvSpPr>
            <p:cNvPr id="16" name="TextBox 65"/>
            <p:cNvSpPr txBox="1"/>
            <p:nvPr/>
          </p:nvSpPr>
          <p:spPr>
            <a:xfrm>
              <a:off x="314008" y="1242695"/>
              <a:ext cx="436880" cy="245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rgbClr val="0099D8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问题</a:t>
              </a:r>
            </a:p>
          </p:txBody>
        </p:sp>
        <p:pic>
          <p:nvPicPr>
            <p:cNvPr id="17" name="图片 16" descr="疑问 gray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5285" y="938530"/>
              <a:ext cx="314325" cy="314325"/>
            </a:xfrm>
            <a:prstGeom prst="rect">
              <a:avLst/>
            </a:prstGeom>
          </p:spPr>
        </p:pic>
      </p:grpSp>
      <p:grpSp>
        <p:nvGrpSpPr>
          <p:cNvPr id="18" name="组合 17"/>
          <p:cNvGrpSpPr/>
          <p:nvPr/>
        </p:nvGrpSpPr>
        <p:grpSpPr>
          <a:xfrm>
            <a:off x="179512" y="2173050"/>
            <a:ext cx="436880" cy="532130"/>
            <a:chOff x="2317433" y="1741805"/>
            <a:chExt cx="436880" cy="532130"/>
          </a:xfrm>
        </p:grpSpPr>
        <p:sp>
          <p:nvSpPr>
            <p:cNvPr id="19" name="TextBox 65"/>
            <p:cNvSpPr txBox="1"/>
            <p:nvPr/>
          </p:nvSpPr>
          <p:spPr>
            <a:xfrm>
              <a:off x="2317433" y="2028825"/>
              <a:ext cx="436880" cy="245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rgbClr val="0099D8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分析</a:t>
              </a:r>
            </a:p>
          </p:txBody>
        </p:sp>
        <p:pic>
          <p:nvPicPr>
            <p:cNvPr id="20" name="图片 19" descr="C:\Users\Lenovo\Desktop\icon\放大镜.png放大镜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2396173" y="1741805"/>
              <a:ext cx="279400" cy="280035"/>
            </a:xfrm>
            <a:prstGeom prst="rect">
              <a:avLst/>
            </a:prstGeom>
          </p:spPr>
        </p:pic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</a:t>
            </a:fld>
            <a:r>
              <a:rPr lang="zh-CN" altLang="en-US" dirty="0"/>
              <a:t>/</a:t>
            </a:r>
            <a:r>
              <a:rPr lang="en-US" altLang="zh-CN" dirty="0"/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2125548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Where</a:t>
            </a:r>
            <a:r>
              <a:rPr lang="zh-CN" altLang="en-US" dirty="0"/>
              <a:t>元素</a:t>
            </a: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where</a:t>
            </a:r>
          </a:p>
          <a:p>
            <a:pPr lvl="1"/>
            <a:r>
              <a:rPr lang="zh-CN" altLang="en-US" dirty="0"/>
              <a:t>简化</a:t>
            </a:r>
            <a:r>
              <a:rPr lang="en-US" altLang="zh-CN" dirty="0"/>
              <a:t>SQL</a:t>
            </a:r>
            <a:r>
              <a:rPr lang="zh-CN" altLang="en-US" dirty="0"/>
              <a:t>语句中</a:t>
            </a:r>
            <a:r>
              <a:rPr lang="en-US" altLang="zh-CN" dirty="0"/>
              <a:t>where</a:t>
            </a:r>
            <a:r>
              <a:rPr lang="zh-CN" altLang="en-US" dirty="0"/>
              <a:t>条件判断</a:t>
            </a:r>
            <a:endParaRPr lang="en-US" altLang="zh-CN" dirty="0"/>
          </a:p>
          <a:p>
            <a:pPr lvl="1"/>
            <a:r>
              <a:rPr lang="zh-CN" altLang="en-US" dirty="0"/>
              <a:t>智能处理</a:t>
            </a:r>
            <a:r>
              <a:rPr lang="en-US" altLang="zh-CN" dirty="0"/>
              <a:t>and</a:t>
            </a:r>
            <a:r>
              <a:rPr lang="zh-CN" altLang="en-US" dirty="0"/>
              <a:t>和</a:t>
            </a:r>
            <a:r>
              <a:rPr lang="en-US" altLang="zh-CN" dirty="0"/>
              <a:t>or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899592" y="4441199"/>
            <a:ext cx="6817844" cy="593633"/>
            <a:chOff x="1403648" y="3795886"/>
            <a:chExt cx="5979555" cy="371891"/>
          </a:xfrm>
        </p:grpSpPr>
        <p:sp>
          <p:nvSpPr>
            <p:cNvPr id="18" name="圆角矩形 17"/>
            <p:cNvSpPr/>
            <p:nvPr/>
          </p:nvSpPr>
          <p:spPr bwMode="auto">
            <a:xfrm>
              <a:off x="1403648" y="3795886"/>
              <a:ext cx="500044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9" name="圆角矩形 18"/>
            <p:cNvSpPr/>
            <p:nvPr/>
          </p:nvSpPr>
          <p:spPr bwMode="auto">
            <a:xfrm>
              <a:off x="1975126" y="3795886"/>
              <a:ext cx="5143330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pic>
          <p:nvPicPr>
            <p:cNvPr id="20" name="Picture 8" descr="说话气泡new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648" y="3827363"/>
              <a:ext cx="571479" cy="256555"/>
            </a:xfrm>
            <a:prstGeom prst="rect">
              <a:avLst/>
            </a:prstGeom>
            <a:noFill/>
            <a:ln>
              <a:noFill/>
            </a:ln>
            <a:effectLst>
              <a:prstShdw prst="shdw13" dist="12700" dir="10800000">
                <a:srgbClr val="0099FF">
                  <a:alpha val="50000"/>
                </a:srgb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" name="TextBox 20"/>
            <p:cNvSpPr txBox="1"/>
            <p:nvPr/>
          </p:nvSpPr>
          <p:spPr bwMode="auto">
            <a:xfrm>
              <a:off x="2009039" y="3829223"/>
              <a:ext cx="5374164" cy="338554"/>
            </a:xfrm>
            <a:prstGeom prst="rect">
              <a:avLst/>
            </a:prstGeom>
            <a:noFill/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演示示例</a:t>
              </a:r>
              <a:r>
                <a:rPr lang="en-US" altLang="zh-CN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  <a:r>
                <a:rPr lang="zh-CN" altLang="en-US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：改造用户表的查询操作</a:t>
              </a:r>
              <a:r>
                <a:rPr lang="en-US" altLang="zh-CN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-</a:t>
              </a:r>
              <a:r>
                <a:rPr lang="en-US" altLang="zh-CN" sz="1600" b="1" spc="300" dirty="0" err="1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if+where</a:t>
              </a:r>
              <a:endParaRPr lang="zh-CN" altLang="en-US" sz="1600" b="1" spc="300" dirty="0">
                <a:solidFill>
                  <a:srgbClr val="FBFFF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12</a:t>
            </a:fld>
            <a:r>
              <a:rPr lang="zh-CN" altLang="en-US"/>
              <a:t>/</a:t>
            </a:r>
            <a:r>
              <a:rPr lang="en-US" altLang="zh-CN"/>
              <a:t>37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93168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0FF868-B516-4C6F-B332-A7913147F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Where</a:t>
            </a:r>
            <a:r>
              <a:rPr lang="zh-CN" altLang="en-US" dirty="0"/>
              <a:t>元素处理 </a:t>
            </a:r>
            <a:r>
              <a:rPr lang="en-US" altLang="zh-CN" sz="1800" dirty="0" err="1">
                <a:solidFill>
                  <a:srgbClr val="3F5FBF"/>
                </a:solidFill>
                <a:latin typeface="Consolas" panose="020B0609020204030204" pitchFamily="49" charset="0"/>
              </a:rPr>
              <a:t>and|or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A0A7FC2A-E387-41B3-9346-72FE487BFA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63" y="1385177"/>
            <a:ext cx="7762875" cy="265572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C21131-4052-444E-AE2D-D25115448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13</a:t>
            </a:fld>
            <a:r>
              <a:rPr lang="zh-CN" altLang="en-US"/>
              <a:t>/</a:t>
            </a:r>
            <a:r>
              <a:rPr lang="en-US" altLang="zh-CN"/>
              <a:t>37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31471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set</a:t>
            </a:r>
            <a:endParaRPr 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545" y="771550"/>
            <a:ext cx="7926903" cy="3394075"/>
          </a:xfrm>
        </p:spPr>
        <p:txBody>
          <a:bodyPr/>
          <a:lstStyle/>
          <a:p>
            <a:endParaRPr lang="en-US" altLang="zh-CN" dirty="0"/>
          </a:p>
          <a:p>
            <a:pPr marL="457200" lvl="1" indent="-457200">
              <a:buFont typeface="Wingdings" panose="05000000000000000000" charset="0"/>
              <a:buChar char=""/>
            </a:pPr>
            <a:r>
              <a:rPr lang="zh-CN" altLang="en-US" b="1" dirty="0">
                <a:solidFill>
                  <a:srgbClr val="0B9FDD"/>
                </a:solidFill>
              </a:rPr>
              <a:t>更新用户表数据时，若某个参数为</a:t>
            </a:r>
            <a:r>
              <a:rPr lang="en-US" altLang="zh-CN" b="1" dirty="0">
                <a:solidFill>
                  <a:srgbClr val="0B9FDD"/>
                </a:solidFill>
              </a:rPr>
              <a:t>null</a:t>
            </a:r>
            <a:r>
              <a:rPr lang="zh-CN" altLang="en-US" b="1" dirty="0">
                <a:solidFill>
                  <a:srgbClr val="0B9FDD"/>
                </a:solidFill>
              </a:rPr>
              <a:t>时，会导致更新错误</a:t>
            </a:r>
            <a:endParaRPr lang="en-US" altLang="zh-CN" dirty="0"/>
          </a:p>
          <a:p>
            <a:endParaRPr lang="en-US" altLang="zh-CN" sz="1800" dirty="0"/>
          </a:p>
          <a:p>
            <a:r>
              <a:rPr lang="zh-CN" altLang="en-US" sz="2200" dirty="0"/>
              <a:t>正确结果</a:t>
            </a:r>
            <a:endParaRPr lang="en-US" altLang="zh-CN" sz="2200" dirty="0"/>
          </a:p>
          <a:p>
            <a:pPr lvl="1"/>
            <a:r>
              <a:rPr lang="zh-CN" altLang="en-US" sz="2000" dirty="0"/>
              <a:t>若某个参数为</a:t>
            </a:r>
            <a:r>
              <a:rPr lang="en-US" altLang="zh-CN" sz="2000" dirty="0"/>
              <a:t>null</a:t>
            </a:r>
            <a:r>
              <a:rPr lang="zh-CN" altLang="en-US" sz="2000" dirty="0"/>
              <a:t>，则不需要更新，保持数据库原值</a:t>
            </a:r>
            <a:endParaRPr lang="en-US" altLang="zh-CN" sz="2000" dirty="0"/>
          </a:p>
          <a:p>
            <a:r>
              <a:rPr lang="zh-CN" altLang="en-US" sz="2200" dirty="0"/>
              <a:t>原因</a:t>
            </a:r>
            <a:endParaRPr lang="en-US" altLang="zh-CN" sz="2200" dirty="0"/>
          </a:p>
          <a:p>
            <a:pPr lvl="1"/>
            <a:r>
              <a:rPr lang="en-US" altLang="zh-CN" sz="2000" dirty="0"/>
              <a:t>SQL</a:t>
            </a:r>
            <a:r>
              <a:rPr lang="zh-CN" altLang="en-US" sz="2000" dirty="0"/>
              <a:t>语句</a:t>
            </a:r>
            <a:endParaRPr lang="en-US" altLang="zh-CN" sz="2000" dirty="0"/>
          </a:p>
          <a:p>
            <a:r>
              <a:rPr lang="zh-CN" altLang="en-US" sz="2200" dirty="0"/>
              <a:t>如何处理</a:t>
            </a:r>
            <a:endParaRPr lang="en-US" altLang="zh-CN" sz="2200" dirty="0"/>
          </a:p>
          <a:p>
            <a:pPr lvl="1"/>
            <a:r>
              <a:rPr lang="en-US" altLang="zh-CN" sz="2000" dirty="0"/>
              <a:t>if</a:t>
            </a:r>
          </a:p>
          <a:p>
            <a:pPr lvl="1"/>
            <a:r>
              <a:rPr lang="en-US" altLang="zh-CN" sz="2000" dirty="0"/>
              <a:t>set</a:t>
            </a:r>
          </a:p>
          <a:p>
            <a:pPr lvl="2"/>
            <a:endParaRPr lang="en-US" altLang="zh-CN" sz="1800" dirty="0"/>
          </a:p>
        </p:txBody>
      </p:sp>
      <p:grpSp>
        <p:nvGrpSpPr>
          <p:cNvPr id="19" name="组合 18"/>
          <p:cNvGrpSpPr/>
          <p:nvPr/>
        </p:nvGrpSpPr>
        <p:grpSpPr>
          <a:xfrm>
            <a:off x="249624" y="987574"/>
            <a:ext cx="505952" cy="648072"/>
            <a:chOff x="314008" y="938530"/>
            <a:chExt cx="436880" cy="549275"/>
          </a:xfrm>
        </p:grpSpPr>
        <p:sp>
          <p:nvSpPr>
            <p:cNvPr id="20" name="TextBox 65"/>
            <p:cNvSpPr txBox="1"/>
            <p:nvPr/>
          </p:nvSpPr>
          <p:spPr>
            <a:xfrm>
              <a:off x="314008" y="1242695"/>
              <a:ext cx="436880" cy="245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rgbClr val="0099D8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问题</a:t>
              </a:r>
            </a:p>
          </p:txBody>
        </p:sp>
        <p:pic>
          <p:nvPicPr>
            <p:cNvPr id="21" name="图片 20" descr="疑问 gray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5285" y="938530"/>
              <a:ext cx="314325" cy="314325"/>
            </a:xfrm>
            <a:prstGeom prst="rect">
              <a:avLst/>
            </a:prstGeom>
          </p:spPr>
        </p:pic>
      </p:grpSp>
      <p:grpSp>
        <p:nvGrpSpPr>
          <p:cNvPr id="22" name="组合 21"/>
          <p:cNvGrpSpPr/>
          <p:nvPr/>
        </p:nvGrpSpPr>
        <p:grpSpPr>
          <a:xfrm>
            <a:off x="239612" y="2099484"/>
            <a:ext cx="515964" cy="651882"/>
            <a:chOff x="2317433" y="1741805"/>
            <a:chExt cx="436880" cy="532130"/>
          </a:xfrm>
        </p:grpSpPr>
        <p:sp>
          <p:nvSpPr>
            <p:cNvPr id="23" name="TextBox 65"/>
            <p:cNvSpPr txBox="1"/>
            <p:nvPr/>
          </p:nvSpPr>
          <p:spPr>
            <a:xfrm>
              <a:off x="2317433" y="2028825"/>
              <a:ext cx="436880" cy="245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rgbClr val="0099D8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分析</a:t>
              </a:r>
            </a:p>
          </p:txBody>
        </p:sp>
        <p:pic>
          <p:nvPicPr>
            <p:cNvPr id="24" name="图片 23" descr="C:\Users\Lenovo\Desktop\icon\放大镜.png放大镜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2396173" y="1741805"/>
              <a:ext cx="279400" cy="280035"/>
            </a:xfrm>
            <a:prstGeom prst="rect">
              <a:avLst/>
            </a:prstGeom>
          </p:spPr>
        </p:pic>
      </p:grpSp>
      <p:grpSp>
        <p:nvGrpSpPr>
          <p:cNvPr id="25" name="组合 24"/>
          <p:cNvGrpSpPr/>
          <p:nvPr/>
        </p:nvGrpSpPr>
        <p:grpSpPr>
          <a:xfrm>
            <a:off x="1048538" y="4617090"/>
            <a:ext cx="5777288" cy="371991"/>
            <a:chOff x="1403648" y="3745364"/>
            <a:chExt cx="5777288" cy="371991"/>
          </a:xfrm>
        </p:grpSpPr>
        <p:sp>
          <p:nvSpPr>
            <p:cNvPr id="26" name="圆角矩形 25"/>
            <p:cNvSpPr/>
            <p:nvPr/>
          </p:nvSpPr>
          <p:spPr bwMode="auto">
            <a:xfrm>
              <a:off x="1403648" y="3795886"/>
              <a:ext cx="500044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7" name="圆角矩形 26"/>
            <p:cNvSpPr/>
            <p:nvPr/>
          </p:nvSpPr>
          <p:spPr bwMode="auto">
            <a:xfrm>
              <a:off x="1975126" y="3795886"/>
              <a:ext cx="5143330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pic>
          <p:nvPicPr>
            <p:cNvPr id="28" name="Picture 8" descr="说话气泡new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648" y="3827363"/>
              <a:ext cx="571479" cy="256555"/>
            </a:xfrm>
            <a:prstGeom prst="rect">
              <a:avLst/>
            </a:prstGeom>
            <a:noFill/>
            <a:ln>
              <a:noFill/>
            </a:ln>
            <a:effectLst>
              <a:prstShdw prst="shdw13" dist="12700" dir="10800000">
                <a:srgbClr val="0099FF">
                  <a:alpha val="50000"/>
                </a:srgb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TextBox 28"/>
            <p:cNvSpPr txBox="1"/>
            <p:nvPr/>
          </p:nvSpPr>
          <p:spPr bwMode="auto">
            <a:xfrm>
              <a:off x="2211306" y="3745364"/>
              <a:ext cx="4969630" cy="338554"/>
            </a:xfrm>
            <a:prstGeom prst="rect">
              <a:avLst/>
            </a:prstGeom>
            <a:noFill/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演示示例</a:t>
              </a:r>
              <a:r>
                <a:rPr lang="en-US" altLang="zh-CN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  <a:r>
                <a:rPr lang="zh-CN" altLang="en-US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：改造用户表的修改操作</a:t>
              </a:r>
              <a:r>
                <a:rPr lang="en-US" altLang="zh-CN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-</a:t>
              </a:r>
              <a:r>
                <a:rPr lang="en-US" altLang="zh-CN" sz="1600" b="1" spc="300" dirty="0" err="1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if+set</a:t>
              </a:r>
              <a:endParaRPr lang="zh-CN" altLang="en-US" sz="1600" b="1" spc="300" dirty="0">
                <a:solidFill>
                  <a:srgbClr val="FBFFF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14</a:t>
            </a:fld>
            <a:r>
              <a:rPr lang="zh-CN" altLang="en-US"/>
              <a:t>/</a:t>
            </a:r>
            <a:r>
              <a:rPr lang="en-US" altLang="zh-CN"/>
              <a:t>37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07202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DAC33D-AD09-49E9-AD9F-87C9136D4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Set</a:t>
            </a:r>
            <a:r>
              <a:rPr lang="zh-CN" altLang="en-US" dirty="0"/>
              <a:t>元素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330FDEA0-5AD4-4A49-8717-198E3B478E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0" y="1630353"/>
            <a:ext cx="7762875" cy="3296563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FBCB6B-2FA6-4F20-BEDD-37BC7806B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15</a:t>
            </a:fld>
            <a:r>
              <a:rPr lang="zh-CN" altLang="en-US"/>
              <a:t>/</a:t>
            </a:r>
            <a:r>
              <a:rPr lang="en-US" altLang="zh-CN"/>
              <a:t>37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1B4DBD4-2DAF-40D6-9C85-815036D137A9}"/>
              </a:ext>
            </a:extLst>
          </p:cNvPr>
          <p:cNvSpPr txBox="1"/>
          <p:nvPr/>
        </p:nvSpPr>
        <p:spPr>
          <a:xfrm>
            <a:off x="611560" y="1192550"/>
            <a:ext cx="7721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当</a:t>
            </a:r>
            <a:r>
              <a:rPr lang="en-US" altLang="zh-CN" dirty="0"/>
              <a:t>set</a:t>
            </a:r>
            <a:r>
              <a:rPr lang="zh-CN" altLang="en-US" dirty="0"/>
              <a:t>包含的元素有返回值时，插入</a:t>
            </a:r>
            <a:r>
              <a:rPr lang="en-US" altLang="zh-CN" dirty="0"/>
              <a:t>set</a:t>
            </a:r>
            <a:r>
              <a:rPr lang="zh-CN" altLang="en-US" dirty="0"/>
              <a:t>；如果</a:t>
            </a:r>
            <a:r>
              <a:rPr lang="en-US" altLang="zh-CN" dirty="0"/>
              <a:t>set</a:t>
            </a:r>
            <a:r>
              <a:rPr lang="zh-CN" altLang="en-US" dirty="0"/>
              <a:t>后面以逗号结尾，将其剔除</a:t>
            </a:r>
          </a:p>
        </p:txBody>
      </p:sp>
    </p:spTree>
    <p:extLst>
      <p:ext uri="{BB962C8B-B14F-4D97-AF65-F5344CB8AC3E}">
        <p14:creationId xmlns:p14="http://schemas.microsoft.com/office/powerpoint/2010/main" val="1050145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trim</a:t>
            </a:r>
            <a:r>
              <a:rPr lang="zh-CN" altLang="en-US" dirty="0"/>
              <a:t>元素</a:t>
            </a: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trim</a:t>
            </a:r>
          </a:p>
          <a:p>
            <a:pPr lvl="1"/>
            <a:r>
              <a:rPr lang="zh-CN" altLang="en-US" dirty="0"/>
              <a:t>属性</a:t>
            </a:r>
            <a:endParaRPr lang="en-US" altLang="zh-CN" dirty="0"/>
          </a:p>
          <a:p>
            <a:pPr lvl="2"/>
            <a:r>
              <a:rPr lang="en-US" altLang="zh-CN" dirty="0"/>
              <a:t>prefix</a:t>
            </a:r>
          </a:p>
          <a:p>
            <a:pPr lvl="2"/>
            <a:r>
              <a:rPr lang="en-US" altLang="zh-CN" dirty="0"/>
              <a:t>suffix</a:t>
            </a:r>
          </a:p>
          <a:p>
            <a:pPr lvl="2"/>
            <a:r>
              <a:rPr lang="en-US" altLang="zh-CN" dirty="0" err="1"/>
              <a:t>prefixOverrides</a:t>
            </a:r>
            <a:endParaRPr lang="en-US" altLang="zh-CN" dirty="0"/>
          </a:p>
          <a:p>
            <a:pPr lvl="2"/>
            <a:r>
              <a:rPr lang="en-US" altLang="zh-CN" dirty="0" err="1"/>
              <a:t>suffixOverrides</a:t>
            </a:r>
            <a:endParaRPr lang="en-US" altLang="zh-CN" dirty="0"/>
          </a:p>
          <a:p>
            <a:pPr lvl="1"/>
            <a:r>
              <a:rPr lang="zh-CN" altLang="en-US" dirty="0"/>
              <a:t>更灵活地去除多余关键字</a:t>
            </a:r>
            <a:endParaRPr lang="en-US" altLang="zh-CN" dirty="0"/>
          </a:p>
          <a:p>
            <a:pPr lvl="1"/>
            <a:r>
              <a:rPr lang="zh-CN" altLang="en-US" dirty="0"/>
              <a:t>替代</a:t>
            </a:r>
            <a:r>
              <a:rPr lang="en-US" altLang="zh-CN" dirty="0"/>
              <a:t>where</a:t>
            </a:r>
            <a:r>
              <a:rPr lang="zh-CN" altLang="en-US" dirty="0"/>
              <a:t>和</a:t>
            </a:r>
            <a:r>
              <a:rPr lang="en-US" altLang="zh-CN" dirty="0"/>
              <a:t>set</a:t>
            </a:r>
          </a:p>
          <a:p>
            <a:pPr lvl="1"/>
            <a:endParaRPr lang="en-US" altLang="zh-CN" dirty="0"/>
          </a:p>
        </p:txBody>
      </p:sp>
      <p:grpSp>
        <p:nvGrpSpPr>
          <p:cNvPr id="16" name="组合 15"/>
          <p:cNvGrpSpPr/>
          <p:nvPr/>
        </p:nvGrpSpPr>
        <p:grpSpPr>
          <a:xfrm>
            <a:off x="1036250" y="4587974"/>
            <a:ext cx="5860997" cy="371891"/>
            <a:chOff x="1403648" y="3795886"/>
            <a:chExt cx="5860997" cy="371891"/>
          </a:xfrm>
        </p:grpSpPr>
        <p:sp>
          <p:nvSpPr>
            <p:cNvPr id="18" name="圆角矩形 17"/>
            <p:cNvSpPr/>
            <p:nvPr/>
          </p:nvSpPr>
          <p:spPr bwMode="auto">
            <a:xfrm>
              <a:off x="1403648" y="3795886"/>
              <a:ext cx="500044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9" name="圆角矩形 18"/>
            <p:cNvSpPr/>
            <p:nvPr/>
          </p:nvSpPr>
          <p:spPr bwMode="auto">
            <a:xfrm>
              <a:off x="1975126" y="3795886"/>
              <a:ext cx="5143330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pic>
          <p:nvPicPr>
            <p:cNvPr id="20" name="Picture 8" descr="说话气泡new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648" y="3827363"/>
              <a:ext cx="571479" cy="256555"/>
            </a:xfrm>
            <a:prstGeom prst="rect">
              <a:avLst/>
            </a:prstGeom>
            <a:noFill/>
            <a:ln>
              <a:noFill/>
            </a:ln>
            <a:effectLst>
              <a:prstShdw prst="shdw13" dist="12700" dir="10800000">
                <a:srgbClr val="0099FF">
                  <a:alpha val="50000"/>
                </a:srgb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" name="TextBox 20"/>
            <p:cNvSpPr txBox="1"/>
            <p:nvPr/>
          </p:nvSpPr>
          <p:spPr bwMode="auto">
            <a:xfrm>
              <a:off x="2127597" y="3829223"/>
              <a:ext cx="5137048" cy="338554"/>
            </a:xfrm>
            <a:prstGeom prst="rect">
              <a:avLst/>
            </a:prstGeom>
            <a:noFill/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演示示例</a:t>
              </a:r>
              <a:r>
                <a:rPr lang="en-US" altLang="zh-CN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5</a:t>
              </a:r>
              <a:r>
                <a:rPr lang="zh-CN" altLang="en-US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：改造用户表的查询操作</a:t>
              </a:r>
              <a:r>
                <a:rPr lang="en-US" altLang="zh-CN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-</a:t>
              </a:r>
              <a:r>
                <a:rPr lang="en-US" altLang="zh-CN" sz="1600" b="1" spc="300" dirty="0" err="1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if+trim</a:t>
              </a:r>
              <a:endParaRPr lang="zh-CN" altLang="en-US" sz="1600" b="1" spc="300" dirty="0">
                <a:solidFill>
                  <a:srgbClr val="FBFFF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16</a:t>
            </a:fld>
            <a:r>
              <a:rPr lang="zh-CN" altLang="en-US"/>
              <a:t>/</a:t>
            </a:r>
            <a:r>
              <a:rPr lang="en-US" altLang="zh-CN"/>
              <a:t>37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08802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trim</a:t>
            </a:r>
            <a:r>
              <a:rPr lang="zh-CN" altLang="en-US" dirty="0"/>
              <a:t>元素</a:t>
            </a: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27" name="内容占位符 2"/>
          <p:cNvSpPr>
            <a:spLocks noGrp="1"/>
          </p:cNvSpPr>
          <p:nvPr>
            <p:ph idx="1"/>
          </p:nvPr>
        </p:nvSpPr>
        <p:spPr>
          <a:xfrm>
            <a:off x="781353" y="729213"/>
            <a:ext cx="7762875" cy="3872996"/>
          </a:xfrm>
        </p:spPr>
        <p:txBody>
          <a:bodyPr/>
          <a:lstStyle/>
          <a:p>
            <a:r>
              <a:rPr lang="en-US" altLang="zh-CN" dirty="0" err="1"/>
              <a:t>if+trim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en-US" altLang="zh-CN" dirty="0" err="1"/>
              <a:t>if+trim</a:t>
            </a:r>
            <a:r>
              <a:rPr lang="zh-CN" altLang="en-US" dirty="0"/>
              <a:t>替代</a:t>
            </a:r>
            <a:r>
              <a:rPr lang="en-US" altLang="zh-CN" dirty="0" err="1"/>
              <a:t>if+set</a:t>
            </a:r>
            <a:r>
              <a:rPr lang="zh-CN" altLang="en-US" dirty="0"/>
              <a:t>进行更新用户表数据，效果一样</a:t>
            </a:r>
            <a:endParaRPr lang="en-US" altLang="zh-CN" dirty="0"/>
          </a:p>
        </p:txBody>
      </p:sp>
      <p:sp>
        <p:nvSpPr>
          <p:cNvPr id="17" name="AutoShape 12"/>
          <p:cNvSpPr>
            <a:spLocks noChangeArrowheads="1"/>
          </p:cNvSpPr>
          <p:nvPr/>
        </p:nvSpPr>
        <p:spPr bwMode="auto">
          <a:xfrm>
            <a:off x="305898" y="1950968"/>
            <a:ext cx="8713787" cy="2492990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38100" cap="flat" cmpd="sng" algn="ctr">
            <a:solidFill>
              <a:srgbClr val="0099D8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&lt;update id ="modify" 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parameterType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="User"&gt;</a:t>
            </a:r>
          </a:p>
          <a:p>
            <a:pPr lvl="1"/>
            <a:r>
              <a:rPr lang="en-US" altLang="zh-CN" b="1" dirty="0"/>
              <a:t>update </a:t>
            </a:r>
            <a:r>
              <a:rPr lang="en-US" altLang="zh-CN" b="1" dirty="0" err="1"/>
              <a:t>smbms_user</a:t>
            </a:r>
            <a:endParaRPr lang="en-US" altLang="zh-CN" b="1" dirty="0"/>
          </a:p>
          <a:p>
            <a:pPr lvl="1"/>
            <a:r>
              <a:rPr lang="en-US" altLang="zh-CN" b="1" dirty="0"/>
              <a:t>&lt;trim prefix="set" </a:t>
            </a:r>
            <a:r>
              <a:rPr lang="en-US" altLang="zh-CN" b="1" dirty="0" err="1"/>
              <a:t>suffixOverrides</a:t>
            </a:r>
            <a:r>
              <a:rPr lang="en-US" altLang="zh-CN" b="1" dirty="0"/>
              <a:t>="," suffix="where id = #{id}"&gt;	</a:t>
            </a:r>
          </a:p>
          <a:p>
            <a:pPr lvl="1"/>
            <a:r>
              <a:rPr lang="en-US" altLang="zh-CN" b="1" dirty="0"/>
              <a:t>	&lt;if test="</a:t>
            </a:r>
            <a:r>
              <a:rPr lang="en-US" altLang="zh-CN" b="1" dirty="0" err="1"/>
              <a:t>userCode</a:t>
            </a:r>
            <a:r>
              <a:rPr lang="en-US" altLang="zh-CN" b="1" dirty="0"/>
              <a:t> != null"&gt;</a:t>
            </a:r>
            <a:r>
              <a:rPr lang="en-US" altLang="zh-CN" b="1" dirty="0" err="1"/>
              <a:t>userCode</a:t>
            </a:r>
            <a:r>
              <a:rPr lang="en-US" altLang="zh-CN" b="1" dirty="0"/>
              <a:t> = #{</a:t>
            </a:r>
            <a:r>
              <a:rPr lang="en-US" altLang="zh-CN" b="1" dirty="0" err="1"/>
              <a:t>userCode</a:t>
            </a:r>
            <a:r>
              <a:rPr lang="en-US" altLang="zh-CN" b="1" dirty="0"/>
              <a:t>},&lt;/if&gt;</a:t>
            </a:r>
          </a:p>
          <a:p>
            <a:pPr lvl="1"/>
            <a:r>
              <a:rPr lang="en-US" altLang="zh-CN" b="1" dirty="0"/>
              <a:t>	&lt;if test="</a:t>
            </a:r>
            <a:r>
              <a:rPr lang="en-US" altLang="zh-CN" b="1" dirty="0" err="1"/>
              <a:t>userName</a:t>
            </a:r>
            <a:r>
              <a:rPr lang="en-US" altLang="zh-CN" b="1" dirty="0"/>
              <a:t>!= null"&gt;</a:t>
            </a:r>
            <a:r>
              <a:rPr lang="en-US" altLang="zh-CN" b="1" dirty="0" err="1"/>
              <a:t>userName</a:t>
            </a:r>
            <a:r>
              <a:rPr lang="en-US" altLang="zh-CN" b="1" dirty="0"/>
              <a:t> = #{userName },&lt;/if&gt;</a:t>
            </a:r>
          </a:p>
          <a:p>
            <a:pPr lvl="1"/>
            <a:r>
              <a:rPr lang="en-US" altLang="zh-CN" b="1" dirty="0"/>
              <a:t>	&lt;if test="</a:t>
            </a:r>
            <a:r>
              <a:rPr lang="en-US" altLang="zh-CN" b="1" dirty="0" err="1"/>
              <a:t>userPassword</a:t>
            </a:r>
            <a:r>
              <a:rPr lang="en-US" altLang="zh-CN" b="1" dirty="0"/>
              <a:t>!= null"&gt;</a:t>
            </a:r>
            <a:r>
              <a:rPr lang="en-US" altLang="zh-CN" b="1" dirty="0" err="1"/>
              <a:t>userPassword</a:t>
            </a:r>
            <a:r>
              <a:rPr lang="en-US" altLang="zh-CN" b="1" dirty="0"/>
              <a:t>=#{</a:t>
            </a:r>
            <a:r>
              <a:rPr lang="en-US" altLang="zh-CN" b="1" dirty="0" err="1"/>
              <a:t>userPassword</a:t>
            </a:r>
            <a:r>
              <a:rPr lang="en-US" altLang="zh-CN" b="1" dirty="0"/>
              <a:t> },&lt;/if&gt;</a:t>
            </a:r>
          </a:p>
          <a:p>
            <a:pPr lvl="1"/>
            <a:r>
              <a:rPr lang="en-US" altLang="zh-CN" b="1" dirty="0"/>
              <a:t>&lt;/trim&gt;</a:t>
            </a:r>
          </a:p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&lt;/update&gt;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179512" y="1419622"/>
            <a:ext cx="436880" cy="531495"/>
            <a:chOff x="3548698" y="2423160"/>
            <a:chExt cx="436880" cy="531495"/>
          </a:xfrm>
        </p:grpSpPr>
        <p:sp>
          <p:nvSpPr>
            <p:cNvPr id="20" name="TextBox 65"/>
            <p:cNvSpPr txBox="1"/>
            <p:nvPr/>
          </p:nvSpPr>
          <p:spPr>
            <a:xfrm>
              <a:off x="3548698" y="2709545"/>
              <a:ext cx="436880" cy="245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rgbClr val="0099D8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示例</a:t>
              </a:r>
            </a:p>
          </p:txBody>
        </p:sp>
        <p:pic>
          <p:nvPicPr>
            <p:cNvPr id="21" name="图片 20" descr="C:\Users\Lenovo\Desktop\icon\电脑.png电脑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627438" y="2423160"/>
              <a:ext cx="279400" cy="278765"/>
            </a:xfrm>
            <a:prstGeom prst="rect">
              <a:avLst/>
            </a:prstGeom>
          </p:spPr>
        </p:pic>
      </p:grpSp>
      <p:grpSp>
        <p:nvGrpSpPr>
          <p:cNvPr id="22" name="组合 21"/>
          <p:cNvGrpSpPr/>
          <p:nvPr/>
        </p:nvGrpSpPr>
        <p:grpSpPr>
          <a:xfrm>
            <a:off x="1066524" y="4587974"/>
            <a:ext cx="5860997" cy="371891"/>
            <a:chOff x="1403648" y="3795886"/>
            <a:chExt cx="5860997" cy="371891"/>
          </a:xfrm>
        </p:grpSpPr>
        <p:sp>
          <p:nvSpPr>
            <p:cNvPr id="23" name="圆角矩形 22"/>
            <p:cNvSpPr/>
            <p:nvPr/>
          </p:nvSpPr>
          <p:spPr bwMode="auto">
            <a:xfrm>
              <a:off x="1403648" y="3795886"/>
              <a:ext cx="500044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4" name="圆角矩形 23"/>
            <p:cNvSpPr/>
            <p:nvPr/>
          </p:nvSpPr>
          <p:spPr bwMode="auto">
            <a:xfrm>
              <a:off x="1975126" y="3795886"/>
              <a:ext cx="5143330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pic>
          <p:nvPicPr>
            <p:cNvPr id="25" name="Picture 8" descr="说话气泡new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648" y="3827363"/>
              <a:ext cx="571479" cy="256555"/>
            </a:xfrm>
            <a:prstGeom prst="rect">
              <a:avLst/>
            </a:prstGeom>
            <a:noFill/>
            <a:ln>
              <a:noFill/>
            </a:ln>
            <a:effectLst>
              <a:prstShdw prst="shdw13" dist="12700" dir="10800000">
                <a:srgbClr val="0099FF">
                  <a:alpha val="50000"/>
                </a:srgb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TextBox 25"/>
            <p:cNvSpPr txBox="1"/>
            <p:nvPr/>
          </p:nvSpPr>
          <p:spPr bwMode="auto">
            <a:xfrm>
              <a:off x="2127597" y="3829223"/>
              <a:ext cx="5137048" cy="338554"/>
            </a:xfrm>
            <a:prstGeom prst="rect">
              <a:avLst/>
            </a:prstGeom>
            <a:noFill/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演示示例</a:t>
              </a:r>
              <a:r>
                <a:rPr lang="en-US" altLang="zh-CN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6</a:t>
              </a:r>
              <a:r>
                <a:rPr lang="zh-CN" altLang="en-US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：改造用户表的修改操作</a:t>
              </a:r>
              <a:r>
                <a:rPr lang="en-US" altLang="zh-CN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-</a:t>
              </a:r>
              <a:r>
                <a:rPr lang="en-US" altLang="zh-CN" sz="1600" b="1" spc="300" dirty="0" err="1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if+trim</a:t>
              </a:r>
              <a:endParaRPr lang="zh-CN" altLang="en-US" sz="1600" b="1" spc="300" dirty="0">
                <a:solidFill>
                  <a:srgbClr val="FBFFF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17</a:t>
            </a:fld>
            <a:r>
              <a:rPr lang="zh-CN" altLang="en-US"/>
              <a:t>/</a:t>
            </a:r>
            <a:r>
              <a:rPr lang="en-US" altLang="zh-CN"/>
              <a:t>37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66560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foreach</a:t>
            </a:r>
            <a:r>
              <a:rPr lang="zh-CN" altLang="en-US" dirty="0"/>
              <a:t>元素</a:t>
            </a: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545" y="771551"/>
            <a:ext cx="7762875" cy="3637890"/>
          </a:xfrm>
        </p:spPr>
        <p:txBody>
          <a:bodyPr/>
          <a:lstStyle/>
          <a:p>
            <a:r>
              <a:rPr lang="en-US" altLang="zh-CN" dirty="0" err="1"/>
              <a:t>foreach</a:t>
            </a:r>
            <a:endParaRPr lang="en-US" altLang="zh-CN" dirty="0"/>
          </a:p>
          <a:p>
            <a:pPr lvl="1"/>
            <a:r>
              <a:rPr lang="zh-CN" altLang="en-US" dirty="0"/>
              <a:t>迭代一个集合，通常用于</a:t>
            </a:r>
            <a:r>
              <a:rPr lang="en-US" altLang="zh-CN" dirty="0"/>
              <a:t>in</a:t>
            </a:r>
            <a:r>
              <a:rPr lang="zh-CN" altLang="en-US" dirty="0"/>
              <a:t>条件</a:t>
            </a:r>
            <a:endParaRPr lang="en-US" altLang="zh-CN" dirty="0"/>
          </a:p>
          <a:p>
            <a:pPr lvl="1"/>
            <a:r>
              <a:rPr lang="zh-CN" altLang="en-US" dirty="0"/>
              <a:t>属性</a:t>
            </a:r>
            <a:endParaRPr lang="en-US" altLang="zh-CN" dirty="0"/>
          </a:p>
          <a:p>
            <a:pPr lvl="2"/>
            <a:r>
              <a:rPr lang="en-US" altLang="zh-CN" dirty="0"/>
              <a:t>item</a:t>
            </a:r>
          </a:p>
          <a:p>
            <a:pPr lvl="2"/>
            <a:r>
              <a:rPr lang="en-US" altLang="zh-CN" dirty="0"/>
              <a:t>index</a:t>
            </a:r>
          </a:p>
          <a:p>
            <a:pPr lvl="2"/>
            <a:r>
              <a:rPr lang="en-US" altLang="zh-CN" dirty="0">
                <a:solidFill>
                  <a:srgbClr val="FF0000"/>
                </a:solidFill>
              </a:rPr>
              <a:t>collection:</a:t>
            </a:r>
            <a:r>
              <a:rPr lang="zh-CN" altLang="en-US" dirty="0">
                <a:solidFill>
                  <a:srgbClr val="FF0000"/>
                </a:solidFill>
              </a:rPr>
              <a:t>必须指定</a:t>
            </a:r>
            <a:endParaRPr lang="en-US" altLang="zh-CN" dirty="0">
              <a:solidFill>
                <a:srgbClr val="FF0000"/>
              </a:solidFill>
            </a:endParaRPr>
          </a:p>
          <a:p>
            <a:pPr lvl="3"/>
            <a:r>
              <a:rPr lang="en-US" altLang="zh-CN" dirty="0"/>
              <a:t>list</a:t>
            </a:r>
          </a:p>
          <a:p>
            <a:pPr lvl="3"/>
            <a:r>
              <a:rPr lang="en-US" altLang="zh-CN" dirty="0"/>
              <a:t>array</a:t>
            </a:r>
          </a:p>
          <a:p>
            <a:pPr lvl="3"/>
            <a:r>
              <a:rPr lang="en-US" altLang="zh-CN" dirty="0"/>
              <a:t>map-key</a:t>
            </a:r>
          </a:p>
          <a:p>
            <a:pPr lvl="2"/>
            <a:r>
              <a:rPr lang="en-US" altLang="zh-CN" dirty="0"/>
              <a:t>open</a:t>
            </a:r>
          </a:p>
          <a:p>
            <a:pPr lvl="2"/>
            <a:r>
              <a:rPr lang="en-US" altLang="zh-CN" dirty="0"/>
              <a:t>separator</a:t>
            </a:r>
          </a:p>
          <a:p>
            <a:pPr lvl="2"/>
            <a:r>
              <a:rPr lang="en-US" altLang="zh-CN" dirty="0"/>
              <a:t>close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18</a:t>
            </a:fld>
            <a:r>
              <a:rPr lang="zh-CN" altLang="en-US"/>
              <a:t>/</a:t>
            </a:r>
            <a:r>
              <a:rPr lang="en-US" altLang="zh-CN"/>
              <a:t>37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271275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foreach</a:t>
            </a:r>
            <a:r>
              <a:rPr lang="zh-CN" altLang="en-US" dirty="0"/>
              <a:t>元素</a:t>
            </a: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9751" y="977199"/>
            <a:ext cx="7762875" cy="3394075"/>
          </a:xfrm>
        </p:spPr>
        <p:txBody>
          <a:bodyPr/>
          <a:lstStyle/>
          <a:p>
            <a:r>
              <a:rPr lang="zh-CN" altLang="en-US" sz="2200" dirty="0"/>
              <a:t>需求说明：</a:t>
            </a:r>
            <a:endParaRPr lang="en-US" altLang="zh-CN" sz="2200" dirty="0"/>
          </a:p>
          <a:p>
            <a:pPr lvl="1"/>
            <a:r>
              <a:rPr lang="zh-CN" altLang="en-US" sz="2000" dirty="0"/>
              <a:t>指定用户角色</a:t>
            </a:r>
            <a:r>
              <a:rPr lang="en-US" altLang="zh-CN" sz="2000" dirty="0"/>
              <a:t>(1-n</a:t>
            </a:r>
            <a:r>
              <a:rPr lang="zh-CN" altLang="en-US" sz="2000" dirty="0"/>
              <a:t>个</a:t>
            </a:r>
            <a:r>
              <a:rPr lang="en-US" altLang="zh-CN" sz="2000" dirty="0"/>
              <a:t>)</a:t>
            </a:r>
            <a:r>
              <a:rPr lang="zh-CN" altLang="en-US" sz="2000" dirty="0"/>
              <a:t>，获取这些用户角色下的用户列表信息</a:t>
            </a:r>
            <a:endParaRPr lang="en-US" altLang="zh-CN" sz="2000" dirty="0"/>
          </a:p>
          <a:p>
            <a:pPr lvl="1"/>
            <a:endParaRPr lang="en-US" altLang="zh-CN" sz="1600" dirty="0"/>
          </a:p>
          <a:p>
            <a:r>
              <a:rPr lang="zh-CN" altLang="en-US" sz="2200" dirty="0"/>
              <a:t>查询</a:t>
            </a:r>
            <a:r>
              <a:rPr lang="en-US" altLang="zh-CN" sz="2200" dirty="0"/>
              <a:t>SQL</a:t>
            </a:r>
            <a:r>
              <a:rPr lang="zh-CN" altLang="en-US" sz="2200" dirty="0"/>
              <a:t>语句含有</a:t>
            </a:r>
            <a:r>
              <a:rPr lang="en-US" altLang="zh-CN" sz="2200" dirty="0"/>
              <a:t>in</a:t>
            </a:r>
            <a:r>
              <a:rPr lang="zh-CN" altLang="en-US" sz="2200" dirty="0"/>
              <a:t>条件</a:t>
            </a:r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2200" dirty="0"/>
              <a:t>使用</a:t>
            </a:r>
            <a:r>
              <a:rPr lang="en-US" altLang="zh-CN" sz="2200" dirty="0" err="1"/>
              <a:t>foreach</a:t>
            </a:r>
            <a:r>
              <a:rPr lang="zh-CN" altLang="en-US" sz="2200" dirty="0"/>
              <a:t>实现</a:t>
            </a:r>
            <a:endParaRPr lang="en-US" altLang="zh-CN" sz="2200" dirty="0"/>
          </a:p>
          <a:p>
            <a:pPr lvl="1"/>
            <a:r>
              <a:rPr lang="zh-CN" altLang="en-US" sz="2000" dirty="0"/>
              <a:t>参数：用户角色列表</a:t>
            </a:r>
            <a:endParaRPr lang="en-US" altLang="zh-CN" sz="2000" dirty="0"/>
          </a:p>
          <a:p>
            <a:pPr lvl="1"/>
            <a:r>
              <a:rPr lang="zh-CN" altLang="en-US" sz="2000" dirty="0"/>
              <a:t>参数类型：数组</a:t>
            </a:r>
            <a:endParaRPr lang="en-US" altLang="zh-CN" sz="2000" dirty="0"/>
          </a:p>
        </p:txBody>
      </p:sp>
      <p:sp>
        <p:nvSpPr>
          <p:cNvPr id="21" name="AutoShape 12"/>
          <p:cNvSpPr>
            <a:spLocks noChangeArrowheads="1"/>
          </p:cNvSpPr>
          <p:nvPr/>
        </p:nvSpPr>
        <p:spPr bwMode="auto">
          <a:xfrm>
            <a:off x="1403648" y="2503024"/>
            <a:ext cx="5830887" cy="830997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38100" cap="flat" cmpd="sng" algn="ctr">
            <a:solidFill>
              <a:srgbClr val="0099D8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  <a:ea typeface="微软雅黑" panose="020B0503020204020204" pitchFamily="34" charset="-122"/>
              </a:rPr>
              <a:t>select * from 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  <a:ea typeface="微软雅黑" panose="020B0503020204020204" pitchFamily="34" charset="-122"/>
              </a:rPr>
              <a:t>smbms_user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  <a:ea typeface="微软雅黑" panose="020B0503020204020204" pitchFamily="34" charset="-122"/>
              </a:rPr>
              <a:t> </a:t>
            </a:r>
          </a:p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  <a:ea typeface="微软雅黑" panose="020B0503020204020204" pitchFamily="34" charset="-122"/>
              </a:rPr>
              <a:t>	where 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  <a:ea typeface="微软雅黑" panose="020B0503020204020204" pitchFamily="34" charset="-122"/>
              </a:rPr>
              <a:t>userRole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  <a:ea typeface="微软雅黑" panose="020B0503020204020204" pitchFamily="34" charset="-122"/>
              </a:rPr>
              <a:t> in (</a:t>
            </a:r>
            <a:r>
              <a:rPr lang="zh-CN" altLang="en-US" sz="1600" b="1" dirty="0">
                <a:solidFill>
                  <a:schemeClr val="accent5">
                    <a:lumMod val="10000"/>
                  </a:schemeClr>
                </a:solidFill>
                <a:ea typeface="微软雅黑" panose="020B0503020204020204" pitchFamily="34" charset="-122"/>
              </a:rPr>
              <a:t>参数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  <a:ea typeface="微软雅黑" panose="020B0503020204020204" pitchFamily="34" charset="-122"/>
              </a:rPr>
              <a:t>1,</a:t>
            </a:r>
            <a:r>
              <a:rPr lang="zh-CN" altLang="en-US" sz="1600" b="1" dirty="0">
                <a:solidFill>
                  <a:schemeClr val="accent5">
                    <a:lumMod val="10000"/>
                  </a:schemeClr>
                </a:solidFill>
                <a:ea typeface="微软雅黑" panose="020B0503020204020204" pitchFamily="34" charset="-122"/>
              </a:rPr>
              <a:t>参数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  <a:ea typeface="微软雅黑" panose="020B0503020204020204" pitchFamily="34" charset="-122"/>
              </a:rPr>
              <a:t>2,</a:t>
            </a:r>
            <a:r>
              <a:rPr lang="zh-CN" altLang="en-US" sz="1600" b="1" dirty="0">
                <a:solidFill>
                  <a:schemeClr val="accent5">
                    <a:lumMod val="10000"/>
                  </a:schemeClr>
                </a:solidFill>
                <a:ea typeface="微软雅黑" panose="020B0503020204020204" pitchFamily="34" charset="-122"/>
              </a:rPr>
              <a:t>参数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  <a:ea typeface="微软雅黑" panose="020B0503020204020204" pitchFamily="34" charset="-122"/>
              </a:rPr>
              <a:t>3…);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251520" y="1967612"/>
            <a:ext cx="436880" cy="532130"/>
            <a:chOff x="2317433" y="1741805"/>
            <a:chExt cx="436880" cy="532130"/>
          </a:xfrm>
        </p:grpSpPr>
        <p:sp>
          <p:nvSpPr>
            <p:cNvPr id="22" name="TextBox 65"/>
            <p:cNvSpPr txBox="1"/>
            <p:nvPr/>
          </p:nvSpPr>
          <p:spPr>
            <a:xfrm>
              <a:off x="2317433" y="2028825"/>
              <a:ext cx="436880" cy="245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rgbClr val="0099D8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分析</a:t>
              </a:r>
            </a:p>
          </p:txBody>
        </p:sp>
        <p:pic>
          <p:nvPicPr>
            <p:cNvPr id="23" name="图片 22" descr="C:\Users\Lenovo\Desktop\icon\放大镜.png放大镜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2396173" y="1741805"/>
              <a:ext cx="279400" cy="280035"/>
            </a:xfrm>
            <a:prstGeom prst="rect">
              <a:avLst/>
            </a:prstGeom>
          </p:spPr>
        </p:pic>
      </p:grpSp>
      <p:grpSp>
        <p:nvGrpSpPr>
          <p:cNvPr id="24" name="组合 23"/>
          <p:cNvGrpSpPr/>
          <p:nvPr/>
        </p:nvGrpSpPr>
        <p:grpSpPr>
          <a:xfrm>
            <a:off x="534022" y="4572269"/>
            <a:ext cx="7832468" cy="591769"/>
            <a:chOff x="1403648" y="3795886"/>
            <a:chExt cx="5714809" cy="460799"/>
          </a:xfrm>
        </p:grpSpPr>
        <p:sp>
          <p:nvSpPr>
            <p:cNvPr id="25" name="圆角矩形 24"/>
            <p:cNvSpPr/>
            <p:nvPr/>
          </p:nvSpPr>
          <p:spPr bwMode="auto">
            <a:xfrm>
              <a:off x="1403648" y="3795886"/>
              <a:ext cx="500044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6" name="圆角矩形 25"/>
            <p:cNvSpPr/>
            <p:nvPr/>
          </p:nvSpPr>
          <p:spPr bwMode="auto">
            <a:xfrm>
              <a:off x="1975126" y="3795886"/>
              <a:ext cx="5143330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pic>
          <p:nvPicPr>
            <p:cNvPr id="27" name="Picture 8" descr="说话气泡new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648" y="3827363"/>
              <a:ext cx="571479" cy="256555"/>
            </a:xfrm>
            <a:prstGeom prst="rect">
              <a:avLst/>
            </a:prstGeom>
            <a:noFill/>
            <a:ln>
              <a:noFill/>
            </a:ln>
            <a:effectLst>
              <a:prstShdw prst="shdw13" dist="12700" dir="10800000">
                <a:srgbClr val="0099FF">
                  <a:alpha val="50000"/>
                </a:srgb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TextBox 27"/>
            <p:cNvSpPr txBox="1"/>
            <p:nvPr/>
          </p:nvSpPr>
          <p:spPr bwMode="auto">
            <a:xfrm>
              <a:off x="1975128" y="3829223"/>
              <a:ext cx="5143329" cy="427462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zh-CN" altLang="en-US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演示示例</a:t>
              </a:r>
              <a:r>
                <a:rPr lang="en-US" altLang="zh-CN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7</a:t>
              </a:r>
              <a:r>
                <a:rPr lang="zh-CN" altLang="en-US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：获取指定用户角色下用户列表</a:t>
              </a:r>
              <a:r>
                <a:rPr lang="en-US" altLang="zh-CN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-</a:t>
              </a:r>
              <a:r>
                <a:rPr lang="en-US" altLang="zh-CN" sz="1600" b="1" spc="300" dirty="0" err="1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foreach_array</a:t>
              </a:r>
              <a:endParaRPr lang="zh-CN" altLang="en-US" sz="1600" b="1" spc="300" dirty="0">
                <a:solidFill>
                  <a:srgbClr val="FBFFF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19</a:t>
            </a:fld>
            <a:r>
              <a:rPr lang="zh-CN" altLang="en-US"/>
              <a:t>/</a:t>
            </a:r>
            <a:r>
              <a:rPr lang="en-US" altLang="zh-CN"/>
              <a:t>37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97344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590F03-64BC-4280-8FB9-C313D953A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D2946548-BCEE-4663-A481-C7D99C8021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688" y="2227206"/>
            <a:ext cx="7762875" cy="1315859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F554B7-3FFF-43BC-B550-918121D57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20</a:t>
            </a:fld>
            <a:r>
              <a:rPr lang="zh-CN" altLang="en-US"/>
              <a:t>/</a:t>
            </a:r>
            <a:r>
              <a:rPr lang="en-US" altLang="zh-CN"/>
              <a:t>37</a:t>
            </a:r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9554E2E-B27A-41B0-9929-CF4C3A2C77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728" y="3822192"/>
            <a:ext cx="5559896" cy="108238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444AE3F-E0B4-44EC-AFB6-372A83C0D8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728" y="709355"/>
            <a:ext cx="7104087" cy="137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4744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foreach</a:t>
            </a:r>
            <a:r>
              <a:rPr lang="en-US" altLang="zh-CN" dirty="0"/>
              <a:t> 4-3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545" y="1015365"/>
            <a:ext cx="8214935" cy="3394075"/>
          </a:xfrm>
        </p:spPr>
        <p:txBody>
          <a:bodyPr/>
          <a:lstStyle/>
          <a:p>
            <a:r>
              <a:rPr lang="zh-CN" altLang="en-US" dirty="0"/>
              <a:t>需求说明：</a:t>
            </a:r>
            <a:endParaRPr lang="en-US" altLang="zh-CN" dirty="0"/>
          </a:p>
          <a:p>
            <a:pPr lvl="1"/>
            <a:r>
              <a:rPr lang="zh-CN" altLang="en-US" dirty="0"/>
              <a:t>改造上一个演示示例，使用</a:t>
            </a:r>
            <a:r>
              <a:rPr lang="en-US" altLang="zh-CN" dirty="0" err="1"/>
              <a:t>foreach</a:t>
            </a:r>
            <a:r>
              <a:rPr lang="zh-CN" altLang="en-US" dirty="0"/>
              <a:t>实现，参数类型改为</a:t>
            </a:r>
            <a:r>
              <a:rPr lang="en-US" altLang="zh-CN" dirty="0"/>
              <a:t>List</a:t>
            </a:r>
          </a:p>
          <a:p>
            <a:pPr lvl="1"/>
            <a:endParaRPr lang="en-US" altLang="zh-CN" dirty="0"/>
          </a:p>
        </p:txBody>
      </p:sp>
      <p:grpSp>
        <p:nvGrpSpPr>
          <p:cNvPr id="16" name="组合 15"/>
          <p:cNvGrpSpPr/>
          <p:nvPr/>
        </p:nvGrpSpPr>
        <p:grpSpPr>
          <a:xfrm>
            <a:off x="1331640" y="4352615"/>
            <a:ext cx="7203362" cy="405694"/>
            <a:chOff x="1403648" y="3795886"/>
            <a:chExt cx="5714809" cy="321469"/>
          </a:xfrm>
        </p:grpSpPr>
        <p:sp>
          <p:nvSpPr>
            <p:cNvPr id="18" name="圆角矩形 17"/>
            <p:cNvSpPr/>
            <p:nvPr/>
          </p:nvSpPr>
          <p:spPr bwMode="auto">
            <a:xfrm>
              <a:off x="1403648" y="3795886"/>
              <a:ext cx="500044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9" name="圆角矩形 18"/>
            <p:cNvSpPr/>
            <p:nvPr/>
          </p:nvSpPr>
          <p:spPr bwMode="auto">
            <a:xfrm>
              <a:off x="1975126" y="3795886"/>
              <a:ext cx="5143330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pic>
          <p:nvPicPr>
            <p:cNvPr id="20" name="Picture 8" descr="说话气泡new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648" y="3827363"/>
              <a:ext cx="571479" cy="256555"/>
            </a:xfrm>
            <a:prstGeom prst="rect">
              <a:avLst/>
            </a:prstGeom>
            <a:noFill/>
            <a:ln>
              <a:noFill/>
            </a:ln>
            <a:effectLst>
              <a:prstShdw prst="shdw13" dist="12700" dir="10800000">
                <a:srgbClr val="0099FF">
                  <a:alpha val="50000"/>
                </a:srgb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" name="TextBox 20"/>
            <p:cNvSpPr txBox="1"/>
            <p:nvPr/>
          </p:nvSpPr>
          <p:spPr bwMode="auto">
            <a:xfrm>
              <a:off x="1403649" y="3812340"/>
              <a:ext cx="5714808" cy="24388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zh-CN" altLang="en-US" sz="14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演示示例</a:t>
              </a:r>
              <a:r>
                <a:rPr lang="en-US" altLang="zh-CN" sz="14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8</a:t>
              </a:r>
              <a:r>
                <a:rPr lang="zh-CN" altLang="en-US" sz="14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：获取指定用户角色下用户列表</a:t>
              </a:r>
              <a:r>
                <a:rPr lang="en-US" altLang="zh-CN" sz="14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-</a:t>
              </a:r>
              <a:r>
                <a:rPr lang="en-US" altLang="zh-CN" sz="1400" b="1" spc="300" dirty="0" err="1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foreach_list</a:t>
              </a:r>
              <a:endParaRPr lang="zh-CN" altLang="en-US" sz="1400" b="1" spc="300" dirty="0">
                <a:solidFill>
                  <a:srgbClr val="FBFFF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21</a:t>
            </a:fld>
            <a:r>
              <a:rPr lang="zh-CN" altLang="en-US"/>
              <a:t>/</a:t>
            </a:r>
            <a:r>
              <a:rPr lang="en-US" altLang="zh-CN"/>
              <a:t>37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1484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5C93FD-C83F-47B9-AD09-52AF5E3DB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01B15B25-BA9E-4E48-B4C5-F2FDB5B5F7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63" y="2274893"/>
            <a:ext cx="7762875" cy="1387466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929C5D-2C92-4C6C-860B-D9EF0E9EA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22</a:t>
            </a:fld>
            <a:r>
              <a:rPr lang="zh-CN" altLang="en-US"/>
              <a:t>/</a:t>
            </a:r>
            <a:r>
              <a:rPr lang="en-US" altLang="zh-CN"/>
              <a:t>37</a:t>
            </a:r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F4C581C-1B98-46CC-8448-6044BEEC84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75" y="914400"/>
            <a:ext cx="7016650" cy="130665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32804A5-2F34-454A-B171-E799313824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927" y="3863342"/>
            <a:ext cx="5363958" cy="104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801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foreach</a:t>
            </a:r>
            <a:r>
              <a:rPr lang="en-US" altLang="zh-CN" dirty="0"/>
              <a:t> 4-4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545" y="1015365"/>
            <a:ext cx="7762875" cy="3428593"/>
          </a:xfrm>
        </p:spPr>
        <p:txBody>
          <a:bodyPr/>
          <a:lstStyle/>
          <a:p>
            <a:r>
              <a:rPr lang="zh-CN" altLang="en-US" dirty="0"/>
              <a:t>需求说明：</a:t>
            </a:r>
            <a:endParaRPr lang="en-US" altLang="zh-CN" dirty="0"/>
          </a:p>
          <a:p>
            <a:pPr lvl="1"/>
            <a:r>
              <a:rPr lang="zh-CN" altLang="en-US" dirty="0"/>
              <a:t>在上一个演示示例中，增加一个参数：</a:t>
            </a:r>
            <a:r>
              <a:rPr lang="en-US" altLang="zh-CN" dirty="0"/>
              <a:t>gender</a:t>
            </a:r>
            <a:r>
              <a:rPr lang="zh-CN" altLang="en-US" dirty="0"/>
              <a:t>，要求查询出指定性别和用户角色列表下的用户列表</a:t>
            </a:r>
            <a:endParaRPr lang="en-US" altLang="zh-CN" dirty="0"/>
          </a:p>
          <a:p>
            <a:r>
              <a:rPr lang="zh-CN" altLang="en-US" dirty="0"/>
              <a:t>多参数</a:t>
            </a:r>
            <a:endParaRPr lang="en-US" altLang="zh-CN" dirty="0"/>
          </a:p>
          <a:p>
            <a:pPr lvl="1"/>
            <a:r>
              <a:rPr lang="zh-CN" altLang="en-US" dirty="0"/>
              <a:t>封装成</a:t>
            </a:r>
            <a:r>
              <a:rPr lang="en-US" altLang="zh-CN" dirty="0"/>
              <a:t>Map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单参数也可封装成</a:t>
            </a:r>
            <a:r>
              <a:rPr lang="en-US" altLang="zh-CN" dirty="0"/>
              <a:t>Map</a:t>
            </a:r>
            <a:r>
              <a:rPr lang="zh-CN" altLang="en-US" dirty="0"/>
              <a:t>吗？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grpSp>
        <p:nvGrpSpPr>
          <p:cNvPr id="22" name="组合 21"/>
          <p:cNvGrpSpPr/>
          <p:nvPr/>
        </p:nvGrpSpPr>
        <p:grpSpPr>
          <a:xfrm>
            <a:off x="293350" y="706411"/>
            <a:ext cx="436880" cy="549275"/>
            <a:chOff x="314008" y="938530"/>
            <a:chExt cx="436880" cy="549275"/>
          </a:xfrm>
        </p:grpSpPr>
        <p:sp>
          <p:nvSpPr>
            <p:cNvPr id="23" name="TextBox 65"/>
            <p:cNvSpPr txBox="1"/>
            <p:nvPr/>
          </p:nvSpPr>
          <p:spPr>
            <a:xfrm>
              <a:off x="314008" y="1242695"/>
              <a:ext cx="436880" cy="245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rgbClr val="0099D8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问题</a:t>
              </a:r>
            </a:p>
          </p:txBody>
        </p:sp>
        <p:pic>
          <p:nvPicPr>
            <p:cNvPr id="27" name="图片 26" descr="疑问 gray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5285" y="938530"/>
              <a:ext cx="314325" cy="314325"/>
            </a:xfrm>
            <a:prstGeom prst="rect">
              <a:avLst/>
            </a:prstGeom>
          </p:spPr>
        </p:pic>
      </p:grpSp>
      <p:grpSp>
        <p:nvGrpSpPr>
          <p:cNvPr id="28" name="组合 27"/>
          <p:cNvGrpSpPr/>
          <p:nvPr/>
        </p:nvGrpSpPr>
        <p:grpSpPr>
          <a:xfrm>
            <a:off x="324765" y="1687948"/>
            <a:ext cx="436880" cy="532130"/>
            <a:chOff x="2317433" y="1741805"/>
            <a:chExt cx="436880" cy="532130"/>
          </a:xfrm>
        </p:grpSpPr>
        <p:sp>
          <p:nvSpPr>
            <p:cNvPr id="29" name="TextBox 65"/>
            <p:cNvSpPr txBox="1"/>
            <p:nvPr/>
          </p:nvSpPr>
          <p:spPr>
            <a:xfrm>
              <a:off x="2317433" y="2028825"/>
              <a:ext cx="436880" cy="245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rgbClr val="0099D8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分析</a:t>
              </a:r>
            </a:p>
          </p:txBody>
        </p:sp>
        <p:pic>
          <p:nvPicPr>
            <p:cNvPr id="30" name="图片 29" descr="C:\Users\Lenovo\Desktop\icon\放大镜.png放大镜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2396173" y="1741805"/>
              <a:ext cx="279400" cy="280035"/>
            </a:xfrm>
            <a:prstGeom prst="rect">
              <a:avLst/>
            </a:prstGeom>
          </p:spPr>
        </p:pic>
      </p:grpSp>
      <p:grpSp>
        <p:nvGrpSpPr>
          <p:cNvPr id="32" name="组合 31"/>
          <p:cNvGrpSpPr/>
          <p:nvPr/>
        </p:nvGrpSpPr>
        <p:grpSpPr>
          <a:xfrm>
            <a:off x="966364" y="4587974"/>
            <a:ext cx="7000569" cy="374357"/>
            <a:chOff x="1403648" y="3795886"/>
            <a:chExt cx="5714808" cy="348568"/>
          </a:xfrm>
        </p:grpSpPr>
        <p:sp>
          <p:nvSpPr>
            <p:cNvPr id="33" name="圆角矩形 32"/>
            <p:cNvSpPr/>
            <p:nvPr/>
          </p:nvSpPr>
          <p:spPr bwMode="auto">
            <a:xfrm>
              <a:off x="1403648" y="3795886"/>
              <a:ext cx="500044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4" name="圆角矩形 33"/>
            <p:cNvSpPr/>
            <p:nvPr/>
          </p:nvSpPr>
          <p:spPr bwMode="auto">
            <a:xfrm>
              <a:off x="1975126" y="3795886"/>
              <a:ext cx="5143330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pic>
          <p:nvPicPr>
            <p:cNvPr id="35" name="Picture 8" descr="说话气泡new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648" y="3827363"/>
              <a:ext cx="571479" cy="256555"/>
            </a:xfrm>
            <a:prstGeom prst="rect">
              <a:avLst/>
            </a:prstGeom>
            <a:noFill/>
            <a:ln>
              <a:noFill/>
            </a:ln>
            <a:effectLst>
              <a:prstShdw prst="shdw13" dist="12700" dir="10800000">
                <a:srgbClr val="0099FF">
                  <a:alpha val="50000"/>
                </a:srgb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" name="TextBox 35"/>
            <p:cNvSpPr txBox="1"/>
            <p:nvPr/>
          </p:nvSpPr>
          <p:spPr bwMode="auto">
            <a:xfrm>
              <a:off x="1753360" y="3829223"/>
              <a:ext cx="5365095" cy="315231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zh-CN" altLang="en-US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演示示例</a:t>
              </a:r>
              <a:r>
                <a:rPr lang="en-US" altLang="zh-CN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9</a:t>
              </a:r>
              <a:r>
                <a:rPr lang="zh-CN" altLang="en-US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：获取多参数下用户列表</a:t>
              </a:r>
              <a:r>
                <a:rPr lang="en-US" altLang="zh-CN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-</a:t>
              </a:r>
              <a:r>
                <a:rPr lang="en-US" altLang="zh-CN" sz="1600" b="1" spc="300" dirty="0" err="1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foreach_map</a:t>
              </a:r>
              <a:endParaRPr lang="zh-CN" altLang="en-US" sz="1600" b="1" spc="300" dirty="0">
                <a:solidFill>
                  <a:srgbClr val="FBFFF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278616" y="3219822"/>
            <a:ext cx="436880" cy="549275"/>
            <a:chOff x="314008" y="938530"/>
            <a:chExt cx="436880" cy="549275"/>
          </a:xfrm>
        </p:grpSpPr>
        <p:sp>
          <p:nvSpPr>
            <p:cNvPr id="38" name="TextBox 65"/>
            <p:cNvSpPr txBox="1"/>
            <p:nvPr/>
          </p:nvSpPr>
          <p:spPr>
            <a:xfrm>
              <a:off x="314008" y="1242695"/>
              <a:ext cx="436880" cy="245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rgbClr val="0099D8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问题</a:t>
              </a:r>
            </a:p>
          </p:txBody>
        </p:sp>
        <p:pic>
          <p:nvPicPr>
            <p:cNvPr id="39" name="图片 38" descr="疑问 gray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5285" y="938530"/>
              <a:ext cx="314325" cy="314325"/>
            </a:xfrm>
            <a:prstGeom prst="rect">
              <a:avLst/>
            </a:prstGeom>
          </p:spPr>
        </p:pic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23</a:t>
            </a:fld>
            <a:r>
              <a:rPr lang="zh-CN" altLang="en-US"/>
              <a:t>/</a:t>
            </a:r>
            <a:r>
              <a:rPr lang="en-US" altLang="zh-CN"/>
              <a:t>37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19954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2B53D9-E4CF-47F7-A200-46696ADE1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单参数封装成</a:t>
            </a:r>
            <a:r>
              <a:rPr lang="en-US" altLang="zh-CN" dirty="0"/>
              <a:t>map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B773DF68-694F-47B3-AEA9-46BD66173C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48" y="2214652"/>
            <a:ext cx="7762875" cy="1353743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989255-039E-45E9-BE89-92E334AF2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24</a:t>
            </a:fld>
            <a:r>
              <a:rPr lang="zh-CN" altLang="en-US"/>
              <a:t>/</a:t>
            </a:r>
            <a:r>
              <a:rPr lang="en-US" altLang="zh-CN"/>
              <a:t>37</a:t>
            </a:r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8699ED4-A544-402B-8A88-74793435AF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592" y="755471"/>
            <a:ext cx="8128208" cy="142950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4C636D8-CB19-44B4-BBAC-ABB386A422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36" y="3639527"/>
            <a:ext cx="7578588" cy="140108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9A6143D-F05C-4536-BDB6-18B264D38650}"/>
              </a:ext>
            </a:extLst>
          </p:cNvPr>
          <p:cNvSpPr txBox="1"/>
          <p:nvPr/>
        </p:nvSpPr>
        <p:spPr>
          <a:xfrm>
            <a:off x="7036295" y="1385330"/>
            <a:ext cx="139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Mapper</a:t>
            </a:r>
            <a:r>
              <a:rPr lang="zh-CN" altLang="en-US" dirty="0"/>
              <a:t>接口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43E719D-47C8-425B-98CA-6A9F259161BC}"/>
              </a:ext>
            </a:extLst>
          </p:cNvPr>
          <p:cNvSpPr txBox="1"/>
          <p:nvPr/>
        </p:nvSpPr>
        <p:spPr>
          <a:xfrm>
            <a:off x="7063546" y="401872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测试类调用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15A9910-C304-45D1-BD19-D979D64BB6B5}"/>
              </a:ext>
            </a:extLst>
          </p:cNvPr>
          <p:cNvSpPr txBox="1"/>
          <p:nvPr/>
        </p:nvSpPr>
        <p:spPr>
          <a:xfrm>
            <a:off x="7046241" y="2363466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动态</a:t>
            </a:r>
            <a:r>
              <a:rPr lang="en-US" altLang="zh-CN" dirty="0"/>
              <a:t>SQL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82807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E08F86-37D9-4695-899E-F705577CA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多参数封装成</a:t>
            </a:r>
            <a:r>
              <a:rPr lang="en-US" altLang="zh-CN" dirty="0"/>
              <a:t>map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960C0FF-B474-496D-A9BD-17B166B132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42" y="3785444"/>
            <a:ext cx="7541146" cy="1278046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3B741A-AB40-4C81-B26F-BB6A4A5BB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25</a:t>
            </a:fld>
            <a:r>
              <a:rPr lang="zh-CN" altLang="en-US"/>
              <a:t>/</a:t>
            </a:r>
            <a:r>
              <a:rPr lang="en-US" altLang="zh-CN"/>
              <a:t>37</a:t>
            </a:r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C1125A4-83B5-4D73-A7CA-2FDB8092E4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720" y="2570737"/>
            <a:ext cx="7092280" cy="113707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2AE2FF5-8B86-4445-91D9-D605886725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42" y="914400"/>
            <a:ext cx="8388424" cy="154540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38C06A65-19BC-4FE1-AF73-BB4D2AD414B6}"/>
              </a:ext>
            </a:extLst>
          </p:cNvPr>
          <p:cNvSpPr txBox="1"/>
          <p:nvPr/>
        </p:nvSpPr>
        <p:spPr>
          <a:xfrm>
            <a:off x="6084168" y="131776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测试类调用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4FFF14E-934D-43E0-9888-A28B2771869A}"/>
              </a:ext>
            </a:extLst>
          </p:cNvPr>
          <p:cNvSpPr txBox="1"/>
          <p:nvPr/>
        </p:nvSpPr>
        <p:spPr>
          <a:xfrm>
            <a:off x="7668344" y="3291830"/>
            <a:ext cx="139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Mapper</a:t>
            </a:r>
            <a:r>
              <a:rPr lang="zh-CN" altLang="en-US" dirty="0"/>
              <a:t>接口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83C90F3-C1F9-4C7E-B644-23A244251E81}"/>
              </a:ext>
            </a:extLst>
          </p:cNvPr>
          <p:cNvSpPr txBox="1"/>
          <p:nvPr/>
        </p:nvSpPr>
        <p:spPr>
          <a:xfrm>
            <a:off x="6368469" y="4561007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动态</a:t>
            </a:r>
            <a:r>
              <a:rPr lang="en-US" altLang="zh-CN" dirty="0"/>
              <a:t>SQL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95247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8C8465-E6AF-BB3E-7E67-0361C4A9A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批量插入</a:t>
            </a:r>
            <a:r>
              <a:rPr lang="en-US" altLang="zh-CN" dirty="0"/>
              <a:t>-foreach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179C8B0C-0CC6-53EF-0021-1CA53DCC31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451" y="3210687"/>
            <a:ext cx="6944549" cy="145204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ECD8B8-CB9B-FEEB-DD74-26F950A47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26</a:t>
            </a:fld>
            <a:r>
              <a:rPr lang="zh-CN" altLang="en-US"/>
              <a:t>/</a:t>
            </a:r>
            <a:r>
              <a:rPr lang="en-US" altLang="zh-CN"/>
              <a:t>37</a:t>
            </a:r>
            <a:endParaRPr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558C38A-7A1E-8686-0931-4B3747D2B3D3}"/>
              </a:ext>
            </a:extLst>
          </p:cNvPr>
          <p:cNvSpPr txBox="1"/>
          <p:nvPr/>
        </p:nvSpPr>
        <p:spPr>
          <a:xfrm>
            <a:off x="243840" y="858074"/>
            <a:ext cx="79444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dirty="0">
                <a:solidFill>
                  <a:srgbClr val="222222"/>
                </a:solidFill>
                <a:latin typeface="tahoma" panose="020B0604030504040204" pitchFamily="34" charset="0"/>
                <a:ea typeface="微软雅黑" panose="020B0503020204020204" pitchFamily="34" charset="-122"/>
              </a:rPr>
              <a:t>foreach</a:t>
            </a:r>
            <a:r>
              <a:rPr lang="zh-CN" altLang="en-US" sz="2400" dirty="0">
                <a:solidFill>
                  <a:srgbClr val="222222"/>
                </a:solidFill>
                <a:latin typeface="tahoma" panose="020B0604030504040204" pitchFamily="34" charset="0"/>
                <a:ea typeface="微软雅黑" panose="020B0503020204020204" pitchFamily="34" charset="-122"/>
              </a:rPr>
              <a:t>标签遍历集合可用于批量添加。</a:t>
            </a:r>
          </a:p>
          <a:p>
            <a:pPr algn="l"/>
            <a:r>
              <a:rPr lang="en-US" altLang="zh-CN" sz="2400" dirty="0">
                <a:solidFill>
                  <a:srgbClr val="222222"/>
                </a:solidFill>
                <a:latin typeface="tahoma" panose="020B0604030504040204" pitchFamily="34" charset="0"/>
                <a:ea typeface="微软雅黑" panose="020B0503020204020204" pitchFamily="34" charset="-122"/>
              </a:rPr>
              <a:t>insert into user_info4(</a:t>
            </a:r>
            <a:r>
              <a:rPr lang="en-US" altLang="zh-CN" sz="2400" dirty="0" err="1">
                <a:solidFill>
                  <a:srgbClr val="222222"/>
                </a:solidFill>
                <a:latin typeface="tahoma" panose="020B0604030504040204" pitchFamily="34" charset="0"/>
                <a:ea typeface="微软雅黑" panose="020B0503020204020204" pitchFamily="34" charset="-122"/>
              </a:rPr>
              <a:t>u_name</a:t>
            </a:r>
            <a:r>
              <a:rPr lang="en-US" altLang="zh-CN" sz="2400" dirty="0">
                <a:solidFill>
                  <a:srgbClr val="222222"/>
                </a:solidFill>
                <a:latin typeface="tahoma" panose="020B0604030504040204" pitchFamily="34" charset="0"/>
                <a:ea typeface="微软雅黑" panose="020B0503020204020204" pitchFamily="34" charset="-122"/>
              </a:rPr>
              <a:t>, </a:t>
            </a:r>
            <a:r>
              <a:rPr lang="en-US" altLang="zh-CN" sz="2400" dirty="0" err="1">
                <a:solidFill>
                  <a:srgbClr val="222222"/>
                </a:solidFill>
                <a:latin typeface="tahoma" panose="020B0604030504040204" pitchFamily="34" charset="0"/>
                <a:ea typeface="微软雅黑" panose="020B0503020204020204" pitchFamily="34" charset="-122"/>
              </a:rPr>
              <a:t>u_tel</a:t>
            </a:r>
            <a:r>
              <a:rPr lang="en-US" altLang="zh-CN" sz="2400" dirty="0">
                <a:solidFill>
                  <a:srgbClr val="222222"/>
                </a:solidFill>
                <a:latin typeface="tahoma" panose="020B0604030504040204" pitchFamily="34" charset="0"/>
                <a:ea typeface="微软雅黑" panose="020B0503020204020204" pitchFamily="34" charset="-122"/>
              </a:rPr>
              <a:t>) values('', ''), ('', ''), ('', '');</a:t>
            </a:r>
            <a:endParaRPr lang="zh-CN" altLang="en-US" sz="2400" dirty="0">
              <a:solidFill>
                <a:srgbClr val="222222"/>
              </a:solidFill>
              <a:latin typeface="tahoma" panose="020B060403050404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05E5ABD-5D64-2312-DF22-55ECA95FFE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00" y="1841208"/>
            <a:ext cx="3771900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342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12970E-4CBC-4EF5-A10E-785C35611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批量更新</a:t>
            </a:r>
            <a:r>
              <a:rPr lang="en-US" altLang="zh-CN" dirty="0"/>
              <a:t>-foreach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B13824-790D-804F-6EF3-BD971CFD9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222222"/>
                </a:solidFill>
                <a:effectLst/>
                <a:latin typeface="tahoma" panose="020B0604030504040204" pitchFamily="34" charset="0"/>
              </a:rPr>
              <a:t>foreach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tahoma" panose="020B0604030504040204" pitchFamily="34" charset="0"/>
              </a:rPr>
              <a:t>还可以用于遍历出多条</a:t>
            </a:r>
            <a:r>
              <a:rPr lang="en-US" altLang="zh-CN" b="0" i="0" dirty="0" err="1">
                <a:solidFill>
                  <a:srgbClr val="222222"/>
                </a:solidFill>
                <a:effectLst/>
                <a:latin typeface="tahoma" panose="020B0604030504040204" pitchFamily="34" charset="0"/>
              </a:rPr>
              <a:t>sql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tahoma" panose="020B0604030504040204" pitchFamily="34" charset="0"/>
              </a:rPr>
              <a:t>语句，使得一次可以执行多条</a:t>
            </a:r>
            <a:r>
              <a:rPr lang="en-US" altLang="zh-CN" b="0" i="0" dirty="0" err="1">
                <a:solidFill>
                  <a:srgbClr val="222222"/>
                </a:solidFill>
                <a:effectLst/>
                <a:latin typeface="tahoma" panose="020B0604030504040204" pitchFamily="34" charset="0"/>
              </a:rPr>
              <a:t>sql</a:t>
            </a:r>
            <a:r>
              <a:rPr lang="zh-CN" altLang="en-US" b="0" dirty="0">
                <a:solidFill>
                  <a:srgbClr val="222222"/>
                </a:solidFill>
                <a:latin typeface="tahoma" panose="020B0604030504040204" pitchFamily="34" charset="0"/>
              </a:rPr>
              <a:t>。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tahoma" panose="020B0604030504040204" pitchFamily="34" charset="0"/>
              </a:rPr>
              <a:t>需要</a:t>
            </a:r>
            <a:r>
              <a:rPr lang="en-US" altLang="zh-CN" b="0" i="0" dirty="0" err="1">
                <a:solidFill>
                  <a:srgbClr val="222222"/>
                </a:solidFill>
                <a:effectLst/>
                <a:latin typeface="tahoma" panose="020B0604030504040204" pitchFamily="34" charset="0"/>
              </a:rPr>
              <a:t>MySql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tahoma" panose="020B0604030504040204" pitchFamily="34" charset="0"/>
              </a:rPr>
              <a:t>执行多条批量操作时，需开启批量查询功能，即在</a:t>
            </a:r>
            <a:r>
              <a:rPr lang="en-US" altLang="zh-CN" b="0" i="0" dirty="0" err="1">
                <a:solidFill>
                  <a:srgbClr val="222222"/>
                </a:solidFill>
                <a:effectLst/>
                <a:latin typeface="tahoma" panose="020B0604030504040204" pitchFamily="34" charset="0"/>
              </a:rPr>
              <a:t>MySql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tahoma" panose="020B0604030504040204" pitchFamily="34" charset="0"/>
              </a:rPr>
              <a:t>的</a:t>
            </a:r>
            <a:r>
              <a:rPr lang="en-US" altLang="zh-CN" b="0" i="0" dirty="0" err="1">
                <a:solidFill>
                  <a:srgbClr val="222222"/>
                </a:solidFill>
                <a:effectLst/>
                <a:latin typeface="tahoma" panose="020B0604030504040204" pitchFamily="34" charset="0"/>
              </a:rPr>
              <a:t>url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tahoma" panose="020B0604030504040204" pitchFamily="34" charset="0"/>
              </a:rPr>
              <a:t>中加入 </a:t>
            </a:r>
            <a:r>
              <a:rPr lang="en-US" altLang="zh-CN" b="0" i="0" dirty="0" err="1">
                <a:solidFill>
                  <a:srgbClr val="222222"/>
                </a:solidFill>
                <a:effectLst/>
                <a:latin typeface="tahoma" panose="020B0604030504040204" pitchFamily="34" charset="0"/>
              </a:rPr>
              <a:t>allowMultiQueries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tahoma" panose="020B0604030504040204" pitchFamily="34" charset="0"/>
              </a:rPr>
              <a:t>=true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tahoma" panose="020B0604030504040204" pitchFamily="34" charset="0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D04014-7401-8E2C-E0AB-6FB2C7006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27</a:t>
            </a:fld>
            <a:r>
              <a:rPr lang="zh-CN" altLang="en-US"/>
              <a:t>/</a:t>
            </a:r>
            <a:r>
              <a:rPr lang="en-US" altLang="zh-CN"/>
              <a:t>37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09D04AD-2692-D714-59EC-646D33801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3194156"/>
            <a:ext cx="5761219" cy="170702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DC6A462-3124-B7FC-F7C5-B7D71DC1AA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2166325"/>
            <a:ext cx="3789143" cy="89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0847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choose(</a:t>
            </a:r>
            <a:r>
              <a:rPr lang="en-US" altLang="zh-CN" dirty="0" err="1"/>
              <a:t>when</a:t>
            </a:r>
            <a:r>
              <a:rPr lang="en-US" dirty="0" err="1"/>
              <a:t>、</a:t>
            </a:r>
            <a:r>
              <a:rPr lang="en-US" altLang="zh-CN" dirty="0" err="1"/>
              <a:t>otherwise</a:t>
            </a:r>
            <a:r>
              <a:rPr lang="en-US" altLang="zh-CN" dirty="0"/>
              <a:t>)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545" y="843558"/>
            <a:ext cx="7762875" cy="3394075"/>
          </a:xfrm>
        </p:spPr>
        <p:txBody>
          <a:bodyPr/>
          <a:lstStyle/>
          <a:p>
            <a:r>
              <a:rPr lang="en-US" altLang="zh-CN" dirty="0"/>
              <a:t>choose(when</a:t>
            </a:r>
            <a:r>
              <a:rPr lang="zh-CN" altLang="en-US" dirty="0"/>
              <a:t>、</a:t>
            </a:r>
            <a:r>
              <a:rPr lang="en-US" altLang="zh-CN" dirty="0"/>
              <a:t>otherwise)</a:t>
            </a:r>
          </a:p>
          <a:p>
            <a:pPr lvl="1"/>
            <a:r>
              <a:rPr lang="zh-CN" altLang="en-US" dirty="0"/>
              <a:t>相当于</a:t>
            </a:r>
            <a:r>
              <a:rPr lang="en-US" altLang="zh-CN" dirty="0"/>
              <a:t>Java</a:t>
            </a:r>
            <a:r>
              <a:rPr lang="zh-CN" altLang="en-US" dirty="0"/>
              <a:t>中</a:t>
            </a:r>
            <a:r>
              <a:rPr lang="en-US" altLang="zh-CN" dirty="0"/>
              <a:t>switch</a:t>
            </a:r>
            <a:r>
              <a:rPr lang="zh-CN" altLang="en-US" dirty="0"/>
              <a:t>语句</a:t>
            </a:r>
            <a:endParaRPr lang="en-US" altLang="zh-CN" dirty="0"/>
          </a:p>
          <a:p>
            <a:pPr lvl="1"/>
            <a:r>
              <a:rPr lang="zh-CN" altLang="en-US" dirty="0"/>
              <a:t>当</a:t>
            </a:r>
            <a:r>
              <a:rPr lang="en-US" altLang="zh-CN" dirty="0"/>
              <a:t>when</a:t>
            </a:r>
            <a:r>
              <a:rPr lang="zh-CN" altLang="en-US" dirty="0"/>
              <a:t>有条件满足的时候，就跳出</a:t>
            </a:r>
            <a:r>
              <a:rPr lang="en-US" altLang="zh-CN" dirty="0"/>
              <a:t>choose</a:t>
            </a:r>
          </a:p>
          <a:p>
            <a:pPr lvl="1"/>
            <a:endParaRPr lang="en-US" altLang="zh-CN" dirty="0"/>
          </a:p>
        </p:txBody>
      </p:sp>
      <p:sp>
        <p:nvSpPr>
          <p:cNvPr id="11" name="AutoShape 12"/>
          <p:cNvSpPr>
            <a:spLocks noChangeArrowheads="1"/>
          </p:cNvSpPr>
          <p:nvPr/>
        </p:nvSpPr>
        <p:spPr bwMode="auto">
          <a:xfrm>
            <a:off x="1186904" y="2340044"/>
            <a:ext cx="6121400" cy="1815882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38100" cap="flat" cmpd="sng" algn="ctr">
            <a:solidFill>
              <a:srgbClr val="0099D8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indent="-342900" defTabSz="381000"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  <a:ea typeface="微软雅黑" panose="020B0503020204020204" pitchFamily="34" charset="-122"/>
              </a:rPr>
              <a:t>&lt;choose&gt;</a:t>
            </a:r>
          </a:p>
          <a:p>
            <a:pPr indent="-342900" defTabSz="381000"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  <a:ea typeface="微软雅黑" panose="020B0503020204020204" pitchFamily="34" charset="-122"/>
              </a:rPr>
              <a:t>	&lt;when test ="</a:t>
            </a:r>
            <a:r>
              <a:rPr lang="zh-CN" altLang="en-US" sz="1600" b="1" dirty="0">
                <a:solidFill>
                  <a:schemeClr val="accent5">
                    <a:lumMod val="10000"/>
                  </a:schemeClr>
                </a:solidFill>
                <a:ea typeface="微软雅黑" panose="020B0503020204020204" pitchFamily="34" charset="-122"/>
              </a:rPr>
              <a:t>条件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  <a:ea typeface="微软雅黑" panose="020B0503020204020204" pitchFamily="34" charset="-122"/>
              </a:rPr>
              <a:t>1"&gt; …&lt;/when&gt;</a:t>
            </a:r>
          </a:p>
          <a:p>
            <a:pPr indent="-342900" defTabSz="381000"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  <a:ea typeface="微软雅黑" panose="020B0503020204020204" pitchFamily="34" charset="-122"/>
              </a:rPr>
              <a:t>	&lt;when test ="</a:t>
            </a:r>
            <a:r>
              <a:rPr lang="zh-CN" altLang="en-US" sz="1600" b="1" dirty="0">
                <a:solidFill>
                  <a:schemeClr val="accent5">
                    <a:lumMod val="10000"/>
                  </a:schemeClr>
                </a:solidFill>
                <a:ea typeface="微软雅黑" panose="020B0503020204020204" pitchFamily="34" charset="-122"/>
              </a:rPr>
              <a:t>条件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  <a:ea typeface="微软雅黑" panose="020B0503020204020204" pitchFamily="34" charset="-122"/>
              </a:rPr>
              <a:t>2"&gt; …&lt;/when&gt;</a:t>
            </a:r>
          </a:p>
          <a:p>
            <a:pPr indent="-342900" defTabSz="381000"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  <a:ea typeface="微软雅黑" panose="020B0503020204020204" pitchFamily="34" charset="-122"/>
              </a:rPr>
              <a:t>	&lt;when test ="</a:t>
            </a:r>
            <a:r>
              <a:rPr lang="zh-CN" altLang="en-US" sz="1600" b="1" dirty="0">
                <a:solidFill>
                  <a:schemeClr val="accent5">
                    <a:lumMod val="10000"/>
                  </a:schemeClr>
                </a:solidFill>
                <a:ea typeface="微软雅黑" panose="020B0503020204020204" pitchFamily="34" charset="-122"/>
              </a:rPr>
              <a:t>条件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  <a:ea typeface="微软雅黑" panose="020B0503020204020204" pitchFamily="34" charset="-122"/>
              </a:rPr>
              <a:t>3"&gt; …&lt;/when&gt;</a:t>
            </a:r>
          </a:p>
          <a:p>
            <a:pPr indent="-342900" defTabSz="381000"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  <a:ea typeface="微软雅黑" panose="020B0503020204020204" pitchFamily="34" charset="-122"/>
              </a:rPr>
              <a:t>	…</a:t>
            </a:r>
          </a:p>
          <a:p>
            <a:pPr indent="-342900" defTabSz="381000"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  <a:ea typeface="微软雅黑" panose="020B0503020204020204" pitchFamily="34" charset="-122"/>
              </a:rPr>
              <a:t>	&lt;otherwise&gt;…&lt;/otherwise&gt;</a:t>
            </a:r>
          </a:p>
          <a:p>
            <a:pPr indent="-342900" defTabSz="381000"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  <a:ea typeface="微软雅黑" panose="020B0503020204020204" pitchFamily="34" charset="-122"/>
              </a:rPr>
              <a:t>&lt;/choose&gt;	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1136138" y="4515966"/>
            <a:ext cx="6388190" cy="618112"/>
            <a:chOff x="1403648" y="3795886"/>
            <a:chExt cx="5714809" cy="618112"/>
          </a:xfrm>
        </p:grpSpPr>
        <p:sp>
          <p:nvSpPr>
            <p:cNvPr id="15" name="圆角矩形 14"/>
            <p:cNvSpPr/>
            <p:nvPr/>
          </p:nvSpPr>
          <p:spPr bwMode="auto">
            <a:xfrm>
              <a:off x="1403648" y="3795886"/>
              <a:ext cx="500044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" name="圆角矩形 15"/>
            <p:cNvSpPr/>
            <p:nvPr/>
          </p:nvSpPr>
          <p:spPr bwMode="auto">
            <a:xfrm>
              <a:off x="1975126" y="3795886"/>
              <a:ext cx="5143330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pic>
          <p:nvPicPr>
            <p:cNvPr id="17" name="Picture 8" descr="说话气泡new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648" y="3827363"/>
              <a:ext cx="571479" cy="256555"/>
            </a:xfrm>
            <a:prstGeom prst="rect">
              <a:avLst/>
            </a:prstGeom>
            <a:noFill/>
            <a:ln>
              <a:noFill/>
            </a:ln>
            <a:effectLst>
              <a:prstShdw prst="shdw13" dist="12700" dir="10800000">
                <a:srgbClr val="0099FF">
                  <a:alpha val="50000"/>
                </a:srgb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Box 17"/>
            <p:cNvSpPr txBox="1"/>
            <p:nvPr/>
          </p:nvSpPr>
          <p:spPr bwMode="auto">
            <a:xfrm>
              <a:off x="2067037" y="3829223"/>
              <a:ext cx="5051420" cy="584775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zh-CN" altLang="en-US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演示示例</a:t>
              </a:r>
              <a:r>
                <a:rPr lang="en-US" altLang="zh-CN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lang="zh-CN" altLang="en-US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：改造用户表的查询操作</a:t>
              </a:r>
              <a:r>
                <a:rPr lang="en-US" altLang="zh-CN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-choose</a:t>
              </a:r>
              <a:endParaRPr lang="zh-CN" altLang="en-US" sz="1600" b="1" spc="300" dirty="0">
                <a:solidFill>
                  <a:srgbClr val="FBFFF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28</a:t>
            </a:fld>
            <a:r>
              <a:rPr lang="zh-CN" altLang="en-US"/>
              <a:t>/</a:t>
            </a:r>
            <a:r>
              <a:rPr lang="en-US" altLang="zh-CN"/>
              <a:t>37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964589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914FB2-3948-4E57-81AA-898B78170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8A2E4B7A-A332-4E78-B63D-6E5DE20BBB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1143794"/>
            <a:ext cx="5460602" cy="3394075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2FD7D2-3BA9-4610-B38C-0751C798F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29</a:t>
            </a:fld>
            <a:r>
              <a:rPr lang="zh-CN" altLang="en-US"/>
              <a:t>/</a:t>
            </a:r>
            <a:r>
              <a:rPr lang="en-US" altLang="zh-CN"/>
              <a:t>37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70545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C2E606-F9D8-50A4-70F3-4F9D785A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&lt;bind&gt;</a:t>
            </a:r>
            <a:r>
              <a:rPr lang="zh-CN" altLang="en-US" dirty="0"/>
              <a:t>元素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930C69EF-F3D2-38D9-E0A8-8A7D5E8265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578" y="1016000"/>
            <a:ext cx="7381445" cy="3394075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24BF7E-6D64-0219-AE44-52E76FDB0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30</a:t>
            </a:fld>
            <a:r>
              <a:rPr lang="zh-CN" altLang="en-US"/>
              <a:t>/</a:t>
            </a:r>
            <a:r>
              <a:rPr lang="en-US" altLang="zh-CN"/>
              <a:t>37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897983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5DAE41-BBCB-B423-1ABC-7BD6B986C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&lt;bind&gt;</a:t>
            </a:r>
            <a:r>
              <a:rPr lang="zh-CN" altLang="en-US"/>
              <a:t>元素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89171AB0-6F82-1DF6-80D3-46A588F27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63" y="1155355"/>
            <a:ext cx="7762875" cy="3115364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008605-1C95-5DD1-985C-9E3AEC90B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31</a:t>
            </a:fld>
            <a:r>
              <a:rPr lang="zh-CN" altLang="en-US"/>
              <a:t>/</a:t>
            </a:r>
            <a:r>
              <a:rPr lang="en-US" altLang="zh-CN"/>
              <a:t>37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967107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MyBatis</a:t>
            </a:r>
            <a:r>
              <a:rPr lang="zh-CN" altLang="en-US" dirty="0"/>
              <a:t>分页功能实现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545" y="915566"/>
            <a:ext cx="7762875" cy="3394075"/>
          </a:xfrm>
        </p:spPr>
        <p:txBody>
          <a:bodyPr/>
          <a:lstStyle/>
          <a:p>
            <a:r>
              <a:rPr lang="zh-CN" altLang="en-US" dirty="0"/>
              <a:t>需求说明：</a:t>
            </a:r>
            <a:endParaRPr lang="en-US" altLang="zh-CN" dirty="0"/>
          </a:p>
          <a:p>
            <a:pPr lvl="1"/>
            <a:r>
              <a:rPr lang="zh-CN" altLang="en-US" dirty="0"/>
              <a:t>为用户管理之查询用户列表功能增加分页实现</a:t>
            </a:r>
            <a:endParaRPr lang="en-US" altLang="zh-CN" dirty="0"/>
          </a:p>
          <a:p>
            <a:pPr lvl="1"/>
            <a:r>
              <a:rPr lang="zh-CN" altLang="en-US" dirty="0"/>
              <a:t>列表结果按照创建时间降序排列</a:t>
            </a:r>
            <a:endParaRPr lang="en-US" altLang="zh-CN" dirty="0"/>
          </a:p>
          <a:p>
            <a:pPr lvl="3"/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分页</a:t>
            </a:r>
            <a:r>
              <a:rPr lang="en-US" altLang="zh-CN" dirty="0"/>
              <a:t>-DAO</a:t>
            </a:r>
            <a:r>
              <a:rPr lang="zh-CN" altLang="en-US" dirty="0"/>
              <a:t>层实现</a:t>
            </a:r>
            <a:endParaRPr lang="en-US" altLang="zh-CN" dirty="0"/>
          </a:p>
          <a:p>
            <a:pPr lvl="1"/>
            <a:r>
              <a:rPr lang="en-US" altLang="zh-CN" dirty="0"/>
              <a:t>limit(</a:t>
            </a:r>
            <a:r>
              <a:rPr lang="zh-CN" altLang="en-US" dirty="0"/>
              <a:t>起始位置</a:t>
            </a:r>
            <a:r>
              <a:rPr lang="en-US" altLang="zh-CN" dirty="0"/>
              <a:t>,</a:t>
            </a:r>
            <a:r>
              <a:rPr lang="zh-CN" altLang="en-US" dirty="0"/>
              <a:t>页面容量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查询用户列表的方法增加</a:t>
            </a:r>
            <a:r>
              <a:rPr lang="en-US" altLang="zh-CN" dirty="0"/>
              <a:t>2</a:t>
            </a:r>
            <a:r>
              <a:rPr lang="zh-CN" altLang="en-US" dirty="0"/>
              <a:t>个参数</a:t>
            </a:r>
            <a:endParaRPr lang="en-US" altLang="zh-CN" dirty="0"/>
          </a:p>
          <a:p>
            <a:pPr lvl="1"/>
            <a:r>
              <a:rPr lang="en-US" altLang="zh-CN" dirty="0"/>
              <a:t>from</a:t>
            </a:r>
          </a:p>
          <a:p>
            <a:pPr lvl="1"/>
            <a:r>
              <a:rPr lang="en-US" altLang="zh-CN" dirty="0" err="1"/>
              <a:t>pageSize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grpSp>
        <p:nvGrpSpPr>
          <p:cNvPr id="16" name="组合 15"/>
          <p:cNvGrpSpPr/>
          <p:nvPr/>
        </p:nvGrpSpPr>
        <p:grpSpPr>
          <a:xfrm>
            <a:off x="179512" y="2355726"/>
            <a:ext cx="436880" cy="532130"/>
            <a:chOff x="2317433" y="1741805"/>
            <a:chExt cx="436880" cy="532130"/>
          </a:xfrm>
        </p:grpSpPr>
        <p:sp>
          <p:nvSpPr>
            <p:cNvPr id="18" name="TextBox 65"/>
            <p:cNvSpPr txBox="1"/>
            <p:nvPr/>
          </p:nvSpPr>
          <p:spPr>
            <a:xfrm>
              <a:off x="2317433" y="2028825"/>
              <a:ext cx="436880" cy="245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rgbClr val="0099D8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分析</a:t>
              </a:r>
            </a:p>
          </p:txBody>
        </p:sp>
        <p:pic>
          <p:nvPicPr>
            <p:cNvPr id="19" name="图片 18" descr="C:\Users\Lenovo\Desktop\icon\放大镜.png放大镜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2396173" y="1741805"/>
              <a:ext cx="279400" cy="280035"/>
            </a:xfrm>
            <a:prstGeom prst="rect">
              <a:avLst/>
            </a:prstGeom>
          </p:spPr>
        </p:pic>
      </p:grpSp>
      <p:grpSp>
        <p:nvGrpSpPr>
          <p:cNvPr id="20" name="组合 19"/>
          <p:cNvGrpSpPr/>
          <p:nvPr/>
        </p:nvGrpSpPr>
        <p:grpSpPr>
          <a:xfrm>
            <a:off x="839283" y="4617934"/>
            <a:ext cx="6457804" cy="618112"/>
            <a:chOff x="1403648" y="3795886"/>
            <a:chExt cx="5714808" cy="618112"/>
          </a:xfrm>
        </p:grpSpPr>
        <p:sp>
          <p:nvSpPr>
            <p:cNvPr id="21" name="圆角矩形 20"/>
            <p:cNvSpPr/>
            <p:nvPr/>
          </p:nvSpPr>
          <p:spPr bwMode="auto">
            <a:xfrm>
              <a:off x="1403648" y="3795886"/>
              <a:ext cx="500044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" name="圆角矩形 21"/>
            <p:cNvSpPr/>
            <p:nvPr/>
          </p:nvSpPr>
          <p:spPr bwMode="auto">
            <a:xfrm>
              <a:off x="1975126" y="3795886"/>
              <a:ext cx="5143330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pic>
          <p:nvPicPr>
            <p:cNvPr id="23" name="Picture 8" descr="说话气泡new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648" y="3827363"/>
              <a:ext cx="571479" cy="256555"/>
            </a:xfrm>
            <a:prstGeom prst="rect">
              <a:avLst/>
            </a:prstGeom>
            <a:noFill/>
            <a:ln>
              <a:noFill/>
            </a:ln>
            <a:effectLst>
              <a:prstShdw prst="shdw13" dist="12700" dir="10800000">
                <a:srgbClr val="0099FF">
                  <a:alpha val="50000"/>
                </a:srgb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" name="TextBox 23"/>
            <p:cNvSpPr txBox="1"/>
            <p:nvPr/>
          </p:nvSpPr>
          <p:spPr bwMode="auto">
            <a:xfrm>
              <a:off x="1994099" y="3829223"/>
              <a:ext cx="5124357" cy="584775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zh-CN" altLang="en-US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演示示例</a:t>
              </a:r>
              <a:r>
                <a:rPr lang="en-US" altLang="zh-CN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11</a:t>
              </a:r>
              <a:r>
                <a:rPr lang="zh-CN" altLang="en-US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：</a:t>
              </a:r>
              <a:r>
                <a:rPr lang="en-US" altLang="zh-CN" sz="1600" b="1" spc="300" dirty="0" err="1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MyBatis</a:t>
              </a:r>
              <a:r>
                <a:rPr lang="zh-CN" altLang="en-US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分页功能实现</a:t>
              </a:r>
              <a:r>
                <a:rPr lang="en-US" altLang="zh-CN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-</a:t>
              </a:r>
              <a:r>
                <a:rPr lang="zh-CN" altLang="en-US" sz="1600" b="1" spc="300" dirty="0">
                  <a:solidFill>
                    <a:srgbClr val="FBFFFE"/>
                  </a:solidFill>
                  <a:latin typeface="微软雅黑" pitchFamily="34" charset="-122"/>
                  <a:ea typeface="微软雅黑" pitchFamily="34" charset="-122"/>
                </a:rPr>
                <a:t>用户列表</a:t>
              </a:r>
              <a:endParaRPr lang="en-US" altLang="zh-CN" sz="1600" b="1" spc="300" dirty="0">
                <a:solidFill>
                  <a:srgbClr val="FBFFF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>
                <a:defRPr/>
              </a:pPr>
              <a:endParaRPr lang="zh-CN" altLang="en-US" sz="1600" b="1" spc="300" dirty="0">
                <a:solidFill>
                  <a:srgbClr val="FBFFF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32</a:t>
            </a:fld>
            <a:r>
              <a:rPr lang="zh-CN" altLang="en-US"/>
              <a:t>/</a:t>
            </a:r>
            <a:r>
              <a:rPr lang="en-US" altLang="zh-CN"/>
              <a:t>37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82533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5549" y="905867"/>
            <a:ext cx="7762875" cy="3394075"/>
          </a:xfrm>
        </p:spPr>
        <p:txBody>
          <a:bodyPr/>
          <a:lstStyle/>
          <a:p>
            <a:r>
              <a:rPr lang="en-US" altLang="zh-CN" dirty="0" err="1">
                <a:cs typeface="Arial" pitchFamily="34" charset="0"/>
              </a:rPr>
              <a:t>if+set</a:t>
            </a:r>
            <a:endParaRPr lang="en-US" altLang="zh-CN" dirty="0">
              <a:cs typeface="Arial" pitchFamily="34" charset="0"/>
            </a:endParaRPr>
          </a:p>
          <a:p>
            <a:endParaRPr lang="en-US" altLang="zh-CN" dirty="0">
              <a:cs typeface="Arial" pitchFamily="34" charset="0"/>
            </a:endParaRPr>
          </a:p>
          <a:p>
            <a:r>
              <a:rPr lang="en-US" altLang="zh-CN" dirty="0">
                <a:cs typeface="Arial" pitchFamily="34" charset="0"/>
              </a:rPr>
              <a:t>if-where</a:t>
            </a:r>
          </a:p>
          <a:p>
            <a:endParaRPr lang="en-US" altLang="zh-CN" dirty="0">
              <a:cs typeface="Arial" pitchFamily="34" charset="0"/>
            </a:endParaRPr>
          </a:p>
          <a:p>
            <a:r>
              <a:rPr lang="en-US" altLang="zh-CN" dirty="0" err="1">
                <a:solidFill>
                  <a:srgbClr val="FF0000"/>
                </a:solidFill>
                <a:cs typeface="Arial" pitchFamily="34" charset="0"/>
              </a:rPr>
              <a:t>if+trim</a:t>
            </a:r>
            <a:endParaRPr lang="en-US" altLang="zh-CN" dirty="0">
              <a:solidFill>
                <a:srgbClr val="FF0000"/>
              </a:solidFill>
              <a:cs typeface="Arial" pitchFamily="34" charset="0"/>
            </a:endParaRPr>
          </a:p>
          <a:p>
            <a:endParaRPr lang="en-US" altLang="zh-CN" dirty="0">
              <a:cs typeface="Arial" pitchFamily="34" charset="0"/>
            </a:endParaRPr>
          </a:p>
          <a:p>
            <a:r>
              <a:rPr lang="en-US" altLang="zh-CN" dirty="0">
                <a:cs typeface="Arial" pitchFamily="34" charset="0"/>
              </a:rPr>
              <a:t>choose</a:t>
            </a:r>
            <a:r>
              <a:rPr lang="zh-CN" altLang="en-US" dirty="0">
                <a:cs typeface="Arial" pitchFamily="34" charset="0"/>
              </a:rPr>
              <a:t>（</a:t>
            </a:r>
            <a:r>
              <a:rPr lang="en-US" altLang="zh-CN" dirty="0">
                <a:cs typeface="Arial" pitchFamily="34" charset="0"/>
              </a:rPr>
              <a:t>when</a:t>
            </a:r>
            <a:r>
              <a:rPr lang="zh-CN" altLang="en-US" dirty="0">
                <a:cs typeface="Arial" pitchFamily="34" charset="0"/>
              </a:rPr>
              <a:t>、</a:t>
            </a:r>
            <a:r>
              <a:rPr lang="en-US" altLang="zh-CN" dirty="0">
                <a:cs typeface="Arial" pitchFamily="34" charset="0"/>
              </a:rPr>
              <a:t>otherwise</a:t>
            </a:r>
            <a:r>
              <a:rPr lang="zh-CN" altLang="en-US" dirty="0">
                <a:cs typeface="Arial" pitchFamily="34" charset="0"/>
              </a:rPr>
              <a:t>）</a:t>
            </a:r>
            <a:endParaRPr lang="en-US" altLang="zh-CN" sz="1400" dirty="0">
              <a:cs typeface="Arial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33</a:t>
            </a:fld>
            <a:r>
              <a:rPr lang="zh-CN" altLang="en-US"/>
              <a:t>/</a:t>
            </a:r>
            <a:r>
              <a:rPr lang="en-US" altLang="zh-CN"/>
              <a:t>37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572933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545" y="699542"/>
            <a:ext cx="7762875" cy="3394075"/>
          </a:xfrm>
        </p:spPr>
        <p:txBody>
          <a:bodyPr/>
          <a:lstStyle/>
          <a:p>
            <a:endParaRPr lang="en-US" altLang="zh-CN" sz="1400" dirty="0">
              <a:cs typeface="Arial" pitchFamily="34" charset="0"/>
            </a:endParaRPr>
          </a:p>
          <a:p>
            <a:r>
              <a:rPr lang="en-US" altLang="zh-CN" dirty="0" err="1">
                <a:cs typeface="Arial" pitchFamily="34" charset="0"/>
              </a:rPr>
              <a:t>foreach</a:t>
            </a:r>
            <a:endParaRPr lang="en-US" altLang="zh-CN" dirty="0">
              <a:cs typeface="Arial" pitchFamily="34" charset="0"/>
            </a:endParaRPr>
          </a:p>
          <a:p>
            <a:pPr lvl="1"/>
            <a:r>
              <a:rPr lang="en-US" altLang="zh-CN" sz="2000" dirty="0">
                <a:cs typeface="Arial" pitchFamily="34" charset="0"/>
              </a:rPr>
              <a:t>item</a:t>
            </a:r>
          </a:p>
          <a:p>
            <a:pPr lvl="1"/>
            <a:r>
              <a:rPr lang="en-US" altLang="zh-CN" sz="2000" dirty="0" err="1">
                <a:cs typeface="Arial" pitchFamily="34" charset="0"/>
              </a:rPr>
              <a:t>idex</a:t>
            </a:r>
            <a:endParaRPr lang="en-US" altLang="zh-CN" sz="2000" dirty="0">
              <a:cs typeface="Arial" pitchFamily="34" charset="0"/>
            </a:endParaRPr>
          </a:p>
          <a:p>
            <a:pPr lvl="1"/>
            <a:r>
              <a:rPr lang="en-US" altLang="zh-CN" sz="2000" dirty="0">
                <a:solidFill>
                  <a:srgbClr val="FF0000"/>
                </a:solidFill>
                <a:cs typeface="Arial" pitchFamily="34" charset="0"/>
              </a:rPr>
              <a:t>Collection</a:t>
            </a:r>
          </a:p>
          <a:p>
            <a:pPr lvl="2"/>
            <a:r>
              <a:rPr lang="en-US" altLang="zh-CN" sz="1800" dirty="0">
                <a:cs typeface="Arial" pitchFamily="34" charset="0"/>
              </a:rPr>
              <a:t>list</a:t>
            </a:r>
          </a:p>
          <a:p>
            <a:pPr lvl="2"/>
            <a:r>
              <a:rPr lang="en-US" altLang="zh-CN" sz="1800" dirty="0">
                <a:cs typeface="Arial" pitchFamily="34" charset="0"/>
              </a:rPr>
              <a:t>array</a:t>
            </a:r>
          </a:p>
          <a:p>
            <a:pPr lvl="2"/>
            <a:r>
              <a:rPr lang="en-US" altLang="zh-CN" sz="1800" dirty="0">
                <a:cs typeface="Arial" pitchFamily="34" charset="0"/>
              </a:rPr>
              <a:t>map</a:t>
            </a:r>
            <a:endParaRPr lang="en-US" altLang="zh-CN" sz="1800" dirty="0">
              <a:solidFill>
                <a:srgbClr val="FF0000"/>
              </a:solidFill>
              <a:cs typeface="Arial" pitchFamily="34" charset="0"/>
            </a:endParaRPr>
          </a:p>
          <a:p>
            <a:pPr lvl="1"/>
            <a:r>
              <a:rPr lang="en-US" altLang="zh-CN" sz="2000" dirty="0">
                <a:cs typeface="Arial" pitchFamily="34" charset="0"/>
              </a:rPr>
              <a:t>open</a:t>
            </a:r>
          </a:p>
          <a:p>
            <a:pPr lvl="1"/>
            <a:r>
              <a:rPr lang="en-US" altLang="zh-CN" sz="2000" dirty="0">
                <a:cs typeface="Arial" pitchFamily="34" charset="0"/>
              </a:rPr>
              <a:t>separator</a:t>
            </a:r>
          </a:p>
          <a:p>
            <a:pPr lvl="1"/>
            <a:r>
              <a:rPr lang="en-US" altLang="zh-CN" sz="2000" dirty="0">
                <a:cs typeface="Arial" pitchFamily="34" charset="0"/>
              </a:rPr>
              <a:t>close</a:t>
            </a:r>
            <a:endParaRPr lang="zh-CN" altLang="en-US" sz="2000" dirty="0">
              <a:cs typeface="Arial" pitchFamily="34" charset="0"/>
            </a:endParaRPr>
          </a:p>
          <a:p>
            <a:pPr lvl="3"/>
            <a:endParaRPr lang="en-US" altLang="zh-CN" sz="400" dirty="0">
              <a:cs typeface="Arial" pitchFamily="34" charset="0"/>
            </a:endParaRPr>
          </a:p>
          <a:p>
            <a:pPr lvl="3"/>
            <a:endParaRPr lang="en-US" altLang="zh-CN" sz="400" dirty="0">
              <a:cs typeface="Arial" pitchFamily="34" charset="0"/>
            </a:endParaRPr>
          </a:p>
          <a:p>
            <a:pPr lvl="2"/>
            <a:endParaRPr lang="zh-CN" altLang="en-US" sz="8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34</a:t>
            </a:fld>
            <a:r>
              <a:rPr lang="zh-CN" altLang="en-US"/>
              <a:t>/</a:t>
            </a:r>
            <a:r>
              <a:rPr lang="en-US" altLang="zh-CN"/>
              <a:t>37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554905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361440"/>
            <a:ext cx="9144000" cy="2232025"/>
          </a:xfrm>
          <a:prstGeom prst="rect">
            <a:avLst/>
          </a:prstGeom>
          <a:solidFill>
            <a:srgbClr val="0099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2_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190" y="1599565"/>
            <a:ext cx="5252720" cy="129349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875790" y="1892935"/>
            <a:ext cx="524192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 defTabSz="914400"/>
            <a:r>
              <a:rPr lang="zh-CN" altLang="zh-CN" sz="4000" b="1" kern="1400" spc="30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Calibri" panose="020F0502020204030204" pitchFamily="34" charset="0"/>
              </a:rPr>
              <a:t>问题及作业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662555" y="2835910"/>
            <a:ext cx="38119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/>
            <a:r>
              <a:rPr lang="zh-CN" altLang="en-US" sz="2800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集中问题</a:t>
            </a:r>
            <a:r>
              <a:rPr lang="en-US" altLang="zh-CN" sz="2800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&amp;</a:t>
            </a:r>
            <a:r>
              <a:rPr lang="zh-CN" altLang="en-US" sz="2800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课后作业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35</a:t>
            </a:fld>
            <a:r>
              <a:rPr lang="en-US" altLang="zh-CN"/>
              <a:t>/37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5083</TotalTime>
  <Words>1933</Words>
  <Application>Microsoft Office PowerPoint</Application>
  <PresentationFormat>全屏显示(16:9)</PresentationFormat>
  <Paragraphs>311</Paragraphs>
  <Slides>35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4" baseType="lpstr">
      <vt:lpstr>-apple-system</vt:lpstr>
      <vt:lpstr>微软雅黑</vt:lpstr>
      <vt:lpstr>Arial</vt:lpstr>
      <vt:lpstr>Calibri</vt:lpstr>
      <vt:lpstr>Consolas</vt:lpstr>
      <vt:lpstr>tahoma</vt:lpstr>
      <vt:lpstr>Webdings</vt:lpstr>
      <vt:lpstr>Wingdings</vt:lpstr>
      <vt:lpstr>自定义设计方案</vt:lpstr>
      <vt:lpstr> 3 动态SQL </vt:lpstr>
      <vt:lpstr>MyBatis执行流程</vt:lpstr>
      <vt:lpstr>问题引人</vt:lpstr>
      <vt:lpstr>PowerPoint 演示文稿</vt:lpstr>
      <vt:lpstr>动态SQL</vt:lpstr>
      <vt:lpstr>if元素 </vt:lpstr>
      <vt:lpstr>根据角色id查询用户</vt:lpstr>
      <vt:lpstr>if元素 </vt:lpstr>
      <vt:lpstr>PowerPoint 演示文稿</vt:lpstr>
      <vt:lpstr>Mybatis常用的OGNL表达式</vt:lpstr>
      <vt:lpstr>Where元素 </vt:lpstr>
      <vt:lpstr>Where元素 </vt:lpstr>
      <vt:lpstr>Where元素处理 and|or</vt:lpstr>
      <vt:lpstr>set</vt:lpstr>
      <vt:lpstr>Set元素</vt:lpstr>
      <vt:lpstr>trim元素 </vt:lpstr>
      <vt:lpstr>trim元素 </vt:lpstr>
      <vt:lpstr>foreach元素 </vt:lpstr>
      <vt:lpstr>foreach元素 </vt:lpstr>
      <vt:lpstr>PowerPoint 演示文稿</vt:lpstr>
      <vt:lpstr>foreach 4-3</vt:lpstr>
      <vt:lpstr>PowerPoint 演示文稿</vt:lpstr>
      <vt:lpstr>foreach 4-4</vt:lpstr>
      <vt:lpstr>单参数封装成map</vt:lpstr>
      <vt:lpstr>多参数封装成map</vt:lpstr>
      <vt:lpstr>批量插入-foreach</vt:lpstr>
      <vt:lpstr>批量更新-foreach</vt:lpstr>
      <vt:lpstr>choose(when、otherwise)</vt:lpstr>
      <vt:lpstr>PowerPoint 演示文稿</vt:lpstr>
      <vt:lpstr>&lt;bind&gt;元素</vt:lpstr>
      <vt:lpstr>&lt;bind&gt;元素</vt:lpstr>
      <vt:lpstr>MyBatis分页功能实现</vt:lpstr>
      <vt:lpstr>总结</vt:lpstr>
      <vt:lpstr>总结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meng.zhang(张萌)</dc:creator>
  <cp:lastModifiedBy>CHONG LI</cp:lastModifiedBy>
  <cp:revision>637</cp:revision>
  <dcterms:created xsi:type="dcterms:W3CDTF">2013-09-17T02:35:00Z</dcterms:created>
  <dcterms:modified xsi:type="dcterms:W3CDTF">2024-03-19T11:03:29Z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2052-10.1.0.6874</vt:lpwstr>
  </property>
</Properties>
</file>